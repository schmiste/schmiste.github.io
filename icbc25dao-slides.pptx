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BA5DBC-42AE-69ED-9018-E80321B0EC76}" v="64" dt="2025-06-01T20:14:09.43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1"/>
            <a:ext cx="4041775" cy="639765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21"/>
          </p:nvPr>
        </p:nvSpPr>
        <p:spPr>
          <a:xfrm>
            <a:off x="457198" y="1435100"/>
            <a:ext cx="3008316" cy="46910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>
            <a:spLocks noGrp="1"/>
          </p:cNvSpPr>
          <p:nvPr>
            <p:ph type="ctrTitle"/>
          </p:nvPr>
        </p:nvSpPr>
        <p:spPr>
          <a:xfrm>
            <a:off x="685800" y="976217"/>
            <a:ext cx="7772400" cy="1470028"/>
          </a:xfrm>
          <a:prstGeom prst="rect">
            <a:avLst/>
          </a:prstGeom>
        </p:spPr>
        <p:txBody>
          <a:bodyPr/>
          <a:lstStyle/>
          <a:p>
            <a:r>
              <a:t>Democracy for DAOs</a:t>
            </a:r>
          </a:p>
        </p:txBody>
      </p:sp>
      <p:sp>
        <p:nvSpPr>
          <p:cNvPr id="95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688042" y="2250139"/>
            <a:ext cx="7767916" cy="2559425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600"/>
              </a:spcBef>
              <a:defRPr sz="2800">
                <a:solidFill>
                  <a:srgbClr val="3D3D3D"/>
                </a:solidFill>
              </a:defRPr>
            </a:pPr>
            <a:r>
              <a:t>An Empirical Study of Decentralized Governance and Dynamics</a:t>
            </a:r>
          </a:p>
          <a:p>
            <a:pPr>
              <a:defRPr sz="2800"/>
            </a:pPr>
            <a:endParaRPr/>
          </a:p>
          <a:p>
            <a:pPr>
              <a:spcBef>
                <a:spcPts val="500"/>
              </a:spcBef>
              <a:defRPr sz="2400">
                <a:solidFill>
                  <a:srgbClr val="595959"/>
                </a:solidFill>
              </a:defRPr>
            </a:pPr>
            <a:r>
              <a:rPr b="1"/>
              <a:t>Burak Arda Okutan</a:t>
            </a:r>
            <a:r>
              <a:rPr baseline="31999"/>
              <a:t>1</a:t>
            </a:r>
            <a:r>
              <a:t>, Stefan Schmid</a:t>
            </a:r>
            <a:r>
              <a:rPr baseline="31999"/>
              <a:t>1</a:t>
            </a:r>
            <a:r>
              <a:t>, Yvonne-Anne Pignolet</a:t>
            </a:r>
            <a:r>
              <a:rPr baseline="31999"/>
              <a:t>2</a:t>
            </a:r>
          </a:p>
          <a:p>
            <a:pPr>
              <a:spcBef>
                <a:spcPts val="500"/>
              </a:spcBef>
              <a:defRPr sz="2400">
                <a:solidFill>
                  <a:srgbClr val="595959"/>
                </a:solidFill>
              </a:defRPr>
            </a:pPr>
            <a:r>
              <a:rPr baseline="31999"/>
              <a:t>1</a:t>
            </a:r>
            <a:r>
              <a:t>TU Berlin, </a:t>
            </a:r>
            <a:r>
              <a:rPr baseline="31999"/>
              <a:t>2</a:t>
            </a:r>
            <a:r>
              <a:t>DFINITY Foundation</a:t>
            </a:r>
          </a:p>
        </p:txBody>
      </p:sp>
      <p:pic>
        <p:nvPicPr>
          <p:cNvPr id="96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538" y="4636525"/>
            <a:ext cx="2840131" cy="182376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 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Introduction to DAOs</a:t>
            </a:r>
          </a:p>
        </p:txBody>
      </p:sp>
      <p:sp>
        <p:nvSpPr>
          <p:cNvPr id="99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Decentralized Autonomous Organizations</a:t>
            </a:r>
          </a:p>
          <a:p>
            <a:r>
              <a:t>Shift power from centralized authorities to distributed communities.</a:t>
            </a:r>
          </a:p>
          <a:p>
            <a:r>
              <a:t>Enable collective decision-making through smart contracts and token voting.</a:t>
            </a:r>
          </a:p>
        </p:txBody>
      </p:sp>
      <p:pic>
        <p:nvPicPr>
          <p:cNvPr id="100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18" y="6126479"/>
            <a:ext cx="914402" cy="5486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Challenges in DAO Governance</a:t>
            </a:r>
          </a:p>
        </p:txBody>
      </p:sp>
      <p:sp>
        <p:nvSpPr>
          <p:cNvPr id="10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332613" indent="-332613" defTabSz="443484">
              <a:spcBef>
                <a:spcPts val="600"/>
              </a:spcBef>
              <a:defRPr sz="3104"/>
            </a:pPr>
            <a:r>
              <a:t>Voter fatigue and disengagement.</a:t>
            </a:r>
          </a:p>
          <a:p>
            <a:pPr marL="332613" indent="-332613" defTabSz="443484">
              <a:spcBef>
                <a:spcPts val="600"/>
              </a:spcBef>
              <a:defRPr sz="3104"/>
            </a:pPr>
            <a:r>
              <a:t>High operational costs (gas fees)</a:t>
            </a:r>
          </a:p>
          <a:p>
            <a:pPr marL="332613" indent="-332613" defTabSz="443484">
              <a:spcBef>
                <a:spcPts val="600"/>
              </a:spcBef>
              <a:defRPr sz="3104"/>
            </a:pPr>
            <a:r>
              <a:t>Slow decision-making and proposal delays.</a:t>
            </a:r>
            <a:br/>
            <a:br/>
            <a:br/>
            <a:br/>
            <a:br/>
            <a:br/>
            <a:r>
              <a:t>=&gt; Little scalability and effectiveness.</a:t>
            </a:r>
          </a:p>
        </p:txBody>
      </p:sp>
      <p:pic>
        <p:nvPicPr>
          <p:cNvPr id="104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18" y="6126479"/>
            <a:ext cx="914402" cy="5486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Gemini_Generated_Image_zg1ni5zg1ni5zg1n.jpeg" descr="Gemini_Generated_Image_zg1ni5zg1ni5zg1n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268" y="3279009"/>
            <a:ext cx="2330984" cy="233098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itle 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SNS DAO Framework on ICP</a:t>
            </a:r>
          </a:p>
        </p:txBody>
      </p:sp>
      <p:sp>
        <p:nvSpPr>
          <p:cNvPr id="10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361303" cy="4525963"/>
          </a:xfrm>
          <a:prstGeom prst="rect">
            <a:avLst/>
          </a:prstGeom>
        </p:spPr>
        <p:txBody>
          <a:bodyPr lIns="45718" tIns="45718" rIns="45718" bIns="45718" anchor="t">
            <a:normAutofit/>
          </a:bodyPr>
          <a:lstStyle/>
          <a:p>
            <a:r>
              <a:rPr dirty="0"/>
              <a:t>Liquid democracy: Hybrid of direct and delegated voting.</a:t>
            </a:r>
            <a:endParaRPr lang="tr-TR" dirty="0"/>
          </a:p>
          <a:p>
            <a:r>
              <a:rPr dirty="0"/>
              <a:t>Reverse gas model removes </a:t>
            </a:r>
            <a:r>
              <a:rPr lang="tr-TR" dirty="0" err="1"/>
              <a:t>tx</a:t>
            </a:r>
            <a:r>
              <a:rPr dirty="0"/>
              <a:t> fees for voters.</a:t>
            </a:r>
          </a:p>
          <a:p>
            <a:r>
              <a:rPr dirty="0"/>
              <a:t>Voting rewards incentivize participation</a:t>
            </a:r>
          </a:p>
        </p:txBody>
      </p:sp>
      <p:pic>
        <p:nvPicPr>
          <p:cNvPr id="109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18" y="6126479"/>
            <a:ext cx="914402" cy="5486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10" name="AGV_vUcNbpPAx1yzsSiuPGlXm3WhtaG0Ip81bQ28ozTC3_a3QuGxMzj47uV5XR0LKMxmUFId_tx6W5lDIueRLAP98Slo6YCLoltp1PTkg46Mu1kcl8wwQ4caHxGjYhG9MA4NF4BdfXit=s2048.png" descr="AGV_vUcNbpPAx1yzsSiuPGlXm3WhtaG0Ip81bQ28ozTC3_a3QuGxMzj47uV5XR0LKMxmUFId_tx6W5lDIueRLAP98Slo6YCLoltp1PTkg46Mu1kcl8wwQ4caHxGjYhG9MA4NF4BdfXit=s20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07" y="3914826"/>
            <a:ext cx="4551703" cy="227706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1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8744" y="3903041"/>
            <a:ext cx="2300636" cy="23006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Placeholder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114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65" y="1008351"/>
            <a:ext cx="8897471" cy="4762857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" name="Picture 4" descr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43" y="5767947"/>
            <a:ext cx="2781301" cy="790576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TextBox 5"/>
          <p:cNvSpPr txBox="1"/>
          <p:nvPr/>
        </p:nvSpPr>
        <p:spPr>
          <a:xfrm>
            <a:off x="124199" y="207595"/>
            <a:ext cx="5029200" cy="392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/>
            </a:lvl1pPr>
          </a:lstStyle>
          <a:p>
            <a:r>
              <a:t>Most Active DAOs in the last 30 Days</a:t>
            </a:r>
          </a:p>
        </p:txBody>
      </p:sp>
      <p:pic>
        <p:nvPicPr>
          <p:cNvPr id="117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109" y="4781058"/>
            <a:ext cx="1999627" cy="19996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Placeholder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120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65" y="1072326"/>
            <a:ext cx="8886265" cy="47021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43" y="5767947"/>
            <a:ext cx="2781301" cy="790576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TextBox 7"/>
          <p:cNvSpPr txBox="1"/>
          <p:nvPr/>
        </p:nvSpPr>
        <p:spPr>
          <a:xfrm>
            <a:off x="124199" y="207595"/>
            <a:ext cx="5029200" cy="392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/>
            </a:lvl1pPr>
          </a:lstStyle>
          <a:p>
            <a:r>
              <a:t>DAOs with the Most Proposals</a:t>
            </a:r>
          </a:p>
        </p:txBody>
      </p:sp>
      <p:pic>
        <p:nvPicPr>
          <p:cNvPr id="123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109" y="4781058"/>
            <a:ext cx="1999627" cy="19996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itle 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Internet Computer Protocol (ICP)</a:t>
            </a:r>
          </a:p>
        </p:txBody>
      </p:sp>
      <p:sp>
        <p:nvSpPr>
          <p:cNvPr id="126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524441" cy="4525963"/>
          </a:xfrm>
          <a:prstGeom prst="rect">
            <a:avLst/>
          </a:prstGeom>
        </p:spPr>
        <p:txBody>
          <a:bodyPr/>
          <a:lstStyle/>
          <a:p>
            <a:r>
              <a:t>Decentralized compute platform</a:t>
            </a:r>
          </a:p>
          <a:p>
            <a:r>
              <a:t>Fast, scalable smart contracts called canisters</a:t>
            </a:r>
          </a:p>
          <a:p>
            <a:r>
              <a:t>Reverse gas model: paid by developers, not user</a:t>
            </a:r>
          </a:p>
        </p:txBody>
      </p:sp>
      <p:pic>
        <p:nvPicPr>
          <p:cNvPr id="127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18" y="6126479"/>
            <a:ext cx="914402" cy="5486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12" y="3323757"/>
            <a:ext cx="4522183" cy="3143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9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3689" y="3583135"/>
            <a:ext cx="2624795" cy="262479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itle 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Service Nervous System (SNS)</a:t>
            </a:r>
          </a:p>
        </p:txBody>
      </p:sp>
      <p:sp>
        <p:nvSpPr>
          <p:cNvPr id="132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Application-specific DAOs running on ICP</a:t>
            </a:r>
          </a:p>
          <a:p>
            <a:r>
              <a:t>Customizable per DAO.</a:t>
            </a:r>
          </a:p>
          <a:p>
            <a:r>
              <a:t>Voting power based on locked tokens and lock duration.</a:t>
            </a:r>
          </a:p>
          <a:p>
            <a:r>
              <a:t>Topic-based delegation and token rewards.</a:t>
            </a:r>
          </a:p>
        </p:txBody>
      </p:sp>
      <p:pic>
        <p:nvPicPr>
          <p:cNvPr id="133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18" y="6126479"/>
            <a:ext cx="914402" cy="5486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4" name="AGV_vUcNbpPAx1yzsSiuPGlXm3WhtaG0Ip81bQ28ozTC3_a3QuGxMzj47uV5XR0LKMxmUFId_tx6W5lDIueRLAP98Slo6YCLoltp1PTkg46Mu1kcl8wwQ4caHxGjYhG9MA4NF4BdfXit=s2048.png" descr="AGV_vUcNbpPAx1yzsSiuPGlXm3WhtaG0Ip81bQ28ozTC3_a3QuGxMzj47uV5XR0LKMxmUFId_tx6W5lDIueRLAP98Slo6YCLoltp1PTkg46Mu1kcl8wwQ4caHxGjYhG9MA4NF4BdfXit=s20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822" y="4628888"/>
            <a:ext cx="3672140" cy="183704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 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Research Questions</a:t>
            </a:r>
          </a:p>
        </p:txBody>
      </p:sp>
      <p:sp>
        <p:nvSpPr>
          <p:cNvPr id="137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How do SNS DAOs perform on participation, approval, and decision speed?</a:t>
            </a:r>
          </a:p>
          <a:p>
            <a:r>
              <a:t>What are the temporal trends in SNS governance activity?</a:t>
            </a:r>
          </a:p>
          <a:p>
            <a:r>
              <a:t>Which design features influence these governance dynamics?</a:t>
            </a:r>
          </a:p>
          <a:p>
            <a:r>
              <a:t>How do SNS DAOs compare with Ethereum DAOs on governance efficiency?</a:t>
            </a:r>
          </a:p>
        </p:txBody>
      </p:sp>
      <p:pic>
        <p:nvPicPr>
          <p:cNvPr id="138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18" y="6126479"/>
            <a:ext cx="914402" cy="5486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Content Placeholder 3" descr="Content Placeholder 3"/>
          <p:cNvPicPr>
            <a:picLocks noChangeAspect="1"/>
          </p:cNvPicPr>
          <p:nvPr/>
        </p:nvPicPr>
        <p:blipFill>
          <a:blip r:embed="rId2"/>
          <a:srcRect t="8668" r="4334" b="3334"/>
          <a:stretch>
            <a:fillRect/>
          </a:stretch>
        </p:blipFill>
        <p:spPr>
          <a:xfrm>
            <a:off x="446972" y="1325213"/>
            <a:ext cx="7949122" cy="4921814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Picture 4" descr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18" y="6126479"/>
            <a:ext cx="914402" cy="548642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Data Set"/>
          <p:cNvSpPr txBox="1"/>
          <p:nvPr/>
        </p:nvSpPr>
        <p:spPr>
          <a:xfrm>
            <a:off x="3481069" y="347883"/>
            <a:ext cx="2003732" cy="653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defRPr sz="4400"/>
            </a:lvl1pPr>
          </a:lstStyle>
          <a:p>
            <a:r>
              <a:t>Data Set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Content Placeholder 3" descr="Content Placeholder 3"/>
          <p:cNvPicPr>
            <a:picLocks noChangeAspect="1"/>
          </p:cNvPicPr>
          <p:nvPr/>
        </p:nvPicPr>
        <p:blipFill>
          <a:blip r:embed="rId2"/>
          <a:srcRect l="3308"/>
          <a:stretch>
            <a:fillRect/>
          </a:stretch>
        </p:blipFill>
        <p:spPr>
          <a:xfrm>
            <a:off x="123389" y="800584"/>
            <a:ext cx="8897348" cy="5553696"/>
          </a:xfrm>
          <a:prstGeom prst="rect">
            <a:avLst/>
          </a:prstGeom>
          <a:ln w="12700">
            <a:miter lim="400000"/>
          </a:ln>
        </p:spPr>
      </p:pic>
      <p:pic>
        <p:nvPicPr>
          <p:cNvPr id="145" name="Picture 4" descr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18" y="6126479"/>
            <a:ext cx="914402" cy="548642"/>
          </a:xfrm>
          <a:prstGeom prst="rect">
            <a:avLst/>
          </a:prstGeom>
          <a:ln w="12700">
            <a:miter lim="400000"/>
          </a:ln>
        </p:spPr>
      </p:pic>
      <p:sp>
        <p:nvSpPr>
          <p:cNvPr id="146" name="TextBox 2"/>
          <p:cNvSpPr txBox="1"/>
          <p:nvPr/>
        </p:nvSpPr>
        <p:spPr>
          <a:xfrm>
            <a:off x="115360" y="172575"/>
            <a:ext cx="7010187" cy="392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/>
            </a:lvl1pPr>
          </a:lstStyle>
          <a:p>
            <a:r>
              <a:t>Voting power in favour/total power exercised</a:t>
            </a:r>
          </a:p>
        </p:txBody>
      </p:sp>
      <p:sp>
        <p:nvSpPr>
          <p:cNvPr id="147" name="Mean SNS 97%…"/>
          <p:cNvSpPr/>
          <p:nvPr/>
        </p:nvSpPr>
        <p:spPr>
          <a:xfrm>
            <a:off x="5941544" y="140785"/>
            <a:ext cx="2869804" cy="14386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29" y="0"/>
                </a:moveTo>
                <a:cubicBezTo>
                  <a:pt x="236" y="0"/>
                  <a:pt x="0" y="472"/>
                  <a:pt x="0" y="1055"/>
                </a:cubicBezTo>
                <a:lnTo>
                  <a:pt x="0" y="16702"/>
                </a:lnTo>
                <a:cubicBezTo>
                  <a:pt x="0" y="17285"/>
                  <a:pt x="236" y="17757"/>
                  <a:pt x="529" y="17757"/>
                </a:cubicBezTo>
                <a:lnTo>
                  <a:pt x="16961" y="17757"/>
                </a:lnTo>
                <a:lnTo>
                  <a:pt x="18021" y="21600"/>
                </a:lnTo>
                <a:lnTo>
                  <a:pt x="19082" y="17757"/>
                </a:lnTo>
                <a:lnTo>
                  <a:pt x="21071" y="17757"/>
                </a:lnTo>
                <a:cubicBezTo>
                  <a:pt x="21364" y="17757"/>
                  <a:pt x="21600" y="17285"/>
                  <a:pt x="21600" y="16702"/>
                </a:cubicBezTo>
                <a:lnTo>
                  <a:pt x="21600" y="1055"/>
                </a:lnTo>
                <a:cubicBezTo>
                  <a:pt x="21600" y="472"/>
                  <a:pt x="21364" y="0"/>
                  <a:pt x="21071" y="0"/>
                </a:cubicBezTo>
                <a:lnTo>
                  <a:pt x="529" y="0"/>
                </a:lnTo>
                <a:close/>
              </a:path>
            </a:pathLst>
          </a:custGeom>
          <a:gradFill>
            <a:gsLst>
              <a:gs pos="0">
                <a:schemeClr val="accent4">
                  <a:hueOff val="-206663"/>
                  <a:satOff val="29896"/>
                  <a:lumOff val="29240"/>
                </a:schemeClr>
              </a:gs>
              <a:gs pos="35000">
                <a:srgbClr val="D8C9EE"/>
              </a:gs>
              <a:gs pos="100000">
                <a:schemeClr val="accent4">
                  <a:hueOff val="-242556"/>
                  <a:satOff val="32941"/>
                  <a:lumOff val="43328"/>
                </a:schemeClr>
              </a:gs>
            </a:gsLst>
            <a:lin ang="16200000"/>
          </a:gradFill>
          <a:ln>
            <a:solidFill>
              <a:srgbClr val="7D60A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 algn="ctr">
              <a:defRPr sz="1466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Mean</a:t>
            </a:r>
            <a:br/>
            <a:r>
              <a:t>SNS 97%</a:t>
            </a:r>
            <a:endParaRPr sz="1200">
              <a:latin typeface="Times Roman"/>
              <a:ea typeface="Times Roman"/>
              <a:cs typeface="Times Roman"/>
              <a:sym typeface="Times Roman"/>
            </a:endParaRPr>
          </a:p>
          <a:p>
            <a:pPr algn="ctr">
              <a:defRPr sz="1466">
                <a:latin typeface="Arial"/>
                <a:ea typeface="Arial"/>
                <a:cs typeface="Arial"/>
                <a:sym typeface="Arial"/>
              </a:defRPr>
            </a:pPr>
            <a:r>
              <a:t>Compound 89%, Aragon 94%, DAOstack 86%, DAOhaus 91%</a:t>
            </a:r>
            <a:endParaRPr sz="1200">
              <a:latin typeface="Times Roman"/>
              <a:ea typeface="Times Roman"/>
              <a:cs typeface="Times Roman"/>
              <a:sym typeface="Times Roman"/>
            </a:endParaRPr>
          </a:p>
        </p:txBody>
      </p:sp>
      <p:sp>
        <p:nvSpPr>
          <p:cNvPr id="148" name="motions and SNS canister upgrades"/>
          <p:cNvSpPr/>
          <p:nvPr/>
        </p:nvSpPr>
        <p:spPr>
          <a:xfrm>
            <a:off x="7101940" y="5901035"/>
            <a:ext cx="2037823" cy="7752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964" y="0"/>
                </a:moveTo>
                <a:cubicBezTo>
                  <a:pt x="2721" y="0"/>
                  <a:pt x="2522" y="523"/>
                  <a:pt x="2522" y="1163"/>
                </a:cubicBezTo>
                <a:lnTo>
                  <a:pt x="2522" y="3465"/>
                </a:lnTo>
                <a:lnTo>
                  <a:pt x="0" y="5792"/>
                </a:lnTo>
                <a:lnTo>
                  <a:pt x="2522" y="8106"/>
                </a:lnTo>
                <a:lnTo>
                  <a:pt x="2522" y="20437"/>
                </a:lnTo>
                <a:cubicBezTo>
                  <a:pt x="2522" y="21077"/>
                  <a:pt x="2721" y="21600"/>
                  <a:pt x="2964" y="21600"/>
                </a:cubicBezTo>
                <a:lnTo>
                  <a:pt x="21158" y="21600"/>
                </a:lnTo>
                <a:cubicBezTo>
                  <a:pt x="21401" y="21600"/>
                  <a:pt x="21600" y="21077"/>
                  <a:pt x="21600" y="20437"/>
                </a:cubicBezTo>
                <a:lnTo>
                  <a:pt x="21600" y="1163"/>
                </a:lnTo>
                <a:cubicBezTo>
                  <a:pt x="21600" y="523"/>
                  <a:pt x="21401" y="0"/>
                  <a:pt x="21158" y="0"/>
                </a:cubicBezTo>
                <a:lnTo>
                  <a:pt x="2964" y="0"/>
                </a:lnTo>
                <a:close/>
              </a:path>
            </a:pathLst>
          </a:custGeom>
          <a:gradFill>
            <a:gsLst>
              <a:gs pos="0">
                <a:srgbClr val="FF953E"/>
              </a:gs>
              <a:gs pos="100000">
                <a:schemeClr val="accent6">
                  <a:hueOff val="-456778"/>
                  <a:satOff val="8290"/>
                  <a:lumOff val="24503"/>
                </a:schemeClr>
              </a:gs>
            </a:gsLst>
            <a:lin ang="16200000"/>
          </a:gradFill>
          <a:ln w="25400">
            <a:solidFill>
              <a:schemeClr val="accent1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tr-TR" dirty="0"/>
              <a:t>    </a:t>
            </a:r>
            <a:r>
              <a:rPr sz="1600" dirty="0"/>
              <a:t>motions and SNS</a:t>
            </a:r>
            <a:r>
              <a:rPr lang="tr-TR" sz="1600" dirty="0"/>
              <a:t>              </a:t>
            </a:r>
            <a:r>
              <a:rPr lang="en-GB" sz="1600" dirty="0"/>
              <a:t>	</a:t>
            </a:r>
            <a:r>
              <a:rPr lang="tr-TR" sz="1600" dirty="0"/>
              <a:t>canister</a:t>
            </a:r>
            <a:r>
              <a:rPr sz="1600" dirty="0"/>
              <a:t> upgrades</a:t>
            </a:r>
            <a:endParaRPr lang="tr-TR" sz="1600" dirty="0" err="1">
              <a:latin typeface="Times Roman"/>
              <a:ea typeface="Times Roman"/>
              <a:cs typeface="Times Roman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Content Placeholder 3" descr="Content Placeholder 3"/>
          <p:cNvPicPr>
            <a:picLocks noChangeAspect="1"/>
          </p:cNvPicPr>
          <p:nvPr/>
        </p:nvPicPr>
        <p:blipFill>
          <a:blip r:embed="rId2"/>
          <a:srcRect l="2915"/>
          <a:stretch>
            <a:fillRect/>
          </a:stretch>
        </p:blipFill>
        <p:spPr>
          <a:xfrm>
            <a:off x="156854" y="800117"/>
            <a:ext cx="8830263" cy="56778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" name="Picture 4" descr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18" y="6126479"/>
            <a:ext cx="914402" cy="548642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TextBox 1"/>
          <p:cNvSpPr txBox="1"/>
          <p:nvPr/>
        </p:nvSpPr>
        <p:spPr>
          <a:xfrm>
            <a:off x="160183" y="239810"/>
            <a:ext cx="7010187" cy="392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/>
            </a:lvl1pPr>
          </a:lstStyle>
          <a:p>
            <a:r>
              <a:t>Participating voting power (%)</a:t>
            </a:r>
          </a:p>
        </p:txBody>
      </p:sp>
      <p:sp>
        <p:nvSpPr>
          <p:cNvPr id="153" name="Mean SNS 64% Compound, UniSwap 31-34%, ENS 39.2%, Gitcoin, 28.6%,…"/>
          <p:cNvSpPr/>
          <p:nvPr/>
        </p:nvSpPr>
        <p:spPr>
          <a:xfrm>
            <a:off x="3954097" y="2983"/>
            <a:ext cx="2862661" cy="18696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0" y="0"/>
                </a:moveTo>
                <a:cubicBezTo>
                  <a:pt x="237" y="0"/>
                  <a:pt x="0" y="428"/>
                  <a:pt x="0" y="958"/>
                </a:cubicBezTo>
                <a:lnTo>
                  <a:pt x="0" y="17151"/>
                </a:lnTo>
                <a:cubicBezTo>
                  <a:pt x="0" y="17681"/>
                  <a:pt x="237" y="18109"/>
                  <a:pt x="530" y="18109"/>
                </a:cubicBezTo>
                <a:lnTo>
                  <a:pt x="16952" y="18109"/>
                </a:lnTo>
                <a:lnTo>
                  <a:pt x="18012" y="21600"/>
                </a:lnTo>
                <a:lnTo>
                  <a:pt x="19076" y="18109"/>
                </a:lnTo>
                <a:lnTo>
                  <a:pt x="21070" y="18109"/>
                </a:lnTo>
                <a:cubicBezTo>
                  <a:pt x="21363" y="18109"/>
                  <a:pt x="21600" y="17681"/>
                  <a:pt x="21600" y="17151"/>
                </a:cubicBezTo>
                <a:lnTo>
                  <a:pt x="21600" y="958"/>
                </a:lnTo>
                <a:cubicBezTo>
                  <a:pt x="21600" y="428"/>
                  <a:pt x="21363" y="0"/>
                  <a:pt x="21070" y="0"/>
                </a:cubicBezTo>
                <a:lnTo>
                  <a:pt x="530" y="0"/>
                </a:lnTo>
                <a:close/>
              </a:path>
            </a:pathLst>
          </a:custGeom>
          <a:gradFill>
            <a:gsLst>
              <a:gs pos="0">
                <a:schemeClr val="accent4">
                  <a:hueOff val="-206663"/>
                  <a:satOff val="29896"/>
                  <a:lumOff val="29240"/>
                </a:schemeClr>
              </a:gs>
              <a:gs pos="35000">
                <a:srgbClr val="D8C9EE"/>
              </a:gs>
              <a:gs pos="100000">
                <a:schemeClr val="accent4">
                  <a:hueOff val="-242556"/>
                  <a:satOff val="32941"/>
                  <a:lumOff val="43328"/>
                </a:schemeClr>
              </a:gs>
            </a:gsLst>
            <a:lin ang="16200000"/>
          </a:gradFill>
          <a:ln>
            <a:solidFill>
              <a:srgbClr val="7D60A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 algn="ctr">
              <a:defRPr sz="1466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Mean</a:t>
            </a:r>
            <a:br/>
            <a:r>
              <a:t>SNS 64%</a:t>
            </a:r>
            <a:br/>
            <a:r>
              <a:t>Compound, UniSwap 31-34%, ENS 39.2%, Gitcoin, 28.6%,</a:t>
            </a:r>
            <a:endParaRPr>
              <a:latin typeface="Times Roman"/>
              <a:ea typeface="Times Roman"/>
              <a:cs typeface="Times Roman"/>
              <a:sym typeface="Times Roman"/>
            </a:endParaRPr>
          </a:p>
          <a:p>
            <a:pPr algn="ctr">
              <a:defRPr sz="1466">
                <a:latin typeface="Arial"/>
                <a:ea typeface="Arial"/>
                <a:cs typeface="Arial"/>
                <a:sym typeface="Arial"/>
              </a:defRPr>
            </a:pPr>
            <a:r>
              <a:t>Aragon / DAOstack 10%, DAOhaus 40%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18" y="6126479"/>
            <a:ext cx="914402" cy="548642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TextBox 1"/>
          <p:cNvSpPr txBox="1"/>
          <p:nvPr/>
        </p:nvSpPr>
        <p:spPr>
          <a:xfrm>
            <a:off x="160183" y="239810"/>
            <a:ext cx="7010187" cy="392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/>
            </a:lvl1pPr>
          </a:lstStyle>
          <a:p>
            <a:r>
              <a:t>Participating voting power (%)</a:t>
            </a:r>
          </a:p>
        </p:txBody>
      </p:sp>
      <p:pic>
        <p:nvPicPr>
          <p:cNvPr id="157" name="AGV_vUdmyj0LMSeSyKOqfC_QxA-9VL100X5NU8RCpFSigRXi6_7nRIqygBlTc5nDSV5TSb78K3ivKt4QSegoxo0clOakf0L--GqTIpD1PMqd3bLTtyQPTAeCuOGGoSJql7w_Dc2pYuQ=s2048.png" descr="AGV_vUdmyj0LMSeSyKOqfC_QxA-9VL100X5NU8RCpFSigRXi6_7nRIqygBlTc5nDSV5TSb78K3ivKt4QSegoxo0clOakf0L--GqTIpD1PMqd3bLTtyQPTAeCuOGGoSJql7w_Dc2pYuQ=s20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3" y="1141424"/>
            <a:ext cx="8585607" cy="4813231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Related work reports drastically decreasing participation over time"/>
          <p:cNvSpPr/>
          <p:nvPr/>
        </p:nvSpPr>
        <p:spPr>
          <a:xfrm>
            <a:off x="6232236" y="3164354"/>
            <a:ext cx="2332039" cy="11807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952" y="0"/>
                </a:moveTo>
                <a:lnTo>
                  <a:pt x="1889" y="3906"/>
                </a:lnTo>
                <a:lnTo>
                  <a:pt x="529" y="3906"/>
                </a:lnTo>
                <a:cubicBezTo>
                  <a:pt x="236" y="3906"/>
                  <a:pt x="0" y="4373"/>
                  <a:pt x="0" y="4952"/>
                </a:cubicBezTo>
                <a:lnTo>
                  <a:pt x="0" y="20547"/>
                </a:lnTo>
                <a:cubicBezTo>
                  <a:pt x="0" y="21126"/>
                  <a:pt x="236" y="21600"/>
                  <a:pt x="529" y="21600"/>
                </a:cubicBezTo>
                <a:lnTo>
                  <a:pt x="21071" y="21600"/>
                </a:lnTo>
                <a:cubicBezTo>
                  <a:pt x="21364" y="21600"/>
                  <a:pt x="21600" y="21126"/>
                  <a:pt x="21600" y="20547"/>
                </a:cubicBezTo>
                <a:lnTo>
                  <a:pt x="21600" y="4952"/>
                </a:lnTo>
                <a:cubicBezTo>
                  <a:pt x="21600" y="4373"/>
                  <a:pt x="21364" y="3906"/>
                  <a:pt x="21071" y="3906"/>
                </a:cubicBezTo>
                <a:lnTo>
                  <a:pt x="4014" y="3906"/>
                </a:lnTo>
                <a:lnTo>
                  <a:pt x="2952" y="0"/>
                </a:lnTo>
                <a:close/>
              </a:path>
            </a:pathLst>
          </a:custGeom>
          <a:gradFill>
            <a:gsLst>
              <a:gs pos="0">
                <a:schemeClr val="accent4">
                  <a:hueOff val="-206663"/>
                  <a:satOff val="29896"/>
                  <a:lumOff val="29240"/>
                </a:schemeClr>
              </a:gs>
              <a:gs pos="35000">
                <a:srgbClr val="D8C9EE"/>
              </a:gs>
              <a:gs pos="100000">
                <a:schemeClr val="accent4">
                  <a:hueOff val="-242556"/>
                  <a:satOff val="32941"/>
                  <a:lumOff val="43328"/>
                </a:schemeClr>
              </a:gs>
            </a:gsLst>
            <a:lin ang="16200000"/>
          </a:gradFill>
          <a:ln>
            <a:solidFill>
              <a:srgbClr val="7D60A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  <a:p>
            <a:pPr algn="ctr">
              <a:defRPr sz="1466" b="1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Related work reports drastically decreasing participation over time</a:t>
            </a:r>
            <a:endParaRPr sz="1200" dirty="0">
              <a:latin typeface="Times Roman"/>
              <a:ea typeface="Times Roman"/>
              <a:cs typeface="Times Roman"/>
              <a:sym typeface="Times Roman"/>
            </a:endParaRPr>
          </a:p>
          <a:p>
            <a:pPr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endParaRPr sz="1200" b="0" dirty="0">
              <a:latin typeface="Times Roman"/>
              <a:ea typeface="Times Roman"/>
              <a:cs typeface="Times Roman"/>
              <a:sym typeface="Times Roman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Content Placeholder 3" descr="Content Placeholder 3"/>
          <p:cNvPicPr>
            <a:picLocks noChangeAspect="1"/>
          </p:cNvPicPr>
          <p:nvPr/>
        </p:nvPicPr>
        <p:blipFill>
          <a:blip r:embed="rId2"/>
          <a:srcRect l="2452"/>
          <a:stretch>
            <a:fillRect/>
          </a:stretch>
        </p:blipFill>
        <p:spPr>
          <a:xfrm>
            <a:off x="302631" y="837402"/>
            <a:ext cx="8538809" cy="563694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1" name="Picture 4" descr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18" y="6126479"/>
            <a:ext cx="914402" cy="548642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TextBox 2"/>
          <p:cNvSpPr txBox="1"/>
          <p:nvPr/>
        </p:nvSpPr>
        <p:spPr>
          <a:xfrm>
            <a:off x="160183" y="239810"/>
            <a:ext cx="7010187" cy="392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/>
            </a:lvl1pPr>
          </a:lstStyle>
          <a:p>
            <a:r>
              <a:t>Number of rejected proposals (%)</a:t>
            </a:r>
          </a:p>
        </p:txBody>
      </p:sp>
      <p:sp>
        <p:nvSpPr>
          <p:cNvPr id="163" name="Not considered in related work"/>
          <p:cNvSpPr/>
          <p:nvPr/>
        </p:nvSpPr>
        <p:spPr>
          <a:xfrm>
            <a:off x="4691302" y="839062"/>
            <a:ext cx="3128567" cy="7397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95" y="0"/>
                </a:moveTo>
                <a:cubicBezTo>
                  <a:pt x="176" y="0"/>
                  <a:pt x="0" y="745"/>
                  <a:pt x="0" y="1669"/>
                </a:cubicBezTo>
                <a:lnTo>
                  <a:pt x="0" y="17486"/>
                </a:lnTo>
                <a:cubicBezTo>
                  <a:pt x="0" y="18410"/>
                  <a:pt x="176" y="19155"/>
                  <a:pt x="395" y="19155"/>
                </a:cubicBezTo>
                <a:lnTo>
                  <a:pt x="751" y="19155"/>
                </a:lnTo>
                <a:lnTo>
                  <a:pt x="1540" y="21600"/>
                </a:lnTo>
                <a:lnTo>
                  <a:pt x="2332" y="19155"/>
                </a:lnTo>
                <a:lnTo>
                  <a:pt x="21205" y="19155"/>
                </a:lnTo>
                <a:cubicBezTo>
                  <a:pt x="21424" y="19155"/>
                  <a:pt x="21600" y="18410"/>
                  <a:pt x="21600" y="17486"/>
                </a:cubicBezTo>
                <a:lnTo>
                  <a:pt x="21600" y="1669"/>
                </a:lnTo>
                <a:cubicBezTo>
                  <a:pt x="21600" y="745"/>
                  <a:pt x="21424" y="0"/>
                  <a:pt x="21205" y="0"/>
                </a:cubicBezTo>
                <a:lnTo>
                  <a:pt x="395" y="0"/>
                </a:lnTo>
                <a:close/>
              </a:path>
            </a:pathLst>
          </a:custGeom>
          <a:gradFill>
            <a:gsLst>
              <a:gs pos="0">
                <a:schemeClr val="accent4">
                  <a:hueOff val="-206663"/>
                  <a:satOff val="29896"/>
                  <a:lumOff val="29240"/>
                </a:schemeClr>
              </a:gs>
              <a:gs pos="35000">
                <a:srgbClr val="D8C9EE"/>
              </a:gs>
              <a:gs pos="100000">
                <a:schemeClr val="accent4">
                  <a:hueOff val="-242556"/>
                  <a:satOff val="32941"/>
                  <a:lumOff val="43328"/>
                </a:schemeClr>
              </a:gs>
            </a:gsLst>
            <a:lin ang="16200000"/>
          </a:gradFill>
          <a:ln>
            <a:solidFill>
              <a:srgbClr val="7D60A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/>
          <a:lstStyle>
            <a:lvl1pPr algn="ctr">
              <a:defRPr sz="1466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b="0" dirty="0"/>
              <a:t>Not considered in related work</a:t>
            </a:r>
          </a:p>
        </p:txBody>
      </p:sp>
      <p:sp>
        <p:nvSpPr>
          <p:cNvPr id="164" name="Only treasury and motion proposals were ever rejected in critical and harmless topics"/>
          <p:cNvSpPr/>
          <p:nvPr/>
        </p:nvSpPr>
        <p:spPr>
          <a:xfrm>
            <a:off x="160183" y="6020598"/>
            <a:ext cx="2199879" cy="7735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61" y="0"/>
                </a:moveTo>
                <a:cubicBezTo>
                  <a:pt x="251" y="0"/>
                  <a:pt x="0" y="713"/>
                  <a:pt x="0" y="1596"/>
                </a:cubicBezTo>
                <a:lnTo>
                  <a:pt x="0" y="20004"/>
                </a:lnTo>
                <a:cubicBezTo>
                  <a:pt x="0" y="20887"/>
                  <a:pt x="251" y="21600"/>
                  <a:pt x="561" y="21600"/>
                </a:cubicBezTo>
                <a:lnTo>
                  <a:pt x="20037" y="21600"/>
                </a:lnTo>
                <a:cubicBezTo>
                  <a:pt x="20348" y="21600"/>
                  <a:pt x="20599" y="20887"/>
                  <a:pt x="20599" y="20004"/>
                </a:cubicBezTo>
                <a:lnTo>
                  <a:pt x="20599" y="13011"/>
                </a:lnTo>
                <a:lnTo>
                  <a:pt x="21600" y="9819"/>
                </a:lnTo>
                <a:lnTo>
                  <a:pt x="20599" y="6616"/>
                </a:lnTo>
                <a:lnTo>
                  <a:pt x="20599" y="1596"/>
                </a:lnTo>
                <a:cubicBezTo>
                  <a:pt x="20599" y="713"/>
                  <a:pt x="20348" y="0"/>
                  <a:pt x="20037" y="0"/>
                </a:cubicBezTo>
                <a:lnTo>
                  <a:pt x="561" y="0"/>
                </a:lnTo>
                <a:close/>
              </a:path>
            </a:pathLst>
          </a:custGeom>
          <a:gradFill>
            <a:gsLst>
              <a:gs pos="0">
                <a:schemeClr val="accent4">
                  <a:hueOff val="-206663"/>
                  <a:satOff val="29896"/>
                  <a:lumOff val="29240"/>
                </a:schemeClr>
              </a:gs>
              <a:gs pos="35000">
                <a:srgbClr val="D8C9EE"/>
              </a:gs>
              <a:gs pos="100000">
                <a:schemeClr val="accent4">
                  <a:hueOff val="-242556"/>
                  <a:satOff val="32941"/>
                  <a:lumOff val="43328"/>
                </a:schemeClr>
              </a:gs>
            </a:gsLst>
            <a:lin ang="16200000"/>
          </a:gradFill>
          <a:ln>
            <a:solidFill>
              <a:srgbClr val="7D60A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/>
          <a:lstStyle>
            <a:lvl1pPr>
              <a:defRPr sz="1166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dirty="0"/>
              <a:t>Only treasury and motion proposals were ever rejected in critical and harmless topics</a:t>
            </a:r>
            <a:endParaRPr dirty="0">
              <a:latin typeface="Times Roman"/>
              <a:ea typeface="Times Roman"/>
              <a:cs typeface="Times Roman"/>
              <a:sym typeface="Times Roman"/>
            </a:endParaRP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Content Placeholder 3" descr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18" y="1004887"/>
            <a:ext cx="8684560" cy="5279562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" name="Picture 4" descr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18" y="6126479"/>
            <a:ext cx="914402" cy="548642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TextBox 2"/>
          <p:cNvSpPr txBox="1"/>
          <p:nvPr/>
        </p:nvSpPr>
        <p:spPr>
          <a:xfrm>
            <a:off x="227418" y="273428"/>
            <a:ext cx="7010187" cy="392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/>
            </a:lvl1pPr>
          </a:lstStyle>
          <a:p>
            <a:r>
              <a:t>Proposal Durations for SNS DAOs</a:t>
            </a:r>
          </a:p>
        </p:txBody>
      </p:sp>
      <p:sp>
        <p:nvSpPr>
          <p:cNvPr id="169" name="Mean…"/>
          <p:cNvSpPr/>
          <p:nvPr/>
        </p:nvSpPr>
        <p:spPr>
          <a:xfrm>
            <a:off x="4715189" y="620365"/>
            <a:ext cx="2869804" cy="14386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29" y="0"/>
                </a:moveTo>
                <a:cubicBezTo>
                  <a:pt x="236" y="0"/>
                  <a:pt x="0" y="472"/>
                  <a:pt x="0" y="1055"/>
                </a:cubicBezTo>
                <a:lnTo>
                  <a:pt x="0" y="16702"/>
                </a:lnTo>
                <a:cubicBezTo>
                  <a:pt x="0" y="17285"/>
                  <a:pt x="236" y="17757"/>
                  <a:pt x="529" y="17757"/>
                </a:cubicBezTo>
                <a:lnTo>
                  <a:pt x="16961" y="17757"/>
                </a:lnTo>
                <a:lnTo>
                  <a:pt x="18021" y="21600"/>
                </a:lnTo>
                <a:lnTo>
                  <a:pt x="19082" y="17757"/>
                </a:lnTo>
                <a:lnTo>
                  <a:pt x="21071" y="17757"/>
                </a:lnTo>
                <a:cubicBezTo>
                  <a:pt x="21364" y="17757"/>
                  <a:pt x="21600" y="17285"/>
                  <a:pt x="21600" y="16702"/>
                </a:cubicBezTo>
                <a:lnTo>
                  <a:pt x="21600" y="1055"/>
                </a:lnTo>
                <a:cubicBezTo>
                  <a:pt x="21600" y="472"/>
                  <a:pt x="21364" y="0"/>
                  <a:pt x="21071" y="0"/>
                </a:cubicBezTo>
                <a:lnTo>
                  <a:pt x="529" y="0"/>
                </a:lnTo>
                <a:close/>
              </a:path>
            </a:pathLst>
          </a:custGeom>
          <a:gradFill>
            <a:gsLst>
              <a:gs pos="0">
                <a:schemeClr val="accent4">
                  <a:hueOff val="-206663"/>
                  <a:satOff val="29896"/>
                  <a:lumOff val="29240"/>
                </a:schemeClr>
              </a:gs>
              <a:gs pos="35000">
                <a:srgbClr val="D8C9EE"/>
              </a:gs>
              <a:gs pos="100000">
                <a:schemeClr val="accent4">
                  <a:hueOff val="-242556"/>
                  <a:satOff val="32941"/>
                  <a:lumOff val="43328"/>
                </a:schemeClr>
              </a:gs>
            </a:gsLst>
            <a:lin ang="16200000"/>
          </a:gradFill>
          <a:ln>
            <a:solidFill>
              <a:srgbClr val="7D60A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 algn="ctr">
              <a:defRPr sz="1466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Mean</a:t>
            </a:r>
          </a:p>
          <a:p>
            <a:pPr algn="ctr">
              <a:defRPr sz="1466">
                <a:latin typeface="Arial"/>
                <a:ea typeface="Arial"/>
                <a:cs typeface="Arial"/>
                <a:sym typeface="Arial"/>
              </a:defRPr>
            </a:pPr>
            <a:r>
              <a:t>SNS 27h,</a:t>
            </a:r>
            <a:br/>
            <a:r>
              <a:t>Compound and Uniswap similar, snapshot &gt;2 days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Content Placeholder 3" descr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81" y="794621"/>
            <a:ext cx="8449235" cy="549839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2" name="Picture 4" descr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18" y="6126479"/>
            <a:ext cx="914402" cy="548642"/>
          </a:xfrm>
          <a:prstGeom prst="rect">
            <a:avLst/>
          </a:prstGeom>
          <a:ln w="12700">
            <a:miter lim="400000"/>
          </a:ln>
        </p:spPr>
      </p:pic>
      <p:sp>
        <p:nvSpPr>
          <p:cNvPr id="173" name="TextBox 2"/>
          <p:cNvSpPr txBox="1"/>
          <p:nvPr/>
        </p:nvSpPr>
        <p:spPr>
          <a:xfrm>
            <a:off x="160183" y="161369"/>
            <a:ext cx="7010187" cy="392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400"/>
            </a:lvl1pPr>
          </a:lstStyle>
          <a:p>
            <a:r>
              <a:t>Monthly Frequency of Proposals</a:t>
            </a:r>
          </a:p>
        </p:txBody>
      </p:sp>
      <p:sp>
        <p:nvSpPr>
          <p:cNvPr id="174" name="Mean SNS 8, no decline over time Compound 4.3 and Uniswap 1.7, decline over time"/>
          <p:cNvSpPr/>
          <p:nvPr/>
        </p:nvSpPr>
        <p:spPr>
          <a:xfrm>
            <a:off x="4715188" y="620365"/>
            <a:ext cx="2869805" cy="14386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29" y="0"/>
                </a:moveTo>
                <a:cubicBezTo>
                  <a:pt x="236" y="0"/>
                  <a:pt x="0" y="472"/>
                  <a:pt x="0" y="1055"/>
                </a:cubicBezTo>
                <a:lnTo>
                  <a:pt x="0" y="16702"/>
                </a:lnTo>
                <a:cubicBezTo>
                  <a:pt x="0" y="17285"/>
                  <a:pt x="236" y="17757"/>
                  <a:pt x="529" y="17757"/>
                </a:cubicBezTo>
                <a:lnTo>
                  <a:pt x="16961" y="17757"/>
                </a:lnTo>
                <a:lnTo>
                  <a:pt x="18021" y="21600"/>
                </a:lnTo>
                <a:lnTo>
                  <a:pt x="19082" y="17757"/>
                </a:lnTo>
                <a:lnTo>
                  <a:pt x="21071" y="17757"/>
                </a:lnTo>
                <a:cubicBezTo>
                  <a:pt x="21364" y="17757"/>
                  <a:pt x="21600" y="17285"/>
                  <a:pt x="21600" y="16702"/>
                </a:cubicBezTo>
                <a:lnTo>
                  <a:pt x="21600" y="1055"/>
                </a:lnTo>
                <a:cubicBezTo>
                  <a:pt x="21600" y="472"/>
                  <a:pt x="21364" y="0"/>
                  <a:pt x="21071" y="0"/>
                </a:cubicBezTo>
                <a:lnTo>
                  <a:pt x="529" y="0"/>
                </a:lnTo>
                <a:close/>
              </a:path>
            </a:pathLst>
          </a:custGeom>
          <a:gradFill>
            <a:gsLst>
              <a:gs pos="0">
                <a:schemeClr val="accent4">
                  <a:hueOff val="-206663"/>
                  <a:satOff val="29896"/>
                  <a:lumOff val="29240"/>
                </a:schemeClr>
              </a:gs>
              <a:gs pos="35000">
                <a:srgbClr val="D8C9EE"/>
              </a:gs>
              <a:gs pos="100000">
                <a:schemeClr val="accent4">
                  <a:hueOff val="-242556"/>
                  <a:satOff val="32941"/>
                  <a:lumOff val="43328"/>
                </a:schemeClr>
              </a:gs>
            </a:gsLst>
            <a:lin ang="16200000"/>
          </a:gradFill>
          <a:ln>
            <a:solidFill>
              <a:srgbClr val="7D60A0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 algn="ctr">
              <a:defRPr sz="1466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Mean</a:t>
            </a:r>
            <a:br/>
            <a:r>
              <a:t>SNS 8, no decline over time</a:t>
            </a:r>
            <a:br/>
            <a:r>
              <a:t>Compound 4.3 and Uniswap 1.7, decline over time</a:t>
            </a:r>
            <a:endParaRPr sz="1200">
              <a:latin typeface="Times Roman"/>
              <a:ea typeface="Times Roman"/>
              <a:cs typeface="Times Roman"/>
              <a:sym typeface="Times Roman"/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ummar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Summary</a:t>
            </a:r>
            <a:endParaRPr sz="1200" dirty="0">
              <a:latin typeface="Times Roman"/>
              <a:ea typeface="Times Roman"/>
              <a:cs typeface="Times Roman"/>
              <a:sym typeface="Times Roman"/>
            </a:endParaRPr>
          </a:p>
        </p:txBody>
      </p:sp>
      <p:sp>
        <p:nvSpPr>
          <p:cNvPr id="177" name="14 SNS DAOs…"/>
          <p:cNvSpPr txBox="1">
            <a:spLocks noGrp="1"/>
          </p:cNvSpPr>
          <p:nvPr>
            <p:ph type="body" sz="half" idx="1"/>
          </p:nvPr>
        </p:nvSpPr>
        <p:spPr>
          <a:xfrm>
            <a:off x="457199" y="1428921"/>
            <a:ext cx="8086503" cy="2748867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457200" indent="-317500">
              <a:spcBef>
                <a:spcPts val="0"/>
              </a:spcBef>
              <a:buClr>
                <a:srgbClr val="595959"/>
              </a:buClr>
              <a:defRPr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14 SNS DAOs</a:t>
            </a:r>
          </a:p>
          <a:p>
            <a:pPr marL="457200" indent="-317500">
              <a:spcBef>
                <a:spcPts val="0"/>
              </a:spcBef>
              <a:buClr>
                <a:srgbClr val="595959"/>
              </a:buClr>
              <a:defRPr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3000 proposals</a:t>
            </a:r>
          </a:p>
          <a:p>
            <a:pPr marL="457200" indent="-317500">
              <a:spcBef>
                <a:spcPts val="0"/>
              </a:spcBef>
              <a:buClr>
                <a:srgbClr val="595959"/>
              </a:buClr>
              <a:defRPr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Metrics </a:t>
            </a:r>
          </a:p>
          <a:p>
            <a:pPr marL="914400" lvl="1" indent="-317500">
              <a:spcBef>
                <a:spcPts val="0"/>
              </a:spcBef>
              <a:buClr>
                <a:srgbClr val="595959"/>
              </a:buClr>
              <a:buChar char="◦"/>
              <a:defRPr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participation rates </a:t>
            </a:r>
          </a:p>
          <a:p>
            <a:pPr marL="914400" lvl="1" indent="-317500">
              <a:spcBef>
                <a:spcPts val="0"/>
              </a:spcBef>
              <a:buClr>
                <a:srgbClr val="595959"/>
              </a:buClr>
              <a:buChar char="◦"/>
              <a:defRPr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voting power in </a:t>
            </a:r>
            <a:r>
              <a:rPr dirty="0" err="1"/>
              <a:t>favour</a:t>
            </a:r>
            <a:r>
              <a:rPr dirty="0"/>
              <a:t>/against</a:t>
            </a:r>
          </a:p>
          <a:p>
            <a:pPr marL="914400" lvl="1" indent="-317500">
              <a:spcBef>
                <a:spcPts val="0"/>
              </a:spcBef>
              <a:buClr>
                <a:srgbClr val="595959"/>
              </a:buClr>
              <a:buChar char="◦"/>
              <a:defRPr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frequency of proposals</a:t>
            </a:r>
          </a:p>
          <a:p>
            <a:pPr marL="914400" lvl="1" indent="-317500">
              <a:spcBef>
                <a:spcPts val="1600"/>
              </a:spcBef>
              <a:buClr>
                <a:srgbClr val="595959"/>
              </a:buClr>
              <a:buChar char="◦"/>
              <a:defRPr sz="2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decision duration</a:t>
            </a:r>
          </a:p>
        </p:txBody>
      </p:sp>
      <p:sp>
        <p:nvSpPr>
          <p:cNvPr id="178" name="In comparison to DAOs on other chains:  higher activity, faster decisions, lower costs,       sustained or increasing participatio"/>
          <p:cNvSpPr/>
          <p:nvPr/>
        </p:nvSpPr>
        <p:spPr>
          <a:xfrm>
            <a:off x="561016" y="4381004"/>
            <a:ext cx="7878870" cy="1779930"/>
          </a:xfrm>
          <a:prstGeom prst="roundRect">
            <a:avLst>
              <a:gd name="adj" fmla="val 13271"/>
            </a:avLst>
          </a:prstGeom>
          <a:gradFill>
            <a:gsLst>
              <a:gs pos="0">
                <a:srgbClr val="39B7D8"/>
              </a:gs>
              <a:gs pos="100000">
                <a:schemeClr val="accent5">
                  <a:hueOff val="249503"/>
                  <a:satOff val="48101"/>
                  <a:lumOff val="28891"/>
                </a:schemeClr>
              </a:gs>
            </a:gsLst>
            <a:lin ang="16200000"/>
          </a:gradFill>
          <a:ln>
            <a:solidFill>
              <a:srgbClr val="46AAC4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>
              <a:spcBef>
                <a:spcPts val="1600"/>
              </a:spcBef>
              <a:defRPr sz="2933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sz="2900" dirty="0" err="1"/>
              <a:t>In</a:t>
            </a:r>
            <a:r>
              <a:rPr sz="2900" dirty="0"/>
              <a:t> </a:t>
            </a:r>
            <a:r>
              <a:rPr sz="2900" dirty="0" err="1"/>
              <a:t>comparison</a:t>
            </a:r>
            <a:r>
              <a:rPr sz="2900" dirty="0"/>
              <a:t> </a:t>
            </a:r>
            <a:r>
              <a:rPr sz="2900" dirty="0" err="1"/>
              <a:t>to</a:t>
            </a:r>
            <a:r>
              <a:rPr sz="2900" dirty="0"/>
              <a:t> </a:t>
            </a:r>
            <a:r>
              <a:rPr sz="2900" dirty="0" err="1"/>
              <a:t>DAOs</a:t>
            </a:r>
            <a:r>
              <a:rPr sz="2900" dirty="0"/>
              <a:t> on </a:t>
            </a:r>
            <a:r>
              <a:rPr sz="2900" dirty="0" err="1"/>
              <a:t>other</a:t>
            </a:r>
            <a:r>
              <a:rPr sz="2900" dirty="0"/>
              <a:t> </a:t>
            </a:r>
            <a:r>
              <a:rPr sz="2900" dirty="0" err="1"/>
              <a:t>chains</a:t>
            </a:r>
            <a:r>
              <a:rPr sz="2900" dirty="0"/>
              <a:t>:</a:t>
            </a:r>
            <a:br>
              <a:rPr sz="2900" dirty="0"/>
            </a:br>
            <a:r>
              <a:rPr sz="2900" dirty="0" err="1"/>
              <a:t>higher</a:t>
            </a:r>
            <a:r>
              <a:rPr sz="2900" dirty="0"/>
              <a:t> </a:t>
            </a:r>
            <a:r>
              <a:rPr sz="2900" dirty="0" err="1"/>
              <a:t>activity</a:t>
            </a:r>
            <a:r>
              <a:rPr sz="2900" dirty="0"/>
              <a:t>, </a:t>
            </a:r>
            <a:r>
              <a:rPr sz="2900" dirty="0" err="1"/>
              <a:t>faster</a:t>
            </a:r>
            <a:r>
              <a:rPr sz="2900" dirty="0"/>
              <a:t> </a:t>
            </a:r>
            <a:r>
              <a:rPr sz="2900" dirty="0" err="1"/>
              <a:t>decisions</a:t>
            </a:r>
            <a:r>
              <a:rPr sz="2900" dirty="0"/>
              <a:t>, </a:t>
            </a:r>
            <a:r>
              <a:rPr sz="2900" dirty="0" err="1"/>
              <a:t>lower</a:t>
            </a:r>
            <a:r>
              <a:rPr sz="2900" dirty="0"/>
              <a:t> </a:t>
            </a:r>
            <a:r>
              <a:rPr sz="2900" dirty="0" err="1"/>
              <a:t>costs</a:t>
            </a:r>
            <a:r>
              <a:rPr sz="2900" dirty="0"/>
              <a:t>,  </a:t>
            </a:r>
            <a:br>
              <a:rPr sz="2900" dirty="0"/>
            </a:br>
            <a:r>
              <a:rPr sz="2900" dirty="0"/>
              <a:t>    </a:t>
            </a:r>
            <a:r>
              <a:rPr sz="2900" dirty="0" err="1"/>
              <a:t>sustained</a:t>
            </a:r>
            <a:r>
              <a:rPr sz="2900" dirty="0"/>
              <a:t> </a:t>
            </a:r>
            <a:r>
              <a:rPr sz="2900" dirty="0" err="1"/>
              <a:t>or</a:t>
            </a:r>
            <a:r>
              <a:rPr sz="2900" dirty="0"/>
              <a:t> </a:t>
            </a:r>
            <a:r>
              <a:rPr sz="2900" dirty="0" err="1"/>
              <a:t>increasing</a:t>
            </a:r>
            <a:r>
              <a:rPr sz="2900" dirty="0"/>
              <a:t> </a:t>
            </a:r>
            <a:r>
              <a:rPr lang="tr-TR" sz="2900" dirty="0" err="1"/>
              <a:t>participation</a:t>
            </a:r>
          </a:p>
        </p:txBody>
      </p:sp>
      <p:sp>
        <p:nvSpPr>
          <p:cNvPr id="3" name="Callout: Down Arrow 2">
            <a:extLst>
              <a:ext uri="{FF2B5EF4-FFF2-40B4-BE49-F238E27FC236}">
                <a16:creationId xmlns:a16="http://schemas.microsoft.com/office/drawing/2014/main" id="{85451B7A-2352-AE14-90AB-7167A0A497E5}"/>
              </a:ext>
            </a:extLst>
          </p:cNvPr>
          <p:cNvSpPr/>
          <p:nvPr/>
        </p:nvSpPr>
        <p:spPr>
          <a:xfrm>
            <a:off x="5863834" y="2476996"/>
            <a:ext cx="2576052" cy="2074539"/>
          </a:xfrm>
          <a:prstGeom prst="downArrowCallou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r>
              <a:rPr lang="en-GB" sz="1600" b="1" dirty="0"/>
              <a:t>Mean cost per proposal</a:t>
            </a:r>
            <a:br>
              <a:rPr lang="en-GB" sz="1600" dirty="0"/>
            </a:br>
            <a:r>
              <a:rPr lang="en-GB" sz="1600" dirty="0"/>
              <a:t>-SNS &lt;11 USD ,</a:t>
            </a:r>
            <a:br>
              <a:rPr lang="en-GB" sz="1600" dirty="0"/>
            </a:br>
            <a:r>
              <a:rPr lang="en-GB" sz="1600" dirty="0"/>
              <a:t>-</a:t>
            </a:r>
            <a:r>
              <a:rPr lang="en-GB" sz="1600" dirty="0" err="1"/>
              <a:t>Gitcoin</a:t>
            </a:r>
            <a:r>
              <a:rPr lang="en-GB" sz="1600" dirty="0"/>
              <a:t>, Uniswap, Compound 2500-20,000 USD</a:t>
            </a:r>
            <a:endParaRPr lang="en-GB" sz="1600" dirty="0">
              <a:latin typeface="Times Roman"/>
              <a:ea typeface="Times Roman"/>
              <a:cs typeface="Times Roman"/>
              <a:sym typeface="Times Roman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itle 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Questions &amp; Answers</a:t>
            </a:r>
          </a:p>
        </p:txBody>
      </p:sp>
      <p:sp>
        <p:nvSpPr>
          <p:cNvPr id="182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Thank you for your attention!</a:t>
            </a:r>
          </a:p>
          <a:p>
            <a:r>
              <a:t>I welcome your questions and discussions.</a:t>
            </a:r>
          </a:p>
        </p:txBody>
      </p:sp>
      <p:pic>
        <p:nvPicPr>
          <p:cNvPr id="183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18" y="6126479"/>
            <a:ext cx="914402" cy="5486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622" y="3054498"/>
            <a:ext cx="2889580" cy="2889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Resim 1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CCC52DD-B8E1-D2FB-3C19-AB15071D1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320000">
            <a:off x="5209366" y="3105427"/>
            <a:ext cx="2643653" cy="329259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449</Words>
  <Application>Microsoft Office PowerPoint</Application>
  <PresentationFormat>On-screen Show (4:3)</PresentationFormat>
  <Paragraphs>65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Roman</vt:lpstr>
      <vt:lpstr>Office Theme</vt:lpstr>
      <vt:lpstr>Democracy for DAOs</vt:lpstr>
      <vt:lpstr>Introduction to DAOs</vt:lpstr>
      <vt:lpstr>Challenges in DAO Governance</vt:lpstr>
      <vt:lpstr>SNS DAO Framework on ICP</vt:lpstr>
      <vt:lpstr>PowerPoint Presentation</vt:lpstr>
      <vt:lpstr>PowerPoint Presentation</vt:lpstr>
      <vt:lpstr>Internet Computer Protocol (ICP)</vt:lpstr>
      <vt:lpstr>Service Nervous System (SNS)</vt:lpstr>
      <vt:lpstr>Research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  <vt:lpstr>Questions &amp; Answers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Okutan</dc:creator>
  <cp:lastModifiedBy>arda okutan</cp:lastModifiedBy>
  <cp:revision>34</cp:revision>
  <dcterms:modified xsi:type="dcterms:W3CDTF">2026-10-20T10:09:20Z</dcterms:modified>
</cp:coreProperties>
</file>