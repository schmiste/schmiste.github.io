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gif" ContentType="image/gif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comments/modernComment_958_F5DD5B1A.xml" ContentType="application/vnd.ms-powerpoint.comments+xml"/>
  <Override PartName="/ppt/notesSlides/notesSlide45.xml" ContentType="application/vnd.openxmlformats-officedocument.presentationml.notesSlide+xml"/>
  <Override PartName="/ppt/comments/modernComment_1F0_72B176.xml" ContentType="application/vnd.ms-powerpoint.comments+xml"/>
  <Override PartName="/ppt/notesSlides/notesSlide46.xml" ContentType="application/vnd.openxmlformats-officedocument.presentationml.notesSlide+xml"/>
  <Override PartName="/ppt/comments/modernComment_211_EFAD85EF.xml" ContentType="application/vnd.ms-powerpoint.comments+xml"/>
  <Override PartName="/ppt/notesSlides/notesSlide47.xml" ContentType="application/vnd.openxmlformats-officedocument.presentationml.notesSlide+xml"/>
  <Override PartName="/ppt/comments/modernComment_1F1_AF3F18BA.xml" ContentType="application/vnd.ms-powerpoint.comments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comments/modernComment_988_9C39A8E7.xml" ContentType="application/vnd.ms-powerpoint.comments+xml"/>
  <Override PartName="/ppt/notesSlides/notesSlide55.xml" ContentType="application/vnd.openxmlformats-officedocument.presentationml.notesSlide+xml"/>
  <Override PartName="/ppt/comments/modernComment_989_E747C9E3.xml" ContentType="application/vnd.ms-powerpoint.comments+xml"/>
  <Override PartName="/ppt/notesSlides/notesSlide56.xml" ContentType="application/vnd.openxmlformats-officedocument.presentationml.notesSlide+xml"/>
  <Override PartName="/ppt/comments/modernComment_99C_E3022C25.xml" ContentType="application/vnd.ms-powerpoint.comments+xml"/>
  <Override PartName="/ppt/notesSlides/notesSlide57.xml" ContentType="application/vnd.openxmlformats-officedocument.presentationml.notesSlide+xml"/>
  <Override PartName="/ppt/comments/modernComment_924_F9DF608D.xml" ContentType="application/vnd.ms-powerpoint.comments+xml"/>
  <Override PartName="/ppt/notesSlides/notesSlide58.xml" ContentType="application/vnd.openxmlformats-officedocument.presentationml.notesSlide+xml"/>
  <Override PartName="/ppt/comments/modernComment_885_95D51A9C.xml" ContentType="application/vnd.ms-powerpoint.comments+xml"/>
  <Override PartName="/ppt/notesSlides/notesSlide59.xml" ContentType="application/vnd.openxmlformats-officedocument.presentationml.notesSlide+xml"/>
  <Override PartName="/ppt/comments/modernComment_927_9C5551F7.xml" ContentType="application/vnd.ms-powerpoint.comments+xml"/>
  <Override PartName="/ppt/notesSlides/notesSlide60.xml" ContentType="application/vnd.openxmlformats-officedocument.presentationml.notesSlide+xml"/>
  <Override PartName="/ppt/comments/modernComment_928_AFF8B74E.xml" ContentType="application/vnd.ms-powerpoint.comments+xml"/>
  <Override PartName="/ppt/notesSlides/notesSlide61.xml" ContentType="application/vnd.openxmlformats-officedocument.presentationml.notesSlide+xml"/>
  <Override PartName="/ppt/comments/modernComment_92B_CDA8422A.xml" ContentType="application/vnd.ms-powerpoint.comments+xml"/>
  <Override PartName="/ppt/notesSlides/notesSlide62.xml" ContentType="application/vnd.openxmlformats-officedocument.presentationml.notesSlide+xml"/>
  <Override PartName="/ppt/comments/modernComment_92C_472BC8A2.xml" ContentType="application/vnd.ms-powerpoint.comments+xml"/>
  <Override PartName="/ppt/notesSlides/notesSlide63.xml" ContentType="application/vnd.openxmlformats-officedocument.presentationml.notesSlide+xml"/>
  <Override PartName="/ppt/comments/modernComment_929_B96A2F44.xml" ContentType="application/vnd.ms-powerpoint.comments+xml"/>
  <Override PartName="/ppt/notesSlides/notesSlide64.xml" ContentType="application/vnd.openxmlformats-officedocument.presentationml.notesSlide+xml"/>
  <Override PartName="/ppt/comments/modernComment_99E_D12F496C.xml" ContentType="application/vnd.ms-powerpoint.comments+xml"/>
  <Override PartName="/ppt/notesSlides/notesSlide65.xml" ContentType="application/vnd.openxmlformats-officedocument.presentationml.notesSlide+xml"/>
  <Override PartName="/ppt/comments/modernComment_941_FF8E6A02.xml" ContentType="application/vnd.ms-powerpoint.comments+xml"/>
  <Override PartName="/ppt/notesSlides/notesSlide66.xml" ContentType="application/vnd.openxmlformats-officedocument.presentationml.notesSlide+xml"/>
  <Override PartName="/ppt/comments/modernComment_926_1D2E1A5.xml" ContentType="application/vnd.ms-powerpoint.comments+xml"/>
  <Override PartName="/ppt/notesSlides/notesSlide67.xml" ContentType="application/vnd.openxmlformats-officedocument.presentationml.notesSlide+xml"/>
  <Override PartName="/ppt/comments/modernComment_925_306794DD.xml" ContentType="application/vnd.ms-powerpoint.comments+xml"/>
  <Override PartName="/ppt/notesSlides/notesSlide68.xml" ContentType="application/vnd.openxmlformats-officedocument.presentationml.notesSlide+xml"/>
  <Override PartName="/ppt/comments/modernComment_98F_E9C036D7.xml" ContentType="application/vnd.ms-powerpoint.comments+xml"/>
  <Override PartName="/ppt/notesSlides/notesSlide69.xml" ContentType="application/vnd.openxmlformats-officedocument.presentationml.notesSlide+xml"/>
  <Override PartName="/ppt/comments/modernComment_99F_4B96C929.xml" ContentType="application/vnd.ms-powerpoint.comments+xml"/>
  <Override PartName="/ppt/notesSlides/notesSlide70.xml" ContentType="application/vnd.openxmlformats-officedocument.presentationml.notesSlide+xml"/>
  <Override PartName="/ppt/comments/modernComment_923_AD1A488A.xml" ContentType="application/vnd.ms-powerpoint.comments+xml"/>
  <Override PartName="/ppt/notesSlides/notesSlide71.xml" ContentType="application/vnd.openxmlformats-officedocument.presentationml.notesSlide+xml"/>
  <Override PartName="/ppt/comments/modernComment_9A0_5656719B.xml" ContentType="application/vnd.ms-powerpoint.comments+xml"/>
  <Override PartName="/ppt/notesSlides/notesSlide72.xml" ContentType="application/vnd.openxmlformats-officedocument.presentationml.notesSlide+xml"/>
  <Override PartName="/ppt/comments/modernComment_9A1_2D127DD0.xml" ContentType="application/vnd.ms-powerpoint.comments+xml"/>
  <Override PartName="/ppt/notesSlides/notesSlide73.xml" ContentType="application/vnd.openxmlformats-officedocument.presentationml.notesSlide+xml"/>
  <Override PartName="/ppt/comments/modernComment_99D_9D3A4E84.xml" ContentType="application/vnd.ms-powerpoint.comments+xml"/>
  <Override PartName="/ppt/notesSlides/notesSlide74.xml" ContentType="application/vnd.openxmlformats-officedocument.presentationml.notesSlide+xml"/>
  <Override PartName="/ppt/comments/modernComment_98A_87873206.xml" ContentType="application/vnd.ms-powerpoint.comments+xml"/>
  <Override PartName="/ppt/notesSlides/notesSlide75.xml" ContentType="application/vnd.openxmlformats-officedocument.presentationml.notesSlide+xml"/>
  <Override PartName="/ppt/comments/modernComment_98B_1A629251.xml" ContentType="application/vnd.ms-powerpoint.comments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comments/modernComment_992_218124D2.xml" ContentType="application/vnd.ms-powerpoint.comments+xml"/>
  <Override PartName="/ppt/notesSlides/notesSlide78.xml" ContentType="application/vnd.openxmlformats-officedocument.presentationml.notesSlide+xml"/>
  <Override PartName="/ppt/comments/modernComment_993_6C3A2C8.xml" ContentType="application/vnd.ms-powerpoint.comments+xml"/>
  <Override PartName="/ppt/notesSlides/notesSlide79.xml" ContentType="application/vnd.openxmlformats-officedocument.presentationml.notesSlide+xml"/>
  <Override PartName="/ppt/comments/modernComment_994_E28E3F71.xml" ContentType="application/vnd.ms-powerpoint.comments+xml"/>
  <Override PartName="/ppt/notesSlides/notesSlide80.xml" ContentType="application/vnd.openxmlformats-officedocument.presentationml.notesSlide+xml"/>
  <Override PartName="/ppt/comments/modernComment_996_97E3592.xml" ContentType="application/vnd.ms-powerpoint.comments+xml"/>
  <Override PartName="/ppt/notesSlides/notesSlide81.xml" ContentType="application/vnd.openxmlformats-officedocument.presentationml.notesSlide+xml"/>
  <Override PartName="/ppt/comments/modernComment_997_2B5CDCC8.xml" ContentType="application/vnd.ms-powerpoint.comments+xml"/>
  <Override PartName="/ppt/notesSlides/notesSlide82.xml" ContentType="application/vnd.openxmlformats-officedocument.presentationml.notesSlide+xml"/>
  <Override PartName="/ppt/comments/modernComment_98D_BF37A15B.xml" ContentType="application/vnd.ms-powerpoint.comments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comments/modernComment_990_2E4DC533.xml" ContentType="application/vnd.ms-powerpoint.comments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comments/modernComment_930_BC8D32AA.xml" ContentType="application/vnd.ms-powerpoint.comments+xml"/>
  <Override PartName="/ppt/notesSlides/notesSlide101.xml" ContentType="application/vnd.openxmlformats-officedocument.presentationml.notesSlide+xml"/>
  <Override PartName="/ppt/comments/modernComment_88B_E65CB0CD.xml" ContentType="application/vnd.ms-powerpoint.comments+xml"/>
  <Override PartName="/ppt/notesSlides/notesSlide102.xml" ContentType="application/vnd.openxmlformats-officedocument.presentationml.notesSlide+xml"/>
  <Override PartName="/ppt/comments/modernComment_88A_369C731A.xml" ContentType="application/vnd.ms-powerpoint.comments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comments/modernComment_25D_EF02484F.xml" ContentType="application/vnd.ms-powerpoint.comments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comments/modernComment_7E1_EA8F82CC.xml" ContentType="application/vnd.ms-powerpoint.comments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comments/modernComment_7E4_4A9ADDFB.xml" ContentType="application/vnd.ms-powerpoint.comments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comments/modernComment_877_7E05F773.xml" ContentType="application/vnd.ms-powerpoint.comments+xml"/>
  <Override PartName="/ppt/notesSlides/notesSlide129.xml" ContentType="application/vnd.openxmlformats-officedocument.presentationml.notesSlide+xml"/>
  <Override PartName="/ppt/comments/modernComment_90E_16FC4603.xml" ContentType="application/vnd.ms-powerpoint.comments+xml"/>
  <Override PartName="/ppt/notesSlides/notesSlide130.xml" ContentType="application/vnd.openxmlformats-officedocument.presentationml.notesSlide+xml"/>
  <Override PartName="/ppt/comments/modernComment_878_6A7E1B9E.xml" ContentType="application/vnd.ms-powerpoint.comments+xml"/>
  <Override PartName="/ppt/notesSlides/notesSlide131.xml" ContentType="application/vnd.openxmlformats-officedocument.presentationml.notesSlide+xml"/>
  <Override PartName="/ppt/comments/modernComment_879_D94DF279.xml" ContentType="application/vnd.ms-powerpoint.comments+xml"/>
  <Override PartName="/ppt/notesSlides/notesSlide132.xml" ContentType="application/vnd.openxmlformats-officedocument.presentationml.notesSlide+xml"/>
  <Override PartName="/ppt/comments/modernComment_87A_B02A6D50.xml" ContentType="application/vnd.ms-powerpoint.comments+xml"/>
  <Override PartName="/ppt/notesSlides/notesSlide133.xml" ContentType="application/vnd.openxmlformats-officedocument.presentationml.notesSlide+xml"/>
  <Override PartName="/ppt/comments/modernComment_206_EBB39C93.xml" ContentType="application/vnd.ms-powerpoint.comments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tags/tag1.xml" ContentType="application/vnd.openxmlformats-officedocument.presentationml.tags+xml"/>
  <Override PartName="/ppt/notesSlides/notesSlide186.xml" ContentType="application/vnd.openxmlformats-officedocument.presentationml.notesSlide+xml"/>
  <Override PartName="/ppt/tags/tag2.xml" ContentType="application/vnd.openxmlformats-officedocument.presentationml.tags+xml"/>
  <Override PartName="/ppt/notesSlides/notesSlide18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autoCompressPictures="0">
  <p:sldMasterIdLst>
    <p:sldMasterId id="2147483648" r:id="rId1"/>
  </p:sldMasterIdLst>
  <p:notesMasterIdLst>
    <p:notesMasterId r:id="rId189"/>
  </p:notesMasterIdLst>
  <p:sldIdLst>
    <p:sldId id="307" r:id="rId2"/>
    <p:sldId id="2190" r:id="rId3"/>
    <p:sldId id="2375" r:id="rId4"/>
    <p:sldId id="378" r:id="rId5"/>
    <p:sldId id="374" r:id="rId6"/>
    <p:sldId id="2158" r:id="rId7"/>
    <p:sldId id="2157" r:id="rId8"/>
    <p:sldId id="2159" r:id="rId9"/>
    <p:sldId id="2165" r:id="rId10"/>
    <p:sldId id="2160" r:id="rId11"/>
    <p:sldId id="316" r:id="rId12"/>
    <p:sldId id="317" r:id="rId13"/>
    <p:sldId id="318" r:id="rId14"/>
    <p:sldId id="319" r:id="rId15"/>
    <p:sldId id="320" r:id="rId16"/>
    <p:sldId id="321" r:id="rId17"/>
    <p:sldId id="2143" r:id="rId18"/>
    <p:sldId id="2001" r:id="rId19"/>
    <p:sldId id="358" r:id="rId20"/>
    <p:sldId id="2382" r:id="rId21"/>
    <p:sldId id="2385" r:id="rId22"/>
    <p:sldId id="2377" r:id="rId23"/>
    <p:sldId id="2386" r:id="rId24"/>
    <p:sldId id="2378" r:id="rId25"/>
    <p:sldId id="2379" r:id="rId26"/>
    <p:sldId id="2388" r:id="rId27"/>
    <p:sldId id="604" r:id="rId28"/>
    <p:sldId id="2387" r:id="rId29"/>
    <p:sldId id="325" r:id="rId30"/>
    <p:sldId id="1968" r:id="rId31"/>
    <p:sldId id="443" r:id="rId32"/>
    <p:sldId id="2376" r:id="rId33"/>
    <p:sldId id="2006" r:id="rId34"/>
    <p:sldId id="2008" r:id="rId35"/>
    <p:sldId id="2007" r:id="rId36"/>
    <p:sldId id="607" r:id="rId37"/>
    <p:sldId id="328" r:id="rId38"/>
    <p:sldId id="360" r:id="rId39"/>
    <p:sldId id="2389" r:id="rId40"/>
    <p:sldId id="2390" r:id="rId41"/>
    <p:sldId id="2402" r:id="rId42"/>
    <p:sldId id="2401" r:id="rId43"/>
    <p:sldId id="2403" r:id="rId44"/>
    <p:sldId id="2392" r:id="rId45"/>
    <p:sldId id="496" r:id="rId46"/>
    <p:sldId id="529" r:id="rId47"/>
    <p:sldId id="497" r:id="rId48"/>
    <p:sldId id="502" r:id="rId49"/>
    <p:sldId id="1994" r:id="rId50"/>
    <p:sldId id="499" r:id="rId51"/>
    <p:sldId id="2436" r:id="rId52"/>
    <p:sldId id="2438" r:id="rId53"/>
    <p:sldId id="2439" r:id="rId54"/>
    <p:sldId id="2440" r:id="rId55"/>
    <p:sldId id="2441" r:id="rId56"/>
    <p:sldId id="2460" r:id="rId57"/>
    <p:sldId id="2340" r:id="rId58"/>
    <p:sldId id="2181" r:id="rId59"/>
    <p:sldId id="2343" r:id="rId60"/>
    <p:sldId id="2344" r:id="rId61"/>
    <p:sldId id="2347" r:id="rId62"/>
    <p:sldId id="2348" r:id="rId63"/>
    <p:sldId id="2345" r:id="rId64"/>
    <p:sldId id="2462" r:id="rId65"/>
    <p:sldId id="2369" r:id="rId66"/>
    <p:sldId id="2342" r:id="rId67"/>
    <p:sldId id="2341" r:id="rId68"/>
    <p:sldId id="2447" r:id="rId69"/>
    <p:sldId id="2463" r:id="rId70"/>
    <p:sldId id="2339" r:id="rId71"/>
    <p:sldId id="2464" r:id="rId72"/>
    <p:sldId id="2465" r:id="rId73"/>
    <p:sldId id="2461" r:id="rId74"/>
    <p:sldId id="2442" r:id="rId75"/>
    <p:sldId id="2443" r:id="rId76"/>
    <p:sldId id="2444" r:id="rId77"/>
    <p:sldId id="2450" r:id="rId78"/>
    <p:sldId id="2451" r:id="rId79"/>
    <p:sldId id="2452" r:id="rId80"/>
    <p:sldId id="2454" r:id="rId81"/>
    <p:sldId id="2455" r:id="rId82"/>
    <p:sldId id="2445" r:id="rId83"/>
    <p:sldId id="2446" r:id="rId84"/>
    <p:sldId id="2448" r:id="rId85"/>
    <p:sldId id="2179" r:id="rId86"/>
    <p:sldId id="546" r:id="rId87"/>
    <p:sldId id="547" r:id="rId88"/>
    <p:sldId id="2334" r:id="rId89"/>
    <p:sldId id="2358" r:id="rId90"/>
    <p:sldId id="2373" r:id="rId91"/>
    <p:sldId id="2302" r:id="rId92"/>
    <p:sldId id="2335" r:id="rId93"/>
    <p:sldId id="2336" r:id="rId94"/>
    <p:sldId id="2362" r:id="rId95"/>
    <p:sldId id="2458" r:id="rId96"/>
    <p:sldId id="2459" r:id="rId97"/>
    <p:sldId id="2372" r:id="rId98"/>
    <p:sldId id="2357" r:id="rId99"/>
    <p:sldId id="2321" r:id="rId100"/>
    <p:sldId id="2352" r:id="rId101"/>
    <p:sldId id="2187" r:id="rId102"/>
    <p:sldId id="2186" r:id="rId103"/>
    <p:sldId id="2298" r:id="rId104"/>
    <p:sldId id="2299" r:id="rId105"/>
    <p:sldId id="2094" r:id="rId106"/>
    <p:sldId id="2297" r:id="rId107"/>
    <p:sldId id="2277" r:id="rId108"/>
    <p:sldId id="2278" r:id="rId109"/>
    <p:sldId id="2279" r:id="rId110"/>
    <p:sldId id="2280" r:id="rId111"/>
    <p:sldId id="2301" r:id="rId112"/>
    <p:sldId id="2146" r:id="rId113"/>
    <p:sldId id="2012" r:id="rId114"/>
    <p:sldId id="2000" r:id="rId115"/>
    <p:sldId id="2015" r:id="rId116"/>
    <p:sldId id="2188" r:id="rId117"/>
    <p:sldId id="2011" r:id="rId118"/>
    <p:sldId id="605" r:id="rId119"/>
    <p:sldId id="2142" r:id="rId120"/>
    <p:sldId id="2017" r:id="rId121"/>
    <p:sldId id="2018" r:id="rId122"/>
    <p:sldId id="2019" r:id="rId123"/>
    <p:sldId id="2020" r:id="rId124"/>
    <p:sldId id="2140" r:id="rId125"/>
    <p:sldId id="2141" r:id="rId126"/>
    <p:sldId id="2449" r:id="rId127"/>
    <p:sldId id="479" r:id="rId128"/>
    <p:sldId id="2167" r:id="rId129"/>
    <p:sldId id="2318" r:id="rId130"/>
    <p:sldId id="2168" r:id="rId131"/>
    <p:sldId id="2169" r:id="rId132"/>
    <p:sldId id="2170" r:id="rId133"/>
    <p:sldId id="518" r:id="rId134"/>
    <p:sldId id="519" r:id="rId135"/>
    <p:sldId id="539" r:id="rId136"/>
    <p:sldId id="540" r:id="rId137"/>
    <p:sldId id="541" r:id="rId138"/>
    <p:sldId id="2191" r:id="rId139"/>
    <p:sldId id="2192" r:id="rId140"/>
    <p:sldId id="331" r:id="rId141"/>
    <p:sldId id="333" r:id="rId142"/>
    <p:sldId id="392" r:id="rId143"/>
    <p:sldId id="390" r:id="rId144"/>
    <p:sldId id="394" r:id="rId145"/>
    <p:sldId id="416" r:id="rId146"/>
    <p:sldId id="417" r:id="rId147"/>
    <p:sldId id="418" r:id="rId148"/>
    <p:sldId id="419" r:id="rId149"/>
    <p:sldId id="420" r:id="rId150"/>
    <p:sldId id="388" r:id="rId151"/>
    <p:sldId id="334" r:id="rId152"/>
    <p:sldId id="361" r:id="rId153"/>
    <p:sldId id="421" r:id="rId154"/>
    <p:sldId id="2404" r:id="rId155"/>
    <p:sldId id="2405" r:id="rId156"/>
    <p:sldId id="2406" r:id="rId157"/>
    <p:sldId id="2407" r:id="rId158"/>
    <p:sldId id="2408" r:id="rId159"/>
    <p:sldId id="2409" r:id="rId160"/>
    <p:sldId id="2410" r:id="rId161"/>
    <p:sldId id="2411" r:id="rId162"/>
    <p:sldId id="2412" r:id="rId163"/>
    <p:sldId id="2413" r:id="rId164"/>
    <p:sldId id="2414" r:id="rId165"/>
    <p:sldId id="2415" r:id="rId166"/>
    <p:sldId id="2416" r:id="rId167"/>
    <p:sldId id="2417" r:id="rId168"/>
    <p:sldId id="2418" r:id="rId169"/>
    <p:sldId id="2419" r:id="rId170"/>
    <p:sldId id="2420" r:id="rId171"/>
    <p:sldId id="2421" r:id="rId172"/>
    <p:sldId id="2422" r:id="rId173"/>
    <p:sldId id="2423" r:id="rId174"/>
    <p:sldId id="2424" r:id="rId175"/>
    <p:sldId id="2425" r:id="rId176"/>
    <p:sldId id="2426" r:id="rId177"/>
    <p:sldId id="2427" r:id="rId178"/>
    <p:sldId id="2428" r:id="rId179"/>
    <p:sldId id="2429" r:id="rId180"/>
    <p:sldId id="2430" r:id="rId181"/>
    <p:sldId id="2431" r:id="rId182"/>
    <p:sldId id="2432" r:id="rId183"/>
    <p:sldId id="2433" r:id="rId184"/>
    <p:sldId id="2434" r:id="rId185"/>
    <p:sldId id="2435" r:id="rId186"/>
    <p:sldId id="883" r:id="rId187"/>
    <p:sldId id="880" r:id="rId188"/>
  </p:sldIdLst>
  <p:sldSz cx="9144000" cy="6858000" type="screen4x3"/>
  <p:notesSz cx="6858000" cy="9144000"/>
  <p:embeddedFontLst>
    <p:embeddedFont>
      <p:font typeface="Brush Script MT" panose="03060802040406070304" pitchFamily="66" charset="0"/>
      <p:italic r:id="rId190"/>
    </p:embeddedFont>
    <p:embeddedFont>
      <p:font typeface="Cambria Math" panose="02040503050406030204" pitchFamily="18" charset="0"/>
      <p:regular r:id="rId191"/>
    </p:embeddedFont>
    <p:embeddedFont>
      <p:font typeface="Consolas" panose="020B0609020204030204" pitchFamily="49" charset="0"/>
      <p:regular r:id="rId192"/>
      <p:bold r:id="rId193"/>
      <p:italic r:id="rId194"/>
      <p:boldItalic r:id="rId195"/>
    </p:embeddedFont>
    <p:embeddedFont>
      <p:font typeface="Edwardian Script ITC" panose="030303020407070D0804" pitchFamily="66" charset="0"/>
      <p:regular r:id="rId196"/>
    </p:embeddedFont>
    <p:embeddedFont>
      <p:font typeface="Segoe UI Light" panose="020B0502040204020203" pitchFamily="34" charset="0"/>
      <p:regular r:id="rId197"/>
      <p:italic r:id="rId19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go="http://customooxmlschemas.google.com/" r:id="rId199" roundtripDataSignature="AMtx7mjz4dZLzMyGrdnu7NMztxiBQfNRlA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chmids34cs" initials="s" lastIdx="0" clrIdx="0">
    <p:extLst>
      <p:ext uri="{19B8F6BF-5375-455C-9EA6-DF929625EA0E}">
        <p15:presenceInfo xmlns:p15="http://schemas.microsoft.com/office/powerpoint/2012/main" userId="schmids34c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1313"/>
    <a:srgbClr val="F14747"/>
    <a:srgbClr val="4610E0"/>
    <a:srgbClr val="FF0000"/>
    <a:srgbClr val="C9D3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6278" autoAdjust="0"/>
    <p:restoredTop sz="94342" autoAdjust="0"/>
  </p:normalViewPr>
  <p:slideViewPr>
    <p:cSldViewPr snapToGrid="0">
      <p:cViewPr varScale="1">
        <p:scale>
          <a:sx n="83" d="100"/>
          <a:sy n="83" d="100"/>
        </p:scale>
        <p:origin x="552" y="4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font" Target="fonts/font2.fntdata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font" Target="fonts/font3.fntdata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font" Target="fonts/font4.fntdata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font" Target="fonts/font5.fntdata"/><Relationship Id="rId199" Type="http://customschemas.google.com/relationships/presentationmetadata" Target="metadata"/><Relationship Id="rId203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18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95" Type="http://schemas.openxmlformats.org/officeDocument/2006/relationships/font" Target="fonts/font6.fntdata"/><Relationship Id="rId190" Type="http://schemas.openxmlformats.org/officeDocument/2006/relationships/font" Target="fonts/font1.fntdata"/><Relationship Id="rId204" Type="http://schemas.openxmlformats.org/officeDocument/2006/relationships/tableStyles" Target="tableStyles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font" Target="fonts/font7.fntdata"/><Relationship Id="rId200" Type="http://schemas.openxmlformats.org/officeDocument/2006/relationships/commentAuthors" Target="commentAuthors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font" Target="fonts/font8.fntdata"/><Relationship Id="rId201" Type="http://schemas.openxmlformats.org/officeDocument/2006/relationships/presProps" Target="presProps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font" Target="fonts/font9.fntdata"/><Relationship Id="rId202" Type="http://schemas.openxmlformats.org/officeDocument/2006/relationships/viewProps" Target="viewProps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1" Type="http://schemas.openxmlformats.org/officeDocument/2006/relationships/slide" Target="slides/slide70.xml"/><Relationship Id="rId92" Type="http://schemas.openxmlformats.org/officeDocument/2006/relationships/slide" Target="slides/slide91.xml"/></Relationships>
</file>

<file path=ppt/comments/modernComment_1F0_72B17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2D4C936-194F-49F0-B1F0-8336286863F7}" authorId="{7E23BD0A-3900-E3CF-2C1E-98C4E326220B}" created="2021-11-03T14:00:21.289">
    <pc:sldMkLst xmlns:pc="http://schemas.microsoft.com/office/powerpoint/2013/main/command">
      <pc:docMk/>
      <pc:sldMk cId="122833469" sldId="496"/>
    </pc:sldMkLst>
    <p188:txBody>
      <a:bodyPr/>
      <a:lstStyle/>
      <a:p>
        <a:r>
          <a:rPr lang="en-IL"/>
          <a:t>First will keep the squares from previous slide but highlight the axes
</a:t>
        </a:r>
      </a:p>
    </p188:txBody>
  </p188:cm>
  <p188:cm id="{8DA5FFD0-FBED-4D2B-A6EB-298C9736E3F1}" authorId="{7E23BD0A-3900-E3CF-2C1E-98C4E326220B}" created="2021-11-03T14:01:21.558">
    <pc:sldMkLst xmlns:pc="http://schemas.microsoft.com/office/powerpoint/2013/main/command">
      <pc:docMk/>
      <pc:sldMk cId="122833469" sldId="496"/>
    </pc:sldMkLst>
    <p188:txBody>
      <a:bodyPr/>
      <a:lstStyle/>
      <a:p>
        <a:r>
          <a:rPr lang="en-IL"/>
          <a:t>Maybe show on axes at a time and explain not both of them at the same time</a:t>
        </a:r>
      </a:p>
    </p188:txBody>
  </p188:cm>
</p188:cmLst>
</file>

<file path=ppt/comments/modernComment_1F1_AF3F18B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84D776A-820D-4B5A-A78E-2684F3E5A870}" authorId="{7E23BD0A-3900-E3CF-2C1E-98C4E326220B}" status="resolved" created="2021-11-03T14:02:19.296">
    <pc:sldMkLst xmlns:pc="http://schemas.microsoft.com/office/powerpoint/2013/main/command">
      <pc:docMk/>
      <pc:sldMk cId="3681968979" sldId="497"/>
    </pc:sldMkLst>
    <p188:txBody>
      <a:bodyPr/>
      <a:lstStyle/>
      <a:p>
        <a:r>
          <a:rPr lang="en-IL"/>
          <a:t>add ProjecTor</a:t>
        </a:r>
      </a:p>
    </p188:txBody>
  </p188:cm>
</p188:cmLst>
</file>

<file path=ppt/comments/modernComment_7E1_EA8F82C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0C06035-EC65-524F-A275-D35F9011D8B5}" authorId="{7E23BD0A-3900-E3CF-2C1E-98C4E326220B}" created="2021-11-03T14:23:07.057">
    <pc:sldMkLst xmlns:pc="http://schemas.microsoft.com/office/powerpoint/2013/main/command">
      <pc:docMk/>
      <pc:sldMk cId="4244113293" sldId="445"/>
    </pc:sldMkLst>
    <p188:txBody>
      <a:bodyPr/>
      <a:lstStyle/>
      <a:p>
        <a:r>
          <a:rPr lang="en-IL"/>
          <a:t>Will add a slide of challenges </a:t>
        </a:r>
      </a:p>
    </p188:txBody>
  </p188:cm>
</p188:cmLst>
</file>

<file path=ppt/comments/modernComment_7E4_4A9ADDF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0C06035-EC65-524F-A275-D35F9011D8B5}" authorId="{7E23BD0A-3900-E3CF-2C1E-98C4E326220B}" created="2021-11-03T14:23:07.057">
    <pc:sldMkLst xmlns:pc="http://schemas.microsoft.com/office/powerpoint/2013/main/command">
      <pc:docMk/>
      <pc:sldMk cId="4244113293" sldId="445"/>
    </pc:sldMkLst>
    <p188:txBody>
      <a:bodyPr/>
      <a:lstStyle/>
      <a:p>
        <a:r>
          <a:rPr lang="en-IL"/>
          <a:t>Will add a slide of challenges </a:t>
        </a:r>
      </a:p>
    </p188:txBody>
  </p188:cm>
</p188:cmLst>
</file>

<file path=ppt/comments/modernComment_9A0_5656719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95EA9F0-B8F5-42D1-93F1-066F49FE2A4E}" authorId="{7E23BD0A-3900-E3CF-2C1E-98C4E326220B}" created="2021-11-03T14:23:07.057">
    <pc:sldMkLst xmlns:pc="http://schemas.microsoft.com/office/powerpoint/2013/main/command">
      <pc:docMk/>
      <pc:sldMk cId="4244113293" sldId="445"/>
    </pc:sldMkLst>
    <p188:txBody>
      <a:bodyPr/>
      <a:lstStyle/>
      <a:p>
        <a:r>
          <a:rPr lang="en-IL"/>
          <a:t>Will add a slide of challenges </a:t>
        </a:r>
      </a:p>
    </p188:txBody>
  </p188:cm>
</p188:cmLst>
</file>

<file path=ppt/comments/modernComment_9A1_2D127DD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75CDE2A-3329-42DB-8170-AD5F81D5032D}" authorId="{7E23BD0A-3900-E3CF-2C1E-98C4E326220B}" created="2021-11-03T14:23:07.057">
    <pc:sldMkLst xmlns:pc="http://schemas.microsoft.com/office/powerpoint/2013/main/command">
      <pc:docMk/>
      <pc:sldMk cId="4244113293" sldId="445"/>
    </pc:sldMkLst>
    <p188:txBody>
      <a:bodyPr/>
      <a:lstStyle/>
      <a:p>
        <a:r>
          <a:rPr lang="en-IL"/>
          <a:t>Will add a slide of challenges </a:t>
        </a:r>
      </a:p>
    </p188:txBody>
  </p188:cm>
</p188:cmLst>
</file>

<file path=ppt/comments/modernComment_25D_EF02484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0C06035-EC65-524F-A275-D35F9011D8B5}" authorId="{7E23BD0A-3900-E3CF-2C1E-98C4E326220B}" created="2021-11-03T14:23:07.057">
    <pc:sldMkLst xmlns:pc="http://schemas.microsoft.com/office/powerpoint/2013/main/command">
      <pc:docMk/>
      <pc:sldMk cId="4244113293" sldId="445"/>
    </pc:sldMkLst>
    <p188:txBody>
      <a:bodyPr/>
      <a:lstStyle/>
      <a:p>
        <a:r>
          <a:rPr lang="en-IL"/>
          <a:t>Will add a slide of challenges </a:t>
        </a:r>
      </a:p>
    </p188:txBody>
  </p188:cm>
</p188:cmLst>
</file>

<file path=ppt/comments/modernComment_87A_B02A6D5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BBC2F7C-9B42-4D5A-A77E-E35BB2995A7F}" authorId="{7E23BD0A-3900-E3CF-2C1E-98C4E326220B}" created="2021-11-03T14:15:47.816">
    <pc:sldMkLst xmlns:pc="http://schemas.microsoft.com/office/powerpoint/2013/main/command">
      <pc:docMk/>
      <pc:sldMk cId="742045761" sldId="485"/>
    </pc:sldMkLst>
    <p188:txBody>
      <a:bodyPr/>
      <a:lstStyle/>
      <a:p>
        <a:r>
          <a:rPr lang="en-IL"/>
          <a:t>Tell me what you exactly want and we can discuss</a:t>
        </a:r>
      </a:p>
    </p188:txBody>
  </p188:cm>
</p188:cmLst>
</file>

<file path=ppt/comments/modernComment_88A_369C731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0C06035-EC65-524F-A275-D35F9011D8B5}" authorId="{7E23BD0A-3900-E3CF-2C1E-98C4E326220B}" created="2021-11-03T14:23:07.057">
    <pc:sldMkLst xmlns:pc="http://schemas.microsoft.com/office/powerpoint/2013/main/command">
      <pc:docMk/>
      <pc:sldMk cId="4244113293" sldId="445"/>
    </pc:sldMkLst>
    <p188:txBody>
      <a:bodyPr/>
      <a:lstStyle/>
      <a:p>
        <a:r>
          <a:rPr lang="en-IL"/>
          <a:t>Will add a slide of challenges </a:t>
        </a:r>
      </a:p>
    </p188:txBody>
  </p188:cm>
</p188:cmLst>
</file>

<file path=ppt/comments/modernComment_88B_E65CB0C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0C06035-EC65-524F-A275-D35F9011D8B5}" authorId="{7E23BD0A-3900-E3CF-2C1E-98C4E326220B}" created="2021-11-03T14:23:07.057">
    <pc:sldMkLst xmlns:pc="http://schemas.microsoft.com/office/powerpoint/2013/main/command">
      <pc:docMk/>
      <pc:sldMk cId="4244113293" sldId="445"/>
    </pc:sldMkLst>
    <p188:txBody>
      <a:bodyPr/>
      <a:lstStyle/>
      <a:p>
        <a:r>
          <a:rPr lang="en-IL"/>
          <a:t>Will add a slide of challenges </a:t>
        </a:r>
      </a:p>
    </p188:txBody>
  </p188:cm>
</p188:cmLst>
</file>

<file path=ppt/comments/modernComment_90E_16FC460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8FD09B3-5903-4E17-A528-D7CA26D94634}" authorId="{7E23BD0A-3900-E3CF-2C1E-98C4E326220B}" created="2021-11-03T14:15:47.816">
    <pc:sldMkLst xmlns:pc="http://schemas.microsoft.com/office/powerpoint/2013/main/command">
      <pc:docMk/>
      <pc:sldMk cId="742045761" sldId="485"/>
    </pc:sldMkLst>
    <p188:txBody>
      <a:bodyPr/>
      <a:lstStyle/>
      <a:p>
        <a:r>
          <a:rPr lang="en-IL"/>
          <a:t>Tell me what you exactly want and we can discuss</a:t>
        </a:r>
      </a:p>
    </p188:txBody>
  </p188:cm>
</p188:cmLst>
</file>

<file path=ppt/comments/modernComment_92B_CDA8422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C12A7BA-27C3-4C79-A4A4-9F5748B415A9}" authorId="{7E23BD0A-3900-E3CF-2C1E-98C4E326220B}" created="2021-11-03T14:23:07.057">
    <pc:sldMkLst xmlns:pc="http://schemas.microsoft.com/office/powerpoint/2013/main/command">
      <pc:docMk/>
      <pc:sldMk cId="4244113293" sldId="445"/>
    </pc:sldMkLst>
    <p188:txBody>
      <a:bodyPr/>
      <a:lstStyle/>
      <a:p>
        <a:r>
          <a:rPr lang="en-IL"/>
          <a:t>Will add a slide of challenges </a:t>
        </a:r>
      </a:p>
    </p188:txBody>
  </p188:cm>
</p188:cmLst>
</file>

<file path=ppt/comments/modernComment_92C_472BC8A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D8DB976-5B18-4090-8E24-7E42E76577C7}" authorId="{7E23BD0A-3900-E3CF-2C1E-98C4E326220B}" created="2021-11-03T14:23:07.057">
    <pc:sldMkLst xmlns:pc="http://schemas.microsoft.com/office/powerpoint/2013/main/command">
      <pc:docMk/>
      <pc:sldMk cId="4244113293" sldId="445"/>
    </pc:sldMkLst>
    <p188:txBody>
      <a:bodyPr/>
      <a:lstStyle/>
      <a:p>
        <a:r>
          <a:rPr lang="en-IL"/>
          <a:t>Will add a slide of challenges </a:t>
        </a:r>
      </a:p>
    </p188:txBody>
  </p188:cm>
</p188:cmLst>
</file>

<file path=ppt/comments/modernComment_98A_8787320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E1EABF7-EFE8-4244-A2E7-AF4622D4294B}" authorId="{7E23BD0A-3900-E3CF-2C1E-98C4E326220B}" created="2021-11-03T14:23:07.057">
    <pc:sldMkLst xmlns:pc="http://schemas.microsoft.com/office/powerpoint/2013/main/command">
      <pc:docMk/>
      <pc:sldMk cId="4244113293" sldId="445"/>
    </pc:sldMkLst>
    <p188:txBody>
      <a:bodyPr/>
      <a:lstStyle/>
      <a:p>
        <a:r>
          <a:rPr lang="en-IL"/>
          <a:t>Will add a slide of challenges </a:t>
        </a:r>
      </a:p>
    </p188:txBody>
  </p188:cm>
</p188:cmLst>
</file>

<file path=ppt/comments/modernComment_98B_1A62925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074955B-7D22-441D-86B7-26378626CDF3}" authorId="{7E23BD0A-3900-E3CF-2C1E-98C4E326220B}" created="2021-11-03T14:23:07.057">
    <pc:sldMkLst xmlns:pc="http://schemas.microsoft.com/office/powerpoint/2013/main/command">
      <pc:docMk/>
      <pc:sldMk cId="4244113293" sldId="445"/>
    </pc:sldMkLst>
    <p188:txBody>
      <a:bodyPr/>
      <a:lstStyle/>
      <a:p>
        <a:r>
          <a:rPr lang="en-IL"/>
          <a:t>Will add a slide of challenges </a:t>
        </a:r>
      </a:p>
    </p188:txBody>
  </p188:cm>
</p188:cmLst>
</file>

<file path=ppt/comments/modernComment_98D_BF37A15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611F9F7-1255-4BA1-AD0E-A7343E53EF81}" authorId="{7E23BD0A-3900-E3CF-2C1E-98C4E326220B}" created="2021-11-03T14:23:07.057">
    <pc:sldMkLst xmlns:pc="http://schemas.microsoft.com/office/powerpoint/2013/main/command">
      <pc:docMk/>
      <pc:sldMk cId="4244113293" sldId="445"/>
    </pc:sldMkLst>
    <p188:txBody>
      <a:bodyPr/>
      <a:lstStyle/>
      <a:p>
        <a:r>
          <a:rPr lang="en-IL"/>
          <a:t>Will add a slide of challenges </a:t>
        </a:r>
      </a:p>
    </p188:txBody>
  </p188:cm>
</p188:cmLst>
</file>

<file path=ppt/comments/modernComment_98F_E9C036D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A7E8E7F-F46D-47A7-88E2-8D376A5E8416}" authorId="{7E23BD0A-3900-E3CF-2C1E-98C4E326220B}" created="2021-11-03T14:23:07.057">
    <pc:sldMkLst xmlns:pc="http://schemas.microsoft.com/office/powerpoint/2013/main/command">
      <pc:docMk/>
      <pc:sldMk cId="4244113293" sldId="445"/>
    </pc:sldMkLst>
    <p188:txBody>
      <a:bodyPr/>
      <a:lstStyle/>
      <a:p>
        <a:r>
          <a:rPr lang="en-IL"/>
          <a:t>Will add a slide of challenges </a:t>
        </a:r>
      </a:p>
    </p188:txBody>
  </p188:cm>
</p188:cmLst>
</file>

<file path=ppt/comments/modernComment_99C_E3022C2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0D35754-BEAD-4A6F-A7FD-C17E8FE73885}" authorId="{7E23BD0A-3900-E3CF-2C1E-98C4E326220B}" created="2021-11-03T14:23:07.057">
    <pc:sldMkLst xmlns:pc="http://schemas.microsoft.com/office/powerpoint/2013/main/command">
      <pc:docMk/>
      <pc:sldMk cId="4244113293" sldId="445"/>
    </pc:sldMkLst>
    <p188:txBody>
      <a:bodyPr/>
      <a:lstStyle/>
      <a:p>
        <a:r>
          <a:rPr lang="en-IL"/>
          <a:t>Will add a slide of challenges </a:t>
        </a:r>
      </a:p>
    </p188:txBody>
  </p188:cm>
</p188:cmLst>
</file>

<file path=ppt/comments/modernComment_99D_9D3A4E8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40C8117-6E75-4FA0-85D2-240B121DAB75}" authorId="{7E23BD0A-3900-E3CF-2C1E-98C4E326220B}" created="2021-11-03T14:23:07.057">
    <pc:sldMkLst xmlns:pc="http://schemas.microsoft.com/office/powerpoint/2013/main/command">
      <pc:docMk/>
      <pc:sldMk cId="4244113293" sldId="445"/>
    </pc:sldMkLst>
    <p188:txBody>
      <a:bodyPr/>
      <a:lstStyle/>
      <a:p>
        <a:r>
          <a:rPr lang="en-IL"/>
          <a:t>Will add a slide of challenges </a:t>
        </a:r>
      </a:p>
    </p188:txBody>
  </p188:cm>
</p188:cmLst>
</file>

<file path=ppt/comments/modernComment_99E_D12F496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D4C8F05-1733-4B71-B77B-B3855BB51B40}" authorId="{7E23BD0A-3900-E3CF-2C1E-98C4E326220B}" created="2021-11-03T14:23:07.057">
    <pc:sldMkLst xmlns:pc="http://schemas.microsoft.com/office/powerpoint/2013/main/command">
      <pc:docMk/>
      <pc:sldMk cId="4244113293" sldId="445"/>
    </pc:sldMkLst>
    <p188:txBody>
      <a:bodyPr/>
      <a:lstStyle/>
      <a:p>
        <a:r>
          <a:rPr lang="en-IL"/>
          <a:t>Will add a slide of challenges </a:t>
        </a:r>
      </a:p>
    </p188:txBody>
  </p188:cm>
</p188:cmLst>
</file>

<file path=ppt/comments/modernComment_99F_4B96C92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58D3029-33CA-47E3-A211-C9F02E226E4C}" authorId="{7E23BD0A-3900-E3CF-2C1E-98C4E326220B}" created="2021-11-03T14:23:07.057">
    <pc:sldMkLst xmlns:pc="http://schemas.microsoft.com/office/powerpoint/2013/main/command">
      <pc:docMk/>
      <pc:sldMk cId="4244113293" sldId="445"/>
    </pc:sldMkLst>
    <p188:txBody>
      <a:bodyPr/>
      <a:lstStyle/>
      <a:p>
        <a:r>
          <a:rPr lang="en-IL"/>
          <a:t>Will add a slide of challenges </a:t>
        </a:r>
      </a:p>
    </p188:txBody>
  </p188:cm>
</p188:cmLst>
</file>

<file path=ppt/comments/modernComment_206_EBB39C9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9F4DBAE-B500-459D-9CFA-FC1DDE12B54D}" authorId="{7E23BD0A-3900-E3CF-2C1E-98C4E326220B}" created="2021-11-03T14:16:18.02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954416787" sldId="518"/>
      <ac:spMk id="14" creationId="{3A5A658B-C73C-468A-B47B-9E631F9C601D}"/>
      <ac:txMk cp="9" len="8">
        <ac:context len="18" hash="3403263544"/>
      </ac:txMk>
    </ac:txMkLst>
    <p188:pos x="2387642" y="468167"/>
    <p188:txBody>
      <a:bodyPr/>
      <a:lstStyle/>
      <a:p>
        <a:r>
          <a:rPr lang="en-IL"/>
          <a:t>add a note what ti is</a:t>
        </a:r>
      </a:p>
    </p188:txBody>
  </p188:cm>
  <p188:cm id="{4A48628E-61FB-4BAA-B9A8-547FC1EE81A7}" authorId="{7E23BD0A-3900-E3CF-2C1E-98C4E326220B}" created="2021-11-03T14:23:53.885">
    <pc:sldMkLst xmlns:pc="http://schemas.microsoft.com/office/powerpoint/2013/main/command">
      <pc:docMk/>
      <pc:sldMk cId="2115548230" sldId="518"/>
    </pc:sldMkLst>
    <p188:txBody>
      <a:bodyPr/>
      <a:lstStyle/>
      <a:p>
        <a:r>
          <a:rPr lang="en-IL"/>
          <a:t>Will add a reference to sigmetrics
</a:t>
        </a:r>
      </a:p>
    </p188:txBody>
  </p188:cm>
</p188:cmLst>
</file>

<file path=ppt/comments/modernComment_211_EFAD85E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7F3678A-C67B-42E2-AC33-134A8C960CE6}" authorId="{7E23BD0A-3900-E3CF-2C1E-98C4E326220B}" created="2021-11-03T14:00:21.289">
    <pc:sldMkLst xmlns:pc="http://schemas.microsoft.com/office/powerpoint/2013/main/command">
      <pc:docMk/>
      <pc:sldMk cId="122833469" sldId="496"/>
    </pc:sldMkLst>
    <p188:txBody>
      <a:bodyPr/>
      <a:lstStyle/>
      <a:p>
        <a:r>
          <a:rPr lang="en-IL"/>
          <a:t>First will keep the squares from previous slide but highlight the axes
</a:t>
        </a:r>
      </a:p>
    </p188:txBody>
  </p188:cm>
  <p188:cm id="{704EC46F-B9FC-4C85-A40B-8E02617AF0EC}" authorId="{7E23BD0A-3900-E3CF-2C1E-98C4E326220B}" created="2021-11-03T14:01:21.558">
    <pc:sldMkLst xmlns:pc="http://schemas.microsoft.com/office/powerpoint/2013/main/command">
      <pc:docMk/>
      <pc:sldMk cId="122833469" sldId="496"/>
    </pc:sldMkLst>
    <p188:txBody>
      <a:bodyPr/>
      <a:lstStyle/>
      <a:p>
        <a:r>
          <a:rPr lang="en-IL"/>
          <a:t>Maybe show on axes at a time and explain not both of them at the same time</a:t>
        </a:r>
      </a:p>
    </p188:txBody>
  </p188:cm>
</p188:cmLst>
</file>

<file path=ppt/comments/modernComment_877_7E05F77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6EAECC9-CB71-4CE2-B1BE-FB43521632FB}" authorId="{7E23BD0A-3900-E3CF-2C1E-98C4E326220B}" created="2021-11-03T14:15:47.816">
    <pc:sldMkLst xmlns:pc="http://schemas.microsoft.com/office/powerpoint/2013/main/command">
      <pc:docMk/>
      <pc:sldMk cId="742045761" sldId="485"/>
    </pc:sldMkLst>
    <p188:txBody>
      <a:bodyPr/>
      <a:lstStyle/>
      <a:p>
        <a:r>
          <a:rPr lang="en-IL"/>
          <a:t>Tell me what you exactly want and we can discuss</a:t>
        </a:r>
      </a:p>
    </p188:txBody>
  </p188:cm>
</p188:cmLst>
</file>

<file path=ppt/comments/modernComment_878_6A7E1B9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DDD0B08-8F52-4BB5-8080-178A0C589E4A}" authorId="{7E23BD0A-3900-E3CF-2C1E-98C4E326220B}" created="2021-11-03T14:15:47.816">
    <pc:sldMkLst xmlns:pc="http://schemas.microsoft.com/office/powerpoint/2013/main/command">
      <pc:docMk/>
      <pc:sldMk cId="742045761" sldId="485"/>
    </pc:sldMkLst>
    <p188:txBody>
      <a:bodyPr/>
      <a:lstStyle/>
      <a:p>
        <a:r>
          <a:rPr lang="en-IL"/>
          <a:t>Tell me what you exactly want and we can discuss</a:t>
        </a:r>
      </a:p>
    </p188:txBody>
  </p188:cm>
</p188:cmLst>
</file>

<file path=ppt/comments/modernComment_879_D94DF27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5FBDDDD-4960-4ECE-817D-1425867842FE}" authorId="{7E23BD0A-3900-E3CF-2C1E-98C4E326220B}" created="2021-11-03T14:15:47.816">
    <pc:sldMkLst xmlns:pc="http://schemas.microsoft.com/office/powerpoint/2013/main/command">
      <pc:docMk/>
      <pc:sldMk cId="742045761" sldId="485"/>
    </pc:sldMkLst>
    <p188:txBody>
      <a:bodyPr/>
      <a:lstStyle/>
      <a:p>
        <a:r>
          <a:rPr lang="en-IL"/>
          <a:t>Tell me what you exactly want and we can discuss</a:t>
        </a:r>
      </a:p>
    </p188:txBody>
  </p188:cm>
</p188:cmLst>
</file>

<file path=ppt/comments/modernComment_885_95D51A9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840ECC3-4D27-4D42-A782-2E856D21B9F0}" authorId="{7E23BD0A-3900-E3CF-2C1E-98C4E326220B}" created="2021-11-03T14:23:07.057">
    <pc:sldMkLst xmlns:pc="http://schemas.microsoft.com/office/powerpoint/2013/main/command">
      <pc:docMk/>
      <pc:sldMk cId="4244113293" sldId="445"/>
    </pc:sldMkLst>
    <p188:txBody>
      <a:bodyPr/>
      <a:lstStyle/>
      <a:p>
        <a:r>
          <a:rPr lang="en-IL"/>
          <a:t>Will add a slide of challenges </a:t>
        </a:r>
      </a:p>
    </p188:txBody>
  </p188:cm>
</p188:cmLst>
</file>

<file path=ppt/comments/modernComment_923_AD1A488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DEC4B82-EC78-4F63-9868-EB3D1499651A}" authorId="{7E23BD0A-3900-E3CF-2C1E-98C4E326220B}" created="2021-11-03T14:23:07.057">
    <pc:sldMkLst xmlns:pc="http://schemas.microsoft.com/office/powerpoint/2013/main/command">
      <pc:docMk/>
      <pc:sldMk cId="4244113293" sldId="445"/>
    </pc:sldMkLst>
    <p188:txBody>
      <a:bodyPr/>
      <a:lstStyle/>
      <a:p>
        <a:r>
          <a:rPr lang="en-IL"/>
          <a:t>Will add a slide of challenges </a:t>
        </a:r>
      </a:p>
    </p188:txBody>
  </p188:cm>
</p188:cmLst>
</file>

<file path=ppt/comments/modernComment_924_F9DF608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480E124-330F-494D-8912-63F8F8D382EA}" authorId="{7E23BD0A-3900-E3CF-2C1E-98C4E326220B}" created="2021-11-03T14:23:07.057">
    <pc:sldMkLst xmlns:pc="http://schemas.microsoft.com/office/powerpoint/2013/main/command">
      <pc:docMk/>
      <pc:sldMk cId="4244113293" sldId="445"/>
    </pc:sldMkLst>
    <p188:txBody>
      <a:bodyPr/>
      <a:lstStyle/>
      <a:p>
        <a:r>
          <a:rPr lang="en-IL"/>
          <a:t>Will add a slide of challenges </a:t>
        </a:r>
      </a:p>
    </p188:txBody>
  </p188:cm>
</p188:cmLst>
</file>

<file path=ppt/comments/modernComment_925_306794D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0F0DC6A-1E03-4B8E-B27C-2D62313C3066}" authorId="{7E23BD0A-3900-E3CF-2C1E-98C4E326220B}" created="2021-11-03T14:23:07.057">
    <pc:sldMkLst xmlns:pc="http://schemas.microsoft.com/office/powerpoint/2013/main/command">
      <pc:docMk/>
      <pc:sldMk cId="4244113293" sldId="445"/>
    </pc:sldMkLst>
    <p188:txBody>
      <a:bodyPr/>
      <a:lstStyle/>
      <a:p>
        <a:r>
          <a:rPr lang="en-IL"/>
          <a:t>Will add a slide of challenges </a:t>
        </a:r>
      </a:p>
    </p188:txBody>
  </p188:cm>
</p188:cmLst>
</file>

<file path=ppt/comments/modernComment_926_1D2E1A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12BE27D-B0C5-4381-B3EA-6E0C72D0900F}" authorId="{7E23BD0A-3900-E3CF-2C1E-98C4E326220B}" created="2021-11-03T14:23:07.057">
    <pc:sldMkLst xmlns:pc="http://schemas.microsoft.com/office/powerpoint/2013/main/command">
      <pc:docMk/>
      <pc:sldMk cId="4244113293" sldId="445"/>
    </pc:sldMkLst>
    <p188:txBody>
      <a:bodyPr/>
      <a:lstStyle/>
      <a:p>
        <a:r>
          <a:rPr lang="en-IL"/>
          <a:t>Will add a slide of challenges </a:t>
        </a:r>
      </a:p>
    </p188:txBody>
  </p188:cm>
</p188:cmLst>
</file>

<file path=ppt/comments/modernComment_927_9C5551F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5F7366B-D5D3-43F3-8013-81B7FC6C040A}" authorId="{7E23BD0A-3900-E3CF-2C1E-98C4E326220B}" created="2021-11-03T14:23:07.057">
    <pc:sldMkLst xmlns:pc="http://schemas.microsoft.com/office/powerpoint/2013/main/command">
      <pc:docMk/>
      <pc:sldMk cId="4244113293" sldId="445"/>
    </pc:sldMkLst>
    <p188:txBody>
      <a:bodyPr/>
      <a:lstStyle/>
      <a:p>
        <a:r>
          <a:rPr lang="en-IL"/>
          <a:t>Will add a slide of challenges </a:t>
        </a:r>
      </a:p>
    </p188:txBody>
  </p188:cm>
</p188:cmLst>
</file>

<file path=ppt/comments/modernComment_928_AFF8B74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66581B1-6403-4226-A1CC-9BCF1E584722}" authorId="{7E23BD0A-3900-E3CF-2C1E-98C4E326220B}" created="2021-11-03T14:23:07.057">
    <pc:sldMkLst xmlns:pc="http://schemas.microsoft.com/office/powerpoint/2013/main/command">
      <pc:docMk/>
      <pc:sldMk cId="4244113293" sldId="445"/>
    </pc:sldMkLst>
    <p188:txBody>
      <a:bodyPr/>
      <a:lstStyle/>
      <a:p>
        <a:r>
          <a:rPr lang="en-IL"/>
          <a:t>Will add a slide of challenges </a:t>
        </a:r>
      </a:p>
    </p188:txBody>
  </p188:cm>
</p188:cmLst>
</file>

<file path=ppt/comments/modernComment_929_B96A2F4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F9C7A44-DE15-4899-87F7-B2E28D34BE8C}" authorId="{7E23BD0A-3900-E3CF-2C1E-98C4E326220B}" created="2021-11-03T14:23:07.057">
    <pc:sldMkLst xmlns:pc="http://schemas.microsoft.com/office/powerpoint/2013/main/command">
      <pc:docMk/>
      <pc:sldMk cId="4244113293" sldId="445"/>
    </pc:sldMkLst>
    <p188:txBody>
      <a:bodyPr/>
      <a:lstStyle/>
      <a:p>
        <a:r>
          <a:rPr lang="en-IL"/>
          <a:t>Will add a slide of challenges </a:t>
        </a:r>
      </a:p>
    </p188:txBody>
  </p188:cm>
</p188:cmLst>
</file>

<file path=ppt/comments/modernComment_930_BC8D32A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0D2DE1E-4978-449D-8ACC-89BAD01BA460}" authorId="{7E23BD0A-3900-E3CF-2C1E-98C4E326220B}" created="2021-11-03T14:23:07.057">
    <pc:sldMkLst xmlns:pc="http://schemas.microsoft.com/office/powerpoint/2013/main/command">
      <pc:docMk/>
      <pc:sldMk cId="4244113293" sldId="445"/>
    </pc:sldMkLst>
    <p188:txBody>
      <a:bodyPr/>
      <a:lstStyle/>
      <a:p>
        <a:r>
          <a:rPr lang="en-IL"/>
          <a:t>Will add a slide of challenges </a:t>
        </a:r>
      </a:p>
    </p188:txBody>
  </p188:cm>
</p188:cmLst>
</file>

<file path=ppt/comments/modernComment_941_FF8E6A0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EE232A8-26DA-4325-A95A-9B6A71D483E3}" authorId="{7E23BD0A-3900-E3CF-2C1E-98C4E326220B}" created="2021-11-03T14:23:07.057">
    <pc:sldMkLst xmlns:pc="http://schemas.microsoft.com/office/powerpoint/2013/main/command">
      <pc:docMk/>
      <pc:sldMk cId="4244113293" sldId="445"/>
    </pc:sldMkLst>
    <p188:txBody>
      <a:bodyPr/>
      <a:lstStyle/>
      <a:p>
        <a:r>
          <a:rPr lang="en-IL"/>
          <a:t>Will add a slide of challenges </a:t>
        </a:r>
      </a:p>
    </p188:txBody>
  </p188:cm>
</p188:cmLst>
</file>

<file path=ppt/comments/modernComment_958_F5DD5B1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FA36A92-DCF2-4BD8-A36A-C092B00A2A16}" authorId="{7E23BD0A-3900-E3CF-2C1E-98C4E326220B}" created="2021-11-03T14:03:33.547">
    <pc:sldMkLst xmlns:pc="http://schemas.microsoft.com/office/powerpoint/2013/main/command">
      <pc:docMk/>
      <pc:sldMk cId="1622714290" sldId="504"/>
    </pc:sldMkLst>
    <p188:txBody>
      <a:bodyPr/>
      <a:lstStyle/>
      <a:p>
        <a:r>
          <a:rPr lang="en-IL"/>
          <a:t>Show one by one - first rotor then DA</a:t>
        </a:r>
      </a:p>
    </p188:txBody>
  </p188:cm>
  <p188:cm id="{007973D5-829C-470F-A08E-90EF54998A97}" authorId="{7E23BD0A-3900-E3CF-2C1E-98C4E326220B}" created="2021-11-03T14:03:48.687">
    <pc:sldMkLst xmlns:pc="http://schemas.microsoft.com/office/powerpoint/2013/main/command">
      <pc:docMk/>
      <pc:sldMk cId="1622714290" sldId="504"/>
    </pc:sldMkLst>
    <p188:txBody>
      <a:bodyPr/>
      <a:lstStyle/>
      <a:p>
        <a:r>
          <a:rPr lang="en-IL"/>
          <a:t>Also show static?</a:t>
        </a:r>
      </a:p>
    </p188:txBody>
  </p188:cm>
</p188:cmLst>
</file>

<file path=ppt/comments/modernComment_988_9C39A8E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4EDEB58-FB05-4D38-B575-8567B88BDE0B}" authorId="{7E23BD0A-3900-E3CF-2C1E-98C4E326220B}" created="2021-11-03T14:23:07.057">
    <pc:sldMkLst xmlns:pc="http://schemas.microsoft.com/office/powerpoint/2013/main/command">
      <pc:docMk/>
      <pc:sldMk cId="4244113293" sldId="445"/>
    </pc:sldMkLst>
    <p188:txBody>
      <a:bodyPr/>
      <a:lstStyle/>
      <a:p>
        <a:r>
          <a:rPr lang="en-IL"/>
          <a:t>Will add a slide of challenges </a:t>
        </a:r>
      </a:p>
    </p188:txBody>
  </p188:cm>
</p188:cmLst>
</file>

<file path=ppt/comments/modernComment_989_E747C9E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CA47DD7-FCA0-4828-BC78-E74C0F9E043A}" authorId="{7E23BD0A-3900-E3CF-2C1E-98C4E326220B}" created="2021-11-03T14:23:07.057">
    <pc:sldMkLst xmlns:pc="http://schemas.microsoft.com/office/powerpoint/2013/main/command">
      <pc:docMk/>
      <pc:sldMk cId="4244113293" sldId="445"/>
    </pc:sldMkLst>
    <p188:txBody>
      <a:bodyPr/>
      <a:lstStyle/>
      <a:p>
        <a:r>
          <a:rPr lang="en-IL"/>
          <a:t>Will add a slide of challenges </a:t>
        </a:r>
      </a:p>
    </p188:txBody>
  </p188:cm>
</p188:cmLst>
</file>

<file path=ppt/comments/modernComment_990_2E4DC53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7CFAB87-EE8E-447B-B818-712F68D6FADA}" authorId="{7E23BD0A-3900-E3CF-2C1E-98C4E326220B}" created="2021-11-03T14:23:07.057">
    <pc:sldMkLst xmlns:pc="http://schemas.microsoft.com/office/powerpoint/2013/main/command">
      <pc:docMk/>
      <pc:sldMk cId="4244113293" sldId="445"/>
    </pc:sldMkLst>
    <p188:txBody>
      <a:bodyPr/>
      <a:lstStyle/>
      <a:p>
        <a:r>
          <a:rPr lang="en-IL"/>
          <a:t>Will add a slide of challenges </a:t>
        </a:r>
      </a:p>
    </p188:txBody>
  </p188:cm>
</p188:cmLst>
</file>

<file path=ppt/comments/modernComment_992_218124D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34490ED-FD4E-409D-BB14-304D13B709C7}" authorId="{7E23BD0A-3900-E3CF-2C1E-98C4E326220B}" created="2021-11-03T14:23:07.057">
    <pc:sldMkLst xmlns:pc="http://schemas.microsoft.com/office/powerpoint/2013/main/command">
      <pc:docMk/>
      <pc:sldMk cId="4244113293" sldId="445"/>
    </pc:sldMkLst>
    <p188:txBody>
      <a:bodyPr/>
      <a:lstStyle/>
      <a:p>
        <a:r>
          <a:rPr lang="en-IL"/>
          <a:t>Will add a slide of challenges </a:t>
        </a:r>
      </a:p>
    </p188:txBody>
  </p188:cm>
</p188:cmLst>
</file>

<file path=ppt/comments/modernComment_993_6C3A2C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DAAFD3E-D1B1-4730-A97A-AB90EAABA3B0}" authorId="{7E23BD0A-3900-E3CF-2C1E-98C4E326220B}" created="2021-11-03T14:23:07.057">
    <pc:sldMkLst xmlns:pc="http://schemas.microsoft.com/office/powerpoint/2013/main/command">
      <pc:docMk/>
      <pc:sldMk cId="4244113293" sldId="445"/>
    </pc:sldMkLst>
    <p188:txBody>
      <a:bodyPr/>
      <a:lstStyle/>
      <a:p>
        <a:r>
          <a:rPr lang="en-IL"/>
          <a:t>Will add a slide of challenges </a:t>
        </a:r>
      </a:p>
    </p188:txBody>
  </p188:cm>
</p188:cmLst>
</file>

<file path=ppt/comments/modernComment_994_E28E3F7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BD00BF7-F630-41B7-8241-20BBB71040D8}" authorId="{7E23BD0A-3900-E3CF-2C1E-98C4E326220B}" created="2021-11-03T14:23:07.057">
    <pc:sldMkLst xmlns:pc="http://schemas.microsoft.com/office/powerpoint/2013/main/command">
      <pc:docMk/>
      <pc:sldMk cId="4244113293" sldId="445"/>
    </pc:sldMkLst>
    <p188:txBody>
      <a:bodyPr/>
      <a:lstStyle/>
      <a:p>
        <a:r>
          <a:rPr lang="en-IL"/>
          <a:t>Will add a slide of challenges </a:t>
        </a:r>
      </a:p>
    </p188:txBody>
  </p188:cm>
</p188:cmLst>
</file>

<file path=ppt/comments/modernComment_996_97E359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6C1D79B-ED64-45DD-BE50-AD5C256C5BC4}" authorId="{7E23BD0A-3900-E3CF-2C1E-98C4E326220B}" created="2021-11-03T14:23:07.057">
    <pc:sldMkLst xmlns:pc="http://schemas.microsoft.com/office/powerpoint/2013/main/command">
      <pc:docMk/>
      <pc:sldMk cId="4244113293" sldId="445"/>
    </pc:sldMkLst>
    <p188:txBody>
      <a:bodyPr/>
      <a:lstStyle/>
      <a:p>
        <a:r>
          <a:rPr lang="en-IL"/>
          <a:t>Will add a slide of challenges </a:t>
        </a:r>
      </a:p>
    </p188:txBody>
  </p188:cm>
</p188:cmLst>
</file>

<file path=ppt/comments/modernComment_997_2B5CDCC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BAC2990-CC2E-454E-9792-B03B52AE9594}" authorId="{7E23BD0A-3900-E3CF-2C1E-98C4E326220B}" created="2021-11-03T14:23:07.057">
    <pc:sldMkLst xmlns:pc="http://schemas.microsoft.com/office/powerpoint/2013/main/command">
      <pc:docMk/>
      <pc:sldMk cId="4244113293" sldId="445"/>
    </pc:sldMkLst>
    <p188:txBody>
      <a:bodyPr/>
      <a:lstStyle/>
      <a:p>
        <a:r>
          <a:rPr lang="en-IL"/>
          <a:t>Will add a slide of challenges 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9.xml"/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1.xml"/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2.xml"/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3.xml"/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4.xml"/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5.xml"/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6.xml"/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7.xml"/><Relationship Id="rId1" Type="http://schemas.openxmlformats.org/officeDocument/2006/relationships/notesMaster" Target="../notesMasters/notesMaster1.xml"/></Relationships>
</file>

<file path=ppt/notesSlides/_rels/notesSlide1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8.xml"/><Relationship Id="rId1" Type="http://schemas.openxmlformats.org/officeDocument/2006/relationships/notesMaster" Target="../notesMasters/notesMaster1.xml"/></Relationships>
</file>

<file path=ppt/notesSlides/_rels/notesSlide1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9.xml"/><Relationship Id="rId1" Type="http://schemas.openxmlformats.org/officeDocument/2006/relationships/notesMaster" Target="../notesMasters/notesMaster1.xml"/></Relationships>
</file>

<file path=ppt/notesSlides/_rels/notesSlide1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0.xml"/><Relationship Id="rId1" Type="http://schemas.openxmlformats.org/officeDocument/2006/relationships/notesMaster" Target="../notesMasters/notesMaster1.xml"/></Relationships>
</file>

<file path=ppt/notesSlides/_rels/notesSlide1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1.xml"/><Relationship Id="rId1" Type="http://schemas.openxmlformats.org/officeDocument/2006/relationships/notesMaster" Target="../notesMasters/notesMaster1.xml"/></Relationships>
</file>

<file path=ppt/notesSlides/_rels/notesSlide1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2.xml"/><Relationship Id="rId1" Type="http://schemas.openxmlformats.org/officeDocument/2006/relationships/notesMaster" Target="../notesMasters/notesMaster1.xml"/></Relationships>
</file>

<file path=ppt/notesSlides/_rels/notesSlide1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3.xml"/><Relationship Id="rId1" Type="http://schemas.openxmlformats.org/officeDocument/2006/relationships/notesMaster" Target="../notesMasters/notesMaster1.xml"/></Relationships>
</file>

<file path=ppt/notesSlides/_rels/notesSlide1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4.xml"/><Relationship Id="rId1" Type="http://schemas.openxmlformats.org/officeDocument/2006/relationships/notesMaster" Target="../notesMasters/notesMaster1.xml"/></Relationships>
</file>

<file path=ppt/notesSlides/_rels/notesSlide1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5.xml"/><Relationship Id="rId1" Type="http://schemas.openxmlformats.org/officeDocument/2006/relationships/notesMaster" Target="../notesMasters/notesMaster1.xml"/></Relationships>
</file>

<file path=ppt/notesSlides/_rels/notesSlide1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6.xml"/><Relationship Id="rId1" Type="http://schemas.openxmlformats.org/officeDocument/2006/relationships/notesMaster" Target="../notesMasters/notesMaster1.xml"/></Relationships>
</file>

<file path=ppt/notesSlides/_rels/notesSlide1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7.xml"/><Relationship Id="rId1" Type="http://schemas.openxmlformats.org/officeDocument/2006/relationships/notesMaster" Target="../notesMasters/notesMaster1.xml"/></Relationships>
</file>

<file path=ppt/notesSlides/_rels/notesSlide1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8.xml"/><Relationship Id="rId1" Type="http://schemas.openxmlformats.org/officeDocument/2006/relationships/notesMaster" Target="../notesMasters/notesMaster1.xml"/></Relationships>
</file>

<file path=ppt/notesSlides/_rels/notesSlide1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9.xml"/><Relationship Id="rId1" Type="http://schemas.openxmlformats.org/officeDocument/2006/relationships/notesMaster" Target="../notesMasters/notesMaster1.xml"/></Relationships>
</file>

<file path=ppt/notesSlides/_rels/notesSlide1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0.xml"/><Relationship Id="rId1" Type="http://schemas.openxmlformats.org/officeDocument/2006/relationships/notesMaster" Target="../notesMasters/notesMaster1.xml"/></Relationships>
</file>

<file path=ppt/notesSlides/_rels/notesSlide1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1.xml"/><Relationship Id="rId1" Type="http://schemas.openxmlformats.org/officeDocument/2006/relationships/notesMaster" Target="../notesMasters/notesMaster1.xml"/></Relationships>
</file>

<file path=ppt/notesSlides/_rels/notesSlide1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2.xml"/><Relationship Id="rId1" Type="http://schemas.openxmlformats.org/officeDocument/2006/relationships/notesMaster" Target="../notesMasters/notesMaster1.xml"/></Relationships>
</file>

<file path=ppt/notesSlides/_rels/notesSlide1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3.xml"/><Relationship Id="rId1" Type="http://schemas.openxmlformats.org/officeDocument/2006/relationships/notesMaster" Target="../notesMasters/notesMaster1.xml"/></Relationships>
</file>

<file path=ppt/notesSlides/_rels/notesSlide1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4.xml"/><Relationship Id="rId1" Type="http://schemas.openxmlformats.org/officeDocument/2006/relationships/notesMaster" Target="../notesMasters/notesMaster1.xml"/></Relationships>
</file>

<file path=ppt/notesSlides/_rels/notesSlide1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5.xml"/><Relationship Id="rId1" Type="http://schemas.openxmlformats.org/officeDocument/2006/relationships/notesMaster" Target="../notesMasters/notesMaster1.xml"/></Relationships>
</file>

<file path=ppt/notesSlides/_rels/notesSlide1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6.xml"/><Relationship Id="rId1" Type="http://schemas.openxmlformats.org/officeDocument/2006/relationships/notesMaster" Target="../notesMasters/notesMaster1.xml"/></Relationships>
</file>

<file path=ppt/notesSlides/_rels/notesSlide1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7.xml"/><Relationship Id="rId1" Type="http://schemas.openxmlformats.org/officeDocument/2006/relationships/notesMaster" Target="../notesMasters/notesMaster1.xml"/></Relationships>
</file>

<file path=ppt/notesSlides/_rels/notesSlide1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8.xml"/><Relationship Id="rId1" Type="http://schemas.openxmlformats.org/officeDocument/2006/relationships/notesMaster" Target="../notesMasters/notesMaster1.xml"/></Relationships>
</file>

<file path=ppt/notesSlides/_rels/notesSlide1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9.xml"/><Relationship Id="rId1" Type="http://schemas.openxmlformats.org/officeDocument/2006/relationships/notesMaster" Target="../notesMasters/notesMaster1.xml"/></Relationships>
</file>

<file path=ppt/notesSlides/_rels/notesSlide1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0.xml"/><Relationship Id="rId1" Type="http://schemas.openxmlformats.org/officeDocument/2006/relationships/notesMaster" Target="../notesMasters/notesMaster1.xml"/></Relationships>
</file>

<file path=ppt/notesSlides/_rels/notesSlide1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1.xml"/><Relationship Id="rId1" Type="http://schemas.openxmlformats.org/officeDocument/2006/relationships/notesMaster" Target="../notesMasters/notesMaster1.xml"/></Relationships>
</file>

<file path=ppt/notesSlides/_rels/notesSlide1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2.xml"/><Relationship Id="rId1" Type="http://schemas.openxmlformats.org/officeDocument/2006/relationships/notesMaster" Target="../notesMasters/notesMaster1.xml"/></Relationships>
</file>

<file path=ppt/notesSlides/_rels/notesSlide1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3.xml"/><Relationship Id="rId1" Type="http://schemas.openxmlformats.org/officeDocument/2006/relationships/notesMaster" Target="../notesMasters/notesMaster1.xml"/></Relationships>
</file>

<file path=ppt/notesSlides/_rels/notesSlide1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4.xml"/><Relationship Id="rId1" Type="http://schemas.openxmlformats.org/officeDocument/2006/relationships/notesMaster" Target="../notesMasters/notesMaster1.xml"/></Relationships>
</file>

<file path=ppt/notesSlides/_rels/notesSlide1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5.xml"/><Relationship Id="rId1" Type="http://schemas.openxmlformats.org/officeDocument/2006/relationships/notesMaster" Target="../notesMasters/notesMaster1.xml"/></Relationships>
</file>

<file path=ppt/notesSlides/_rels/notesSlide1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6.xml"/><Relationship Id="rId1" Type="http://schemas.openxmlformats.org/officeDocument/2006/relationships/notesMaster" Target="../notesMasters/notesMaster1.xml"/></Relationships>
</file>

<file path=ppt/notesSlides/_rels/notesSlide1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Google Shape;1204;g60be7dcf1c_0_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05" name="Google Shape;1205;g60be7dcf1c_0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Google Shape;1236;g60be7dcf1c_0_1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The </a:t>
            </a:r>
            <a:r>
              <a:rPr lang="de-DE" dirty="0" err="1"/>
              <a:t>interconnecting</a:t>
            </a:r>
            <a:r>
              <a:rPr lang="de-DE" dirty="0"/>
              <a:t> </a:t>
            </a:r>
            <a:r>
              <a:rPr lang="de-DE" dirty="0" err="1"/>
              <a:t>networks</a:t>
            </a:r>
            <a:r>
              <a:rPr lang="de-DE" dirty="0"/>
              <a:t> </a:t>
            </a:r>
            <a:r>
              <a:rPr lang="de-DE" dirty="0" err="1"/>
              <a:t>have</a:t>
            </a:r>
            <a:r>
              <a:rPr lang="de-DE" dirty="0"/>
              <a:t> </a:t>
            </a:r>
            <a:r>
              <a:rPr lang="de-DE" dirty="0" err="1"/>
              <a:t>become</a:t>
            </a:r>
            <a:r>
              <a:rPr lang="de-DE" dirty="0"/>
              <a:t> a </a:t>
            </a:r>
            <a:r>
              <a:rPr lang="de-DE" dirty="0" err="1"/>
              <a:t>critical</a:t>
            </a:r>
            <a:r>
              <a:rPr lang="de-DE" dirty="0"/>
              <a:t> </a:t>
            </a:r>
            <a:r>
              <a:rPr lang="de-DE" dirty="0" err="1"/>
              <a:t>infrastructure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our</a:t>
            </a:r>
            <a:r>
              <a:rPr lang="de-DE" dirty="0"/>
              <a:t> digital </a:t>
            </a:r>
            <a:r>
              <a:rPr lang="de-DE" dirty="0" err="1"/>
              <a:t>society</a:t>
            </a:r>
            <a:r>
              <a:rPr lang="de-DE" dirty="0"/>
              <a:t>.</a:t>
            </a:r>
            <a:endParaRPr dirty="0"/>
          </a:p>
        </p:txBody>
      </p:sp>
      <p:sp>
        <p:nvSpPr>
          <p:cNvPr id="1237" name="Google Shape;1237;g60be7dcf1c_0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6070486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5">
          <a:extLst>
            <a:ext uri="{FF2B5EF4-FFF2-40B4-BE49-F238E27FC236}">
              <a16:creationId xmlns:a16="http://schemas.microsoft.com/office/drawing/2014/main" id="{1AD0CBF8-EFB3-6295-C107-C64808AD6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Google Shape;1236;g60be7dcf1c_0_159:notes">
            <a:extLst>
              <a:ext uri="{FF2B5EF4-FFF2-40B4-BE49-F238E27FC236}">
                <a16:creationId xmlns:a16="http://schemas.microsoft.com/office/drawing/2014/main" id="{E4E47C2B-74E3-A36B-01FD-C9FC61E675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The </a:t>
            </a:r>
            <a:r>
              <a:rPr lang="de-DE" dirty="0" err="1"/>
              <a:t>interconnecting</a:t>
            </a:r>
            <a:r>
              <a:rPr lang="de-DE" dirty="0"/>
              <a:t> </a:t>
            </a:r>
            <a:r>
              <a:rPr lang="de-DE" dirty="0" err="1"/>
              <a:t>networks</a:t>
            </a:r>
            <a:r>
              <a:rPr lang="de-DE" dirty="0"/>
              <a:t> </a:t>
            </a:r>
            <a:r>
              <a:rPr lang="de-DE" dirty="0" err="1"/>
              <a:t>have</a:t>
            </a:r>
            <a:r>
              <a:rPr lang="de-DE" dirty="0"/>
              <a:t> </a:t>
            </a:r>
            <a:r>
              <a:rPr lang="de-DE" dirty="0" err="1"/>
              <a:t>become</a:t>
            </a:r>
            <a:r>
              <a:rPr lang="de-DE" dirty="0"/>
              <a:t> a </a:t>
            </a:r>
            <a:r>
              <a:rPr lang="de-DE" dirty="0" err="1"/>
              <a:t>critical</a:t>
            </a:r>
            <a:r>
              <a:rPr lang="de-DE" dirty="0"/>
              <a:t> </a:t>
            </a:r>
            <a:r>
              <a:rPr lang="de-DE" dirty="0" err="1"/>
              <a:t>infrastructure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our</a:t>
            </a:r>
            <a:r>
              <a:rPr lang="de-DE" dirty="0"/>
              <a:t> digital </a:t>
            </a:r>
            <a:r>
              <a:rPr lang="de-DE" dirty="0" err="1"/>
              <a:t>society</a:t>
            </a:r>
            <a:r>
              <a:rPr lang="de-DE" dirty="0"/>
              <a:t>.</a:t>
            </a:r>
            <a:endParaRPr dirty="0"/>
          </a:p>
        </p:txBody>
      </p:sp>
      <p:sp>
        <p:nvSpPr>
          <p:cNvPr id="1237" name="Google Shape;1237;g60be7dcf1c_0_159:notes">
            <a:extLst>
              <a:ext uri="{FF2B5EF4-FFF2-40B4-BE49-F238E27FC236}">
                <a16:creationId xmlns:a16="http://schemas.microsoft.com/office/drawing/2014/main" id="{304845E6-37EA-5AB7-8445-55BDB0BEFC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491726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Google Shape;1236;g60be7dcf1c_0_1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The </a:t>
            </a:r>
            <a:r>
              <a:rPr lang="de-DE" dirty="0" err="1"/>
              <a:t>interconnecting</a:t>
            </a:r>
            <a:r>
              <a:rPr lang="de-DE" dirty="0"/>
              <a:t> </a:t>
            </a:r>
            <a:r>
              <a:rPr lang="de-DE" dirty="0" err="1"/>
              <a:t>networks</a:t>
            </a:r>
            <a:r>
              <a:rPr lang="de-DE" dirty="0"/>
              <a:t> </a:t>
            </a:r>
            <a:r>
              <a:rPr lang="de-DE" dirty="0" err="1"/>
              <a:t>have</a:t>
            </a:r>
            <a:r>
              <a:rPr lang="de-DE" dirty="0"/>
              <a:t> </a:t>
            </a:r>
            <a:r>
              <a:rPr lang="de-DE" dirty="0" err="1"/>
              <a:t>become</a:t>
            </a:r>
            <a:r>
              <a:rPr lang="de-DE" dirty="0"/>
              <a:t> a </a:t>
            </a:r>
            <a:r>
              <a:rPr lang="de-DE" dirty="0" err="1"/>
              <a:t>critical</a:t>
            </a:r>
            <a:r>
              <a:rPr lang="de-DE" dirty="0"/>
              <a:t> </a:t>
            </a:r>
            <a:r>
              <a:rPr lang="de-DE" dirty="0" err="1"/>
              <a:t>infrastructure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our</a:t>
            </a:r>
            <a:r>
              <a:rPr lang="de-DE" dirty="0"/>
              <a:t> digital </a:t>
            </a:r>
            <a:r>
              <a:rPr lang="de-DE" dirty="0" err="1"/>
              <a:t>society</a:t>
            </a:r>
            <a:r>
              <a:rPr lang="de-DE" dirty="0"/>
              <a:t>.</a:t>
            </a:r>
            <a:endParaRPr dirty="0"/>
          </a:p>
        </p:txBody>
      </p:sp>
      <p:sp>
        <p:nvSpPr>
          <p:cNvPr id="1237" name="Google Shape;1237;g60be7dcf1c_0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6070486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Google Shape;1269;g60be7dcf1c_0_1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This</a:t>
            </a:r>
            <a:r>
              <a:rPr lang="de-DE" baseline="0" dirty="0"/>
              <a:t> </a:t>
            </a:r>
            <a:r>
              <a:rPr lang="de-DE" baseline="0" dirty="0" err="1"/>
              <a:t>may</a:t>
            </a:r>
            <a:r>
              <a:rPr lang="de-DE" baseline="0" dirty="0"/>
              <a:t> </a:t>
            </a:r>
            <a:r>
              <a:rPr lang="de-DE" baseline="0" dirty="0" err="1"/>
              <a:t>be</a:t>
            </a:r>
            <a:r>
              <a:rPr lang="de-DE" baseline="0" dirty="0"/>
              <a:t> </a:t>
            </a:r>
            <a:r>
              <a:rPr lang="de-DE" baseline="0" dirty="0" err="1"/>
              <a:t>annoying</a:t>
            </a:r>
            <a:r>
              <a:rPr lang="de-DE" baseline="0" dirty="0"/>
              <a:t> </a:t>
            </a:r>
            <a:r>
              <a:rPr lang="de-DE" baseline="0" dirty="0" err="1"/>
              <a:t>for</a:t>
            </a:r>
            <a:r>
              <a:rPr lang="de-DE" baseline="0" dirty="0"/>
              <a:t> </a:t>
            </a:r>
            <a:r>
              <a:rPr lang="de-DE" baseline="0" dirty="0" err="1"/>
              <a:t>companies</a:t>
            </a:r>
            <a:r>
              <a:rPr lang="de-DE" baseline="0" dirty="0"/>
              <a:t>, </a:t>
            </a:r>
            <a:r>
              <a:rPr lang="de-DE" baseline="0" dirty="0" err="1"/>
              <a:t>it</a:t>
            </a:r>
            <a:r>
              <a:rPr lang="de-DE" baseline="0" dirty="0"/>
              <a:t> </a:t>
            </a:r>
            <a:r>
              <a:rPr lang="de-DE" baseline="0" dirty="0" err="1"/>
              <a:t>introduces</a:t>
            </a:r>
            <a:r>
              <a:rPr lang="de-DE" baseline="0" dirty="0"/>
              <a:t> a </a:t>
            </a:r>
            <a:r>
              <a:rPr lang="de-DE" baseline="0" dirty="0" err="1"/>
              <a:t>great</a:t>
            </a:r>
            <a:r>
              <a:rPr lang="de-DE" baseline="0" dirty="0"/>
              <a:t> </a:t>
            </a:r>
            <a:r>
              <a:rPr lang="de-DE" baseline="0" dirty="0" err="1"/>
              <a:t>opportunity</a:t>
            </a:r>
            <a:r>
              <a:rPr lang="de-DE" baseline="0" dirty="0"/>
              <a:t> </a:t>
            </a:r>
            <a:r>
              <a:rPr lang="de-DE" baseline="0" dirty="0" err="1"/>
              <a:t>for</a:t>
            </a:r>
            <a:r>
              <a:rPr lang="de-DE" baseline="0" dirty="0"/>
              <a:t> </a:t>
            </a:r>
            <a:r>
              <a:rPr lang="de-DE" baseline="0" dirty="0" err="1"/>
              <a:t>researchers</a:t>
            </a:r>
            <a:r>
              <a:rPr lang="de-DE" baseline="0" dirty="0"/>
              <a:t>.</a:t>
            </a:r>
            <a:endParaRPr dirty="0"/>
          </a:p>
        </p:txBody>
      </p:sp>
      <p:sp>
        <p:nvSpPr>
          <p:cNvPr id="1270" name="Google Shape;1270;g60be7dcf1c_0_1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7978217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3">
          <a:extLst>
            <a:ext uri="{FF2B5EF4-FFF2-40B4-BE49-F238E27FC236}">
              <a16:creationId xmlns:a16="http://schemas.microsoft.com/office/drawing/2014/main" id="{9020F9C9-845C-0455-B7EC-6AAE92D69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Google Shape;1284;g60be7dcf1c_0_204:notes">
            <a:extLst>
              <a:ext uri="{FF2B5EF4-FFF2-40B4-BE49-F238E27FC236}">
                <a16:creationId xmlns:a16="http://schemas.microsoft.com/office/drawing/2014/main" id="{CD53F969-B60F-5E0E-00E3-BED8E65E0D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A route </a:t>
            </a:r>
            <a:r>
              <a:rPr lang="de-DE" dirty="0" err="1"/>
              <a:t>cause</a:t>
            </a:r>
            <a:r>
              <a:rPr lang="de-DE" baseline="0" dirty="0"/>
              <a:t> </a:t>
            </a:r>
            <a:r>
              <a:rPr lang="de-DE" baseline="0" dirty="0" err="1"/>
              <a:t>for</a:t>
            </a:r>
            <a:r>
              <a:rPr lang="de-DE" baseline="0" dirty="0"/>
              <a:t> </a:t>
            </a:r>
            <a:r>
              <a:rPr lang="de-DE" baseline="0" dirty="0" err="1"/>
              <a:t>this</a:t>
            </a:r>
            <a:r>
              <a:rPr lang="de-DE" baseline="0" dirty="0"/>
              <a:t> </a:t>
            </a:r>
            <a:r>
              <a:rPr lang="de-DE" baseline="0" dirty="0" err="1"/>
              <a:t>inefficiency</a:t>
            </a:r>
            <a:r>
              <a:rPr lang="de-DE" baseline="0" dirty="0"/>
              <a:t> </a:t>
            </a:r>
            <a:r>
              <a:rPr lang="de-DE" baseline="0" dirty="0" err="1"/>
              <a:t>is</a:t>
            </a:r>
            <a:r>
              <a:rPr lang="de-DE" baseline="0" dirty="0"/>
              <a:t> </a:t>
            </a:r>
            <a:r>
              <a:rPr lang="de-DE" baseline="0" dirty="0" err="1"/>
              <a:t>related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how</a:t>
            </a:r>
            <a:r>
              <a:rPr lang="de-DE" baseline="0" dirty="0"/>
              <a:t> </a:t>
            </a:r>
            <a:r>
              <a:rPr lang="de-DE" baseline="0" dirty="0" err="1"/>
              <a:t>we</a:t>
            </a:r>
            <a:r>
              <a:rPr lang="de-DE" baseline="0" dirty="0"/>
              <a:t> </a:t>
            </a:r>
            <a:r>
              <a:rPr lang="de-DE" baseline="0" dirty="0" err="1"/>
              <a:t>interconnect</a:t>
            </a:r>
            <a:r>
              <a:rPr lang="de-DE" baseline="0" dirty="0"/>
              <a:t> </a:t>
            </a:r>
            <a:r>
              <a:rPr lang="de-DE" baseline="0" dirty="0" err="1"/>
              <a:t>these</a:t>
            </a:r>
            <a:r>
              <a:rPr lang="de-DE" baseline="0" dirty="0"/>
              <a:t> </a:t>
            </a:r>
            <a:r>
              <a:rPr lang="de-DE" baseline="0" dirty="0" err="1"/>
              <a:t>distributed</a:t>
            </a:r>
            <a:r>
              <a:rPr lang="de-DE" baseline="0" dirty="0"/>
              <a:t> </a:t>
            </a:r>
            <a:r>
              <a:rPr lang="de-DE" baseline="0" dirty="0" err="1"/>
              <a:t>systems</a:t>
            </a:r>
            <a:r>
              <a:rPr lang="de-DE" baseline="0" dirty="0"/>
              <a:t>.</a:t>
            </a:r>
            <a:endParaRPr dirty="0"/>
          </a:p>
        </p:txBody>
      </p:sp>
      <p:sp>
        <p:nvSpPr>
          <p:cNvPr id="1285" name="Google Shape;1285;g60be7dcf1c_0_204:notes">
            <a:extLst>
              <a:ext uri="{FF2B5EF4-FFF2-40B4-BE49-F238E27FC236}">
                <a16:creationId xmlns:a16="http://schemas.microsoft.com/office/drawing/2014/main" id="{9E231837-7B55-4723-A516-0C1FBC7423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7317913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2">
          <a:extLst>
            <a:ext uri="{FF2B5EF4-FFF2-40B4-BE49-F238E27FC236}">
              <a16:creationId xmlns:a16="http://schemas.microsoft.com/office/drawing/2014/main" id="{9692B383-B179-0BCF-C463-3AF97AEE1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3" name="Google Shape;1293;g60be7dcf1c_0_212:notes">
            <a:extLst>
              <a:ext uri="{FF2B5EF4-FFF2-40B4-BE49-F238E27FC236}">
                <a16:creationId xmlns:a16="http://schemas.microsoft.com/office/drawing/2014/main" id="{6B19F0D4-FB3C-5030-7409-A95C7B9C6A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Today, </a:t>
            </a:r>
            <a:r>
              <a:rPr lang="de-DE" dirty="0" err="1"/>
              <a:t>many</a:t>
            </a:r>
            <a:r>
              <a:rPr lang="de-DE" dirty="0"/>
              <a:t> different </a:t>
            </a:r>
            <a:r>
              <a:rPr lang="de-DE" dirty="0" err="1"/>
              <a:t>network</a:t>
            </a:r>
            <a:r>
              <a:rPr lang="de-DE" dirty="0"/>
              <a:t> </a:t>
            </a:r>
            <a:r>
              <a:rPr lang="de-DE" dirty="0" err="1"/>
              <a:t>toplogies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used</a:t>
            </a:r>
            <a:r>
              <a:rPr lang="de-DE" dirty="0"/>
              <a:t> in </a:t>
            </a:r>
            <a:r>
              <a:rPr lang="de-DE" dirty="0" err="1"/>
              <a:t>datacenters</a:t>
            </a:r>
            <a:r>
              <a:rPr lang="de-DE" dirty="0"/>
              <a:t>, such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one</a:t>
            </a:r>
            <a:r>
              <a:rPr lang="de-DE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 err="1"/>
              <a:t>However</a:t>
            </a:r>
            <a:r>
              <a:rPr lang="de-DE" dirty="0"/>
              <a:t>, </a:t>
            </a:r>
            <a:r>
              <a:rPr lang="de-DE" dirty="0" err="1"/>
              <a:t>they</a:t>
            </a:r>
            <a:r>
              <a:rPr lang="de-DE" dirty="0"/>
              <a:t> all </a:t>
            </a:r>
            <a:r>
              <a:rPr lang="de-DE" dirty="0" err="1"/>
              <a:t>have</a:t>
            </a:r>
            <a:r>
              <a:rPr lang="de-DE" dirty="0"/>
              <a:t> in </a:t>
            </a:r>
            <a:r>
              <a:rPr lang="de-DE" dirty="0" err="1"/>
              <a:t>common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they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baseline="0" dirty="0"/>
              <a:t> </a:t>
            </a:r>
            <a:r>
              <a:rPr lang="de-DE" baseline="0" dirty="0" err="1"/>
              <a:t>fixed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oblivious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actual</a:t>
            </a:r>
            <a:r>
              <a:rPr lang="de-DE" baseline="0" dirty="0"/>
              <a:t> </a:t>
            </a:r>
            <a:r>
              <a:rPr lang="de-DE" baseline="0" dirty="0" err="1"/>
              <a:t>demand</a:t>
            </a:r>
            <a:r>
              <a:rPr lang="de-DE" baseline="0" dirty="0"/>
              <a:t>.</a:t>
            </a:r>
            <a:endParaRPr dirty="0"/>
          </a:p>
        </p:txBody>
      </p:sp>
      <p:sp>
        <p:nvSpPr>
          <p:cNvPr id="1294" name="Google Shape;1294;g60be7dcf1c_0_212:notes">
            <a:extLst>
              <a:ext uri="{FF2B5EF4-FFF2-40B4-BE49-F238E27FC236}">
                <a16:creationId xmlns:a16="http://schemas.microsoft.com/office/drawing/2014/main" id="{F925BDFB-24C2-596F-E293-C1141FD4B3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0273560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2">
          <a:extLst>
            <a:ext uri="{FF2B5EF4-FFF2-40B4-BE49-F238E27FC236}">
              <a16:creationId xmlns:a16="http://schemas.microsoft.com/office/drawing/2014/main" id="{9692B383-B179-0BCF-C463-3AF97AEE1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3" name="Google Shape;1293;g60be7dcf1c_0_212:notes">
            <a:extLst>
              <a:ext uri="{FF2B5EF4-FFF2-40B4-BE49-F238E27FC236}">
                <a16:creationId xmlns:a16="http://schemas.microsoft.com/office/drawing/2014/main" id="{6B19F0D4-FB3C-5030-7409-A95C7B9C6A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Today, </a:t>
            </a:r>
            <a:r>
              <a:rPr lang="de-DE" dirty="0" err="1"/>
              <a:t>many</a:t>
            </a:r>
            <a:r>
              <a:rPr lang="de-DE" dirty="0"/>
              <a:t> different </a:t>
            </a:r>
            <a:r>
              <a:rPr lang="de-DE" dirty="0" err="1"/>
              <a:t>network</a:t>
            </a:r>
            <a:r>
              <a:rPr lang="de-DE" dirty="0"/>
              <a:t> </a:t>
            </a:r>
            <a:r>
              <a:rPr lang="de-DE" dirty="0" err="1"/>
              <a:t>toplogies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used</a:t>
            </a:r>
            <a:r>
              <a:rPr lang="de-DE" dirty="0"/>
              <a:t> in </a:t>
            </a:r>
            <a:r>
              <a:rPr lang="de-DE" dirty="0" err="1"/>
              <a:t>datacenters</a:t>
            </a:r>
            <a:r>
              <a:rPr lang="de-DE" dirty="0"/>
              <a:t>, such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one</a:t>
            </a:r>
            <a:r>
              <a:rPr lang="de-DE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 err="1"/>
              <a:t>However</a:t>
            </a:r>
            <a:r>
              <a:rPr lang="de-DE" dirty="0"/>
              <a:t>, </a:t>
            </a:r>
            <a:r>
              <a:rPr lang="de-DE" dirty="0" err="1"/>
              <a:t>they</a:t>
            </a:r>
            <a:r>
              <a:rPr lang="de-DE" dirty="0"/>
              <a:t> all </a:t>
            </a:r>
            <a:r>
              <a:rPr lang="de-DE" dirty="0" err="1"/>
              <a:t>have</a:t>
            </a:r>
            <a:r>
              <a:rPr lang="de-DE" dirty="0"/>
              <a:t> in </a:t>
            </a:r>
            <a:r>
              <a:rPr lang="de-DE" dirty="0" err="1"/>
              <a:t>common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they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baseline="0" dirty="0"/>
              <a:t> </a:t>
            </a:r>
            <a:r>
              <a:rPr lang="de-DE" baseline="0" dirty="0" err="1"/>
              <a:t>fixed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oblivious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actual</a:t>
            </a:r>
            <a:r>
              <a:rPr lang="de-DE" baseline="0" dirty="0"/>
              <a:t> </a:t>
            </a:r>
            <a:r>
              <a:rPr lang="de-DE" baseline="0" dirty="0" err="1"/>
              <a:t>demand</a:t>
            </a:r>
            <a:r>
              <a:rPr lang="de-DE" baseline="0" dirty="0"/>
              <a:t>.</a:t>
            </a:r>
            <a:endParaRPr dirty="0"/>
          </a:p>
        </p:txBody>
      </p:sp>
      <p:sp>
        <p:nvSpPr>
          <p:cNvPr id="1294" name="Google Shape;1294;g60be7dcf1c_0_212:notes">
            <a:extLst>
              <a:ext uri="{FF2B5EF4-FFF2-40B4-BE49-F238E27FC236}">
                <a16:creationId xmlns:a16="http://schemas.microsoft.com/office/drawing/2014/main" id="{F925BDFB-24C2-596F-E293-C1141FD4B3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8454748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2">
          <a:extLst>
            <a:ext uri="{FF2B5EF4-FFF2-40B4-BE49-F238E27FC236}">
              <a16:creationId xmlns:a16="http://schemas.microsoft.com/office/drawing/2014/main" id="{9692B383-B179-0BCF-C463-3AF97AEE1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3" name="Google Shape;1293;g60be7dcf1c_0_212:notes">
            <a:extLst>
              <a:ext uri="{FF2B5EF4-FFF2-40B4-BE49-F238E27FC236}">
                <a16:creationId xmlns:a16="http://schemas.microsoft.com/office/drawing/2014/main" id="{6B19F0D4-FB3C-5030-7409-A95C7B9C6A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Today, </a:t>
            </a:r>
            <a:r>
              <a:rPr lang="de-DE" dirty="0" err="1"/>
              <a:t>many</a:t>
            </a:r>
            <a:r>
              <a:rPr lang="de-DE" dirty="0"/>
              <a:t> different </a:t>
            </a:r>
            <a:r>
              <a:rPr lang="de-DE" dirty="0" err="1"/>
              <a:t>network</a:t>
            </a:r>
            <a:r>
              <a:rPr lang="de-DE" dirty="0"/>
              <a:t> </a:t>
            </a:r>
            <a:r>
              <a:rPr lang="de-DE" dirty="0" err="1"/>
              <a:t>toplogies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used</a:t>
            </a:r>
            <a:r>
              <a:rPr lang="de-DE" dirty="0"/>
              <a:t> in </a:t>
            </a:r>
            <a:r>
              <a:rPr lang="de-DE" dirty="0" err="1"/>
              <a:t>datacenters</a:t>
            </a:r>
            <a:r>
              <a:rPr lang="de-DE" dirty="0"/>
              <a:t>, such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one</a:t>
            </a:r>
            <a:r>
              <a:rPr lang="de-DE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 err="1"/>
              <a:t>However</a:t>
            </a:r>
            <a:r>
              <a:rPr lang="de-DE" dirty="0"/>
              <a:t>, </a:t>
            </a:r>
            <a:r>
              <a:rPr lang="de-DE" dirty="0" err="1"/>
              <a:t>they</a:t>
            </a:r>
            <a:r>
              <a:rPr lang="de-DE" dirty="0"/>
              <a:t> all </a:t>
            </a:r>
            <a:r>
              <a:rPr lang="de-DE" dirty="0" err="1"/>
              <a:t>have</a:t>
            </a:r>
            <a:r>
              <a:rPr lang="de-DE" dirty="0"/>
              <a:t> in </a:t>
            </a:r>
            <a:r>
              <a:rPr lang="de-DE" dirty="0" err="1"/>
              <a:t>common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they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baseline="0" dirty="0"/>
              <a:t> </a:t>
            </a:r>
            <a:r>
              <a:rPr lang="de-DE" baseline="0" dirty="0" err="1"/>
              <a:t>fixed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oblivious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actual</a:t>
            </a:r>
            <a:r>
              <a:rPr lang="de-DE" baseline="0" dirty="0"/>
              <a:t> </a:t>
            </a:r>
            <a:r>
              <a:rPr lang="de-DE" baseline="0" dirty="0" err="1"/>
              <a:t>demand</a:t>
            </a:r>
            <a:r>
              <a:rPr lang="de-DE" baseline="0" dirty="0"/>
              <a:t>.</a:t>
            </a:r>
            <a:endParaRPr dirty="0"/>
          </a:p>
        </p:txBody>
      </p:sp>
      <p:sp>
        <p:nvSpPr>
          <p:cNvPr id="1294" name="Google Shape;1294;g60be7dcf1c_0_212:notes">
            <a:extLst>
              <a:ext uri="{FF2B5EF4-FFF2-40B4-BE49-F238E27FC236}">
                <a16:creationId xmlns:a16="http://schemas.microsoft.com/office/drawing/2014/main" id="{F925BDFB-24C2-596F-E293-C1141FD4B3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7681252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2">
          <a:extLst>
            <a:ext uri="{FF2B5EF4-FFF2-40B4-BE49-F238E27FC236}">
              <a16:creationId xmlns:a16="http://schemas.microsoft.com/office/drawing/2014/main" id="{9692B383-B179-0BCF-C463-3AF97AEE1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3" name="Google Shape;1293;g60be7dcf1c_0_212:notes">
            <a:extLst>
              <a:ext uri="{FF2B5EF4-FFF2-40B4-BE49-F238E27FC236}">
                <a16:creationId xmlns:a16="http://schemas.microsoft.com/office/drawing/2014/main" id="{6B19F0D4-FB3C-5030-7409-A95C7B9C6A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Today, </a:t>
            </a:r>
            <a:r>
              <a:rPr lang="de-DE" dirty="0" err="1"/>
              <a:t>many</a:t>
            </a:r>
            <a:r>
              <a:rPr lang="de-DE" dirty="0"/>
              <a:t> different </a:t>
            </a:r>
            <a:r>
              <a:rPr lang="de-DE" dirty="0" err="1"/>
              <a:t>network</a:t>
            </a:r>
            <a:r>
              <a:rPr lang="de-DE" dirty="0"/>
              <a:t> </a:t>
            </a:r>
            <a:r>
              <a:rPr lang="de-DE" dirty="0" err="1"/>
              <a:t>toplogies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used</a:t>
            </a:r>
            <a:r>
              <a:rPr lang="de-DE" dirty="0"/>
              <a:t> in </a:t>
            </a:r>
            <a:r>
              <a:rPr lang="de-DE" dirty="0" err="1"/>
              <a:t>datacenters</a:t>
            </a:r>
            <a:r>
              <a:rPr lang="de-DE" dirty="0"/>
              <a:t>, such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one</a:t>
            </a:r>
            <a:r>
              <a:rPr lang="de-DE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 err="1"/>
              <a:t>However</a:t>
            </a:r>
            <a:r>
              <a:rPr lang="de-DE" dirty="0"/>
              <a:t>, </a:t>
            </a:r>
            <a:r>
              <a:rPr lang="de-DE" dirty="0" err="1"/>
              <a:t>they</a:t>
            </a:r>
            <a:r>
              <a:rPr lang="de-DE" dirty="0"/>
              <a:t> all </a:t>
            </a:r>
            <a:r>
              <a:rPr lang="de-DE" dirty="0" err="1"/>
              <a:t>have</a:t>
            </a:r>
            <a:r>
              <a:rPr lang="de-DE" dirty="0"/>
              <a:t> in </a:t>
            </a:r>
            <a:r>
              <a:rPr lang="de-DE" dirty="0" err="1"/>
              <a:t>common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they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baseline="0" dirty="0"/>
              <a:t> </a:t>
            </a:r>
            <a:r>
              <a:rPr lang="de-DE" baseline="0" dirty="0" err="1"/>
              <a:t>fixed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oblivious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actual</a:t>
            </a:r>
            <a:r>
              <a:rPr lang="de-DE" baseline="0" dirty="0"/>
              <a:t> </a:t>
            </a:r>
            <a:r>
              <a:rPr lang="de-DE" baseline="0" dirty="0" err="1"/>
              <a:t>demand</a:t>
            </a:r>
            <a:r>
              <a:rPr lang="de-DE" baseline="0" dirty="0"/>
              <a:t>.</a:t>
            </a:r>
            <a:endParaRPr dirty="0"/>
          </a:p>
        </p:txBody>
      </p:sp>
      <p:sp>
        <p:nvSpPr>
          <p:cNvPr id="1294" name="Google Shape;1294;g60be7dcf1c_0_212:notes">
            <a:extLst>
              <a:ext uri="{FF2B5EF4-FFF2-40B4-BE49-F238E27FC236}">
                <a16:creationId xmlns:a16="http://schemas.microsoft.com/office/drawing/2014/main" id="{F925BDFB-24C2-596F-E293-C1141FD4B3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6577864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7" name="Google Shape;1317;g60be7dcf1c_0_2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 err="1"/>
              <a:t>My</a:t>
            </a:r>
            <a:r>
              <a:rPr lang="de-DE" dirty="0"/>
              <a:t> </a:t>
            </a:r>
            <a:r>
              <a:rPr lang="de-DE" dirty="0" err="1"/>
              <a:t>vision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baseline="0" dirty="0"/>
              <a:t> </a:t>
            </a:r>
            <a:r>
              <a:rPr lang="de-DE" baseline="0" dirty="0" err="1"/>
              <a:t>that</a:t>
            </a:r>
            <a:r>
              <a:rPr lang="de-DE" baseline="0" dirty="0"/>
              <a:t> </a:t>
            </a:r>
            <a:r>
              <a:rPr lang="de-DE" baseline="0" dirty="0" err="1"/>
              <a:t>networks</a:t>
            </a:r>
            <a:r>
              <a:rPr lang="de-DE" baseline="0" dirty="0"/>
              <a:t> </a:t>
            </a:r>
            <a:r>
              <a:rPr lang="de-DE" baseline="0" dirty="0" err="1"/>
              <a:t>should</a:t>
            </a:r>
            <a:r>
              <a:rPr lang="de-DE" baseline="0" dirty="0"/>
              <a:t> </a:t>
            </a:r>
            <a:r>
              <a:rPr lang="de-DE" baseline="0" dirty="0" err="1"/>
              <a:t>become</a:t>
            </a:r>
            <a:r>
              <a:rPr lang="de-DE" baseline="0" dirty="0"/>
              <a:t> flexible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demand</a:t>
            </a:r>
            <a:r>
              <a:rPr lang="de-DE" baseline="0" dirty="0"/>
              <a:t>-aware.</a:t>
            </a:r>
            <a:endParaRPr dirty="0"/>
          </a:p>
        </p:txBody>
      </p:sp>
      <p:sp>
        <p:nvSpPr>
          <p:cNvPr id="1318" name="Google Shape;1318;g60be7dcf1c_0_2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6" name="Google Shape;1326;g60be7dcf1c_0_2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e.g., </a:t>
            </a:r>
            <a:r>
              <a:rPr lang="de-DE" dirty="0" err="1"/>
              <a:t>based</a:t>
            </a:r>
            <a:r>
              <a:rPr lang="de-DE" dirty="0"/>
              <a:t> on </a:t>
            </a:r>
            <a:r>
              <a:rPr lang="de-DE" dirty="0" err="1"/>
              <a:t>mirrors</a:t>
            </a:r>
            <a:r>
              <a:rPr lang="de-DE" dirty="0"/>
              <a:t>.</a:t>
            </a:r>
            <a:endParaRPr dirty="0"/>
          </a:p>
        </p:txBody>
      </p:sp>
      <p:sp>
        <p:nvSpPr>
          <p:cNvPr id="1327" name="Google Shape;1327;g60be7dcf1c_0_2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8" name="Google Shape;1348;g60be7dcf1c_0_2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example</a:t>
            </a:r>
            <a:r>
              <a:rPr lang="de-DE" dirty="0"/>
              <a:t>, </a:t>
            </a:r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demand</a:t>
            </a:r>
            <a:r>
              <a:rPr lang="de-DE" dirty="0"/>
              <a:t> </a:t>
            </a:r>
            <a:r>
              <a:rPr lang="de-DE" dirty="0" err="1"/>
              <a:t>matrix</a:t>
            </a:r>
            <a:r>
              <a:rPr lang="de-DE" dirty="0"/>
              <a:t> </a:t>
            </a:r>
            <a:r>
              <a:rPr lang="de-DE" dirty="0" err="1"/>
              <a:t>looks</a:t>
            </a:r>
            <a:r>
              <a:rPr lang="de-DE" baseline="0" dirty="0"/>
              <a:t> like </a:t>
            </a:r>
            <a:r>
              <a:rPr lang="de-DE" baseline="0" dirty="0" err="1"/>
              <a:t>this</a:t>
            </a:r>
            <a:r>
              <a:rPr lang="de-DE" baseline="0" dirty="0"/>
              <a:t>: 1 </a:t>
            </a:r>
            <a:r>
              <a:rPr lang="de-DE" baseline="0" dirty="0" err="1"/>
              <a:t>communicates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5, 2 </a:t>
            </a:r>
            <a:r>
              <a:rPr lang="de-DE" baseline="0" dirty="0" err="1"/>
              <a:t>to</a:t>
            </a:r>
            <a:r>
              <a:rPr lang="de-DE" baseline="0" dirty="0"/>
              <a:t> 6, </a:t>
            </a:r>
            <a:r>
              <a:rPr lang="de-DE" baseline="0" dirty="0" err="1"/>
              <a:t>etc</a:t>
            </a:r>
            <a:r>
              <a:rPr lang="en-AT" baseline="0" dirty="0"/>
              <a:t>…</a:t>
            </a:r>
            <a:endParaRPr dirty="0"/>
          </a:p>
        </p:txBody>
      </p:sp>
      <p:sp>
        <p:nvSpPr>
          <p:cNvPr id="1349" name="Google Shape;1349;g60be7dcf1c_0_2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" name="Google Shape;1372;g60be7dcf1c_0_2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T" dirty="0"/>
              <a:t>…</a:t>
            </a:r>
            <a:r>
              <a:rPr lang="de-DE" dirty="0"/>
              <a:t> </a:t>
            </a: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makes</a:t>
            </a:r>
            <a:r>
              <a:rPr lang="de-DE" dirty="0"/>
              <a:t> sense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interconnect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servers</a:t>
            </a:r>
            <a:r>
              <a:rPr lang="de-DE" baseline="0" dirty="0"/>
              <a:t> like </a:t>
            </a:r>
            <a:r>
              <a:rPr lang="de-DE" baseline="0" dirty="0" err="1"/>
              <a:t>this</a:t>
            </a:r>
            <a:r>
              <a:rPr lang="de-DE" baseline="0" dirty="0"/>
              <a:t>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/>
              <a:t>This </a:t>
            </a:r>
            <a:r>
              <a:rPr lang="de-DE" baseline="0" dirty="0" err="1"/>
              <a:t>perfectly</a:t>
            </a:r>
            <a:r>
              <a:rPr lang="de-DE" baseline="0" dirty="0"/>
              <a:t> </a:t>
            </a:r>
            <a:r>
              <a:rPr lang="de-DE" baseline="0" dirty="0" err="1"/>
              <a:t>matches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demand</a:t>
            </a:r>
            <a:r>
              <a:rPr lang="de-DE" baseline="0" dirty="0"/>
              <a:t>.</a:t>
            </a:r>
            <a:endParaRPr dirty="0"/>
          </a:p>
        </p:txBody>
      </p:sp>
      <p:sp>
        <p:nvSpPr>
          <p:cNvPr id="1373" name="Google Shape;1373;g60be7dcf1c_0_2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8" name="Google Shape;1398;g60be7dcf1c_0_3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 err="1"/>
              <a:t>If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demand</a:t>
            </a:r>
            <a:r>
              <a:rPr lang="de-DE" baseline="0" dirty="0"/>
              <a:t> </a:t>
            </a:r>
            <a:r>
              <a:rPr lang="de-DE" baseline="0" dirty="0" err="1"/>
              <a:t>changes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this</a:t>
            </a:r>
            <a:r>
              <a:rPr lang="en-AT" baseline="0" dirty="0"/>
              <a:t>…</a:t>
            </a:r>
            <a:endParaRPr dirty="0"/>
          </a:p>
        </p:txBody>
      </p:sp>
      <p:sp>
        <p:nvSpPr>
          <p:cNvPr id="1399" name="Google Shape;1399;g60be7dcf1c_0_3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" name="Google Shape;1422;g60be7dcf1c_0_3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T" dirty="0"/>
              <a:t>…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topology</a:t>
            </a:r>
            <a:r>
              <a:rPr lang="de-DE" dirty="0"/>
              <a:t> </a:t>
            </a:r>
            <a:r>
              <a:rPr lang="de-DE" dirty="0" err="1"/>
              <a:t>should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changed</a:t>
            </a:r>
            <a:r>
              <a:rPr lang="de-DE" baseline="0" dirty="0"/>
              <a:t> </a:t>
            </a:r>
            <a:r>
              <a:rPr lang="de-DE" baseline="0" dirty="0" err="1"/>
              <a:t>as</a:t>
            </a:r>
            <a:r>
              <a:rPr lang="de-DE" baseline="0" dirty="0"/>
              <a:t> </a:t>
            </a:r>
            <a:r>
              <a:rPr lang="de-DE" baseline="0" dirty="0" err="1"/>
              <a:t>well</a:t>
            </a:r>
            <a:r>
              <a:rPr lang="de-DE" baseline="0" dirty="0"/>
              <a:t>,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match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demand</a:t>
            </a:r>
            <a:r>
              <a:rPr lang="de-DE" baseline="0" dirty="0"/>
              <a:t> </a:t>
            </a:r>
            <a:r>
              <a:rPr lang="de-DE" baseline="0" dirty="0" err="1"/>
              <a:t>again</a:t>
            </a:r>
            <a:r>
              <a:rPr lang="de-DE" baseline="0" dirty="0"/>
              <a:t>.</a:t>
            </a:r>
            <a:endParaRPr dirty="0"/>
          </a:p>
        </p:txBody>
      </p:sp>
      <p:sp>
        <p:nvSpPr>
          <p:cNvPr id="1423" name="Google Shape;1423;g60be7dcf1c_0_3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8">
          <a:extLst>
            <a:ext uri="{FF2B5EF4-FFF2-40B4-BE49-F238E27FC236}">
              <a16:creationId xmlns:a16="http://schemas.microsoft.com/office/drawing/2014/main" id="{08BBC714-F8B8-EF21-5223-2568B7846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9" name="Google Shape;1449;g60be7dcf1c_0_360:notes">
            <a:extLst>
              <a:ext uri="{FF2B5EF4-FFF2-40B4-BE49-F238E27FC236}">
                <a16:creationId xmlns:a16="http://schemas.microsoft.com/office/drawing/2014/main" id="{72A73BD3-034A-3E61-6315-FA89306252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This</a:t>
            </a:r>
            <a:r>
              <a:rPr lang="de-DE" baseline="0" dirty="0"/>
              <a:t> </a:t>
            </a:r>
            <a:r>
              <a:rPr lang="de-DE" baseline="0" dirty="0" err="1"/>
              <a:t>is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idea</a:t>
            </a:r>
            <a:r>
              <a:rPr lang="de-DE" baseline="0" dirty="0"/>
              <a:t> </a:t>
            </a:r>
            <a:r>
              <a:rPr lang="de-DE" baseline="0" dirty="0" err="1"/>
              <a:t>of</a:t>
            </a:r>
            <a:r>
              <a:rPr lang="de-DE" baseline="0" dirty="0"/>
              <a:t> </a:t>
            </a:r>
            <a:r>
              <a:rPr lang="de-DE" baseline="0" dirty="0" err="1"/>
              <a:t>self-adjusting</a:t>
            </a:r>
            <a:r>
              <a:rPr lang="de-DE" baseline="0" dirty="0"/>
              <a:t> </a:t>
            </a:r>
            <a:r>
              <a:rPr lang="de-DE" baseline="0" dirty="0" err="1"/>
              <a:t>networks</a:t>
            </a:r>
            <a:r>
              <a:rPr lang="de-DE" baseline="0" dirty="0"/>
              <a:t>: </a:t>
            </a:r>
            <a:r>
              <a:rPr lang="de-DE" baseline="0" dirty="0" err="1"/>
              <a:t>they</a:t>
            </a:r>
            <a:r>
              <a:rPr lang="de-DE" baseline="0" dirty="0"/>
              <a:t> </a:t>
            </a:r>
            <a:r>
              <a:rPr lang="de-DE" baseline="0" dirty="0" err="1"/>
              <a:t>dynamically</a:t>
            </a:r>
            <a:r>
              <a:rPr lang="de-DE" baseline="0" dirty="0"/>
              <a:t> </a:t>
            </a:r>
            <a:r>
              <a:rPr lang="de-DE" baseline="0" dirty="0" err="1"/>
              <a:t>reconfigure</a:t>
            </a:r>
            <a:r>
              <a:rPr lang="de-DE" baseline="0" dirty="0"/>
              <a:t> </a:t>
            </a:r>
            <a:r>
              <a:rPr lang="de-DE" baseline="0" dirty="0" err="1"/>
              <a:t>over</a:t>
            </a:r>
            <a:r>
              <a:rPr lang="de-DE" baseline="0" dirty="0"/>
              <a:t> time, in a </a:t>
            </a:r>
            <a:r>
              <a:rPr lang="de-DE" baseline="0" dirty="0" err="1"/>
              <a:t>demand</a:t>
            </a:r>
            <a:r>
              <a:rPr lang="de-DE" baseline="0" dirty="0"/>
              <a:t>-aware </a:t>
            </a:r>
            <a:r>
              <a:rPr lang="de-DE" baseline="0" dirty="0" err="1"/>
              <a:t>manner</a:t>
            </a:r>
            <a:r>
              <a:rPr lang="de-DE" baseline="0" dirty="0"/>
              <a:t>.</a:t>
            </a:r>
            <a:endParaRPr dirty="0"/>
          </a:p>
        </p:txBody>
      </p:sp>
      <p:sp>
        <p:nvSpPr>
          <p:cNvPr id="1450" name="Google Shape;1450;g60be7dcf1c_0_360:notes">
            <a:extLst>
              <a:ext uri="{FF2B5EF4-FFF2-40B4-BE49-F238E27FC236}">
                <a16:creationId xmlns:a16="http://schemas.microsoft.com/office/drawing/2014/main" id="{C7A8A45C-AB14-0F8F-FAE6-733C634DF0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8111288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3" name="Google Shape;1923;g60be7dcf1c_0_8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Over </a:t>
            </a:r>
            <a:r>
              <a:rPr lang="de-DE" dirty="0" err="1"/>
              <a:t>the</a:t>
            </a:r>
            <a:r>
              <a:rPr lang="de-DE" dirty="0"/>
              <a:t> last </a:t>
            </a:r>
            <a:r>
              <a:rPr lang="de-DE" dirty="0" err="1"/>
              <a:t>years</a:t>
            </a:r>
            <a:r>
              <a:rPr lang="de-DE" dirty="0"/>
              <a:t>,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have</a:t>
            </a:r>
            <a:r>
              <a:rPr lang="de-DE" dirty="0"/>
              <a:t> </a:t>
            </a:r>
            <a:r>
              <a:rPr lang="de-DE" dirty="0" err="1"/>
              <a:t>worked</a:t>
            </a:r>
            <a:r>
              <a:rPr lang="de-DE" dirty="0"/>
              <a:t> on flexible </a:t>
            </a:r>
            <a:r>
              <a:rPr lang="de-DE" dirty="0" err="1"/>
              <a:t>routing</a:t>
            </a:r>
            <a:r>
              <a:rPr lang="de-DE" dirty="0"/>
              <a:t> (</a:t>
            </a:r>
            <a:r>
              <a:rPr lang="de-DE" dirty="0" err="1"/>
              <a:t>enabled</a:t>
            </a:r>
            <a:r>
              <a:rPr lang="de-DE" baseline="0" dirty="0"/>
              <a:t> </a:t>
            </a:r>
            <a:r>
              <a:rPr lang="de-DE" baseline="0" dirty="0" err="1"/>
              <a:t>by</a:t>
            </a:r>
            <a:r>
              <a:rPr lang="de-DE" baseline="0" dirty="0"/>
              <a:t> SDN) </a:t>
            </a:r>
            <a:r>
              <a:rPr lang="de-DE" baseline="0" dirty="0" err="1"/>
              <a:t>and</a:t>
            </a:r>
            <a:r>
              <a:rPr lang="de-DE" baseline="0" dirty="0"/>
              <a:t> flexible </a:t>
            </a:r>
            <a:r>
              <a:rPr lang="de-DE" baseline="0" dirty="0" err="1"/>
              <a:t>resource</a:t>
            </a:r>
            <a:r>
              <a:rPr lang="de-DE" baseline="0" dirty="0"/>
              <a:t> </a:t>
            </a:r>
            <a:r>
              <a:rPr lang="de-DE" baseline="0" dirty="0" err="1"/>
              <a:t>allocation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service</a:t>
            </a:r>
            <a:r>
              <a:rPr lang="de-DE" baseline="0" dirty="0"/>
              <a:t> </a:t>
            </a:r>
            <a:r>
              <a:rPr lang="de-DE" baseline="0" dirty="0" err="1"/>
              <a:t>embedding</a:t>
            </a:r>
            <a:r>
              <a:rPr lang="de-DE" baseline="0" dirty="0"/>
              <a:t> (</a:t>
            </a:r>
            <a:r>
              <a:rPr lang="de-DE" baseline="0" dirty="0" err="1"/>
              <a:t>enabled</a:t>
            </a:r>
            <a:r>
              <a:rPr lang="de-DE" baseline="0" dirty="0"/>
              <a:t> </a:t>
            </a:r>
            <a:r>
              <a:rPr lang="de-DE" baseline="0" dirty="0" err="1"/>
              <a:t>by</a:t>
            </a:r>
            <a:r>
              <a:rPr lang="de-DE" baseline="0" dirty="0"/>
              <a:t> </a:t>
            </a:r>
            <a:r>
              <a:rPr lang="de-DE" baseline="0" dirty="0" err="1"/>
              <a:t>virtualization</a:t>
            </a:r>
            <a:r>
              <a:rPr lang="de-DE" baseline="0" dirty="0"/>
              <a:t>).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 err="1"/>
              <a:t>With</a:t>
            </a:r>
            <a:r>
              <a:rPr lang="de-DE" baseline="0" dirty="0"/>
              <a:t> </a:t>
            </a:r>
            <a:r>
              <a:rPr lang="de-DE" baseline="0" dirty="0" err="1"/>
              <a:t>this</a:t>
            </a:r>
            <a:r>
              <a:rPr lang="de-DE" baseline="0" dirty="0"/>
              <a:t> </a:t>
            </a:r>
            <a:r>
              <a:rPr lang="de-DE" baseline="0" dirty="0" err="1"/>
              <a:t>project</a:t>
            </a:r>
            <a:r>
              <a:rPr lang="de-DE" baseline="0" dirty="0"/>
              <a:t>, </a:t>
            </a:r>
            <a:r>
              <a:rPr lang="de-DE" baseline="0" dirty="0" err="1"/>
              <a:t>we</a:t>
            </a:r>
            <a:r>
              <a:rPr lang="de-DE" baseline="0" dirty="0"/>
              <a:t> </a:t>
            </a:r>
            <a:r>
              <a:rPr lang="de-DE" baseline="0" dirty="0" err="1"/>
              <a:t>want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tackle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physical</a:t>
            </a:r>
            <a:r>
              <a:rPr lang="de-DE" baseline="0" dirty="0"/>
              <a:t> </a:t>
            </a:r>
            <a:r>
              <a:rPr lang="de-DE" baseline="0" dirty="0" err="1"/>
              <a:t>layer</a:t>
            </a:r>
            <a:r>
              <a:rPr lang="de-DE" baseline="0" dirty="0"/>
              <a:t>, </a:t>
            </a:r>
            <a:r>
              <a:rPr lang="de-DE" baseline="0" dirty="0" err="1"/>
              <a:t>enabled</a:t>
            </a:r>
            <a:r>
              <a:rPr lang="de-DE" baseline="0" dirty="0"/>
              <a:t> </a:t>
            </a:r>
            <a:r>
              <a:rPr lang="de-DE" baseline="0" dirty="0" err="1"/>
              <a:t>by</a:t>
            </a:r>
            <a:r>
              <a:rPr lang="de-DE" baseline="0" dirty="0"/>
              <a:t> </a:t>
            </a:r>
            <a:r>
              <a:rPr lang="de-DE" baseline="0" dirty="0" err="1"/>
              <a:t>emerging</a:t>
            </a:r>
            <a:r>
              <a:rPr lang="de-DE" baseline="0" dirty="0"/>
              <a:t> </a:t>
            </a:r>
            <a:r>
              <a:rPr lang="de-DE" baseline="0" dirty="0" err="1"/>
              <a:t>optical</a:t>
            </a:r>
            <a:r>
              <a:rPr lang="de-DE" baseline="0" dirty="0"/>
              <a:t> </a:t>
            </a:r>
            <a:r>
              <a:rPr lang="de-DE" baseline="0" dirty="0" err="1"/>
              <a:t>technologies</a:t>
            </a:r>
            <a:r>
              <a:rPr lang="de-DE" baseline="0" dirty="0"/>
              <a:t>.</a:t>
            </a:r>
            <a:endParaRPr dirty="0"/>
          </a:p>
        </p:txBody>
      </p:sp>
      <p:sp>
        <p:nvSpPr>
          <p:cNvPr id="1924" name="Google Shape;1924;g60be7dcf1c_0_8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84413167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6" name="Google Shape;1476;g60be7dcf1c_0_3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 err="1"/>
              <a:t>My</a:t>
            </a:r>
            <a:r>
              <a:rPr lang="de-DE" baseline="0" dirty="0"/>
              <a:t> </a:t>
            </a:r>
            <a:r>
              <a:rPr lang="de-DE" baseline="0" dirty="0" err="1"/>
              <a:t>motivation</a:t>
            </a:r>
            <a:r>
              <a:rPr lang="de-DE" baseline="0" dirty="0"/>
              <a:t> </a:t>
            </a:r>
            <a:r>
              <a:rPr lang="de-DE" baseline="0" dirty="0" err="1"/>
              <a:t>for</a:t>
            </a:r>
            <a:r>
              <a:rPr lang="de-DE" baseline="0" dirty="0"/>
              <a:t> </a:t>
            </a:r>
            <a:r>
              <a:rPr lang="de-DE" baseline="0" dirty="0" err="1"/>
              <a:t>this</a:t>
            </a:r>
            <a:r>
              <a:rPr lang="de-DE" baseline="0" dirty="0"/>
              <a:t> </a:t>
            </a:r>
            <a:r>
              <a:rPr lang="de-DE" baseline="0" dirty="0" err="1"/>
              <a:t>project</a:t>
            </a:r>
            <a:r>
              <a:rPr lang="de-DE" baseline="0" dirty="0"/>
              <a:t> </a:t>
            </a:r>
            <a:r>
              <a:rPr lang="de-DE" baseline="0" dirty="0" err="1"/>
              <a:t>is</a:t>
            </a:r>
            <a:r>
              <a:rPr lang="de-DE" baseline="0" dirty="0"/>
              <a:t> </a:t>
            </a:r>
            <a:r>
              <a:rPr lang="de-DE" baseline="0" dirty="0" err="1"/>
              <a:t>that</a:t>
            </a:r>
            <a:r>
              <a:rPr lang="de-DE" baseline="0" dirty="0"/>
              <a:t> </a:t>
            </a:r>
            <a:r>
              <a:rPr lang="de-DE" baseline="0" dirty="0" err="1"/>
              <a:t>there</a:t>
            </a:r>
            <a:r>
              <a:rPr lang="de-DE" baseline="0" dirty="0"/>
              <a:t> </a:t>
            </a:r>
            <a:r>
              <a:rPr lang="de-DE" baseline="0" dirty="0" err="1"/>
              <a:t>is</a:t>
            </a:r>
            <a:r>
              <a:rPr lang="de-DE" baseline="0" dirty="0"/>
              <a:t> </a:t>
            </a:r>
            <a:r>
              <a:rPr lang="de-DE" baseline="0" dirty="0" err="1"/>
              <a:t>much</a:t>
            </a:r>
            <a:r>
              <a:rPr lang="de-DE" baseline="0" dirty="0"/>
              <a:t> </a:t>
            </a:r>
            <a:r>
              <a:rPr lang="de-DE" baseline="0" dirty="0" err="1"/>
              <a:t>structure</a:t>
            </a:r>
            <a:r>
              <a:rPr lang="de-DE" baseline="0" dirty="0"/>
              <a:t> in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demand</a:t>
            </a:r>
            <a:r>
              <a:rPr lang="de-DE" baseline="0" dirty="0"/>
              <a:t> </a:t>
            </a:r>
            <a:r>
              <a:rPr lang="de-DE" baseline="0" dirty="0" err="1"/>
              <a:t>indeed</a:t>
            </a:r>
            <a:r>
              <a:rPr lang="de-DE" baseline="0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 err="1"/>
              <a:t>Empirical</a:t>
            </a:r>
            <a:r>
              <a:rPr lang="de-DE" baseline="0" dirty="0"/>
              <a:t> </a:t>
            </a:r>
            <a:r>
              <a:rPr lang="de-DE" baseline="0" dirty="0" err="1"/>
              <a:t>studies</a:t>
            </a:r>
            <a:r>
              <a:rPr lang="de-DE" baseline="0" dirty="0"/>
              <a:t> </a:t>
            </a:r>
            <a:r>
              <a:rPr lang="de-DE" baseline="0" dirty="0" err="1"/>
              <a:t>show</a:t>
            </a:r>
            <a:r>
              <a:rPr lang="de-DE" baseline="0" dirty="0"/>
              <a:t> </a:t>
            </a:r>
            <a:r>
              <a:rPr lang="de-DE" baseline="0" dirty="0" err="1"/>
              <a:t>that</a:t>
            </a:r>
            <a:r>
              <a:rPr lang="de-DE" baseline="0" dirty="0"/>
              <a:t> </a:t>
            </a:r>
            <a:r>
              <a:rPr lang="de-DE" baseline="0" dirty="0" err="1"/>
              <a:t>traffic</a:t>
            </a:r>
            <a:r>
              <a:rPr lang="de-DE" baseline="0" dirty="0"/>
              <a:t> </a:t>
            </a:r>
            <a:r>
              <a:rPr lang="de-DE" baseline="0" dirty="0" err="1"/>
              <a:t>matrices</a:t>
            </a:r>
            <a:r>
              <a:rPr lang="de-DE" baseline="0" dirty="0"/>
              <a:t> </a:t>
            </a:r>
            <a:r>
              <a:rPr lang="de-DE" baseline="0" dirty="0" err="1"/>
              <a:t>are</a:t>
            </a:r>
            <a:r>
              <a:rPr lang="de-DE" baseline="0" dirty="0"/>
              <a:t> </a:t>
            </a:r>
            <a:r>
              <a:rPr lang="de-DE" baseline="0" dirty="0" err="1"/>
              <a:t>sparse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skewed</a:t>
            </a:r>
            <a:r>
              <a:rPr lang="de-DE" baseline="0" dirty="0"/>
              <a:t>,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traffic</a:t>
            </a:r>
            <a:r>
              <a:rPr lang="de-DE" baseline="0" dirty="0"/>
              <a:t> </a:t>
            </a:r>
            <a:r>
              <a:rPr lang="de-DE" baseline="0" dirty="0" err="1"/>
              <a:t>bursty</a:t>
            </a:r>
            <a:r>
              <a:rPr lang="de-DE" baseline="0" dirty="0"/>
              <a:t> </a:t>
            </a:r>
            <a:r>
              <a:rPr lang="de-DE" baseline="0" dirty="0" err="1"/>
              <a:t>over</a:t>
            </a:r>
            <a:r>
              <a:rPr lang="de-DE" baseline="0" dirty="0"/>
              <a:t> time.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 err="1"/>
              <a:t>My</a:t>
            </a:r>
            <a:r>
              <a:rPr lang="de-DE" baseline="0" dirty="0"/>
              <a:t> </a:t>
            </a:r>
            <a:r>
              <a:rPr lang="de-DE" baseline="0" dirty="0" err="1"/>
              <a:t>hypothesis</a:t>
            </a:r>
            <a:r>
              <a:rPr lang="de-DE" baseline="0" dirty="0"/>
              <a:t> </a:t>
            </a:r>
            <a:r>
              <a:rPr lang="de-DE" baseline="0" dirty="0" err="1"/>
              <a:t>is</a:t>
            </a:r>
            <a:r>
              <a:rPr lang="de-DE" baseline="0" dirty="0"/>
              <a:t> </a:t>
            </a:r>
            <a:r>
              <a:rPr lang="de-DE" baseline="0" dirty="0" err="1"/>
              <a:t>that</a:t>
            </a:r>
            <a:r>
              <a:rPr lang="de-DE" baseline="0" dirty="0"/>
              <a:t> </a:t>
            </a:r>
            <a:r>
              <a:rPr lang="de-DE" baseline="0" dirty="0" err="1"/>
              <a:t>this</a:t>
            </a:r>
            <a:r>
              <a:rPr lang="de-DE" baseline="0" dirty="0"/>
              <a:t> </a:t>
            </a:r>
            <a:r>
              <a:rPr lang="de-DE" baseline="0" dirty="0" err="1"/>
              <a:t>can</a:t>
            </a:r>
            <a:r>
              <a:rPr lang="de-DE" baseline="0" dirty="0"/>
              <a:t> </a:t>
            </a:r>
            <a:r>
              <a:rPr lang="de-DE" baseline="0" dirty="0" err="1"/>
              <a:t>be</a:t>
            </a:r>
            <a:r>
              <a:rPr lang="de-DE" baseline="0" dirty="0"/>
              <a:t> </a:t>
            </a:r>
            <a:r>
              <a:rPr lang="de-DE" baseline="0" dirty="0" err="1"/>
              <a:t>exploited</a:t>
            </a:r>
            <a:r>
              <a:rPr lang="de-DE" baseline="0" dirty="0"/>
              <a:t>.</a:t>
            </a:r>
            <a:endParaRPr dirty="0"/>
          </a:p>
        </p:txBody>
      </p:sp>
      <p:sp>
        <p:nvSpPr>
          <p:cNvPr id="1477" name="Google Shape;1477;g60be7dcf1c_0_3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05044512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8">
          <a:extLst>
            <a:ext uri="{FF2B5EF4-FFF2-40B4-BE49-F238E27FC236}">
              <a16:creationId xmlns:a16="http://schemas.microsoft.com/office/drawing/2014/main" id="{3D69BF19-1EA7-76C2-5E21-E806928B2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" name="Google Shape;1679;g60be7dcf1c_0_579:notes">
            <a:extLst>
              <a:ext uri="{FF2B5EF4-FFF2-40B4-BE49-F238E27FC236}">
                <a16:creationId xmlns:a16="http://schemas.microsoft.com/office/drawing/2014/main" id="{E5BBFCFC-56F2-73E0-2536-A43BCDC88C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believe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an </a:t>
            </a:r>
            <a:r>
              <a:rPr lang="de-DE" dirty="0" err="1"/>
              <a:t>information-theoretic</a:t>
            </a:r>
            <a:r>
              <a:rPr lang="de-DE" baseline="0" dirty="0"/>
              <a:t> </a:t>
            </a:r>
            <a:r>
              <a:rPr lang="de-DE" baseline="0" dirty="0" err="1"/>
              <a:t>approach</a:t>
            </a:r>
            <a:r>
              <a:rPr lang="de-DE" baseline="0" dirty="0"/>
              <a:t> </a:t>
            </a:r>
            <a:r>
              <a:rPr lang="de-DE" baseline="0" dirty="0" err="1"/>
              <a:t>can</a:t>
            </a:r>
            <a:r>
              <a:rPr lang="de-DE" baseline="0" dirty="0"/>
              <a:t> </a:t>
            </a:r>
            <a:r>
              <a:rPr lang="de-DE" baseline="0" dirty="0" err="1"/>
              <a:t>provide</a:t>
            </a:r>
            <a:r>
              <a:rPr lang="de-DE" baseline="0" dirty="0"/>
              <a:t> </a:t>
            </a:r>
            <a:r>
              <a:rPr lang="de-DE" baseline="0" dirty="0" err="1"/>
              <a:t>interesting</a:t>
            </a:r>
            <a:r>
              <a:rPr lang="de-DE" baseline="0" dirty="0"/>
              <a:t> </a:t>
            </a:r>
            <a:r>
              <a:rPr lang="de-DE" baseline="0" dirty="0" err="1"/>
              <a:t>insights</a:t>
            </a:r>
            <a:r>
              <a:rPr lang="de-DE" baseline="0" dirty="0"/>
              <a:t> </a:t>
            </a:r>
            <a:r>
              <a:rPr lang="de-DE" baseline="0" dirty="0" err="1"/>
              <a:t>here</a:t>
            </a:r>
            <a:r>
              <a:rPr lang="de-DE" baseline="0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/>
              <a:t>As a </a:t>
            </a:r>
            <a:r>
              <a:rPr lang="de-DE" baseline="0" dirty="0" err="1"/>
              <a:t>first</a:t>
            </a:r>
            <a:r>
              <a:rPr lang="de-DE" baseline="0" dirty="0"/>
              <a:t> </a:t>
            </a:r>
            <a:r>
              <a:rPr lang="de-DE" baseline="0" dirty="0" err="1"/>
              <a:t>approach</a:t>
            </a:r>
            <a:r>
              <a:rPr lang="de-DE" baseline="0" dirty="0"/>
              <a:t>, </a:t>
            </a:r>
            <a:r>
              <a:rPr lang="de-DE" baseline="0" dirty="0" err="1"/>
              <a:t>we</a:t>
            </a:r>
            <a:r>
              <a:rPr lang="de-DE" baseline="0" dirty="0"/>
              <a:t> </a:t>
            </a:r>
            <a:r>
              <a:rPr lang="de-DE" baseline="0" dirty="0" err="1"/>
              <a:t>have</a:t>
            </a:r>
            <a:r>
              <a:rPr lang="de-DE" baseline="0" dirty="0"/>
              <a:t> </a:t>
            </a:r>
            <a:r>
              <a:rPr lang="de-DE" baseline="0" dirty="0" err="1"/>
              <a:t>used</a:t>
            </a:r>
            <a:r>
              <a:rPr lang="de-DE" baseline="0" dirty="0"/>
              <a:t> iterative </a:t>
            </a:r>
            <a:r>
              <a:rPr lang="de-DE" baseline="0" dirty="0" err="1"/>
              <a:t>randomization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compression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identify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different </a:t>
            </a:r>
            <a:r>
              <a:rPr lang="de-DE" baseline="0" dirty="0" err="1"/>
              <a:t>dimensions</a:t>
            </a:r>
            <a:r>
              <a:rPr lang="de-DE" baseline="0" dirty="0"/>
              <a:t> </a:t>
            </a:r>
            <a:r>
              <a:rPr lang="de-DE" baseline="0" dirty="0" err="1"/>
              <a:t>of</a:t>
            </a:r>
            <a:r>
              <a:rPr lang="de-DE" baseline="0" dirty="0"/>
              <a:t> </a:t>
            </a:r>
            <a:r>
              <a:rPr lang="de-DE" baseline="0" dirty="0" err="1"/>
              <a:t>structure</a:t>
            </a:r>
            <a:r>
              <a:rPr lang="de-DE" baseline="0" dirty="0"/>
              <a:t>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/>
              <a:t>The </a:t>
            </a:r>
            <a:r>
              <a:rPr lang="de-DE" baseline="0" dirty="0" err="1"/>
              <a:t>resulting</a:t>
            </a:r>
            <a:r>
              <a:rPr lang="de-DE" baseline="0" dirty="0"/>
              <a:t> </a:t>
            </a:r>
            <a:r>
              <a:rPr lang="de-DE" baseline="0" dirty="0" err="1"/>
              <a:t>complexity</a:t>
            </a:r>
            <a:r>
              <a:rPr lang="de-DE" baseline="0" dirty="0"/>
              <a:t> </a:t>
            </a:r>
            <a:r>
              <a:rPr lang="de-DE" baseline="0" dirty="0" err="1"/>
              <a:t>map</a:t>
            </a:r>
            <a:r>
              <a:rPr lang="de-DE" baseline="0" dirty="0"/>
              <a:t> </a:t>
            </a:r>
            <a:r>
              <a:rPr lang="de-DE" baseline="0" dirty="0" err="1"/>
              <a:t>looks</a:t>
            </a:r>
            <a:r>
              <a:rPr lang="de-DE" baseline="0" dirty="0"/>
              <a:t> like </a:t>
            </a:r>
            <a:r>
              <a:rPr lang="de-DE" baseline="0" dirty="0" err="1"/>
              <a:t>this</a:t>
            </a:r>
            <a:r>
              <a:rPr lang="de-DE" baseline="0" dirty="0"/>
              <a:t>: On </a:t>
            </a:r>
            <a:r>
              <a:rPr lang="de-DE" baseline="0" dirty="0" err="1"/>
              <a:t>the</a:t>
            </a:r>
            <a:r>
              <a:rPr lang="de-DE" baseline="0" dirty="0"/>
              <a:t> x-</a:t>
            </a:r>
            <a:r>
              <a:rPr lang="de-DE" baseline="0" dirty="0" err="1"/>
              <a:t>axis</a:t>
            </a:r>
            <a:r>
              <a:rPr lang="de-DE" baseline="0" dirty="0"/>
              <a:t>, </a:t>
            </a:r>
            <a:r>
              <a:rPr lang="de-DE" baseline="0" dirty="0" err="1"/>
              <a:t>there</a:t>
            </a:r>
            <a:r>
              <a:rPr lang="de-DE" baseline="0" dirty="0"/>
              <a:t> </a:t>
            </a:r>
            <a:r>
              <a:rPr lang="de-DE" baseline="0" dirty="0" err="1"/>
              <a:t>is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temporal </a:t>
            </a:r>
            <a:r>
              <a:rPr lang="de-DE" baseline="0" dirty="0" err="1"/>
              <a:t>complexity</a:t>
            </a:r>
            <a:r>
              <a:rPr lang="de-DE" baseline="0" dirty="0"/>
              <a:t>, on </a:t>
            </a:r>
            <a:r>
              <a:rPr lang="de-DE" baseline="0" dirty="0" err="1"/>
              <a:t>the</a:t>
            </a:r>
            <a:r>
              <a:rPr lang="de-DE" baseline="0" dirty="0"/>
              <a:t> y-</a:t>
            </a:r>
            <a:r>
              <a:rPr lang="de-DE" baseline="0" dirty="0" err="1"/>
              <a:t>axis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non-temporal. </a:t>
            </a:r>
            <a:r>
              <a:rPr lang="de-DE" baseline="0" dirty="0" err="1"/>
              <a:t>Workloads</a:t>
            </a:r>
            <a:r>
              <a:rPr lang="de-DE" baseline="0" dirty="0"/>
              <a:t> </a:t>
            </a:r>
            <a:r>
              <a:rPr lang="de-DE" baseline="0" dirty="0" err="1"/>
              <a:t>without</a:t>
            </a:r>
            <a:r>
              <a:rPr lang="de-DE" baseline="0" dirty="0"/>
              <a:t> </a:t>
            </a:r>
            <a:r>
              <a:rPr lang="de-DE" baseline="0" dirty="0" err="1"/>
              <a:t>any</a:t>
            </a:r>
            <a:r>
              <a:rPr lang="de-DE" baseline="0" dirty="0"/>
              <a:t> </a:t>
            </a:r>
            <a:r>
              <a:rPr lang="de-DE" baseline="0" dirty="0" err="1"/>
              <a:t>structure</a:t>
            </a:r>
            <a:r>
              <a:rPr lang="de-DE" baseline="0" dirty="0"/>
              <a:t> end </a:t>
            </a:r>
            <a:r>
              <a:rPr lang="de-DE" baseline="0" dirty="0" err="1"/>
              <a:t>up</a:t>
            </a:r>
            <a:r>
              <a:rPr lang="de-DE" baseline="0" dirty="0"/>
              <a:t> on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upper</a:t>
            </a:r>
            <a:r>
              <a:rPr lang="de-DE" baseline="0" dirty="0"/>
              <a:t> </a:t>
            </a:r>
            <a:r>
              <a:rPr lang="de-DE" baseline="0" dirty="0" err="1"/>
              <a:t>right</a:t>
            </a:r>
            <a:r>
              <a:rPr lang="de-DE" baseline="0" dirty="0"/>
              <a:t>.</a:t>
            </a:r>
            <a:endParaRPr dirty="0"/>
          </a:p>
        </p:txBody>
      </p:sp>
      <p:sp>
        <p:nvSpPr>
          <p:cNvPr id="1680" name="Google Shape;1680;g60be7dcf1c_0_579:notes">
            <a:extLst>
              <a:ext uri="{FF2B5EF4-FFF2-40B4-BE49-F238E27FC236}">
                <a16:creationId xmlns:a16="http://schemas.microsoft.com/office/drawing/2014/main" id="{5D784590-4084-0FD6-2234-F32E80248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76522799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8">
          <a:extLst>
            <a:ext uri="{FF2B5EF4-FFF2-40B4-BE49-F238E27FC236}">
              <a16:creationId xmlns:a16="http://schemas.microsoft.com/office/drawing/2014/main" id="{BD915B95-4CFA-C3C4-2DE7-D8532D5B5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" name="Google Shape;1679;g60be7dcf1c_0_579:notes">
            <a:extLst>
              <a:ext uri="{FF2B5EF4-FFF2-40B4-BE49-F238E27FC236}">
                <a16:creationId xmlns:a16="http://schemas.microsoft.com/office/drawing/2014/main" id="{51547DD9-29FD-2A05-444B-EDC404F657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believe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an </a:t>
            </a:r>
            <a:r>
              <a:rPr lang="de-DE" dirty="0" err="1"/>
              <a:t>information-theoretic</a:t>
            </a:r>
            <a:r>
              <a:rPr lang="de-DE" baseline="0" dirty="0"/>
              <a:t> </a:t>
            </a:r>
            <a:r>
              <a:rPr lang="de-DE" baseline="0" dirty="0" err="1"/>
              <a:t>approach</a:t>
            </a:r>
            <a:r>
              <a:rPr lang="de-DE" baseline="0" dirty="0"/>
              <a:t> </a:t>
            </a:r>
            <a:r>
              <a:rPr lang="de-DE" baseline="0" dirty="0" err="1"/>
              <a:t>can</a:t>
            </a:r>
            <a:r>
              <a:rPr lang="de-DE" baseline="0" dirty="0"/>
              <a:t> </a:t>
            </a:r>
            <a:r>
              <a:rPr lang="de-DE" baseline="0" dirty="0" err="1"/>
              <a:t>provide</a:t>
            </a:r>
            <a:r>
              <a:rPr lang="de-DE" baseline="0" dirty="0"/>
              <a:t> </a:t>
            </a:r>
            <a:r>
              <a:rPr lang="de-DE" baseline="0" dirty="0" err="1"/>
              <a:t>interesting</a:t>
            </a:r>
            <a:r>
              <a:rPr lang="de-DE" baseline="0" dirty="0"/>
              <a:t> </a:t>
            </a:r>
            <a:r>
              <a:rPr lang="de-DE" baseline="0" dirty="0" err="1"/>
              <a:t>insights</a:t>
            </a:r>
            <a:r>
              <a:rPr lang="de-DE" baseline="0" dirty="0"/>
              <a:t> </a:t>
            </a:r>
            <a:r>
              <a:rPr lang="de-DE" baseline="0" dirty="0" err="1"/>
              <a:t>here</a:t>
            </a:r>
            <a:r>
              <a:rPr lang="de-DE" baseline="0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/>
              <a:t>As a </a:t>
            </a:r>
            <a:r>
              <a:rPr lang="de-DE" baseline="0" dirty="0" err="1"/>
              <a:t>first</a:t>
            </a:r>
            <a:r>
              <a:rPr lang="de-DE" baseline="0" dirty="0"/>
              <a:t> </a:t>
            </a:r>
            <a:r>
              <a:rPr lang="de-DE" baseline="0" dirty="0" err="1"/>
              <a:t>approach</a:t>
            </a:r>
            <a:r>
              <a:rPr lang="de-DE" baseline="0" dirty="0"/>
              <a:t>, </a:t>
            </a:r>
            <a:r>
              <a:rPr lang="de-DE" baseline="0" dirty="0" err="1"/>
              <a:t>we</a:t>
            </a:r>
            <a:r>
              <a:rPr lang="de-DE" baseline="0" dirty="0"/>
              <a:t> </a:t>
            </a:r>
            <a:r>
              <a:rPr lang="de-DE" baseline="0" dirty="0" err="1"/>
              <a:t>have</a:t>
            </a:r>
            <a:r>
              <a:rPr lang="de-DE" baseline="0" dirty="0"/>
              <a:t> </a:t>
            </a:r>
            <a:r>
              <a:rPr lang="de-DE" baseline="0" dirty="0" err="1"/>
              <a:t>used</a:t>
            </a:r>
            <a:r>
              <a:rPr lang="de-DE" baseline="0" dirty="0"/>
              <a:t> iterative </a:t>
            </a:r>
            <a:r>
              <a:rPr lang="de-DE" baseline="0" dirty="0" err="1"/>
              <a:t>randomization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compression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identify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different </a:t>
            </a:r>
            <a:r>
              <a:rPr lang="de-DE" baseline="0" dirty="0" err="1"/>
              <a:t>dimensions</a:t>
            </a:r>
            <a:r>
              <a:rPr lang="de-DE" baseline="0" dirty="0"/>
              <a:t> </a:t>
            </a:r>
            <a:r>
              <a:rPr lang="de-DE" baseline="0" dirty="0" err="1"/>
              <a:t>of</a:t>
            </a:r>
            <a:r>
              <a:rPr lang="de-DE" baseline="0" dirty="0"/>
              <a:t> </a:t>
            </a:r>
            <a:r>
              <a:rPr lang="de-DE" baseline="0" dirty="0" err="1"/>
              <a:t>structure</a:t>
            </a:r>
            <a:r>
              <a:rPr lang="de-DE" baseline="0" dirty="0"/>
              <a:t>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/>
              <a:t>The </a:t>
            </a:r>
            <a:r>
              <a:rPr lang="de-DE" baseline="0" dirty="0" err="1"/>
              <a:t>resulting</a:t>
            </a:r>
            <a:r>
              <a:rPr lang="de-DE" baseline="0" dirty="0"/>
              <a:t> </a:t>
            </a:r>
            <a:r>
              <a:rPr lang="de-DE" baseline="0" dirty="0" err="1"/>
              <a:t>complexity</a:t>
            </a:r>
            <a:r>
              <a:rPr lang="de-DE" baseline="0" dirty="0"/>
              <a:t> </a:t>
            </a:r>
            <a:r>
              <a:rPr lang="de-DE" baseline="0" dirty="0" err="1"/>
              <a:t>map</a:t>
            </a:r>
            <a:r>
              <a:rPr lang="de-DE" baseline="0" dirty="0"/>
              <a:t> </a:t>
            </a:r>
            <a:r>
              <a:rPr lang="de-DE" baseline="0" dirty="0" err="1"/>
              <a:t>looks</a:t>
            </a:r>
            <a:r>
              <a:rPr lang="de-DE" baseline="0" dirty="0"/>
              <a:t> like </a:t>
            </a:r>
            <a:r>
              <a:rPr lang="de-DE" baseline="0" dirty="0" err="1"/>
              <a:t>this</a:t>
            </a:r>
            <a:r>
              <a:rPr lang="de-DE" baseline="0" dirty="0"/>
              <a:t>: On </a:t>
            </a:r>
            <a:r>
              <a:rPr lang="de-DE" baseline="0" dirty="0" err="1"/>
              <a:t>the</a:t>
            </a:r>
            <a:r>
              <a:rPr lang="de-DE" baseline="0" dirty="0"/>
              <a:t> x-</a:t>
            </a:r>
            <a:r>
              <a:rPr lang="de-DE" baseline="0" dirty="0" err="1"/>
              <a:t>axis</a:t>
            </a:r>
            <a:r>
              <a:rPr lang="de-DE" baseline="0" dirty="0"/>
              <a:t>, </a:t>
            </a:r>
            <a:r>
              <a:rPr lang="de-DE" baseline="0" dirty="0" err="1"/>
              <a:t>there</a:t>
            </a:r>
            <a:r>
              <a:rPr lang="de-DE" baseline="0" dirty="0"/>
              <a:t> </a:t>
            </a:r>
            <a:r>
              <a:rPr lang="de-DE" baseline="0" dirty="0" err="1"/>
              <a:t>is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temporal </a:t>
            </a:r>
            <a:r>
              <a:rPr lang="de-DE" baseline="0" dirty="0" err="1"/>
              <a:t>complexity</a:t>
            </a:r>
            <a:r>
              <a:rPr lang="de-DE" baseline="0" dirty="0"/>
              <a:t>, on </a:t>
            </a:r>
            <a:r>
              <a:rPr lang="de-DE" baseline="0" dirty="0" err="1"/>
              <a:t>the</a:t>
            </a:r>
            <a:r>
              <a:rPr lang="de-DE" baseline="0" dirty="0"/>
              <a:t> y-</a:t>
            </a:r>
            <a:r>
              <a:rPr lang="de-DE" baseline="0" dirty="0" err="1"/>
              <a:t>axis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non-temporal. </a:t>
            </a:r>
            <a:r>
              <a:rPr lang="de-DE" baseline="0" dirty="0" err="1"/>
              <a:t>Workloads</a:t>
            </a:r>
            <a:r>
              <a:rPr lang="de-DE" baseline="0" dirty="0"/>
              <a:t> </a:t>
            </a:r>
            <a:r>
              <a:rPr lang="de-DE" baseline="0" dirty="0" err="1"/>
              <a:t>without</a:t>
            </a:r>
            <a:r>
              <a:rPr lang="de-DE" baseline="0" dirty="0"/>
              <a:t> </a:t>
            </a:r>
            <a:r>
              <a:rPr lang="de-DE" baseline="0" dirty="0" err="1"/>
              <a:t>any</a:t>
            </a:r>
            <a:r>
              <a:rPr lang="de-DE" baseline="0" dirty="0"/>
              <a:t> </a:t>
            </a:r>
            <a:r>
              <a:rPr lang="de-DE" baseline="0" dirty="0" err="1"/>
              <a:t>structure</a:t>
            </a:r>
            <a:r>
              <a:rPr lang="de-DE" baseline="0" dirty="0"/>
              <a:t> end </a:t>
            </a:r>
            <a:r>
              <a:rPr lang="de-DE" baseline="0" dirty="0" err="1"/>
              <a:t>up</a:t>
            </a:r>
            <a:r>
              <a:rPr lang="de-DE" baseline="0" dirty="0"/>
              <a:t> on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upper</a:t>
            </a:r>
            <a:r>
              <a:rPr lang="de-DE" baseline="0" dirty="0"/>
              <a:t> </a:t>
            </a:r>
            <a:r>
              <a:rPr lang="de-DE" baseline="0" dirty="0" err="1"/>
              <a:t>right</a:t>
            </a:r>
            <a:r>
              <a:rPr lang="de-DE" baseline="0" dirty="0"/>
              <a:t>.</a:t>
            </a:r>
            <a:endParaRPr dirty="0"/>
          </a:p>
        </p:txBody>
      </p:sp>
      <p:sp>
        <p:nvSpPr>
          <p:cNvPr id="1680" name="Google Shape;1680;g60be7dcf1c_0_579:notes">
            <a:extLst>
              <a:ext uri="{FF2B5EF4-FFF2-40B4-BE49-F238E27FC236}">
                <a16:creationId xmlns:a16="http://schemas.microsoft.com/office/drawing/2014/main" id="{0DF8DB68-9BC6-940A-7963-36AC996C7A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52509116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3">
          <a:extLst>
            <a:ext uri="{FF2B5EF4-FFF2-40B4-BE49-F238E27FC236}">
              <a16:creationId xmlns:a16="http://schemas.microsoft.com/office/drawing/2014/main" id="{78863D4C-7A77-4ED2-0ED6-50A481A3D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4" name="Google Shape;1704;g60be7dcf1c_0_603:notes">
            <a:extLst>
              <a:ext uri="{FF2B5EF4-FFF2-40B4-BE49-F238E27FC236}">
                <a16:creationId xmlns:a16="http://schemas.microsoft.com/office/drawing/2014/main" id="{2FAE60EB-ACB6-3834-136F-EE9B3BC003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 err="1"/>
              <a:t>When</a:t>
            </a:r>
            <a:r>
              <a:rPr lang="de-DE" dirty="0"/>
              <a:t> </a:t>
            </a:r>
            <a:r>
              <a:rPr lang="de-DE" dirty="0" err="1"/>
              <a:t>mapping</a:t>
            </a:r>
            <a:r>
              <a:rPr lang="de-DE" dirty="0"/>
              <a:t> different </a:t>
            </a:r>
            <a:r>
              <a:rPr lang="de-DE" dirty="0" err="1"/>
              <a:t>applications</a:t>
            </a:r>
            <a:r>
              <a:rPr lang="de-DE" dirty="0"/>
              <a:t>,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see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they</a:t>
            </a:r>
            <a:r>
              <a:rPr lang="de-DE" dirty="0"/>
              <a:t> end </a:t>
            </a:r>
            <a:r>
              <a:rPr lang="de-DE" dirty="0" err="1"/>
              <a:t>up</a:t>
            </a:r>
            <a:r>
              <a:rPr lang="de-DE" dirty="0"/>
              <a:t> at different </a:t>
            </a:r>
            <a:r>
              <a:rPr lang="de-DE" dirty="0" err="1"/>
              <a:t>locations</a:t>
            </a:r>
            <a:r>
              <a:rPr lang="de-DE" dirty="0"/>
              <a:t>: </a:t>
            </a:r>
            <a:r>
              <a:rPr lang="de-DE" dirty="0" err="1"/>
              <a:t>they</a:t>
            </a:r>
            <a:r>
              <a:rPr lang="de-DE" dirty="0"/>
              <a:t> </a:t>
            </a:r>
            <a:r>
              <a:rPr lang="de-DE" dirty="0" err="1"/>
              <a:t>have</a:t>
            </a:r>
            <a:r>
              <a:rPr lang="de-DE" dirty="0"/>
              <a:t> different </a:t>
            </a:r>
            <a:r>
              <a:rPr lang="de-DE" dirty="0" err="1"/>
              <a:t>amounts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temporal </a:t>
            </a:r>
            <a:r>
              <a:rPr lang="de-DE" dirty="0" err="1"/>
              <a:t>and</a:t>
            </a:r>
            <a:r>
              <a:rPr lang="de-DE" dirty="0"/>
              <a:t> non-temporal </a:t>
            </a:r>
            <a:r>
              <a:rPr lang="de-DE" dirty="0" err="1"/>
              <a:t>structures</a:t>
            </a:r>
            <a:r>
              <a:rPr lang="de-DE" dirty="0"/>
              <a:t>.</a:t>
            </a:r>
            <a:endParaRPr dirty="0"/>
          </a:p>
        </p:txBody>
      </p:sp>
      <p:sp>
        <p:nvSpPr>
          <p:cNvPr id="1705" name="Google Shape;1705;g60be7dcf1c_0_603:notes">
            <a:extLst>
              <a:ext uri="{FF2B5EF4-FFF2-40B4-BE49-F238E27FC236}">
                <a16:creationId xmlns:a16="http://schemas.microsoft.com/office/drawing/2014/main" id="{5B67217F-5382-BB6E-8B67-1953E44C6B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02230804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3">
          <a:extLst>
            <a:ext uri="{FF2B5EF4-FFF2-40B4-BE49-F238E27FC236}">
              <a16:creationId xmlns:a16="http://schemas.microsoft.com/office/drawing/2014/main" id="{8953CF1D-78D3-C38B-AB91-C37781E9F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4" name="Google Shape;1704;g60be7dcf1c_0_603:notes">
            <a:extLst>
              <a:ext uri="{FF2B5EF4-FFF2-40B4-BE49-F238E27FC236}">
                <a16:creationId xmlns:a16="http://schemas.microsoft.com/office/drawing/2014/main" id="{190B6B85-E09F-EA81-E3CF-8083C98E16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 err="1"/>
              <a:t>When</a:t>
            </a:r>
            <a:r>
              <a:rPr lang="de-DE" dirty="0"/>
              <a:t> </a:t>
            </a:r>
            <a:r>
              <a:rPr lang="de-DE" dirty="0" err="1"/>
              <a:t>mapping</a:t>
            </a:r>
            <a:r>
              <a:rPr lang="de-DE" dirty="0"/>
              <a:t> different </a:t>
            </a:r>
            <a:r>
              <a:rPr lang="de-DE" dirty="0" err="1"/>
              <a:t>applications</a:t>
            </a:r>
            <a:r>
              <a:rPr lang="de-DE" dirty="0"/>
              <a:t>,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see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they</a:t>
            </a:r>
            <a:r>
              <a:rPr lang="de-DE" dirty="0"/>
              <a:t> end </a:t>
            </a:r>
            <a:r>
              <a:rPr lang="de-DE" dirty="0" err="1"/>
              <a:t>up</a:t>
            </a:r>
            <a:r>
              <a:rPr lang="de-DE" dirty="0"/>
              <a:t> at different </a:t>
            </a:r>
            <a:r>
              <a:rPr lang="de-DE" dirty="0" err="1"/>
              <a:t>locations</a:t>
            </a:r>
            <a:r>
              <a:rPr lang="de-DE" dirty="0"/>
              <a:t>: </a:t>
            </a:r>
            <a:r>
              <a:rPr lang="de-DE" dirty="0" err="1"/>
              <a:t>they</a:t>
            </a:r>
            <a:r>
              <a:rPr lang="de-DE" dirty="0"/>
              <a:t> </a:t>
            </a:r>
            <a:r>
              <a:rPr lang="de-DE" dirty="0" err="1"/>
              <a:t>have</a:t>
            </a:r>
            <a:r>
              <a:rPr lang="de-DE" dirty="0"/>
              <a:t> different </a:t>
            </a:r>
            <a:r>
              <a:rPr lang="de-DE" dirty="0" err="1"/>
              <a:t>amounts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temporal </a:t>
            </a:r>
            <a:r>
              <a:rPr lang="de-DE" dirty="0" err="1"/>
              <a:t>and</a:t>
            </a:r>
            <a:r>
              <a:rPr lang="de-DE" dirty="0"/>
              <a:t> non-temporal </a:t>
            </a:r>
            <a:r>
              <a:rPr lang="de-DE" dirty="0" err="1"/>
              <a:t>structures</a:t>
            </a:r>
            <a:r>
              <a:rPr lang="de-DE" dirty="0"/>
              <a:t>.</a:t>
            </a:r>
            <a:endParaRPr dirty="0"/>
          </a:p>
        </p:txBody>
      </p:sp>
      <p:sp>
        <p:nvSpPr>
          <p:cNvPr id="1705" name="Google Shape;1705;g60be7dcf1c_0_603:notes">
            <a:extLst>
              <a:ext uri="{FF2B5EF4-FFF2-40B4-BE49-F238E27FC236}">
                <a16:creationId xmlns:a16="http://schemas.microsoft.com/office/drawing/2014/main" id="{BB996EF6-D3E2-0018-F636-8E391D7EDA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73856472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1">
          <a:extLst>
            <a:ext uri="{FF2B5EF4-FFF2-40B4-BE49-F238E27FC236}">
              <a16:creationId xmlns:a16="http://schemas.microsoft.com/office/drawing/2014/main" id="{C4FE6025-4DF1-7E86-E569-F8AA20160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2" name="Google Shape;1762;g60be7dcf1c_0_659:notes">
            <a:extLst>
              <a:ext uri="{FF2B5EF4-FFF2-40B4-BE49-F238E27FC236}">
                <a16:creationId xmlns:a16="http://schemas.microsoft.com/office/drawing/2014/main" id="{38F5DF54-A054-593D-4927-84C9EDC658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The potential </a:t>
            </a:r>
            <a:r>
              <a:rPr lang="de-DE" dirty="0" err="1"/>
              <a:t>gain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significant</a:t>
            </a:r>
            <a:r>
              <a:rPr lang="de-DE" dirty="0"/>
              <a:t>.</a:t>
            </a:r>
            <a:endParaRPr dirty="0"/>
          </a:p>
        </p:txBody>
      </p:sp>
      <p:sp>
        <p:nvSpPr>
          <p:cNvPr id="1763" name="Google Shape;1763;g60be7dcf1c_0_659:notes">
            <a:extLst>
              <a:ext uri="{FF2B5EF4-FFF2-40B4-BE49-F238E27FC236}">
                <a16:creationId xmlns:a16="http://schemas.microsoft.com/office/drawing/2014/main" id="{E5851A48-1AAB-F5EC-2320-71C40E7776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4606001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1">
          <a:extLst>
            <a:ext uri="{FF2B5EF4-FFF2-40B4-BE49-F238E27FC236}">
              <a16:creationId xmlns:a16="http://schemas.microsoft.com/office/drawing/2014/main" id="{3A74A58E-B1B5-F0C5-90B9-CA2E08451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2" name="Google Shape;1762;g60be7dcf1c_0_659:notes">
            <a:extLst>
              <a:ext uri="{FF2B5EF4-FFF2-40B4-BE49-F238E27FC236}">
                <a16:creationId xmlns:a16="http://schemas.microsoft.com/office/drawing/2014/main" id="{35ECEFF5-EDD9-528F-D2D0-FCC226EC45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The potential </a:t>
            </a:r>
            <a:r>
              <a:rPr lang="de-DE" dirty="0" err="1"/>
              <a:t>gain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significant</a:t>
            </a:r>
            <a:r>
              <a:rPr lang="de-DE" dirty="0"/>
              <a:t>.</a:t>
            </a:r>
            <a:endParaRPr dirty="0"/>
          </a:p>
        </p:txBody>
      </p:sp>
      <p:sp>
        <p:nvSpPr>
          <p:cNvPr id="1763" name="Google Shape;1763;g60be7dcf1c_0_659:notes">
            <a:extLst>
              <a:ext uri="{FF2B5EF4-FFF2-40B4-BE49-F238E27FC236}">
                <a16:creationId xmlns:a16="http://schemas.microsoft.com/office/drawing/2014/main" id="{EEFD8949-5256-D1AE-9384-0AD70B2E75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50618686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1">
          <a:extLst>
            <a:ext uri="{FF2B5EF4-FFF2-40B4-BE49-F238E27FC236}">
              <a16:creationId xmlns:a16="http://schemas.microsoft.com/office/drawing/2014/main" id="{4A40F6D6-AD13-1CE4-BF5F-442F51A22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2" name="Google Shape;1762;g60be7dcf1c_0_659:notes">
            <a:extLst>
              <a:ext uri="{FF2B5EF4-FFF2-40B4-BE49-F238E27FC236}">
                <a16:creationId xmlns:a16="http://schemas.microsoft.com/office/drawing/2014/main" id="{58E70CD2-6D19-7398-2754-01FF549220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The potential </a:t>
            </a:r>
            <a:r>
              <a:rPr lang="de-DE" dirty="0" err="1"/>
              <a:t>gain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significant</a:t>
            </a:r>
            <a:r>
              <a:rPr lang="de-DE" dirty="0"/>
              <a:t>.</a:t>
            </a:r>
            <a:endParaRPr dirty="0"/>
          </a:p>
        </p:txBody>
      </p:sp>
      <p:sp>
        <p:nvSpPr>
          <p:cNvPr id="1763" name="Google Shape;1763;g60be7dcf1c_0_659:notes">
            <a:extLst>
              <a:ext uri="{FF2B5EF4-FFF2-40B4-BE49-F238E27FC236}">
                <a16:creationId xmlns:a16="http://schemas.microsoft.com/office/drawing/2014/main" id="{5CEDF9A1-7CF5-637C-1BD0-C3817D3FDD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39967513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4" name="Google Shape;1704;g60be7dcf1c_0_6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5" name="Google Shape;1705;g60be7dcf1c_0_6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62547915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3">
          <a:extLst>
            <a:ext uri="{FF2B5EF4-FFF2-40B4-BE49-F238E27FC236}">
              <a16:creationId xmlns:a16="http://schemas.microsoft.com/office/drawing/2014/main" id="{80F28194-F48A-26D1-AB3B-AF6820F41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4" name="Google Shape;1704;g60be7dcf1c_0_603:notes">
            <a:extLst>
              <a:ext uri="{FF2B5EF4-FFF2-40B4-BE49-F238E27FC236}">
                <a16:creationId xmlns:a16="http://schemas.microsoft.com/office/drawing/2014/main" id="{1CD3BA67-5A5F-5BBB-1249-50696C3A8D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5" name="Google Shape;1705;g60be7dcf1c_0_603:notes">
            <a:extLst>
              <a:ext uri="{FF2B5EF4-FFF2-40B4-BE49-F238E27FC236}">
                <a16:creationId xmlns:a16="http://schemas.microsoft.com/office/drawing/2014/main" id="{A13F9C33-DA91-0029-4AAE-6849A2265E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411422373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3" name="Google Shape;1513;g60be7dcf1c_0_4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Generally,</a:t>
            </a:r>
            <a:r>
              <a:rPr lang="de-DE" baseline="0" dirty="0"/>
              <a:t> </a:t>
            </a:r>
            <a:r>
              <a:rPr lang="de-DE" baseline="0" dirty="0" err="1"/>
              <a:t>photonics</a:t>
            </a:r>
            <a:r>
              <a:rPr lang="de-DE" baseline="0" dirty="0"/>
              <a:t> </a:t>
            </a:r>
            <a:r>
              <a:rPr lang="de-DE" baseline="0" dirty="0" err="1"/>
              <a:t>is</a:t>
            </a:r>
            <a:r>
              <a:rPr lang="de-DE" baseline="0" dirty="0"/>
              <a:t> </a:t>
            </a:r>
            <a:r>
              <a:rPr lang="de-DE" baseline="0" dirty="0" err="1"/>
              <a:t>seen</a:t>
            </a:r>
            <a:r>
              <a:rPr lang="de-DE" baseline="0" dirty="0"/>
              <a:t> </a:t>
            </a:r>
            <a:r>
              <a:rPr lang="de-DE" baseline="0" dirty="0" err="1"/>
              <a:t>as</a:t>
            </a:r>
            <a:r>
              <a:rPr lang="de-DE" baseline="0" dirty="0"/>
              <a:t> </a:t>
            </a:r>
            <a:r>
              <a:rPr lang="de-DE" baseline="0" dirty="0" err="1"/>
              <a:t>one</a:t>
            </a:r>
            <a:r>
              <a:rPr lang="de-DE" baseline="0" dirty="0"/>
              <a:t> </a:t>
            </a:r>
            <a:r>
              <a:rPr lang="de-DE" baseline="0" dirty="0" err="1"/>
              <a:t>of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key</a:t>
            </a:r>
            <a:r>
              <a:rPr lang="de-DE" baseline="0" dirty="0"/>
              <a:t> </a:t>
            </a:r>
            <a:r>
              <a:rPr lang="de-DE" baseline="0" dirty="0" err="1"/>
              <a:t>enabling</a:t>
            </a:r>
            <a:r>
              <a:rPr lang="de-DE" baseline="0" dirty="0"/>
              <a:t> </a:t>
            </a:r>
            <a:r>
              <a:rPr lang="de-DE" baseline="0" dirty="0" err="1"/>
              <a:t>technologies</a:t>
            </a:r>
            <a:r>
              <a:rPr lang="de-DE" baseline="0" dirty="0"/>
              <a:t> </a:t>
            </a:r>
            <a:r>
              <a:rPr lang="de-DE" baseline="0" dirty="0" err="1"/>
              <a:t>of</a:t>
            </a:r>
            <a:r>
              <a:rPr lang="de-DE" baseline="0" dirty="0"/>
              <a:t> </a:t>
            </a:r>
            <a:r>
              <a:rPr lang="de-DE" baseline="0" dirty="0" err="1"/>
              <a:t>our</a:t>
            </a:r>
            <a:r>
              <a:rPr lang="de-DE" baseline="0" dirty="0"/>
              <a:t> </a:t>
            </a:r>
            <a:r>
              <a:rPr lang="de-DE" baseline="0" dirty="0" err="1"/>
              <a:t>future</a:t>
            </a:r>
            <a:r>
              <a:rPr lang="de-DE" baseline="0" dirty="0"/>
              <a:t> </a:t>
            </a:r>
            <a:r>
              <a:rPr lang="de-DE" baseline="0" dirty="0" err="1"/>
              <a:t>prosperity</a:t>
            </a:r>
            <a:r>
              <a:rPr lang="de-DE" baseline="0" dirty="0"/>
              <a:t>, </a:t>
            </a:r>
            <a:r>
              <a:rPr lang="de-DE" baseline="0" dirty="0" err="1"/>
              <a:t>both</a:t>
            </a:r>
            <a:r>
              <a:rPr lang="de-DE" baseline="0" dirty="0"/>
              <a:t> in </a:t>
            </a:r>
            <a:r>
              <a:rPr lang="de-DE" baseline="0" dirty="0" err="1"/>
              <a:t>the</a:t>
            </a:r>
            <a:r>
              <a:rPr lang="de-DE" baseline="0" dirty="0"/>
              <a:t> EU </a:t>
            </a:r>
            <a:r>
              <a:rPr lang="de-DE" baseline="0" dirty="0" err="1"/>
              <a:t>and</a:t>
            </a:r>
            <a:r>
              <a:rPr lang="de-DE" baseline="0" dirty="0"/>
              <a:t> in </a:t>
            </a:r>
            <a:r>
              <a:rPr lang="de-DE" baseline="0" dirty="0" err="1"/>
              <a:t>the</a:t>
            </a:r>
            <a:r>
              <a:rPr lang="de-DE" baseline="0" dirty="0"/>
              <a:t> US.</a:t>
            </a:r>
            <a:endParaRPr dirty="0"/>
          </a:p>
        </p:txBody>
      </p:sp>
      <p:sp>
        <p:nvSpPr>
          <p:cNvPr id="1514" name="Google Shape;1514;g60be7dcf1c_0_4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Google Shape;1527;g60be7dcf1c_0_4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More </a:t>
            </a:r>
            <a:r>
              <a:rPr lang="de-DE" dirty="0" err="1"/>
              <a:t>specifically</a:t>
            </a:r>
            <a:r>
              <a:rPr lang="de-DE" dirty="0"/>
              <a:t>, </a:t>
            </a:r>
            <a:r>
              <a:rPr lang="de-DE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enabler</a:t>
            </a:r>
            <a:r>
              <a:rPr lang="de-DE" baseline="0" dirty="0"/>
              <a:t> </a:t>
            </a:r>
            <a:r>
              <a:rPr lang="de-DE" baseline="0" dirty="0" err="1"/>
              <a:t>for</a:t>
            </a:r>
            <a:r>
              <a:rPr lang="de-DE" baseline="0" dirty="0"/>
              <a:t> </a:t>
            </a:r>
            <a:r>
              <a:rPr lang="de-DE" baseline="0" dirty="0" err="1"/>
              <a:t>our</a:t>
            </a:r>
            <a:r>
              <a:rPr lang="de-DE" baseline="0" dirty="0"/>
              <a:t> </a:t>
            </a:r>
            <a:r>
              <a:rPr lang="de-DE" baseline="0" dirty="0" err="1"/>
              <a:t>project</a:t>
            </a:r>
            <a:r>
              <a:rPr lang="de-DE" baseline="0" dirty="0"/>
              <a:t> </a:t>
            </a:r>
            <a:r>
              <a:rPr lang="de-DE" baseline="0" dirty="0" err="1"/>
              <a:t>are</a:t>
            </a:r>
            <a:r>
              <a:rPr lang="de-DE" baseline="0" dirty="0"/>
              <a:t> </a:t>
            </a:r>
            <a:r>
              <a:rPr lang="de-DE" baseline="0" dirty="0" err="1"/>
              <a:t>reconfigurable</a:t>
            </a:r>
            <a:r>
              <a:rPr lang="de-DE" baseline="0" dirty="0"/>
              <a:t> </a:t>
            </a:r>
            <a:r>
              <a:rPr lang="de-DE" baseline="0" dirty="0" err="1"/>
              <a:t>optical</a:t>
            </a:r>
            <a:r>
              <a:rPr lang="de-DE" baseline="0" dirty="0"/>
              <a:t> </a:t>
            </a:r>
            <a:r>
              <a:rPr lang="de-DE" baseline="0" dirty="0" err="1"/>
              <a:t>switches</a:t>
            </a:r>
            <a:r>
              <a:rPr lang="de-DE" baseline="0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 err="1"/>
              <a:t>There</a:t>
            </a:r>
            <a:r>
              <a:rPr lang="de-DE" baseline="0" dirty="0"/>
              <a:t> </a:t>
            </a:r>
            <a:r>
              <a:rPr lang="de-DE" baseline="0" dirty="0" err="1"/>
              <a:t>is</a:t>
            </a:r>
            <a:r>
              <a:rPr lang="de-DE" baseline="0" dirty="0"/>
              <a:t> </a:t>
            </a:r>
            <a:r>
              <a:rPr lang="de-DE" baseline="0" dirty="0" err="1"/>
              <a:t>currently</a:t>
            </a:r>
            <a:r>
              <a:rPr lang="de-DE" baseline="0" dirty="0"/>
              <a:t> a </a:t>
            </a:r>
            <a:r>
              <a:rPr lang="de-DE" baseline="0" dirty="0" err="1"/>
              <a:t>spectrum</a:t>
            </a:r>
            <a:r>
              <a:rPr lang="de-DE" baseline="0" dirty="0"/>
              <a:t> </a:t>
            </a:r>
            <a:r>
              <a:rPr lang="de-DE" baseline="0" dirty="0" err="1"/>
              <a:t>of</a:t>
            </a:r>
            <a:r>
              <a:rPr lang="de-DE" baseline="0" dirty="0"/>
              <a:t> </a:t>
            </a:r>
            <a:r>
              <a:rPr lang="de-DE" baseline="0" dirty="0" err="1"/>
              <a:t>prototypes</a:t>
            </a:r>
            <a:r>
              <a:rPr lang="de-DE" baseline="0" dirty="0"/>
              <a:t> </a:t>
            </a:r>
            <a:r>
              <a:rPr lang="de-DE" baseline="0" dirty="0" err="1"/>
              <a:t>emerging</a:t>
            </a:r>
            <a:r>
              <a:rPr lang="de-DE" baseline="0" dirty="0"/>
              <a:t>: </a:t>
            </a:r>
            <a:r>
              <a:rPr lang="de-DE" baseline="0" dirty="0" err="1"/>
              <a:t>these</a:t>
            </a:r>
            <a:r>
              <a:rPr lang="de-DE" baseline="0" dirty="0"/>
              <a:t> </a:t>
            </a:r>
            <a:r>
              <a:rPr lang="de-DE" baseline="0" dirty="0" err="1"/>
              <a:t>prototypes</a:t>
            </a:r>
            <a:r>
              <a:rPr lang="de-DE" baseline="0" dirty="0"/>
              <a:t> </a:t>
            </a:r>
            <a:r>
              <a:rPr lang="de-DE" baseline="0" dirty="0" err="1"/>
              <a:t>have</a:t>
            </a:r>
            <a:r>
              <a:rPr lang="de-DE" baseline="0" dirty="0"/>
              <a:t> different </a:t>
            </a:r>
            <a:r>
              <a:rPr lang="de-DE" baseline="0" dirty="0" err="1"/>
              <a:t>sizes</a:t>
            </a:r>
            <a:r>
              <a:rPr lang="de-DE" baseline="0" dirty="0"/>
              <a:t>, different </a:t>
            </a:r>
            <a:r>
              <a:rPr lang="de-DE" baseline="0" dirty="0" err="1"/>
              <a:t>reconfiguration</a:t>
            </a:r>
            <a:r>
              <a:rPr lang="de-DE" baseline="0" dirty="0"/>
              <a:t> </a:t>
            </a:r>
            <a:r>
              <a:rPr lang="de-DE" baseline="0" dirty="0" err="1"/>
              <a:t>times</a:t>
            </a:r>
            <a:r>
              <a:rPr lang="de-DE" baseline="0" dirty="0"/>
              <a:t>, etc.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 err="1"/>
              <a:t>Here</a:t>
            </a:r>
            <a:r>
              <a:rPr lang="de-DE" baseline="0" dirty="0"/>
              <a:t> </a:t>
            </a:r>
            <a:r>
              <a:rPr lang="de-DE" baseline="0" dirty="0" err="1"/>
              <a:t>are</a:t>
            </a:r>
            <a:r>
              <a:rPr lang="de-DE" baseline="0" dirty="0"/>
              <a:t> </a:t>
            </a:r>
            <a:r>
              <a:rPr lang="de-DE" baseline="0" dirty="0" err="1"/>
              <a:t>some</a:t>
            </a:r>
            <a:r>
              <a:rPr lang="de-DE" baseline="0" dirty="0"/>
              <a:t> </a:t>
            </a:r>
            <a:r>
              <a:rPr lang="de-DE" baseline="0" dirty="0" err="1"/>
              <a:t>examples</a:t>
            </a:r>
            <a:r>
              <a:rPr lang="de-DE" baseline="0" dirty="0"/>
              <a:t> </a:t>
            </a:r>
            <a:r>
              <a:rPr lang="de-DE" baseline="0" dirty="0" err="1"/>
              <a:t>from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SIGCOMM </a:t>
            </a:r>
            <a:r>
              <a:rPr lang="de-DE" baseline="0" dirty="0" err="1"/>
              <a:t>workshop</a:t>
            </a:r>
            <a:r>
              <a:rPr lang="de-DE" baseline="0" dirty="0"/>
              <a:t> </a:t>
            </a:r>
            <a:r>
              <a:rPr lang="de-DE" baseline="0" dirty="0" err="1"/>
              <a:t>we</a:t>
            </a:r>
            <a:r>
              <a:rPr lang="de-DE" baseline="0" dirty="0"/>
              <a:t> </a:t>
            </a:r>
            <a:r>
              <a:rPr lang="de-DE" baseline="0" dirty="0" err="1"/>
              <a:t>organized</a:t>
            </a:r>
            <a:r>
              <a:rPr lang="de-DE" baseline="0" dirty="0"/>
              <a:t> last </a:t>
            </a:r>
            <a:r>
              <a:rPr lang="de-DE" baseline="0" dirty="0" err="1"/>
              <a:t>month</a:t>
            </a:r>
            <a:r>
              <a:rPr lang="de-DE" baseline="0" dirty="0"/>
              <a:t>.</a:t>
            </a:r>
            <a:endParaRPr dirty="0"/>
          </a:p>
        </p:txBody>
      </p:sp>
      <p:sp>
        <p:nvSpPr>
          <p:cNvPr id="1528" name="Google Shape;1528;g60be7dcf1c_0_4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45097265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Google Shape;1527;g60be7dcf1c_0_4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More </a:t>
            </a:r>
            <a:r>
              <a:rPr lang="de-DE" dirty="0" err="1"/>
              <a:t>specifically</a:t>
            </a:r>
            <a:r>
              <a:rPr lang="de-DE" dirty="0"/>
              <a:t>, </a:t>
            </a:r>
            <a:r>
              <a:rPr lang="de-DE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enabler</a:t>
            </a:r>
            <a:r>
              <a:rPr lang="de-DE" baseline="0" dirty="0"/>
              <a:t> </a:t>
            </a:r>
            <a:r>
              <a:rPr lang="de-DE" baseline="0" dirty="0" err="1"/>
              <a:t>for</a:t>
            </a:r>
            <a:r>
              <a:rPr lang="de-DE" baseline="0" dirty="0"/>
              <a:t> </a:t>
            </a:r>
            <a:r>
              <a:rPr lang="de-DE" baseline="0" dirty="0" err="1"/>
              <a:t>our</a:t>
            </a:r>
            <a:r>
              <a:rPr lang="de-DE" baseline="0" dirty="0"/>
              <a:t> </a:t>
            </a:r>
            <a:r>
              <a:rPr lang="de-DE" baseline="0" dirty="0" err="1"/>
              <a:t>project</a:t>
            </a:r>
            <a:r>
              <a:rPr lang="de-DE" baseline="0" dirty="0"/>
              <a:t> </a:t>
            </a:r>
            <a:r>
              <a:rPr lang="de-DE" baseline="0" dirty="0" err="1"/>
              <a:t>are</a:t>
            </a:r>
            <a:r>
              <a:rPr lang="de-DE" baseline="0" dirty="0"/>
              <a:t> </a:t>
            </a:r>
            <a:r>
              <a:rPr lang="de-DE" baseline="0" dirty="0" err="1"/>
              <a:t>reconfigurable</a:t>
            </a:r>
            <a:r>
              <a:rPr lang="de-DE" baseline="0" dirty="0"/>
              <a:t> </a:t>
            </a:r>
            <a:r>
              <a:rPr lang="de-DE" baseline="0" dirty="0" err="1"/>
              <a:t>optical</a:t>
            </a:r>
            <a:r>
              <a:rPr lang="de-DE" baseline="0" dirty="0"/>
              <a:t> </a:t>
            </a:r>
            <a:r>
              <a:rPr lang="de-DE" baseline="0" dirty="0" err="1"/>
              <a:t>switches</a:t>
            </a:r>
            <a:r>
              <a:rPr lang="de-DE" baseline="0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 err="1"/>
              <a:t>There</a:t>
            </a:r>
            <a:r>
              <a:rPr lang="de-DE" baseline="0" dirty="0"/>
              <a:t> </a:t>
            </a:r>
            <a:r>
              <a:rPr lang="de-DE" baseline="0" dirty="0" err="1"/>
              <a:t>is</a:t>
            </a:r>
            <a:r>
              <a:rPr lang="de-DE" baseline="0" dirty="0"/>
              <a:t> </a:t>
            </a:r>
            <a:r>
              <a:rPr lang="de-DE" baseline="0" dirty="0" err="1"/>
              <a:t>currently</a:t>
            </a:r>
            <a:r>
              <a:rPr lang="de-DE" baseline="0" dirty="0"/>
              <a:t> a </a:t>
            </a:r>
            <a:r>
              <a:rPr lang="de-DE" baseline="0" dirty="0" err="1"/>
              <a:t>spectrum</a:t>
            </a:r>
            <a:r>
              <a:rPr lang="de-DE" baseline="0" dirty="0"/>
              <a:t> </a:t>
            </a:r>
            <a:r>
              <a:rPr lang="de-DE" baseline="0" dirty="0" err="1"/>
              <a:t>of</a:t>
            </a:r>
            <a:r>
              <a:rPr lang="de-DE" baseline="0" dirty="0"/>
              <a:t> </a:t>
            </a:r>
            <a:r>
              <a:rPr lang="de-DE" baseline="0" dirty="0" err="1"/>
              <a:t>prototypes</a:t>
            </a:r>
            <a:r>
              <a:rPr lang="de-DE" baseline="0" dirty="0"/>
              <a:t> </a:t>
            </a:r>
            <a:r>
              <a:rPr lang="de-DE" baseline="0" dirty="0" err="1"/>
              <a:t>emerging</a:t>
            </a:r>
            <a:r>
              <a:rPr lang="de-DE" baseline="0" dirty="0"/>
              <a:t>: </a:t>
            </a:r>
            <a:r>
              <a:rPr lang="de-DE" baseline="0" dirty="0" err="1"/>
              <a:t>these</a:t>
            </a:r>
            <a:r>
              <a:rPr lang="de-DE" baseline="0" dirty="0"/>
              <a:t> </a:t>
            </a:r>
            <a:r>
              <a:rPr lang="de-DE" baseline="0" dirty="0" err="1"/>
              <a:t>prototypes</a:t>
            </a:r>
            <a:r>
              <a:rPr lang="de-DE" baseline="0" dirty="0"/>
              <a:t> </a:t>
            </a:r>
            <a:r>
              <a:rPr lang="de-DE" baseline="0" dirty="0" err="1"/>
              <a:t>have</a:t>
            </a:r>
            <a:r>
              <a:rPr lang="de-DE" baseline="0" dirty="0"/>
              <a:t> different </a:t>
            </a:r>
            <a:r>
              <a:rPr lang="de-DE" baseline="0" dirty="0" err="1"/>
              <a:t>sizes</a:t>
            </a:r>
            <a:r>
              <a:rPr lang="de-DE" baseline="0" dirty="0"/>
              <a:t>, different </a:t>
            </a:r>
            <a:r>
              <a:rPr lang="de-DE" baseline="0" dirty="0" err="1"/>
              <a:t>reconfiguration</a:t>
            </a:r>
            <a:r>
              <a:rPr lang="de-DE" baseline="0" dirty="0"/>
              <a:t> </a:t>
            </a:r>
            <a:r>
              <a:rPr lang="de-DE" baseline="0" dirty="0" err="1"/>
              <a:t>times</a:t>
            </a:r>
            <a:r>
              <a:rPr lang="de-DE" baseline="0" dirty="0"/>
              <a:t>, etc.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 err="1"/>
              <a:t>Here</a:t>
            </a:r>
            <a:r>
              <a:rPr lang="de-DE" baseline="0" dirty="0"/>
              <a:t> </a:t>
            </a:r>
            <a:r>
              <a:rPr lang="de-DE" baseline="0" dirty="0" err="1"/>
              <a:t>are</a:t>
            </a:r>
            <a:r>
              <a:rPr lang="de-DE" baseline="0" dirty="0"/>
              <a:t> </a:t>
            </a:r>
            <a:r>
              <a:rPr lang="de-DE" baseline="0" dirty="0" err="1"/>
              <a:t>some</a:t>
            </a:r>
            <a:r>
              <a:rPr lang="de-DE" baseline="0" dirty="0"/>
              <a:t> </a:t>
            </a:r>
            <a:r>
              <a:rPr lang="de-DE" baseline="0" dirty="0" err="1"/>
              <a:t>examples</a:t>
            </a:r>
            <a:r>
              <a:rPr lang="de-DE" baseline="0" dirty="0"/>
              <a:t> </a:t>
            </a:r>
            <a:r>
              <a:rPr lang="de-DE" baseline="0" dirty="0" err="1"/>
              <a:t>from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SIGCOMM </a:t>
            </a:r>
            <a:r>
              <a:rPr lang="de-DE" baseline="0" dirty="0" err="1"/>
              <a:t>workshop</a:t>
            </a:r>
            <a:r>
              <a:rPr lang="de-DE" baseline="0" dirty="0"/>
              <a:t> </a:t>
            </a:r>
            <a:r>
              <a:rPr lang="de-DE" baseline="0" dirty="0" err="1"/>
              <a:t>we</a:t>
            </a:r>
            <a:r>
              <a:rPr lang="de-DE" baseline="0" dirty="0"/>
              <a:t> </a:t>
            </a:r>
            <a:r>
              <a:rPr lang="de-DE" baseline="0" dirty="0" err="1"/>
              <a:t>organized</a:t>
            </a:r>
            <a:r>
              <a:rPr lang="de-DE" baseline="0" dirty="0"/>
              <a:t> last </a:t>
            </a:r>
            <a:r>
              <a:rPr lang="de-DE" baseline="0" dirty="0" err="1"/>
              <a:t>month</a:t>
            </a:r>
            <a:r>
              <a:rPr lang="de-DE" baseline="0" dirty="0"/>
              <a:t>.</a:t>
            </a:r>
            <a:endParaRPr dirty="0"/>
          </a:p>
        </p:txBody>
      </p:sp>
      <p:sp>
        <p:nvSpPr>
          <p:cNvPr id="1528" name="Google Shape;1528;g60be7dcf1c_0_4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83939425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6">
          <a:extLst>
            <a:ext uri="{FF2B5EF4-FFF2-40B4-BE49-F238E27FC236}">
              <a16:creationId xmlns:a16="http://schemas.microsoft.com/office/drawing/2014/main" id="{6C438895-FB59-4630-8AFE-7C5135A0D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Google Shape;1527;g60be7dcf1c_0_434:notes">
            <a:extLst>
              <a:ext uri="{FF2B5EF4-FFF2-40B4-BE49-F238E27FC236}">
                <a16:creationId xmlns:a16="http://schemas.microsoft.com/office/drawing/2014/main" id="{2B23F482-5E85-ED8A-E4F6-DFE04121F3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More </a:t>
            </a:r>
            <a:r>
              <a:rPr lang="de-DE" dirty="0" err="1"/>
              <a:t>specifically</a:t>
            </a:r>
            <a:r>
              <a:rPr lang="de-DE" dirty="0"/>
              <a:t>, </a:t>
            </a:r>
            <a:r>
              <a:rPr lang="de-DE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enabler</a:t>
            </a:r>
            <a:r>
              <a:rPr lang="de-DE" baseline="0" dirty="0"/>
              <a:t> </a:t>
            </a:r>
            <a:r>
              <a:rPr lang="de-DE" baseline="0" dirty="0" err="1"/>
              <a:t>for</a:t>
            </a:r>
            <a:r>
              <a:rPr lang="de-DE" baseline="0" dirty="0"/>
              <a:t> </a:t>
            </a:r>
            <a:r>
              <a:rPr lang="de-DE" baseline="0" dirty="0" err="1"/>
              <a:t>our</a:t>
            </a:r>
            <a:r>
              <a:rPr lang="de-DE" baseline="0" dirty="0"/>
              <a:t> </a:t>
            </a:r>
            <a:r>
              <a:rPr lang="de-DE" baseline="0" dirty="0" err="1"/>
              <a:t>project</a:t>
            </a:r>
            <a:r>
              <a:rPr lang="de-DE" baseline="0" dirty="0"/>
              <a:t> </a:t>
            </a:r>
            <a:r>
              <a:rPr lang="de-DE" baseline="0" dirty="0" err="1"/>
              <a:t>are</a:t>
            </a:r>
            <a:r>
              <a:rPr lang="de-DE" baseline="0" dirty="0"/>
              <a:t> </a:t>
            </a:r>
            <a:r>
              <a:rPr lang="de-DE" baseline="0" dirty="0" err="1"/>
              <a:t>reconfigurable</a:t>
            </a:r>
            <a:r>
              <a:rPr lang="de-DE" baseline="0" dirty="0"/>
              <a:t> </a:t>
            </a:r>
            <a:r>
              <a:rPr lang="de-DE" baseline="0" dirty="0" err="1"/>
              <a:t>optical</a:t>
            </a:r>
            <a:r>
              <a:rPr lang="de-DE" baseline="0" dirty="0"/>
              <a:t> </a:t>
            </a:r>
            <a:r>
              <a:rPr lang="de-DE" baseline="0" dirty="0" err="1"/>
              <a:t>switches</a:t>
            </a:r>
            <a:r>
              <a:rPr lang="de-DE" baseline="0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 err="1"/>
              <a:t>There</a:t>
            </a:r>
            <a:r>
              <a:rPr lang="de-DE" baseline="0" dirty="0"/>
              <a:t> </a:t>
            </a:r>
            <a:r>
              <a:rPr lang="de-DE" baseline="0" dirty="0" err="1"/>
              <a:t>is</a:t>
            </a:r>
            <a:r>
              <a:rPr lang="de-DE" baseline="0" dirty="0"/>
              <a:t> </a:t>
            </a:r>
            <a:r>
              <a:rPr lang="de-DE" baseline="0" dirty="0" err="1"/>
              <a:t>currently</a:t>
            </a:r>
            <a:r>
              <a:rPr lang="de-DE" baseline="0" dirty="0"/>
              <a:t> a </a:t>
            </a:r>
            <a:r>
              <a:rPr lang="de-DE" baseline="0" dirty="0" err="1"/>
              <a:t>spectrum</a:t>
            </a:r>
            <a:r>
              <a:rPr lang="de-DE" baseline="0" dirty="0"/>
              <a:t> </a:t>
            </a:r>
            <a:r>
              <a:rPr lang="de-DE" baseline="0" dirty="0" err="1"/>
              <a:t>of</a:t>
            </a:r>
            <a:r>
              <a:rPr lang="de-DE" baseline="0" dirty="0"/>
              <a:t> </a:t>
            </a:r>
            <a:r>
              <a:rPr lang="de-DE" baseline="0" dirty="0" err="1"/>
              <a:t>prototypes</a:t>
            </a:r>
            <a:r>
              <a:rPr lang="de-DE" baseline="0" dirty="0"/>
              <a:t> </a:t>
            </a:r>
            <a:r>
              <a:rPr lang="de-DE" baseline="0" dirty="0" err="1"/>
              <a:t>emerging</a:t>
            </a:r>
            <a:r>
              <a:rPr lang="de-DE" baseline="0" dirty="0"/>
              <a:t>: </a:t>
            </a:r>
            <a:r>
              <a:rPr lang="de-DE" baseline="0" dirty="0" err="1"/>
              <a:t>these</a:t>
            </a:r>
            <a:r>
              <a:rPr lang="de-DE" baseline="0" dirty="0"/>
              <a:t> </a:t>
            </a:r>
            <a:r>
              <a:rPr lang="de-DE" baseline="0" dirty="0" err="1"/>
              <a:t>prototypes</a:t>
            </a:r>
            <a:r>
              <a:rPr lang="de-DE" baseline="0" dirty="0"/>
              <a:t> </a:t>
            </a:r>
            <a:r>
              <a:rPr lang="de-DE" baseline="0" dirty="0" err="1"/>
              <a:t>have</a:t>
            </a:r>
            <a:r>
              <a:rPr lang="de-DE" baseline="0" dirty="0"/>
              <a:t> different </a:t>
            </a:r>
            <a:r>
              <a:rPr lang="de-DE" baseline="0" dirty="0" err="1"/>
              <a:t>sizes</a:t>
            </a:r>
            <a:r>
              <a:rPr lang="de-DE" baseline="0" dirty="0"/>
              <a:t>, different </a:t>
            </a:r>
            <a:r>
              <a:rPr lang="de-DE" baseline="0" dirty="0" err="1"/>
              <a:t>reconfiguration</a:t>
            </a:r>
            <a:r>
              <a:rPr lang="de-DE" baseline="0" dirty="0"/>
              <a:t> </a:t>
            </a:r>
            <a:r>
              <a:rPr lang="de-DE" baseline="0" dirty="0" err="1"/>
              <a:t>times</a:t>
            </a:r>
            <a:r>
              <a:rPr lang="de-DE" baseline="0" dirty="0"/>
              <a:t>, etc.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 err="1"/>
              <a:t>Here</a:t>
            </a:r>
            <a:r>
              <a:rPr lang="de-DE" baseline="0" dirty="0"/>
              <a:t> </a:t>
            </a:r>
            <a:r>
              <a:rPr lang="de-DE" baseline="0" dirty="0" err="1"/>
              <a:t>are</a:t>
            </a:r>
            <a:r>
              <a:rPr lang="de-DE" baseline="0" dirty="0"/>
              <a:t> </a:t>
            </a:r>
            <a:r>
              <a:rPr lang="de-DE" baseline="0" dirty="0" err="1"/>
              <a:t>some</a:t>
            </a:r>
            <a:r>
              <a:rPr lang="de-DE" baseline="0" dirty="0"/>
              <a:t> </a:t>
            </a:r>
            <a:r>
              <a:rPr lang="de-DE" baseline="0" dirty="0" err="1"/>
              <a:t>examples</a:t>
            </a:r>
            <a:r>
              <a:rPr lang="de-DE" baseline="0" dirty="0"/>
              <a:t> </a:t>
            </a:r>
            <a:r>
              <a:rPr lang="de-DE" baseline="0" dirty="0" err="1"/>
              <a:t>from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SIGCOMM </a:t>
            </a:r>
            <a:r>
              <a:rPr lang="de-DE" baseline="0" dirty="0" err="1"/>
              <a:t>workshop</a:t>
            </a:r>
            <a:r>
              <a:rPr lang="de-DE" baseline="0" dirty="0"/>
              <a:t> </a:t>
            </a:r>
            <a:r>
              <a:rPr lang="de-DE" baseline="0" dirty="0" err="1"/>
              <a:t>we</a:t>
            </a:r>
            <a:r>
              <a:rPr lang="de-DE" baseline="0" dirty="0"/>
              <a:t> </a:t>
            </a:r>
            <a:r>
              <a:rPr lang="de-DE" baseline="0" dirty="0" err="1"/>
              <a:t>organized</a:t>
            </a:r>
            <a:r>
              <a:rPr lang="de-DE" baseline="0" dirty="0"/>
              <a:t> last </a:t>
            </a:r>
            <a:r>
              <a:rPr lang="de-DE" baseline="0" dirty="0" err="1"/>
              <a:t>month</a:t>
            </a:r>
            <a:r>
              <a:rPr lang="de-DE" baseline="0" dirty="0"/>
              <a:t>.</a:t>
            </a:r>
            <a:endParaRPr dirty="0"/>
          </a:p>
        </p:txBody>
      </p:sp>
      <p:sp>
        <p:nvSpPr>
          <p:cNvPr id="1528" name="Google Shape;1528;g60be7dcf1c_0_434:notes">
            <a:extLst>
              <a:ext uri="{FF2B5EF4-FFF2-40B4-BE49-F238E27FC236}">
                <a16:creationId xmlns:a16="http://schemas.microsoft.com/office/drawing/2014/main" id="{8A3387DC-1CDC-F4BE-A1BB-698100D7BD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1664226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Google Shape;1527;g60be7dcf1c_0_4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More </a:t>
            </a:r>
            <a:r>
              <a:rPr lang="de-DE" dirty="0" err="1"/>
              <a:t>specifically</a:t>
            </a:r>
            <a:r>
              <a:rPr lang="de-DE" dirty="0"/>
              <a:t>, </a:t>
            </a:r>
            <a:r>
              <a:rPr lang="de-DE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enabler</a:t>
            </a:r>
            <a:r>
              <a:rPr lang="de-DE" baseline="0" dirty="0"/>
              <a:t> </a:t>
            </a:r>
            <a:r>
              <a:rPr lang="de-DE" baseline="0" dirty="0" err="1"/>
              <a:t>for</a:t>
            </a:r>
            <a:r>
              <a:rPr lang="de-DE" baseline="0" dirty="0"/>
              <a:t> </a:t>
            </a:r>
            <a:r>
              <a:rPr lang="de-DE" baseline="0" dirty="0" err="1"/>
              <a:t>our</a:t>
            </a:r>
            <a:r>
              <a:rPr lang="de-DE" baseline="0" dirty="0"/>
              <a:t> </a:t>
            </a:r>
            <a:r>
              <a:rPr lang="de-DE" baseline="0" dirty="0" err="1"/>
              <a:t>project</a:t>
            </a:r>
            <a:r>
              <a:rPr lang="de-DE" baseline="0" dirty="0"/>
              <a:t> </a:t>
            </a:r>
            <a:r>
              <a:rPr lang="de-DE" baseline="0" dirty="0" err="1"/>
              <a:t>are</a:t>
            </a:r>
            <a:r>
              <a:rPr lang="de-DE" baseline="0" dirty="0"/>
              <a:t> </a:t>
            </a:r>
            <a:r>
              <a:rPr lang="de-DE" baseline="0" dirty="0" err="1"/>
              <a:t>reconfigurable</a:t>
            </a:r>
            <a:r>
              <a:rPr lang="de-DE" baseline="0" dirty="0"/>
              <a:t> </a:t>
            </a:r>
            <a:r>
              <a:rPr lang="de-DE" baseline="0" dirty="0" err="1"/>
              <a:t>optical</a:t>
            </a:r>
            <a:r>
              <a:rPr lang="de-DE" baseline="0" dirty="0"/>
              <a:t> </a:t>
            </a:r>
            <a:r>
              <a:rPr lang="de-DE" baseline="0" dirty="0" err="1"/>
              <a:t>switches</a:t>
            </a:r>
            <a:r>
              <a:rPr lang="de-DE" baseline="0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 err="1"/>
              <a:t>There</a:t>
            </a:r>
            <a:r>
              <a:rPr lang="de-DE" baseline="0" dirty="0"/>
              <a:t> </a:t>
            </a:r>
            <a:r>
              <a:rPr lang="de-DE" baseline="0" dirty="0" err="1"/>
              <a:t>is</a:t>
            </a:r>
            <a:r>
              <a:rPr lang="de-DE" baseline="0" dirty="0"/>
              <a:t> </a:t>
            </a:r>
            <a:r>
              <a:rPr lang="de-DE" baseline="0" dirty="0" err="1"/>
              <a:t>currently</a:t>
            </a:r>
            <a:r>
              <a:rPr lang="de-DE" baseline="0" dirty="0"/>
              <a:t> a </a:t>
            </a:r>
            <a:r>
              <a:rPr lang="de-DE" baseline="0" dirty="0" err="1"/>
              <a:t>spectrum</a:t>
            </a:r>
            <a:r>
              <a:rPr lang="de-DE" baseline="0" dirty="0"/>
              <a:t> </a:t>
            </a:r>
            <a:r>
              <a:rPr lang="de-DE" baseline="0" dirty="0" err="1"/>
              <a:t>of</a:t>
            </a:r>
            <a:r>
              <a:rPr lang="de-DE" baseline="0" dirty="0"/>
              <a:t> </a:t>
            </a:r>
            <a:r>
              <a:rPr lang="de-DE" baseline="0" dirty="0" err="1"/>
              <a:t>prototypes</a:t>
            </a:r>
            <a:r>
              <a:rPr lang="de-DE" baseline="0" dirty="0"/>
              <a:t> </a:t>
            </a:r>
            <a:r>
              <a:rPr lang="de-DE" baseline="0" dirty="0" err="1"/>
              <a:t>emerging</a:t>
            </a:r>
            <a:r>
              <a:rPr lang="de-DE" baseline="0" dirty="0"/>
              <a:t>: </a:t>
            </a:r>
            <a:r>
              <a:rPr lang="de-DE" baseline="0" dirty="0" err="1"/>
              <a:t>these</a:t>
            </a:r>
            <a:r>
              <a:rPr lang="de-DE" baseline="0" dirty="0"/>
              <a:t> </a:t>
            </a:r>
            <a:r>
              <a:rPr lang="de-DE" baseline="0" dirty="0" err="1"/>
              <a:t>prototypes</a:t>
            </a:r>
            <a:r>
              <a:rPr lang="de-DE" baseline="0" dirty="0"/>
              <a:t> </a:t>
            </a:r>
            <a:r>
              <a:rPr lang="de-DE" baseline="0" dirty="0" err="1"/>
              <a:t>have</a:t>
            </a:r>
            <a:r>
              <a:rPr lang="de-DE" baseline="0" dirty="0"/>
              <a:t> different </a:t>
            </a:r>
            <a:r>
              <a:rPr lang="de-DE" baseline="0" dirty="0" err="1"/>
              <a:t>sizes</a:t>
            </a:r>
            <a:r>
              <a:rPr lang="de-DE" baseline="0" dirty="0"/>
              <a:t>, different </a:t>
            </a:r>
            <a:r>
              <a:rPr lang="de-DE" baseline="0" dirty="0" err="1"/>
              <a:t>reconfiguration</a:t>
            </a:r>
            <a:r>
              <a:rPr lang="de-DE" baseline="0" dirty="0"/>
              <a:t> </a:t>
            </a:r>
            <a:r>
              <a:rPr lang="de-DE" baseline="0" dirty="0" err="1"/>
              <a:t>times</a:t>
            </a:r>
            <a:r>
              <a:rPr lang="de-DE" baseline="0" dirty="0"/>
              <a:t>, etc.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 err="1"/>
              <a:t>Here</a:t>
            </a:r>
            <a:r>
              <a:rPr lang="de-DE" baseline="0" dirty="0"/>
              <a:t> </a:t>
            </a:r>
            <a:r>
              <a:rPr lang="de-DE" baseline="0" dirty="0" err="1"/>
              <a:t>are</a:t>
            </a:r>
            <a:r>
              <a:rPr lang="de-DE" baseline="0" dirty="0"/>
              <a:t> </a:t>
            </a:r>
            <a:r>
              <a:rPr lang="de-DE" baseline="0" dirty="0" err="1"/>
              <a:t>some</a:t>
            </a:r>
            <a:r>
              <a:rPr lang="de-DE" baseline="0" dirty="0"/>
              <a:t> </a:t>
            </a:r>
            <a:r>
              <a:rPr lang="de-DE" baseline="0" dirty="0" err="1"/>
              <a:t>examples</a:t>
            </a:r>
            <a:r>
              <a:rPr lang="de-DE" baseline="0" dirty="0"/>
              <a:t> </a:t>
            </a:r>
            <a:r>
              <a:rPr lang="de-DE" baseline="0" dirty="0" err="1"/>
              <a:t>from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SIGCOMM </a:t>
            </a:r>
            <a:r>
              <a:rPr lang="de-DE" baseline="0" dirty="0" err="1"/>
              <a:t>workshop</a:t>
            </a:r>
            <a:r>
              <a:rPr lang="de-DE" baseline="0" dirty="0"/>
              <a:t> </a:t>
            </a:r>
            <a:r>
              <a:rPr lang="de-DE" baseline="0" dirty="0" err="1"/>
              <a:t>we</a:t>
            </a:r>
            <a:r>
              <a:rPr lang="de-DE" baseline="0" dirty="0"/>
              <a:t> </a:t>
            </a:r>
            <a:r>
              <a:rPr lang="de-DE" baseline="0" dirty="0" err="1"/>
              <a:t>organized</a:t>
            </a:r>
            <a:r>
              <a:rPr lang="de-DE" baseline="0" dirty="0"/>
              <a:t> last </a:t>
            </a:r>
            <a:r>
              <a:rPr lang="de-DE" baseline="0" dirty="0" err="1"/>
              <a:t>month</a:t>
            </a:r>
            <a:r>
              <a:rPr lang="de-DE" baseline="0" dirty="0"/>
              <a:t>.</a:t>
            </a:r>
            <a:endParaRPr dirty="0"/>
          </a:p>
        </p:txBody>
      </p:sp>
      <p:sp>
        <p:nvSpPr>
          <p:cNvPr id="1528" name="Google Shape;1528;g60be7dcf1c_0_4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84221612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Google Shape;1527;g60be7dcf1c_0_4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More </a:t>
            </a:r>
            <a:r>
              <a:rPr lang="de-DE" dirty="0" err="1"/>
              <a:t>specifically</a:t>
            </a:r>
            <a:r>
              <a:rPr lang="de-DE" dirty="0"/>
              <a:t>, </a:t>
            </a:r>
            <a:r>
              <a:rPr lang="de-DE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enabler</a:t>
            </a:r>
            <a:r>
              <a:rPr lang="de-DE" baseline="0" dirty="0"/>
              <a:t> </a:t>
            </a:r>
            <a:r>
              <a:rPr lang="de-DE" baseline="0" dirty="0" err="1"/>
              <a:t>for</a:t>
            </a:r>
            <a:r>
              <a:rPr lang="de-DE" baseline="0" dirty="0"/>
              <a:t> </a:t>
            </a:r>
            <a:r>
              <a:rPr lang="de-DE" baseline="0" dirty="0" err="1"/>
              <a:t>our</a:t>
            </a:r>
            <a:r>
              <a:rPr lang="de-DE" baseline="0" dirty="0"/>
              <a:t> </a:t>
            </a:r>
            <a:r>
              <a:rPr lang="de-DE" baseline="0" dirty="0" err="1"/>
              <a:t>project</a:t>
            </a:r>
            <a:r>
              <a:rPr lang="de-DE" baseline="0" dirty="0"/>
              <a:t> </a:t>
            </a:r>
            <a:r>
              <a:rPr lang="de-DE" baseline="0" dirty="0" err="1"/>
              <a:t>are</a:t>
            </a:r>
            <a:r>
              <a:rPr lang="de-DE" baseline="0" dirty="0"/>
              <a:t> </a:t>
            </a:r>
            <a:r>
              <a:rPr lang="de-DE" baseline="0" dirty="0" err="1"/>
              <a:t>reconfigurable</a:t>
            </a:r>
            <a:r>
              <a:rPr lang="de-DE" baseline="0" dirty="0"/>
              <a:t> </a:t>
            </a:r>
            <a:r>
              <a:rPr lang="de-DE" baseline="0" dirty="0" err="1"/>
              <a:t>optical</a:t>
            </a:r>
            <a:r>
              <a:rPr lang="de-DE" baseline="0" dirty="0"/>
              <a:t> </a:t>
            </a:r>
            <a:r>
              <a:rPr lang="de-DE" baseline="0" dirty="0" err="1"/>
              <a:t>switches</a:t>
            </a:r>
            <a:r>
              <a:rPr lang="de-DE" baseline="0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 err="1"/>
              <a:t>There</a:t>
            </a:r>
            <a:r>
              <a:rPr lang="de-DE" baseline="0" dirty="0"/>
              <a:t> </a:t>
            </a:r>
            <a:r>
              <a:rPr lang="de-DE" baseline="0" dirty="0" err="1"/>
              <a:t>is</a:t>
            </a:r>
            <a:r>
              <a:rPr lang="de-DE" baseline="0" dirty="0"/>
              <a:t> </a:t>
            </a:r>
            <a:r>
              <a:rPr lang="de-DE" baseline="0" dirty="0" err="1"/>
              <a:t>currently</a:t>
            </a:r>
            <a:r>
              <a:rPr lang="de-DE" baseline="0" dirty="0"/>
              <a:t> a </a:t>
            </a:r>
            <a:r>
              <a:rPr lang="de-DE" baseline="0" dirty="0" err="1"/>
              <a:t>spectrum</a:t>
            </a:r>
            <a:r>
              <a:rPr lang="de-DE" baseline="0" dirty="0"/>
              <a:t> </a:t>
            </a:r>
            <a:r>
              <a:rPr lang="de-DE" baseline="0" dirty="0" err="1"/>
              <a:t>of</a:t>
            </a:r>
            <a:r>
              <a:rPr lang="de-DE" baseline="0" dirty="0"/>
              <a:t> </a:t>
            </a:r>
            <a:r>
              <a:rPr lang="de-DE" baseline="0" dirty="0" err="1"/>
              <a:t>prototypes</a:t>
            </a:r>
            <a:r>
              <a:rPr lang="de-DE" baseline="0" dirty="0"/>
              <a:t> </a:t>
            </a:r>
            <a:r>
              <a:rPr lang="de-DE" baseline="0" dirty="0" err="1"/>
              <a:t>emerging</a:t>
            </a:r>
            <a:r>
              <a:rPr lang="de-DE" baseline="0" dirty="0"/>
              <a:t>: </a:t>
            </a:r>
            <a:r>
              <a:rPr lang="de-DE" baseline="0" dirty="0" err="1"/>
              <a:t>these</a:t>
            </a:r>
            <a:r>
              <a:rPr lang="de-DE" baseline="0" dirty="0"/>
              <a:t> </a:t>
            </a:r>
            <a:r>
              <a:rPr lang="de-DE" baseline="0" dirty="0" err="1"/>
              <a:t>prototypes</a:t>
            </a:r>
            <a:r>
              <a:rPr lang="de-DE" baseline="0" dirty="0"/>
              <a:t> </a:t>
            </a:r>
            <a:r>
              <a:rPr lang="de-DE" baseline="0" dirty="0" err="1"/>
              <a:t>have</a:t>
            </a:r>
            <a:r>
              <a:rPr lang="de-DE" baseline="0" dirty="0"/>
              <a:t> different </a:t>
            </a:r>
            <a:r>
              <a:rPr lang="de-DE" baseline="0" dirty="0" err="1"/>
              <a:t>sizes</a:t>
            </a:r>
            <a:r>
              <a:rPr lang="de-DE" baseline="0" dirty="0"/>
              <a:t>, different </a:t>
            </a:r>
            <a:r>
              <a:rPr lang="de-DE" baseline="0" dirty="0" err="1"/>
              <a:t>reconfiguration</a:t>
            </a:r>
            <a:r>
              <a:rPr lang="de-DE" baseline="0" dirty="0"/>
              <a:t> </a:t>
            </a:r>
            <a:r>
              <a:rPr lang="de-DE" baseline="0" dirty="0" err="1"/>
              <a:t>times</a:t>
            </a:r>
            <a:r>
              <a:rPr lang="de-DE" baseline="0" dirty="0"/>
              <a:t>, etc.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 err="1"/>
              <a:t>Here</a:t>
            </a:r>
            <a:r>
              <a:rPr lang="de-DE" baseline="0" dirty="0"/>
              <a:t> </a:t>
            </a:r>
            <a:r>
              <a:rPr lang="de-DE" baseline="0" dirty="0" err="1"/>
              <a:t>are</a:t>
            </a:r>
            <a:r>
              <a:rPr lang="de-DE" baseline="0" dirty="0"/>
              <a:t> </a:t>
            </a:r>
            <a:r>
              <a:rPr lang="de-DE" baseline="0" dirty="0" err="1"/>
              <a:t>some</a:t>
            </a:r>
            <a:r>
              <a:rPr lang="de-DE" baseline="0" dirty="0"/>
              <a:t> </a:t>
            </a:r>
            <a:r>
              <a:rPr lang="de-DE" baseline="0" dirty="0" err="1"/>
              <a:t>examples</a:t>
            </a:r>
            <a:r>
              <a:rPr lang="de-DE" baseline="0" dirty="0"/>
              <a:t> </a:t>
            </a:r>
            <a:r>
              <a:rPr lang="de-DE" baseline="0" dirty="0" err="1"/>
              <a:t>from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SIGCOMM </a:t>
            </a:r>
            <a:r>
              <a:rPr lang="de-DE" baseline="0" dirty="0" err="1"/>
              <a:t>workshop</a:t>
            </a:r>
            <a:r>
              <a:rPr lang="de-DE" baseline="0" dirty="0"/>
              <a:t> </a:t>
            </a:r>
            <a:r>
              <a:rPr lang="de-DE" baseline="0" dirty="0" err="1"/>
              <a:t>we</a:t>
            </a:r>
            <a:r>
              <a:rPr lang="de-DE" baseline="0" dirty="0"/>
              <a:t> </a:t>
            </a:r>
            <a:r>
              <a:rPr lang="de-DE" baseline="0" dirty="0" err="1"/>
              <a:t>organized</a:t>
            </a:r>
            <a:r>
              <a:rPr lang="de-DE" baseline="0" dirty="0"/>
              <a:t> last </a:t>
            </a:r>
            <a:r>
              <a:rPr lang="de-DE" baseline="0" dirty="0" err="1"/>
              <a:t>month</a:t>
            </a:r>
            <a:r>
              <a:rPr lang="de-DE" baseline="0" dirty="0"/>
              <a:t>.</a:t>
            </a:r>
            <a:endParaRPr dirty="0"/>
          </a:p>
        </p:txBody>
      </p:sp>
      <p:sp>
        <p:nvSpPr>
          <p:cNvPr id="1528" name="Google Shape;1528;g60be7dcf1c_0_4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38896456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Google Shape;1527;g60be7dcf1c_0_4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More </a:t>
            </a:r>
            <a:r>
              <a:rPr lang="de-DE" dirty="0" err="1"/>
              <a:t>specifically</a:t>
            </a:r>
            <a:r>
              <a:rPr lang="de-DE" dirty="0"/>
              <a:t>, </a:t>
            </a:r>
            <a:r>
              <a:rPr lang="de-DE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enabler</a:t>
            </a:r>
            <a:r>
              <a:rPr lang="de-DE" baseline="0" dirty="0"/>
              <a:t> </a:t>
            </a:r>
            <a:r>
              <a:rPr lang="de-DE" baseline="0" dirty="0" err="1"/>
              <a:t>for</a:t>
            </a:r>
            <a:r>
              <a:rPr lang="de-DE" baseline="0" dirty="0"/>
              <a:t> </a:t>
            </a:r>
            <a:r>
              <a:rPr lang="de-DE" baseline="0" dirty="0" err="1"/>
              <a:t>our</a:t>
            </a:r>
            <a:r>
              <a:rPr lang="de-DE" baseline="0" dirty="0"/>
              <a:t> </a:t>
            </a:r>
            <a:r>
              <a:rPr lang="de-DE" baseline="0" dirty="0" err="1"/>
              <a:t>project</a:t>
            </a:r>
            <a:r>
              <a:rPr lang="de-DE" baseline="0" dirty="0"/>
              <a:t> </a:t>
            </a:r>
            <a:r>
              <a:rPr lang="de-DE" baseline="0" dirty="0" err="1"/>
              <a:t>are</a:t>
            </a:r>
            <a:r>
              <a:rPr lang="de-DE" baseline="0" dirty="0"/>
              <a:t> </a:t>
            </a:r>
            <a:r>
              <a:rPr lang="de-DE" baseline="0" dirty="0" err="1"/>
              <a:t>reconfigurable</a:t>
            </a:r>
            <a:r>
              <a:rPr lang="de-DE" baseline="0" dirty="0"/>
              <a:t> </a:t>
            </a:r>
            <a:r>
              <a:rPr lang="de-DE" baseline="0" dirty="0" err="1"/>
              <a:t>optical</a:t>
            </a:r>
            <a:r>
              <a:rPr lang="de-DE" baseline="0" dirty="0"/>
              <a:t> </a:t>
            </a:r>
            <a:r>
              <a:rPr lang="de-DE" baseline="0" dirty="0" err="1"/>
              <a:t>switches</a:t>
            </a:r>
            <a:r>
              <a:rPr lang="de-DE" baseline="0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 err="1"/>
              <a:t>There</a:t>
            </a:r>
            <a:r>
              <a:rPr lang="de-DE" baseline="0" dirty="0"/>
              <a:t> </a:t>
            </a:r>
            <a:r>
              <a:rPr lang="de-DE" baseline="0" dirty="0" err="1"/>
              <a:t>is</a:t>
            </a:r>
            <a:r>
              <a:rPr lang="de-DE" baseline="0" dirty="0"/>
              <a:t> </a:t>
            </a:r>
            <a:r>
              <a:rPr lang="de-DE" baseline="0" dirty="0" err="1"/>
              <a:t>currently</a:t>
            </a:r>
            <a:r>
              <a:rPr lang="de-DE" baseline="0" dirty="0"/>
              <a:t> a </a:t>
            </a:r>
            <a:r>
              <a:rPr lang="de-DE" baseline="0" dirty="0" err="1"/>
              <a:t>spectrum</a:t>
            </a:r>
            <a:r>
              <a:rPr lang="de-DE" baseline="0" dirty="0"/>
              <a:t> </a:t>
            </a:r>
            <a:r>
              <a:rPr lang="de-DE" baseline="0" dirty="0" err="1"/>
              <a:t>of</a:t>
            </a:r>
            <a:r>
              <a:rPr lang="de-DE" baseline="0" dirty="0"/>
              <a:t> </a:t>
            </a:r>
            <a:r>
              <a:rPr lang="de-DE" baseline="0" dirty="0" err="1"/>
              <a:t>prototypes</a:t>
            </a:r>
            <a:r>
              <a:rPr lang="de-DE" baseline="0" dirty="0"/>
              <a:t> </a:t>
            </a:r>
            <a:r>
              <a:rPr lang="de-DE" baseline="0" dirty="0" err="1"/>
              <a:t>emerging</a:t>
            </a:r>
            <a:r>
              <a:rPr lang="de-DE" baseline="0" dirty="0"/>
              <a:t>: </a:t>
            </a:r>
            <a:r>
              <a:rPr lang="de-DE" baseline="0" dirty="0" err="1"/>
              <a:t>these</a:t>
            </a:r>
            <a:r>
              <a:rPr lang="de-DE" baseline="0" dirty="0"/>
              <a:t> </a:t>
            </a:r>
            <a:r>
              <a:rPr lang="de-DE" baseline="0" dirty="0" err="1"/>
              <a:t>prototypes</a:t>
            </a:r>
            <a:r>
              <a:rPr lang="de-DE" baseline="0" dirty="0"/>
              <a:t> </a:t>
            </a:r>
            <a:r>
              <a:rPr lang="de-DE" baseline="0" dirty="0" err="1"/>
              <a:t>have</a:t>
            </a:r>
            <a:r>
              <a:rPr lang="de-DE" baseline="0" dirty="0"/>
              <a:t> different </a:t>
            </a:r>
            <a:r>
              <a:rPr lang="de-DE" baseline="0" dirty="0" err="1"/>
              <a:t>sizes</a:t>
            </a:r>
            <a:r>
              <a:rPr lang="de-DE" baseline="0" dirty="0"/>
              <a:t>, different </a:t>
            </a:r>
            <a:r>
              <a:rPr lang="de-DE" baseline="0" dirty="0" err="1"/>
              <a:t>reconfiguration</a:t>
            </a:r>
            <a:r>
              <a:rPr lang="de-DE" baseline="0" dirty="0"/>
              <a:t> </a:t>
            </a:r>
            <a:r>
              <a:rPr lang="de-DE" baseline="0" dirty="0" err="1"/>
              <a:t>times</a:t>
            </a:r>
            <a:r>
              <a:rPr lang="de-DE" baseline="0" dirty="0"/>
              <a:t>, etc.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 err="1"/>
              <a:t>Here</a:t>
            </a:r>
            <a:r>
              <a:rPr lang="de-DE" baseline="0" dirty="0"/>
              <a:t> </a:t>
            </a:r>
            <a:r>
              <a:rPr lang="de-DE" baseline="0" dirty="0" err="1"/>
              <a:t>are</a:t>
            </a:r>
            <a:r>
              <a:rPr lang="de-DE" baseline="0" dirty="0"/>
              <a:t> </a:t>
            </a:r>
            <a:r>
              <a:rPr lang="de-DE" baseline="0" dirty="0" err="1"/>
              <a:t>some</a:t>
            </a:r>
            <a:r>
              <a:rPr lang="de-DE" baseline="0" dirty="0"/>
              <a:t> </a:t>
            </a:r>
            <a:r>
              <a:rPr lang="de-DE" baseline="0" dirty="0" err="1"/>
              <a:t>examples</a:t>
            </a:r>
            <a:r>
              <a:rPr lang="de-DE" baseline="0" dirty="0"/>
              <a:t> </a:t>
            </a:r>
            <a:r>
              <a:rPr lang="de-DE" baseline="0" dirty="0" err="1"/>
              <a:t>from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SIGCOMM </a:t>
            </a:r>
            <a:r>
              <a:rPr lang="de-DE" baseline="0" dirty="0" err="1"/>
              <a:t>workshop</a:t>
            </a:r>
            <a:r>
              <a:rPr lang="de-DE" baseline="0" dirty="0"/>
              <a:t> </a:t>
            </a:r>
            <a:r>
              <a:rPr lang="de-DE" baseline="0" dirty="0" err="1"/>
              <a:t>we</a:t>
            </a:r>
            <a:r>
              <a:rPr lang="de-DE" baseline="0" dirty="0"/>
              <a:t> </a:t>
            </a:r>
            <a:r>
              <a:rPr lang="de-DE" baseline="0" dirty="0" err="1"/>
              <a:t>organized</a:t>
            </a:r>
            <a:r>
              <a:rPr lang="de-DE" baseline="0" dirty="0"/>
              <a:t> last </a:t>
            </a:r>
            <a:r>
              <a:rPr lang="de-DE" baseline="0" dirty="0" err="1"/>
              <a:t>month</a:t>
            </a:r>
            <a:r>
              <a:rPr lang="de-DE" baseline="0" dirty="0"/>
              <a:t>.</a:t>
            </a:r>
            <a:endParaRPr dirty="0"/>
          </a:p>
        </p:txBody>
      </p:sp>
      <p:sp>
        <p:nvSpPr>
          <p:cNvPr id="1528" name="Google Shape;1528;g60be7dcf1c_0_4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88314540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Google Shape;1527;g60be7dcf1c_0_4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More </a:t>
            </a:r>
            <a:r>
              <a:rPr lang="de-DE" dirty="0" err="1"/>
              <a:t>specifically</a:t>
            </a:r>
            <a:r>
              <a:rPr lang="de-DE" dirty="0"/>
              <a:t>, </a:t>
            </a:r>
            <a:r>
              <a:rPr lang="de-DE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enabler</a:t>
            </a:r>
            <a:r>
              <a:rPr lang="de-DE" baseline="0" dirty="0"/>
              <a:t> </a:t>
            </a:r>
            <a:r>
              <a:rPr lang="de-DE" baseline="0" dirty="0" err="1"/>
              <a:t>for</a:t>
            </a:r>
            <a:r>
              <a:rPr lang="de-DE" baseline="0" dirty="0"/>
              <a:t> </a:t>
            </a:r>
            <a:r>
              <a:rPr lang="de-DE" baseline="0" dirty="0" err="1"/>
              <a:t>our</a:t>
            </a:r>
            <a:r>
              <a:rPr lang="de-DE" baseline="0" dirty="0"/>
              <a:t> </a:t>
            </a:r>
            <a:r>
              <a:rPr lang="de-DE" baseline="0" dirty="0" err="1"/>
              <a:t>project</a:t>
            </a:r>
            <a:r>
              <a:rPr lang="de-DE" baseline="0" dirty="0"/>
              <a:t> </a:t>
            </a:r>
            <a:r>
              <a:rPr lang="de-DE" baseline="0" dirty="0" err="1"/>
              <a:t>are</a:t>
            </a:r>
            <a:r>
              <a:rPr lang="de-DE" baseline="0" dirty="0"/>
              <a:t> </a:t>
            </a:r>
            <a:r>
              <a:rPr lang="de-DE" baseline="0" dirty="0" err="1"/>
              <a:t>reconfigurable</a:t>
            </a:r>
            <a:r>
              <a:rPr lang="de-DE" baseline="0" dirty="0"/>
              <a:t> </a:t>
            </a:r>
            <a:r>
              <a:rPr lang="de-DE" baseline="0" dirty="0" err="1"/>
              <a:t>optical</a:t>
            </a:r>
            <a:r>
              <a:rPr lang="de-DE" baseline="0" dirty="0"/>
              <a:t> </a:t>
            </a:r>
            <a:r>
              <a:rPr lang="de-DE" baseline="0" dirty="0" err="1"/>
              <a:t>switches</a:t>
            </a:r>
            <a:r>
              <a:rPr lang="de-DE" baseline="0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 err="1"/>
              <a:t>There</a:t>
            </a:r>
            <a:r>
              <a:rPr lang="de-DE" baseline="0" dirty="0"/>
              <a:t> </a:t>
            </a:r>
            <a:r>
              <a:rPr lang="de-DE" baseline="0" dirty="0" err="1"/>
              <a:t>is</a:t>
            </a:r>
            <a:r>
              <a:rPr lang="de-DE" baseline="0" dirty="0"/>
              <a:t> </a:t>
            </a:r>
            <a:r>
              <a:rPr lang="de-DE" baseline="0" dirty="0" err="1"/>
              <a:t>currently</a:t>
            </a:r>
            <a:r>
              <a:rPr lang="de-DE" baseline="0" dirty="0"/>
              <a:t> a </a:t>
            </a:r>
            <a:r>
              <a:rPr lang="de-DE" baseline="0" dirty="0" err="1"/>
              <a:t>spectrum</a:t>
            </a:r>
            <a:r>
              <a:rPr lang="de-DE" baseline="0" dirty="0"/>
              <a:t> </a:t>
            </a:r>
            <a:r>
              <a:rPr lang="de-DE" baseline="0" dirty="0" err="1"/>
              <a:t>of</a:t>
            </a:r>
            <a:r>
              <a:rPr lang="de-DE" baseline="0" dirty="0"/>
              <a:t> </a:t>
            </a:r>
            <a:r>
              <a:rPr lang="de-DE" baseline="0" dirty="0" err="1"/>
              <a:t>prototypes</a:t>
            </a:r>
            <a:r>
              <a:rPr lang="de-DE" baseline="0" dirty="0"/>
              <a:t> </a:t>
            </a:r>
            <a:r>
              <a:rPr lang="de-DE" baseline="0" dirty="0" err="1"/>
              <a:t>emerging</a:t>
            </a:r>
            <a:r>
              <a:rPr lang="de-DE" baseline="0" dirty="0"/>
              <a:t>: </a:t>
            </a:r>
            <a:r>
              <a:rPr lang="de-DE" baseline="0" dirty="0" err="1"/>
              <a:t>these</a:t>
            </a:r>
            <a:r>
              <a:rPr lang="de-DE" baseline="0" dirty="0"/>
              <a:t> </a:t>
            </a:r>
            <a:r>
              <a:rPr lang="de-DE" baseline="0" dirty="0" err="1"/>
              <a:t>prototypes</a:t>
            </a:r>
            <a:r>
              <a:rPr lang="de-DE" baseline="0" dirty="0"/>
              <a:t> </a:t>
            </a:r>
            <a:r>
              <a:rPr lang="de-DE" baseline="0" dirty="0" err="1"/>
              <a:t>have</a:t>
            </a:r>
            <a:r>
              <a:rPr lang="de-DE" baseline="0" dirty="0"/>
              <a:t> different </a:t>
            </a:r>
            <a:r>
              <a:rPr lang="de-DE" baseline="0" dirty="0" err="1"/>
              <a:t>sizes</a:t>
            </a:r>
            <a:r>
              <a:rPr lang="de-DE" baseline="0" dirty="0"/>
              <a:t>, different </a:t>
            </a:r>
            <a:r>
              <a:rPr lang="de-DE" baseline="0" dirty="0" err="1"/>
              <a:t>reconfiguration</a:t>
            </a:r>
            <a:r>
              <a:rPr lang="de-DE" baseline="0" dirty="0"/>
              <a:t> </a:t>
            </a:r>
            <a:r>
              <a:rPr lang="de-DE" baseline="0" dirty="0" err="1"/>
              <a:t>times</a:t>
            </a:r>
            <a:r>
              <a:rPr lang="de-DE" baseline="0" dirty="0"/>
              <a:t>, etc.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 err="1"/>
              <a:t>Here</a:t>
            </a:r>
            <a:r>
              <a:rPr lang="de-DE" baseline="0" dirty="0"/>
              <a:t> </a:t>
            </a:r>
            <a:r>
              <a:rPr lang="de-DE" baseline="0" dirty="0" err="1"/>
              <a:t>are</a:t>
            </a:r>
            <a:r>
              <a:rPr lang="de-DE" baseline="0" dirty="0"/>
              <a:t> </a:t>
            </a:r>
            <a:r>
              <a:rPr lang="de-DE" baseline="0" dirty="0" err="1"/>
              <a:t>some</a:t>
            </a:r>
            <a:r>
              <a:rPr lang="de-DE" baseline="0" dirty="0"/>
              <a:t> </a:t>
            </a:r>
            <a:r>
              <a:rPr lang="de-DE" baseline="0" dirty="0" err="1"/>
              <a:t>examples</a:t>
            </a:r>
            <a:r>
              <a:rPr lang="de-DE" baseline="0" dirty="0"/>
              <a:t> </a:t>
            </a:r>
            <a:r>
              <a:rPr lang="de-DE" baseline="0" dirty="0" err="1"/>
              <a:t>from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SIGCOMM </a:t>
            </a:r>
            <a:r>
              <a:rPr lang="de-DE" baseline="0" dirty="0" err="1"/>
              <a:t>workshop</a:t>
            </a:r>
            <a:r>
              <a:rPr lang="de-DE" baseline="0" dirty="0"/>
              <a:t> </a:t>
            </a:r>
            <a:r>
              <a:rPr lang="de-DE" baseline="0" dirty="0" err="1"/>
              <a:t>we</a:t>
            </a:r>
            <a:r>
              <a:rPr lang="de-DE" baseline="0" dirty="0"/>
              <a:t> </a:t>
            </a:r>
            <a:r>
              <a:rPr lang="de-DE" baseline="0" dirty="0" err="1"/>
              <a:t>organized</a:t>
            </a:r>
            <a:r>
              <a:rPr lang="de-DE" baseline="0" dirty="0"/>
              <a:t> last </a:t>
            </a:r>
            <a:r>
              <a:rPr lang="de-DE" baseline="0" dirty="0" err="1"/>
              <a:t>month</a:t>
            </a:r>
            <a:r>
              <a:rPr lang="de-DE" baseline="0" dirty="0"/>
              <a:t>.</a:t>
            </a:r>
            <a:endParaRPr dirty="0"/>
          </a:p>
        </p:txBody>
      </p:sp>
      <p:sp>
        <p:nvSpPr>
          <p:cNvPr id="1528" name="Google Shape;1528;g60be7dcf1c_0_4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03794018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8" name="Google Shape;1568;g60be7dcf1c_0_4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In a</a:t>
            </a:r>
            <a:r>
              <a:rPr lang="de-DE" baseline="0" dirty="0"/>
              <a:t> </a:t>
            </a:r>
            <a:r>
              <a:rPr lang="de-DE" baseline="0" dirty="0" err="1"/>
              <a:t>nutshell</a:t>
            </a:r>
            <a:r>
              <a:rPr lang="de-DE" baseline="0" dirty="0"/>
              <a:t>,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idea</a:t>
            </a:r>
            <a:r>
              <a:rPr lang="de-DE" baseline="0" dirty="0"/>
              <a:t> </a:t>
            </a:r>
            <a:r>
              <a:rPr lang="de-DE" baseline="0" dirty="0" err="1"/>
              <a:t>of</a:t>
            </a:r>
            <a:r>
              <a:rPr lang="de-DE" baseline="0" dirty="0"/>
              <a:t> </a:t>
            </a:r>
            <a:r>
              <a:rPr lang="de-DE" baseline="0" dirty="0" err="1"/>
              <a:t>this</a:t>
            </a:r>
            <a:r>
              <a:rPr lang="de-DE" baseline="0" dirty="0"/>
              <a:t> </a:t>
            </a:r>
            <a:r>
              <a:rPr lang="de-DE" baseline="0" dirty="0" err="1"/>
              <a:t>project</a:t>
            </a:r>
            <a:r>
              <a:rPr lang="de-DE" baseline="0" dirty="0"/>
              <a:t> </a:t>
            </a:r>
            <a:r>
              <a:rPr lang="de-DE" baseline="0" dirty="0" err="1"/>
              <a:t>is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exploit</a:t>
            </a:r>
            <a:r>
              <a:rPr lang="de-DE" baseline="0" dirty="0"/>
              <a:t> </a:t>
            </a:r>
            <a:r>
              <a:rPr lang="de-DE" baseline="0" dirty="0" err="1"/>
              <a:t>these</a:t>
            </a:r>
            <a:r>
              <a:rPr lang="de-DE" baseline="0" dirty="0"/>
              <a:t> </a:t>
            </a:r>
            <a:r>
              <a:rPr lang="de-DE" baseline="0" dirty="0" err="1"/>
              <a:t>new</a:t>
            </a:r>
            <a:r>
              <a:rPr lang="de-DE" baseline="0" dirty="0"/>
              <a:t> </a:t>
            </a:r>
            <a:r>
              <a:rPr lang="de-DE" baseline="0" dirty="0" err="1"/>
              <a:t>technological</a:t>
            </a:r>
            <a:r>
              <a:rPr lang="de-DE" baseline="0" dirty="0"/>
              <a:t> </a:t>
            </a:r>
            <a:r>
              <a:rPr lang="de-DE" baseline="0" dirty="0" err="1"/>
              <a:t>flexibilities</a:t>
            </a:r>
            <a:r>
              <a:rPr lang="de-DE" baseline="0" dirty="0"/>
              <a:t>, </a:t>
            </a:r>
            <a:r>
              <a:rPr lang="de-DE" baseline="0" dirty="0" err="1"/>
              <a:t>as</a:t>
            </a:r>
            <a:r>
              <a:rPr lang="de-DE" baseline="0" dirty="0"/>
              <a:t> </a:t>
            </a:r>
            <a:r>
              <a:rPr lang="de-DE" baseline="0" dirty="0" err="1"/>
              <a:t>well</a:t>
            </a:r>
            <a:r>
              <a:rPr lang="de-DE" baseline="0" dirty="0"/>
              <a:t> </a:t>
            </a:r>
            <a:r>
              <a:rPr lang="de-DE" baseline="0" dirty="0" err="1"/>
              <a:t>as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structure</a:t>
            </a:r>
            <a:r>
              <a:rPr lang="de-DE" baseline="0" dirty="0"/>
              <a:t> in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demand</a:t>
            </a:r>
            <a:r>
              <a:rPr lang="de-DE" baseline="0" dirty="0"/>
              <a:t>, </a:t>
            </a:r>
            <a:r>
              <a:rPr lang="de-DE" baseline="0" dirty="0" err="1"/>
              <a:t>to</a:t>
            </a:r>
            <a:r>
              <a:rPr lang="de-DE" baseline="0" dirty="0"/>
              <a:t> design </a:t>
            </a:r>
            <a:r>
              <a:rPr lang="de-DE" baseline="0" dirty="0" err="1"/>
              <a:t>self-adjusting</a:t>
            </a:r>
            <a:r>
              <a:rPr lang="de-DE" baseline="0" dirty="0"/>
              <a:t> </a:t>
            </a:r>
            <a:r>
              <a:rPr lang="de-DE" baseline="0" dirty="0" err="1"/>
              <a:t>networks</a:t>
            </a:r>
            <a:r>
              <a:rPr lang="de-DE" baseline="0" dirty="0"/>
              <a:t>,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improve</a:t>
            </a:r>
            <a:r>
              <a:rPr lang="de-DE" baseline="0" dirty="0"/>
              <a:t> </a:t>
            </a:r>
            <a:r>
              <a:rPr lang="de-DE" baseline="0" dirty="0" err="1"/>
              <a:t>efficiency</a:t>
            </a:r>
            <a:r>
              <a:rPr lang="de-DE" baseline="0" dirty="0"/>
              <a:t>. </a:t>
            </a:r>
            <a:r>
              <a:rPr lang="de-DE" baseline="0" dirty="0" err="1"/>
              <a:t>Now</a:t>
            </a:r>
            <a:r>
              <a:rPr lang="de-DE" baseline="0" dirty="0"/>
              <a:t> </a:t>
            </a:r>
            <a:r>
              <a:rPr lang="de-DE" baseline="0" dirty="0" err="1"/>
              <a:t>is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right</a:t>
            </a:r>
            <a:r>
              <a:rPr lang="de-DE" baseline="0" dirty="0"/>
              <a:t> time </a:t>
            </a:r>
            <a:r>
              <a:rPr lang="de-DE" baseline="0" dirty="0" err="1"/>
              <a:t>for</a:t>
            </a:r>
            <a:r>
              <a:rPr lang="de-DE" baseline="0" dirty="0"/>
              <a:t> </a:t>
            </a:r>
            <a:r>
              <a:rPr lang="de-DE" baseline="0" dirty="0" err="1"/>
              <a:t>this</a:t>
            </a:r>
            <a:r>
              <a:rPr lang="de-DE" baseline="0" dirty="0"/>
              <a:t> </a:t>
            </a:r>
            <a:r>
              <a:rPr lang="de-DE" baseline="0" dirty="0" err="1"/>
              <a:t>project</a:t>
            </a:r>
            <a:r>
              <a:rPr lang="de-DE" baseline="0" dirty="0"/>
              <a:t>: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 err="1"/>
              <a:t>it</a:t>
            </a:r>
            <a:r>
              <a:rPr lang="de-DE" baseline="0" dirty="0"/>
              <a:t> </a:t>
            </a:r>
            <a:r>
              <a:rPr lang="de-DE" baseline="0" dirty="0" err="1"/>
              <a:t>is</a:t>
            </a:r>
            <a:r>
              <a:rPr lang="de-DE" baseline="0" dirty="0"/>
              <a:t> </a:t>
            </a:r>
            <a:r>
              <a:rPr lang="de-DE" baseline="0" dirty="0" err="1"/>
              <a:t>possible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have</a:t>
            </a:r>
            <a:r>
              <a:rPr lang="de-DE" baseline="0" dirty="0"/>
              <a:t> </a:t>
            </a:r>
            <a:r>
              <a:rPr lang="de-DE" baseline="0" dirty="0" err="1"/>
              <a:t>impact</a:t>
            </a:r>
            <a:r>
              <a:rPr lang="de-DE" baseline="0" dirty="0"/>
              <a:t> </a:t>
            </a:r>
            <a:r>
              <a:rPr lang="de-DE" baseline="0" dirty="0" err="1"/>
              <a:t>as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community</a:t>
            </a:r>
            <a:r>
              <a:rPr lang="de-DE" baseline="0" dirty="0"/>
              <a:t> </a:t>
            </a:r>
            <a:r>
              <a:rPr lang="de-DE" baseline="0" dirty="0" err="1"/>
              <a:t>is</a:t>
            </a:r>
            <a:r>
              <a:rPr lang="de-DE" baseline="0" dirty="0"/>
              <a:t> </a:t>
            </a:r>
            <a:r>
              <a:rPr lang="de-DE" baseline="0" dirty="0" err="1"/>
              <a:t>currently</a:t>
            </a:r>
            <a:r>
              <a:rPr lang="de-DE" baseline="0" dirty="0"/>
              <a:t> </a:t>
            </a:r>
            <a:r>
              <a:rPr lang="de-DE" baseline="0" dirty="0" err="1"/>
              <a:t>re-achritecting</a:t>
            </a:r>
            <a:r>
              <a:rPr lang="de-DE" baseline="0" dirty="0"/>
              <a:t> </a:t>
            </a:r>
            <a:r>
              <a:rPr lang="de-DE" baseline="0" dirty="0" err="1"/>
              <a:t>networks</a:t>
            </a:r>
            <a:r>
              <a:rPr lang="de-DE" baseline="0" dirty="0"/>
              <a:t> </a:t>
            </a:r>
            <a:r>
              <a:rPr lang="de-DE" baseline="0" dirty="0" err="1"/>
              <a:t>anyways</a:t>
            </a:r>
            <a:r>
              <a:rPr lang="de-DE" baseline="0" dirty="0"/>
              <a:t>.</a:t>
            </a:r>
            <a:endParaRPr dirty="0"/>
          </a:p>
        </p:txBody>
      </p:sp>
      <p:sp>
        <p:nvSpPr>
          <p:cNvPr id="1569" name="Google Shape;1569;g60be7dcf1c_0_4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8" name="Google Shape;1568;g60be7dcf1c_0_4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 err="1"/>
              <a:t>Our</a:t>
            </a:r>
            <a:r>
              <a:rPr lang="de-DE" dirty="0"/>
              <a:t> </a:t>
            </a:r>
            <a:r>
              <a:rPr lang="de-DE" dirty="0" err="1"/>
              <a:t>goal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develop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theoretical</a:t>
            </a:r>
            <a:r>
              <a:rPr lang="de-DE" baseline="0" dirty="0"/>
              <a:t> </a:t>
            </a:r>
            <a:r>
              <a:rPr lang="de-DE" baseline="0" dirty="0" err="1"/>
              <a:t>foundations</a:t>
            </a:r>
            <a:r>
              <a:rPr lang="de-DE" baseline="0" dirty="0"/>
              <a:t> </a:t>
            </a:r>
            <a:r>
              <a:rPr lang="de-DE" baseline="0" dirty="0" err="1"/>
              <a:t>of</a:t>
            </a:r>
            <a:r>
              <a:rPr lang="de-DE" baseline="0" dirty="0"/>
              <a:t> such </a:t>
            </a:r>
            <a:r>
              <a:rPr lang="de-DE" baseline="0" dirty="0" err="1"/>
              <a:t>demand</a:t>
            </a:r>
            <a:r>
              <a:rPr lang="de-DE" baseline="0" dirty="0"/>
              <a:t>-aware </a:t>
            </a:r>
            <a:r>
              <a:rPr lang="de-DE" baseline="0" dirty="0" err="1"/>
              <a:t>networks</a:t>
            </a:r>
            <a:r>
              <a:rPr lang="de-DE" baseline="0" dirty="0"/>
              <a:t>, </a:t>
            </a:r>
            <a:r>
              <a:rPr lang="de-DE" baseline="0" dirty="0" err="1"/>
              <a:t>and</a:t>
            </a:r>
            <a:r>
              <a:rPr lang="de-DE" baseline="0" dirty="0"/>
              <a:t> a </a:t>
            </a:r>
            <a:r>
              <a:rPr lang="de-DE" baseline="0" dirty="0" err="1"/>
              <a:t>framework</a:t>
            </a:r>
            <a:r>
              <a:rPr lang="de-DE" baseline="0" dirty="0"/>
              <a:t> </a:t>
            </a:r>
            <a:r>
              <a:rPr lang="de-DE" baseline="0" dirty="0" err="1"/>
              <a:t>which</a:t>
            </a:r>
            <a:r>
              <a:rPr lang="de-DE" baseline="0" dirty="0"/>
              <a:t> </a:t>
            </a:r>
            <a:r>
              <a:rPr lang="de-DE" baseline="0" dirty="0" err="1"/>
              <a:t>comes</a:t>
            </a:r>
            <a:r>
              <a:rPr lang="de-DE" baseline="0" dirty="0"/>
              <a:t> </a:t>
            </a:r>
            <a:r>
              <a:rPr lang="de-DE" baseline="0" dirty="0" err="1"/>
              <a:t>with</a:t>
            </a:r>
            <a:r>
              <a:rPr lang="de-DE" baseline="0" dirty="0"/>
              <a:t> </a:t>
            </a:r>
            <a:r>
              <a:rPr lang="de-DE" baseline="0" dirty="0" err="1"/>
              <a:t>provable</a:t>
            </a:r>
            <a:r>
              <a:rPr lang="de-DE" baseline="0" dirty="0"/>
              <a:t> </a:t>
            </a:r>
            <a:r>
              <a:rPr lang="de-DE" baseline="0" dirty="0" err="1"/>
              <a:t>guarantees</a:t>
            </a:r>
            <a:r>
              <a:rPr lang="de-DE" baseline="0" dirty="0"/>
              <a:t>.</a:t>
            </a:r>
            <a:endParaRPr dirty="0"/>
          </a:p>
        </p:txBody>
      </p:sp>
      <p:sp>
        <p:nvSpPr>
          <p:cNvPr id="1569" name="Google Shape;1569;g60be7dcf1c_0_4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73421742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4">
          <a:extLst>
            <a:ext uri="{FF2B5EF4-FFF2-40B4-BE49-F238E27FC236}">
              <a16:creationId xmlns:a16="http://schemas.microsoft.com/office/drawing/2014/main" id="{C98F97AC-C418-4011-C0FC-0DDE64713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5" name="Google Shape;1795;g60be7dcf1c_0_691:notes">
            <a:extLst>
              <a:ext uri="{FF2B5EF4-FFF2-40B4-BE49-F238E27FC236}">
                <a16:creationId xmlns:a16="http://schemas.microsoft.com/office/drawing/2014/main" id="{BDB81D61-6E21-B423-8887-887267CBCC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course</a:t>
            </a:r>
            <a:r>
              <a:rPr lang="de-DE" dirty="0"/>
              <a:t>,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particularly</a:t>
            </a:r>
            <a:r>
              <a:rPr lang="de-DE" dirty="0"/>
              <a:t> </a:t>
            </a:r>
            <a:r>
              <a:rPr lang="de-DE" dirty="0" err="1"/>
              <a:t>interested</a:t>
            </a:r>
            <a:r>
              <a:rPr lang="de-DE" dirty="0"/>
              <a:t> in </a:t>
            </a:r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achieved</a:t>
            </a:r>
            <a:r>
              <a:rPr lang="de-DE" dirty="0"/>
              <a:t> in </a:t>
            </a:r>
            <a:r>
              <a:rPr lang="de-DE" dirty="0" err="1"/>
              <a:t>self-adjusting</a:t>
            </a:r>
            <a:r>
              <a:rPr lang="de-DE" dirty="0"/>
              <a:t> </a:t>
            </a:r>
            <a:r>
              <a:rPr lang="de-DE" dirty="0" err="1"/>
              <a:t>networks</a:t>
            </a:r>
            <a:r>
              <a:rPr lang="de-DE" dirty="0"/>
              <a:t>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this</a:t>
            </a:r>
            <a:r>
              <a:rPr lang="de-DE" dirty="0"/>
              <a:t> end,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want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develop</a:t>
            </a:r>
            <a:r>
              <a:rPr lang="de-DE" dirty="0"/>
              <a:t> </a:t>
            </a:r>
            <a:r>
              <a:rPr lang="de-DE" dirty="0" err="1"/>
              <a:t>metrics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self-adjusting</a:t>
            </a:r>
            <a:r>
              <a:rPr lang="de-DE" dirty="0"/>
              <a:t> </a:t>
            </a:r>
            <a:r>
              <a:rPr lang="de-DE" dirty="0" err="1"/>
              <a:t>networks</a:t>
            </a:r>
            <a:r>
              <a:rPr lang="de-DE" dirty="0"/>
              <a:t> </a:t>
            </a:r>
            <a:r>
              <a:rPr lang="de-DE" dirty="0" err="1"/>
              <a:t>which</a:t>
            </a:r>
            <a:r>
              <a:rPr lang="de-DE" dirty="0"/>
              <a:t> </a:t>
            </a:r>
            <a:r>
              <a:rPr lang="de-DE" dirty="0" err="1"/>
              <a:t>depend</a:t>
            </a:r>
            <a:r>
              <a:rPr lang="de-DE" dirty="0"/>
              <a:t> on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demand</a:t>
            </a:r>
            <a:r>
              <a:rPr lang="de-DE" dirty="0"/>
              <a:t>,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well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algorithms</a:t>
            </a:r>
            <a:r>
              <a:rPr lang="de-DE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 err="1"/>
              <a:t>Here</a:t>
            </a:r>
            <a:r>
              <a:rPr lang="de-DE" baseline="0" dirty="0"/>
              <a:t> </a:t>
            </a:r>
            <a:r>
              <a:rPr lang="de-DE" baseline="0" dirty="0" err="1"/>
              <a:t>we</a:t>
            </a:r>
            <a:r>
              <a:rPr lang="de-DE" baseline="0" dirty="0"/>
              <a:t> </a:t>
            </a:r>
            <a:r>
              <a:rPr lang="de-DE" baseline="0" dirty="0" err="1"/>
              <a:t>have</a:t>
            </a:r>
            <a:r>
              <a:rPr lang="de-DE" baseline="0" dirty="0"/>
              <a:t> </a:t>
            </a:r>
            <a:r>
              <a:rPr lang="de-DE" baseline="0" dirty="0" err="1"/>
              <a:t>some</a:t>
            </a:r>
            <a:r>
              <a:rPr lang="de-DE" baseline="0" dirty="0"/>
              <a:t> </a:t>
            </a:r>
            <a:r>
              <a:rPr lang="de-DE" baseline="0" dirty="0" err="1"/>
              <a:t>first</a:t>
            </a:r>
            <a:r>
              <a:rPr lang="de-DE" baseline="0" dirty="0"/>
              <a:t> </a:t>
            </a:r>
            <a:r>
              <a:rPr lang="de-DE" baseline="0" dirty="0" err="1"/>
              <a:t>insights</a:t>
            </a:r>
            <a:r>
              <a:rPr lang="de-DE" baseline="0" dirty="0"/>
              <a:t> </a:t>
            </a:r>
            <a:r>
              <a:rPr lang="de-DE" baseline="0" dirty="0" err="1"/>
              <a:t>that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entropy</a:t>
            </a:r>
            <a:r>
              <a:rPr lang="de-DE" baseline="0" dirty="0"/>
              <a:t> </a:t>
            </a:r>
            <a:r>
              <a:rPr lang="de-DE" baseline="0" dirty="0" err="1"/>
              <a:t>of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demand</a:t>
            </a:r>
            <a:r>
              <a:rPr lang="de-DE" baseline="0" dirty="0"/>
              <a:t> </a:t>
            </a:r>
            <a:r>
              <a:rPr lang="de-DE" baseline="0" dirty="0" err="1"/>
              <a:t>can</a:t>
            </a:r>
            <a:r>
              <a:rPr lang="de-DE" baseline="0" dirty="0"/>
              <a:t> </a:t>
            </a:r>
            <a:r>
              <a:rPr lang="de-DE" baseline="0" dirty="0" err="1"/>
              <a:t>serve</a:t>
            </a:r>
            <a:r>
              <a:rPr lang="de-DE" baseline="0" dirty="0"/>
              <a:t> </a:t>
            </a:r>
            <a:r>
              <a:rPr lang="de-DE" baseline="0" dirty="0" err="1"/>
              <a:t>as</a:t>
            </a:r>
            <a:r>
              <a:rPr lang="de-DE" baseline="0" dirty="0"/>
              <a:t> a </a:t>
            </a:r>
            <a:r>
              <a:rPr lang="de-DE" baseline="0" dirty="0" err="1"/>
              <a:t>useful</a:t>
            </a:r>
            <a:r>
              <a:rPr lang="de-DE" baseline="0" dirty="0"/>
              <a:t> </a:t>
            </a:r>
            <a:r>
              <a:rPr lang="de-DE" baseline="0" dirty="0" err="1"/>
              <a:t>metric</a:t>
            </a:r>
            <a:r>
              <a:rPr lang="de-DE" baseline="0" dirty="0"/>
              <a:t> </a:t>
            </a:r>
            <a:r>
              <a:rPr lang="de-DE" baseline="0" dirty="0" err="1"/>
              <a:t>for</a:t>
            </a:r>
            <a:r>
              <a:rPr lang="de-DE" baseline="0" dirty="0"/>
              <a:t> </a:t>
            </a:r>
            <a:r>
              <a:rPr lang="de-DE" baseline="0" dirty="0" err="1"/>
              <a:t>self-adjusting</a:t>
            </a:r>
            <a:r>
              <a:rPr lang="de-DE" baseline="0" dirty="0"/>
              <a:t> </a:t>
            </a:r>
            <a:r>
              <a:rPr lang="de-DE" baseline="0" dirty="0" err="1"/>
              <a:t>networks</a:t>
            </a:r>
            <a:r>
              <a:rPr lang="de-DE" baseline="0" dirty="0"/>
              <a:t>.</a:t>
            </a:r>
            <a:endParaRPr dirty="0"/>
          </a:p>
        </p:txBody>
      </p:sp>
      <p:sp>
        <p:nvSpPr>
          <p:cNvPr id="1796" name="Google Shape;1796;g60be7dcf1c_0_691:notes">
            <a:extLst>
              <a:ext uri="{FF2B5EF4-FFF2-40B4-BE49-F238E27FC236}">
                <a16:creationId xmlns:a16="http://schemas.microsoft.com/office/drawing/2014/main" id="{46B6CCBD-C926-BFA7-897D-22D3B1DE75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68518583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3">
          <a:extLst>
            <a:ext uri="{FF2B5EF4-FFF2-40B4-BE49-F238E27FC236}">
              <a16:creationId xmlns:a16="http://schemas.microsoft.com/office/drawing/2014/main" id="{3AC9B3F4-F576-CDB9-7E94-79634C4A2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g60be7dcf1c_0_222:notes">
            <a:extLst>
              <a:ext uri="{FF2B5EF4-FFF2-40B4-BE49-F238E27FC236}">
                <a16:creationId xmlns:a16="http://schemas.microsoft.com/office/drawing/2014/main" id="{D95D6053-C149-5203-D049-4EC0303582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05" name="Google Shape;1305;g60be7dcf1c_0_222:notes">
            <a:extLst>
              <a:ext uri="{FF2B5EF4-FFF2-40B4-BE49-F238E27FC236}">
                <a16:creationId xmlns:a16="http://schemas.microsoft.com/office/drawing/2014/main" id="{8F94587A-674E-664B-132E-B238BB10A0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0194895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3">
          <a:extLst>
            <a:ext uri="{FF2B5EF4-FFF2-40B4-BE49-F238E27FC236}">
              <a16:creationId xmlns:a16="http://schemas.microsoft.com/office/drawing/2014/main" id="{3BA1AB82-46D0-7CD0-FDF7-CFC691A1C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g60be7dcf1c_0_222:notes">
            <a:extLst>
              <a:ext uri="{FF2B5EF4-FFF2-40B4-BE49-F238E27FC236}">
                <a16:creationId xmlns:a16="http://schemas.microsoft.com/office/drawing/2014/main" id="{24ECC246-E5D9-2BE9-83BD-F851480332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05" name="Google Shape;1305;g60be7dcf1c_0_222:notes">
            <a:extLst>
              <a:ext uri="{FF2B5EF4-FFF2-40B4-BE49-F238E27FC236}">
                <a16:creationId xmlns:a16="http://schemas.microsoft.com/office/drawing/2014/main" id="{68738AC6-53B3-A0CB-FCA8-B872B566D7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75550072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3">
          <a:extLst>
            <a:ext uri="{FF2B5EF4-FFF2-40B4-BE49-F238E27FC236}">
              <a16:creationId xmlns:a16="http://schemas.microsoft.com/office/drawing/2014/main" id="{7168E9CA-3D08-369D-C416-F82CE7E96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g60be7dcf1c_0_222:notes">
            <a:extLst>
              <a:ext uri="{FF2B5EF4-FFF2-40B4-BE49-F238E27FC236}">
                <a16:creationId xmlns:a16="http://schemas.microsoft.com/office/drawing/2014/main" id="{48357024-51FA-5872-EA61-FE4C67BAD4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05" name="Google Shape;1305;g60be7dcf1c_0_222:notes">
            <a:extLst>
              <a:ext uri="{FF2B5EF4-FFF2-40B4-BE49-F238E27FC236}">
                <a16:creationId xmlns:a16="http://schemas.microsoft.com/office/drawing/2014/main" id="{EB56C03E-2694-90D3-BEB0-50ED47F557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64938429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3">
          <a:extLst>
            <a:ext uri="{FF2B5EF4-FFF2-40B4-BE49-F238E27FC236}">
              <a16:creationId xmlns:a16="http://schemas.microsoft.com/office/drawing/2014/main" id="{C0959C2B-A445-F2EA-C0F6-E04FCD0D8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g60be7dcf1c_0_222:notes">
            <a:extLst>
              <a:ext uri="{FF2B5EF4-FFF2-40B4-BE49-F238E27FC236}">
                <a16:creationId xmlns:a16="http://schemas.microsoft.com/office/drawing/2014/main" id="{8426D2AA-9DD7-ACB2-6038-B059E56024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05" name="Google Shape;1305;g60be7dcf1c_0_222:notes">
            <a:extLst>
              <a:ext uri="{FF2B5EF4-FFF2-40B4-BE49-F238E27FC236}">
                <a16:creationId xmlns:a16="http://schemas.microsoft.com/office/drawing/2014/main" id="{CF52F2E1-BEFD-EADA-8FA0-0391A58464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00109087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3">
          <a:extLst>
            <a:ext uri="{FF2B5EF4-FFF2-40B4-BE49-F238E27FC236}">
              <a16:creationId xmlns:a16="http://schemas.microsoft.com/office/drawing/2014/main" id="{7D576CEB-93B3-E88E-5F9F-BC2843FB9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g60be7dcf1c_0_222:notes">
            <a:extLst>
              <a:ext uri="{FF2B5EF4-FFF2-40B4-BE49-F238E27FC236}">
                <a16:creationId xmlns:a16="http://schemas.microsoft.com/office/drawing/2014/main" id="{A380DB84-24DC-0E4F-3F28-92C1BCC1F6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05" name="Google Shape;1305;g60be7dcf1c_0_222:notes">
            <a:extLst>
              <a:ext uri="{FF2B5EF4-FFF2-40B4-BE49-F238E27FC236}">
                <a16:creationId xmlns:a16="http://schemas.microsoft.com/office/drawing/2014/main" id="{C9C9A7B3-CD9E-CA77-AC48-1E8807C86D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87434928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g60be7dcf1c_0_2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05" name="Google Shape;1305;g60be7dcf1c_0_2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07097063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g60be7dcf1c_0_2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05" name="Google Shape;1305;g60be7dcf1c_0_2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51203453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g60be7dcf1c_0_2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05" name="Google Shape;1305;g60be7dcf1c_0_2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34465971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g60be7dcf1c_0_2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05" name="Google Shape;1305;g60be7dcf1c_0_2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25586905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g60be7dcf1c_0_2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05" name="Google Shape;1305;g60be7dcf1c_0_2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21428954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g60be7dcf1c_0_2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05" name="Google Shape;1305;g60be7dcf1c_0_2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82030342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3">
          <a:extLst>
            <a:ext uri="{FF2B5EF4-FFF2-40B4-BE49-F238E27FC236}">
              <a16:creationId xmlns:a16="http://schemas.microsoft.com/office/drawing/2014/main" id="{665C78EB-0259-4DC8-7038-2200DBBBC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g60be7dcf1c_0_222:notes">
            <a:extLst>
              <a:ext uri="{FF2B5EF4-FFF2-40B4-BE49-F238E27FC236}">
                <a16:creationId xmlns:a16="http://schemas.microsoft.com/office/drawing/2014/main" id="{C7AFB6D0-967C-CA39-B78C-189E431C6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05" name="Google Shape;1305;g60be7dcf1c_0_222:notes">
            <a:extLst>
              <a:ext uri="{FF2B5EF4-FFF2-40B4-BE49-F238E27FC236}">
                <a16:creationId xmlns:a16="http://schemas.microsoft.com/office/drawing/2014/main" id="{E85E534E-1667-A94B-8687-021FC759EC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67331226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3">
          <a:extLst>
            <a:ext uri="{FF2B5EF4-FFF2-40B4-BE49-F238E27FC236}">
              <a16:creationId xmlns:a16="http://schemas.microsoft.com/office/drawing/2014/main" id="{8E3555EC-13D7-E448-D191-D7594B80C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g60be7dcf1c_0_222:notes">
            <a:extLst>
              <a:ext uri="{FF2B5EF4-FFF2-40B4-BE49-F238E27FC236}">
                <a16:creationId xmlns:a16="http://schemas.microsoft.com/office/drawing/2014/main" id="{875A0229-9AA1-FAFA-0CB5-F2EB4894A7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05" name="Google Shape;1305;g60be7dcf1c_0_222:notes">
            <a:extLst>
              <a:ext uri="{FF2B5EF4-FFF2-40B4-BE49-F238E27FC236}">
                <a16:creationId xmlns:a16="http://schemas.microsoft.com/office/drawing/2014/main" id="{8835D133-E2A3-1BF9-2D5F-DD00686397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10935037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4">
          <a:extLst>
            <a:ext uri="{FF2B5EF4-FFF2-40B4-BE49-F238E27FC236}">
              <a16:creationId xmlns:a16="http://schemas.microsoft.com/office/drawing/2014/main" id="{6C687181-87F8-4DA3-511E-C9A0C1028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5" name="Google Shape;1795;g60be7dcf1c_0_691:notes">
            <a:extLst>
              <a:ext uri="{FF2B5EF4-FFF2-40B4-BE49-F238E27FC236}">
                <a16:creationId xmlns:a16="http://schemas.microsoft.com/office/drawing/2014/main" id="{9CA8CBD9-D5D3-2BAC-1C43-05B01ED6D0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course</a:t>
            </a:r>
            <a:r>
              <a:rPr lang="de-DE" dirty="0"/>
              <a:t>,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particularly</a:t>
            </a:r>
            <a:r>
              <a:rPr lang="de-DE" dirty="0"/>
              <a:t> </a:t>
            </a:r>
            <a:r>
              <a:rPr lang="de-DE" dirty="0" err="1"/>
              <a:t>interested</a:t>
            </a:r>
            <a:r>
              <a:rPr lang="de-DE" dirty="0"/>
              <a:t> in </a:t>
            </a:r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achieved</a:t>
            </a:r>
            <a:r>
              <a:rPr lang="de-DE" dirty="0"/>
              <a:t> in </a:t>
            </a:r>
            <a:r>
              <a:rPr lang="de-DE" dirty="0" err="1"/>
              <a:t>self-adjusting</a:t>
            </a:r>
            <a:r>
              <a:rPr lang="de-DE" dirty="0"/>
              <a:t> </a:t>
            </a:r>
            <a:r>
              <a:rPr lang="de-DE" dirty="0" err="1"/>
              <a:t>networks</a:t>
            </a:r>
            <a:r>
              <a:rPr lang="de-DE" dirty="0"/>
              <a:t>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this</a:t>
            </a:r>
            <a:r>
              <a:rPr lang="de-DE" dirty="0"/>
              <a:t> end,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want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develop</a:t>
            </a:r>
            <a:r>
              <a:rPr lang="de-DE" dirty="0"/>
              <a:t> </a:t>
            </a:r>
            <a:r>
              <a:rPr lang="de-DE" dirty="0" err="1"/>
              <a:t>metrics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self-adjusting</a:t>
            </a:r>
            <a:r>
              <a:rPr lang="de-DE" dirty="0"/>
              <a:t> </a:t>
            </a:r>
            <a:r>
              <a:rPr lang="de-DE" dirty="0" err="1"/>
              <a:t>networks</a:t>
            </a:r>
            <a:r>
              <a:rPr lang="de-DE" dirty="0"/>
              <a:t> </a:t>
            </a:r>
            <a:r>
              <a:rPr lang="de-DE" dirty="0" err="1"/>
              <a:t>which</a:t>
            </a:r>
            <a:r>
              <a:rPr lang="de-DE" dirty="0"/>
              <a:t> </a:t>
            </a:r>
            <a:r>
              <a:rPr lang="de-DE" dirty="0" err="1"/>
              <a:t>depend</a:t>
            </a:r>
            <a:r>
              <a:rPr lang="de-DE" dirty="0"/>
              <a:t> on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demand</a:t>
            </a:r>
            <a:r>
              <a:rPr lang="de-DE" dirty="0"/>
              <a:t>,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well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algorithms</a:t>
            </a:r>
            <a:r>
              <a:rPr lang="de-DE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 err="1"/>
              <a:t>Here</a:t>
            </a:r>
            <a:r>
              <a:rPr lang="de-DE" baseline="0" dirty="0"/>
              <a:t> </a:t>
            </a:r>
            <a:r>
              <a:rPr lang="de-DE" baseline="0" dirty="0" err="1"/>
              <a:t>we</a:t>
            </a:r>
            <a:r>
              <a:rPr lang="de-DE" baseline="0" dirty="0"/>
              <a:t> </a:t>
            </a:r>
            <a:r>
              <a:rPr lang="de-DE" baseline="0" dirty="0" err="1"/>
              <a:t>have</a:t>
            </a:r>
            <a:r>
              <a:rPr lang="de-DE" baseline="0" dirty="0"/>
              <a:t> </a:t>
            </a:r>
            <a:r>
              <a:rPr lang="de-DE" baseline="0" dirty="0" err="1"/>
              <a:t>some</a:t>
            </a:r>
            <a:r>
              <a:rPr lang="de-DE" baseline="0" dirty="0"/>
              <a:t> </a:t>
            </a:r>
            <a:r>
              <a:rPr lang="de-DE" baseline="0" dirty="0" err="1"/>
              <a:t>first</a:t>
            </a:r>
            <a:r>
              <a:rPr lang="de-DE" baseline="0" dirty="0"/>
              <a:t> </a:t>
            </a:r>
            <a:r>
              <a:rPr lang="de-DE" baseline="0" dirty="0" err="1"/>
              <a:t>insights</a:t>
            </a:r>
            <a:r>
              <a:rPr lang="de-DE" baseline="0" dirty="0"/>
              <a:t> </a:t>
            </a:r>
            <a:r>
              <a:rPr lang="de-DE" baseline="0" dirty="0" err="1"/>
              <a:t>that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entropy</a:t>
            </a:r>
            <a:r>
              <a:rPr lang="de-DE" baseline="0" dirty="0"/>
              <a:t> </a:t>
            </a:r>
            <a:r>
              <a:rPr lang="de-DE" baseline="0" dirty="0" err="1"/>
              <a:t>of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demand</a:t>
            </a:r>
            <a:r>
              <a:rPr lang="de-DE" baseline="0" dirty="0"/>
              <a:t> </a:t>
            </a:r>
            <a:r>
              <a:rPr lang="de-DE" baseline="0" dirty="0" err="1"/>
              <a:t>can</a:t>
            </a:r>
            <a:r>
              <a:rPr lang="de-DE" baseline="0" dirty="0"/>
              <a:t> </a:t>
            </a:r>
            <a:r>
              <a:rPr lang="de-DE" baseline="0" dirty="0" err="1"/>
              <a:t>serve</a:t>
            </a:r>
            <a:r>
              <a:rPr lang="de-DE" baseline="0" dirty="0"/>
              <a:t> </a:t>
            </a:r>
            <a:r>
              <a:rPr lang="de-DE" baseline="0" dirty="0" err="1"/>
              <a:t>as</a:t>
            </a:r>
            <a:r>
              <a:rPr lang="de-DE" baseline="0" dirty="0"/>
              <a:t> a </a:t>
            </a:r>
            <a:r>
              <a:rPr lang="de-DE" baseline="0" dirty="0" err="1"/>
              <a:t>useful</a:t>
            </a:r>
            <a:r>
              <a:rPr lang="de-DE" baseline="0" dirty="0"/>
              <a:t> </a:t>
            </a:r>
            <a:r>
              <a:rPr lang="de-DE" baseline="0" dirty="0" err="1"/>
              <a:t>metric</a:t>
            </a:r>
            <a:r>
              <a:rPr lang="de-DE" baseline="0" dirty="0"/>
              <a:t> </a:t>
            </a:r>
            <a:r>
              <a:rPr lang="de-DE" baseline="0" dirty="0" err="1"/>
              <a:t>for</a:t>
            </a:r>
            <a:r>
              <a:rPr lang="de-DE" baseline="0" dirty="0"/>
              <a:t> </a:t>
            </a:r>
            <a:r>
              <a:rPr lang="de-DE" baseline="0" dirty="0" err="1"/>
              <a:t>self-adjusting</a:t>
            </a:r>
            <a:r>
              <a:rPr lang="de-DE" baseline="0" dirty="0"/>
              <a:t> </a:t>
            </a:r>
            <a:r>
              <a:rPr lang="de-DE" baseline="0" dirty="0" err="1"/>
              <a:t>networks</a:t>
            </a:r>
            <a:r>
              <a:rPr lang="de-DE" baseline="0" dirty="0"/>
              <a:t>.</a:t>
            </a:r>
            <a:endParaRPr dirty="0"/>
          </a:p>
        </p:txBody>
      </p:sp>
      <p:sp>
        <p:nvSpPr>
          <p:cNvPr id="1796" name="Google Shape;1796;g60be7dcf1c_0_691:notes">
            <a:extLst>
              <a:ext uri="{FF2B5EF4-FFF2-40B4-BE49-F238E27FC236}">
                <a16:creationId xmlns:a16="http://schemas.microsoft.com/office/drawing/2014/main" id="{EDA4D8FB-E588-BACE-EA48-8DCAFCE2F6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637083537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1">
          <a:extLst>
            <a:ext uri="{FF2B5EF4-FFF2-40B4-BE49-F238E27FC236}">
              <a16:creationId xmlns:a16="http://schemas.microsoft.com/office/drawing/2014/main" id="{21E314A3-DA0C-EF4F-5E7F-5C8645AB8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2" name="Google Shape;1762;g60be7dcf1c_0_659:notes">
            <a:extLst>
              <a:ext uri="{FF2B5EF4-FFF2-40B4-BE49-F238E27FC236}">
                <a16:creationId xmlns:a16="http://schemas.microsoft.com/office/drawing/2014/main" id="{6267613E-2DB6-4A77-3E5D-8BCD00C8DE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63" name="Google Shape;1763;g60be7dcf1c_0_659:notes">
            <a:extLst>
              <a:ext uri="{FF2B5EF4-FFF2-40B4-BE49-F238E27FC236}">
                <a16:creationId xmlns:a16="http://schemas.microsoft.com/office/drawing/2014/main" id="{9913C8FC-C033-4B9C-5E63-75ACE553BB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561475037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1">
          <a:extLst>
            <a:ext uri="{FF2B5EF4-FFF2-40B4-BE49-F238E27FC236}">
              <a16:creationId xmlns:a16="http://schemas.microsoft.com/office/drawing/2014/main" id="{916C8EE8-CA66-61F0-A5F9-9501D8686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2" name="Google Shape;1762;g60be7dcf1c_0_659:notes">
            <a:extLst>
              <a:ext uri="{FF2B5EF4-FFF2-40B4-BE49-F238E27FC236}">
                <a16:creationId xmlns:a16="http://schemas.microsoft.com/office/drawing/2014/main" id="{104AF823-3D54-A78D-28A2-9C7CA3D44C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63" name="Google Shape;1763;g60be7dcf1c_0_659:notes">
            <a:extLst>
              <a:ext uri="{FF2B5EF4-FFF2-40B4-BE49-F238E27FC236}">
                <a16:creationId xmlns:a16="http://schemas.microsoft.com/office/drawing/2014/main" id="{52CB06E1-84E2-F991-D9E3-61ED368343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749228174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1">
          <a:extLst>
            <a:ext uri="{FF2B5EF4-FFF2-40B4-BE49-F238E27FC236}">
              <a16:creationId xmlns:a16="http://schemas.microsoft.com/office/drawing/2014/main" id="{12C4C1A0-E071-189B-C961-91137BA7B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2" name="Google Shape;1762;g60be7dcf1c_0_659:notes">
            <a:extLst>
              <a:ext uri="{FF2B5EF4-FFF2-40B4-BE49-F238E27FC236}">
                <a16:creationId xmlns:a16="http://schemas.microsoft.com/office/drawing/2014/main" id="{2CAD7DF5-5F7D-AFEE-EE9A-977685513F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63" name="Google Shape;1763;g60be7dcf1c_0_659:notes">
            <a:extLst>
              <a:ext uri="{FF2B5EF4-FFF2-40B4-BE49-F238E27FC236}">
                <a16:creationId xmlns:a16="http://schemas.microsoft.com/office/drawing/2014/main" id="{FA325F05-877C-E949-1405-7B3997EEE5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704887032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1">
          <a:extLst>
            <a:ext uri="{FF2B5EF4-FFF2-40B4-BE49-F238E27FC236}">
              <a16:creationId xmlns:a16="http://schemas.microsoft.com/office/drawing/2014/main" id="{282B9F23-951F-B207-FF85-F9E9D0A7C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2" name="Google Shape;1762;g60be7dcf1c_0_659:notes">
            <a:extLst>
              <a:ext uri="{FF2B5EF4-FFF2-40B4-BE49-F238E27FC236}">
                <a16:creationId xmlns:a16="http://schemas.microsoft.com/office/drawing/2014/main" id="{6B01767A-9E15-79EE-4E3F-9D15C72AE2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63" name="Google Shape;1763;g60be7dcf1c_0_659:notes">
            <a:extLst>
              <a:ext uri="{FF2B5EF4-FFF2-40B4-BE49-F238E27FC236}">
                <a16:creationId xmlns:a16="http://schemas.microsoft.com/office/drawing/2014/main" id="{7F6062A8-1BC6-83A8-A2EC-DE3F5C9B30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77691962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2" name="Google Shape;1762;g60be7dcf1c_0_6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63" name="Google Shape;1763;g60be7dcf1c_0_6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747785930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1">
          <a:extLst>
            <a:ext uri="{FF2B5EF4-FFF2-40B4-BE49-F238E27FC236}">
              <a16:creationId xmlns:a16="http://schemas.microsoft.com/office/drawing/2014/main" id="{7EC18038-CD14-E97C-CF71-8EE31C9EB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2" name="Google Shape;1762;g60be7dcf1c_0_659:notes">
            <a:extLst>
              <a:ext uri="{FF2B5EF4-FFF2-40B4-BE49-F238E27FC236}">
                <a16:creationId xmlns:a16="http://schemas.microsoft.com/office/drawing/2014/main" id="{62D8C587-3491-F49C-95F8-7C2AED1989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63" name="Google Shape;1763;g60be7dcf1c_0_659:notes">
            <a:extLst>
              <a:ext uri="{FF2B5EF4-FFF2-40B4-BE49-F238E27FC236}">
                <a16:creationId xmlns:a16="http://schemas.microsoft.com/office/drawing/2014/main" id="{05CDE2FB-489E-0233-16D2-61E1D26B88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4178379325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1">
          <a:extLst>
            <a:ext uri="{FF2B5EF4-FFF2-40B4-BE49-F238E27FC236}">
              <a16:creationId xmlns:a16="http://schemas.microsoft.com/office/drawing/2014/main" id="{DEA9562A-A291-B525-4E3F-8C6D71FFF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2" name="Google Shape;1762;g60be7dcf1c_0_659:notes">
            <a:extLst>
              <a:ext uri="{FF2B5EF4-FFF2-40B4-BE49-F238E27FC236}">
                <a16:creationId xmlns:a16="http://schemas.microsoft.com/office/drawing/2014/main" id="{5C32B327-9B2E-ED19-64BA-FF5A019980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63" name="Google Shape;1763;g60be7dcf1c_0_659:notes">
            <a:extLst>
              <a:ext uri="{FF2B5EF4-FFF2-40B4-BE49-F238E27FC236}">
                <a16:creationId xmlns:a16="http://schemas.microsoft.com/office/drawing/2014/main" id="{B116814E-66A4-CCB0-1819-B6569E737F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876589696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1">
          <a:extLst>
            <a:ext uri="{FF2B5EF4-FFF2-40B4-BE49-F238E27FC236}">
              <a16:creationId xmlns:a16="http://schemas.microsoft.com/office/drawing/2014/main" id="{53AF9769-33F0-961E-409F-759FB4AB8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2" name="Google Shape;1762;g60be7dcf1c_0_659:notes">
            <a:extLst>
              <a:ext uri="{FF2B5EF4-FFF2-40B4-BE49-F238E27FC236}">
                <a16:creationId xmlns:a16="http://schemas.microsoft.com/office/drawing/2014/main" id="{7CF91F3A-22E0-54FD-FBA8-C7532D1C8F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63" name="Google Shape;1763;g60be7dcf1c_0_659:notes">
            <a:extLst>
              <a:ext uri="{FF2B5EF4-FFF2-40B4-BE49-F238E27FC236}">
                <a16:creationId xmlns:a16="http://schemas.microsoft.com/office/drawing/2014/main" id="{A44C7D57-1763-8A6B-5272-05BC50EB7A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944917469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1">
          <a:extLst>
            <a:ext uri="{FF2B5EF4-FFF2-40B4-BE49-F238E27FC236}">
              <a16:creationId xmlns:a16="http://schemas.microsoft.com/office/drawing/2014/main" id="{A1CAFF04-CC0A-541A-6971-A23B3A490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2" name="Google Shape;1762;g60be7dcf1c_0_659:notes">
            <a:extLst>
              <a:ext uri="{FF2B5EF4-FFF2-40B4-BE49-F238E27FC236}">
                <a16:creationId xmlns:a16="http://schemas.microsoft.com/office/drawing/2014/main" id="{26246EFA-EA89-D27F-2048-A4D41E7104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63" name="Google Shape;1763;g60be7dcf1c_0_659:notes">
            <a:extLst>
              <a:ext uri="{FF2B5EF4-FFF2-40B4-BE49-F238E27FC236}">
                <a16:creationId xmlns:a16="http://schemas.microsoft.com/office/drawing/2014/main" id="{31B3E398-3F25-0ECF-57A3-A00DFD0A3D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4229764875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1">
          <a:extLst>
            <a:ext uri="{FF2B5EF4-FFF2-40B4-BE49-F238E27FC236}">
              <a16:creationId xmlns:a16="http://schemas.microsoft.com/office/drawing/2014/main" id="{52828F30-A91B-0B7F-2711-EDE17EB71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2" name="Google Shape;1762;g60be7dcf1c_0_659:notes">
            <a:extLst>
              <a:ext uri="{FF2B5EF4-FFF2-40B4-BE49-F238E27FC236}">
                <a16:creationId xmlns:a16="http://schemas.microsoft.com/office/drawing/2014/main" id="{69ED68F6-FE82-5AF4-31CB-81FBC1CBB0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63" name="Google Shape;1763;g60be7dcf1c_0_659:notes">
            <a:extLst>
              <a:ext uri="{FF2B5EF4-FFF2-40B4-BE49-F238E27FC236}">
                <a16:creationId xmlns:a16="http://schemas.microsoft.com/office/drawing/2014/main" id="{5E8E65DB-2E59-7252-0194-23C17408DA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73704136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1">
          <a:extLst>
            <a:ext uri="{FF2B5EF4-FFF2-40B4-BE49-F238E27FC236}">
              <a16:creationId xmlns:a16="http://schemas.microsoft.com/office/drawing/2014/main" id="{C999FE7D-FD75-5CFC-9FB7-14EA6AD3A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2" name="Google Shape;1762;g60be7dcf1c_0_659:notes">
            <a:extLst>
              <a:ext uri="{FF2B5EF4-FFF2-40B4-BE49-F238E27FC236}">
                <a16:creationId xmlns:a16="http://schemas.microsoft.com/office/drawing/2014/main" id="{85361EDF-30D8-AD45-2488-0F26465BB1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63" name="Google Shape;1763;g60be7dcf1c_0_659:notes">
            <a:extLst>
              <a:ext uri="{FF2B5EF4-FFF2-40B4-BE49-F238E27FC236}">
                <a16:creationId xmlns:a16="http://schemas.microsoft.com/office/drawing/2014/main" id="{FBA4382F-772F-5963-8D8B-305430495A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016310013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1">
          <a:extLst>
            <a:ext uri="{FF2B5EF4-FFF2-40B4-BE49-F238E27FC236}">
              <a16:creationId xmlns:a16="http://schemas.microsoft.com/office/drawing/2014/main" id="{AFEC03E3-4A20-025E-2BD8-31ACF8479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2" name="Google Shape;1762;g60be7dcf1c_0_659:notes">
            <a:extLst>
              <a:ext uri="{FF2B5EF4-FFF2-40B4-BE49-F238E27FC236}">
                <a16:creationId xmlns:a16="http://schemas.microsoft.com/office/drawing/2014/main" id="{24CC53EC-47D7-3D90-BE27-E1A14CCEEA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63" name="Google Shape;1763;g60be7dcf1c_0_659:notes">
            <a:extLst>
              <a:ext uri="{FF2B5EF4-FFF2-40B4-BE49-F238E27FC236}">
                <a16:creationId xmlns:a16="http://schemas.microsoft.com/office/drawing/2014/main" id="{D0BB5E20-6B96-305F-6615-0DDE2DB747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909111088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1">
          <a:extLst>
            <a:ext uri="{FF2B5EF4-FFF2-40B4-BE49-F238E27FC236}">
              <a16:creationId xmlns:a16="http://schemas.microsoft.com/office/drawing/2014/main" id="{322AA2CF-5FE6-B52C-E1CC-004CB1FAA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2" name="Google Shape;1762;g60be7dcf1c_0_659:notes">
            <a:extLst>
              <a:ext uri="{FF2B5EF4-FFF2-40B4-BE49-F238E27FC236}">
                <a16:creationId xmlns:a16="http://schemas.microsoft.com/office/drawing/2014/main" id="{476BDED1-B0C0-44DD-3847-7538AEC778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63" name="Google Shape;1763;g60be7dcf1c_0_659:notes">
            <a:extLst>
              <a:ext uri="{FF2B5EF4-FFF2-40B4-BE49-F238E27FC236}">
                <a16:creationId xmlns:a16="http://schemas.microsoft.com/office/drawing/2014/main" id="{E7F88422-5D11-F509-0C78-807CEB96E9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46440317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1">
          <a:extLst>
            <a:ext uri="{FF2B5EF4-FFF2-40B4-BE49-F238E27FC236}">
              <a16:creationId xmlns:a16="http://schemas.microsoft.com/office/drawing/2014/main" id="{46F0D495-4B28-427E-5FF4-9CAD24D5B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2" name="Google Shape;1762;g60be7dcf1c_0_659:notes">
            <a:extLst>
              <a:ext uri="{FF2B5EF4-FFF2-40B4-BE49-F238E27FC236}">
                <a16:creationId xmlns:a16="http://schemas.microsoft.com/office/drawing/2014/main" id="{A6C74D05-6BD4-EE81-2219-AC31EFAAF3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63" name="Google Shape;1763;g60be7dcf1c_0_659:notes">
            <a:extLst>
              <a:ext uri="{FF2B5EF4-FFF2-40B4-BE49-F238E27FC236}">
                <a16:creationId xmlns:a16="http://schemas.microsoft.com/office/drawing/2014/main" id="{B7CEB04B-AF4C-4B03-2B37-4CF12310F5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736937825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1">
          <a:extLst>
            <a:ext uri="{FF2B5EF4-FFF2-40B4-BE49-F238E27FC236}">
              <a16:creationId xmlns:a16="http://schemas.microsoft.com/office/drawing/2014/main" id="{89C8772A-B410-1270-CFF0-70AF99D2C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2" name="Google Shape;1762;g60be7dcf1c_0_659:notes">
            <a:extLst>
              <a:ext uri="{FF2B5EF4-FFF2-40B4-BE49-F238E27FC236}">
                <a16:creationId xmlns:a16="http://schemas.microsoft.com/office/drawing/2014/main" id="{1FC0269C-6502-6557-8137-0170BB38D3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63" name="Google Shape;1763;g60be7dcf1c_0_659:notes">
            <a:extLst>
              <a:ext uri="{FF2B5EF4-FFF2-40B4-BE49-F238E27FC236}">
                <a16:creationId xmlns:a16="http://schemas.microsoft.com/office/drawing/2014/main" id="{32145EC2-90F3-2050-7200-697B0936B9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739894963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1">
          <a:extLst>
            <a:ext uri="{FF2B5EF4-FFF2-40B4-BE49-F238E27FC236}">
              <a16:creationId xmlns:a16="http://schemas.microsoft.com/office/drawing/2014/main" id="{0D5F1A30-F2CE-29F6-417C-754D3D306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2" name="Google Shape;1762;g60be7dcf1c_0_659:notes">
            <a:extLst>
              <a:ext uri="{FF2B5EF4-FFF2-40B4-BE49-F238E27FC236}">
                <a16:creationId xmlns:a16="http://schemas.microsoft.com/office/drawing/2014/main" id="{CEFBA44C-BA6E-80E7-217D-EB6A78CA85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63" name="Google Shape;1763;g60be7dcf1c_0_659:notes">
            <a:extLst>
              <a:ext uri="{FF2B5EF4-FFF2-40B4-BE49-F238E27FC236}">
                <a16:creationId xmlns:a16="http://schemas.microsoft.com/office/drawing/2014/main" id="{A7098595-D56C-BA43-5AFE-A7BFD63E34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18418795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1">
          <a:extLst>
            <a:ext uri="{FF2B5EF4-FFF2-40B4-BE49-F238E27FC236}">
              <a16:creationId xmlns:a16="http://schemas.microsoft.com/office/drawing/2014/main" id="{559A7D0D-832D-BB28-2139-C2FBAD5AA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2" name="Google Shape;1762;g60be7dcf1c_0_659:notes">
            <a:extLst>
              <a:ext uri="{FF2B5EF4-FFF2-40B4-BE49-F238E27FC236}">
                <a16:creationId xmlns:a16="http://schemas.microsoft.com/office/drawing/2014/main" id="{C4543B7F-6D11-B3F7-9A6E-7D8745A8F5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63" name="Google Shape;1763;g60be7dcf1c_0_659:notes">
            <a:extLst>
              <a:ext uri="{FF2B5EF4-FFF2-40B4-BE49-F238E27FC236}">
                <a16:creationId xmlns:a16="http://schemas.microsoft.com/office/drawing/2014/main" id="{E506CE99-15D3-9EE0-3635-D4C15DD1E1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348605660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1">
          <a:extLst>
            <a:ext uri="{FF2B5EF4-FFF2-40B4-BE49-F238E27FC236}">
              <a16:creationId xmlns:a16="http://schemas.microsoft.com/office/drawing/2014/main" id="{730B7845-BDC8-4A54-A84F-97492079F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2" name="Google Shape;1762;g60be7dcf1c_0_659:notes">
            <a:extLst>
              <a:ext uri="{FF2B5EF4-FFF2-40B4-BE49-F238E27FC236}">
                <a16:creationId xmlns:a16="http://schemas.microsoft.com/office/drawing/2014/main" id="{10846FC6-6FB0-BD8A-466B-EF6F26F715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63" name="Google Shape;1763;g60be7dcf1c_0_659:notes">
            <a:extLst>
              <a:ext uri="{FF2B5EF4-FFF2-40B4-BE49-F238E27FC236}">
                <a16:creationId xmlns:a16="http://schemas.microsoft.com/office/drawing/2014/main" id="{2F316919-7653-CAD0-0D61-D26B4FE228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73652388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1">
          <a:extLst>
            <a:ext uri="{FF2B5EF4-FFF2-40B4-BE49-F238E27FC236}">
              <a16:creationId xmlns:a16="http://schemas.microsoft.com/office/drawing/2014/main" id="{9CA2F7BA-7C91-4A0B-83F2-88E2D5057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2" name="Google Shape;1762;g60be7dcf1c_0_659:notes">
            <a:extLst>
              <a:ext uri="{FF2B5EF4-FFF2-40B4-BE49-F238E27FC236}">
                <a16:creationId xmlns:a16="http://schemas.microsoft.com/office/drawing/2014/main" id="{6BB25E07-6E75-0EF9-C29B-BB030AF194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63" name="Google Shape;1763;g60be7dcf1c_0_659:notes">
            <a:extLst>
              <a:ext uri="{FF2B5EF4-FFF2-40B4-BE49-F238E27FC236}">
                <a16:creationId xmlns:a16="http://schemas.microsoft.com/office/drawing/2014/main" id="{4EC18A14-A7CA-C57B-3F2B-93A6E453DD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890188267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1">
          <a:extLst>
            <a:ext uri="{FF2B5EF4-FFF2-40B4-BE49-F238E27FC236}">
              <a16:creationId xmlns:a16="http://schemas.microsoft.com/office/drawing/2014/main" id="{A30A4E33-D85E-E2EB-140A-728C12DC6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2" name="Google Shape;1762;g60be7dcf1c_0_659:notes">
            <a:extLst>
              <a:ext uri="{FF2B5EF4-FFF2-40B4-BE49-F238E27FC236}">
                <a16:creationId xmlns:a16="http://schemas.microsoft.com/office/drawing/2014/main" id="{7D6AF2D8-80A6-8314-5C28-620CAA016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63" name="Google Shape;1763;g60be7dcf1c_0_659:notes">
            <a:extLst>
              <a:ext uri="{FF2B5EF4-FFF2-40B4-BE49-F238E27FC236}">
                <a16:creationId xmlns:a16="http://schemas.microsoft.com/office/drawing/2014/main" id="{ABBE91A6-E1AD-FC82-8877-A87E0F6347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282309623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1">
          <a:extLst>
            <a:ext uri="{FF2B5EF4-FFF2-40B4-BE49-F238E27FC236}">
              <a16:creationId xmlns:a16="http://schemas.microsoft.com/office/drawing/2014/main" id="{70D5E7D9-3D93-7C14-F589-D9A7D8652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2" name="Google Shape;1762;g60be7dcf1c_0_659:notes">
            <a:extLst>
              <a:ext uri="{FF2B5EF4-FFF2-40B4-BE49-F238E27FC236}">
                <a16:creationId xmlns:a16="http://schemas.microsoft.com/office/drawing/2014/main" id="{09AD40AC-709B-749F-592C-9D36DCF7C7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63" name="Google Shape;1763;g60be7dcf1c_0_659:notes">
            <a:extLst>
              <a:ext uri="{FF2B5EF4-FFF2-40B4-BE49-F238E27FC236}">
                <a16:creationId xmlns:a16="http://schemas.microsoft.com/office/drawing/2014/main" id="{6DBFE8FA-67E5-6C79-8F6D-2711C2FDA8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70104085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1">
          <a:extLst>
            <a:ext uri="{FF2B5EF4-FFF2-40B4-BE49-F238E27FC236}">
              <a16:creationId xmlns:a16="http://schemas.microsoft.com/office/drawing/2014/main" id="{5F8278E1-DA0C-49BD-75AA-68B8A9D4E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2" name="Google Shape;1762;g60be7dcf1c_0_659:notes">
            <a:extLst>
              <a:ext uri="{FF2B5EF4-FFF2-40B4-BE49-F238E27FC236}">
                <a16:creationId xmlns:a16="http://schemas.microsoft.com/office/drawing/2014/main" id="{4AE15299-AB76-CAD1-1368-1085CCE6B0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63" name="Google Shape;1763;g60be7dcf1c_0_659:notes">
            <a:extLst>
              <a:ext uri="{FF2B5EF4-FFF2-40B4-BE49-F238E27FC236}">
                <a16:creationId xmlns:a16="http://schemas.microsoft.com/office/drawing/2014/main" id="{1D50EE77-B6BC-7D8B-9C75-06DA2A90ED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059545993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4">
          <a:extLst>
            <a:ext uri="{FF2B5EF4-FFF2-40B4-BE49-F238E27FC236}">
              <a16:creationId xmlns:a16="http://schemas.microsoft.com/office/drawing/2014/main" id="{0BECB2A2-34A8-5C22-171F-8D0B14468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5" name="Google Shape;1795;g60be7dcf1c_0_691:notes">
            <a:extLst>
              <a:ext uri="{FF2B5EF4-FFF2-40B4-BE49-F238E27FC236}">
                <a16:creationId xmlns:a16="http://schemas.microsoft.com/office/drawing/2014/main" id="{7E19EC7A-3525-C889-7411-05AB75402D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course</a:t>
            </a:r>
            <a:r>
              <a:rPr lang="de-DE" dirty="0"/>
              <a:t>,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particularly</a:t>
            </a:r>
            <a:r>
              <a:rPr lang="de-DE" dirty="0"/>
              <a:t> </a:t>
            </a:r>
            <a:r>
              <a:rPr lang="de-DE" dirty="0" err="1"/>
              <a:t>interested</a:t>
            </a:r>
            <a:r>
              <a:rPr lang="de-DE" dirty="0"/>
              <a:t> in </a:t>
            </a:r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achieved</a:t>
            </a:r>
            <a:r>
              <a:rPr lang="de-DE" dirty="0"/>
              <a:t> in </a:t>
            </a:r>
            <a:r>
              <a:rPr lang="de-DE" dirty="0" err="1"/>
              <a:t>self-adjusting</a:t>
            </a:r>
            <a:r>
              <a:rPr lang="de-DE" dirty="0"/>
              <a:t> </a:t>
            </a:r>
            <a:r>
              <a:rPr lang="de-DE" dirty="0" err="1"/>
              <a:t>networks</a:t>
            </a:r>
            <a:r>
              <a:rPr lang="de-DE" dirty="0"/>
              <a:t>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this</a:t>
            </a:r>
            <a:r>
              <a:rPr lang="de-DE" dirty="0"/>
              <a:t> end,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want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develop</a:t>
            </a:r>
            <a:r>
              <a:rPr lang="de-DE" dirty="0"/>
              <a:t> </a:t>
            </a:r>
            <a:r>
              <a:rPr lang="de-DE" dirty="0" err="1"/>
              <a:t>metrics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self-adjusting</a:t>
            </a:r>
            <a:r>
              <a:rPr lang="de-DE" dirty="0"/>
              <a:t> </a:t>
            </a:r>
            <a:r>
              <a:rPr lang="de-DE" dirty="0" err="1"/>
              <a:t>networks</a:t>
            </a:r>
            <a:r>
              <a:rPr lang="de-DE" dirty="0"/>
              <a:t> </a:t>
            </a:r>
            <a:r>
              <a:rPr lang="de-DE" dirty="0" err="1"/>
              <a:t>which</a:t>
            </a:r>
            <a:r>
              <a:rPr lang="de-DE" dirty="0"/>
              <a:t> </a:t>
            </a:r>
            <a:r>
              <a:rPr lang="de-DE" dirty="0" err="1"/>
              <a:t>depend</a:t>
            </a:r>
            <a:r>
              <a:rPr lang="de-DE" dirty="0"/>
              <a:t> on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demand</a:t>
            </a:r>
            <a:r>
              <a:rPr lang="de-DE" dirty="0"/>
              <a:t>,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well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algorithms</a:t>
            </a:r>
            <a:r>
              <a:rPr lang="de-DE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 err="1"/>
              <a:t>Here</a:t>
            </a:r>
            <a:r>
              <a:rPr lang="de-DE" baseline="0" dirty="0"/>
              <a:t> </a:t>
            </a:r>
            <a:r>
              <a:rPr lang="de-DE" baseline="0" dirty="0" err="1"/>
              <a:t>we</a:t>
            </a:r>
            <a:r>
              <a:rPr lang="de-DE" baseline="0" dirty="0"/>
              <a:t> </a:t>
            </a:r>
            <a:r>
              <a:rPr lang="de-DE" baseline="0" dirty="0" err="1"/>
              <a:t>have</a:t>
            </a:r>
            <a:r>
              <a:rPr lang="de-DE" baseline="0" dirty="0"/>
              <a:t> </a:t>
            </a:r>
            <a:r>
              <a:rPr lang="de-DE" baseline="0" dirty="0" err="1"/>
              <a:t>some</a:t>
            </a:r>
            <a:r>
              <a:rPr lang="de-DE" baseline="0" dirty="0"/>
              <a:t> </a:t>
            </a:r>
            <a:r>
              <a:rPr lang="de-DE" baseline="0" dirty="0" err="1"/>
              <a:t>first</a:t>
            </a:r>
            <a:r>
              <a:rPr lang="de-DE" baseline="0" dirty="0"/>
              <a:t> </a:t>
            </a:r>
            <a:r>
              <a:rPr lang="de-DE" baseline="0" dirty="0" err="1"/>
              <a:t>insights</a:t>
            </a:r>
            <a:r>
              <a:rPr lang="de-DE" baseline="0" dirty="0"/>
              <a:t> </a:t>
            </a:r>
            <a:r>
              <a:rPr lang="de-DE" baseline="0" dirty="0" err="1"/>
              <a:t>that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entropy</a:t>
            </a:r>
            <a:r>
              <a:rPr lang="de-DE" baseline="0" dirty="0"/>
              <a:t> </a:t>
            </a:r>
            <a:r>
              <a:rPr lang="de-DE" baseline="0" dirty="0" err="1"/>
              <a:t>of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demand</a:t>
            </a:r>
            <a:r>
              <a:rPr lang="de-DE" baseline="0" dirty="0"/>
              <a:t> </a:t>
            </a:r>
            <a:r>
              <a:rPr lang="de-DE" baseline="0" dirty="0" err="1"/>
              <a:t>can</a:t>
            </a:r>
            <a:r>
              <a:rPr lang="de-DE" baseline="0" dirty="0"/>
              <a:t> </a:t>
            </a:r>
            <a:r>
              <a:rPr lang="de-DE" baseline="0" dirty="0" err="1"/>
              <a:t>serve</a:t>
            </a:r>
            <a:r>
              <a:rPr lang="de-DE" baseline="0" dirty="0"/>
              <a:t> </a:t>
            </a:r>
            <a:r>
              <a:rPr lang="de-DE" baseline="0" dirty="0" err="1"/>
              <a:t>as</a:t>
            </a:r>
            <a:r>
              <a:rPr lang="de-DE" baseline="0" dirty="0"/>
              <a:t> a </a:t>
            </a:r>
            <a:r>
              <a:rPr lang="de-DE" baseline="0" dirty="0" err="1"/>
              <a:t>useful</a:t>
            </a:r>
            <a:r>
              <a:rPr lang="de-DE" baseline="0" dirty="0"/>
              <a:t> </a:t>
            </a:r>
            <a:r>
              <a:rPr lang="de-DE" baseline="0" dirty="0" err="1"/>
              <a:t>metric</a:t>
            </a:r>
            <a:r>
              <a:rPr lang="de-DE" baseline="0" dirty="0"/>
              <a:t> </a:t>
            </a:r>
            <a:r>
              <a:rPr lang="de-DE" baseline="0" dirty="0" err="1"/>
              <a:t>for</a:t>
            </a:r>
            <a:r>
              <a:rPr lang="de-DE" baseline="0" dirty="0"/>
              <a:t> </a:t>
            </a:r>
            <a:r>
              <a:rPr lang="de-DE" baseline="0" dirty="0" err="1"/>
              <a:t>self-adjusting</a:t>
            </a:r>
            <a:r>
              <a:rPr lang="de-DE" baseline="0" dirty="0"/>
              <a:t> </a:t>
            </a:r>
            <a:r>
              <a:rPr lang="de-DE" baseline="0" dirty="0" err="1"/>
              <a:t>networks</a:t>
            </a:r>
            <a:r>
              <a:rPr lang="de-DE" baseline="0" dirty="0"/>
              <a:t>.</a:t>
            </a:r>
            <a:endParaRPr dirty="0"/>
          </a:p>
        </p:txBody>
      </p:sp>
      <p:sp>
        <p:nvSpPr>
          <p:cNvPr id="1796" name="Google Shape;1796;g60be7dcf1c_0_691:notes">
            <a:extLst>
              <a:ext uri="{FF2B5EF4-FFF2-40B4-BE49-F238E27FC236}">
                <a16:creationId xmlns:a16="http://schemas.microsoft.com/office/drawing/2014/main" id="{BD01159B-8C98-75D1-81BC-9FF301E1AA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105311017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1">
          <a:extLst>
            <a:ext uri="{FF2B5EF4-FFF2-40B4-BE49-F238E27FC236}">
              <a16:creationId xmlns:a16="http://schemas.microsoft.com/office/drawing/2014/main" id="{CD7FD73F-0F8F-D918-BCA2-80850AD42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2" name="Google Shape;1762;g60be7dcf1c_0_659:notes">
            <a:extLst>
              <a:ext uri="{FF2B5EF4-FFF2-40B4-BE49-F238E27FC236}">
                <a16:creationId xmlns:a16="http://schemas.microsoft.com/office/drawing/2014/main" id="{D4A6014F-F00A-194F-2B60-16D50C4BDB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63" name="Google Shape;1763;g60be7dcf1c_0_659:notes">
            <a:extLst>
              <a:ext uri="{FF2B5EF4-FFF2-40B4-BE49-F238E27FC236}">
                <a16:creationId xmlns:a16="http://schemas.microsoft.com/office/drawing/2014/main" id="{3EDC0F8B-BAB5-7CC2-FF30-7DAC769855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99944215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1">
          <a:extLst>
            <a:ext uri="{FF2B5EF4-FFF2-40B4-BE49-F238E27FC236}">
              <a16:creationId xmlns:a16="http://schemas.microsoft.com/office/drawing/2014/main" id="{07A13612-5DB8-35F1-46ED-CC5EB98F0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2" name="Google Shape;1762;g60be7dcf1c_0_659:notes">
            <a:extLst>
              <a:ext uri="{FF2B5EF4-FFF2-40B4-BE49-F238E27FC236}">
                <a16:creationId xmlns:a16="http://schemas.microsoft.com/office/drawing/2014/main" id="{BA01722C-0E26-5487-97EE-4E98368914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63" name="Google Shape;1763;g60be7dcf1c_0_659:notes">
            <a:extLst>
              <a:ext uri="{FF2B5EF4-FFF2-40B4-BE49-F238E27FC236}">
                <a16:creationId xmlns:a16="http://schemas.microsoft.com/office/drawing/2014/main" id="{60990FBF-A396-AC13-A9F8-8EEEB74BF1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203845782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1">
          <a:extLst>
            <a:ext uri="{FF2B5EF4-FFF2-40B4-BE49-F238E27FC236}">
              <a16:creationId xmlns:a16="http://schemas.microsoft.com/office/drawing/2014/main" id="{BC6A09E6-0541-72BE-11E9-4FBB96221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2" name="Google Shape;1762;g60be7dcf1c_0_659:notes">
            <a:extLst>
              <a:ext uri="{FF2B5EF4-FFF2-40B4-BE49-F238E27FC236}">
                <a16:creationId xmlns:a16="http://schemas.microsoft.com/office/drawing/2014/main" id="{C7A826DA-AC34-5F13-4F49-828B59BCC5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63" name="Google Shape;1763;g60be7dcf1c_0_659:notes">
            <a:extLst>
              <a:ext uri="{FF2B5EF4-FFF2-40B4-BE49-F238E27FC236}">
                <a16:creationId xmlns:a16="http://schemas.microsoft.com/office/drawing/2014/main" id="{E8879ADE-7C82-C26A-61AE-FB69BAA4F6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166808673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1">
          <a:extLst>
            <a:ext uri="{FF2B5EF4-FFF2-40B4-BE49-F238E27FC236}">
              <a16:creationId xmlns:a16="http://schemas.microsoft.com/office/drawing/2014/main" id="{C884065D-C972-566B-A64F-395C0A26E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2" name="Google Shape;1762;g60be7dcf1c_0_659:notes">
            <a:extLst>
              <a:ext uri="{FF2B5EF4-FFF2-40B4-BE49-F238E27FC236}">
                <a16:creationId xmlns:a16="http://schemas.microsoft.com/office/drawing/2014/main" id="{813524FB-74C5-7615-33AB-58BF4A2F54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63" name="Google Shape;1763;g60be7dcf1c_0_659:notes">
            <a:extLst>
              <a:ext uri="{FF2B5EF4-FFF2-40B4-BE49-F238E27FC236}">
                <a16:creationId xmlns:a16="http://schemas.microsoft.com/office/drawing/2014/main" id="{49B1E327-D40E-D706-6B60-79C0236C5B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28354472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1">
          <a:extLst>
            <a:ext uri="{FF2B5EF4-FFF2-40B4-BE49-F238E27FC236}">
              <a16:creationId xmlns:a16="http://schemas.microsoft.com/office/drawing/2014/main" id="{12546E45-019E-D9B2-FDAC-4F3C153E4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2" name="Google Shape;1762;g60be7dcf1c_0_659:notes">
            <a:extLst>
              <a:ext uri="{FF2B5EF4-FFF2-40B4-BE49-F238E27FC236}">
                <a16:creationId xmlns:a16="http://schemas.microsoft.com/office/drawing/2014/main" id="{8C435BFB-7C15-83BC-A316-AEB288868D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63" name="Google Shape;1763;g60be7dcf1c_0_659:notes">
            <a:extLst>
              <a:ext uri="{FF2B5EF4-FFF2-40B4-BE49-F238E27FC236}">
                <a16:creationId xmlns:a16="http://schemas.microsoft.com/office/drawing/2014/main" id="{4D18D7CE-397C-FD42-37D0-74A8E67152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785876849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1">
          <a:extLst>
            <a:ext uri="{FF2B5EF4-FFF2-40B4-BE49-F238E27FC236}">
              <a16:creationId xmlns:a16="http://schemas.microsoft.com/office/drawing/2014/main" id="{FCF161A8-8946-E16D-1363-FE33A08D1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2" name="Google Shape;1762;g60be7dcf1c_0_659:notes">
            <a:extLst>
              <a:ext uri="{FF2B5EF4-FFF2-40B4-BE49-F238E27FC236}">
                <a16:creationId xmlns:a16="http://schemas.microsoft.com/office/drawing/2014/main" id="{3C64434E-E887-04BB-F2DC-DDAF00CE83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63" name="Google Shape;1763;g60be7dcf1c_0_659:notes">
            <a:extLst>
              <a:ext uri="{FF2B5EF4-FFF2-40B4-BE49-F238E27FC236}">
                <a16:creationId xmlns:a16="http://schemas.microsoft.com/office/drawing/2014/main" id="{299C11C3-DA1D-0C52-ED53-F3156A80E0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085163047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4">
          <a:extLst>
            <a:ext uri="{FF2B5EF4-FFF2-40B4-BE49-F238E27FC236}">
              <a16:creationId xmlns:a16="http://schemas.microsoft.com/office/drawing/2014/main" id="{384B5E2B-612D-8469-2B07-2170F2A51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5" name="Google Shape;1795;g60be7dcf1c_0_691:notes">
            <a:extLst>
              <a:ext uri="{FF2B5EF4-FFF2-40B4-BE49-F238E27FC236}">
                <a16:creationId xmlns:a16="http://schemas.microsoft.com/office/drawing/2014/main" id="{33E9D8DB-FBF4-0D8E-3F5B-59149CDF4D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course</a:t>
            </a:r>
            <a:r>
              <a:rPr lang="de-DE" dirty="0"/>
              <a:t>,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particularly</a:t>
            </a:r>
            <a:r>
              <a:rPr lang="de-DE" dirty="0"/>
              <a:t> </a:t>
            </a:r>
            <a:r>
              <a:rPr lang="de-DE" dirty="0" err="1"/>
              <a:t>interested</a:t>
            </a:r>
            <a:r>
              <a:rPr lang="de-DE" dirty="0"/>
              <a:t> in </a:t>
            </a:r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achieved</a:t>
            </a:r>
            <a:r>
              <a:rPr lang="de-DE" dirty="0"/>
              <a:t> in </a:t>
            </a:r>
            <a:r>
              <a:rPr lang="de-DE" dirty="0" err="1"/>
              <a:t>self-adjusting</a:t>
            </a:r>
            <a:r>
              <a:rPr lang="de-DE" dirty="0"/>
              <a:t> </a:t>
            </a:r>
            <a:r>
              <a:rPr lang="de-DE" dirty="0" err="1"/>
              <a:t>networks</a:t>
            </a:r>
            <a:r>
              <a:rPr lang="de-DE" dirty="0"/>
              <a:t>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this</a:t>
            </a:r>
            <a:r>
              <a:rPr lang="de-DE" dirty="0"/>
              <a:t> end,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want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develop</a:t>
            </a:r>
            <a:r>
              <a:rPr lang="de-DE" dirty="0"/>
              <a:t> </a:t>
            </a:r>
            <a:r>
              <a:rPr lang="de-DE" dirty="0" err="1"/>
              <a:t>metrics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self-adjusting</a:t>
            </a:r>
            <a:r>
              <a:rPr lang="de-DE" dirty="0"/>
              <a:t> </a:t>
            </a:r>
            <a:r>
              <a:rPr lang="de-DE" dirty="0" err="1"/>
              <a:t>networks</a:t>
            </a:r>
            <a:r>
              <a:rPr lang="de-DE" dirty="0"/>
              <a:t> </a:t>
            </a:r>
            <a:r>
              <a:rPr lang="de-DE" dirty="0" err="1"/>
              <a:t>which</a:t>
            </a:r>
            <a:r>
              <a:rPr lang="de-DE" dirty="0"/>
              <a:t> </a:t>
            </a:r>
            <a:r>
              <a:rPr lang="de-DE" dirty="0" err="1"/>
              <a:t>depend</a:t>
            </a:r>
            <a:r>
              <a:rPr lang="de-DE" dirty="0"/>
              <a:t> on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demand</a:t>
            </a:r>
            <a:r>
              <a:rPr lang="de-DE" dirty="0"/>
              <a:t>,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well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algorithms</a:t>
            </a:r>
            <a:r>
              <a:rPr lang="de-DE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 err="1"/>
              <a:t>Here</a:t>
            </a:r>
            <a:r>
              <a:rPr lang="de-DE" baseline="0" dirty="0"/>
              <a:t> </a:t>
            </a:r>
            <a:r>
              <a:rPr lang="de-DE" baseline="0" dirty="0" err="1"/>
              <a:t>we</a:t>
            </a:r>
            <a:r>
              <a:rPr lang="de-DE" baseline="0" dirty="0"/>
              <a:t> </a:t>
            </a:r>
            <a:r>
              <a:rPr lang="de-DE" baseline="0" dirty="0" err="1"/>
              <a:t>have</a:t>
            </a:r>
            <a:r>
              <a:rPr lang="de-DE" baseline="0" dirty="0"/>
              <a:t> </a:t>
            </a:r>
            <a:r>
              <a:rPr lang="de-DE" baseline="0" dirty="0" err="1"/>
              <a:t>some</a:t>
            </a:r>
            <a:r>
              <a:rPr lang="de-DE" baseline="0" dirty="0"/>
              <a:t> </a:t>
            </a:r>
            <a:r>
              <a:rPr lang="de-DE" baseline="0" dirty="0" err="1"/>
              <a:t>first</a:t>
            </a:r>
            <a:r>
              <a:rPr lang="de-DE" baseline="0" dirty="0"/>
              <a:t> </a:t>
            </a:r>
            <a:r>
              <a:rPr lang="de-DE" baseline="0" dirty="0" err="1"/>
              <a:t>insights</a:t>
            </a:r>
            <a:r>
              <a:rPr lang="de-DE" baseline="0" dirty="0"/>
              <a:t> </a:t>
            </a:r>
            <a:r>
              <a:rPr lang="de-DE" baseline="0" dirty="0" err="1"/>
              <a:t>that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entropy</a:t>
            </a:r>
            <a:r>
              <a:rPr lang="de-DE" baseline="0" dirty="0"/>
              <a:t> </a:t>
            </a:r>
            <a:r>
              <a:rPr lang="de-DE" baseline="0" dirty="0" err="1"/>
              <a:t>of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demand</a:t>
            </a:r>
            <a:r>
              <a:rPr lang="de-DE" baseline="0" dirty="0"/>
              <a:t> </a:t>
            </a:r>
            <a:r>
              <a:rPr lang="de-DE" baseline="0" dirty="0" err="1"/>
              <a:t>can</a:t>
            </a:r>
            <a:r>
              <a:rPr lang="de-DE" baseline="0" dirty="0"/>
              <a:t> </a:t>
            </a:r>
            <a:r>
              <a:rPr lang="de-DE" baseline="0" dirty="0" err="1"/>
              <a:t>serve</a:t>
            </a:r>
            <a:r>
              <a:rPr lang="de-DE" baseline="0" dirty="0"/>
              <a:t> </a:t>
            </a:r>
            <a:r>
              <a:rPr lang="de-DE" baseline="0" dirty="0" err="1"/>
              <a:t>as</a:t>
            </a:r>
            <a:r>
              <a:rPr lang="de-DE" baseline="0" dirty="0"/>
              <a:t> a </a:t>
            </a:r>
            <a:r>
              <a:rPr lang="de-DE" baseline="0" dirty="0" err="1"/>
              <a:t>useful</a:t>
            </a:r>
            <a:r>
              <a:rPr lang="de-DE" baseline="0" dirty="0"/>
              <a:t> </a:t>
            </a:r>
            <a:r>
              <a:rPr lang="de-DE" baseline="0" dirty="0" err="1"/>
              <a:t>metric</a:t>
            </a:r>
            <a:r>
              <a:rPr lang="de-DE" baseline="0" dirty="0"/>
              <a:t> </a:t>
            </a:r>
            <a:r>
              <a:rPr lang="de-DE" baseline="0" dirty="0" err="1"/>
              <a:t>for</a:t>
            </a:r>
            <a:r>
              <a:rPr lang="de-DE" baseline="0" dirty="0"/>
              <a:t> </a:t>
            </a:r>
            <a:r>
              <a:rPr lang="de-DE" baseline="0" dirty="0" err="1"/>
              <a:t>self-adjusting</a:t>
            </a:r>
            <a:r>
              <a:rPr lang="de-DE" baseline="0" dirty="0"/>
              <a:t> </a:t>
            </a:r>
            <a:r>
              <a:rPr lang="de-DE" baseline="0" dirty="0" err="1"/>
              <a:t>networks</a:t>
            </a:r>
            <a:r>
              <a:rPr lang="de-DE" baseline="0" dirty="0"/>
              <a:t>.</a:t>
            </a:r>
            <a:endParaRPr dirty="0"/>
          </a:p>
        </p:txBody>
      </p:sp>
      <p:sp>
        <p:nvSpPr>
          <p:cNvPr id="1796" name="Google Shape;1796;g60be7dcf1c_0_691:notes">
            <a:extLst>
              <a:ext uri="{FF2B5EF4-FFF2-40B4-BE49-F238E27FC236}">
                <a16:creationId xmlns:a16="http://schemas.microsoft.com/office/drawing/2014/main" id="{8F93583D-1501-DBF9-FDF7-93CB4D6E13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427039167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1">
          <a:extLst>
            <a:ext uri="{FF2B5EF4-FFF2-40B4-BE49-F238E27FC236}">
              <a16:creationId xmlns:a16="http://schemas.microsoft.com/office/drawing/2014/main" id="{F2127E5B-965A-A745-1098-FF9A4DEC4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2" name="Google Shape;1762;g60be7dcf1c_0_659:notes">
            <a:extLst>
              <a:ext uri="{FF2B5EF4-FFF2-40B4-BE49-F238E27FC236}">
                <a16:creationId xmlns:a16="http://schemas.microsoft.com/office/drawing/2014/main" id="{5506154C-0375-DC14-4C74-53A0B23A36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63" name="Google Shape;1763;g60be7dcf1c_0_659:notes">
            <a:extLst>
              <a:ext uri="{FF2B5EF4-FFF2-40B4-BE49-F238E27FC236}">
                <a16:creationId xmlns:a16="http://schemas.microsoft.com/office/drawing/2014/main" id="{025A1611-2E9C-916E-170E-0CD7750155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20820195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g60be7dcf1c_0_2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05" name="Google Shape;1305;g60be7dcf1c_0_2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999830604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g60be7dcf1c_0_2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5" name="Google Shape;1305;g60be7dcf1c_0_2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479581802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g60be7dcf1c_0_2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5" name="Google Shape;1305;g60be7dcf1c_0_2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945975433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3">
          <a:extLst>
            <a:ext uri="{FF2B5EF4-FFF2-40B4-BE49-F238E27FC236}">
              <a16:creationId xmlns:a16="http://schemas.microsoft.com/office/drawing/2014/main" id="{4D7CBACF-DA0D-8D46-5A43-0DEA32E76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g60be7dcf1c_0_222:notes">
            <a:extLst>
              <a:ext uri="{FF2B5EF4-FFF2-40B4-BE49-F238E27FC236}">
                <a16:creationId xmlns:a16="http://schemas.microsoft.com/office/drawing/2014/main" id="{16F2FFE7-6CFF-E4C4-FB33-77568DD061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5" name="Google Shape;1305;g60be7dcf1c_0_222:notes">
            <a:extLst>
              <a:ext uri="{FF2B5EF4-FFF2-40B4-BE49-F238E27FC236}">
                <a16:creationId xmlns:a16="http://schemas.microsoft.com/office/drawing/2014/main" id="{117E98A6-7F22-51DF-23EC-7359A8AC34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71456200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3">
          <a:extLst>
            <a:ext uri="{FF2B5EF4-FFF2-40B4-BE49-F238E27FC236}">
              <a16:creationId xmlns:a16="http://schemas.microsoft.com/office/drawing/2014/main" id="{89AEEB24-097D-4D1E-2E35-8E9A7DB92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g60be7dcf1c_0_222:notes">
            <a:extLst>
              <a:ext uri="{FF2B5EF4-FFF2-40B4-BE49-F238E27FC236}">
                <a16:creationId xmlns:a16="http://schemas.microsoft.com/office/drawing/2014/main" id="{81E747F3-FC22-C5FA-860F-73B334741B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5" name="Google Shape;1305;g60be7dcf1c_0_222:notes">
            <a:extLst>
              <a:ext uri="{FF2B5EF4-FFF2-40B4-BE49-F238E27FC236}">
                <a16:creationId xmlns:a16="http://schemas.microsoft.com/office/drawing/2014/main" id="{D9308B99-7FA8-9C3E-93C6-E0D63B5DA9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455954664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3">
          <a:extLst>
            <a:ext uri="{FF2B5EF4-FFF2-40B4-BE49-F238E27FC236}">
              <a16:creationId xmlns:a16="http://schemas.microsoft.com/office/drawing/2014/main" id="{0D3914B9-35D7-37A9-2CAD-FCF4653A5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g60be7dcf1c_0_222:notes">
            <a:extLst>
              <a:ext uri="{FF2B5EF4-FFF2-40B4-BE49-F238E27FC236}">
                <a16:creationId xmlns:a16="http://schemas.microsoft.com/office/drawing/2014/main" id="{DDD5860E-6676-5FAD-95DD-F21764A137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5" name="Google Shape;1305;g60be7dcf1c_0_222:notes">
            <a:extLst>
              <a:ext uri="{FF2B5EF4-FFF2-40B4-BE49-F238E27FC236}">
                <a16:creationId xmlns:a16="http://schemas.microsoft.com/office/drawing/2014/main" id="{199126B3-5F79-FDEA-19CD-C02CE8A066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4019269745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g60be7dcf1c_0_2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5" name="Google Shape;1305;g60be7dcf1c_0_2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751826623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3">
          <a:extLst>
            <a:ext uri="{FF2B5EF4-FFF2-40B4-BE49-F238E27FC236}">
              <a16:creationId xmlns:a16="http://schemas.microsoft.com/office/drawing/2014/main" id="{F1CD30E8-AFC6-14A0-D0DF-F7F46B9BB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g60be7dcf1c_0_222:notes">
            <a:extLst>
              <a:ext uri="{FF2B5EF4-FFF2-40B4-BE49-F238E27FC236}">
                <a16:creationId xmlns:a16="http://schemas.microsoft.com/office/drawing/2014/main" id="{D50F9238-9229-D259-9D90-890A18FB4C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5" name="Google Shape;1305;g60be7dcf1c_0_222:notes">
            <a:extLst>
              <a:ext uri="{FF2B5EF4-FFF2-40B4-BE49-F238E27FC236}">
                <a16:creationId xmlns:a16="http://schemas.microsoft.com/office/drawing/2014/main" id="{F4034FB8-983F-B2BE-CB57-5822B1FBBD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626194788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3">
          <a:extLst>
            <a:ext uri="{FF2B5EF4-FFF2-40B4-BE49-F238E27FC236}">
              <a16:creationId xmlns:a16="http://schemas.microsoft.com/office/drawing/2014/main" id="{B540A295-6DE5-5F09-8F1B-B569A4099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g60be7dcf1c_0_222:notes">
            <a:extLst>
              <a:ext uri="{FF2B5EF4-FFF2-40B4-BE49-F238E27FC236}">
                <a16:creationId xmlns:a16="http://schemas.microsoft.com/office/drawing/2014/main" id="{1DEB2CDC-1072-B966-D277-1287E53A07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5" name="Google Shape;1305;g60be7dcf1c_0_222:notes">
            <a:extLst>
              <a:ext uri="{FF2B5EF4-FFF2-40B4-BE49-F238E27FC236}">
                <a16:creationId xmlns:a16="http://schemas.microsoft.com/office/drawing/2014/main" id="{D234C58B-E37B-FF17-CC00-C0FBD8F5A2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063716858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3">
          <a:extLst>
            <a:ext uri="{FF2B5EF4-FFF2-40B4-BE49-F238E27FC236}">
              <a16:creationId xmlns:a16="http://schemas.microsoft.com/office/drawing/2014/main" id="{CC4703C1-5FAC-E3C6-84F5-49F22CD7D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g60be7dcf1c_0_222:notes">
            <a:extLst>
              <a:ext uri="{FF2B5EF4-FFF2-40B4-BE49-F238E27FC236}">
                <a16:creationId xmlns:a16="http://schemas.microsoft.com/office/drawing/2014/main" id="{01A3CB81-5BB6-F3D3-E3C0-51FD86F750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matrix is saturated</a:t>
            </a:r>
          </a:p>
          <a:p>
            <a:r>
              <a:rPr lang="en-US" sz="1200" dirty="0">
                <a:solidFill>
                  <a:srgbClr val="FF0000"/>
                </a:solidFill>
              </a:rPr>
              <a:t>permutation matrix: is worst case for expander (pay much bandwidth tax), also worst for </a:t>
            </a:r>
            <a:r>
              <a:rPr lang="en-US" sz="1200" dirty="0" err="1">
                <a:solidFill>
                  <a:srgbClr val="FF0000"/>
                </a:solidFill>
              </a:rPr>
              <a:t>RotorNet</a:t>
            </a:r>
            <a:endParaRPr lang="en-US" sz="1200" dirty="0">
              <a:solidFill>
                <a:srgbClr val="FF0000"/>
              </a:solidFill>
            </a:endParaRPr>
          </a:p>
          <a:p>
            <a:r>
              <a:rPr lang="en-US" sz="1200" dirty="0">
                <a:solidFill>
                  <a:srgbClr val="FF0000"/>
                </a:solidFill>
              </a:rPr>
              <a:t>for </a:t>
            </a:r>
            <a:r>
              <a:rPr lang="en-US" sz="1200" dirty="0" err="1">
                <a:solidFill>
                  <a:srgbClr val="FF0000"/>
                </a:solidFill>
              </a:rPr>
              <a:t>demandaware</a:t>
            </a:r>
            <a:r>
              <a:rPr lang="en-US" sz="1200" dirty="0">
                <a:solidFill>
                  <a:srgbClr val="FF0000"/>
                </a:solidFill>
              </a:rPr>
              <a:t> it is the best</a:t>
            </a:r>
          </a:p>
          <a:p>
            <a:r>
              <a:rPr lang="en-US" sz="1200" dirty="0">
                <a:solidFill>
                  <a:srgbClr val="FF0000"/>
                </a:solidFill>
              </a:rPr>
              <a:t>this is the worst case but what about real traffic?</a:t>
            </a:r>
          </a:p>
          <a:p>
            <a:r>
              <a:rPr lang="en-US" sz="1200" dirty="0">
                <a:solidFill>
                  <a:srgbClr val="FF0000"/>
                </a:solidFill>
              </a:rPr>
              <a:t>depends on specific parameter of datamining</a:t>
            </a:r>
          </a:p>
          <a:p>
            <a:endParaRPr lang="en-US" sz="1200" dirty="0">
              <a:solidFill>
                <a:srgbClr val="FF0000"/>
              </a:solidFill>
            </a:endParaRPr>
          </a:p>
          <a:p>
            <a:r>
              <a:rPr lang="en-IL" sz="1200" dirty="0">
                <a:solidFill>
                  <a:srgbClr val="FF0000"/>
                </a:solidFill>
              </a:rPr>
              <a:t> note</a:t>
            </a:r>
            <a:endParaRPr dirty="0"/>
          </a:p>
        </p:txBody>
      </p:sp>
      <p:sp>
        <p:nvSpPr>
          <p:cNvPr id="1305" name="Google Shape;1305;g60be7dcf1c_0_222:notes">
            <a:extLst>
              <a:ext uri="{FF2B5EF4-FFF2-40B4-BE49-F238E27FC236}">
                <a16:creationId xmlns:a16="http://schemas.microsoft.com/office/drawing/2014/main" id="{7A67DED6-A6D2-755F-D8A8-F81828AFCD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153312554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3">
          <a:extLst>
            <a:ext uri="{FF2B5EF4-FFF2-40B4-BE49-F238E27FC236}">
              <a16:creationId xmlns:a16="http://schemas.microsoft.com/office/drawing/2014/main" id="{DC79B54B-7387-B186-3B7F-9F3719EBB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g60be7dcf1c_0_222:notes">
            <a:extLst>
              <a:ext uri="{FF2B5EF4-FFF2-40B4-BE49-F238E27FC236}">
                <a16:creationId xmlns:a16="http://schemas.microsoft.com/office/drawing/2014/main" id="{DAADB449-5A20-E788-34B1-470545AC27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matrix is saturated</a:t>
            </a:r>
          </a:p>
          <a:p>
            <a:r>
              <a:rPr lang="en-US" sz="1200" dirty="0">
                <a:solidFill>
                  <a:srgbClr val="FF0000"/>
                </a:solidFill>
              </a:rPr>
              <a:t>permutation matrix: is worst case for expander (pay much bandwidth tax), also worst for </a:t>
            </a:r>
            <a:r>
              <a:rPr lang="en-US" sz="1200" dirty="0" err="1">
                <a:solidFill>
                  <a:srgbClr val="FF0000"/>
                </a:solidFill>
              </a:rPr>
              <a:t>RotorNet</a:t>
            </a:r>
            <a:endParaRPr lang="en-US" sz="1200" dirty="0">
              <a:solidFill>
                <a:srgbClr val="FF0000"/>
              </a:solidFill>
            </a:endParaRPr>
          </a:p>
          <a:p>
            <a:r>
              <a:rPr lang="en-US" sz="1200" dirty="0">
                <a:solidFill>
                  <a:srgbClr val="FF0000"/>
                </a:solidFill>
              </a:rPr>
              <a:t>for </a:t>
            </a:r>
            <a:r>
              <a:rPr lang="en-US" sz="1200" dirty="0" err="1">
                <a:solidFill>
                  <a:srgbClr val="FF0000"/>
                </a:solidFill>
              </a:rPr>
              <a:t>demandaware</a:t>
            </a:r>
            <a:r>
              <a:rPr lang="en-US" sz="1200" dirty="0">
                <a:solidFill>
                  <a:srgbClr val="FF0000"/>
                </a:solidFill>
              </a:rPr>
              <a:t> it is the best</a:t>
            </a:r>
          </a:p>
          <a:p>
            <a:r>
              <a:rPr lang="en-US" sz="1200" dirty="0">
                <a:solidFill>
                  <a:srgbClr val="FF0000"/>
                </a:solidFill>
              </a:rPr>
              <a:t>this is the worst case but what about real traffic?</a:t>
            </a:r>
          </a:p>
          <a:p>
            <a:r>
              <a:rPr lang="en-US" sz="1200" dirty="0">
                <a:solidFill>
                  <a:srgbClr val="FF0000"/>
                </a:solidFill>
              </a:rPr>
              <a:t>depends on specific parameter of datamining</a:t>
            </a:r>
          </a:p>
          <a:p>
            <a:endParaRPr lang="en-US" sz="1200" dirty="0">
              <a:solidFill>
                <a:srgbClr val="FF0000"/>
              </a:solidFill>
            </a:endParaRPr>
          </a:p>
          <a:p>
            <a:r>
              <a:rPr lang="en-IL" sz="1200" dirty="0">
                <a:solidFill>
                  <a:srgbClr val="FF0000"/>
                </a:solidFill>
              </a:rPr>
              <a:t> note</a:t>
            </a:r>
            <a:endParaRPr dirty="0"/>
          </a:p>
        </p:txBody>
      </p:sp>
      <p:sp>
        <p:nvSpPr>
          <p:cNvPr id="1305" name="Google Shape;1305;g60be7dcf1c_0_222:notes">
            <a:extLst>
              <a:ext uri="{FF2B5EF4-FFF2-40B4-BE49-F238E27FC236}">
                <a16:creationId xmlns:a16="http://schemas.microsoft.com/office/drawing/2014/main" id="{45EC345D-AF2B-D181-60E1-E4E13D4EFC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295457012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3">
          <a:extLst>
            <a:ext uri="{FF2B5EF4-FFF2-40B4-BE49-F238E27FC236}">
              <a16:creationId xmlns:a16="http://schemas.microsoft.com/office/drawing/2014/main" id="{9A86B593-1CD9-852B-871C-64048AFA8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g60be7dcf1c_0_222:notes">
            <a:extLst>
              <a:ext uri="{FF2B5EF4-FFF2-40B4-BE49-F238E27FC236}">
                <a16:creationId xmlns:a16="http://schemas.microsoft.com/office/drawing/2014/main" id="{C6647105-C4B6-B0AA-386D-3A68BFBFAC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matrix is saturated</a:t>
            </a:r>
          </a:p>
          <a:p>
            <a:r>
              <a:rPr lang="en-US" sz="1200" dirty="0">
                <a:solidFill>
                  <a:srgbClr val="FF0000"/>
                </a:solidFill>
              </a:rPr>
              <a:t>permutation matrix: is worst case for expander (pay much bandwidth tax), also worst for </a:t>
            </a:r>
            <a:r>
              <a:rPr lang="en-US" sz="1200" dirty="0" err="1">
                <a:solidFill>
                  <a:srgbClr val="FF0000"/>
                </a:solidFill>
              </a:rPr>
              <a:t>RotorNet</a:t>
            </a:r>
            <a:endParaRPr lang="en-US" sz="1200" dirty="0">
              <a:solidFill>
                <a:srgbClr val="FF0000"/>
              </a:solidFill>
            </a:endParaRPr>
          </a:p>
          <a:p>
            <a:r>
              <a:rPr lang="en-US" sz="1200" dirty="0">
                <a:solidFill>
                  <a:srgbClr val="FF0000"/>
                </a:solidFill>
              </a:rPr>
              <a:t>for </a:t>
            </a:r>
            <a:r>
              <a:rPr lang="en-US" sz="1200" dirty="0" err="1">
                <a:solidFill>
                  <a:srgbClr val="FF0000"/>
                </a:solidFill>
              </a:rPr>
              <a:t>demandaware</a:t>
            </a:r>
            <a:r>
              <a:rPr lang="en-US" sz="1200" dirty="0">
                <a:solidFill>
                  <a:srgbClr val="FF0000"/>
                </a:solidFill>
              </a:rPr>
              <a:t> it is the best</a:t>
            </a:r>
          </a:p>
          <a:p>
            <a:r>
              <a:rPr lang="en-US" sz="1200" dirty="0">
                <a:solidFill>
                  <a:srgbClr val="FF0000"/>
                </a:solidFill>
              </a:rPr>
              <a:t>this is the worst case but what about real traffic?</a:t>
            </a:r>
          </a:p>
          <a:p>
            <a:r>
              <a:rPr lang="en-US" sz="1200" dirty="0">
                <a:solidFill>
                  <a:srgbClr val="FF0000"/>
                </a:solidFill>
              </a:rPr>
              <a:t>depends on specific parameter of datamining</a:t>
            </a:r>
          </a:p>
          <a:p>
            <a:endParaRPr lang="en-US" sz="1200" dirty="0">
              <a:solidFill>
                <a:srgbClr val="FF0000"/>
              </a:solidFill>
            </a:endParaRPr>
          </a:p>
          <a:p>
            <a:r>
              <a:rPr lang="en-IL" sz="1200" dirty="0">
                <a:solidFill>
                  <a:srgbClr val="FF0000"/>
                </a:solidFill>
              </a:rPr>
              <a:t> note</a:t>
            </a:r>
            <a:endParaRPr dirty="0"/>
          </a:p>
        </p:txBody>
      </p:sp>
      <p:sp>
        <p:nvSpPr>
          <p:cNvPr id="1305" name="Google Shape;1305;g60be7dcf1c_0_222:notes">
            <a:extLst>
              <a:ext uri="{FF2B5EF4-FFF2-40B4-BE49-F238E27FC236}">
                <a16:creationId xmlns:a16="http://schemas.microsoft.com/office/drawing/2014/main" id="{4333906A-9EEB-7141-2AFA-B1E8D926E0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701996925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3">
          <a:extLst>
            <a:ext uri="{FF2B5EF4-FFF2-40B4-BE49-F238E27FC236}">
              <a16:creationId xmlns:a16="http://schemas.microsoft.com/office/drawing/2014/main" id="{3F8F14B1-11AF-EBBC-9686-E434B77F2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g60be7dcf1c_0_222:notes">
            <a:extLst>
              <a:ext uri="{FF2B5EF4-FFF2-40B4-BE49-F238E27FC236}">
                <a16:creationId xmlns:a16="http://schemas.microsoft.com/office/drawing/2014/main" id="{BD7850C0-B371-7DD5-DFD0-5CB6476957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200">
                <a:solidFill>
                  <a:srgbClr val="FF0000"/>
                </a:solidFill>
              </a:rPr>
              <a:t>throughput = theta factor we multiply demand =&gt; scale it down so we can send it over topology: throughput of a matrix on a given topology. for each demand we have a factor. </a:t>
            </a:r>
          </a:p>
          <a:p>
            <a:r>
              <a:rPr lang="en-US" sz="1200">
                <a:solidFill>
                  <a:srgbClr val="FF0000"/>
                </a:solidFill>
              </a:rPr>
              <a:t>matrix is saturated</a:t>
            </a:r>
          </a:p>
          <a:p>
            <a:r>
              <a:rPr lang="en-US" sz="1200">
                <a:solidFill>
                  <a:srgbClr val="FF0000"/>
                </a:solidFill>
              </a:rPr>
              <a:t>permutation matrix: is worst case for expander (pay much bandwidth tax), also worst for </a:t>
            </a:r>
            <a:r>
              <a:rPr lang="en-US" sz="1200" err="1">
                <a:solidFill>
                  <a:srgbClr val="FF0000"/>
                </a:solidFill>
              </a:rPr>
              <a:t>RotorNet</a:t>
            </a:r>
            <a:endParaRPr lang="en-US" sz="1200">
              <a:solidFill>
                <a:srgbClr val="FF0000"/>
              </a:solidFill>
            </a:endParaRPr>
          </a:p>
          <a:p>
            <a:r>
              <a:rPr lang="en-US" sz="1200">
                <a:solidFill>
                  <a:srgbClr val="FF0000"/>
                </a:solidFill>
              </a:rPr>
              <a:t>for </a:t>
            </a:r>
            <a:r>
              <a:rPr lang="en-US" sz="1200" err="1">
                <a:solidFill>
                  <a:srgbClr val="FF0000"/>
                </a:solidFill>
              </a:rPr>
              <a:t>demandaware</a:t>
            </a:r>
            <a:r>
              <a:rPr lang="en-US" sz="1200">
                <a:solidFill>
                  <a:srgbClr val="FF0000"/>
                </a:solidFill>
              </a:rPr>
              <a:t> it is the best</a:t>
            </a:r>
          </a:p>
          <a:p>
            <a:r>
              <a:rPr lang="en-US" sz="1200">
                <a:solidFill>
                  <a:srgbClr val="FF0000"/>
                </a:solidFill>
              </a:rPr>
              <a:t>this is the worst case but what about real traffic?</a:t>
            </a:r>
          </a:p>
          <a:p>
            <a:r>
              <a:rPr lang="en-US" sz="1200">
                <a:solidFill>
                  <a:srgbClr val="FF0000"/>
                </a:solidFill>
              </a:rPr>
              <a:t>depends on specific parameter of datamining</a:t>
            </a:r>
          </a:p>
          <a:p>
            <a:endParaRPr lang="en-US" sz="1200">
              <a:solidFill>
                <a:srgbClr val="FF0000"/>
              </a:solidFill>
            </a:endParaRPr>
          </a:p>
          <a:p>
            <a:r>
              <a:rPr lang="en-IL" sz="1200">
                <a:solidFill>
                  <a:srgbClr val="FF0000"/>
                </a:solidFill>
              </a:rPr>
              <a:t> note</a:t>
            </a:r>
            <a:endParaRPr/>
          </a:p>
        </p:txBody>
      </p:sp>
      <p:sp>
        <p:nvSpPr>
          <p:cNvPr id="1305" name="Google Shape;1305;g60be7dcf1c_0_222:notes">
            <a:extLst>
              <a:ext uri="{FF2B5EF4-FFF2-40B4-BE49-F238E27FC236}">
                <a16:creationId xmlns:a16="http://schemas.microsoft.com/office/drawing/2014/main" id="{98D4AB90-D47B-3636-60F8-C4D71A79A1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277520638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3">
          <a:extLst>
            <a:ext uri="{FF2B5EF4-FFF2-40B4-BE49-F238E27FC236}">
              <a16:creationId xmlns:a16="http://schemas.microsoft.com/office/drawing/2014/main" id="{2F14A03D-9B8B-637C-B49E-04130DAD4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g60be7dcf1c_0_222:notes">
            <a:extLst>
              <a:ext uri="{FF2B5EF4-FFF2-40B4-BE49-F238E27FC236}">
                <a16:creationId xmlns:a16="http://schemas.microsoft.com/office/drawing/2014/main" id="{F061CB0D-5839-2615-087D-B6739BCA01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200">
                <a:solidFill>
                  <a:srgbClr val="FF0000"/>
                </a:solidFill>
              </a:rPr>
              <a:t>throughput = theta factor we multiply demand =&gt; scale it down so we can send it over topology: throughput of a matrix on a given topology. for each demand we have a factor. </a:t>
            </a:r>
          </a:p>
          <a:p>
            <a:r>
              <a:rPr lang="en-US" sz="1200">
                <a:solidFill>
                  <a:srgbClr val="FF0000"/>
                </a:solidFill>
              </a:rPr>
              <a:t>matrix is saturated</a:t>
            </a:r>
          </a:p>
          <a:p>
            <a:r>
              <a:rPr lang="en-US" sz="1200">
                <a:solidFill>
                  <a:srgbClr val="FF0000"/>
                </a:solidFill>
              </a:rPr>
              <a:t>permutation matrix: is worst case for expander (pay much bandwidth tax), also worst for </a:t>
            </a:r>
            <a:r>
              <a:rPr lang="en-US" sz="1200" err="1">
                <a:solidFill>
                  <a:srgbClr val="FF0000"/>
                </a:solidFill>
              </a:rPr>
              <a:t>RotorNet</a:t>
            </a:r>
            <a:endParaRPr lang="en-US" sz="1200">
              <a:solidFill>
                <a:srgbClr val="FF0000"/>
              </a:solidFill>
            </a:endParaRPr>
          </a:p>
          <a:p>
            <a:r>
              <a:rPr lang="en-US" sz="1200">
                <a:solidFill>
                  <a:srgbClr val="FF0000"/>
                </a:solidFill>
              </a:rPr>
              <a:t>for </a:t>
            </a:r>
            <a:r>
              <a:rPr lang="en-US" sz="1200" err="1">
                <a:solidFill>
                  <a:srgbClr val="FF0000"/>
                </a:solidFill>
              </a:rPr>
              <a:t>demandaware</a:t>
            </a:r>
            <a:r>
              <a:rPr lang="en-US" sz="1200">
                <a:solidFill>
                  <a:srgbClr val="FF0000"/>
                </a:solidFill>
              </a:rPr>
              <a:t> it is the best</a:t>
            </a:r>
          </a:p>
          <a:p>
            <a:r>
              <a:rPr lang="en-US" sz="1200">
                <a:solidFill>
                  <a:srgbClr val="FF0000"/>
                </a:solidFill>
              </a:rPr>
              <a:t>this is the worst case but what about real traffic?</a:t>
            </a:r>
          </a:p>
          <a:p>
            <a:r>
              <a:rPr lang="en-US" sz="1200">
                <a:solidFill>
                  <a:srgbClr val="FF0000"/>
                </a:solidFill>
              </a:rPr>
              <a:t>depends on specific parameter of datamining</a:t>
            </a:r>
          </a:p>
          <a:p>
            <a:endParaRPr lang="en-US" sz="1200">
              <a:solidFill>
                <a:srgbClr val="FF0000"/>
              </a:solidFill>
            </a:endParaRPr>
          </a:p>
          <a:p>
            <a:r>
              <a:rPr lang="en-IL" sz="1200">
                <a:solidFill>
                  <a:srgbClr val="FF0000"/>
                </a:solidFill>
              </a:rPr>
              <a:t> note</a:t>
            </a:r>
            <a:endParaRPr/>
          </a:p>
        </p:txBody>
      </p:sp>
      <p:sp>
        <p:nvSpPr>
          <p:cNvPr id="1305" name="Google Shape;1305;g60be7dcf1c_0_222:notes">
            <a:extLst>
              <a:ext uri="{FF2B5EF4-FFF2-40B4-BE49-F238E27FC236}">
                <a16:creationId xmlns:a16="http://schemas.microsoft.com/office/drawing/2014/main" id="{EE4517CB-FED6-F28F-DE8E-A85536DE4C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562437824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1">
          <a:extLst>
            <a:ext uri="{FF2B5EF4-FFF2-40B4-BE49-F238E27FC236}">
              <a16:creationId xmlns:a16="http://schemas.microsoft.com/office/drawing/2014/main" id="{AF319AC6-85DE-5265-2C7D-FF0FE9DF2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2" name="Google Shape;1762;g60be7dcf1c_0_659:notes">
            <a:extLst>
              <a:ext uri="{FF2B5EF4-FFF2-40B4-BE49-F238E27FC236}">
                <a16:creationId xmlns:a16="http://schemas.microsoft.com/office/drawing/2014/main" id="{867EB2FB-C500-0ABB-0423-A30B682E05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The potential </a:t>
            </a:r>
            <a:r>
              <a:rPr lang="de-DE" dirty="0" err="1"/>
              <a:t>gain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significant</a:t>
            </a:r>
            <a:r>
              <a:rPr lang="de-DE" dirty="0"/>
              <a:t>.</a:t>
            </a:r>
            <a:endParaRPr dirty="0"/>
          </a:p>
        </p:txBody>
      </p:sp>
      <p:sp>
        <p:nvSpPr>
          <p:cNvPr id="1763" name="Google Shape;1763;g60be7dcf1c_0_659:notes">
            <a:extLst>
              <a:ext uri="{FF2B5EF4-FFF2-40B4-BE49-F238E27FC236}">
                <a16:creationId xmlns:a16="http://schemas.microsoft.com/office/drawing/2014/main" id="{4C90D226-32D3-C650-B964-789D7F56DB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106999822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1">
          <a:extLst>
            <a:ext uri="{FF2B5EF4-FFF2-40B4-BE49-F238E27FC236}">
              <a16:creationId xmlns:a16="http://schemas.microsoft.com/office/drawing/2014/main" id="{36CDDF30-6105-B11C-50F9-130ABDFB4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2" name="Google Shape;1762;g60be7dcf1c_0_659:notes">
            <a:extLst>
              <a:ext uri="{FF2B5EF4-FFF2-40B4-BE49-F238E27FC236}">
                <a16:creationId xmlns:a16="http://schemas.microsoft.com/office/drawing/2014/main" id="{3CCB31DF-E486-2B3A-216B-CDC41C417C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63" name="Google Shape;1763;g60be7dcf1c_0_659:notes">
            <a:extLst>
              <a:ext uri="{FF2B5EF4-FFF2-40B4-BE49-F238E27FC236}">
                <a16:creationId xmlns:a16="http://schemas.microsoft.com/office/drawing/2014/main" id="{943C1F0D-ECC5-96B5-FA8A-3C39B3CC07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117553093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2" name="Google Shape;1762;g60be7dcf1c_0_6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63" name="Google Shape;1763;g60be7dcf1c_0_6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135669527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2" name="Google Shape;1762;g60be7dcf1c_0_6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63" name="Google Shape;1763;g60be7dcf1c_0_6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973968332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Google Shape;1236;g60be7dcf1c_0_1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The </a:t>
            </a:r>
            <a:r>
              <a:rPr lang="de-DE" dirty="0" err="1"/>
              <a:t>interconnecting</a:t>
            </a:r>
            <a:r>
              <a:rPr lang="de-DE" dirty="0"/>
              <a:t> </a:t>
            </a:r>
            <a:r>
              <a:rPr lang="de-DE" dirty="0" err="1"/>
              <a:t>networks</a:t>
            </a:r>
            <a:r>
              <a:rPr lang="de-DE" dirty="0"/>
              <a:t> </a:t>
            </a:r>
            <a:r>
              <a:rPr lang="de-DE" dirty="0" err="1"/>
              <a:t>have</a:t>
            </a:r>
            <a:r>
              <a:rPr lang="de-DE" dirty="0"/>
              <a:t> </a:t>
            </a:r>
            <a:r>
              <a:rPr lang="de-DE" dirty="0" err="1"/>
              <a:t>become</a:t>
            </a:r>
            <a:r>
              <a:rPr lang="de-DE" dirty="0"/>
              <a:t> a </a:t>
            </a:r>
            <a:r>
              <a:rPr lang="de-DE" dirty="0" err="1"/>
              <a:t>critical</a:t>
            </a:r>
            <a:r>
              <a:rPr lang="de-DE" dirty="0"/>
              <a:t> </a:t>
            </a:r>
            <a:r>
              <a:rPr lang="de-DE" dirty="0" err="1"/>
              <a:t>infrastructure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our</a:t>
            </a:r>
            <a:r>
              <a:rPr lang="de-DE" dirty="0"/>
              <a:t> digital </a:t>
            </a:r>
            <a:r>
              <a:rPr lang="de-DE" dirty="0" err="1"/>
              <a:t>society</a:t>
            </a:r>
            <a:r>
              <a:rPr lang="de-DE" dirty="0"/>
              <a:t>.</a:t>
            </a:r>
            <a:endParaRPr dirty="0"/>
          </a:p>
        </p:txBody>
      </p:sp>
      <p:sp>
        <p:nvSpPr>
          <p:cNvPr id="1237" name="Google Shape;1237;g60be7dcf1c_0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258523048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Google Shape;1236;g60be7dcf1c_0_1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The </a:t>
            </a:r>
            <a:r>
              <a:rPr lang="de-DE" dirty="0" err="1"/>
              <a:t>interconnecting</a:t>
            </a:r>
            <a:r>
              <a:rPr lang="de-DE" dirty="0"/>
              <a:t> </a:t>
            </a:r>
            <a:r>
              <a:rPr lang="de-DE" dirty="0" err="1"/>
              <a:t>networks</a:t>
            </a:r>
            <a:r>
              <a:rPr lang="de-DE" dirty="0"/>
              <a:t> </a:t>
            </a:r>
            <a:r>
              <a:rPr lang="de-DE" dirty="0" err="1"/>
              <a:t>have</a:t>
            </a:r>
            <a:r>
              <a:rPr lang="de-DE" dirty="0"/>
              <a:t> </a:t>
            </a:r>
            <a:r>
              <a:rPr lang="de-DE" dirty="0" err="1"/>
              <a:t>become</a:t>
            </a:r>
            <a:r>
              <a:rPr lang="de-DE" dirty="0"/>
              <a:t> a </a:t>
            </a:r>
            <a:r>
              <a:rPr lang="de-DE" dirty="0" err="1"/>
              <a:t>critical</a:t>
            </a:r>
            <a:r>
              <a:rPr lang="de-DE" dirty="0"/>
              <a:t> </a:t>
            </a:r>
            <a:r>
              <a:rPr lang="de-DE" dirty="0" err="1"/>
              <a:t>infrastructure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our</a:t>
            </a:r>
            <a:r>
              <a:rPr lang="de-DE" dirty="0"/>
              <a:t> digital </a:t>
            </a:r>
            <a:r>
              <a:rPr lang="de-DE" dirty="0" err="1"/>
              <a:t>society</a:t>
            </a:r>
            <a:r>
              <a:rPr lang="de-DE" dirty="0"/>
              <a:t>.</a:t>
            </a:r>
            <a:endParaRPr dirty="0"/>
          </a:p>
        </p:txBody>
      </p:sp>
      <p:sp>
        <p:nvSpPr>
          <p:cNvPr id="1237" name="Google Shape;1237;g60be7dcf1c_0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255087686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Google Shape;1236;g60be7dcf1c_0_1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The </a:t>
            </a:r>
            <a:r>
              <a:rPr lang="de-DE" dirty="0" err="1"/>
              <a:t>interconnecting</a:t>
            </a:r>
            <a:r>
              <a:rPr lang="de-DE" dirty="0"/>
              <a:t> </a:t>
            </a:r>
            <a:r>
              <a:rPr lang="de-DE" dirty="0" err="1"/>
              <a:t>networks</a:t>
            </a:r>
            <a:r>
              <a:rPr lang="de-DE" dirty="0"/>
              <a:t> </a:t>
            </a:r>
            <a:r>
              <a:rPr lang="de-DE" dirty="0" err="1"/>
              <a:t>have</a:t>
            </a:r>
            <a:r>
              <a:rPr lang="de-DE" dirty="0"/>
              <a:t> </a:t>
            </a:r>
            <a:r>
              <a:rPr lang="de-DE" dirty="0" err="1"/>
              <a:t>become</a:t>
            </a:r>
            <a:r>
              <a:rPr lang="de-DE" dirty="0"/>
              <a:t> a </a:t>
            </a:r>
            <a:r>
              <a:rPr lang="de-DE" dirty="0" err="1"/>
              <a:t>critical</a:t>
            </a:r>
            <a:r>
              <a:rPr lang="de-DE" dirty="0"/>
              <a:t> </a:t>
            </a:r>
            <a:r>
              <a:rPr lang="de-DE" dirty="0" err="1"/>
              <a:t>infrastructure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our</a:t>
            </a:r>
            <a:r>
              <a:rPr lang="de-DE" dirty="0"/>
              <a:t> digital </a:t>
            </a:r>
            <a:r>
              <a:rPr lang="de-DE" dirty="0" err="1"/>
              <a:t>society</a:t>
            </a:r>
            <a:r>
              <a:rPr lang="de-DE" dirty="0"/>
              <a:t>.</a:t>
            </a:r>
            <a:endParaRPr dirty="0"/>
          </a:p>
        </p:txBody>
      </p:sp>
      <p:sp>
        <p:nvSpPr>
          <p:cNvPr id="1237" name="Google Shape;1237;g60be7dcf1c_0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895113115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Google Shape;1236;g60be7dcf1c_0_1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The </a:t>
            </a:r>
            <a:r>
              <a:rPr lang="de-DE" dirty="0" err="1"/>
              <a:t>interconnecting</a:t>
            </a:r>
            <a:r>
              <a:rPr lang="de-DE" dirty="0"/>
              <a:t> </a:t>
            </a:r>
            <a:r>
              <a:rPr lang="de-DE" dirty="0" err="1"/>
              <a:t>networks</a:t>
            </a:r>
            <a:r>
              <a:rPr lang="de-DE" dirty="0"/>
              <a:t> </a:t>
            </a:r>
            <a:r>
              <a:rPr lang="de-DE" dirty="0" err="1"/>
              <a:t>have</a:t>
            </a:r>
            <a:r>
              <a:rPr lang="de-DE" dirty="0"/>
              <a:t> </a:t>
            </a:r>
            <a:r>
              <a:rPr lang="de-DE" dirty="0" err="1"/>
              <a:t>become</a:t>
            </a:r>
            <a:r>
              <a:rPr lang="de-DE" dirty="0"/>
              <a:t> a </a:t>
            </a:r>
            <a:r>
              <a:rPr lang="de-DE" dirty="0" err="1"/>
              <a:t>critical</a:t>
            </a:r>
            <a:r>
              <a:rPr lang="de-DE" dirty="0"/>
              <a:t> </a:t>
            </a:r>
            <a:r>
              <a:rPr lang="de-DE" dirty="0" err="1"/>
              <a:t>infrastructure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our</a:t>
            </a:r>
            <a:r>
              <a:rPr lang="de-DE" dirty="0"/>
              <a:t> digital </a:t>
            </a:r>
            <a:r>
              <a:rPr lang="de-DE" dirty="0" err="1"/>
              <a:t>society</a:t>
            </a:r>
            <a:r>
              <a:rPr lang="de-DE" dirty="0"/>
              <a:t>.</a:t>
            </a:r>
            <a:endParaRPr dirty="0"/>
          </a:p>
        </p:txBody>
      </p:sp>
      <p:sp>
        <p:nvSpPr>
          <p:cNvPr id="1237" name="Google Shape;1237;g60be7dcf1c_0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9464595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Google Shape;1236;g60be7dcf1c_0_1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The </a:t>
            </a:r>
            <a:r>
              <a:rPr lang="de-DE" dirty="0" err="1"/>
              <a:t>interconnecting</a:t>
            </a:r>
            <a:r>
              <a:rPr lang="de-DE" dirty="0"/>
              <a:t> </a:t>
            </a:r>
            <a:r>
              <a:rPr lang="de-DE" dirty="0" err="1"/>
              <a:t>networks</a:t>
            </a:r>
            <a:r>
              <a:rPr lang="de-DE" dirty="0"/>
              <a:t> </a:t>
            </a:r>
            <a:r>
              <a:rPr lang="de-DE" dirty="0" err="1"/>
              <a:t>have</a:t>
            </a:r>
            <a:r>
              <a:rPr lang="de-DE" dirty="0"/>
              <a:t> </a:t>
            </a:r>
            <a:r>
              <a:rPr lang="de-DE" dirty="0" err="1"/>
              <a:t>become</a:t>
            </a:r>
            <a:r>
              <a:rPr lang="de-DE" dirty="0"/>
              <a:t> a </a:t>
            </a:r>
            <a:r>
              <a:rPr lang="de-DE" dirty="0" err="1"/>
              <a:t>critical</a:t>
            </a:r>
            <a:r>
              <a:rPr lang="de-DE" dirty="0"/>
              <a:t> </a:t>
            </a:r>
            <a:r>
              <a:rPr lang="de-DE" dirty="0" err="1"/>
              <a:t>infrastructure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our</a:t>
            </a:r>
            <a:r>
              <a:rPr lang="de-DE" dirty="0"/>
              <a:t> digital </a:t>
            </a:r>
            <a:r>
              <a:rPr lang="de-DE" dirty="0" err="1"/>
              <a:t>society</a:t>
            </a:r>
            <a:r>
              <a:rPr lang="de-DE" dirty="0"/>
              <a:t>.</a:t>
            </a:r>
            <a:endParaRPr dirty="0"/>
          </a:p>
        </p:txBody>
      </p:sp>
      <p:sp>
        <p:nvSpPr>
          <p:cNvPr id="1237" name="Google Shape;1237;g60be7dcf1c_0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923896810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Google Shape;1236;g60be7dcf1c_0_1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The </a:t>
            </a:r>
            <a:r>
              <a:rPr lang="de-DE" dirty="0" err="1"/>
              <a:t>interconnecting</a:t>
            </a:r>
            <a:r>
              <a:rPr lang="de-DE" dirty="0"/>
              <a:t> </a:t>
            </a:r>
            <a:r>
              <a:rPr lang="de-DE" dirty="0" err="1"/>
              <a:t>networks</a:t>
            </a:r>
            <a:r>
              <a:rPr lang="de-DE" dirty="0"/>
              <a:t> </a:t>
            </a:r>
            <a:r>
              <a:rPr lang="de-DE" dirty="0" err="1"/>
              <a:t>have</a:t>
            </a:r>
            <a:r>
              <a:rPr lang="de-DE" dirty="0"/>
              <a:t> </a:t>
            </a:r>
            <a:r>
              <a:rPr lang="de-DE" dirty="0" err="1"/>
              <a:t>become</a:t>
            </a:r>
            <a:r>
              <a:rPr lang="de-DE" dirty="0"/>
              <a:t> a </a:t>
            </a:r>
            <a:r>
              <a:rPr lang="de-DE" dirty="0" err="1"/>
              <a:t>critical</a:t>
            </a:r>
            <a:r>
              <a:rPr lang="de-DE" dirty="0"/>
              <a:t> </a:t>
            </a:r>
            <a:r>
              <a:rPr lang="de-DE" dirty="0" err="1"/>
              <a:t>infrastructure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our</a:t>
            </a:r>
            <a:r>
              <a:rPr lang="de-DE" dirty="0"/>
              <a:t> digital </a:t>
            </a:r>
            <a:r>
              <a:rPr lang="de-DE" dirty="0" err="1"/>
              <a:t>society</a:t>
            </a:r>
            <a:r>
              <a:rPr lang="de-DE" dirty="0"/>
              <a:t>.</a:t>
            </a:r>
            <a:endParaRPr dirty="0"/>
          </a:p>
        </p:txBody>
      </p:sp>
      <p:sp>
        <p:nvSpPr>
          <p:cNvPr id="1237" name="Google Shape;1237;g60be7dcf1c_0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246653646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Google Shape;1236;g60be7dcf1c_0_1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The </a:t>
            </a:r>
            <a:r>
              <a:rPr lang="de-DE" dirty="0" err="1"/>
              <a:t>interconnecting</a:t>
            </a:r>
            <a:r>
              <a:rPr lang="de-DE" dirty="0"/>
              <a:t> </a:t>
            </a:r>
            <a:r>
              <a:rPr lang="de-DE" dirty="0" err="1"/>
              <a:t>networks</a:t>
            </a:r>
            <a:r>
              <a:rPr lang="de-DE" dirty="0"/>
              <a:t> </a:t>
            </a:r>
            <a:r>
              <a:rPr lang="de-DE" dirty="0" err="1"/>
              <a:t>have</a:t>
            </a:r>
            <a:r>
              <a:rPr lang="de-DE" dirty="0"/>
              <a:t> </a:t>
            </a:r>
            <a:r>
              <a:rPr lang="de-DE" dirty="0" err="1"/>
              <a:t>become</a:t>
            </a:r>
            <a:r>
              <a:rPr lang="de-DE" dirty="0"/>
              <a:t> a </a:t>
            </a:r>
            <a:r>
              <a:rPr lang="de-DE" dirty="0" err="1"/>
              <a:t>critical</a:t>
            </a:r>
            <a:r>
              <a:rPr lang="de-DE" dirty="0"/>
              <a:t> </a:t>
            </a:r>
            <a:r>
              <a:rPr lang="de-DE" dirty="0" err="1"/>
              <a:t>infrastructure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our</a:t>
            </a:r>
            <a:r>
              <a:rPr lang="de-DE" dirty="0"/>
              <a:t> digital </a:t>
            </a:r>
            <a:r>
              <a:rPr lang="de-DE" dirty="0" err="1"/>
              <a:t>society</a:t>
            </a:r>
            <a:r>
              <a:rPr lang="de-DE" dirty="0"/>
              <a:t>.</a:t>
            </a:r>
            <a:endParaRPr dirty="0"/>
          </a:p>
        </p:txBody>
      </p:sp>
      <p:sp>
        <p:nvSpPr>
          <p:cNvPr id="1237" name="Google Shape;1237;g60be7dcf1c_0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483767335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Google Shape;1236;g60be7dcf1c_0_1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The </a:t>
            </a:r>
            <a:r>
              <a:rPr lang="de-DE" dirty="0" err="1"/>
              <a:t>interconnecting</a:t>
            </a:r>
            <a:r>
              <a:rPr lang="de-DE" dirty="0"/>
              <a:t> </a:t>
            </a:r>
            <a:r>
              <a:rPr lang="de-DE" dirty="0" err="1"/>
              <a:t>networks</a:t>
            </a:r>
            <a:r>
              <a:rPr lang="de-DE" dirty="0"/>
              <a:t> </a:t>
            </a:r>
            <a:r>
              <a:rPr lang="de-DE" dirty="0" err="1"/>
              <a:t>have</a:t>
            </a:r>
            <a:r>
              <a:rPr lang="de-DE" dirty="0"/>
              <a:t> </a:t>
            </a:r>
            <a:r>
              <a:rPr lang="de-DE" dirty="0" err="1"/>
              <a:t>become</a:t>
            </a:r>
            <a:r>
              <a:rPr lang="de-DE" dirty="0"/>
              <a:t> a </a:t>
            </a:r>
            <a:r>
              <a:rPr lang="de-DE" dirty="0" err="1"/>
              <a:t>critical</a:t>
            </a:r>
            <a:r>
              <a:rPr lang="de-DE" dirty="0"/>
              <a:t> </a:t>
            </a:r>
            <a:r>
              <a:rPr lang="de-DE" dirty="0" err="1"/>
              <a:t>infrastructure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our</a:t>
            </a:r>
            <a:r>
              <a:rPr lang="de-DE" dirty="0"/>
              <a:t> digital </a:t>
            </a:r>
            <a:r>
              <a:rPr lang="de-DE" dirty="0" err="1"/>
              <a:t>society</a:t>
            </a:r>
            <a:r>
              <a:rPr lang="de-DE" dirty="0"/>
              <a:t>.</a:t>
            </a:r>
            <a:endParaRPr dirty="0"/>
          </a:p>
        </p:txBody>
      </p:sp>
      <p:sp>
        <p:nvSpPr>
          <p:cNvPr id="1237" name="Google Shape;1237;g60be7dcf1c_0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86690170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Google Shape;1236;g60be7dcf1c_0_1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The </a:t>
            </a:r>
            <a:r>
              <a:rPr lang="de-DE" dirty="0" err="1"/>
              <a:t>interconnecting</a:t>
            </a:r>
            <a:r>
              <a:rPr lang="de-DE" dirty="0"/>
              <a:t> </a:t>
            </a:r>
            <a:r>
              <a:rPr lang="de-DE" dirty="0" err="1"/>
              <a:t>networks</a:t>
            </a:r>
            <a:r>
              <a:rPr lang="de-DE" dirty="0"/>
              <a:t> </a:t>
            </a:r>
            <a:r>
              <a:rPr lang="de-DE" dirty="0" err="1"/>
              <a:t>have</a:t>
            </a:r>
            <a:r>
              <a:rPr lang="de-DE" dirty="0"/>
              <a:t> </a:t>
            </a:r>
            <a:r>
              <a:rPr lang="de-DE" dirty="0" err="1"/>
              <a:t>become</a:t>
            </a:r>
            <a:r>
              <a:rPr lang="de-DE" dirty="0"/>
              <a:t> a </a:t>
            </a:r>
            <a:r>
              <a:rPr lang="de-DE" dirty="0" err="1"/>
              <a:t>critical</a:t>
            </a:r>
            <a:r>
              <a:rPr lang="de-DE" dirty="0"/>
              <a:t> </a:t>
            </a:r>
            <a:r>
              <a:rPr lang="de-DE" dirty="0" err="1"/>
              <a:t>infrastructure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our</a:t>
            </a:r>
            <a:r>
              <a:rPr lang="de-DE" dirty="0"/>
              <a:t> digital </a:t>
            </a:r>
            <a:r>
              <a:rPr lang="de-DE" dirty="0" err="1"/>
              <a:t>society</a:t>
            </a:r>
            <a:r>
              <a:rPr lang="de-DE" dirty="0"/>
              <a:t>.</a:t>
            </a:r>
            <a:endParaRPr dirty="0"/>
          </a:p>
        </p:txBody>
      </p:sp>
      <p:sp>
        <p:nvSpPr>
          <p:cNvPr id="1237" name="Google Shape;1237;g60be7dcf1c_0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116302813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5" name="Google Shape;1795;g60be7dcf1c_0_6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course</a:t>
            </a:r>
            <a:r>
              <a:rPr lang="de-DE" dirty="0"/>
              <a:t>,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particularly</a:t>
            </a:r>
            <a:r>
              <a:rPr lang="de-DE" dirty="0"/>
              <a:t> </a:t>
            </a:r>
            <a:r>
              <a:rPr lang="de-DE" dirty="0" err="1"/>
              <a:t>interested</a:t>
            </a:r>
            <a:r>
              <a:rPr lang="de-DE" dirty="0"/>
              <a:t> in </a:t>
            </a:r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achieved</a:t>
            </a:r>
            <a:r>
              <a:rPr lang="de-DE" dirty="0"/>
              <a:t> in </a:t>
            </a:r>
            <a:r>
              <a:rPr lang="de-DE" dirty="0" err="1"/>
              <a:t>self-adjusting</a:t>
            </a:r>
            <a:r>
              <a:rPr lang="de-DE" dirty="0"/>
              <a:t> </a:t>
            </a:r>
            <a:r>
              <a:rPr lang="de-DE" dirty="0" err="1"/>
              <a:t>networks</a:t>
            </a:r>
            <a:r>
              <a:rPr lang="de-DE" dirty="0"/>
              <a:t>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this</a:t>
            </a:r>
            <a:r>
              <a:rPr lang="de-DE" dirty="0"/>
              <a:t> end,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want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develop</a:t>
            </a:r>
            <a:r>
              <a:rPr lang="de-DE" dirty="0"/>
              <a:t> </a:t>
            </a:r>
            <a:r>
              <a:rPr lang="de-DE" dirty="0" err="1"/>
              <a:t>metrics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self-adjusting</a:t>
            </a:r>
            <a:r>
              <a:rPr lang="de-DE" dirty="0"/>
              <a:t> </a:t>
            </a:r>
            <a:r>
              <a:rPr lang="de-DE" dirty="0" err="1"/>
              <a:t>networks</a:t>
            </a:r>
            <a:r>
              <a:rPr lang="de-DE" dirty="0"/>
              <a:t> </a:t>
            </a:r>
            <a:r>
              <a:rPr lang="de-DE" dirty="0" err="1"/>
              <a:t>which</a:t>
            </a:r>
            <a:r>
              <a:rPr lang="de-DE" dirty="0"/>
              <a:t> </a:t>
            </a:r>
            <a:r>
              <a:rPr lang="de-DE" dirty="0" err="1"/>
              <a:t>depend</a:t>
            </a:r>
            <a:r>
              <a:rPr lang="de-DE" dirty="0"/>
              <a:t> on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demand</a:t>
            </a:r>
            <a:r>
              <a:rPr lang="de-DE" dirty="0"/>
              <a:t>,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well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algorithms</a:t>
            </a:r>
            <a:r>
              <a:rPr lang="de-DE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 err="1"/>
              <a:t>Here</a:t>
            </a:r>
            <a:r>
              <a:rPr lang="de-DE" baseline="0" dirty="0"/>
              <a:t> </a:t>
            </a:r>
            <a:r>
              <a:rPr lang="de-DE" baseline="0" dirty="0" err="1"/>
              <a:t>we</a:t>
            </a:r>
            <a:r>
              <a:rPr lang="de-DE" baseline="0" dirty="0"/>
              <a:t> </a:t>
            </a:r>
            <a:r>
              <a:rPr lang="de-DE" baseline="0" dirty="0" err="1"/>
              <a:t>have</a:t>
            </a:r>
            <a:r>
              <a:rPr lang="de-DE" baseline="0" dirty="0"/>
              <a:t> </a:t>
            </a:r>
            <a:r>
              <a:rPr lang="de-DE" baseline="0" dirty="0" err="1"/>
              <a:t>some</a:t>
            </a:r>
            <a:r>
              <a:rPr lang="de-DE" baseline="0" dirty="0"/>
              <a:t> </a:t>
            </a:r>
            <a:r>
              <a:rPr lang="de-DE" baseline="0" dirty="0" err="1"/>
              <a:t>first</a:t>
            </a:r>
            <a:r>
              <a:rPr lang="de-DE" baseline="0" dirty="0"/>
              <a:t> </a:t>
            </a:r>
            <a:r>
              <a:rPr lang="de-DE" baseline="0" dirty="0" err="1"/>
              <a:t>insights</a:t>
            </a:r>
            <a:r>
              <a:rPr lang="de-DE" baseline="0" dirty="0"/>
              <a:t> </a:t>
            </a:r>
            <a:r>
              <a:rPr lang="de-DE" baseline="0" dirty="0" err="1"/>
              <a:t>that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entropy</a:t>
            </a:r>
            <a:r>
              <a:rPr lang="de-DE" baseline="0" dirty="0"/>
              <a:t> </a:t>
            </a:r>
            <a:r>
              <a:rPr lang="de-DE" baseline="0" dirty="0" err="1"/>
              <a:t>of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demand</a:t>
            </a:r>
            <a:r>
              <a:rPr lang="de-DE" baseline="0" dirty="0"/>
              <a:t> </a:t>
            </a:r>
            <a:r>
              <a:rPr lang="de-DE" baseline="0" dirty="0" err="1"/>
              <a:t>can</a:t>
            </a:r>
            <a:r>
              <a:rPr lang="de-DE" baseline="0" dirty="0"/>
              <a:t> </a:t>
            </a:r>
            <a:r>
              <a:rPr lang="de-DE" baseline="0" dirty="0" err="1"/>
              <a:t>serve</a:t>
            </a:r>
            <a:r>
              <a:rPr lang="de-DE" baseline="0" dirty="0"/>
              <a:t> </a:t>
            </a:r>
            <a:r>
              <a:rPr lang="de-DE" baseline="0" dirty="0" err="1"/>
              <a:t>as</a:t>
            </a:r>
            <a:r>
              <a:rPr lang="de-DE" baseline="0" dirty="0"/>
              <a:t> a </a:t>
            </a:r>
            <a:r>
              <a:rPr lang="de-DE" baseline="0" dirty="0" err="1"/>
              <a:t>useful</a:t>
            </a:r>
            <a:r>
              <a:rPr lang="de-DE" baseline="0" dirty="0"/>
              <a:t> </a:t>
            </a:r>
            <a:r>
              <a:rPr lang="de-DE" baseline="0" dirty="0" err="1"/>
              <a:t>metric</a:t>
            </a:r>
            <a:r>
              <a:rPr lang="de-DE" baseline="0" dirty="0"/>
              <a:t> </a:t>
            </a:r>
            <a:r>
              <a:rPr lang="de-DE" baseline="0" dirty="0" err="1"/>
              <a:t>for</a:t>
            </a:r>
            <a:r>
              <a:rPr lang="de-DE" baseline="0" dirty="0"/>
              <a:t> </a:t>
            </a:r>
            <a:r>
              <a:rPr lang="de-DE" baseline="0" dirty="0" err="1"/>
              <a:t>self-adjusting</a:t>
            </a:r>
            <a:r>
              <a:rPr lang="de-DE" baseline="0" dirty="0"/>
              <a:t> </a:t>
            </a:r>
            <a:r>
              <a:rPr lang="de-DE" baseline="0" dirty="0" err="1"/>
              <a:t>networks</a:t>
            </a:r>
            <a:r>
              <a:rPr lang="de-DE" baseline="0" dirty="0"/>
              <a:t>.</a:t>
            </a:r>
            <a:endParaRPr dirty="0"/>
          </a:p>
        </p:txBody>
      </p:sp>
      <p:sp>
        <p:nvSpPr>
          <p:cNvPr id="1796" name="Google Shape;1796;g60be7dcf1c_0_6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716881112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Google Shape;1527;g60be7dcf1c_0_4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More </a:t>
            </a:r>
            <a:r>
              <a:rPr lang="de-DE" dirty="0" err="1"/>
              <a:t>specifically</a:t>
            </a:r>
            <a:r>
              <a:rPr lang="de-DE" dirty="0"/>
              <a:t>, </a:t>
            </a:r>
            <a:r>
              <a:rPr lang="de-DE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enabler</a:t>
            </a:r>
            <a:r>
              <a:rPr lang="de-DE" baseline="0" dirty="0"/>
              <a:t> </a:t>
            </a:r>
            <a:r>
              <a:rPr lang="de-DE" baseline="0" dirty="0" err="1"/>
              <a:t>for</a:t>
            </a:r>
            <a:r>
              <a:rPr lang="de-DE" baseline="0" dirty="0"/>
              <a:t> </a:t>
            </a:r>
            <a:r>
              <a:rPr lang="de-DE" baseline="0" dirty="0" err="1"/>
              <a:t>our</a:t>
            </a:r>
            <a:r>
              <a:rPr lang="de-DE" baseline="0" dirty="0"/>
              <a:t> </a:t>
            </a:r>
            <a:r>
              <a:rPr lang="de-DE" baseline="0" dirty="0" err="1"/>
              <a:t>project</a:t>
            </a:r>
            <a:r>
              <a:rPr lang="de-DE" baseline="0" dirty="0"/>
              <a:t> </a:t>
            </a:r>
            <a:r>
              <a:rPr lang="de-DE" baseline="0" dirty="0" err="1"/>
              <a:t>are</a:t>
            </a:r>
            <a:r>
              <a:rPr lang="de-DE" baseline="0" dirty="0"/>
              <a:t> </a:t>
            </a:r>
            <a:r>
              <a:rPr lang="de-DE" baseline="0" dirty="0" err="1"/>
              <a:t>reconfigurable</a:t>
            </a:r>
            <a:r>
              <a:rPr lang="de-DE" baseline="0" dirty="0"/>
              <a:t> </a:t>
            </a:r>
            <a:r>
              <a:rPr lang="de-DE" baseline="0" dirty="0" err="1"/>
              <a:t>optical</a:t>
            </a:r>
            <a:r>
              <a:rPr lang="de-DE" baseline="0" dirty="0"/>
              <a:t> </a:t>
            </a:r>
            <a:r>
              <a:rPr lang="de-DE" baseline="0" dirty="0" err="1"/>
              <a:t>switches</a:t>
            </a:r>
            <a:r>
              <a:rPr lang="de-DE" baseline="0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 err="1"/>
              <a:t>There</a:t>
            </a:r>
            <a:r>
              <a:rPr lang="de-DE" baseline="0" dirty="0"/>
              <a:t> </a:t>
            </a:r>
            <a:r>
              <a:rPr lang="de-DE" baseline="0" dirty="0" err="1"/>
              <a:t>is</a:t>
            </a:r>
            <a:r>
              <a:rPr lang="de-DE" baseline="0" dirty="0"/>
              <a:t> </a:t>
            </a:r>
            <a:r>
              <a:rPr lang="de-DE" baseline="0" dirty="0" err="1"/>
              <a:t>currently</a:t>
            </a:r>
            <a:r>
              <a:rPr lang="de-DE" baseline="0" dirty="0"/>
              <a:t> a </a:t>
            </a:r>
            <a:r>
              <a:rPr lang="de-DE" baseline="0" dirty="0" err="1"/>
              <a:t>spectrum</a:t>
            </a:r>
            <a:r>
              <a:rPr lang="de-DE" baseline="0" dirty="0"/>
              <a:t> </a:t>
            </a:r>
            <a:r>
              <a:rPr lang="de-DE" baseline="0" dirty="0" err="1"/>
              <a:t>of</a:t>
            </a:r>
            <a:r>
              <a:rPr lang="de-DE" baseline="0" dirty="0"/>
              <a:t> </a:t>
            </a:r>
            <a:r>
              <a:rPr lang="de-DE" baseline="0" dirty="0" err="1"/>
              <a:t>prototypes</a:t>
            </a:r>
            <a:r>
              <a:rPr lang="de-DE" baseline="0" dirty="0"/>
              <a:t> </a:t>
            </a:r>
            <a:r>
              <a:rPr lang="de-DE" baseline="0" dirty="0" err="1"/>
              <a:t>emerging</a:t>
            </a:r>
            <a:r>
              <a:rPr lang="de-DE" baseline="0" dirty="0"/>
              <a:t>: </a:t>
            </a:r>
            <a:r>
              <a:rPr lang="de-DE" baseline="0" dirty="0" err="1"/>
              <a:t>these</a:t>
            </a:r>
            <a:r>
              <a:rPr lang="de-DE" baseline="0" dirty="0"/>
              <a:t> </a:t>
            </a:r>
            <a:r>
              <a:rPr lang="de-DE" baseline="0" dirty="0" err="1"/>
              <a:t>prototypes</a:t>
            </a:r>
            <a:r>
              <a:rPr lang="de-DE" baseline="0" dirty="0"/>
              <a:t> </a:t>
            </a:r>
            <a:r>
              <a:rPr lang="de-DE" baseline="0" dirty="0" err="1"/>
              <a:t>have</a:t>
            </a:r>
            <a:r>
              <a:rPr lang="de-DE" baseline="0" dirty="0"/>
              <a:t> different </a:t>
            </a:r>
            <a:r>
              <a:rPr lang="de-DE" baseline="0" dirty="0" err="1"/>
              <a:t>sizes</a:t>
            </a:r>
            <a:r>
              <a:rPr lang="de-DE" baseline="0" dirty="0"/>
              <a:t>, different </a:t>
            </a:r>
            <a:r>
              <a:rPr lang="de-DE" baseline="0" dirty="0" err="1"/>
              <a:t>reconfiguration</a:t>
            </a:r>
            <a:r>
              <a:rPr lang="de-DE" baseline="0" dirty="0"/>
              <a:t> </a:t>
            </a:r>
            <a:r>
              <a:rPr lang="de-DE" baseline="0" dirty="0" err="1"/>
              <a:t>times</a:t>
            </a:r>
            <a:r>
              <a:rPr lang="de-DE" baseline="0" dirty="0"/>
              <a:t>, etc.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 err="1"/>
              <a:t>Here</a:t>
            </a:r>
            <a:r>
              <a:rPr lang="de-DE" baseline="0" dirty="0"/>
              <a:t> </a:t>
            </a:r>
            <a:r>
              <a:rPr lang="de-DE" baseline="0" dirty="0" err="1"/>
              <a:t>are</a:t>
            </a:r>
            <a:r>
              <a:rPr lang="de-DE" baseline="0" dirty="0"/>
              <a:t> </a:t>
            </a:r>
            <a:r>
              <a:rPr lang="de-DE" baseline="0" dirty="0" err="1"/>
              <a:t>some</a:t>
            </a:r>
            <a:r>
              <a:rPr lang="de-DE" baseline="0" dirty="0"/>
              <a:t> </a:t>
            </a:r>
            <a:r>
              <a:rPr lang="de-DE" baseline="0" dirty="0" err="1"/>
              <a:t>examples</a:t>
            </a:r>
            <a:r>
              <a:rPr lang="de-DE" baseline="0" dirty="0"/>
              <a:t> </a:t>
            </a:r>
            <a:r>
              <a:rPr lang="de-DE" baseline="0" dirty="0" err="1"/>
              <a:t>from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SIGCOMM </a:t>
            </a:r>
            <a:r>
              <a:rPr lang="de-DE" baseline="0" dirty="0" err="1"/>
              <a:t>workshop</a:t>
            </a:r>
            <a:r>
              <a:rPr lang="de-DE" baseline="0" dirty="0"/>
              <a:t> </a:t>
            </a:r>
            <a:r>
              <a:rPr lang="de-DE" baseline="0" dirty="0" err="1"/>
              <a:t>we</a:t>
            </a:r>
            <a:r>
              <a:rPr lang="de-DE" baseline="0" dirty="0"/>
              <a:t> </a:t>
            </a:r>
            <a:r>
              <a:rPr lang="de-DE" baseline="0" dirty="0" err="1"/>
              <a:t>organized</a:t>
            </a:r>
            <a:r>
              <a:rPr lang="de-DE" baseline="0" dirty="0"/>
              <a:t> last </a:t>
            </a:r>
            <a:r>
              <a:rPr lang="de-DE" baseline="0" dirty="0" err="1"/>
              <a:t>month</a:t>
            </a:r>
            <a:r>
              <a:rPr lang="de-DE" baseline="0" dirty="0"/>
              <a:t>.</a:t>
            </a:r>
            <a:endParaRPr dirty="0"/>
          </a:p>
        </p:txBody>
      </p:sp>
      <p:sp>
        <p:nvSpPr>
          <p:cNvPr id="1528" name="Google Shape;1528;g60be7dcf1c_0_4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975256222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Google Shape;1527;g60be7dcf1c_0_4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More </a:t>
            </a:r>
            <a:r>
              <a:rPr lang="de-DE" dirty="0" err="1"/>
              <a:t>specifically</a:t>
            </a:r>
            <a:r>
              <a:rPr lang="de-DE" dirty="0"/>
              <a:t>, </a:t>
            </a:r>
            <a:r>
              <a:rPr lang="de-DE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enabler</a:t>
            </a:r>
            <a:r>
              <a:rPr lang="de-DE" baseline="0" dirty="0"/>
              <a:t> </a:t>
            </a:r>
            <a:r>
              <a:rPr lang="de-DE" baseline="0" dirty="0" err="1"/>
              <a:t>for</a:t>
            </a:r>
            <a:r>
              <a:rPr lang="de-DE" baseline="0" dirty="0"/>
              <a:t> </a:t>
            </a:r>
            <a:r>
              <a:rPr lang="de-DE" baseline="0" dirty="0" err="1"/>
              <a:t>our</a:t>
            </a:r>
            <a:r>
              <a:rPr lang="de-DE" baseline="0" dirty="0"/>
              <a:t> </a:t>
            </a:r>
            <a:r>
              <a:rPr lang="de-DE" baseline="0" dirty="0" err="1"/>
              <a:t>project</a:t>
            </a:r>
            <a:r>
              <a:rPr lang="de-DE" baseline="0" dirty="0"/>
              <a:t> </a:t>
            </a:r>
            <a:r>
              <a:rPr lang="de-DE" baseline="0" dirty="0" err="1"/>
              <a:t>are</a:t>
            </a:r>
            <a:r>
              <a:rPr lang="de-DE" baseline="0" dirty="0"/>
              <a:t> </a:t>
            </a:r>
            <a:r>
              <a:rPr lang="de-DE" baseline="0" dirty="0" err="1"/>
              <a:t>reconfigurable</a:t>
            </a:r>
            <a:r>
              <a:rPr lang="de-DE" baseline="0" dirty="0"/>
              <a:t> </a:t>
            </a:r>
            <a:r>
              <a:rPr lang="de-DE" baseline="0" dirty="0" err="1"/>
              <a:t>optical</a:t>
            </a:r>
            <a:r>
              <a:rPr lang="de-DE" baseline="0" dirty="0"/>
              <a:t> </a:t>
            </a:r>
            <a:r>
              <a:rPr lang="de-DE" baseline="0" dirty="0" err="1"/>
              <a:t>switches</a:t>
            </a:r>
            <a:r>
              <a:rPr lang="de-DE" baseline="0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 err="1"/>
              <a:t>There</a:t>
            </a:r>
            <a:r>
              <a:rPr lang="de-DE" baseline="0" dirty="0"/>
              <a:t> </a:t>
            </a:r>
            <a:r>
              <a:rPr lang="de-DE" baseline="0" dirty="0" err="1"/>
              <a:t>is</a:t>
            </a:r>
            <a:r>
              <a:rPr lang="de-DE" baseline="0" dirty="0"/>
              <a:t> </a:t>
            </a:r>
            <a:r>
              <a:rPr lang="de-DE" baseline="0" dirty="0" err="1"/>
              <a:t>currently</a:t>
            </a:r>
            <a:r>
              <a:rPr lang="de-DE" baseline="0" dirty="0"/>
              <a:t> a </a:t>
            </a:r>
            <a:r>
              <a:rPr lang="de-DE" baseline="0" dirty="0" err="1"/>
              <a:t>spectrum</a:t>
            </a:r>
            <a:r>
              <a:rPr lang="de-DE" baseline="0" dirty="0"/>
              <a:t> </a:t>
            </a:r>
            <a:r>
              <a:rPr lang="de-DE" baseline="0" dirty="0" err="1"/>
              <a:t>of</a:t>
            </a:r>
            <a:r>
              <a:rPr lang="de-DE" baseline="0" dirty="0"/>
              <a:t> </a:t>
            </a:r>
            <a:r>
              <a:rPr lang="de-DE" baseline="0" dirty="0" err="1"/>
              <a:t>prototypes</a:t>
            </a:r>
            <a:r>
              <a:rPr lang="de-DE" baseline="0" dirty="0"/>
              <a:t> </a:t>
            </a:r>
            <a:r>
              <a:rPr lang="de-DE" baseline="0" dirty="0" err="1"/>
              <a:t>emerging</a:t>
            </a:r>
            <a:r>
              <a:rPr lang="de-DE" baseline="0" dirty="0"/>
              <a:t>: </a:t>
            </a:r>
            <a:r>
              <a:rPr lang="de-DE" baseline="0" dirty="0" err="1"/>
              <a:t>these</a:t>
            </a:r>
            <a:r>
              <a:rPr lang="de-DE" baseline="0" dirty="0"/>
              <a:t> </a:t>
            </a:r>
            <a:r>
              <a:rPr lang="de-DE" baseline="0" dirty="0" err="1"/>
              <a:t>prototypes</a:t>
            </a:r>
            <a:r>
              <a:rPr lang="de-DE" baseline="0" dirty="0"/>
              <a:t> </a:t>
            </a:r>
            <a:r>
              <a:rPr lang="de-DE" baseline="0" dirty="0" err="1"/>
              <a:t>have</a:t>
            </a:r>
            <a:r>
              <a:rPr lang="de-DE" baseline="0" dirty="0"/>
              <a:t> different </a:t>
            </a:r>
            <a:r>
              <a:rPr lang="de-DE" baseline="0" dirty="0" err="1"/>
              <a:t>sizes</a:t>
            </a:r>
            <a:r>
              <a:rPr lang="de-DE" baseline="0" dirty="0"/>
              <a:t>, different </a:t>
            </a:r>
            <a:r>
              <a:rPr lang="de-DE" baseline="0" dirty="0" err="1"/>
              <a:t>reconfiguration</a:t>
            </a:r>
            <a:r>
              <a:rPr lang="de-DE" baseline="0" dirty="0"/>
              <a:t> </a:t>
            </a:r>
            <a:r>
              <a:rPr lang="de-DE" baseline="0" dirty="0" err="1"/>
              <a:t>times</a:t>
            </a:r>
            <a:r>
              <a:rPr lang="de-DE" baseline="0" dirty="0"/>
              <a:t>, etc.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 err="1"/>
              <a:t>Here</a:t>
            </a:r>
            <a:r>
              <a:rPr lang="de-DE" baseline="0" dirty="0"/>
              <a:t> </a:t>
            </a:r>
            <a:r>
              <a:rPr lang="de-DE" baseline="0" dirty="0" err="1"/>
              <a:t>are</a:t>
            </a:r>
            <a:r>
              <a:rPr lang="de-DE" baseline="0" dirty="0"/>
              <a:t> </a:t>
            </a:r>
            <a:r>
              <a:rPr lang="de-DE" baseline="0" dirty="0" err="1"/>
              <a:t>some</a:t>
            </a:r>
            <a:r>
              <a:rPr lang="de-DE" baseline="0" dirty="0"/>
              <a:t> </a:t>
            </a:r>
            <a:r>
              <a:rPr lang="de-DE" baseline="0" dirty="0" err="1"/>
              <a:t>examples</a:t>
            </a:r>
            <a:r>
              <a:rPr lang="de-DE" baseline="0" dirty="0"/>
              <a:t> </a:t>
            </a:r>
            <a:r>
              <a:rPr lang="de-DE" baseline="0" dirty="0" err="1"/>
              <a:t>from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SIGCOMM </a:t>
            </a:r>
            <a:r>
              <a:rPr lang="de-DE" baseline="0" dirty="0" err="1"/>
              <a:t>workshop</a:t>
            </a:r>
            <a:r>
              <a:rPr lang="de-DE" baseline="0" dirty="0"/>
              <a:t> </a:t>
            </a:r>
            <a:r>
              <a:rPr lang="de-DE" baseline="0" dirty="0" err="1"/>
              <a:t>we</a:t>
            </a:r>
            <a:r>
              <a:rPr lang="de-DE" baseline="0" dirty="0"/>
              <a:t> </a:t>
            </a:r>
            <a:r>
              <a:rPr lang="de-DE" baseline="0" dirty="0" err="1"/>
              <a:t>organized</a:t>
            </a:r>
            <a:r>
              <a:rPr lang="de-DE" baseline="0" dirty="0"/>
              <a:t> last </a:t>
            </a:r>
            <a:r>
              <a:rPr lang="de-DE" baseline="0" dirty="0" err="1"/>
              <a:t>month</a:t>
            </a:r>
            <a:r>
              <a:rPr lang="de-DE" baseline="0" dirty="0"/>
              <a:t>.</a:t>
            </a:r>
            <a:endParaRPr dirty="0"/>
          </a:p>
        </p:txBody>
      </p:sp>
      <p:sp>
        <p:nvSpPr>
          <p:cNvPr id="1528" name="Google Shape;1528;g60be7dcf1c_0_4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372244397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Google Shape;1527;g60be7dcf1c_0_4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More </a:t>
            </a:r>
            <a:r>
              <a:rPr lang="de-DE" dirty="0" err="1"/>
              <a:t>specifically</a:t>
            </a:r>
            <a:r>
              <a:rPr lang="de-DE" dirty="0"/>
              <a:t>, </a:t>
            </a:r>
            <a:r>
              <a:rPr lang="de-DE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enabler</a:t>
            </a:r>
            <a:r>
              <a:rPr lang="de-DE" baseline="0" dirty="0"/>
              <a:t> </a:t>
            </a:r>
            <a:r>
              <a:rPr lang="de-DE" baseline="0" dirty="0" err="1"/>
              <a:t>for</a:t>
            </a:r>
            <a:r>
              <a:rPr lang="de-DE" baseline="0" dirty="0"/>
              <a:t> </a:t>
            </a:r>
            <a:r>
              <a:rPr lang="de-DE" baseline="0" dirty="0" err="1"/>
              <a:t>our</a:t>
            </a:r>
            <a:r>
              <a:rPr lang="de-DE" baseline="0" dirty="0"/>
              <a:t> </a:t>
            </a:r>
            <a:r>
              <a:rPr lang="de-DE" baseline="0" dirty="0" err="1"/>
              <a:t>project</a:t>
            </a:r>
            <a:r>
              <a:rPr lang="de-DE" baseline="0" dirty="0"/>
              <a:t> </a:t>
            </a:r>
            <a:r>
              <a:rPr lang="de-DE" baseline="0" dirty="0" err="1"/>
              <a:t>are</a:t>
            </a:r>
            <a:r>
              <a:rPr lang="de-DE" baseline="0" dirty="0"/>
              <a:t> </a:t>
            </a:r>
            <a:r>
              <a:rPr lang="de-DE" baseline="0" dirty="0" err="1"/>
              <a:t>reconfigurable</a:t>
            </a:r>
            <a:r>
              <a:rPr lang="de-DE" baseline="0" dirty="0"/>
              <a:t> </a:t>
            </a:r>
            <a:r>
              <a:rPr lang="de-DE" baseline="0" dirty="0" err="1"/>
              <a:t>optical</a:t>
            </a:r>
            <a:r>
              <a:rPr lang="de-DE" baseline="0" dirty="0"/>
              <a:t> </a:t>
            </a:r>
            <a:r>
              <a:rPr lang="de-DE" baseline="0" dirty="0" err="1"/>
              <a:t>switches</a:t>
            </a:r>
            <a:r>
              <a:rPr lang="de-DE" baseline="0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 err="1"/>
              <a:t>There</a:t>
            </a:r>
            <a:r>
              <a:rPr lang="de-DE" baseline="0" dirty="0"/>
              <a:t> </a:t>
            </a:r>
            <a:r>
              <a:rPr lang="de-DE" baseline="0" dirty="0" err="1"/>
              <a:t>is</a:t>
            </a:r>
            <a:r>
              <a:rPr lang="de-DE" baseline="0" dirty="0"/>
              <a:t> </a:t>
            </a:r>
            <a:r>
              <a:rPr lang="de-DE" baseline="0" dirty="0" err="1"/>
              <a:t>currently</a:t>
            </a:r>
            <a:r>
              <a:rPr lang="de-DE" baseline="0" dirty="0"/>
              <a:t> a </a:t>
            </a:r>
            <a:r>
              <a:rPr lang="de-DE" baseline="0" dirty="0" err="1"/>
              <a:t>spectrum</a:t>
            </a:r>
            <a:r>
              <a:rPr lang="de-DE" baseline="0" dirty="0"/>
              <a:t> </a:t>
            </a:r>
            <a:r>
              <a:rPr lang="de-DE" baseline="0" dirty="0" err="1"/>
              <a:t>of</a:t>
            </a:r>
            <a:r>
              <a:rPr lang="de-DE" baseline="0" dirty="0"/>
              <a:t> </a:t>
            </a:r>
            <a:r>
              <a:rPr lang="de-DE" baseline="0" dirty="0" err="1"/>
              <a:t>prototypes</a:t>
            </a:r>
            <a:r>
              <a:rPr lang="de-DE" baseline="0" dirty="0"/>
              <a:t> </a:t>
            </a:r>
            <a:r>
              <a:rPr lang="de-DE" baseline="0" dirty="0" err="1"/>
              <a:t>emerging</a:t>
            </a:r>
            <a:r>
              <a:rPr lang="de-DE" baseline="0" dirty="0"/>
              <a:t>: </a:t>
            </a:r>
            <a:r>
              <a:rPr lang="de-DE" baseline="0" dirty="0" err="1"/>
              <a:t>these</a:t>
            </a:r>
            <a:r>
              <a:rPr lang="de-DE" baseline="0" dirty="0"/>
              <a:t> </a:t>
            </a:r>
            <a:r>
              <a:rPr lang="de-DE" baseline="0" dirty="0" err="1"/>
              <a:t>prototypes</a:t>
            </a:r>
            <a:r>
              <a:rPr lang="de-DE" baseline="0" dirty="0"/>
              <a:t> </a:t>
            </a:r>
            <a:r>
              <a:rPr lang="de-DE" baseline="0" dirty="0" err="1"/>
              <a:t>have</a:t>
            </a:r>
            <a:r>
              <a:rPr lang="de-DE" baseline="0" dirty="0"/>
              <a:t> different </a:t>
            </a:r>
            <a:r>
              <a:rPr lang="de-DE" baseline="0" dirty="0" err="1"/>
              <a:t>sizes</a:t>
            </a:r>
            <a:r>
              <a:rPr lang="de-DE" baseline="0" dirty="0"/>
              <a:t>, different </a:t>
            </a:r>
            <a:r>
              <a:rPr lang="de-DE" baseline="0" dirty="0" err="1"/>
              <a:t>reconfiguration</a:t>
            </a:r>
            <a:r>
              <a:rPr lang="de-DE" baseline="0" dirty="0"/>
              <a:t> </a:t>
            </a:r>
            <a:r>
              <a:rPr lang="de-DE" baseline="0" dirty="0" err="1"/>
              <a:t>times</a:t>
            </a:r>
            <a:r>
              <a:rPr lang="de-DE" baseline="0" dirty="0"/>
              <a:t>, etc.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 err="1"/>
              <a:t>Here</a:t>
            </a:r>
            <a:r>
              <a:rPr lang="de-DE" baseline="0" dirty="0"/>
              <a:t> </a:t>
            </a:r>
            <a:r>
              <a:rPr lang="de-DE" baseline="0" dirty="0" err="1"/>
              <a:t>are</a:t>
            </a:r>
            <a:r>
              <a:rPr lang="de-DE" baseline="0" dirty="0"/>
              <a:t> </a:t>
            </a:r>
            <a:r>
              <a:rPr lang="de-DE" baseline="0" dirty="0" err="1"/>
              <a:t>some</a:t>
            </a:r>
            <a:r>
              <a:rPr lang="de-DE" baseline="0" dirty="0"/>
              <a:t> </a:t>
            </a:r>
            <a:r>
              <a:rPr lang="de-DE" baseline="0" dirty="0" err="1"/>
              <a:t>examples</a:t>
            </a:r>
            <a:r>
              <a:rPr lang="de-DE" baseline="0" dirty="0"/>
              <a:t> </a:t>
            </a:r>
            <a:r>
              <a:rPr lang="de-DE" baseline="0" dirty="0" err="1"/>
              <a:t>from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SIGCOMM </a:t>
            </a:r>
            <a:r>
              <a:rPr lang="de-DE" baseline="0" dirty="0" err="1"/>
              <a:t>workshop</a:t>
            </a:r>
            <a:r>
              <a:rPr lang="de-DE" baseline="0" dirty="0"/>
              <a:t> </a:t>
            </a:r>
            <a:r>
              <a:rPr lang="de-DE" baseline="0" dirty="0" err="1"/>
              <a:t>we</a:t>
            </a:r>
            <a:r>
              <a:rPr lang="de-DE" baseline="0" dirty="0"/>
              <a:t> </a:t>
            </a:r>
            <a:r>
              <a:rPr lang="de-DE" baseline="0" dirty="0" err="1"/>
              <a:t>organized</a:t>
            </a:r>
            <a:r>
              <a:rPr lang="de-DE" baseline="0" dirty="0"/>
              <a:t> last </a:t>
            </a:r>
            <a:r>
              <a:rPr lang="de-DE" baseline="0" dirty="0" err="1"/>
              <a:t>month</a:t>
            </a:r>
            <a:r>
              <a:rPr lang="de-DE" baseline="0" dirty="0"/>
              <a:t>.</a:t>
            </a:r>
            <a:endParaRPr dirty="0"/>
          </a:p>
        </p:txBody>
      </p:sp>
      <p:sp>
        <p:nvSpPr>
          <p:cNvPr id="1528" name="Google Shape;1528;g60be7dcf1c_0_4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511669023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Google Shape;1527;g60be7dcf1c_0_4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More </a:t>
            </a:r>
            <a:r>
              <a:rPr lang="de-DE" dirty="0" err="1"/>
              <a:t>specifically</a:t>
            </a:r>
            <a:r>
              <a:rPr lang="de-DE" dirty="0"/>
              <a:t>, </a:t>
            </a:r>
            <a:r>
              <a:rPr lang="de-DE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enabler</a:t>
            </a:r>
            <a:r>
              <a:rPr lang="de-DE" baseline="0" dirty="0"/>
              <a:t> </a:t>
            </a:r>
            <a:r>
              <a:rPr lang="de-DE" baseline="0" dirty="0" err="1"/>
              <a:t>for</a:t>
            </a:r>
            <a:r>
              <a:rPr lang="de-DE" baseline="0" dirty="0"/>
              <a:t> </a:t>
            </a:r>
            <a:r>
              <a:rPr lang="de-DE" baseline="0" dirty="0" err="1"/>
              <a:t>our</a:t>
            </a:r>
            <a:r>
              <a:rPr lang="de-DE" baseline="0" dirty="0"/>
              <a:t> </a:t>
            </a:r>
            <a:r>
              <a:rPr lang="de-DE" baseline="0" dirty="0" err="1"/>
              <a:t>project</a:t>
            </a:r>
            <a:r>
              <a:rPr lang="de-DE" baseline="0" dirty="0"/>
              <a:t> </a:t>
            </a:r>
            <a:r>
              <a:rPr lang="de-DE" baseline="0" dirty="0" err="1"/>
              <a:t>are</a:t>
            </a:r>
            <a:r>
              <a:rPr lang="de-DE" baseline="0" dirty="0"/>
              <a:t> </a:t>
            </a:r>
            <a:r>
              <a:rPr lang="de-DE" baseline="0" dirty="0" err="1"/>
              <a:t>reconfigurable</a:t>
            </a:r>
            <a:r>
              <a:rPr lang="de-DE" baseline="0" dirty="0"/>
              <a:t> </a:t>
            </a:r>
            <a:r>
              <a:rPr lang="de-DE" baseline="0" dirty="0" err="1"/>
              <a:t>optical</a:t>
            </a:r>
            <a:r>
              <a:rPr lang="de-DE" baseline="0" dirty="0"/>
              <a:t> </a:t>
            </a:r>
            <a:r>
              <a:rPr lang="de-DE" baseline="0" dirty="0" err="1"/>
              <a:t>switches</a:t>
            </a:r>
            <a:r>
              <a:rPr lang="de-DE" baseline="0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 err="1"/>
              <a:t>There</a:t>
            </a:r>
            <a:r>
              <a:rPr lang="de-DE" baseline="0" dirty="0"/>
              <a:t> </a:t>
            </a:r>
            <a:r>
              <a:rPr lang="de-DE" baseline="0" dirty="0" err="1"/>
              <a:t>is</a:t>
            </a:r>
            <a:r>
              <a:rPr lang="de-DE" baseline="0" dirty="0"/>
              <a:t> </a:t>
            </a:r>
            <a:r>
              <a:rPr lang="de-DE" baseline="0" dirty="0" err="1"/>
              <a:t>currently</a:t>
            </a:r>
            <a:r>
              <a:rPr lang="de-DE" baseline="0" dirty="0"/>
              <a:t> a </a:t>
            </a:r>
            <a:r>
              <a:rPr lang="de-DE" baseline="0" dirty="0" err="1"/>
              <a:t>spectrum</a:t>
            </a:r>
            <a:r>
              <a:rPr lang="de-DE" baseline="0" dirty="0"/>
              <a:t> </a:t>
            </a:r>
            <a:r>
              <a:rPr lang="de-DE" baseline="0" dirty="0" err="1"/>
              <a:t>of</a:t>
            </a:r>
            <a:r>
              <a:rPr lang="de-DE" baseline="0" dirty="0"/>
              <a:t> </a:t>
            </a:r>
            <a:r>
              <a:rPr lang="de-DE" baseline="0" dirty="0" err="1"/>
              <a:t>prototypes</a:t>
            </a:r>
            <a:r>
              <a:rPr lang="de-DE" baseline="0" dirty="0"/>
              <a:t> </a:t>
            </a:r>
            <a:r>
              <a:rPr lang="de-DE" baseline="0" dirty="0" err="1"/>
              <a:t>emerging</a:t>
            </a:r>
            <a:r>
              <a:rPr lang="de-DE" baseline="0" dirty="0"/>
              <a:t>: </a:t>
            </a:r>
            <a:r>
              <a:rPr lang="de-DE" baseline="0" dirty="0" err="1"/>
              <a:t>these</a:t>
            </a:r>
            <a:r>
              <a:rPr lang="de-DE" baseline="0" dirty="0"/>
              <a:t> </a:t>
            </a:r>
            <a:r>
              <a:rPr lang="de-DE" baseline="0" dirty="0" err="1"/>
              <a:t>prototypes</a:t>
            </a:r>
            <a:r>
              <a:rPr lang="de-DE" baseline="0" dirty="0"/>
              <a:t> </a:t>
            </a:r>
            <a:r>
              <a:rPr lang="de-DE" baseline="0" dirty="0" err="1"/>
              <a:t>have</a:t>
            </a:r>
            <a:r>
              <a:rPr lang="de-DE" baseline="0" dirty="0"/>
              <a:t> different </a:t>
            </a:r>
            <a:r>
              <a:rPr lang="de-DE" baseline="0" dirty="0" err="1"/>
              <a:t>sizes</a:t>
            </a:r>
            <a:r>
              <a:rPr lang="de-DE" baseline="0" dirty="0"/>
              <a:t>, different </a:t>
            </a:r>
            <a:r>
              <a:rPr lang="de-DE" baseline="0" dirty="0" err="1"/>
              <a:t>reconfiguration</a:t>
            </a:r>
            <a:r>
              <a:rPr lang="de-DE" baseline="0" dirty="0"/>
              <a:t> </a:t>
            </a:r>
            <a:r>
              <a:rPr lang="de-DE" baseline="0" dirty="0" err="1"/>
              <a:t>times</a:t>
            </a:r>
            <a:r>
              <a:rPr lang="de-DE" baseline="0" dirty="0"/>
              <a:t>, etc.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 err="1"/>
              <a:t>Here</a:t>
            </a:r>
            <a:r>
              <a:rPr lang="de-DE" baseline="0" dirty="0"/>
              <a:t> </a:t>
            </a:r>
            <a:r>
              <a:rPr lang="de-DE" baseline="0" dirty="0" err="1"/>
              <a:t>are</a:t>
            </a:r>
            <a:r>
              <a:rPr lang="de-DE" baseline="0" dirty="0"/>
              <a:t> </a:t>
            </a:r>
            <a:r>
              <a:rPr lang="de-DE" baseline="0" dirty="0" err="1"/>
              <a:t>some</a:t>
            </a:r>
            <a:r>
              <a:rPr lang="de-DE" baseline="0" dirty="0"/>
              <a:t> </a:t>
            </a:r>
            <a:r>
              <a:rPr lang="de-DE" baseline="0" dirty="0" err="1"/>
              <a:t>examples</a:t>
            </a:r>
            <a:r>
              <a:rPr lang="de-DE" baseline="0" dirty="0"/>
              <a:t> </a:t>
            </a:r>
            <a:r>
              <a:rPr lang="de-DE" baseline="0" dirty="0" err="1"/>
              <a:t>from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SIGCOMM </a:t>
            </a:r>
            <a:r>
              <a:rPr lang="de-DE" baseline="0" dirty="0" err="1"/>
              <a:t>workshop</a:t>
            </a:r>
            <a:r>
              <a:rPr lang="de-DE" baseline="0" dirty="0"/>
              <a:t> </a:t>
            </a:r>
            <a:r>
              <a:rPr lang="de-DE" baseline="0" dirty="0" err="1"/>
              <a:t>we</a:t>
            </a:r>
            <a:r>
              <a:rPr lang="de-DE" baseline="0" dirty="0"/>
              <a:t> </a:t>
            </a:r>
            <a:r>
              <a:rPr lang="de-DE" baseline="0" dirty="0" err="1"/>
              <a:t>organized</a:t>
            </a:r>
            <a:r>
              <a:rPr lang="de-DE" baseline="0" dirty="0"/>
              <a:t> last </a:t>
            </a:r>
            <a:r>
              <a:rPr lang="de-DE" baseline="0" dirty="0" err="1"/>
              <a:t>month</a:t>
            </a:r>
            <a:r>
              <a:rPr lang="de-DE" baseline="0" dirty="0"/>
              <a:t>.</a:t>
            </a:r>
            <a:endParaRPr dirty="0"/>
          </a:p>
        </p:txBody>
      </p:sp>
      <p:sp>
        <p:nvSpPr>
          <p:cNvPr id="1528" name="Google Shape;1528;g60be7dcf1c_0_4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64552940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Google Shape;1527;g60be7dcf1c_0_4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More </a:t>
            </a:r>
            <a:r>
              <a:rPr lang="de-DE" dirty="0" err="1"/>
              <a:t>specifically</a:t>
            </a:r>
            <a:r>
              <a:rPr lang="de-DE" dirty="0"/>
              <a:t>, </a:t>
            </a:r>
            <a:r>
              <a:rPr lang="de-DE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enabler</a:t>
            </a:r>
            <a:r>
              <a:rPr lang="de-DE" baseline="0" dirty="0"/>
              <a:t> </a:t>
            </a:r>
            <a:r>
              <a:rPr lang="de-DE" baseline="0" dirty="0" err="1"/>
              <a:t>for</a:t>
            </a:r>
            <a:r>
              <a:rPr lang="de-DE" baseline="0" dirty="0"/>
              <a:t> </a:t>
            </a:r>
            <a:r>
              <a:rPr lang="de-DE" baseline="0" dirty="0" err="1"/>
              <a:t>our</a:t>
            </a:r>
            <a:r>
              <a:rPr lang="de-DE" baseline="0" dirty="0"/>
              <a:t> </a:t>
            </a:r>
            <a:r>
              <a:rPr lang="de-DE" baseline="0" dirty="0" err="1"/>
              <a:t>project</a:t>
            </a:r>
            <a:r>
              <a:rPr lang="de-DE" baseline="0" dirty="0"/>
              <a:t> </a:t>
            </a:r>
            <a:r>
              <a:rPr lang="de-DE" baseline="0" dirty="0" err="1"/>
              <a:t>are</a:t>
            </a:r>
            <a:r>
              <a:rPr lang="de-DE" baseline="0" dirty="0"/>
              <a:t> </a:t>
            </a:r>
            <a:r>
              <a:rPr lang="de-DE" baseline="0" dirty="0" err="1"/>
              <a:t>reconfigurable</a:t>
            </a:r>
            <a:r>
              <a:rPr lang="de-DE" baseline="0" dirty="0"/>
              <a:t> </a:t>
            </a:r>
            <a:r>
              <a:rPr lang="de-DE" baseline="0" dirty="0" err="1"/>
              <a:t>optical</a:t>
            </a:r>
            <a:r>
              <a:rPr lang="de-DE" baseline="0" dirty="0"/>
              <a:t> </a:t>
            </a:r>
            <a:r>
              <a:rPr lang="de-DE" baseline="0" dirty="0" err="1"/>
              <a:t>switches</a:t>
            </a:r>
            <a:r>
              <a:rPr lang="de-DE" baseline="0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 err="1"/>
              <a:t>There</a:t>
            </a:r>
            <a:r>
              <a:rPr lang="de-DE" baseline="0" dirty="0"/>
              <a:t> </a:t>
            </a:r>
            <a:r>
              <a:rPr lang="de-DE" baseline="0" dirty="0" err="1"/>
              <a:t>is</a:t>
            </a:r>
            <a:r>
              <a:rPr lang="de-DE" baseline="0" dirty="0"/>
              <a:t> </a:t>
            </a:r>
            <a:r>
              <a:rPr lang="de-DE" baseline="0" dirty="0" err="1"/>
              <a:t>currently</a:t>
            </a:r>
            <a:r>
              <a:rPr lang="de-DE" baseline="0" dirty="0"/>
              <a:t> a </a:t>
            </a:r>
            <a:r>
              <a:rPr lang="de-DE" baseline="0" dirty="0" err="1"/>
              <a:t>spectrum</a:t>
            </a:r>
            <a:r>
              <a:rPr lang="de-DE" baseline="0" dirty="0"/>
              <a:t> </a:t>
            </a:r>
            <a:r>
              <a:rPr lang="de-DE" baseline="0" dirty="0" err="1"/>
              <a:t>of</a:t>
            </a:r>
            <a:r>
              <a:rPr lang="de-DE" baseline="0" dirty="0"/>
              <a:t> </a:t>
            </a:r>
            <a:r>
              <a:rPr lang="de-DE" baseline="0" dirty="0" err="1"/>
              <a:t>prototypes</a:t>
            </a:r>
            <a:r>
              <a:rPr lang="de-DE" baseline="0" dirty="0"/>
              <a:t> </a:t>
            </a:r>
            <a:r>
              <a:rPr lang="de-DE" baseline="0" dirty="0" err="1"/>
              <a:t>emerging</a:t>
            </a:r>
            <a:r>
              <a:rPr lang="de-DE" baseline="0" dirty="0"/>
              <a:t>: </a:t>
            </a:r>
            <a:r>
              <a:rPr lang="de-DE" baseline="0" dirty="0" err="1"/>
              <a:t>these</a:t>
            </a:r>
            <a:r>
              <a:rPr lang="de-DE" baseline="0" dirty="0"/>
              <a:t> </a:t>
            </a:r>
            <a:r>
              <a:rPr lang="de-DE" baseline="0" dirty="0" err="1"/>
              <a:t>prototypes</a:t>
            </a:r>
            <a:r>
              <a:rPr lang="de-DE" baseline="0" dirty="0"/>
              <a:t> </a:t>
            </a:r>
            <a:r>
              <a:rPr lang="de-DE" baseline="0" dirty="0" err="1"/>
              <a:t>have</a:t>
            </a:r>
            <a:r>
              <a:rPr lang="de-DE" baseline="0" dirty="0"/>
              <a:t> different </a:t>
            </a:r>
            <a:r>
              <a:rPr lang="de-DE" baseline="0" dirty="0" err="1"/>
              <a:t>sizes</a:t>
            </a:r>
            <a:r>
              <a:rPr lang="de-DE" baseline="0" dirty="0"/>
              <a:t>, different </a:t>
            </a:r>
            <a:r>
              <a:rPr lang="de-DE" baseline="0" dirty="0" err="1"/>
              <a:t>reconfiguration</a:t>
            </a:r>
            <a:r>
              <a:rPr lang="de-DE" baseline="0" dirty="0"/>
              <a:t> </a:t>
            </a:r>
            <a:r>
              <a:rPr lang="de-DE" baseline="0" dirty="0" err="1"/>
              <a:t>times</a:t>
            </a:r>
            <a:r>
              <a:rPr lang="de-DE" baseline="0" dirty="0"/>
              <a:t>, etc.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 err="1"/>
              <a:t>Here</a:t>
            </a:r>
            <a:r>
              <a:rPr lang="de-DE" baseline="0" dirty="0"/>
              <a:t> </a:t>
            </a:r>
            <a:r>
              <a:rPr lang="de-DE" baseline="0" dirty="0" err="1"/>
              <a:t>are</a:t>
            </a:r>
            <a:r>
              <a:rPr lang="de-DE" baseline="0" dirty="0"/>
              <a:t> </a:t>
            </a:r>
            <a:r>
              <a:rPr lang="de-DE" baseline="0" dirty="0" err="1"/>
              <a:t>some</a:t>
            </a:r>
            <a:r>
              <a:rPr lang="de-DE" baseline="0" dirty="0"/>
              <a:t> </a:t>
            </a:r>
            <a:r>
              <a:rPr lang="de-DE" baseline="0" dirty="0" err="1"/>
              <a:t>examples</a:t>
            </a:r>
            <a:r>
              <a:rPr lang="de-DE" baseline="0" dirty="0"/>
              <a:t> </a:t>
            </a:r>
            <a:r>
              <a:rPr lang="de-DE" baseline="0" dirty="0" err="1"/>
              <a:t>from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SIGCOMM </a:t>
            </a:r>
            <a:r>
              <a:rPr lang="de-DE" baseline="0" dirty="0" err="1"/>
              <a:t>workshop</a:t>
            </a:r>
            <a:r>
              <a:rPr lang="de-DE" baseline="0" dirty="0"/>
              <a:t> </a:t>
            </a:r>
            <a:r>
              <a:rPr lang="de-DE" baseline="0" dirty="0" err="1"/>
              <a:t>we</a:t>
            </a:r>
            <a:r>
              <a:rPr lang="de-DE" baseline="0" dirty="0"/>
              <a:t> </a:t>
            </a:r>
            <a:r>
              <a:rPr lang="de-DE" baseline="0" dirty="0" err="1"/>
              <a:t>organized</a:t>
            </a:r>
            <a:r>
              <a:rPr lang="de-DE" baseline="0" dirty="0"/>
              <a:t> last </a:t>
            </a:r>
            <a:r>
              <a:rPr lang="de-DE" baseline="0" dirty="0" err="1"/>
              <a:t>month</a:t>
            </a:r>
            <a:r>
              <a:rPr lang="de-DE" baseline="0" dirty="0"/>
              <a:t>.</a:t>
            </a:r>
            <a:endParaRPr dirty="0"/>
          </a:p>
        </p:txBody>
      </p:sp>
      <p:sp>
        <p:nvSpPr>
          <p:cNvPr id="1528" name="Google Shape;1528;g60be7dcf1c_0_4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468217575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2" name="Google Shape;1762;g60be7dcf1c_0_6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63" name="Google Shape;1763;g60be7dcf1c_0_6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979961816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3" name="Google Shape;1923;g60be7dcf1c_0_8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Over </a:t>
            </a:r>
            <a:r>
              <a:rPr lang="de-DE" dirty="0" err="1"/>
              <a:t>the</a:t>
            </a:r>
            <a:r>
              <a:rPr lang="de-DE" dirty="0"/>
              <a:t> last </a:t>
            </a:r>
            <a:r>
              <a:rPr lang="de-DE" dirty="0" err="1"/>
              <a:t>years</a:t>
            </a:r>
            <a:r>
              <a:rPr lang="de-DE" dirty="0"/>
              <a:t>,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have</a:t>
            </a:r>
            <a:r>
              <a:rPr lang="de-DE" dirty="0"/>
              <a:t> </a:t>
            </a:r>
            <a:r>
              <a:rPr lang="de-DE" dirty="0" err="1"/>
              <a:t>worked</a:t>
            </a:r>
            <a:r>
              <a:rPr lang="de-DE" dirty="0"/>
              <a:t> on flexible </a:t>
            </a:r>
            <a:r>
              <a:rPr lang="de-DE" dirty="0" err="1"/>
              <a:t>routing</a:t>
            </a:r>
            <a:r>
              <a:rPr lang="de-DE" dirty="0"/>
              <a:t> (</a:t>
            </a:r>
            <a:r>
              <a:rPr lang="de-DE" dirty="0" err="1"/>
              <a:t>enabled</a:t>
            </a:r>
            <a:r>
              <a:rPr lang="de-DE" baseline="0" dirty="0"/>
              <a:t> </a:t>
            </a:r>
            <a:r>
              <a:rPr lang="de-DE" baseline="0" dirty="0" err="1"/>
              <a:t>by</a:t>
            </a:r>
            <a:r>
              <a:rPr lang="de-DE" baseline="0" dirty="0"/>
              <a:t> SDN) </a:t>
            </a:r>
            <a:r>
              <a:rPr lang="de-DE" baseline="0" dirty="0" err="1"/>
              <a:t>and</a:t>
            </a:r>
            <a:r>
              <a:rPr lang="de-DE" baseline="0" dirty="0"/>
              <a:t> flexible </a:t>
            </a:r>
            <a:r>
              <a:rPr lang="de-DE" baseline="0" dirty="0" err="1"/>
              <a:t>resource</a:t>
            </a:r>
            <a:r>
              <a:rPr lang="de-DE" baseline="0" dirty="0"/>
              <a:t> </a:t>
            </a:r>
            <a:r>
              <a:rPr lang="de-DE" baseline="0" dirty="0" err="1"/>
              <a:t>allocation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service</a:t>
            </a:r>
            <a:r>
              <a:rPr lang="de-DE" baseline="0" dirty="0"/>
              <a:t> </a:t>
            </a:r>
            <a:r>
              <a:rPr lang="de-DE" baseline="0" dirty="0" err="1"/>
              <a:t>embedding</a:t>
            </a:r>
            <a:r>
              <a:rPr lang="de-DE" baseline="0" dirty="0"/>
              <a:t> (</a:t>
            </a:r>
            <a:r>
              <a:rPr lang="de-DE" baseline="0" dirty="0" err="1"/>
              <a:t>enabled</a:t>
            </a:r>
            <a:r>
              <a:rPr lang="de-DE" baseline="0" dirty="0"/>
              <a:t> </a:t>
            </a:r>
            <a:r>
              <a:rPr lang="de-DE" baseline="0" dirty="0" err="1"/>
              <a:t>by</a:t>
            </a:r>
            <a:r>
              <a:rPr lang="de-DE" baseline="0" dirty="0"/>
              <a:t> </a:t>
            </a:r>
            <a:r>
              <a:rPr lang="de-DE" baseline="0" dirty="0" err="1"/>
              <a:t>virtualization</a:t>
            </a:r>
            <a:r>
              <a:rPr lang="de-DE" baseline="0" dirty="0"/>
              <a:t>).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 err="1"/>
              <a:t>With</a:t>
            </a:r>
            <a:r>
              <a:rPr lang="de-DE" baseline="0" dirty="0"/>
              <a:t> </a:t>
            </a:r>
            <a:r>
              <a:rPr lang="de-DE" baseline="0" dirty="0" err="1"/>
              <a:t>this</a:t>
            </a:r>
            <a:r>
              <a:rPr lang="de-DE" baseline="0" dirty="0"/>
              <a:t> </a:t>
            </a:r>
            <a:r>
              <a:rPr lang="de-DE" baseline="0" dirty="0" err="1"/>
              <a:t>project</a:t>
            </a:r>
            <a:r>
              <a:rPr lang="de-DE" baseline="0" dirty="0"/>
              <a:t>, </a:t>
            </a:r>
            <a:r>
              <a:rPr lang="de-DE" baseline="0" dirty="0" err="1"/>
              <a:t>we</a:t>
            </a:r>
            <a:r>
              <a:rPr lang="de-DE" baseline="0" dirty="0"/>
              <a:t> </a:t>
            </a:r>
            <a:r>
              <a:rPr lang="de-DE" baseline="0" dirty="0" err="1"/>
              <a:t>want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tackle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physical</a:t>
            </a:r>
            <a:r>
              <a:rPr lang="de-DE" baseline="0" dirty="0"/>
              <a:t> </a:t>
            </a:r>
            <a:r>
              <a:rPr lang="de-DE" baseline="0" dirty="0" err="1"/>
              <a:t>layer</a:t>
            </a:r>
            <a:r>
              <a:rPr lang="de-DE" baseline="0" dirty="0"/>
              <a:t>, </a:t>
            </a:r>
            <a:r>
              <a:rPr lang="de-DE" baseline="0" dirty="0" err="1"/>
              <a:t>enabled</a:t>
            </a:r>
            <a:r>
              <a:rPr lang="de-DE" baseline="0" dirty="0"/>
              <a:t> </a:t>
            </a:r>
            <a:r>
              <a:rPr lang="de-DE" baseline="0" dirty="0" err="1"/>
              <a:t>by</a:t>
            </a:r>
            <a:r>
              <a:rPr lang="de-DE" baseline="0" dirty="0"/>
              <a:t> </a:t>
            </a:r>
            <a:r>
              <a:rPr lang="de-DE" baseline="0" dirty="0" err="1"/>
              <a:t>emerging</a:t>
            </a:r>
            <a:r>
              <a:rPr lang="de-DE" baseline="0" dirty="0"/>
              <a:t> </a:t>
            </a:r>
            <a:r>
              <a:rPr lang="de-DE" baseline="0" dirty="0" err="1"/>
              <a:t>optical</a:t>
            </a:r>
            <a:r>
              <a:rPr lang="de-DE" baseline="0" dirty="0"/>
              <a:t> </a:t>
            </a:r>
            <a:r>
              <a:rPr lang="de-DE" baseline="0" dirty="0" err="1"/>
              <a:t>technologies</a:t>
            </a:r>
            <a:r>
              <a:rPr lang="de-DE" baseline="0" dirty="0"/>
              <a:t>.</a:t>
            </a:r>
            <a:endParaRPr dirty="0"/>
          </a:p>
        </p:txBody>
      </p:sp>
      <p:sp>
        <p:nvSpPr>
          <p:cNvPr id="1924" name="Google Shape;1924;g60be7dcf1c_0_8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428729757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2" name="Google Shape;1762;g60be7dcf1c_0_6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63" name="Google Shape;1763;g60be7dcf1c_0_6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052260548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Google Shape;1527;g60be7dcf1c_0_4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More </a:t>
            </a:r>
            <a:r>
              <a:rPr lang="de-DE" dirty="0" err="1"/>
              <a:t>specifically</a:t>
            </a:r>
            <a:r>
              <a:rPr lang="de-DE" dirty="0"/>
              <a:t>, </a:t>
            </a:r>
            <a:r>
              <a:rPr lang="de-DE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enabler</a:t>
            </a:r>
            <a:r>
              <a:rPr lang="de-DE" baseline="0" dirty="0"/>
              <a:t> </a:t>
            </a:r>
            <a:r>
              <a:rPr lang="de-DE" baseline="0" dirty="0" err="1"/>
              <a:t>for</a:t>
            </a:r>
            <a:r>
              <a:rPr lang="de-DE" baseline="0" dirty="0"/>
              <a:t> </a:t>
            </a:r>
            <a:r>
              <a:rPr lang="de-DE" baseline="0" dirty="0" err="1"/>
              <a:t>our</a:t>
            </a:r>
            <a:r>
              <a:rPr lang="de-DE" baseline="0" dirty="0"/>
              <a:t> </a:t>
            </a:r>
            <a:r>
              <a:rPr lang="de-DE" baseline="0" dirty="0" err="1"/>
              <a:t>project</a:t>
            </a:r>
            <a:r>
              <a:rPr lang="de-DE" baseline="0" dirty="0"/>
              <a:t> </a:t>
            </a:r>
            <a:r>
              <a:rPr lang="de-DE" baseline="0" dirty="0" err="1"/>
              <a:t>are</a:t>
            </a:r>
            <a:r>
              <a:rPr lang="de-DE" baseline="0" dirty="0"/>
              <a:t> </a:t>
            </a:r>
            <a:r>
              <a:rPr lang="de-DE" baseline="0" dirty="0" err="1"/>
              <a:t>reconfigurable</a:t>
            </a:r>
            <a:r>
              <a:rPr lang="de-DE" baseline="0" dirty="0"/>
              <a:t> </a:t>
            </a:r>
            <a:r>
              <a:rPr lang="de-DE" baseline="0" dirty="0" err="1"/>
              <a:t>optical</a:t>
            </a:r>
            <a:r>
              <a:rPr lang="de-DE" baseline="0" dirty="0"/>
              <a:t> </a:t>
            </a:r>
            <a:r>
              <a:rPr lang="de-DE" baseline="0" dirty="0" err="1"/>
              <a:t>switches</a:t>
            </a:r>
            <a:r>
              <a:rPr lang="de-DE" baseline="0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 err="1"/>
              <a:t>There</a:t>
            </a:r>
            <a:r>
              <a:rPr lang="de-DE" baseline="0" dirty="0"/>
              <a:t> </a:t>
            </a:r>
            <a:r>
              <a:rPr lang="de-DE" baseline="0" dirty="0" err="1"/>
              <a:t>is</a:t>
            </a:r>
            <a:r>
              <a:rPr lang="de-DE" baseline="0" dirty="0"/>
              <a:t> </a:t>
            </a:r>
            <a:r>
              <a:rPr lang="de-DE" baseline="0" dirty="0" err="1"/>
              <a:t>currently</a:t>
            </a:r>
            <a:r>
              <a:rPr lang="de-DE" baseline="0" dirty="0"/>
              <a:t> a </a:t>
            </a:r>
            <a:r>
              <a:rPr lang="de-DE" baseline="0" dirty="0" err="1"/>
              <a:t>spectrum</a:t>
            </a:r>
            <a:r>
              <a:rPr lang="de-DE" baseline="0" dirty="0"/>
              <a:t> </a:t>
            </a:r>
            <a:r>
              <a:rPr lang="de-DE" baseline="0" dirty="0" err="1"/>
              <a:t>of</a:t>
            </a:r>
            <a:r>
              <a:rPr lang="de-DE" baseline="0" dirty="0"/>
              <a:t> </a:t>
            </a:r>
            <a:r>
              <a:rPr lang="de-DE" baseline="0" dirty="0" err="1"/>
              <a:t>prototypes</a:t>
            </a:r>
            <a:r>
              <a:rPr lang="de-DE" baseline="0" dirty="0"/>
              <a:t> </a:t>
            </a:r>
            <a:r>
              <a:rPr lang="de-DE" baseline="0" dirty="0" err="1"/>
              <a:t>emerging</a:t>
            </a:r>
            <a:r>
              <a:rPr lang="de-DE" baseline="0" dirty="0"/>
              <a:t>: </a:t>
            </a:r>
            <a:r>
              <a:rPr lang="de-DE" baseline="0" dirty="0" err="1"/>
              <a:t>these</a:t>
            </a:r>
            <a:r>
              <a:rPr lang="de-DE" baseline="0" dirty="0"/>
              <a:t> </a:t>
            </a:r>
            <a:r>
              <a:rPr lang="de-DE" baseline="0" dirty="0" err="1"/>
              <a:t>prototypes</a:t>
            </a:r>
            <a:r>
              <a:rPr lang="de-DE" baseline="0" dirty="0"/>
              <a:t> </a:t>
            </a:r>
            <a:r>
              <a:rPr lang="de-DE" baseline="0" dirty="0" err="1"/>
              <a:t>have</a:t>
            </a:r>
            <a:r>
              <a:rPr lang="de-DE" baseline="0" dirty="0"/>
              <a:t> different </a:t>
            </a:r>
            <a:r>
              <a:rPr lang="de-DE" baseline="0" dirty="0" err="1"/>
              <a:t>sizes</a:t>
            </a:r>
            <a:r>
              <a:rPr lang="de-DE" baseline="0" dirty="0"/>
              <a:t>, different </a:t>
            </a:r>
            <a:r>
              <a:rPr lang="de-DE" baseline="0" dirty="0" err="1"/>
              <a:t>reconfiguration</a:t>
            </a:r>
            <a:r>
              <a:rPr lang="de-DE" baseline="0" dirty="0"/>
              <a:t> </a:t>
            </a:r>
            <a:r>
              <a:rPr lang="de-DE" baseline="0" dirty="0" err="1"/>
              <a:t>times</a:t>
            </a:r>
            <a:r>
              <a:rPr lang="de-DE" baseline="0" dirty="0"/>
              <a:t>, etc.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 err="1"/>
              <a:t>Here</a:t>
            </a:r>
            <a:r>
              <a:rPr lang="de-DE" baseline="0" dirty="0"/>
              <a:t> </a:t>
            </a:r>
            <a:r>
              <a:rPr lang="de-DE" baseline="0" dirty="0" err="1"/>
              <a:t>are</a:t>
            </a:r>
            <a:r>
              <a:rPr lang="de-DE" baseline="0" dirty="0"/>
              <a:t> </a:t>
            </a:r>
            <a:r>
              <a:rPr lang="de-DE" baseline="0" dirty="0" err="1"/>
              <a:t>some</a:t>
            </a:r>
            <a:r>
              <a:rPr lang="de-DE" baseline="0" dirty="0"/>
              <a:t> </a:t>
            </a:r>
            <a:r>
              <a:rPr lang="de-DE" baseline="0" dirty="0" err="1"/>
              <a:t>examples</a:t>
            </a:r>
            <a:r>
              <a:rPr lang="de-DE" baseline="0" dirty="0"/>
              <a:t> </a:t>
            </a:r>
            <a:r>
              <a:rPr lang="de-DE" baseline="0" dirty="0" err="1"/>
              <a:t>from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SIGCOMM </a:t>
            </a:r>
            <a:r>
              <a:rPr lang="de-DE" baseline="0" dirty="0" err="1"/>
              <a:t>workshop</a:t>
            </a:r>
            <a:r>
              <a:rPr lang="de-DE" baseline="0" dirty="0"/>
              <a:t> </a:t>
            </a:r>
            <a:r>
              <a:rPr lang="de-DE" baseline="0" dirty="0" err="1"/>
              <a:t>we</a:t>
            </a:r>
            <a:r>
              <a:rPr lang="de-DE" baseline="0" dirty="0"/>
              <a:t> </a:t>
            </a:r>
            <a:r>
              <a:rPr lang="de-DE" baseline="0" dirty="0" err="1"/>
              <a:t>organized</a:t>
            </a:r>
            <a:r>
              <a:rPr lang="de-DE" baseline="0" dirty="0"/>
              <a:t> last </a:t>
            </a:r>
            <a:r>
              <a:rPr lang="de-DE" baseline="0" dirty="0" err="1"/>
              <a:t>month</a:t>
            </a:r>
            <a:r>
              <a:rPr lang="de-DE" baseline="0" dirty="0"/>
              <a:t>.</a:t>
            </a:r>
            <a:endParaRPr dirty="0"/>
          </a:p>
        </p:txBody>
      </p:sp>
      <p:sp>
        <p:nvSpPr>
          <p:cNvPr id="1528" name="Google Shape;1528;g60be7dcf1c_0_4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774975618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3" name="Google Shape;1923;g60be7dcf1c_0_8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Over </a:t>
            </a:r>
            <a:r>
              <a:rPr lang="de-DE" dirty="0" err="1"/>
              <a:t>the</a:t>
            </a:r>
            <a:r>
              <a:rPr lang="de-DE" dirty="0"/>
              <a:t> last </a:t>
            </a:r>
            <a:r>
              <a:rPr lang="de-DE" dirty="0" err="1"/>
              <a:t>years</a:t>
            </a:r>
            <a:r>
              <a:rPr lang="de-DE" dirty="0"/>
              <a:t>,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have</a:t>
            </a:r>
            <a:r>
              <a:rPr lang="de-DE" dirty="0"/>
              <a:t> </a:t>
            </a:r>
            <a:r>
              <a:rPr lang="de-DE" dirty="0" err="1"/>
              <a:t>worked</a:t>
            </a:r>
            <a:r>
              <a:rPr lang="de-DE" dirty="0"/>
              <a:t> on flexible </a:t>
            </a:r>
            <a:r>
              <a:rPr lang="de-DE" dirty="0" err="1"/>
              <a:t>routing</a:t>
            </a:r>
            <a:r>
              <a:rPr lang="de-DE" dirty="0"/>
              <a:t> (</a:t>
            </a:r>
            <a:r>
              <a:rPr lang="de-DE" dirty="0" err="1"/>
              <a:t>enabled</a:t>
            </a:r>
            <a:r>
              <a:rPr lang="de-DE" baseline="0" dirty="0"/>
              <a:t> </a:t>
            </a:r>
            <a:r>
              <a:rPr lang="de-DE" baseline="0" dirty="0" err="1"/>
              <a:t>by</a:t>
            </a:r>
            <a:r>
              <a:rPr lang="de-DE" baseline="0" dirty="0"/>
              <a:t> SDN) </a:t>
            </a:r>
            <a:r>
              <a:rPr lang="de-DE" baseline="0" dirty="0" err="1"/>
              <a:t>and</a:t>
            </a:r>
            <a:r>
              <a:rPr lang="de-DE" baseline="0" dirty="0"/>
              <a:t> flexible </a:t>
            </a:r>
            <a:r>
              <a:rPr lang="de-DE" baseline="0" dirty="0" err="1"/>
              <a:t>resource</a:t>
            </a:r>
            <a:r>
              <a:rPr lang="de-DE" baseline="0" dirty="0"/>
              <a:t> </a:t>
            </a:r>
            <a:r>
              <a:rPr lang="de-DE" baseline="0" dirty="0" err="1"/>
              <a:t>allocation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service</a:t>
            </a:r>
            <a:r>
              <a:rPr lang="de-DE" baseline="0" dirty="0"/>
              <a:t> </a:t>
            </a:r>
            <a:r>
              <a:rPr lang="de-DE" baseline="0" dirty="0" err="1"/>
              <a:t>embedding</a:t>
            </a:r>
            <a:r>
              <a:rPr lang="de-DE" baseline="0" dirty="0"/>
              <a:t> (</a:t>
            </a:r>
            <a:r>
              <a:rPr lang="de-DE" baseline="0" dirty="0" err="1"/>
              <a:t>enabled</a:t>
            </a:r>
            <a:r>
              <a:rPr lang="de-DE" baseline="0" dirty="0"/>
              <a:t> </a:t>
            </a:r>
            <a:r>
              <a:rPr lang="de-DE" baseline="0" dirty="0" err="1"/>
              <a:t>by</a:t>
            </a:r>
            <a:r>
              <a:rPr lang="de-DE" baseline="0" dirty="0"/>
              <a:t> </a:t>
            </a:r>
            <a:r>
              <a:rPr lang="de-DE" baseline="0" dirty="0" err="1"/>
              <a:t>virtualization</a:t>
            </a:r>
            <a:r>
              <a:rPr lang="de-DE" baseline="0" dirty="0"/>
              <a:t>).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 err="1"/>
              <a:t>With</a:t>
            </a:r>
            <a:r>
              <a:rPr lang="de-DE" baseline="0" dirty="0"/>
              <a:t> </a:t>
            </a:r>
            <a:r>
              <a:rPr lang="de-DE" baseline="0" dirty="0" err="1"/>
              <a:t>this</a:t>
            </a:r>
            <a:r>
              <a:rPr lang="de-DE" baseline="0" dirty="0"/>
              <a:t> </a:t>
            </a:r>
            <a:r>
              <a:rPr lang="de-DE" baseline="0" dirty="0" err="1"/>
              <a:t>project</a:t>
            </a:r>
            <a:r>
              <a:rPr lang="de-DE" baseline="0" dirty="0"/>
              <a:t>, </a:t>
            </a:r>
            <a:r>
              <a:rPr lang="de-DE" baseline="0" dirty="0" err="1"/>
              <a:t>we</a:t>
            </a:r>
            <a:r>
              <a:rPr lang="de-DE" baseline="0" dirty="0"/>
              <a:t> </a:t>
            </a:r>
            <a:r>
              <a:rPr lang="de-DE" baseline="0" dirty="0" err="1"/>
              <a:t>want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tackle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physical</a:t>
            </a:r>
            <a:r>
              <a:rPr lang="de-DE" baseline="0" dirty="0"/>
              <a:t> </a:t>
            </a:r>
            <a:r>
              <a:rPr lang="de-DE" baseline="0" dirty="0" err="1"/>
              <a:t>layer</a:t>
            </a:r>
            <a:r>
              <a:rPr lang="de-DE" baseline="0" dirty="0"/>
              <a:t>, </a:t>
            </a:r>
            <a:r>
              <a:rPr lang="de-DE" baseline="0" dirty="0" err="1"/>
              <a:t>enabled</a:t>
            </a:r>
            <a:r>
              <a:rPr lang="de-DE" baseline="0" dirty="0"/>
              <a:t> </a:t>
            </a:r>
            <a:r>
              <a:rPr lang="de-DE" baseline="0" dirty="0" err="1"/>
              <a:t>by</a:t>
            </a:r>
            <a:r>
              <a:rPr lang="de-DE" baseline="0" dirty="0"/>
              <a:t> </a:t>
            </a:r>
            <a:r>
              <a:rPr lang="de-DE" baseline="0" dirty="0" err="1"/>
              <a:t>emerging</a:t>
            </a:r>
            <a:r>
              <a:rPr lang="de-DE" baseline="0" dirty="0"/>
              <a:t> </a:t>
            </a:r>
            <a:r>
              <a:rPr lang="de-DE" baseline="0" dirty="0" err="1"/>
              <a:t>optical</a:t>
            </a:r>
            <a:r>
              <a:rPr lang="de-DE" baseline="0" dirty="0"/>
              <a:t> </a:t>
            </a:r>
            <a:r>
              <a:rPr lang="de-DE" baseline="0" dirty="0" err="1"/>
              <a:t>technologies</a:t>
            </a:r>
            <a:r>
              <a:rPr lang="de-DE" baseline="0" dirty="0"/>
              <a:t>.</a:t>
            </a:r>
            <a:endParaRPr dirty="0"/>
          </a:p>
        </p:txBody>
      </p:sp>
      <p:sp>
        <p:nvSpPr>
          <p:cNvPr id="1924" name="Google Shape;1924;g60be7dcf1c_0_8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440399303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2" name="Google Shape;1762;g60be7dcf1c_0_6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63" name="Google Shape;1763;g60be7dcf1c_0_6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582313150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3" name="Google Shape;1923;g60be7dcf1c_0_8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Over </a:t>
            </a:r>
            <a:r>
              <a:rPr lang="de-DE" dirty="0" err="1"/>
              <a:t>the</a:t>
            </a:r>
            <a:r>
              <a:rPr lang="de-DE" dirty="0"/>
              <a:t> last </a:t>
            </a:r>
            <a:r>
              <a:rPr lang="de-DE" dirty="0" err="1"/>
              <a:t>years</a:t>
            </a:r>
            <a:r>
              <a:rPr lang="de-DE" dirty="0"/>
              <a:t>,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have</a:t>
            </a:r>
            <a:r>
              <a:rPr lang="de-DE" dirty="0"/>
              <a:t> </a:t>
            </a:r>
            <a:r>
              <a:rPr lang="de-DE" dirty="0" err="1"/>
              <a:t>worked</a:t>
            </a:r>
            <a:r>
              <a:rPr lang="de-DE" dirty="0"/>
              <a:t> on flexible </a:t>
            </a:r>
            <a:r>
              <a:rPr lang="de-DE" dirty="0" err="1"/>
              <a:t>routing</a:t>
            </a:r>
            <a:r>
              <a:rPr lang="de-DE" dirty="0"/>
              <a:t> (</a:t>
            </a:r>
            <a:r>
              <a:rPr lang="de-DE" dirty="0" err="1"/>
              <a:t>enabled</a:t>
            </a:r>
            <a:r>
              <a:rPr lang="de-DE" baseline="0" dirty="0"/>
              <a:t> </a:t>
            </a:r>
            <a:r>
              <a:rPr lang="de-DE" baseline="0" dirty="0" err="1"/>
              <a:t>by</a:t>
            </a:r>
            <a:r>
              <a:rPr lang="de-DE" baseline="0" dirty="0"/>
              <a:t> SDN) </a:t>
            </a:r>
            <a:r>
              <a:rPr lang="de-DE" baseline="0" dirty="0" err="1"/>
              <a:t>and</a:t>
            </a:r>
            <a:r>
              <a:rPr lang="de-DE" baseline="0" dirty="0"/>
              <a:t> flexible </a:t>
            </a:r>
            <a:r>
              <a:rPr lang="de-DE" baseline="0" dirty="0" err="1"/>
              <a:t>resource</a:t>
            </a:r>
            <a:r>
              <a:rPr lang="de-DE" baseline="0" dirty="0"/>
              <a:t> </a:t>
            </a:r>
            <a:r>
              <a:rPr lang="de-DE" baseline="0" dirty="0" err="1"/>
              <a:t>allocation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service</a:t>
            </a:r>
            <a:r>
              <a:rPr lang="de-DE" baseline="0" dirty="0"/>
              <a:t> </a:t>
            </a:r>
            <a:r>
              <a:rPr lang="de-DE" baseline="0" dirty="0" err="1"/>
              <a:t>embedding</a:t>
            </a:r>
            <a:r>
              <a:rPr lang="de-DE" baseline="0" dirty="0"/>
              <a:t> (</a:t>
            </a:r>
            <a:r>
              <a:rPr lang="de-DE" baseline="0" dirty="0" err="1"/>
              <a:t>enabled</a:t>
            </a:r>
            <a:r>
              <a:rPr lang="de-DE" baseline="0" dirty="0"/>
              <a:t> </a:t>
            </a:r>
            <a:r>
              <a:rPr lang="de-DE" baseline="0" dirty="0" err="1"/>
              <a:t>by</a:t>
            </a:r>
            <a:r>
              <a:rPr lang="de-DE" baseline="0" dirty="0"/>
              <a:t> </a:t>
            </a:r>
            <a:r>
              <a:rPr lang="de-DE" baseline="0" dirty="0" err="1"/>
              <a:t>virtualization</a:t>
            </a:r>
            <a:r>
              <a:rPr lang="de-DE" baseline="0" dirty="0"/>
              <a:t>).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 err="1"/>
              <a:t>With</a:t>
            </a:r>
            <a:r>
              <a:rPr lang="de-DE" baseline="0" dirty="0"/>
              <a:t> </a:t>
            </a:r>
            <a:r>
              <a:rPr lang="de-DE" baseline="0" dirty="0" err="1"/>
              <a:t>this</a:t>
            </a:r>
            <a:r>
              <a:rPr lang="de-DE" baseline="0" dirty="0"/>
              <a:t> </a:t>
            </a:r>
            <a:r>
              <a:rPr lang="de-DE" baseline="0" dirty="0" err="1"/>
              <a:t>project</a:t>
            </a:r>
            <a:r>
              <a:rPr lang="de-DE" baseline="0" dirty="0"/>
              <a:t>, </a:t>
            </a:r>
            <a:r>
              <a:rPr lang="de-DE" baseline="0" dirty="0" err="1"/>
              <a:t>we</a:t>
            </a:r>
            <a:r>
              <a:rPr lang="de-DE" baseline="0" dirty="0"/>
              <a:t> </a:t>
            </a:r>
            <a:r>
              <a:rPr lang="de-DE" baseline="0" dirty="0" err="1"/>
              <a:t>want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tackle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physical</a:t>
            </a:r>
            <a:r>
              <a:rPr lang="de-DE" baseline="0" dirty="0"/>
              <a:t> </a:t>
            </a:r>
            <a:r>
              <a:rPr lang="de-DE" baseline="0" dirty="0" err="1"/>
              <a:t>layer</a:t>
            </a:r>
            <a:r>
              <a:rPr lang="de-DE" baseline="0" dirty="0"/>
              <a:t>, </a:t>
            </a:r>
            <a:r>
              <a:rPr lang="de-DE" baseline="0" dirty="0" err="1"/>
              <a:t>enabled</a:t>
            </a:r>
            <a:r>
              <a:rPr lang="de-DE" baseline="0" dirty="0"/>
              <a:t> </a:t>
            </a:r>
            <a:r>
              <a:rPr lang="de-DE" baseline="0" dirty="0" err="1"/>
              <a:t>by</a:t>
            </a:r>
            <a:r>
              <a:rPr lang="de-DE" baseline="0" dirty="0"/>
              <a:t> </a:t>
            </a:r>
            <a:r>
              <a:rPr lang="de-DE" baseline="0" dirty="0" err="1"/>
              <a:t>emerging</a:t>
            </a:r>
            <a:r>
              <a:rPr lang="de-DE" baseline="0" dirty="0"/>
              <a:t> </a:t>
            </a:r>
            <a:r>
              <a:rPr lang="de-DE" baseline="0" dirty="0" err="1"/>
              <a:t>optical</a:t>
            </a:r>
            <a:r>
              <a:rPr lang="de-DE" baseline="0" dirty="0"/>
              <a:t> </a:t>
            </a:r>
            <a:r>
              <a:rPr lang="de-DE" baseline="0" dirty="0" err="1"/>
              <a:t>technologies</a:t>
            </a:r>
            <a:r>
              <a:rPr lang="de-DE" baseline="0" dirty="0"/>
              <a:t>.</a:t>
            </a:r>
            <a:endParaRPr dirty="0"/>
          </a:p>
        </p:txBody>
      </p:sp>
      <p:sp>
        <p:nvSpPr>
          <p:cNvPr id="1924" name="Google Shape;1924;g60be7dcf1c_0_8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4128216270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3" name="Google Shape;1923;g60be7dcf1c_0_8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Over </a:t>
            </a:r>
            <a:r>
              <a:rPr lang="de-DE" dirty="0" err="1"/>
              <a:t>the</a:t>
            </a:r>
            <a:r>
              <a:rPr lang="de-DE" dirty="0"/>
              <a:t> last </a:t>
            </a:r>
            <a:r>
              <a:rPr lang="de-DE" dirty="0" err="1"/>
              <a:t>years</a:t>
            </a:r>
            <a:r>
              <a:rPr lang="de-DE" dirty="0"/>
              <a:t>,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have</a:t>
            </a:r>
            <a:r>
              <a:rPr lang="de-DE" dirty="0"/>
              <a:t> </a:t>
            </a:r>
            <a:r>
              <a:rPr lang="de-DE" dirty="0" err="1"/>
              <a:t>worked</a:t>
            </a:r>
            <a:r>
              <a:rPr lang="de-DE" dirty="0"/>
              <a:t> on flexible </a:t>
            </a:r>
            <a:r>
              <a:rPr lang="de-DE" dirty="0" err="1"/>
              <a:t>routing</a:t>
            </a:r>
            <a:r>
              <a:rPr lang="de-DE" dirty="0"/>
              <a:t> (</a:t>
            </a:r>
            <a:r>
              <a:rPr lang="de-DE" dirty="0" err="1"/>
              <a:t>enabled</a:t>
            </a:r>
            <a:r>
              <a:rPr lang="de-DE" baseline="0" dirty="0"/>
              <a:t> </a:t>
            </a:r>
            <a:r>
              <a:rPr lang="de-DE" baseline="0" dirty="0" err="1"/>
              <a:t>by</a:t>
            </a:r>
            <a:r>
              <a:rPr lang="de-DE" baseline="0" dirty="0"/>
              <a:t> SDN) </a:t>
            </a:r>
            <a:r>
              <a:rPr lang="de-DE" baseline="0" dirty="0" err="1"/>
              <a:t>and</a:t>
            </a:r>
            <a:r>
              <a:rPr lang="de-DE" baseline="0" dirty="0"/>
              <a:t> flexible </a:t>
            </a:r>
            <a:r>
              <a:rPr lang="de-DE" baseline="0" dirty="0" err="1"/>
              <a:t>resource</a:t>
            </a:r>
            <a:r>
              <a:rPr lang="de-DE" baseline="0" dirty="0"/>
              <a:t> </a:t>
            </a:r>
            <a:r>
              <a:rPr lang="de-DE" baseline="0" dirty="0" err="1"/>
              <a:t>allocation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service</a:t>
            </a:r>
            <a:r>
              <a:rPr lang="de-DE" baseline="0" dirty="0"/>
              <a:t> </a:t>
            </a:r>
            <a:r>
              <a:rPr lang="de-DE" baseline="0" dirty="0" err="1"/>
              <a:t>embedding</a:t>
            </a:r>
            <a:r>
              <a:rPr lang="de-DE" baseline="0" dirty="0"/>
              <a:t> (</a:t>
            </a:r>
            <a:r>
              <a:rPr lang="de-DE" baseline="0" dirty="0" err="1"/>
              <a:t>enabled</a:t>
            </a:r>
            <a:r>
              <a:rPr lang="de-DE" baseline="0" dirty="0"/>
              <a:t> </a:t>
            </a:r>
            <a:r>
              <a:rPr lang="de-DE" baseline="0" dirty="0" err="1"/>
              <a:t>by</a:t>
            </a:r>
            <a:r>
              <a:rPr lang="de-DE" baseline="0" dirty="0"/>
              <a:t> </a:t>
            </a:r>
            <a:r>
              <a:rPr lang="de-DE" baseline="0" dirty="0" err="1"/>
              <a:t>virtualization</a:t>
            </a:r>
            <a:r>
              <a:rPr lang="de-DE" baseline="0" dirty="0"/>
              <a:t>).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 err="1"/>
              <a:t>With</a:t>
            </a:r>
            <a:r>
              <a:rPr lang="de-DE" baseline="0" dirty="0"/>
              <a:t> </a:t>
            </a:r>
            <a:r>
              <a:rPr lang="de-DE" baseline="0" dirty="0" err="1"/>
              <a:t>this</a:t>
            </a:r>
            <a:r>
              <a:rPr lang="de-DE" baseline="0" dirty="0"/>
              <a:t> </a:t>
            </a:r>
            <a:r>
              <a:rPr lang="de-DE" baseline="0" dirty="0" err="1"/>
              <a:t>project</a:t>
            </a:r>
            <a:r>
              <a:rPr lang="de-DE" baseline="0" dirty="0"/>
              <a:t>, </a:t>
            </a:r>
            <a:r>
              <a:rPr lang="de-DE" baseline="0" dirty="0" err="1"/>
              <a:t>we</a:t>
            </a:r>
            <a:r>
              <a:rPr lang="de-DE" baseline="0" dirty="0"/>
              <a:t> </a:t>
            </a:r>
            <a:r>
              <a:rPr lang="de-DE" baseline="0" dirty="0" err="1"/>
              <a:t>want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tackle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physical</a:t>
            </a:r>
            <a:r>
              <a:rPr lang="de-DE" baseline="0" dirty="0"/>
              <a:t> </a:t>
            </a:r>
            <a:r>
              <a:rPr lang="de-DE" baseline="0" dirty="0" err="1"/>
              <a:t>layer</a:t>
            </a:r>
            <a:r>
              <a:rPr lang="de-DE" baseline="0" dirty="0"/>
              <a:t>, </a:t>
            </a:r>
            <a:r>
              <a:rPr lang="de-DE" baseline="0" dirty="0" err="1"/>
              <a:t>enabled</a:t>
            </a:r>
            <a:r>
              <a:rPr lang="de-DE" baseline="0" dirty="0"/>
              <a:t> </a:t>
            </a:r>
            <a:r>
              <a:rPr lang="de-DE" baseline="0" dirty="0" err="1"/>
              <a:t>by</a:t>
            </a:r>
            <a:r>
              <a:rPr lang="de-DE" baseline="0" dirty="0"/>
              <a:t> </a:t>
            </a:r>
            <a:r>
              <a:rPr lang="de-DE" baseline="0" dirty="0" err="1"/>
              <a:t>emerging</a:t>
            </a:r>
            <a:r>
              <a:rPr lang="de-DE" baseline="0" dirty="0"/>
              <a:t> </a:t>
            </a:r>
            <a:r>
              <a:rPr lang="de-DE" baseline="0" dirty="0" err="1"/>
              <a:t>optical</a:t>
            </a:r>
            <a:r>
              <a:rPr lang="de-DE" baseline="0" dirty="0"/>
              <a:t> </a:t>
            </a:r>
            <a:r>
              <a:rPr lang="de-DE" baseline="0" dirty="0" err="1"/>
              <a:t>technologies</a:t>
            </a:r>
            <a:r>
              <a:rPr lang="de-DE" baseline="0" dirty="0"/>
              <a:t>.</a:t>
            </a:r>
            <a:endParaRPr dirty="0"/>
          </a:p>
        </p:txBody>
      </p:sp>
      <p:sp>
        <p:nvSpPr>
          <p:cNvPr id="1924" name="Google Shape;1924;g60be7dcf1c_0_8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614215209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2">
          <a:extLst>
            <a:ext uri="{FF2B5EF4-FFF2-40B4-BE49-F238E27FC236}">
              <a16:creationId xmlns:a16="http://schemas.microsoft.com/office/drawing/2014/main" id="{1F7ACA66-0F08-729B-D03A-F1ABDE3DF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3" name="Google Shape;1923;g60be7dcf1c_0_814:notes">
            <a:extLst>
              <a:ext uri="{FF2B5EF4-FFF2-40B4-BE49-F238E27FC236}">
                <a16:creationId xmlns:a16="http://schemas.microsoft.com/office/drawing/2014/main" id="{91D88C0F-9B66-D222-81AB-211A4DFBB8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Over </a:t>
            </a:r>
            <a:r>
              <a:rPr lang="de-DE" dirty="0" err="1"/>
              <a:t>the</a:t>
            </a:r>
            <a:r>
              <a:rPr lang="de-DE" dirty="0"/>
              <a:t> last </a:t>
            </a:r>
            <a:r>
              <a:rPr lang="de-DE" dirty="0" err="1"/>
              <a:t>years</a:t>
            </a:r>
            <a:r>
              <a:rPr lang="de-DE" dirty="0"/>
              <a:t>,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have</a:t>
            </a:r>
            <a:r>
              <a:rPr lang="de-DE" dirty="0"/>
              <a:t> </a:t>
            </a:r>
            <a:r>
              <a:rPr lang="de-DE" dirty="0" err="1"/>
              <a:t>worked</a:t>
            </a:r>
            <a:r>
              <a:rPr lang="de-DE" dirty="0"/>
              <a:t> on flexible </a:t>
            </a:r>
            <a:r>
              <a:rPr lang="de-DE" dirty="0" err="1"/>
              <a:t>routing</a:t>
            </a:r>
            <a:r>
              <a:rPr lang="de-DE" dirty="0"/>
              <a:t> (</a:t>
            </a:r>
            <a:r>
              <a:rPr lang="de-DE" dirty="0" err="1"/>
              <a:t>enabled</a:t>
            </a:r>
            <a:r>
              <a:rPr lang="de-DE" baseline="0" dirty="0"/>
              <a:t> </a:t>
            </a:r>
            <a:r>
              <a:rPr lang="de-DE" baseline="0" dirty="0" err="1"/>
              <a:t>by</a:t>
            </a:r>
            <a:r>
              <a:rPr lang="de-DE" baseline="0" dirty="0"/>
              <a:t> SDN) </a:t>
            </a:r>
            <a:r>
              <a:rPr lang="de-DE" baseline="0" dirty="0" err="1"/>
              <a:t>and</a:t>
            </a:r>
            <a:r>
              <a:rPr lang="de-DE" baseline="0" dirty="0"/>
              <a:t> flexible </a:t>
            </a:r>
            <a:r>
              <a:rPr lang="de-DE" baseline="0" dirty="0" err="1"/>
              <a:t>resource</a:t>
            </a:r>
            <a:r>
              <a:rPr lang="de-DE" baseline="0" dirty="0"/>
              <a:t> </a:t>
            </a:r>
            <a:r>
              <a:rPr lang="de-DE" baseline="0" dirty="0" err="1"/>
              <a:t>allocation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service</a:t>
            </a:r>
            <a:r>
              <a:rPr lang="de-DE" baseline="0" dirty="0"/>
              <a:t> </a:t>
            </a:r>
            <a:r>
              <a:rPr lang="de-DE" baseline="0" dirty="0" err="1"/>
              <a:t>embedding</a:t>
            </a:r>
            <a:r>
              <a:rPr lang="de-DE" baseline="0" dirty="0"/>
              <a:t> (</a:t>
            </a:r>
            <a:r>
              <a:rPr lang="de-DE" baseline="0" dirty="0" err="1"/>
              <a:t>enabled</a:t>
            </a:r>
            <a:r>
              <a:rPr lang="de-DE" baseline="0" dirty="0"/>
              <a:t> </a:t>
            </a:r>
            <a:r>
              <a:rPr lang="de-DE" baseline="0" dirty="0" err="1"/>
              <a:t>by</a:t>
            </a:r>
            <a:r>
              <a:rPr lang="de-DE" baseline="0" dirty="0"/>
              <a:t> </a:t>
            </a:r>
            <a:r>
              <a:rPr lang="de-DE" baseline="0" dirty="0" err="1"/>
              <a:t>virtualization</a:t>
            </a:r>
            <a:r>
              <a:rPr lang="de-DE" baseline="0" dirty="0"/>
              <a:t>).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 err="1"/>
              <a:t>With</a:t>
            </a:r>
            <a:r>
              <a:rPr lang="de-DE" baseline="0" dirty="0"/>
              <a:t> </a:t>
            </a:r>
            <a:r>
              <a:rPr lang="de-DE" baseline="0" dirty="0" err="1"/>
              <a:t>this</a:t>
            </a:r>
            <a:r>
              <a:rPr lang="de-DE" baseline="0" dirty="0"/>
              <a:t> </a:t>
            </a:r>
            <a:r>
              <a:rPr lang="de-DE" baseline="0" dirty="0" err="1"/>
              <a:t>project</a:t>
            </a:r>
            <a:r>
              <a:rPr lang="de-DE" baseline="0" dirty="0"/>
              <a:t>, </a:t>
            </a:r>
            <a:r>
              <a:rPr lang="de-DE" baseline="0" dirty="0" err="1"/>
              <a:t>we</a:t>
            </a:r>
            <a:r>
              <a:rPr lang="de-DE" baseline="0" dirty="0"/>
              <a:t> </a:t>
            </a:r>
            <a:r>
              <a:rPr lang="de-DE" baseline="0" dirty="0" err="1"/>
              <a:t>want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tackle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physical</a:t>
            </a:r>
            <a:r>
              <a:rPr lang="de-DE" baseline="0" dirty="0"/>
              <a:t> </a:t>
            </a:r>
            <a:r>
              <a:rPr lang="de-DE" baseline="0" dirty="0" err="1"/>
              <a:t>layer</a:t>
            </a:r>
            <a:r>
              <a:rPr lang="de-DE" baseline="0" dirty="0"/>
              <a:t>, </a:t>
            </a:r>
            <a:r>
              <a:rPr lang="de-DE" baseline="0" dirty="0" err="1"/>
              <a:t>enabled</a:t>
            </a:r>
            <a:r>
              <a:rPr lang="de-DE" baseline="0" dirty="0"/>
              <a:t> </a:t>
            </a:r>
            <a:r>
              <a:rPr lang="de-DE" baseline="0" dirty="0" err="1"/>
              <a:t>by</a:t>
            </a:r>
            <a:r>
              <a:rPr lang="de-DE" baseline="0" dirty="0"/>
              <a:t> </a:t>
            </a:r>
            <a:r>
              <a:rPr lang="de-DE" baseline="0" dirty="0" err="1"/>
              <a:t>emerging</a:t>
            </a:r>
            <a:r>
              <a:rPr lang="de-DE" baseline="0" dirty="0"/>
              <a:t> </a:t>
            </a:r>
            <a:r>
              <a:rPr lang="de-DE" baseline="0" dirty="0" err="1"/>
              <a:t>optical</a:t>
            </a:r>
            <a:r>
              <a:rPr lang="de-DE" baseline="0" dirty="0"/>
              <a:t> </a:t>
            </a:r>
            <a:r>
              <a:rPr lang="de-DE" baseline="0" dirty="0" err="1"/>
              <a:t>technologies</a:t>
            </a:r>
            <a:r>
              <a:rPr lang="de-DE" baseline="0" dirty="0"/>
              <a:t>.</a:t>
            </a:r>
            <a:endParaRPr dirty="0"/>
          </a:p>
        </p:txBody>
      </p:sp>
      <p:sp>
        <p:nvSpPr>
          <p:cNvPr id="1924" name="Google Shape;1924;g60be7dcf1c_0_814:notes">
            <a:extLst>
              <a:ext uri="{FF2B5EF4-FFF2-40B4-BE49-F238E27FC236}">
                <a16:creationId xmlns:a16="http://schemas.microsoft.com/office/drawing/2014/main" id="{9C7F1DBF-1548-3A3F-851F-E5944ECD91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942200913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3" name="Google Shape;1923;g60be7dcf1c_0_8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Over </a:t>
            </a:r>
            <a:r>
              <a:rPr lang="de-DE" dirty="0" err="1"/>
              <a:t>the</a:t>
            </a:r>
            <a:r>
              <a:rPr lang="de-DE" dirty="0"/>
              <a:t> last </a:t>
            </a:r>
            <a:r>
              <a:rPr lang="de-DE" dirty="0" err="1"/>
              <a:t>years</a:t>
            </a:r>
            <a:r>
              <a:rPr lang="de-DE" dirty="0"/>
              <a:t>,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have</a:t>
            </a:r>
            <a:r>
              <a:rPr lang="de-DE" dirty="0"/>
              <a:t> </a:t>
            </a:r>
            <a:r>
              <a:rPr lang="de-DE" dirty="0" err="1"/>
              <a:t>worked</a:t>
            </a:r>
            <a:r>
              <a:rPr lang="de-DE" dirty="0"/>
              <a:t> on flexible </a:t>
            </a:r>
            <a:r>
              <a:rPr lang="de-DE" dirty="0" err="1"/>
              <a:t>routing</a:t>
            </a:r>
            <a:r>
              <a:rPr lang="de-DE" dirty="0"/>
              <a:t> (</a:t>
            </a:r>
            <a:r>
              <a:rPr lang="de-DE" dirty="0" err="1"/>
              <a:t>enabled</a:t>
            </a:r>
            <a:r>
              <a:rPr lang="de-DE" baseline="0" dirty="0"/>
              <a:t> </a:t>
            </a:r>
            <a:r>
              <a:rPr lang="de-DE" baseline="0" dirty="0" err="1"/>
              <a:t>by</a:t>
            </a:r>
            <a:r>
              <a:rPr lang="de-DE" baseline="0" dirty="0"/>
              <a:t> SDN) </a:t>
            </a:r>
            <a:r>
              <a:rPr lang="de-DE" baseline="0" dirty="0" err="1"/>
              <a:t>and</a:t>
            </a:r>
            <a:r>
              <a:rPr lang="de-DE" baseline="0" dirty="0"/>
              <a:t> flexible </a:t>
            </a:r>
            <a:r>
              <a:rPr lang="de-DE" baseline="0" dirty="0" err="1"/>
              <a:t>resource</a:t>
            </a:r>
            <a:r>
              <a:rPr lang="de-DE" baseline="0" dirty="0"/>
              <a:t> </a:t>
            </a:r>
            <a:r>
              <a:rPr lang="de-DE" baseline="0" dirty="0" err="1"/>
              <a:t>allocation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service</a:t>
            </a:r>
            <a:r>
              <a:rPr lang="de-DE" baseline="0" dirty="0"/>
              <a:t> </a:t>
            </a:r>
            <a:r>
              <a:rPr lang="de-DE" baseline="0" dirty="0" err="1"/>
              <a:t>embedding</a:t>
            </a:r>
            <a:r>
              <a:rPr lang="de-DE" baseline="0" dirty="0"/>
              <a:t> (</a:t>
            </a:r>
            <a:r>
              <a:rPr lang="de-DE" baseline="0" dirty="0" err="1"/>
              <a:t>enabled</a:t>
            </a:r>
            <a:r>
              <a:rPr lang="de-DE" baseline="0" dirty="0"/>
              <a:t> </a:t>
            </a:r>
            <a:r>
              <a:rPr lang="de-DE" baseline="0" dirty="0" err="1"/>
              <a:t>by</a:t>
            </a:r>
            <a:r>
              <a:rPr lang="de-DE" baseline="0" dirty="0"/>
              <a:t> </a:t>
            </a:r>
            <a:r>
              <a:rPr lang="de-DE" baseline="0" dirty="0" err="1"/>
              <a:t>virtualization</a:t>
            </a:r>
            <a:r>
              <a:rPr lang="de-DE" baseline="0" dirty="0"/>
              <a:t>).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 err="1"/>
              <a:t>With</a:t>
            </a:r>
            <a:r>
              <a:rPr lang="de-DE" baseline="0" dirty="0"/>
              <a:t> </a:t>
            </a:r>
            <a:r>
              <a:rPr lang="de-DE" baseline="0" dirty="0" err="1"/>
              <a:t>this</a:t>
            </a:r>
            <a:r>
              <a:rPr lang="de-DE" baseline="0" dirty="0"/>
              <a:t> </a:t>
            </a:r>
            <a:r>
              <a:rPr lang="de-DE" baseline="0" dirty="0" err="1"/>
              <a:t>project</a:t>
            </a:r>
            <a:r>
              <a:rPr lang="de-DE" baseline="0" dirty="0"/>
              <a:t>, </a:t>
            </a:r>
            <a:r>
              <a:rPr lang="de-DE" baseline="0" dirty="0" err="1"/>
              <a:t>we</a:t>
            </a:r>
            <a:r>
              <a:rPr lang="de-DE" baseline="0" dirty="0"/>
              <a:t> </a:t>
            </a:r>
            <a:r>
              <a:rPr lang="de-DE" baseline="0" dirty="0" err="1"/>
              <a:t>want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tackle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physical</a:t>
            </a:r>
            <a:r>
              <a:rPr lang="de-DE" baseline="0" dirty="0"/>
              <a:t> </a:t>
            </a:r>
            <a:r>
              <a:rPr lang="de-DE" baseline="0" dirty="0" err="1"/>
              <a:t>layer</a:t>
            </a:r>
            <a:r>
              <a:rPr lang="de-DE" baseline="0" dirty="0"/>
              <a:t>, </a:t>
            </a:r>
            <a:r>
              <a:rPr lang="de-DE" baseline="0" dirty="0" err="1"/>
              <a:t>enabled</a:t>
            </a:r>
            <a:r>
              <a:rPr lang="de-DE" baseline="0" dirty="0"/>
              <a:t> </a:t>
            </a:r>
            <a:r>
              <a:rPr lang="de-DE" baseline="0" dirty="0" err="1"/>
              <a:t>by</a:t>
            </a:r>
            <a:r>
              <a:rPr lang="de-DE" baseline="0" dirty="0"/>
              <a:t> </a:t>
            </a:r>
            <a:r>
              <a:rPr lang="de-DE" baseline="0" dirty="0" err="1"/>
              <a:t>emerging</a:t>
            </a:r>
            <a:r>
              <a:rPr lang="de-DE" baseline="0" dirty="0"/>
              <a:t> </a:t>
            </a:r>
            <a:r>
              <a:rPr lang="de-DE" baseline="0" dirty="0" err="1"/>
              <a:t>optical</a:t>
            </a:r>
            <a:r>
              <a:rPr lang="de-DE" baseline="0" dirty="0"/>
              <a:t> </a:t>
            </a:r>
            <a:r>
              <a:rPr lang="de-DE" baseline="0" dirty="0" err="1"/>
              <a:t>technologies</a:t>
            </a:r>
            <a:r>
              <a:rPr lang="de-DE" baseline="0" dirty="0"/>
              <a:t>.</a:t>
            </a:r>
            <a:endParaRPr dirty="0"/>
          </a:p>
        </p:txBody>
      </p:sp>
      <p:sp>
        <p:nvSpPr>
          <p:cNvPr id="1924" name="Google Shape;1924;g60be7dcf1c_0_8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4127021985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g60be7dcf1c_0_2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05" name="Google Shape;1305;g60be7dcf1c_0_2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52961916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3">
          <a:extLst>
            <a:ext uri="{FF2B5EF4-FFF2-40B4-BE49-F238E27FC236}">
              <a16:creationId xmlns:a16="http://schemas.microsoft.com/office/drawing/2014/main" id="{62D5D12F-3AFA-8737-D90D-66FD457E6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g60be7dcf1c_0_222:notes">
            <a:extLst>
              <a:ext uri="{FF2B5EF4-FFF2-40B4-BE49-F238E27FC236}">
                <a16:creationId xmlns:a16="http://schemas.microsoft.com/office/drawing/2014/main" id="{E7C75D8F-A5BD-3A8C-F9E5-7D52F561C7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05" name="Google Shape;1305;g60be7dcf1c_0_222:notes">
            <a:extLst>
              <a:ext uri="{FF2B5EF4-FFF2-40B4-BE49-F238E27FC236}">
                <a16:creationId xmlns:a16="http://schemas.microsoft.com/office/drawing/2014/main" id="{7DD20F78-7572-7CD6-8B2B-056B2F37B9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700800054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g60be7dcf1c_0_2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05" name="Google Shape;1305;g60be7dcf1c_0_2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174327128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g60be7dcf1c_0_2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05" name="Google Shape;1305;g60be7dcf1c_0_2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535623162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g60be7dcf1c_0_2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05" name="Google Shape;1305;g60be7dcf1c_0_2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593173380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g60be7dcf1c_0_2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05" name="Google Shape;1305;g60be7dcf1c_0_2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305741004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g60be7dcf1c_0_2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05" name="Google Shape;1305;g60be7dcf1c_0_2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267321398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g60be7dcf1c_0_2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05" name="Google Shape;1305;g60be7dcf1c_0_2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773597258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g60be7dcf1c_0_2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05" name="Google Shape;1305;g60be7dcf1c_0_2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46553808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g60be7dcf1c_0_2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05" name="Google Shape;1305;g60be7dcf1c_0_2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780849318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g60be7dcf1c_0_2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05" name="Google Shape;1305;g60be7dcf1c_0_2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104605050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g60be7dcf1c_0_2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05" name="Google Shape;1305;g60be7dcf1c_0_2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287180728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3" name="Google Shape;1653;g60be7dcf1c_0_5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 err="1"/>
              <a:t>Let</a:t>
            </a:r>
            <a:r>
              <a:rPr lang="de-DE" dirty="0"/>
              <a:t> </a:t>
            </a:r>
            <a:r>
              <a:rPr lang="de-DE" dirty="0" err="1"/>
              <a:t>me</a:t>
            </a:r>
            <a:r>
              <a:rPr lang="de-DE" dirty="0"/>
              <a:t> </a:t>
            </a:r>
            <a:r>
              <a:rPr lang="de-DE" dirty="0" err="1"/>
              <a:t>give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an </a:t>
            </a:r>
            <a:r>
              <a:rPr lang="de-DE" dirty="0" err="1"/>
              <a:t>idea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questions</a:t>
            </a:r>
            <a:r>
              <a:rPr lang="de-DE" dirty="0"/>
              <a:t> </a:t>
            </a:r>
            <a:r>
              <a:rPr lang="de-DE" dirty="0" err="1"/>
              <a:t>and</a:t>
            </a:r>
            <a:r>
              <a:rPr lang="de-DE" dirty="0"/>
              <a:t> </a:t>
            </a:r>
            <a:r>
              <a:rPr lang="de-DE" dirty="0" err="1"/>
              <a:t>approach</a:t>
            </a:r>
            <a:r>
              <a:rPr lang="de-DE" dirty="0"/>
              <a:t> </a:t>
            </a:r>
            <a:r>
              <a:rPr lang="de-DE" dirty="0" err="1"/>
              <a:t>used</a:t>
            </a:r>
            <a:r>
              <a:rPr lang="de-DE" baseline="0" dirty="0"/>
              <a:t> in </a:t>
            </a:r>
            <a:r>
              <a:rPr lang="de-DE" baseline="0" dirty="0" err="1"/>
              <a:t>our</a:t>
            </a:r>
            <a:r>
              <a:rPr lang="de-DE" baseline="0" dirty="0"/>
              <a:t> </a:t>
            </a:r>
            <a:r>
              <a:rPr lang="de-DE" baseline="0" dirty="0" err="1"/>
              <a:t>project</a:t>
            </a:r>
            <a:r>
              <a:rPr lang="de-DE" baseline="0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/>
              <a:t>A </a:t>
            </a:r>
            <a:r>
              <a:rPr lang="de-DE" baseline="0" dirty="0" err="1"/>
              <a:t>first</a:t>
            </a:r>
            <a:r>
              <a:rPr lang="de-DE" baseline="0" dirty="0"/>
              <a:t> </a:t>
            </a:r>
            <a:r>
              <a:rPr lang="de-DE" baseline="0" dirty="0" err="1"/>
              <a:t>most</a:t>
            </a:r>
            <a:r>
              <a:rPr lang="de-DE" baseline="0" dirty="0"/>
              <a:t> </a:t>
            </a:r>
            <a:r>
              <a:rPr lang="de-DE" baseline="0" dirty="0" err="1"/>
              <a:t>basic</a:t>
            </a:r>
            <a:r>
              <a:rPr lang="de-DE" baseline="0" dirty="0"/>
              <a:t> </a:t>
            </a:r>
            <a:r>
              <a:rPr lang="de-DE" baseline="0" dirty="0" err="1"/>
              <a:t>question</a:t>
            </a:r>
            <a:r>
              <a:rPr lang="de-DE" baseline="0" dirty="0"/>
              <a:t> </a:t>
            </a:r>
            <a:r>
              <a:rPr lang="de-DE" baseline="0" dirty="0" err="1"/>
              <a:t>regards</a:t>
            </a:r>
            <a:r>
              <a:rPr lang="de-DE" baseline="0" dirty="0"/>
              <a:t> </a:t>
            </a:r>
            <a:r>
              <a:rPr lang="de-DE" baseline="0" dirty="0" err="1"/>
              <a:t>how</a:t>
            </a:r>
            <a:r>
              <a:rPr lang="de-DE" baseline="0" dirty="0"/>
              <a:t> </a:t>
            </a:r>
            <a:r>
              <a:rPr lang="de-DE" baseline="0" dirty="0" err="1"/>
              <a:t>we</a:t>
            </a:r>
            <a:r>
              <a:rPr lang="de-DE" baseline="0" dirty="0"/>
              <a:t> </a:t>
            </a:r>
            <a:r>
              <a:rPr lang="de-DE" baseline="0" dirty="0" err="1"/>
              <a:t>can</a:t>
            </a:r>
            <a:r>
              <a:rPr lang="de-DE" baseline="0" dirty="0"/>
              <a:t> </a:t>
            </a:r>
            <a:r>
              <a:rPr lang="de-DE" baseline="0" dirty="0" err="1"/>
              <a:t>quantify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structure</a:t>
            </a:r>
            <a:r>
              <a:rPr lang="de-DE" baseline="0" dirty="0"/>
              <a:t> in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demand</a:t>
            </a:r>
            <a:r>
              <a:rPr lang="de-DE" baseline="0" dirty="0"/>
              <a:t>.</a:t>
            </a:r>
            <a:endParaRPr dirty="0"/>
          </a:p>
        </p:txBody>
      </p:sp>
      <p:sp>
        <p:nvSpPr>
          <p:cNvPr id="1654" name="Google Shape;1654;g60be7dcf1c_0_5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225351233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" name="Google Shape;1679;g60be7dcf1c_0_5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believe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an </a:t>
            </a:r>
            <a:r>
              <a:rPr lang="de-DE" dirty="0" err="1"/>
              <a:t>information-theoretic</a:t>
            </a:r>
            <a:r>
              <a:rPr lang="de-DE" baseline="0" dirty="0"/>
              <a:t> </a:t>
            </a:r>
            <a:r>
              <a:rPr lang="de-DE" baseline="0" dirty="0" err="1"/>
              <a:t>approach</a:t>
            </a:r>
            <a:r>
              <a:rPr lang="de-DE" baseline="0" dirty="0"/>
              <a:t> </a:t>
            </a:r>
            <a:r>
              <a:rPr lang="de-DE" baseline="0" dirty="0" err="1"/>
              <a:t>can</a:t>
            </a:r>
            <a:r>
              <a:rPr lang="de-DE" baseline="0" dirty="0"/>
              <a:t> </a:t>
            </a:r>
            <a:r>
              <a:rPr lang="de-DE" baseline="0" dirty="0" err="1"/>
              <a:t>provide</a:t>
            </a:r>
            <a:r>
              <a:rPr lang="de-DE" baseline="0" dirty="0"/>
              <a:t> </a:t>
            </a:r>
            <a:r>
              <a:rPr lang="de-DE" baseline="0" dirty="0" err="1"/>
              <a:t>interesting</a:t>
            </a:r>
            <a:r>
              <a:rPr lang="de-DE" baseline="0" dirty="0"/>
              <a:t> </a:t>
            </a:r>
            <a:r>
              <a:rPr lang="de-DE" baseline="0" dirty="0" err="1"/>
              <a:t>insights</a:t>
            </a:r>
            <a:r>
              <a:rPr lang="de-DE" baseline="0" dirty="0"/>
              <a:t> </a:t>
            </a:r>
            <a:r>
              <a:rPr lang="de-DE" baseline="0" dirty="0" err="1"/>
              <a:t>here</a:t>
            </a:r>
            <a:r>
              <a:rPr lang="de-DE" baseline="0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/>
              <a:t>As a </a:t>
            </a:r>
            <a:r>
              <a:rPr lang="de-DE" baseline="0" dirty="0" err="1"/>
              <a:t>first</a:t>
            </a:r>
            <a:r>
              <a:rPr lang="de-DE" baseline="0" dirty="0"/>
              <a:t> </a:t>
            </a:r>
            <a:r>
              <a:rPr lang="de-DE" baseline="0" dirty="0" err="1"/>
              <a:t>approach</a:t>
            </a:r>
            <a:r>
              <a:rPr lang="de-DE" baseline="0" dirty="0"/>
              <a:t>, </a:t>
            </a:r>
            <a:r>
              <a:rPr lang="de-DE" baseline="0" dirty="0" err="1"/>
              <a:t>we</a:t>
            </a:r>
            <a:r>
              <a:rPr lang="de-DE" baseline="0" dirty="0"/>
              <a:t> </a:t>
            </a:r>
            <a:r>
              <a:rPr lang="de-DE" baseline="0" dirty="0" err="1"/>
              <a:t>have</a:t>
            </a:r>
            <a:r>
              <a:rPr lang="de-DE" baseline="0" dirty="0"/>
              <a:t> </a:t>
            </a:r>
            <a:r>
              <a:rPr lang="de-DE" baseline="0" dirty="0" err="1"/>
              <a:t>used</a:t>
            </a:r>
            <a:r>
              <a:rPr lang="de-DE" baseline="0" dirty="0"/>
              <a:t> iterative </a:t>
            </a:r>
            <a:r>
              <a:rPr lang="de-DE" baseline="0" dirty="0" err="1"/>
              <a:t>randomization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compression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identify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different </a:t>
            </a:r>
            <a:r>
              <a:rPr lang="de-DE" baseline="0" dirty="0" err="1"/>
              <a:t>dimensions</a:t>
            </a:r>
            <a:r>
              <a:rPr lang="de-DE" baseline="0" dirty="0"/>
              <a:t> </a:t>
            </a:r>
            <a:r>
              <a:rPr lang="de-DE" baseline="0" dirty="0" err="1"/>
              <a:t>of</a:t>
            </a:r>
            <a:r>
              <a:rPr lang="de-DE" baseline="0" dirty="0"/>
              <a:t> </a:t>
            </a:r>
            <a:r>
              <a:rPr lang="de-DE" baseline="0" dirty="0" err="1"/>
              <a:t>structure</a:t>
            </a:r>
            <a:r>
              <a:rPr lang="de-DE" baseline="0" dirty="0"/>
              <a:t>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/>
              <a:t>The </a:t>
            </a:r>
            <a:r>
              <a:rPr lang="de-DE" baseline="0" dirty="0" err="1"/>
              <a:t>resulting</a:t>
            </a:r>
            <a:r>
              <a:rPr lang="de-DE" baseline="0" dirty="0"/>
              <a:t> </a:t>
            </a:r>
            <a:r>
              <a:rPr lang="de-DE" baseline="0" dirty="0" err="1"/>
              <a:t>complexity</a:t>
            </a:r>
            <a:r>
              <a:rPr lang="de-DE" baseline="0" dirty="0"/>
              <a:t> </a:t>
            </a:r>
            <a:r>
              <a:rPr lang="de-DE" baseline="0" dirty="0" err="1"/>
              <a:t>map</a:t>
            </a:r>
            <a:r>
              <a:rPr lang="de-DE" baseline="0" dirty="0"/>
              <a:t> </a:t>
            </a:r>
            <a:r>
              <a:rPr lang="de-DE" baseline="0" dirty="0" err="1"/>
              <a:t>looks</a:t>
            </a:r>
            <a:r>
              <a:rPr lang="de-DE" baseline="0" dirty="0"/>
              <a:t> like </a:t>
            </a:r>
            <a:r>
              <a:rPr lang="de-DE" baseline="0" dirty="0" err="1"/>
              <a:t>this</a:t>
            </a:r>
            <a:r>
              <a:rPr lang="de-DE" baseline="0" dirty="0"/>
              <a:t>: On </a:t>
            </a:r>
            <a:r>
              <a:rPr lang="de-DE" baseline="0" dirty="0" err="1"/>
              <a:t>the</a:t>
            </a:r>
            <a:r>
              <a:rPr lang="de-DE" baseline="0" dirty="0"/>
              <a:t> x-</a:t>
            </a:r>
            <a:r>
              <a:rPr lang="de-DE" baseline="0" dirty="0" err="1"/>
              <a:t>axis</a:t>
            </a:r>
            <a:r>
              <a:rPr lang="de-DE" baseline="0" dirty="0"/>
              <a:t>, </a:t>
            </a:r>
            <a:r>
              <a:rPr lang="de-DE" baseline="0" dirty="0" err="1"/>
              <a:t>there</a:t>
            </a:r>
            <a:r>
              <a:rPr lang="de-DE" baseline="0" dirty="0"/>
              <a:t> </a:t>
            </a:r>
            <a:r>
              <a:rPr lang="de-DE" baseline="0" dirty="0" err="1"/>
              <a:t>is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temporal </a:t>
            </a:r>
            <a:r>
              <a:rPr lang="de-DE" baseline="0" dirty="0" err="1"/>
              <a:t>complexity</a:t>
            </a:r>
            <a:r>
              <a:rPr lang="de-DE" baseline="0" dirty="0"/>
              <a:t>, on </a:t>
            </a:r>
            <a:r>
              <a:rPr lang="de-DE" baseline="0" dirty="0" err="1"/>
              <a:t>the</a:t>
            </a:r>
            <a:r>
              <a:rPr lang="de-DE" baseline="0" dirty="0"/>
              <a:t> y-</a:t>
            </a:r>
            <a:r>
              <a:rPr lang="de-DE" baseline="0" dirty="0" err="1"/>
              <a:t>axis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non-temporal. </a:t>
            </a:r>
            <a:r>
              <a:rPr lang="de-DE" baseline="0" dirty="0" err="1"/>
              <a:t>Workloads</a:t>
            </a:r>
            <a:r>
              <a:rPr lang="de-DE" baseline="0" dirty="0"/>
              <a:t> </a:t>
            </a:r>
            <a:r>
              <a:rPr lang="de-DE" baseline="0" dirty="0" err="1"/>
              <a:t>without</a:t>
            </a:r>
            <a:r>
              <a:rPr lang="de-DE" baseline="0" dirty="0"/>
              <a:t> </a:t>
            </a:r>
            <a:r>
              <a:rPr lang="de-DE" baseline="0" dirty="0" err="1"/>
              <a:t>any</a:t>
            </a:r>
            <a:r>
              <a:rPr lang="de-DE" baseline="0" dirty="0"/>
              <a:t> </a:t>
            </a:r>
            <a:r>
              <a:rPr lang="de-DE" baseline="0" dirty="0" err="1"/>
              <a:t>structure</a:t>
            </a:r>
            <a:r>
              <a:rPr lang="de-DE" baseline="0" dirty="0"/>
              <a:t> end </a:t>
            </a:r>
            <a:r>
              <a:rPr lang="de-DE" baseline="0" dirty="0" err="1"/>
              <a:t>up</a:t>
            </a:r>
            <a:r>
              <a:rPr lang="de-DE" baseline="0" dirty="0"/>
              <a:t> on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upper</a:t>
            </a:r>
            <a:r>
              <a:rPr lang="de-DE" baseline="0" dirty="0"/>
              <a:t> </a:t>
            </a:r>
            <a:r>
              <a:rPr lang="de-DE" baseline="0" dirty="0" err="1"/>
              <a:t>right</a:t>
            </a:r>
            <a:r>
              <a:rPr lang="de-DE" baseline="0" dirty="0"/>
              <a:t>.</a:t>
            </a:r>
            <a:endParaRPr dirty="0"/>
          </a:p>
        </p:txBody>
      </p:sp>
      <p:sp>
        <p:nvSpPr>
          <p:cNvPr id="1680" name="Google Shape;1680;g60be7dcf1c_0_5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932011059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" name="Google Shape;1679;g60be7dcf1c_0_5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believe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an </a:t>
            </a:r>
            <a:r>
              <a:rPr lang="de-DE" dirty="0" err="1"/>
              <a:t>information-theoretic</a:t>
            </a:r>
            <a:r>
              <a:rPr lang="de-DE" baseline="0" dirty="0"/>
              <a:t> </a:t>
            </a:r>
            <a:r>
              <a:rPr lang="de-DE" baseline="0" dirty="0" err="1"/>
              <a:t>approach</a:t>
            </a:r>
            <a:r>
              <a:rPr lang="de-DE" baseline="0" dirty="0"/>
              <a:t> </a:t>
            </a:r>
            <a:r>
              <a:rPr lang="de-DE" baseline="0" dirty="0" err="1"/>
              <a:t>can</a:t>
            </a:r>
            <a:r>
              <a:rPr lang="de-DE" baseline="0" dirty="0"/>
              <a:t> </a:t>
            </a:r>
            <a:r>
              <a:rPr lang="de-DE" baseline="0" dirty="0" err="1"/>
              <a:t>provide</a:t>
            </a:r>
            <a:r>
              <a:rPr lang="de-DE" baseline="0" dirty="0"/>
              <a:t> </a:t>
            </a:r>
            <a:r>
              <a:rPr lang="de-DE" baseline="0" dirty="0" err="1"/>
              <a:t>interesting</a:t>
            </a:r>
            <a:r>
              <a:rPr lang="de-DE" baseline="0" dirty="0"/>
              <a:t> </a:t>
            </a:r>
            <a:r>
              <a:rPr lang="de-DE" baseline="0" dirty="0" err="1"/>
              <a:t>insights</a:t>
            </a:r>
            <a:r>
              <a:rPr lang="de-DE" baseline="0" dirty="0"/>
              <a:t> </a:t>
            </a:r>
            <a:r>
              <a:rPr lang="de-DE" baseline="0" dirty="0" err="1"/>
              <a:t>here</a:t>
            </a:r>
            <a:r>
              <a:rPr lang="de-DE" baseline="0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/>
              <a:t>As a </a:t>
            </a:r>
            <a:r>
              <a:rPr lang="de-DE" baseline="0" dirty="0" err="1"/>
              <a:t>first</a:t>
            </a:r>
            <a:r>
              <a:rPr lang="de-DE" baseline="0" dirty="0"/>
              <a:t> </a:t>
            </a:r>
            <a:r>
              <a:rPr lang="de-DE" baseline="0" dirty="0" err="1"/>
              <a:t>approach</a:t>
            </a:r>
            <a:r>
              <a:rPr lang="de-DE" baseline="0" dirty="0"/>
              <a:t>, </a:t>
            </a:r>
            <a:r>
              <a:rPr lang="de-DE" baseline="0" dirty="0" err="1"/>
              <a:t>we</a:t>
            </a:r>
            <a:r>
              <a:rPr lang="de-DE" baseline="0" dirty="0"/>
              <a:t> </a:t>
            </a:r>
            <a:r>
              <a:rPr lang="de-DE" baseline="0" dirty="0" err="1"/>
              <a:t>have</a:t>
            </a:r>
            <a:r>
              <a:rPr lang="de-DE" baseline="0" dirty="0"/>
              <a:t> </a:t>
            </a:r>
            <a:r>
              <a:rPr lang="de-DE" baseline="0" dirty="0" err="1"/>
              <a:t>used</a:t>
            </a:r>
            <a:r>
              <a:rPr lang="de-DE" baseline="0" dirty="0"/>
              <a:t> iterative </a:t>
            </a:r>
            <a:r>
              <a:rPr lang="de-DE" baseline="0" dirty="0" err="1"/>
              <a:t>randomization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compression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identify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different </a:t>
            </a:r>
            <a:r>
              <a:rPr lang="de-DE" baseline="0" dirty="0" err="1"/>
              <a:t>dimensions</a:t>
            </a:r>
            <a:r>
              <a:rPr lang="de-DE" baseline="0" dirty="0"/>
              <a:t> </a:t>
            </a:r>
            <a:r>
              <a:rPr lang="de-DE" baseline="0" dirty="0" err="1"/>
              <a:t>of</a:t>
            </a:r>
            <a:r>
              <a:rPr lang="de-DE" baseline="0" dirty="0"/>
              <a:t> </a:t>
            </a:r>
            <a:r>
              <a:rPr lang="de-DE" baseline="0" dirty="0" err="1"/>
              <a:t>structure</a:t>
            </a:r>
            <a:r>
              <a:rPr lang="de-DE" baseline="0" dirty="0"/>
              <a:t>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/>
              <a:t>The </a:t>
            </a:r>
            <a:r>
              <a:rPr lang="de-DE" baseline="0" dirty="0" err="1"/>
              <a:t>resulting</a:t>
            </a:r>
            <a:r>
              <a:rPr lang="de-DE" baseline="0" dirty="0"/>
              <a:t> </a:t>
            </a:r>
            <a:r>
              <a:rPr lang="de-DE" baseline="0" dirty="0" err="1"/>
              <a:t>complexity</a:t>
            </a:r>
            <a:r>
              <a:rPr lang="de-DE" baseline="0" dirty="0"/>
              <a:t> </a:t>
            </a:r>
            <a:r>
              <a:rPr lang="de-DE" baseline="0" dirty="0" err="1"/>
              <a:t>map</a:t>
            </a:r>
            <a:r>
              <a:rPr lang="de-DE" baseline="0" dirty="0"/>
              <a:t> </a:t>
            </a:r>
            <a:r>
              <a:rPr lang="de-DE" baseline="0" dirty="0" err="1"/>
              <a:t>looks</a:t>
            </a:r>
            <a:r>
              <a:rPr lang="de-DE" baseline="0" dirty="0"/>
              <a:t> like </a:t>
            </a:r>
            <a:r>
              <a:rPr lang="de-DE" baseline="0" dirty="0" err="1"/>
              <a:t>this</a:t>
            </a:r>
            <a:r>
              <a:rPr lang="de-DE" baseline="0" dirty="0"/>
              <a:t>: On </a:t>
            </a:r>
            <a:r>
              <a:rPr lang="de-DE" baseline="0" dirty="0" err="1"/>
              <a:t>the</a:t>
            </a:r>
            <a:r>
              <a:rPr lang="de-DE" baseline="0" dirty="0"/>
              <a:t> x-</a:t>
            </a:r>
            <a:r>
              <a:rPr lang="de-DE" baseline="0" dirty="0" err="1"/>
              <a:t>axis</a:t>
            </a:r>
            <a:r>
              <a:rPr lang="de-DE" baseline="0" dirty="0"/>
              <a:t>, </a:t>
            </a:r>
            <a:r>
              <a:rPr lang="de-DE" baseline="0" dirty="0" err="1"/>
              <a:t>there</a:t>
            </a:r>
            <a:r>
              <a:rPr lang="de-DE" baseline="0" dirty="0"/>
              <a:t> </a:t>
            </a:r>
            <a:r>
              <a:rPr lang="de-DE" baseline="0" dirty="0" err="1"/>
              <a:t>is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temporal </a:t>
            </a:r>
            <a:r>
              <a:rPr lang="de-DE" baseline="0" dirty="0" err="1"/>
              <a:t>complexity</a:t>
            </a:r>
            <a:r>
              <a:rPr lang="de-DE" baseline="0" dirty="0"/>
              <a:t>, on </a:t>
            </a:r>
            <a:r>
              <a:rPr lang="de-DE" baseline="0" dirty="0" err="1"/>
              <a:t>the</a:t>
            </a:r>
            <a:r>
              <a:rPr lang="de-DE" baseline="0" dirty="0"/>
              <a:t> y-</a:t>
            </a:r>
            <a:r>
              <a:rPr lang="de-DE" baseline="0" dirty="0" err="1"/>
              <a:t>axis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non-temporal. </a:t>
            </a:r>
            <a:r>
              <a:rPr lang="de-DE" baseline="0" dirty="0" err="1"/>
              <a:t>Workloads</a:t>
            </a:r>
            <a:r>
              <a:rPr lang="de-DE" baseline="0" dirty="0"/>
              <a:t> </a:t>
            </a:r>
            <a:r>
              <a:rPr lang="de-DE" baseline="0" dirty="0" err="1"/>
              <a:t>without</a:t>
            </a:r>
            <a:r>
              <a:rPr lang="de-DE" baseline="0" dirty="0"/>
              <a:t> </a:t>
            </a:r>
            <a:r>
              <a:rPr lang="de-DE" baseline="0" dirty="0" err="1"/>
              <a:t>any</a:t>
            </a:r>
            <a:r>
              <a:rPr lang="de-DE" baseline="0" dirty="0"/>
              <a:t> </a:t>
            </a:r>
            <a:r>
              <a:rPr lang="de-DE" baseline="0" dirty="0" err="1"/>
              <a:t>structure</a:t>
            </a:r>
            <a:r>
              <a:rPr lang="de-DE" baseline="0" dirty="0"/>
              <a:t> end </a:t>
            </a:r>
            <a:r>
              <a:rPr lang="de-DE" baseline="0" dirty="0" err="1"/>
              <a:t>up</a:t>
            </a:r>
            <a:r>
              <a:rPr lang="de-DE" baseline="0" dirty="0"/>
              <a:t> on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upper</a:t>
            </a:r>
            <a:r>
              <a:rPr lang="de-DE" baseline="0" dirty="0"/>
              <a:t> </a:t>
            </a:r>
            <a:r>
              <a:rPr lang="de-DE" baseline="0" dirty="0" err="1"/>
              <a:t>right</a:t>
            </a:r>
            <a:r>
              <a:rPr lang="de-DE" baseline="0" dirty="0"/>
              <a:t>.</a:t>
            </a:r>
            <a:endParaRPr dirty="0"/>
          </a:p>
        </p:txBody>
      </p:sp>
      <p:sp>
        <p:nvSpPr>
          <p:cNvPr id="1680" name="Google Shape;1680;g60be7dcf1c_0_5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560729532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" name="Google Shape;1679;g60be7dcf1c_0_5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believe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an </a:t>
            </a:r>
            <a:r>
              <a:rPr lang="de-DE" dirty="0" err="1"/>
              <a:t>information-theoretic</a:t>
            </a:r>
            <a:r>
              <a:rPr lang="de-DE" baseline="0" dirty="0"/>
              <a:t> </a:t>
            </a:r>
            <a:r>
              <a:rPr lang="de-DE" baseline="0" dirty="0" err="1"/>
              <a:t>approach</a:t>
            </a:r>
            <a:r>
              <a:rPr lang="de-DE" baseline="0" dirty="0"/>
              <a:t> </a:t>
            </a:r>
            <a:r>
              <a:rPr lang="de-DE" baseline="0" dirty="0" err="1"/>
              <a:t>can</a:t>
            </a:r>
            <a:r>
              <a:rPr lang="de-DE" baseline="0" dirty="0"/>
              <a:t> </a:t>
            </a:r>
            <a:r>
              <a:rPr lang="de-DE" baseline="0" dirty="0" err="1"/>
              <a:t>provide</a:t>
            </a:r>
            <a:r>
              <a:rPr lang="de-DE" baseline="0" dirty="0"/>
              <a:t> </a:t>
            </a:r>
            <a:r>
              <a:rPr lang="de-DE" baseline="0" dirty="0" err="1"/>
              <a:t>interesting</a:t>
            </a:r>
            <a:r>
              <a:rPr lang="de-DE" baseline="0" dirty="0"/>
              <a:t> </a:t>
            </a:r>
            <a:r>
              <a:rPr lang="de-DE" baseline="0" dirty="0" err="1"/>
              <a:t>insights</a:t>
            </a:r>
            <a:r>
              <a:rPr lang="de-DE" baseline="0" dirty="0"/>
              <a:t> </a:t>
            </a:r>
            <a:r>
              <a:rPr lang="de-DE" baseline="0" dirty="0" err="1"/>
              <a:t>here</a:t>
            </a:r>
            <a:r>
              <a:rPr lang="de-DE" baseline="0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/>
              <a:t>As a </a:t>
            </a:r>
            <a:r>
              <a:rPr lang="de-DE" baseline="0" dirty="0" err="1"/>
              <a:t>first</a:t>
            </a:r>
            <a:r>
              <a:rPr lang="de-DE" baseline="0" dirty="0"/>
              <a:t> </a:t>
            </a:r>
            <a:r>
              <a:rPr lang="de-DE" baseline="0" dirty="0" err="1"/>
              <a:t>approach</a:t>
            </a:r>
            <a:r>
              <a:rPr lang="de-DE" baseline="0" dirty="0"/>
              <a:t>, </a:t>
            </a:r>
            <a:r>
              <a:rPr lang="de-DE" baseline="0" dirty="0" err="1"/>
              <a:t>we</a:t>
            </a:r>
            <a:r>
              <a:rPr lang="de-DE" baseline="0" dirty="0"/>
              <a:t> </a:t>
            </a:r>
            <a:r>
              <a:rPr lang="de-DE" baseline="0" dirty="0" err="1"/>
              <a:t>have</a:t>
            </a:r>
            <a:r>
              <a:rPr lang="de-DE" baseline="0" dirty="0"/>
              <a:t> </a:t>
            </a:r>
            <a:r>
              <a:rPr lang="de-DE" baseline="0" dirty="0" err="1"/>
              <a:t>used</a:t>
            </a:r>
            <a:r>
              <a:rPr lang="de-DE" baseline="0" dirty="0"/>
              <a:t> iterative </a:t>
            </a:r>
            <a:r>
              <a:rPr lang="de-DE" baseline="0" dirty="0" err="1"/>
              <a:t>randomization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compression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identify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different </a:t>
            </a:r>
            <a:r>
              <a:rPr lang="de-DE" baseline="0" dirty="0" err="1"/>
              <a:t>dimensions</a:t>
            </a:r>
            <a:r>
              <a:rPr lang="de-DE" baseline="0" dirty="0"/>
              <a:t> </a:t>
            </a:r>
            <a:r>
              <a:rPr lang="de-DE" baseline="0" dirty="0" err="1"/>
              <a:t>of</a:t>
            </a:r>
            <a:r>
              <a:rPr lang="de-DE" baseline="0" dirty="0"/>
              <a:t> </a:t>
            </a:r>
            <a:r>
              <a:rPr lang="de-DE" baseline="0" dirty="0" err="1"/>
              <a:t>structure</a:t>
            </a:r>
            <a:r>
              <a:rPr lang="de-DE" baseline="0" dirty="0"/>
              <a:t>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/>
              <a:t>The </a:t>
            </a:r>
            <a:r>
              <a:rPr lang="de-DE" baseline="0" dirty="0" err="1"/>
              <a:t>resulting</a:t>
            </a:r>
            <a:r>
              <a:rPr lang="de-DE" baseline="0" dirty="0"/>
              <a:t> </a:t>
            </a:r>
            <a:r>
              <a:rPr lang="de-DE" baseline="0" dirty="0" err="1"/>
              <a:t>complexity</a:t>
            </a:r>
            <a:r>
              <a:rPr lang="de-DE" baseline="0" dirty="0"/>
              <a:t> </a:t>
            </a:r>
            <a:r>
              <a:rPr lang="de-DE" baseline="0" dirty="0" err="1"/>
              <a:t>map</a:t>
            </a:r>
            <a:r>
              <a:rPr lang="de-DE" baseline="0" dirty="0"/>
              <a:t> </a:t>
            </a:r>
            <a:r>
              <a:rPr lang="de-DE" baseline="0" dirty="0" err="1"/>
              <a:t>looks</a:t>
            </a:r>
            <a:r>
              <a:rPr lang="de-DE" baseline="0" dirty="0"/>
              <a:t> like </a:t>
            </a:r>
            <a:r>
              <a:rPr lang="de-DE" baseline="0" dirty="0" err="1"/>
              <a:t>this</a:t>
            </a:r>
            <a:r>
              <a:rPr lang="de-DE" baseline="0" dirty="0"/>
              <a:t>: On </a:t>
            </a:r>
            <a:r>
              <a:rPr lang="de-DE" baseline="0" dirty="0" err="1"/>
              <a:t>the</a:t>
            </a:r>
            <a:r>
              <a:rPr lang="de-DE" baseline="0" dirty="0"/>
              <a:t> x-</a:t>
            </a:r>
            <a:r>
              <a:rPr lang="de-DE" baseline="0" dirty="0" err="1"/>
              <a:t>axis</a:t>
            </a:r>
            <a:r>
              <a:rPr lang="de-DE" baseline="0" dirty="0"/>
              <a:t>, </a:t>
            </a:r>
            <a:r>
              <a:rPr lang="de-DE" baseline="0" dirty="0" err="1"/>
              <a:t>there</a:t>
            </a:r>
            <a:r>
              <a:rPr lang="de-DE" baseline="0" dirty="0"/>
              <a:t> </a:t>
            </a:r>
            <a:r>
              <a:rPr lang="de-DE" baseline="0" dirty="0" err="1"/>
              <a:t>is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temporal </a:t>
            </a:r>
            <a:r>
              <a:rPr lang="de-DE" baseline="0" dirty="0" err="1"/>
              <a:t>complexity</a:t>
            </a:r>
            <a:r>
              <a:rPr lang="de-DE" baseline="0" dirty="0"/>
              <a:t>, on </a:t>
            </a:r>
            <a:r>
              <a:rPr lang="de-DE" baseline="0" dirty="0" err="1"/>
              <a:t>the</a:t>
            </a:r>
            <a:r>
              <a:rPr lang="de-DE" baseline="0" dirty="0"/>
              <a:t> y-</a:t>
            </a:r>
            <a:r>
              <a:rPr lang="de-DE" baseline="0" dirty="0" err="1"/>
              <a:t>axis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non-temporal. </a:t>
            </a:r>
            <a:r>
              <a:rPr lang="de-DE" baseline="0" dirty="0" err="1"/>
              <a:t>Workloads</a:t>
            </a:r>
            <a:r>
              <a:rPr lang="de-DE" baseline="0" dirty="0"/>
              <a:t> </a:t>
            </a:r>
            <a:r>
              <a:rPr lang="de-DE" baseline="0" dirty="0" err="1"/>
              <a:t>without</a:t>
            </a:r>
            <a:r>
              <a:rPr lang="de-DE" baseline="0" dirty="0"/>
              <a:t> </a:t>
            </a:r>
            <a:r>
              <a:rPr lang="de-DE" baseline="0" dirty="0" err="1"/>
              <a:t>any</a:t>
            </a:r>
            <a:r>
              <a:rPr lang="de-DE" baseline="0" dirty="0"/>
              <a:t> </a:t>
            </a:r>
            <a:r>
              <a:rPr lang="de-DE" baseline="0" dirty="0" err="1"/>
              <a:t>structure</a:t>
            </a:r>
            <a:r>
              <a:rPr lang="de-DE" baseline="0" dirty="0"/>
              <a:t> end </a:t>
            </a:r>
            <a:r>
              <a:rPr lang="de-DE" baseline="0" dirty="0" err="1"/>
              <a:t>up</a:t>
            </a:r>
            <a:r>
              <a:rPr lang="de-DE" baseline="0" dirty="0"/>
              <a:t> on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upper</a:t>
            </a:r>
            <a:r>
              <a:rPr lang="de-DE" baseline="0" dirty="0"/>
              <a:t> </a:t>
            </a:r>
            <a:r>
              <a:rPr lang="de-DE" baseline="0" dirty="0" err="1"/>
              <a:t>right</a:t>
            </a:r>
            <a:r>
              <a:rPr lang="de-DE" baseline="0" dirty="0"/>
              <a:t>.</a:t>
            </a:r>
            <a:endParaRPr dirty="0"/>
          </a:p>
        </p:txBody>
      </p:sp>
      <p:sp>
        <p:nvSpPr>
          <p:cNvPr id="1680" name="Google Shape;1680;g60be7dcf1c_0_5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55197868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" name="Google Shape;1679;g60be7dcf1c_0_5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believe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an </a:t>
            </a:r>
            <a:r>
              <a:rPr lang="de-DE" dirty="0" err="1"/>
              <a:t>information-theoretic</a:t>
            </a:r>
            <a:r>
              <a:rPr lang="de-DE" baseline="0" dirty="0"/>
              <a:t> </a:t>
            </a:r>
            <a:r>
              <a:rPr lang="de-DE" baseline="0" dirty="0" err="1"/>
              <a:t>approach</a:t>
            </a:r>
            <a:r>
              <a:rPr lang="de-DE" baseline="0" dirty="0"/>
              <a:t> </a:t>
            </a:r>
            <a:r>
              <a:rPr lang="de-DE" baseline="0" dirty="0" err="1"/>
              <a:t>can</a:t>
            </a:r>
            <a:r>
              <a:rPr lang="de-DE" baseline="0" dirty="0"/>
              <a:t> </a:t>
            </a:r>
            <a:r>
              <a:rPr lang="de-DE" baseline="0" dirty="0" err="1"/>
              <a:t>provide</a:t>
            </a:r>
            <a:r>
              <a:rPr lang="de-DE" baseline="0" dirty="0"/>
              <a:t> </a:t>
            </a:r>
            <a:r>
              <a:rPr lang="de-DE" baseline="0" dirty="0" err="1"/>
              <a:t>interesting</a:t>
            </a:r>
            <a:r>
              <a:rPr lang="de-DE" baseline="0" dirty="0"/>
              <a:t> </a:t>
            </a:r>
            <a:r>
              <a:rPr lang="de-DE" baseline="0" dirty="0" err="1"/>
              <a:t>insights</a:t>
            </a:r>
            <a:r>
              <a:rPr lang="de-DE" baseline="0" dirty="0"/>
              <a:t> </a:t>
            </a:r>
            <a:r>
              <a:rPr lang="de-DE" baseline="0" dirty="0" err="1"/>
              <a:t>here</a:t>
            </a:r>
            <a:r>
              <a:rPr lang="de-DE" baseline="0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/>
              <a:t>As a </a:t>
            </a:r>
            <a:r>
              <a:rPr lang="de-DE" baseline="0" dirty="0" err="1"/>
              <a:t>first</a:t>
            </a:r>
            <a:r>
              <a:rPr lang="de-DE" baseline="0" dirty="0"/>
              <a:t> </a:t>
            </a:r>
            <a:r>
              <a:rPr lang="de-DE" baseline="0" dirty="0" err="1"/>
              <a:t>approach</a:t>
            </a:r>
            <a:r>
              <a:rPr lang="de-DE" baseline="0" dirty="0"/>
              <a:t>, </a:t>
            </a:r>
            <a:r>
              <a:rPr lang="de-DE" baseline="0" dirty="0" err="1"/>
              <a:t>we</a:t>
            </a:r>
            <a:r>
              <a:rPr lang="de-DE" baseline="0" dirty="0"/>
              <a:t> </a:t>
            </a:r>
            <a:r>
              <a:rPr lang="de-DE" baseline="0" dirty="0" err="1"/>
              <a:t>have</a:t>
            </a:r>
            <a:r>
              <a:rPr lang="de-DE" baseline="0" dirty="0"/>
              <a:t> </a:t>
            </a:r>
            <a:r>
              <a:rPr lang="de-DE" baseline="0" dirty="0" err="1"/>
              <a:t>used</a:t>
            </a:r>
            <a:r>
              <a:rPr lang="de-DE" baseline="0" dirty="0"/>
              <a:t> iterative </a:t>
            </a:r>
            <a:r>
              <a:rPr lang="de-DE" baseline="0" dirty="0" err="1"/>
              <a:t>randomization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compression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identify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different </a:t>
            </a:r>
            <a:r>
              <a:rPr lang="de-DE" baseline="0" dirty="0" err="1"/>
              <a:t>dimensions</a:t>
            </a:r>
            <a:r>
              <a:rPr lang="de-DE" baseline="0" dirty="0"/>
              <a:t> </a:t>
            </a:r>
            <a:r>
              <a:rPr lang="de-DE" baseline="0" dirty="0" err="1"/>
              <a:t>of</a:t>
            </a:r>
            <a:r>
              <a:rPr lang="de-DE" baseline="0" dirty="0"/>
              <a:t> </a:t>
            </a:r>
            <a:r>
              <a:rPr lang="de-DE" baseline="0" dirty="0" err="1"/>
              <a:t>structure</a:t>
            </a:r>
            <a:r>
              <a:rPr lang="de-DE" baseline="0" dirty="0"/>
              <a:t>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/>
              <a:t>The </a:t>
            </a:r>
            <a:r>
              <a:rPr lang="de-DE" baseline="0" dirty="0" err="1"/>
              <a:t>resulting</a:t>
            </a:r>
            <a:r>
              <a:rPr lang="de-DE" baseline="0" dirty="0"/>
              <a:t> </a:t>
            </a:r>
            <a:r>
              <a:rPr lang="de-DE" baseline="0" dirty="0" err="1"/>
              <a:t>complexity</a:t>
            </a:r>
            <a:r>
              <a:rPr lang="de-DE" baseline="0" dirty="0"/>
              <a:t> </a:t>
            </a:r>
            <a:r>
              <a:rPr lang="de-DE" baseline="0" dirty="0" err="1"/>
              <a:t>map</a:t>
            </a:r>
            <a:r>
              <a:rPr lang="de-DE" baseline="0" dirty="0"/>
              <a:t> </a:t>
            </a:r>
            <a:r>
              <a:rPr lang="de-DE" baseline="0" dirty="0" err="1"/>
              <a:t>looks</a:t>
            </a:r>
            <a:r>
              <a:rPr lang="de-DE" baseline="0" dirty="0"/>
              <a:t> like </a:t>
            </a:r>
            <a:r>
              <a:rPr lang="de-DE" baseline="0" dirty="0" err="1"/>
              <a:t>this</a:t>
            </a:r>
            <a:r>
              <a:rPr lang="de-DE" baseline="0" dirty="0"/>
              <a:t>: On </a:t>
            </a:r>
            <a:r>
              <a:rPr lang="de-DE" baseline="0" dirty="0" err="1"/>
              <a:t>the</a:t>
            </a:r>
            <a:r>
              <a:rPr lang="de-DE" baseline="0" dirty="0"/>
              <a:t> x-</a:t>
            </a:r>
            <a:r>
              <a:rPr lang="de-DE" baseline="0" dirty="0" err="1"/>
              <a:t>axis</a:t>
            </a:r>
            <a:r>
              <a:rPr lang="de-DE" baseline="0" dirty="0"/>
              <a:t>, </a:t>
            </a:r>
            <a:r>
              <a:rPr lang="de-DE" baseline="0" dirty="0" err="1"/>
              <a:t>there</a:t>
            </a:r>
            <a:r>
              <a:rPr lang="de-DE" baseline="0" dirty="0"/>
              <a:t> </a:t>
            </a:r>
            <a:r>
              <a:rPr lang="de-DE" baseline="0" dirty="0" err="1"/>
              <a:t>is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temporal </a:t>
            </a:r>
            <a:r>
              <a:rPr lang="de-DE" baseline="0" dirty="0" err="1"/>
              <a:t>complexity</a:t>
            </a:r>
            <a:r>
              <a:rPr lang="de-DE" baseline="0" dirty="0"/>
              <a:t>, on </a:t>
            </a:r>
            <a:r>
              <a:rPr lang="de-DE" baseline="0" dirty="0" err="1"/>
              <a:t>the</a:t>
            </a:r>
            <a:r>
              <a:rPr lang="de-DE" baseline="0" dirty="0"/>
              <a:t> y-</a:t>
            </a:r>
            <a:r>
              <a:rPr lang="de-DE" baseline="0" dirty="0" err="1"/>
              <a:t>axis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non-temporal. </a:t>
            </a:r>
            <a:r>
              <a:rPr lang="de-DE" baseline="0" dirty="0" err="1"/>
              <a:t>Workloads</a:t>
            </a:r>
            <a:r>
              <a:rPr lang="de-DE" baseline="0" dirty="0"/>
              <a:t> </a:t>
            </a:r>
            <a:r>
              <a:rPr lang="de-DE" baseline="0" dirty="0" err="1"/>
              <a:t>without</a:t>
            </a:r>
            <a:r>
              <a:rPr lang="de-DE" baseline="0" dirty="0"/>
              <a:t> </a:t>
            </a:r>
            <a:r>
              <a:rPr lang="de-DE" baseline="0" dirty="0" err="1"/>
              <a:t>any</a:t>
            </a:r>
            <a:r>
              <a:rPr lang="de-DE" baseline="0" dirty="0"/>
              <a:t> </a:t>
            </a:r>
            <a:r>
              <a:rPr lang="de-DE" baseline="0" dirty="0" err="1"/>
              <a:t>structure</a:t>
            </a:r>
            <a:r>
              <a:rPr lang="de-DE" baseline="0" dirty="0"/>
              <a:t> end </a:t>
            </a:r>
            <a:r>
              <a:rPr lang="de-DE" baseline="0" dirty="0" err="1"/>
              <a:t>up</a:t>
            </a:r>
            <a:r>
              <a:rPr lang="de-DE" baseline="0" dirty="0"/>
              <a:t> on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upper</a:t>
            </a:r>
            <a:r>
              <a:rPr lang="de-DE" baseline="0" dirty="0"/>
              <a:t> </a:t>
            </a:r>
            <a:r>
              <a:rPr lang="de-DE" baseline="0" dirty="0" err="1"/>
              <a:t>right</a:t>
            </a:r>
            <a:r>
              <a:rPr lang="de-DE" baseline="0" dirty="0"/>
              <a:t>.</a:t>
            </a:r>
            <a:endParaRPr dirty="0"/>
          </a:p>
        </p:txBody>
      </p:sp>
      <p:sp>
        <p:nvSpPr>
          <p:cNvPr id="1680" name="Google Shape;1680;g60be7dcf1c_0_5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782514325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" name="Google Shape;1679;g60be7dcf1c_0_5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believe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an </a:t>
            </a:r>
            <a:r>
              <a:rPr lang="de-DE" dirty="0" err="1"/>
              <a:t>information-theoretic</a:t>
            </a:r>
            <a:r>
              <a:rPr lang="de-DE" baseline="0" dirty="0"/>
              <a:t> </a:t>
            </a:r>
            <a:r>
              <a:rPr lang="de-DE" baseline="0" dirty="0" err="1"/>
              <a:t>approach</a:t>
            </a:r>
            <a:r>
              <a:rPr lang="de-DE" baseline="0" dirty="0"/>
              <a:t> </a:t>
            </a:r>
            <a:r>
              <a:rPr lang="de-DE" baseline="0" dirty="0" err="1"/>
              <a:t>can</a:t>
            </a:r>
            <a:r>
              <a:rPr lang="de-DE" baseline="0" dirty="0"/>
              <a:t> </a:t>
            </a:r>
            <a:r>
              <a:rPr lang="de-DE" baseline="0" dirty="0" err="1"/>
              <a:t>provide</a:t>
            </a:r>
            <a:r>
              <a:rPr lang="de-DE" baseline="0" dirty="0"/>
              <a:t> </a:t>
            </a:r>
            <a:r>
              <a:rPr lang="de-DE" baseline="0" dirty="0" err="1"/>
              <a:t>interesting</a:t>
            </a:r>
            <a:r>
              <a:rPr lang="de-DE" baseline="0" dirty="0"/>
              <a:t> </a:t>
            </a:r>
            <a:r>
              <a:rPr lang="de-DE" baseline="0" dirty="0" err="1"/>
              <a:t>insights</a:t>
            </a:r>
            <a:r>
              <a:rPr lang="de-DE" baseline="0" dirty="0"/>
              <a:t> </a:t>
            </a:r>
            <a:r>
              <a:rPr lang="de-DE" baseline="0" dirty="0" err="1"/>
              <a:t>here</a:t>
            </a:r>
            <a:r>
              <a:rPr lang="de-DE" baseline="0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/>
              <a:t>As a </a:t>
            </a:r>
            <a:r>
              <a:rPr lang="de-DE" baseline="0" dirty="0" err="1"/>
              <a:t>first</a:t>
            </a:r>
            <a:r>
              <a:rPr lang="de-DE" baseline="0" dirty="0"/>
              <a:t> </a:t>
            </a:r>
            <a:r>
              <a:rPr lang="de-DE" baseline="0" dirty="0" err="1"/>
              <a:t>approach</a:t>
            </a:r>
            <a:r>
              <a:rPr lang="de-DE" baseline="0" dirty="0"/>
              <a:t>, </a:t>
            </a:r>
            <a:r>
              <a:rPr lang="de-DE" baseline="0" dirty="0" err="1"/>
              <a:t>we</a:t>
            </a:r>
            <a:r>
              <a:rPr lang="de-DE" baseline="0" dirty="0"/>
              <a:t> </a:t>
            </a:r>
            <a:r>
              <a:rPr lang="de-DE" baseline="0" dirty="0" err="1"/>
              <a:t>have</a:t>
            </a:r>
            <a:r>
              <a:rPr lang="de-DE" baseline="0" dirty="0"/>
              <a:t> </a:t>
            </a:r>
            <a:r>
              <a:rPr lang="de-DE" baseline="0" dirty="0" err="1"/>
              <a:t>used</a:t>
            </a:r>
            <a:r>
              <a:rPr lang="de-DE" baseline="0" dirty="0"/>
              <a:t> iterative </a:t>
            </a:r>
            <a:r>
              <a:rPr lang="de-DE" baseline="0" dirty="0" err="1"/>
              <a:t>randomization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compression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identify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different </a:t>
            </a:r>
            <a:r>
              <a:rPr lang="de-DE" baseline="0" dirty="0" err="1"/>
              <a:t>dimensions</a:t>
            </a:r>
            <a:r>
              <a:rPr lang="de-DE" baseline="0" dirty="0"/>
              <a:t> </a:t>
            </a:r>
            <a:r>
              <a:rPr lang="de-DE" baseline="0" dirty="0" err="1"/>
              <a:t>of</a:t>
            </a:r>
            <a:r>
              <a:rPr lang="de-DE" baseline="0" dirty="0"/>
              <a:t> </a:t>
            </a:r>
            <a:r>
              <a:rPr lang="de-DE" baseline="0" dirty="0" err="1"/>
              <a:t>structure</a:t>
            </a:r>
            <a:r>
              <a:rPr lang="de-DE" baseline="0" dirty="0"/>
              <a:t>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/>
              <a:t>The </a:t>
            </a:r>
            <a:r>
              <a:rPr lang="de-DE" baseline="0" dirty="0" err="1"/>
              <a:t>resulting</a:t>
            </a:r>
            <a:r>
              <a:rPr lang="de-DE" baseline="0" dirty="0"/>
              <a:t> </a:t>
            </a:r>
            <a:r>
              <a:rPr lang="de-DE" baseline="0" dirty="0" err="1"/>
              <a:t>complexity</a:t>
            </a:r>
            <a:r>
              <a:rPr lang="de-DE" baseline="0" dirty="0"/>
              <a:t> </a:t>
            </a:r>
            <a:r>
              <a:rPr lang="de-DE" baseline="0" dirty="0" err="1"/>
              <a:t>map</a:t>
            </a:r>
            <a:r>
              <a:rPr lang="de-DE" baseline="0" dirty="0"/>
              <a:t> </a:t>
            </a:r>
            <a:r>
              <a:rPr lang="de-DE" baseline="0" dirty="0" err="1"/>
              <a:t>looks</a:t>
            </a:r>
            <a:r>
              <a:rPr lang="de-DE" baseline="0" dirty="0"/>
              <a:t> like </a:t>
            </a:r>
            <a:r>
              <a:rPr lang="de-DE" baseline="0" dirty="0" err="1"/>
              <a:t>this</a:t>
            </a:r>
            <a:r>
              <a:rPr lang="de-DE" baseline="0" dirty="0"/>
              <a:t>: On </a:t>
            </a:r>
            <a:r>
              <a:rPr lang="de-DE" baseline="0" dirty="0" err="1"/>
              <a:t>the</a:t>
            </a:r>
            <a:r>
              <a:rPr lang="de-DE" baseline="0" dirty="0"/>
              <a:t> x-</a:t>
            </a:r>
            <a:r>
              <a:rPr lang="de-DE" baseline="0" dirty="0" err="1"/>
              <a:t>axis</a:t>
            </a:r>
            <a:r>
              <a:rPr lang="de-DE" baseline="0" dirty="0"/>
              <a:t>, </a:t>
            </a:r>
            <a:r>
              <a:rPr lang="de-DE" baseline="0" dirty="0" err="1"/>
              <a:t>there</a:t>
            </a:r>
            <a:r>
              <a:rPr lang="de-DE" baseline="0" dirty="0"/>
              <a:t> </a:t>
            </a:r>
            <a:r>
              <a:rPr lang="de-DE" baseline="0" dirty="0" err="1"/>
              <a:t>is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temporal </a:t>
            </a:r>
            <a:r>
              <a:rPr lang="de-DE" baseline="0" dirty="0" err="1"/>
              <a:t>complexity</a:t>
            </a:r>
            <a:r>
              <a:rPr lang="de-DE" baseline="0" dirty="0"/>
              <a:t>, on </a:t>
            </a:r>
            <a:r>
              <a:rPr lang="de-DE" baseline="0" dirty="0" err="1"/>
              <a:t>the</a:t>
            </a:r>
            <a:r>
              <a:rPr lang="de-DE" baseline="0" dirty="0"/>
              <a:t> y-</a:t>
            </a:r>
            <a:r>
              <a:rPr lang="de-DE" baseline="0" dirty="0" err="1"/>
              <a:t>axis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non-temporal. </a:t>
            </a:r>
            <a:r>
              <a:rPr lang="de-DE" baseline="0" dirty="0" err="1"/>
              <a:t>Workloads</a:t>
            </a:r>
            <a:r>
              <a:rPr lang="de-DE" baseline="0" dirty="0"/>
              <a:t> </a:t>
            </a:r>
            <a:r>
              <a:rPr lang="de-DE" baseline="0" dirty="0" err="1"/>
              <a:t>without</a:t>
            </a:r>
            <a:r>
              <a:rPr lang="de-DE" baseline="0" dirty="0"/>
              <a:t> </a:t>
            </a:r>
            <a:r>
              <a:rPr lang="de-DE" baseline="0" dirty="0" err="1"/>
              <a:t>any</a:t>
            </a:r>
            <a:r>
              <a:rPr lang="de-DE" baseline="0" dirty="0"/>
              <a:t> </a:t>
            </a:r>
            <a:r>
              <a:rPr lang="de-DE" baseline="0" dirty="0" err="1"/>
              <a:t>structure</a:t>
            </a:r>
            <a:r>
              <a:rPr lang="de-DE" baseline="0" dirty="0"/>
              <a:t> end </a:t>
            </a:r>
            <a:r>
              <a:rPr lang="de-DE" baseline="0" dirty="0" err="1"/>
              <a:t>up</a:t>
            </a:r>
            <a:r>
              <a:rPr lang="de-DE" baseline="0" dirty="0"/>
              <a:t> on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upper</a:t>
            </a:r>
            <a:r>
              <a:rPr lang="de-DE" baseline="0" dirty="0"/>
              <a:t> </a:t>
            </a:r>
            <a:r>
              <a:rPr lang="de-DE" baseline="0" dirty="0" err="1"/>
              <a:t>right</a:t>
            </a:r>
            <a:r>
              <a:rPr lang="de-DE" baseline="0" dirty="0"/>
              <a:t>.</a:t>
            </a:r>
            <a:endParaRPr dirty="0"/>
          </a:p>
        </p:txBody>
      </p:sp>
      <p:sp>
        <p:nvSpPr>
          <p:cNvPr id="1680" name="Google Shape;1680;g60be7dcf1c_0_5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097413218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" name="Google Shape;1679;g60be7dcf1c_0_5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believe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an </a:t>
            </a:r>
            <a:r>
              <a:rPr lang="de-DE" dirty="0" err="1"/>
              <a:t>information-theoretic</a:t>
            </a:r>
            <a:r>
              <a:rPr lang="de-DE" baseline="0" dirty="0"/>
              <a:t> </a:t>
            </a:r>
            <a:r>
              <a:rPr lang="de-DE" baseline="0" dirty="0" err="1"/>
              <a:t>approach</a:t>
            </a:r>
            <a:r>
              <a:rPr lang="de-DE" baseline="0" dirty="0"/>
              <a:t> </a:t>
            </a:r>
            <a:r>
              <a:rPr lang="de-DE" baseline="0" dirty="0" err="1"/>
              <a:t>can</a:t>
            </a:r>
            <a:r>
              <a:rPr lang="de-DE" baseline="0" dirty="0"/>
              <a:t> </a:t>
            </a:r>
            <a:r>
              <a:rPr lang="de-DE" baseline="0" dirty="0" err="1"/>
              <a:t>provide</a:t>
            </a:r>
            <a:r>
              <a:rPr lang="de-DE" baseline="0" dirty="0"/>
              <a:t> </a:t>
            </a:r>
            <a:r>
              <a:rPr lang="de-DE" baseline="0" dirty="0" err="1"/>
              <a:t>interesting</a:t>
            </a:r>
            <a:r>
              <a:rPr lang="de-DE" baseline="0" dirty="0"/>
              <a:t> </a:t>
            </a:r>
            <a:r>
              <a:rPr lang="de-DE" baseline="0" dirty="0" err="1"/>
              <a:t>insights</a:t>
            </a:r>
            <a:r>
              <a:rPr lang="de-DE" baseline="0" dirty="0"/>
              <a:t> </a:t>
            </a:r>
            <a:r>
              <a:rPr lang="de-DE" baseline="0" dirty="0" err="1"/>
              <a:t>here</a:t>
            </a:r>
            <a:r>
              <a:rPr lang="de-DE" baseline="0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/>
              <a:t>As a </a:t>
            </a:r>
            <a:r>
              <a:rPr lang="de-DE" baseline="0" dirty="0" err="1"/>
              <a:t>first</a:t>
            </a:r>
            <a:r>
              <a:rPr lang="de-DE" baseline="0" dirty="0"/>
              <a:t> </a:t>
            </a:r>
            <a:r>
              <a:rPr lang="de-DE" baseline="0" dirty="0" err="1"/>
              <a:t>approach</a:t>
            </a:r>
            <a:r>
              <a:rPr lang="de-DE" baseline="0" dirty="0"/>
              <a:t>, </a:t>
            </a:r>
            <a:r>
              <a:rPr lang="de-DE" baseline="0" dirty="0" err="1"/>
              <a:t>we</a:t>
            </a:r>
            <a:r>
              <a:rPr lang="de-DE" baseline="0" dirty="0"/>
              <a:t> </a:t>
            </a:r>
            <a:r>
              <a:rPr lang="de-DE" baseline="0" dirty="0" err="1"/>
              <a:t>have</a:t>
            </a:r>
            <a:r>
              <a:rPr lang="de-DE" baseline="0" dirty="0"/>
              <a:t> </a:t>
            </a:r>
            <a:r>
              <a:rPr lang="de-DE" baseline="0" dirty="0" err="1"/>
              <a:t>used</a:t>
            </a:r>
            <a:r>
              <a:rPr lang="de-DE" baseline="0" dirty="0"/>
              <a:t> iterative </a:t>
            </a:r>
            <a:r>
              <a:rPr lang="de-DE" baseline="0" dirty="0" err="1"/>
              <a:t>randomization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compression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identify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different </a:t>
            </a:r>
            <a:r>
              <a:rPr lang="de-DE" baseline="0" dirty="0" err="1"/>
              <a:t>dimensions</a:t>
            </a:r>
            <a:r>
              <a:rPr lang="de-DE" baseline="0" dirty="0"/>
              <a:t> </a:t>
            </a:r>
            <a:r>
              <a:rPr lang="de-DE" baseline="0" dirty="0" err="1"/>
              <a:t>of</a:t>
            </a:r>
            <a:r>
              <a:rPr lang="de-DE" baseline="0" dirty="0"/>
              <a:t> </a:t>
            </a:r>
            <a:r>
              <a:rPr lang="de-DE" baseline="0" dirty="0" err="1"/>
              <a:t>structure</a:t>
            </a:r>
            <a:r>
              <a:rPr lang="de-DE" baseline="0" dirty="0"/>
              <a:t>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/>
              <a:t>The </a:t>
            </a:r>
            <a:r>
              <a:rPr lang="de-DE" baseline="0" dirty="0" err="1"/>
              <a:t>resulting</a:t>
            </a:r>
            <a:r>
              <a:rPr lang="de-DE" baseline="0" dirty="0"/>
              <a:t> </a:t>
            </a:r>
            <a:r>
              <a:rPr lang="de-DE" baseline="0" dirty="0" err="1"/>
              <a:t>complexity</a:t>
            </a:r>
            <a:r>
              <a:rPr lang="de-DE" baseline="0" dirty="0"/>
              <a:t> </a:t>
            </a:r>
            <a:r>
              <a:rPr lang="de-DE" baseline="0" dirty="0" err="1"/>
              <a:t>map</a:t>
            </a:r>
            <a:r>
              <a:rPr lang="de-DE" baseline="0" dirty="0"/>
              <a:t> </a:t>
            </a:r>
            <a:r>
              <a:rPr lang="de-DE" baseline="0" dirty="0" err="1"/>
              <a:t>looks</a:t>
            </a:r>
            <a:r>
              <a:rPr lang="de-DE" baseline="0" dirty="0"/>
              <a:t> like </a:t>
            </a:r>
            <a:r>
              <a:rPr lang="de-DE" baseline="0" dirty="0" err="1"/>
              <a:t>this</a:t>
            </a:r>
            <a:r>
              <a:rPr lang="de-DE" baseline="0" dirty="0"/>
              <a:t>: On </a:t>
            </a:r>
            <a:r>
              <a:rPr lang="de-DE" baseline="0" dirty="0" err="1"/>
              <a:t>the</a:t>
            </a:r>
            <a:r>
              <a:rPr lang="de-DE" baseline="0" dirty="0"/>
              <a:t> x-</a:t>
            </a:r>
            <a:r>
              <a:rPr lang="de-DE" baseline="0" dirty="0" err="1"/>
              <a:t>axis</a:t>
            </a:r>
            <a:r>
              <a:rPr lang="de-DE" baseline="0" dirty="0"/>
              <a:t>, </a:t>
            </a:r>
            <a:r>
              <a:rPr lang="de-DE" baseline="0" dirty="0" err="1"/>
              <a:t>there</a:t>
            </a:r>
            <a:r>
              <a:rPr lang="de-DE" baseline="0" dirty="0"/>
              <a:t> </a:t>
            </a:r>
            <a:r>
              <a:rPr lang="de-DE" baseline="0" dirty="0" err="1"/>
              <a:t>is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temporal </a:t>
            </a:r>
            <a:r>
              <a:rPr lang="de-DE" baseline="0" dirty="0" err="1"/>
              <a:t>complexity</a:t>
            </a:r>
            <a:r>
              <a:rPr lang="de-DE" baseline="0" dirty="0"/>
              <a:t>, on </a:t>
            </a:r>
            <a:r>
              <a:rPr lang="de-DE" baseline="0" dirty="0" err="1"/>
              <a:t>the</a:t>
            </a:r>
            <a:r>
              <a:rPr lang="de-DE" baseline="0" dirty="0"/>
              <a:t> y-</a:t>
            </a:r>
            <a:r>
              <a:rPr lang="de-DE" baseline="0" dirty="0" err="1"/>
              <a:t>axis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non-temporal. </a:t>
            </a:r>
            <a:r>
              <a:rPr lang="de-DE" baseline="0" dirty="0" err="1"/>
              <a:t>Workloads</a:t>
            </a:r>
            <a:r>
              <a:rPr lang="de-DE" baseline="0" dirty="0"/>
              <a:t> </a:t>
            </a:r>
            <a:r>
              <a:rPr lang="de-DE" baseline="0" dirty="0" err="1"/>
              <a:t>without</a:t>
            </a:r>
            <a:r>
              <a:rPr lang="de-DE" baseline="0" dirty="0"/>
              <a:t> </a:t>
            </a:r>
            <a:r>
              <a:rPr lang="de-DE" baseline="0" dirty="0" err="1"/>
              <a:t>any</a:t>
            </a:r>
            <a:r>
              <a:rPr lang="de-DE" baseline="0" dirty="0"/>
              <a:t> </a:t>
            </a:r>
            <a:r>
              <a:rPr lang="de-DE" baseline="0" dirty="0" err="1"/>
              <a:t>structure</a:t>
            </a:r>
            <a:r>
              <a:rPr lang="de-DE" baseline="0" dirty="0"/>
              <a:t> end </a:t>
            </a:r>
            <a:r>
              <a:rPr lang="de-DE" baseline="0" dirty="0" err="1"/>
              <a:t>up</a:t>
            </a:r>
            <a:r>
              <a:rPr lang="de-DE" baseline="0" dirty="0"/>
              <a:t> on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upper</a:t>
            </a:r>
            <a:r>
              <a:rPr lang="de-DE" baseline="0" dirty="0"/>
              <a:t> </a:t>
            </a:r>
            <a:r>
              <a:rPr lang="de-DE" baseline="0" dirty="0" err="1"/>
              <a:t>right</a:t>
            </a:r>
            <a:r>
              <a:rPr lang="de-DE" baseline="0" dirty="0"/>
              <a:t>.</a:t>
            </a:r>
            <a:endParaRPr dirty="0"/>
          </a:p>
        </p:txBody>
      </p:sp>
      <p:sp>
        <p:nvSpPr>
          <p:cNvPr id="1680" name="Google Shape;1680;g60be7dcf1c_0_5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82524127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" name="Google Shape;1679;g60be7dcf1c_0_5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believe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an </a:t>
            </a:r>
            <a:r>
              <a:rPr lang="de-DE" dirty="0" err="1"/>
              <a:t>information-theoretic</a:t>
            </a:r>
            <a:r>
              <a:rPr lang="de-DE" baseline="0" dirty="0"/>
              <a:t> </a:t>
            </a:r>
            <a:r>
              <a:rPr lang="de-DE" baseline="0" dirty="0" err="1"/>
              <a:t>approach</a:t>
            </a:r>
            <a:r>
              <a:rPr lang="de-DE" baseline="0" dirty="0"/>
              <a:t> </a:t>
            </a:r>
            <a:r>
              <a:rPr lang="de-DE" baseline="0" dirty="0" err="1"/>
              <a:t>can</a:t>
            </a:r>
            <a:r>
              <a:rPr lang="de-DE" baseline="0" dirty="0"/>
              <a:t> </a:t>
            </a:r>
            <a:r>
              <a:rPr lang="de-DE" baseline="0" dirty="0" err="1"/>
              <a:t>provide</a:t>
            </a:r>
            <a:r>
              <a:rPr lang="de-DE" baseline="0" dirty="0"/>
              <a:t> </a:t>
            </a:r>
            <a:r>
              <a:rPr lang="de-DE" baseline="0" dirty="0" err="1"/>
              <a:t>interesting</a:t>
            </a:r>
            <a:r>
              <a:rPr lang="de-DE" baseline="0" dirty="0"/>
              <a:t> </a:t>
            </a:r>
            <a:r>
              <a:rPr lang="de-DE" baseline="0" dirty="0" err="1"/>
              <a:t>insights</a:t>
            </a:r>
            <a:r>
              <a:rPr lang="de-DE" baseline="0" dirty="0"/>
              <a:t> </a:t>
            </a:r>
            <a:r>
              <a:rPr lang="de-DE" baseline="0" dirty="0" err="1"/>
              <a:t>here</a:t>
            </a:r>
            <a:r>
              <a:rPr lang="de-DE" baseline="0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/>
              <a:t>As a </a:t>
            </a:r>
            <a:r>
              <a:rPr lang="de-DE" baseline="0" dirty="0" err="1"/>
              <a:t>first</a:t>
            </a:r>
            <a:r>
              <a:rPr lang="de-DE" baseline="0" dirty="0"/>
              <a:t> </a:t>
            </a:r>
            <a:r>
              <a:rPr lang="de-DE" baseline="0" dirty="0" err="1"/>
              <a:t>approach</a:t>
            </a:r>
            <a:r>
              <a:rPr lang="de-DE" baseline="0" dirty="0"/>
              <a:t>, </a:t>
            </a:r>
            <a:r>
              <a:rPr lang="de-DE" baseline="0" dirty="0" err="1"/>
              <a:t>we</a:t>
            </a:r>
            <a:r>
              <a:rPr lang="de-DE" baseline="0" dirty="0"/>
              <a:t> </a:t>
            </a:r>
            <a:r>
              <a:rPr lang="de-DE" baseline="0" dirty="0" err="1"/>
              <a:t>have</a:t>
            </a:r>
            <a:r>
              <a:rPr lang="de-DE" baseline="0" dirty="0"/>
              <a:t> </a:t>
            </a:r>
            <a:r>
              <a:rPr lang="de-DE" baseline="0" dirty="0" err="1"/>
              <a:t>used</a:t>
            </a:r>
            <a:r>
              <a:rPr lang="de-DE" baseline="0" dirty="0"/>
              <a:t> iterative </a:t>
            </a:r>
            <a:r>
              <a:rPr lang="de-DE" baseline="0" dirty="0" err="1"/>
              <a:t>randomization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compression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identify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different </a:t>
            </a:r>
            <a:r>
              <a:rPr lang="de-DE" baseline="0" dirty="0" err="1"/>
              <a:t>dimensions</a:t>
            </a:r>
            <a:r>
              <a:rPr lang="de-DE" baseline="0" dirty="0"/>
              <a:t> </a:t>
            </a:r>
            <a:r>
              <a:rPr lang="de-DE" baseline="0" dirty="0" err="1"/>
              <a:t>of</a:t>
            </a:r>
            <a:r>
              <a:rPr lang="de-DE" baseline="0" dirty="0"/>
              <a:t> </a:t>
            </a:r>
            <a:r>
              <a:rPr lang="de-DE" baseline="0" dirty="0" err="1"/>
              <a:t>structure</a:t>
            </a:r>
            <a:r>
              <a:rPr lang="de-DE" baseline="0" dirty="0"/>
              <a:t>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/>
              <a:t>The </a:t>
            </a:r>
            <a:r>
              <a:rPr lang="de-DE" baseline="0" dirty="0" err="1"/>
              <a:t>resulting</a:t>
            </a:r>
            <a:r>
              <a:rPr lang="de-DE" baseline="0" dirty="0"/>
              <a:t> </a:t>
            </a:r>
            <a:r>
              <a:rPr lang="de-DE" baseline="0" dirty="0" err="1"/>
              <a:t>complexity</a:t>
            </a:r>
            <a:r>
              <a:rPr lang="de-DE" baseline="0" dirty="0"/>
              <a:t> </a:t>
            </a:r>
            <a:r>
              <a:rPr lang="de-DE" baseline="0" dirty="0" err="1"/>
              <a:t>map</a:t>
            </a:r>
            <a:r>
              <a:rPr lang="de-DE" baseline="0" dirty="0"/>
              <a:t> </a:t>
            </a:r>
            <a:r>
              <a:rPr lang="de-DE" baseline="0" dirty="0" err="1"/>
              <a:t>looks</a:t>
            </a:r>
            <a:r>
              <a:rPr lang="de-DE" baseline="0" dirty="0"/>
              <a:t> like </a:t>
            </a:r>
            <a:r>
              <a:rPr lang="de-DE" baseline="0" dirty="0" err="1"/>
              <a:t>this</a:t>
            </a:r>
            <a:r>
              <a:rPr lang="de-DE" baseline="0" dirty="0"/>
              <a:t>: On </a:t>
            </a:r>
            <a:r>
              <a:rPr lang="de-DE" baseline="0" dirty="0" err="1"/>
              <a:t>the</a:t>
            </a:r>
            <a:r>
              <a:rPr lang="de-DE" baseline="0" dirty="0"/>
              <a:t> x-</a:t>
            </a:r>
            <a:r>
              <a:rPr lang="de-DE" baseline="0" dirty="0" err="1"/>
              <a:t>axis</a:t>
            </a:r>
            <a:r>
              <a:rPr lang="de-DE" baseline="0" dirty="0"/>
              <a:t>, </a:t>
            </a:r>
            <a:r>
              <a:rPr lang="de-DE" baseline="0" dirty="0" err="1"/>
              <a:t>there</a:t>
            </a:r>
            <a:r>
              <a:rPr lang="de-DE" baseline="0" dirty="0"/>
              <a:t> </a:t>
            </a:r>
            <a:r>
              <a:rPr lang="de-DE" baseline="0" dirty="0" err="1"/>
              <a:t>is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temporal </a:t>
            </a:r>
            <a:r>
              <a:rPr lang="de-DE" baseline="0" dirty="0" err="1"/>
              <a:t>complexity</a:t>
            </a:r>
            <a:r>
              <a:rPr lang="de-DE" baseline="0" dirty="0"/>
              <a:t>, on </a:t>
            </a:r>
            <a:r>
              <a:rPr lang="de-DE" baseline="0" dirty="0" err="1"/>
              <a:t>the</a:t>
            </a:r>
            <a:r>
              <a:rPr lang="de-DE" baseline="0" dirty="0"/>
              <a:t> y-</a:t>
            </a:r>
            <a:r>
              <a:rPr lang="de-DE" baseline="0" dirty="0" err="1"/>
              <a:t>axis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non-temporal. </a:t>
            </a:r>
            <a:r>
              <a:rPr lang="de-DE" baseline="0" dirty="0" err="1"/>
              <a:t>Workloads</a:t>
            </a:r>
            <a:r>
              <a:rPr lang="de-DE" baseline="0" dirty="0"/>
              <a:t> </a:t>
            </a:r>
            <a:r>
              <a:rPr lang="de-DE" baseline="0" dirty="0" err="1"/>
              <a:t>without</a:t>
            </a:r>
            <a:r>
              <a:rPr lang="de-DE" baseline="0" dirty="0"/>
              <a:t> </a:t>
            </a:r>
            <a:r>
              <a:rPr lang="de-DE" baseline="0" dirty="0" err="1"/>
              <a:t>any</a:t>
            </a:r>
            <a:r>
              <a:rPr lang="de-DE" baseline="0" dirty="0"/>
              <a:t> </a:t>
            </a:r>
            <a:r>
              <a:rPr lang="de-DE" baseline="0" dirty="0" err="1"/>
              <a:t>structure</a:t>
            </a:r>
            <a:r>
              <a:rPr lang="de-DE" baseline="0" dirty="0"/>
              <a:t> end </a:t>
            </a:r>
            <a:r>
              <a:rPr lang="de-DE" baseline="0" dirty="0" err="1"/>
              <a:t>up</a:t>
            </a:r>
            <a:r>
              <a:rPr lang="de-DE" baseline="0" dirty="0"/>
              <a:t> on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upper</a:t>
            </a:r>
            <a:r>
              <a:rPr lang="de-DE" baseline="0" dirty="0"/>
              <a:t> </a:t>
            </a:r>
            <a:r>
              <a:rPr lang="de-DE" baseline="0" dirty="0" err="1"/>
              <a:t>right</a:t>
            </a:r>
            <a:r>
              <a:rPr lang="de-DE" baseline="0" dirty="0"/>
              <a:t>.</a:t>
            </a:r>
            <a:endParaRPr dirty="0"/>
          </a:p>
        </p:txBody>
      </p:sp>
      <p:sp>
        <p:nvSpPr>
          <p:cNvPr id="1680" name="Google Shape;1680;g60be7dcf1c_0_5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711515225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" name="Google Shape;1679;g60be7dcf1c_0_5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believe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an </a:t>
            </a:r>
            <a:r>
              <a:rPr lang="de-DE" dirty="0" err="1"/>
              <a:t>information-theoretic</a:t>
            </a:r>
            <a:r>
              <a:rPr lang="de-DE" baseline="0" dirty="0"/>
              <a:t> </a:t>
            </a:r>
            <a:r>
              <a:rPr lang="de-DE" baseline="0" dirty="0" err="1"/>
              <a:t>approach</a:t>
            </a:r>
            <a:r>
              <a:rPr lang="de-DE" baseline="0" dirty="0"/>
              <a:t> </a:t>
            </a:r>
            <a:r>
              <a:rPr lang="de-DE" baseline="0" dirty="0" err="1"/>
              <a:t>can</a:t>
            </a:r>
            <a:r>
              <a:rPr lang="de-DE" baseline="0" dirty="0"/>
              <a:t> </a:t>
            </a:r>
            <a:r>
              <a:rPr lang="de-DE" baseline="0" dirty="0" err="1"/>
              <a:t>provide</a:t>
            </a:r>
            <a:r>
              <a:rPr lang="de-DE" baseline="0" dirty="0"/>
              <a:t> </a:t>
            </a:r>
            <a:r>
              <a:rPr lang="de-DE" baseline="0" dirty="0" err="1"/>
              <a:t>interesting</a:t>
            </a:r>
            <a:r>
              <a:rPr lang="de-DE" baseline="0" dirty="0"/>
              <a:t> </a:t>
            </a:r>
            <a:r>
              <a:rPr lang="de-DE" baseline="0" dirty="0" err="1"/>
              <a:t>insights</a:t>
            </a:r>
            <a:r>
              <a:rPr lang="de-DE" baseline="0" dirty="0"/>
              <a:t> </a:t>
            </a:r>
            <a:r>
              <a:rPr lang="de-DE" baseline="0" dirty="0" err="1"/>
              <a:t>here</a:t>
            </a:r>
            <a:r>
              <a:rPr lang="de-DE" baseline="0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/>
              <a:t>As a </a:t>
            </a:r>
            <a:r>
              <a:rPr lang="de-DE" baseline="0" dirty="0" err="1"/>
              <a:t>first</a:t>
            </a:r>
            <a:r>
              <a:rPr lang="de-DE" baseline="0" dirty="0"/>
              <a:t> </a:t>
            </a:r>
            <a:r>
              <a:rPr lang="de-DE" baseline="0" dirty="0" err="1"/>
              <a:t>approach</a:t>
            </a:r>
            <a:r>
              <a:rPr lang="de-DE" baseline="0" dirty="0"/>
              <a:t>, </a:t>
            </a:r>
            <a:r>
              <a:rPr lang="de-DE" baseline="0" dirty="0" err="1"/>
              <a:t>we</a:t>
            </a:r>
            <a:r>
              <a:rPr lang="de-DE" baseline="0" dirty="0"/>
              <a:t> </a:t>
            </a:r>
            <a:r>
              <a:rPr lang="de-DE" baseline="0" dirty="0" err="1"/>
              <a:t>have</a:t>
            </a:r>
            <a:r>
              <a:rPr lang="de-DE" baseline="0" dirty="0"/>
              <a:t> </a:t>
            </a:r>
            <a:r>
              <a:rPr lang="de-DE" baseline="0" dirty="0" err="1"/>
              <a:t>used</a:t>
            </a:r>
            <a:r>
              <a:rPr lang="de-DE" baseline="0" dirty="0"/>
              <a:t> iterative </a:t>
            </a:r>
            <a:r>
              <a:rPr lang="de-DE" baseline="0" dirty="0" err="1"/>
              <a:t>randomization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compression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identify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different </a:t>
            </a:r>
            <a:r>
              <a:rPr lang="de-DE" baseline="0" dirty="0" err="1"/>
              <a:t>dimensions</a:t>
            </a:r>
            <a:r>
              <a:rPr lang="de-DE" baseline="0" dirty="0"/>
              <a:t> </a:t>
            </a:r>
            <a:r>
              <a:rPr lang="de-DE" baseline="0" dirty="0" err="1"/>
              <a:t>of</a:t>
            </a:r>
            <a:r>
              <a:rPr lang="de-DE" baseline="0" dirty="0"/>
              <a:t> </a:t>
            </a:r>
            <a:r>
              <a:rPr lang="de-DE" baseline="0" dirty="0" err="1"/>
              <a:t>structure</a:t>
            </a:r>
            <a:r>
              <a:rPr lang="de-DE" baseline="0" dirty="0"/>
              <a:t>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/>
              <a:t>The </a:t>
            </a:r>
            <a:r>
              <a:rPr lang="de-DE" baseline="0" dirty="0" err="1"/>
              <a:t>resulting</a:t>
            </a:r>
            <a:r>
              <a:rPr lang="de-DE" baseline="0" dirty="0"/>
              <a:t> </a:t>
            </a:r>
            <a:r>
              <a:rPr lang="de-DE" baseline="0" dirty="0" err="1"/>
              <a:t>complexity</a:t>
            </a:r>
            <a:r>
              <a:rPr lang="de-DE" baseline="0" dirty="0"/>
              <a:t> </a:t>
            </a:r>
            <a:r>
              <a:rPr lang="de-DE" baseline="0" dirty="0" err="1"/>
              <a:t>map</a:t>
            </a:r>
            <a:r>
              <a:rPr lang="de-DE" baseline="0" dirty="0"/>
              <a:t> </a:t>
            </a:r>
            <a:r>
              <a:rPr lang="de-DE" baseline="0" dirty="0" err="1"/>
              <a:t>looks</a:t>
            </a:r>
            <a:r>
              <a:rPr lang="de-DE" baseline="0" dirty="0"/>
              <a:t> like </a:t>
            </a:r>
            <a:r>
              <a:rPr lang="de-DE" baseline="0" dirty="0" err="1"/>
              <a:t>this</a:t>
            </a:r>
            <a:r>
              <a:rPr lang="de-DE" baseline="0" dirty="0"/>
              <a:t>: On </a:t>
            </a:r>
            <a:r>
              <a:rPr lang="de-DE" baseline="0" dirty="0" err="1"/>
              <a:t>the</a:t>
            </a:r>
            <a:r>
              <a:rPr lang="de-DE" baseline="0" dirty="0"/>
              <a:t> x-</a:t>
            </a:r>
            <a:r>
              <a:rPr lang="de-DE" baseline="0" dirty="0" err="1"/>
              <a:t>axis</a:t>
            </a:r>
            <a:r>
              <a:rPr lang="de-DE" baseline="0" dirty="0"/>
              <a:t>, </a:t>
            </a:r>
            <a:r>
              <a:rPr lang="de-DE" baseline="0" dirty="0" err="1"/>
              <a:t>there</a:t>
            </a:r>
            <a:r>
              <a:rPr lang="de-DE" baseline="0" dirty="0"/>
              <a:t> </a:t>
            </a:r>
            <a:r>
              <a:rPr lang="de-DE" baseline="0" dirty="0" err="1"/>
              <a:t>is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temporal </a:t>
            </a:r>
            <a:r>
              <a:rPr lang="de-DE" baseline="0" dirty="0" err="1"/>
              <a:t>complexity</a:t>
            </a:r>
            <a:r>
              <a:rPr lang="de-DE" baseline="0" dirty="0"/>
              <a:t>, on </a:t>
            </a:r>
            <a:r>
              <a:rPr lang="de-DE" baseline="0" dirty="0" err="1"/>
              <a:t>the</a:t>
            </a:r>
            <a:r>
              <a:rPr lang="de-DE" baseline="0" dirty="0"/>
              <a:t> y-</a:t>
            </a:r>
            <a:r>
              <a:rPr lang="de-DE" baseline="0" dirty="0" err="1"/>
              <a:t>axis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non-temporal. </a:t>
            </a:r>
            <a:r>
              <a:rPr lang="de-DE" baseline="0" dirty="0" err="1"/>
              <a:t>Workloads</a:t>
            </a:r>
            <a:r>
              <a:rPr lang="de-DE" baseline="0" dirty="0"/>
              <a:t> </a:t>
            </a:r>
            <a:r>
              <a:rPr lang="de-DE" baseline="0" dirty="0" err="1"/>
              <a:t>without</a:t>
            </a:r>
            <a:r>
              <a:rPr lang="de-DE" baseline="0" dirty="0"/>
              <a:t> </a:t>
            </a:r>
            <a:r>
              <a:rPr lang="de-DE" baseline="0" dirty="0" err="1"/>
              <a:t>any</a:t>
            </a:r>
            <a:r>
              <a:rPr lang="de-DE" baseline="0" dirty="0"/>
              <a:t> </a:t>
            </a:r>
            <a:r>
              <a:rPr lang="de-DE" baseline="0" dirty="0" err="1"/>
              <a:t>structure</a:t>
            </a:r>
            <a:r>
              <a:rPr lang="de-DE" baseline="0" dirty="0"/>
              <a:t> end </a:t>
            </a:r>
            <a:r>
              <a:rPr lang="de-DE" baseline="0" dirty="0" err="1"/>
              <a:t>up</a:t>
            </a:r>
            <a:r>
              <a:rPr lang="de-DE" baseline="0" dirty="0"/>
              <a:t> on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upper</a:t>
            </a:r>
            <a:r>
              <a:rPr lang="de-DE" baseline="0" dirty="0"/>
              <a:t> </a:t>
            </a:r>
            <a:r>
              <a:rPr lang="de-DE" baseline="0" dirty="0" err="1"/>
              <a:t>right</a:t>
            </a:r>
            <a:r>
              <a:rPr lang="de-DE" baseline="0" dirty="0"/>
              <a:t>.</a:t>
            </a:r>
            <a:endParaRPr dirty="0"/>
          </a:p>
        </p:txBody>
      </p:sp>
      <p:sp>
        <p:nvSpPr>
          <p:cNvPr id="1680" name="Google Shape;1680;g60be7dcf1c_0_5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51491902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" name="Google Shape;1679;g60be7dcf1c_0_5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believe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an </a:t>
            </a:r>
            <a:r>
              <a:rPr lang="de-DE" dirty="0" err="1"/>
              <a:t>information-theoretic</a:t>
            </a:r>
            <a:r>
              <a:rPr lang="de-DE" baseline="0" dirty="0"/>
              <a:t> </a:t>
            </a:r>
            <a:r>
              <a:rPr lang="de-DE" baseline="0" dirty="0" err="1"/>
              <a:t>approach</a:t>
            </a:r>
            <a:r>
              <a:rPr lang="de-DE" baseline="0" dirty="0"/>
              <a:t> </a:t>
            </a:r>
            <a:r>
              <a:rPr lang="de-DE" baseline="0" dirty="0" err="1"/>
              <a:t>can</a:t>
            </a:r>
            <a:r>
              <a:rPr lang="de-DE" baseline="0" dirty="0"/>
              <a:t> </a:t>
            </a:r>
            <a:r>
              <a:rPr lang="de-DE" baseline="0" dirty="0" err="1"/>
              <a:t>provide</a:t>
            </a:r>
            <a:r>
              <a:rPr lang="de-DE" baseline="0" dirty="0"/>
              <a:t> </a:t>
            </a:r>
            <a:r>
              <a:rPr lang="de-DE" baseline="0" dirty="0" err="1"/>
              <a:t>interesting</a:t>
            </a:r>
            <a:r>
              <a:rPr lang="de-DE" baseline="0" dirty="0"/>
              <a:t> </a:t>
            </a:r>
            <a:r>
              <a:rPr lang="de-DE" baseline="0" dirty="0" err="1"/>
              <a:t>insights</a:t>
            </a:r>
            <a:r>
              <a:rPr lang="de-DE" baseline="0" dirty="0"/>
              <a:t> </a:t>
            </a:r>
            <a:r>
              <a:rPr lang="de-DE" baseline="0" dirty="0" err="1"/>
              <a:t>here</a:t>
            </a:r>
            <a:r>
              <a:rPr lang="de-DE" baseline="0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/>
              <a:t>As a </a:t>
            </a:r>
            <a:r>
              <a:rPr lang="de-DE" baseline="0" dirty="0" err="1"/>
              <a:t>first</a:t>
            </a:r>
            <a:r>
              <a:rPr lang="de-DE" baseline="0" dirty="0"/>
              <a:t> </a:t>
            </a:r>
            <a:r>
              <a:rPr lang="de-DE" baseline="0" dirty="0" err="1"/>
              <a:t>approach</a:t>
            </a:r>
            <a:r>
              <a:rPr lang="de-DE" baseline="0" dirty="0"/>
              <a:t>, </a:t>
            </a:r>
            <a:r>
              <a:rPr lang="de-DE" baseline="0" dirty="0" err="1"/>
              <a:t>we</a:t>
            </a:r>
            <a:r>
              <a:rPr lang="de-DE" baseline="0" dirty="0"/>
              <a:t> </a:t>
            </a:r>
            <a:r>
              <a:rPr lang="de-DE" baseline="0" dirty="0" err="1"/>
              <a:t>have</a:t>
            </a:r>
            <a:r>
              <a:rPr lang="de-DE" baseline="0" dirty="0"/>
              <a:t> </a:t>
            </a:r>
            <a:r>
              <a:rPr lang="de-DE" baseline="0" dirty="0" err="1"/>
              <a:t>used</a:t>
            </a:r>
            <a:r>
              <a:rPr lang="de-DE" baseline="0" dirty="0"/>
              <a:t> iterative </a:t>
            </a:r>
            <a:r>
              <a:rPr lang="de-DE" baseline="0" dirty="0" err="1"/>
              <a:t>randomization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compression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identify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different </a:t>
            </a:r>
            <a:r>
              <a:rPr lang="de-DE" baseline="0" dirty="0" err="1"/>
              <a:t>dimensions</a:t>
            </a:r>
            <a:r>
              <a:rPr lang="de-DE" baseline="0" dirty="0"/>
              <a:t> </a:t>
            </a:r>
            <a:r>
              <a:rPr lang="de-DE" baseline="0" dirty="0" err="1"/>
              <a:t>of</a:t>
            </a:r>
            <a:r>
              <a:rPr lang="de-DE" baseline="0" dirty="0"/>
              <a:t> </a:t>
            </a:r>
            <a:r>
              <a:rPr lang="de-DE" baseline="0" dirty="0" err="1"/>
              <a:t>structure</a:t>
            </a:r>
            <a:r>
              <a:rPr lang="de-DE" baseline="0" dirty="0"/>
              <a:t>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/>
              <a:t>The </a:t>
            </a:r>
            <a:r>
              <a:rPr lang="de-DE" baseline="0" dirty="0" err="1"/>
              <a:t>resulting</a:t>
            </a:r>
            <a:r>
              <a:rPr lang="de-DE" baseline="0" dirty="0"/>
              <a:t> </a:t>
            </a:r>
            <a:r>
              <a:rPr lang="de-DE" baseline="0" dirty="0" err="1"/>
              <a:t>complexity</a:t>
            </a:r>
            <a:r>
              <a:rPr lang="de-DE" baseline="0" dirty="0"/>
              <a:t> </a:t>
            </a:r>
            <a:r>
              <a:rPr lang="de-DE" baseline="0" dirty="0" err="1"/>
              <a:t>map</a:t>
            </a:r>
            <a:r>
              <a:rPr lang="de-DE" baseline="0" dirty="0"/>
              <a:t> </a:t>
            </a:r>
            <a:r>
              <a:rPr lang="de-DE" baseline="0" dirty="0" err="1"/>
              <a:t>looks</a:t>
            </a:r>
            <a:r>
              <a:rPr lang="de-DE" baseline="0" dirty="0"/>
              <a:t> like </a:t>
            </a:r>
            <a:r>
              <a:rPr lang="de-DE" baseline="0" dirty="0" err="1"/>
              <a:t>this</a:t>
            </a:r>
            <a:r>
              <a:rPr lang="de-DE" baseline="0" dirty="0"/>
              <a:t>: On </a:t>
            </a:r>
            <a:r>
              <a:rPr lang="de-DE" baseline="0" dirty="0" err="1"/>
              <a:t>the</a:t>
            </a:r>
            <a:r>
              <a:rPr lang="de-DE" baseline="0" dirty="0"/>
              <a:t> x-</a:t>
            </a:r>
            <a:r>
              <a:rPr lang="de-DE" baseline="0" dirty="0" err="1"/>
              <a:t>axis</a:t>
            </a:r>
            <a:r>
              <a:rPr lang="de-DE" baseline="0" dirty="0"/>
              <a:t>, </a:t>
            </a:r>
            <a:r>
              <a:rPr lang="de-DE" baseline="0" dirty="0" err="1"/>
              <a:t>there</a:t>
            </a:r>
            <a:r>
              <a:rPr lang="de-DE" baseline="0" dirty="0"/>
              <a:t> </a:t>
            </a:r>
            <a:r>
              <a:rPr lang="de-DE" baseline="0" dirty="0" err="1"/>
              <a:t>is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temporal </a:t>
            </a:r>
            <a:r>
              <a:rPr lang="de-DE" baseline="0" dirty="0" err="1"/>
              <a:t>complexity</a:t>
            </a:r>
            <a:r>
              <a:rPr lang="de-DE" baseline="0" dirty="0"/>
              <a:t>, on </a:t>
            </a:r>
            <a:r>
              <a:rPr lang="de-DE" baseline="0" dirty="0" err="1"/>
              <a:t>the</a:t>
            </a:r>
            <a:r>
              <a:rPr lang="de-DE" baseline="0" dirty="0"/>
              <a:t> y-</a:t>
            </a:r>
            <a:r>
              <a:rPr lang="de-DE" baseline="0" dirty="0" err="1"/>
              <a:t>axis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non-temporal. </a:t>
            </a:r>
            <a:r>
              <a:rPr lang="de-DE" baseline="0" dirty="0" err="1"/>
              <a:t>Workloads</a:t>
            </a:r>
            <a:r>
              <a:rPr lang="de-DE" baseline="0" dirty="0"/>
              <a:t> </a:t>
            </a:r>
            <a:r>
              <a:rPr lang="de-DE" baseline="0" dirty="0" err="1"/>
              <a:t>without</a:t>
            </a:r>
            <a:r>
              <a:rPr lang="de-DE" baseline="0" dirty="0"/>
              <a:t> </a:t>
            </a:r>
            <a:r>
              <a:rPr lang="de-DE" baseline="0" dirty="0" err="1"/>
              <a:t>any</a:t>
            </a:r>
            <a:r>
              <a:rPr lang="de-DE" baseline="0" dirty="0"/>
              <a:t> </a:t>
            </a:r>
            <a:r>
              <a:rPr lang="de-DE" baseline="0" dirty="0" err="1"/>
              <a:t>structure</a:t>
            </a:r>
            <a:r>
              <a:rPr lang="de-DE" baseline="0" dirty="0"/>
              <a:t> end </a:t>
            </a:r>
            <a:r>
              <a:rPr lang="de-DE" baseline="0" dirty="0" err="1"/>
              <a:t>up</a:t>
            </a:r>
            <a:r>
              <a:rPr lang="de-DE" baseline="0" dirty="0"/>
              <a:t> on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upper</a:t>
            </a:r>
            <a:r>
              <a:rPr lang="de-DE" baseline="0" dirty="0"/>
              <a:t> </a:t>
            </a:r>
            <a:r>
              <a:rPr lang="de-DE" baseline="0" dirty="0" err="1"/>
              <a:t>right</a:t>
            </a:r>
            <a:r>
              <a:rPr lang="de-DE" baseline="0" dirty="0"/>
              <a:t>.</a:t>
            </a:r>
            <a:endParaRPr dirty="0"/>
          </a:p>
        </p:txBody>
      </p:sp>
      <p:sp>
        <p:nvSpPr>
          <p:cNvPr id="1680" name="Google Shape;1680;g60be7dcf1c_0_5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948056183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" name="Google Shape;1679;g60be7dcf1c_0_5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believe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an </a:t>
            </a:r>
            <a:r>
              <a:rPr lang="de-DE" dirty="0" err="1"/>
              <a:t>information-theoretic</a:t>
            </a:r>
            <a:r>
              <a:rPr lang="de-DE" baseline="0" dirty="0"/>
              <a:t> </a:t>
            </a:r>
            <a:r>
              <a:rPr lang="de-DE" baseline="0" dirty="0" err="1"/>
              <a:t>approach</a:t>
            </a:r>
            <a:r>
              <a:rPr lang="de-DE" baseline="0" dirty="0"/>
              <a:t> </a:t>
            </a:r>
            <a:r>
              <a:rPr lang="de-DE" baseline="0" dirty="0" err="1"/>
              <a:t>can</a:t>
            </a:r>
            <a:r>
              <a:rPr lang="de-DE" baseline="0" dirty="0"/>
              <a:t> </a:t>
            </a:r>
            <a:r>
              <a:rPr lang="de-DE" baseline="0" dirty="0" err="1"/>
              <a:t>provide</a:t>
            </a:r>
            <a:r>
              <a:rPr lang="de-DE" baseline="0" dirty="0"/>
              <a:t> </a:t>
            </a:r>
            <a:r>
              <a:rPr lang="de-DE" baseline="0" dirty="0" err="1"/>
              <a:t>interesting</a:t>
            </a:r>
            <a:r>
              <a:rPr lang="de-DE" baseline="0" dirty="0"/>
              <a:t> </a:t>
            </a:r>
            <a:r>
              <a:rPr lang="de-DE" baseline="0" dirty="0" err="1"/>
              <a:t>insights</a:t>
            </a:r>
            <a:r>
              <a:rPr lang="de-DE" baseline="0" dirty="0"/>
              <a:t> </a:t>
            </a:r>
            <a:r>
              <a:rPr lang="de-DE" baseline="0" dirty="0" err="1"/>
              <a:t>here</a:t>
            </a:r>
            <a:r>
              <a:rPr lang="de-DE" baseline="0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/>
              <a:t>As a </a:t>
            </a:r>
            <a:r>
              <a:rPr lang="de-DE" baseline="0" dirty="0" err="1"/>
              <a:t>first</a:t>
            </a:r>
            <a:r>
              <a:rPr lang="de-DE" baseline="0" dirty="0"/>
              <a:t> </a:t>
            </a:r>
            <a:r>
              <a:rPr lang="de-DE" baseline="0" dirty="0" err="1"/>
              <a:t>approach</a:t>
            </a:r>
            <a:r>
              <a:rPr lang="de-DE" baseline="0" dirty="0"/>
              <a:t>, </a:t>
            </a:r>
            <a:r>
              <a:rPr lang="de-DE" baseline="0" dirty="0" err="1"/>
              <a:t>we</a:t>
            </a:r>
            <a:r>
              <a:rPr lang="de-DE" baseline="0" dirty="0"/>
              <a:t> </a:t>
            </a:r>
            <a:r>
              <a:rPr lang="de-DE" baseline="0" dirty="0" err="1"/>
              <a:t>have</a:t>
            </a:r>
            <a:r>
              <a:rPr lang="de-DE" baseline="0" dirty="0"/>
              <a:t> </a:t>
            </a:r>
            <a:r>
              <a:rPr lang="de-DE" baseline="0" dirty="0" err="1"/>
              <a:t>used</a:t>
            </a:r>
            <a:r>
              <a:rPr lang="de-DE" baseline="0" dirty="0"/>
              <a:t> iterative </a:t>
            </a:r>
            <a:r>
              <a:rPr lang="de-DE" baseline="0" dirty="0" err="1"/>
              <a:t>randomization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compression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identify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different </a:t>
            </a:r>
            <a:r>
              <a:rPr lang="de-DE" baseline="0" dirty="0" err="1"/>
              <a:t>dimensions</a:t>
            </a:r>
            <a:r>
              <a:rPr lang="de-DE" baseline="0" dirty="0"/>
              <a:t> </a:t>
            </a:r>
            <a:r>
              <a:rPr lang="de-DE" baseline="0" dirty="0" err="1"/>
              <a:t>of</a:t>
            </a:r>
            <a:r>
              <a:rPr lang="de-DE" baseline="0" dirty="0"/>
              <a:t> </a:t>
            </a:r>
            <a:r>
              <a:rPr lang="de-DE" baseline="0" dirty="0" err="1"/>
              <a:t>structure</a:t>
            </a:r>
            <a:r>
              <a:rPr lang="de-DE" baseline="0" dirty="0"/>
              <a:t>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/>
              <a:t>The </a:t>
            </a:r>
            <a:r>
              <a:rPr lang="de-DE" baseline="0" dirty="0" err="1"/>
              <a:t>resulting</a:t>
            </a:r>
            <a:r>
              <a:rPr lang="de-DE" baseline="0" dirty="0"/>
              <a:t> </a:t>
            </a:r>
            <a:r>
              <a:rPr lang="de-DE" baseline="0" dirty="0" err="1"/>
              <a:t>complexity</a:t>
            </a:r>
            <a:r>
              <a:rPr lang="de-DE" baseline="0" dirty="0"/>
              <a:t> </a:t>
            </a:r>
            <a:r>
              <a:rPr lang="de-DE" baseline="0" dirty="0" err="1"/>
              <a:t>map</a:t>
            </a:r>
            <a:r>
              <a:rPr lang="de-DE" baseline="0" dirty="0"/>
              <a:t> </a:t>
            </a:r>
            <a:r>
              <a:rPr lang="de-DE" baseline="0" dirty="0" err="1"/>
              <a:t>looks</a:t>
            </a:r>
            <a:r>
              <a:rPr lang="de-DE" baseline="0" dirty="0"/>
              <a:t> like </a:t>
            </a:r>
            <a:r>
              <a:rPr lang="de-DE" baseline="0" dirty="0" err="1"/>
              <a:t>this</a:t>
            </a:r>
            <a:r>
              <a:rPr lang="de-DE" baseline="0" dirty="0"/>
              <a:t>: On </a:t>
            </a:r>
            <a:r>
              <a:rPr lang="de-DE" baseline="0" dirty="0" err="1"/>
              <a:t>the</a:t>
            </a:r>
            <a:r>
              <a:rPr lang="de-DE" baseline="0" dirty="0"/>
              <a:t> x-</a:t>
            </a:r>
            <a:r>
              <a:rPr lang="de-DE" baseline="0" dirty="0" err="1"/>
              <a:t>axis</a:t>
            </a:r>
            <a:r>
              <a:rPr lang="de-DE" baseline="0" dirty="0"/>
              <a:t>, </a:t>
            </a:r>
            <a:r>
              <a:rPr lang="de-DE" baseline="0" dirty="0" err="1"/>
              <a:t>there</a:t>
            </a:r>
            <a:r>
              <a:rPr lang="de-DE" baseline="0" dirty="0"/>
              <a:t> </a:t>
            </a:r>
            <a:r>
              <a:rPr lang="de-DE" baseline="0" dirty="0" err="1"/>
              <a:t>is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temporal </a:t>
            </a:r>
            <a:r>
              <a:rPr lang="de-DE" baseline="0" dirty="0" err="1"/>
              <a:t>complexity</a:t>
            </a:r>
            <a:r>
              <a:rPr lang="de-DE" baseline="0" dirty="0"/>
              <a:t>, on </a:t>
            </a:r>
            <a:r>
              <a:rPr lang="de-DE" baseline="0" dirty="0" err="1"/>
              <a:t>the</a:t>
            </a:r>
            <a:r>
              <a:rPr lang="de-DE" baseline="0" dirty="0"/>
              <a:t> y-</a:t>
            </a:r>
            <a:r>
              <a:rPr lang="de-DE" baseline="0" dirty="0" err="1"/>
              <a:t>axis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non-temporal. </a:t>
            </a:r>
            <a:r>
              <a:rPr lang="de-DE" baseline="0" dirty="0" err="1"/>
              <a:t>Workloads</a:t>
            </a:r>
            <a:r>
              <a:rPr lang="de-DE" baseline="0" dirty="0"/>
              <a:t> </a:t>
            </a:r>
            <a:r>
              <a:rPr lang="de-DE" baseline="0" dirty="0" err="1"/>
              <a:t>without</a:t>
            </a:r>
            <a:r>
              <a:rPr lang="de-DE" baseline="0" dirty="0"/>
              <a:t> </a:t>
            </a:r>
            <a:r>
              <a:rPr lang="de-DE" baseline="0" dirty="0" err="1"/>
              <a:t>any</a:t>
            </a:r>
            <a:r>
              <a:rPr lang="de-DE" baseline="0" dirty="0"/>
              <a:t> </a:t>
            </a:r>
            <a:r>
              <a:rPr lang="de-DE" baseline="0" dirty="0" err="1"/>
              <a:t>structure</a:t>
            </a:r>
            <a:r>
              <a:rPr lang="de-DE" baseline="0" dirty="0"/>
              <a:t> end </a:t>
            </a:r>
            <a:r>
              <a:rPr lang="de-DE" baseline="0" dirty="0" err="1"/>
              <a:t>up</a:t>
            </a:r>
            <a:r>
              <a:rPr lang="de-DE" baseline="0" dirty="0"/>
              <a:t> on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upper</a:t>
            </a:r>
            <a:r>
              <a:rPr lang="de-DE" baseline="0" dirty="0"/>
              <a:t> </a:t>
            </a:r>
            <a:r>
              <a:rPr lang="de-DE" baseline="0" dirty="0" err="1"/>
              <a:t>right</a:t>
            </a:r>
            <a:r>
              <a:rPr lang="de-DE" baseline="0" dirty="0"/>
              <a:t>.</a:t>
            </a:r>
            <a:endParaRPr dirty="0"/>
          </a:p>
        </p:txBody>
      </p:sp>
      <p:sp>
        <p:nvSpPr>
          <p:cNvPr id="1680" name="Google Shape;1680;g60be7dcf1c_0_5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700195341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4" name="Google Shape;1704;g60be7dcf1c_0_6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 err="1"/>
              <a:t>When</a:t>
            </a:r>
            <a:r>
              <a:rPr lang="de-DE" dirty="0"/>
              <a:t> </a:t>
            </a:r>
            <a:r>
              <a:rPr lang="de-DE" dirty="0" err="1"/>
              <a:t>mapping</a:t>
            </a:r>
            <a:r>
              <a:rPr lang="de-DE" dirty="0"/>
              <a:t> different </a:t>
            </a:r>
            <a:r>
              <a:rPr lang="de-DE" dirty="0" err="1"/>
              <a:t>applications</a:t>
            </a:r>
            <a:r>
              <a:rPr lang="de-DE" dirty="0"/>
              <a:t>,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see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they</a:t>
            </a:r>
            <a:r>
              <a:rPr lang="de-DE" dirty="0"/>
              <a:t> end </a:t>
            </a:r>
            <a:r>
              <a:rPr lang="de-DE" dirty="0" err="1"/>
              <a:t>up</a:t>
            </a:r>
            <a:r>
              <a:rPr lang="de-DE" dirty="0"/>
              <a:t> at different </a:t>
            </a:r>
            <a:r>
              <a:rPr lang="de-DE" dirty="0" err="1"/>
              <a:t>locations</a:t>
            </a:r>
            <a:r>
              <a:rPr lang="de-DE" dirty="0"/>
              <a:t>: </a:t>
            </a:r>
            <a:r>
              <a:rPr lang="de-DE" dirty="0" err="1"/>
              <a:t>they</a:t>
            </a:r>
            <a:r>
              <a:rPr lang="de-DE" dirty="0"/>
              <a:t> </a:t>
            </a:r>
            <a:r>
              <a:rPr lang="de-DE" dirty="0" err="1"/>
              <a:t>have</a:t>
            </a:r>
            <a:r>
              <a:rPr lang="de-DE" dirty="0"/>
              <a:t> different </a:t>
            </a:r>
            <a:r>
              <a:rPr lang="de-DE" dirty="0" err="1"/>
              <a:t>amounts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temporal </a:t>
            </a:r>
            <a:r>
              <a:rPr lang="de-DE" dirty="0" err="1"/>
              <a:t>and</a:t>
            </a:r>
            <a:r>
              <a:rPr lang="de-DE" dirty="0"/>
              <a:t> non-temporal </a:t>
            </a:r>
            <a:r>
              <a:rPr lang="de-DE" dirty="0" err="1"/>
              <a:t>structures</a:t>
            </a:r>
            <a:r>
              <a:rPr lang="de-DE" dirty="0"/>
              <a:t>.</a:t>
            </a:r>
            <a:endParaRPr dirty="0"/>
          </a:p>
        </p:txBody>
      </p:sp>
      <p:sp>
        <p:nvSpPr>
          <p:cNvPr id="1705" name="Google Shape;1705;g60be7dcf1c_0_6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881779772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2" name="Google Shape;1762;g60be7dcf1c_0_6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The potential </a:t>
            </a:r>
            <a:r>
              <a:rPr lang="de-DE" dirty="0" err="1"/>
              <a:t>gain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significant</a:t>
            </a:r>
            <a:r>
              <a:rPr lang="de-DE" dirty="0"/>
              <a:t>.</a:t>
            </a:r>
            <a:endParaRPr dirty="0"/>
          </a:p>
        </p:txBody>
      </p:sp>
      <p:sp>
        <p:nvSpPr>
          <p:cNvPr id="1763" name="Google Shape;1763;g60be7dcf1c_0_6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4101411154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2" name="Google Shape;1762;g60be7dcf1c_0_6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The potential </a:t>
            </a:r>
            <a:r>
              <a:rPr lang="de-DE" dirty="0" err="1"/>
              <a:t>gain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significant</a:t>
            </a:r>
            <a:r>
              <a:rPr lang="de-DE" dirty="0"/>
              <a:t>.</a:t>
            </a:r>
            <a:endParaRPr dirty="0"/>
          </a:p>
        </p:txBody>
      </p:sp>
      <p:sp>
        <p:nvSpPr>
          <p:cNvPr id="1763" name="Google Shape;1763;g60be7dcf1c_0_6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216339289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4">
          <a:extLst>
            <a:ext uri="{FF2B5EF4-FFF2-40B4-BE49-F238E27FC236}">
              <a16:creationId xmlns:a16="http://schemas.microsoft.com/office/drawing/2014/main" id="{08CC3AE2-E22C-F477-32D3-5BDA3F6E1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5" name="Google Shape;1795;g60be7dcf1c_0_691:notes">
            <a:extLst>
              <a:ext uri="{FF2B5EF4-FFF2-40B4-BE49-F238E27FC236}">
                <a16:creationId xmlns:a16="http://schemas.microsoft.com/office/drawing/2014/main" id="{3824238B-F63A-BF8E-107B-511D3F31B1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course</a:t>
            </a:r>
            <a:r>
              <a:rPr lang="de-DE" dirty="0"/>
              <a:t>,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particularly</a:t>
            </a:r>
            <a:r>
              <a:rPr lang="de-DE" dirty="0"/>
              <a:t> </a:t>
            </a:r>
            <a:r>
              <a:rPr lang="de-DE" dirty="0" err="1"/>
              <a:t>interested</a:t>
            </a:r>
            <a:r>
              <a:rPr lang="de-DE" dirty="0"/>
              <a:t> in </a:t>
            </a:r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achieved</a:t>
            </a:r>
            <a:r>
              <a:rPr lang="de-DE" dirty="0"/>
              <a:t> in </a:t>
            </a:r>
            <a:r>
              <a:rPr lang="de-DE" dirty="0" err="1"/>
              <a:t>self-adjusting</a:t>
            </a:r>
            <a:r>
              <a:rPr lang="de-DE" dirty="0"/>
              <a:t> </a:t>
            </a:r>
            <a:r>
              <a:rPr lang="de-DE" dirty="0" err="1"/>
              <a:t>networks</a:t>
            </a:r>
            <a:r>
              <a:rPr lang="de-DE" dirty="0"/>
              <a:t>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this</a:t>
            </a:r>
            <a:r>
              <a:rPr lang="de-DE" dirty="0"/>
              <a:t> end,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want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develop</a:t>
            </a:r>
            <a:r>
              <a:rPr lang="de-DE" dirty="0"/>
              <a:t> </a:t>
            </a:r>
            <a:r>
              <a:rPr lang="de-DE" dirty="0" err="1"/>
              <a:t>metrics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self-adjusting</a:t>
            </a:r>
            <a:r>
              <a:rPr lang="de-DE" dirty="0"/>
              <a:t> </a:t>
            </a:r>
            <a:r>
              <a:rPr lang="de-DE" dirty="0" err="1"/>
              <a:t>networks</a:t>
            </a:r>
            <a:r>
              <a:rPr lang="de-DE" dirty="0"/>
              <a:t> </a:t>
            </a:r>
            <a:r>
              <a:rPr lang="de-DE" dirty="0" err="1"/>
              <a:t>which</a:t>
            </a:r>
            <a:r>
              <a:rPr lang="de-DE" dirty="0"/>
              <a:t> </a:t>
            </a:r>
            <a:r>
              <a:rPr lang="de-DE" dirty="0" err="1"/>
              <a:t>depend</a:t>
            </a:r>
            <a:r>
              <a:rPr lang="de-DE" dirty="0"/>
              <a:t> on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demand</a:t>
            </a:r>
            <a:r>
              <a:rPr lang="de-DE" dirty="0"/>
              <a:t>,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well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algorithms</a:t>
            </a:r>
            <a:r>
              <a:rPr lang="de-DE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 err="1"/>
              <a:t>Here</a:t>
            </a:r>
            <a:r>
              <a:rPr lang="de-DE" baseline="0" dirty="0"/>
              <a:t> </a:t>
            </a:r>
            <a:r>
              <a:rPr lang="de-DE" baseline="0" dirty="0" err="1"/>
              <a:t>we</a:t>
            </a:r>
            <a:r>
              <a:rPr lang="de-DE" baseline="0" dirty="0"/>
              <a:t> </a:t>
            </a:r>
            <a:r>
              <a:rPr lang="de-DE" baseline="0" dirty="0" err="1"/>
              <a:t>have</a:t>
            </a:r>
            <a:r>
              <a:rPr lang="de-DE" baseline="0" dirty="0"/>
              <a:t> </a:t>
            </a:r>
            <a:r>
              <a:rPr lang="de-DE" baseline="0" dirty="0" err="1"/>
              <a:t>some</a:t>
            </a:r>
            <a:r>
              <a:rPr lang="de-DE" baseline="0" dirty="0"/>
              <a:t> </a:t>
            </a:r>
            <a:r>
              <a:rPr lang="de-DE" baseline="0" dirty="0" err="1"/>
              <a:t>first</a:t>
            </a:r>
            <a:r>
              <a:rPr lang="de-DE" baseline="0" dirty="0"/>
              <a:t> </a:t>
            </a:r>
            <a:r>
              <a:rPr lang="de-DE" baseline="0" dirty="0" err="1"/>
              <a:t>insights</a:t>
            </a:r>
            <a:r>
              <a:rPr lang="de-DE" baseline="0" dirty="0"/>
              <a:t> </a:t>
            </a:r>
            <a:r>
              <a:rPr lang="de-DE" baseline="0" dirty="0" err="1"/>
              <a:t>that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entropy</a:t>
            </a:r>
            <a:r>
              <a:rPr lang="de-DE" baseline="0" dirty="0"/>
              <a:t> </a:t>
            </a:r>
            <a:r>
              <a:rPr lang="de-DE" baseline="0" dirty="0" err="1"/>
              <a:t>of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demand</a:t>
            </a:r>
            <a:r>
              <a:rPr lang="de-DE" baseline="0" dirty="0"/>
              <a:t> </a:t>
            </a:r>
            <a:r>
              <a:rPr lang="de-DE" baseline="0" dirty="0" err="1"/>
              <a:t>can</a:t>
            </a:r>
            <a:r>
              <a:rPr lang="de-DE" baseline="0" dirty="0"/>
              <a:t> </a:t>
            </a:r>
            <a:r>
              <a:rPr lang="de-DE" baseline="0" dirty="0" err="1"/>
              <a:t>serve</a:t>
            </a:r>
            <a:r>
              <a:rPr lang="de-DE" baseline="0" dirty="0"/>
              <a:t> </a:t>
            </a:r>
            <a:r>
              <a:rPr lang="de-DE" baseline="0" dirty="0" err="1"/>
              <a:t>as</a:t>
            </a:r>
            <a:r>
              <a:rPr lang="de-DE" baseline="0" dirty="0"/>
              <a:t> a </a:t>
            </a:r>
            <a:r>
              <a:rPr lang="de-DE" baseline="0" dirty="0" err="1"/>
              <a:t>useful</a:t>
            </a:r>
            <a:r>
              <a:rPr lang="de-DE" baseline="0" dirty="0"/>
              <a:t> </a:t>
            </a:r>
            <a:r>
              <a:rPr lang="de-DE" baseline="0" dirty="0" err="1"/>
              <a:t>metric</a:t>
            </a:r>
            <a:r>
              <a:rPr lang="de-DE" baseline="0" dirty="0"/>
              <a:t> </a:t>
            </a:r>
            <a:r>
              <a:rPr lang="de-DE" baseline="0" dirty="0" err="1"/>
              <a:t>for</a:t>
            </a:r>
            <a:r>
              <a:rPr lang="de-DE" baseline="0" dirty="0"/>
              <a:t> </a:t>
            </a:r>
            <a:r>
              <a:rPr lang="de-DE" baseline="0" dirty="0" err="1"/>
              <a:t>self-adjusting</a:t>
            </a:r>
            <a:r>
              <a:rPr lang="de-DE" baseline="0" dirty="0"/>
              <a:t> </a:t>
            </a:r>
            <a:r>
              <a:rPr lang="de-DE" baseline="0" dirty="0" err="1"/>
              <a:t>networks</a:t>
            </a:r>
            <a:r>
              <a:rPr lang="de-DE" baseline="0" dirty="0"/>
              <a:t>.</a:t>
            </a:r>
            <a:endParaRPr dirty="0"/>
          </a:p>
        </p:txBody>
      </p:sp>
      <p:sp>
        <p:nvSpPr>
          <p:cNvPr id="1796" name="Google Shape;1796;g60be7dcf1c_0_691:notes">
            <a:extLst>
              <a:ext uri="{FF2B5EF4-FFF2-40B4-BE49-F238E27FC236}">
                <a16:creationId xmlns:a16="http://schemas.microsoft.com/office/drawing/2014/main" id="{E1CF087A-8C86-5656-A38A-34B9111DD9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055876306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2">
          <a:extLst>
            <a:ext uri="{FF2B5EF4-FFF2-40B4-BE49-F238E27FC236}">
              <a16:creationId xmlns:a16="http://schemas.microsoft.com/office/drawing/2014/main" id="{B417E173-D058-560C-3E3E-6655E6C70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3" name="Google Shape;1803;g60be7dcf1c_0_698:notes">
            <a:extLst>
              <a:ext uri="{FF2B5EF4-FFF2-40B4-BE49-F238E27FC236}">
                <a16:creationId xmlns:a16="http://schemas.microsoft.com/office/drawing/2014/main" id="{927D432C-C0F2-5D7F-E3CE-D82EC8578E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dirty="0" err="1"/>
              <a:t>approach</a:t>
            </a:r>
            <a:r>
              <a:rPr lang="de-DE" dirty="0"/>
              <a:t> in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project</a:t>
            </a:r>
            <a:r>
              <a:rPr lang="de-DE" baseline="0" dirty="0"/>
              <a:t> </a:t>
            </a:r>
            <a:r>
              <a:rPr lang="de-DE" baseline="0" dirty="0" err="1"/>
              <a:t>is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exploit</a:t>
            </a:r>
            <a:r>
              <a:rPr lang="de-DE" baseline="0" dirty="0"/>
              <a:t> a </a:t>
            </a:r>
            <a:r>
              <a:rPr lang="de-DE" baseline="0" dirty="0" err="1"/>
              <a:t>connection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self-adjusting</a:t>
            </a:r>
            <a:r>
              <a:rPr lang="de-DE" baseline="0" dirty="0"/>
              <a:t> </a:t>
            </a:r>
            <a:r>
              <a:rPr lang="de-DE" baseline="0" dirty="0" err="1"/>
              <a:t>datastructures</a:t>
            </a:r>
            <a:r>
              <a:rPr lang="de-DE" baseline="0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 err="1"/>
              <a:t>We</a:t>
            </a:r>
            <a:r>
              <a:rPr lang="de-DE" baseline="0" dirty="0"/>
              <a:t> </a:t>
            </a:r>
            <a:r>
              <a:rPr lang="de-DE" baseline="0" dirty="0" err="1"/>
              <a:t>know</a:t>
            </a:r>
            <a:r>
              <a:rPr lang="de-DE" baseline="0" dirty="0"/>
              <a:t> </a:t>
            </a:r>
            <a:r>
              <a:rPr lang="de-DE" baseline="0" dirty="0" err="1"/>
              <a:t>today</a:t>
            </a:r>
            <a:r>
              <a:rPr lang="de-DE" baseline="0" dirty="0"/>
              <a:t> </a:t>
            </a:r>
            <a:r>
              <a:rPr lang="de-DE" baseline="0" dirty="0" err="1"/>
              <a:t>that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more</a:t>
            </a:r>
            <a:r>
              <a:rPr lang="de-DE" baseline="0" dirty="0"/>
              <a:t> </a:t>
            </a:r>
            <a:r>
              <a:rPr lang="de-DE" baseline="0" dirty="0" err="1"/>
              <a:t>structure</a:t>
            </a:r>
            <a:r>
              <a:rPr lang="de-DE" baseline="0" dirty="0"/>
              <a:t> </a:t>
            </a:r>
            <a:r>
              <a:rPr lang="de-DE" baseline="0" dirty="0" err="1"/>
              <a:t>there</a:t>
            </a:r>
            <a:r>
              <a:rPr lang="de-DE" baseline="0" dirty="0"/>
              <a:t> </a:t>
            </a:r>
            <a:r>
              <a:rPr lang="de-DE" baseline="0" dirty="0" err="1"/>
              <a:t>is</a:t>
            </a:r>
            <a:r>
              <a:rPr lang="de-DE" baseline="0" dirty="0"/>
              <a:t> in an </a:t>
            </a:r>
            <a:r>
              <a:rPr lang="de-DE" baseline="0" dirty="0" err="1"/>
              <a:t>access</a:t>
            </a:r>
            <a:r>
              <a:rPr lang="de-DE" baseline="0" dirty="0"/>
              <a:t> </a:t>
            </a:r>
            <a:r>
              <a:rPr lang="de-DE" baseline="0" dirty="0" err="1"/>
              <a:t>pattern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a </a:t>
            </a:r>
            <a:r>
              <a:rPr lang="de-DE" baseline="0" dirty="0" err="1"/>
              <a:t>datastructure</a:t>
            </a:r>
            <a:r>
              <a:rPr lang="de-DE" baseline="0" dirty="0"/>
              <a:t>,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more</a:t>
            </a:r>
            <a:r>
              <a:rPr lang="de-DE" baseline="0" dirty="0"/>
              <a:t> </a:t>
            </a:r>
            <a:r>
              <a:rPr lang="de-DE" baseline="0" dirty="0" err="1"/>
              <a:t>we</a:t>
            </a:r>
            <a:r>
              <a:rPr lang="de-DE" baseline="0" dirty="0"/>
              <a:t> </a:t>
            </a:r>
            <a:r>
              <a:rPr lang="de-DE" baseline="0" dirty="0" err="1"/>
              <a:t>can</a:t>
            </a:r>
            <a:r>
              <a:rPr lang="de-DE" baseline="0" dirty="0"/>
              <a:t> </a:t>
            </a:r>
            <a:r>
              <a:rPr lang="de-DE" baseline="0" dirty="0" err="1"/>
              <a:t>improve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access</a:t>
            </a:r>
            <a:r>
              <a:rPr lang="de-DE" baseline="0" dirty="0"/>
              <a:t> </a:t>
            </a:r>
            <a:r>
              <a:rPr lang="de-DE" baseline="0" dirty="0" err="1"/>
              <a:t>cost</a:t>
            </a:r>
            <a:r>
              <a:rPr lang="de-DE" baseline="0" dirty="0"/>
              <a:t> </a:t>
            </a:r>
            <a:r>
              <a:rPr lang="de-DE" baseline="0" dirty="0" err="1"/>
              <a:t>if</a:t>
            </a:r>
            <a:r>
              <a:rPr lang="de-DE" baseline="0" dirty="0"/>
              <a:t> </a:t>
            </a:r>
            <a:r>
              <a:rPr lang="de-DE" baseline="0" dirty="0" err="1"/>
              <a:t>we</a:t>
            </a:r>
            <a:r>
              <a:rPr lang="de-DE" baseline="0" dirty="0"/>
              <a:t> </a:t>
            </a:r>
            <a:r>
              <a:rPr lang="de-DE" baseline="0" dirty="0" err="1"/>
              <a:t>make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datastructure</a:t>
            </a:r>
            <a:r>
              <a:rPr lang="de-DE" baseline="0" dirty="0"/>
              <a:t> </a:t>
            </a:r>
            <a:r>
              <a:rPr lang="de-DE" baseline="0" dirty="0" err="1"/>
              <a:t>more</a:t>
            </a:r>
            <a:r>
              <a:rPr lang="de-DE" baseline="0" dirty="0"/>
              <a:t> </a:t>
            </a:r>
            <a:r>
              <a:rPr lang="de-DE" baseline="0" dirty="0" err="1"/>
              <a:t>demand</a:t>
            </a:r>
            <a:r>
              <a:rPr lang="de-DE" baseline="0" dirty="0"/>
              <a:t>-aware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self-adjusting</a:t>
            </a:r>
            <a:r>
              <a:rPr lang="de-DE" baseline="0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04" name="Google Shape;1804;g60be7dcf1c_0_698:notes">
            <a:extLst>
              <a:ext uri="{FF2B5EF4-FFF2-40B4-BE49-F238E27FC236}">
                <a16:creationId xmlns:a16="http://schemas.microsoft.com/office/drawing/2014/main" id="{9AEF47AC-2412-B5F2-EAED-0D3F98174D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427035297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2">
          <a:extLst>
            <a:ext uri="{FF2B5EF4-FFF2-40B4-BE49-F238E27FC236}">
              <a16:creationId xmlns:a16="http://schemas.microsoft.com/office/drawing/2014/main" id="{5A82FE30-775D-9199-5BB0-4DE7F4024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3" name="Google Shape;1803;g60be7dcf1c_0_698:notes">
            <a:extLst>
              <a:ext uri="{FF2B5EF4-FFF2-40B4-BE49-F238E27FC236}">
                <a16:creationId xmlns:a16="http://schemas.microsoft.com/office/drawing/2014/main" id="{FA5C1BB6-D68F-178B-9EAF-97812286B5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 err="1"/>
              <a:t>Similar</a:t>
            </a:r>
            <a:r>
              <a:rPr lang="de-DE" dirty="0"/>
              <a:t> </a:t>
            </a:r>
            <a:r>
              <a:rPr lang="de-DE" dirty="0" err="1"/>
              <a:t>benefits</a:t>
            </a:r>
            <a:r>
              <a:rPr lang="de-DE" dirty="0"/>
              <a:t> </a:t>
            </a:r>
            <a:r>
              <a:rPr lang="de-DE" dirty="0" err="1"/>
              <a:t>exist</a:t>
            </a:r>
            <a:r>
              <a:rPr lang="de-DE" dirty="0"/>
              <a:t> also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coding</a:t>
            </a:r>
            <a:r>
              <a:rPr lang="de-DE" dirty="0"/>
              <a:t>,</a:t>
            </a:r>
            <a:r>
              <a:rPr lang="de-DE" baseline="0" dirty="0"/>
              <a:t> </a:t>
            </a:r>
            <a:r>
              <a:rPr lang="de-DE" baseline="0" dirty="0" err="1"/>
              <a:t>by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way</a:t>
            </a:r>
            <a:r>
              <a:rPr lang="de-DE" baseline="0" dirty="0"/>
              <a:t>.</a:t>
            </a:r>
            <a:endParaRPr dirty="0"/>
          </a:p>
        </p:txBody>
      </p:sp>
      <p:sp>
        <p:nvSpPr>
          <p:cNvPr id="1804" name="Google Shape;1804;g60be7dcf1c_0_698:notes">
            <a:extLst>
              <a:ext uri="{FF2B5EF4-FFF2-40B4-BE49-F238E27FC236}">
                <a16:creationId xmlns:a16="http://schemas.microsoft.com/office/drawing/2014/main" id="{0BEE2B22-7F2B-A7F2-CDCD-DEE071AA59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20673266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2">
          <a:extLst>
            <a:ext uri="{FF2B5EF4-FFF2-40B4-BE49-F238E27FC236}">
              <a16:creationId xmlns:a16="http://schemas.microsoft.com/office/drawing/2014/main" id="{B0CEDFFA-4FB5-43D0-D197-CDEABAC70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3" name="Google Shape;1803;g60be7dcf1c_0_698:notes">
            <a:extLst>
              <a:ext uri="{FF2B5EF4-FFF2-40B4-BE49-F238E27FC236}">
                <a16:creationId xmlns:a16="http://schemas.microsoft.com/office/drawing/2014/main" id="{DCD569E0-95BF-48CF-E554-CC9DC13E09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 err="1"/>
              <a:t>With</a:t>
            </a:r>
            <a:r>
              <a:rPr lang="de-DE" baseline="0" dirty="0"/>
              <a:t> </a:t>
            </a:r>
            <a:r>
              <a:rPr lang="de-DE" baseline="0" dirty="0" err="1"/>
              <a:t>our</a:t>
            </a:r>
            <a:r>
              <a:rPr lang="de-DE" baseline="0" dirty="0"/>
              <a:t> </a:t>
            </a:r>
            <a:r>
              <a:rPr lang="de-DE" baseline="0" dirty="0" err="1"/>
              <a:t>research</a:t>
            </a:r>
            <a:r>
              <a:rPr lang="de-DE" baseline="0" dirty="0"/>
              <a:t> </a:t>
            </a:r>
            <a:r>
              <a:rPr lang="de-DE" baseline="0" dirty="0" err="1"/>
              <a:t>we</a:t>
            </a:r>
            <a:r>
              <a:rPr lang="de-DE" baseline="0" dirty="0"/>
              <a:t> </a:t>
            </a:r>
            <a:r>
              <a:rPr lang="de-DE" baseline="0" dirty="0" err="1"/>
              <a:t>want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investigate</a:t>
            </a:r>
            <a:r>
              <a:rPr lang="de-DE" baseline="0" dirty="0"/>
              <a:t> </a:t>
            </a:r>
            <a:r>
              <a:rPr lang="de-DE" baseline="0" dirty="0" err="1"/>
              <a:t>whether</a:t>
            </a:r>
            <a:r>
              <a:rPr lang="de-DE" baseline="0" dirty="0"/>
              <a:t> </a:t>
            </a:r>
            <a:r>
              <a:rPr lang="de-DE" baseline="0" dirty="0" err="1"/>
              <a:t>similar</a:t>
            </a:r>
            <a:r>
              <a:rPr lang="de-DE" baseline="0" dirty="0"/>
              <a:t> </a:t>
            </a:r>
            <a:r>
              <a:rPr lang="de-DE" baseline="0" dirty="0" err="1"/>
              <a:t>benefits</a:t>
            </a:r>
            <a:r>
              <a:rPr lang="de-DE" baseline="0" dirty="0"/>
              <a:t> </a:t>
            </a:r>
            <a:r>
              <a:rPr lang="de-DE" baseline="0" dirty="0" err="1"/>
              <a:t>can</a:t>
            </a:r>
            <a:r>
              <a:rPr lang="de-DE" baseline="0" dirty="0"/>
              <a:t> </a:t>
            </a:r>
            <a:r>
              <a:rPr lang="de-DE" baseline="0" dirty="0" err="1"/>
              <a:t>be</a:t>
            </a:r>
            <a:r>
              <a:rPr lang="de-DE" baseline="0" dirty="0"/>
              <a:t> </a:t>
            </a:r>
            <a:r>
              <a:rPr lang="de-DE" baseline="0" dirty="0" err="1"/>
              <a:t>obtained</a:t>
            </a:r>
            <a:r>
              <a:rPr lang="de-DE" baseline="0" dirty="0"/>
              <a:t> in </a:t>
            </a:r>
            <a:r>
              <a:rPr lang="de-DE" baseline="0" dirty="0" err="1"/>
              <a:t>self-adjusting</a:t>
            </a:r>
            <a:r>
              <a:rPr lang="de-DE" baseline="0" dirty="0"/>
              <a:t> </a:t>
            </a:r>
            <a:r>
              <a:rPr lang="de-DE" baseline="0" dirty="0" err="1"/>
              <a:t>networks</a:t>
            </a:r>
            <a:r>
              <a:rPr lang="de-DE" baseline="0" dirty="0"/>
              <a:t> </a:t>
            </a:r>
            <a:r>
              <a:rPr lang="de-DE" baseline="0" dirty="0" err="1"/>
              <a:t>as</a:t>
            </a:r>
            <a:r>
              <a:rPr lang="de-DE" baseline="0" dirty="0"/>
              <a:t> </a:t>
            </a:r>
            <a:r>
              <a:rPr lang="de-DE" baseline="0" dirty="0" err="1"/>
              <a:t>well</a:t>
            </a:r>
            <a:r>
              <a:rPr lang="de-DE" baseline="0" dirty="0"/>
              <a:t>.</a:t>
            </a:r>
            <a:endParaRPr dirty="0"/>
          </a:p>
        </p:txBody>
      </p:sp>
      <p:sp>
        <p:nvSpPr>
          <p:cNvPr id="1804" name="Google Shape;1804;g60be7dcf1c_0_698:notes">
            <a:extLst>
              <a:ext uri="{FF2B5EF4-FFF2-40B4-BE49-F238E27FC236}">
                <a16:creationId xmlns:a16="http://schemas.microsoft.com/office/drawing/2014/main" id="{33F79956-3131-19C6-AA52-7E36E40D60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950379430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2">
          <a:extLst>
            <a:ext uri="{FF2B5EF4-FFF2-40B4-BE49-F238E27FC236}">
              <a16:creationId xmlns:a16="http://schemas.microsoft.com/office/drawing/2014/main" id="{5DA4678B-F6A8-7EA8-8634-AC4AAFE32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3" name="Google Shape;1803;g60be7dcf1c_0_698:notes">
            <a:extLst>
              <a:ext uri="{FF2B5EF4-FFF2-40B4-BE49-F238E27FC236}">
                <a16:creationId xmlns:a16="http://schemas.microsoft.com/office/drawing/2014/main" id="{880977FD-852E-0C05-BAE1-BB18D54B23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 err="1"/>
              <a:t>However</a:t>
            </a:r>
            <a:r>
              <a:rPr lang="de-DE" dirty="0"/>
              <a:t>,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baseline="0" dirty="0"/>
              <a:t> </a:t>
            </a:r>
            <a:r>
              <a:rPr lang="de-DE" baseline="0" dirty="0" err="1"/>
              <a:t>more</a:t>
            </a:r>
            <a:r>
              <a:rPr lang="de-DE" baseline="0" dirty="0"/>
              <a:t> </a:t>
            </a:r>
            <a:r>
              <a:rPr lang="de-DE" baseline="0" dirty="0" err="1"/>
              <a:t>than</a:t>
            </a:r>
            <a:r>
              <a:rPr lang="de-DE" baseline="0" dirty="0"/>
              <a:t> an </a:t>
            </a:r>
            <a:r>
              <a:rPr lang="de-DE" baseline="0" dirty="0" err="1"/>
              <a:t>analogy</a:t>
            </a:r>
            <a:r>
              <a:rPr lang="de-DE" baseline="0" dirty="0"/>
              <a:t>.</a:t>
            </a:r>
            <a:endParaRPr dirty="0"/>
          </a:p>
        </p:txBody>
      </p:sp>
      <p:sp>
        <p:nvSpPr>
          <p:cNvPr id="1804" name="Google Shape;1804;g60be7dcf1c_0_698:notes">
            <a:extLst>
              <a:ext uri="{FF2B5EF4-FFF2-40B4-BE49-F238E27FC236}">
                <a16:creationId xmlns:a16="http://schemas.microsoft.com/office/drawing/2014/main" id="{61E57D56-3914-9F4C-3949-91BD149EB9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019232803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2">
          <a:extLst>
            <a:ext uri="{FF2B5EF4-FFF2-40B4-BE49-F238E27FC236}">
              <a16:creationId xmlns:a16="http://schemas.microsoft.com/office/drawing/2014/main" id="{A095D020-FF7B-FA51-03D2-D1A584CF1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3" name="Google Shape;1803;g60be7dcf1c_0_698:notes">
            <a:extLst>
              <a:ext uri="{FF2B5EF4-FFF2-40B4-BE49-F238E27FC236}">
                <a16:creationId xmlns:a16="http://schemas.microsoft.com/office/drawing/2014/main" id="{CFB89A30-A839-52C2-5664-CB04F0FD20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 err="1"/>
              <a:t>Actually</a:t>
            </a:r>
            <a:r>
              <a:rPr lang="de-DE" dirty="0"/>
              <a:t>,</a:t>
            </a:r>
            <a:r>
              <a:rPr lang="de-DE" baseline="0" dirty="0"/>
              <a:t> </a:t>
            </a:r>
            <a:r>
              <a:rPr lang="de-DE" baseline="0" dirty="0" err="1"/>
              <a:t>we</a:t>
            </a:r>
            <a:r>
              <a:rPr lang="de-DE" baseline="0" dirty="0"/>
              <a:t> also </a:t>
            </a:r>
            <a:r>
              <a:rPr lang="de-DE" baseline="0" dirty="0" err="1"/>
              <a:t>have</a:t>
            </a:r>
            <a:r>
              <a:rPr lang="de-DE" baseline="0" dirty="0"/>
              <a:t> </a:t>
            </a:r>
            <a:r>
              <a:rPr lang="de-DE" baseline="0" dirty="0" err="1"/>
              <a:t>first</a:t>
            </a:r>
            <a:r>
              <a:rPr lang="de-DE" baseline="0" dirty="0"/>
              <a:t> </a:t>
            </a:r>
            <a:r>
              <a:rPr lang="de-DE" baseline="0" dirty="0" err="1"/>
              <a:t>results</a:t>
            </a:r>
            <a:r>
              <a:rPr lang="de-DE" baseline="0" dirty="0"/>
              <a:t> on </a:t>
            </a:r>
            <a:r>
              <a:rPr lang="de-DE" baseline="0" dirty="0" err="1"/>
              <a:t>how</a:t>
            </a:r>
            <a:r>
              <a:rPr lang="de-DE" baseline="0" dirty="0"/>
              <a:t> </a:t>
            </a:r>
            <a:r>
              <a:rPr lang="de-DE" baseline="0" dirty="0" err="1"/>
              <a:t>we</a:t>
            </a:r>
            <a:r>
              <a:rPr lang="de-DE" baseline="0" dirty="0"/>
              <a:t> </a:t>
            </a:r>
            <a:r>
              <a:rPr lang="de-DE" baseline="0" dirty="0" err="1"/>
              <a:t>can</a:t>
            </a:r>
            <a:r>
              <a:rPr lang="de-DE" baseline="0" dirty="0"/>
              <a:t> </a:t>
            </a:r>
            <a:r>
              <a:rPr lang="de-DE" baseline="0" dirty="0" err="1"/>
              <a:t>exploit</a:t>
            </a:r>
            <a:r>
              <a:rPr lang="de-DE" baseline="0" dirty="0"/>
              <a:t> </a:t>
            </a:r>
            <a:r>
              <a:rPr lang="de-DE" baseline="0" dirty="0" err="1"/>
              <a:t>algorithms</a:t>
            </a:r>
            <a:r>
              <a:rPr lang="de-DE" baseline="0" dirty="0"/>
              <a:t> </a:t>
            </a:r>
            <a:r>
              <a:rPr lang="de-DE" baseline="0" dirty="0" err="1"/>
              <a:t>from</a:t>
            </a:r>
            <a:r>
              <a:rPr lang="de-DE" baseline="0" dirty="0"/>
              <a:t> </a:t>
            </a:r>
            <a:r>
              <a:rPr lang="de-DE" baseline="0" dirty="0" err="1"/>
              <a:t>coding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datastructures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design </a:t>
            </a:r>
            <a:r>
              <a:rPr lang="de-DE" baseline="0" dirty="0" err="1"/>
              <a:t>self-adjusting</a:t>
            </a:r>
            <a:r>
              <a:rPr lang="de-DE" baseline="0" dirty="0"/>
              <a:t> </a:t>
            </a:r>
            <a:r>
              <a:rPr lang="de-DE" baseline="0" dirty="0" err="1"/>
              <a:t>networks</a:t>
            </a:r>
            <a:r>
              <a:rPr lang="de-DE" baseline="0" dirty="0"/>
              <a:t> </a:t>
            </a:r>
            <a:r>
              <a:rPr lang="de-DE" baseline="0" dirty="0" err="1"/>
              <a:t>which</a:t>
            </a:r>
            <a:r>
              <a:rPr lang="de-DE" baseline="0" dirty="0"/>
              <a:t> </a:t>
            </a:r>
            <a:r>
              <a:rPr lang="de-DE" baseline="0" dirty="0" err="1"/>
              <a:t>match</a:t>
            </a:r>
            <a:r>
              <a:rPr lang="de-DE" baseline="0" dirty="0"/>
              <a:t> </a:t>
            </a:r>
            <a:r>
              <a:rPr lang="de-DE" baseline="0" dirty="0" err="1"/>
              <a:t>these</a:t>
            </a:r>
            <a:r>
              <a:rPr lang="de-DE" baseline="0" dirty="0"/>
              <a:t> </a:t>
            </a:r>
            <a:r>
              <a:rPr lang="de-DE" baseline="0" dirty="0" err="1"/>
              <a:t>lower</a:t>
            </a:r>
            <a:r>
              <a:rPr lang="de-DE" baseline="0" dirty="0"/>
              <a:t> </a:t>
            </a:r>
            <a:r>
              <a:rPr lang="de-DE" baseline="0" dirty="0" err="1"/>
              <a:t>bounds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are</a:t>
            </a:r>
            <a:r>
              <a:rPr lang="de-DE" baseline="0" dirty="0"/>
              <a:t> </a:t>
            </a:r>
            <a:r>
              <a:rPr lang="de-DE" baseline="0" dirty="0" err="1"/>
              <a:t>hence</a:t>
            </a:r>
            <a:r>
              <a:rPr lang="de-DE" baseline="0" dirty="0"/>
              <a:t> </a:t>
            </a:r>
            <a:r>
              <a:rPr lang="de-DE" baseline="0" dirty="0" err="1"/>
              <a:t>asymptotically</a:t>
            </a:r>
            <a:r>
              <a:rPr lang="de-DE" baseline="0" dirty="0"/>
              <a:t> optimal.</a:t>
            </a:r>
            <a:endParaRPr dirty="0"/>
          </a:p>
        </p:txBody>
      </p:sp>
      <p:sp>
        <p:nvSpPr>
          <p:cNvPr id="1804" name="Google Shape;1804;g60be7dcf1c_0_698:notes">
            <a:extLst>
              <a:ext uri="{FF2B5EF4-FFF2-40B4-BE49-F238E27FC236}">
                <a16:creationId xmlns:a16="http://schemas.microsoft.com/office/drawing/2014/main" id="{ABF60E9D-2FE2-964E-936A-CBE8768657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585263834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7">
          <a:extLst>
            <a:ext uri="{FF2B5EF4-FFF2-40B4-BE49-F238E27FC236}">
              <a16:creationId xmlns:a16="http://schemas.microsoft.com/office/drawing/2014/main" id="{4CAD90C5-B2AF-00E7-EEB0-7F1759CDF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8" name="Google Shape;1898;g60be7dcf1c_0_790:notes">
            <a:extLst>
              <a:ext uri="{FF2B5EF4-FFF2-40B4-BE49-F238E27FC236}">
                <a16:creationId xmlns:a16="http://schemas.microsoft.com/office/drawing/2014/main" id="{682E2DBF-696D-CD7D-8ED5-66AA975561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So </a:t>
            </a:r>
            <a:r>
              <a:rPr lang="de-DE" dirty="0" err="1"/>
              <a:t>far</a:t>
            </a:r>
            <a:r>
              <a:rPr lang="de-DE" dirty="0"/>
              <a:t>,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have</a:t>
            </a:r>
            <a:r>
              <a:rPr lang="de-DE" dirty="0"/>
              <a:t> just </a:t>
            </a:r>
            <a:r>
              <a:rPr lang="de-DE" dirty="0" err="1"/>
              <a:t>scratched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surface</a:t>
            </a:r>
            <a:r>
              <a:rPr lang="de-DE" baseline="0" dirty="0"/>
              <a:t>,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with</a:t>
            </a:r>
            <a:r>
              <a:rPr lang="de-DE" baseline="0" dirty="0"/>
              <a:t> </a:t>
            </a:r>
            <a:r>
              <a:rPr lang="de-DE" baseline="0" dirty="0" err="1"/>
              <a:t>this</a:t>
            </a:r>
            <a:r>
              <a:rPr lang="de-DE" baseline="0" dirty="0"/>
              <a:t> ERC </a:t>
            </a:r>
            <a:r>
              <a:rPr lang="de-DE" baseline="0" dirty="0" err="1"/>
              <a:t>project</a:t>
            </a:r>
            <a:r>
              <a:rPr lang="de-DE" baseline="0" dirty="0"/>
              <a:t>, </a:t>
            </a:r>
            <a:r>
              <a:rPr lang="de-DE" baseline="0" dirty="0" err="1"/>
              <a:t>we</a:t>
            </a:r>
            <a:r>
              <a:rPr lang="de-DE" baseline="0" dirty="0"/>
              <a:t> </a:t>
            </a:r>
            <a:r>
              <a:rPr lang="de-DE" baseline="0" dirty="0" err="1"/>
              <a:t>want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explore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rest</a:t>
            </a:r>
            <a:r>
              <a:rPr lang="de-DE" baseline="0" dirty="0"/>
              <a:t> </a:t>
            </a:r>
            <a:r>
              <a:rPr lang="de-DE" baseline="0" dirty="0" err="1"/>
              <a:t>of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iceberg</a:t>
            </a:r>
            <a:r>
              <a:rPr lang="de-DE" baseline="0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 err="1"/>
              <a:t>Indeed</a:t>
            </a:r>
            <a:r>
              <a:rPr lang="de-DE" baseline="0" dirty="0"/>
              <a:t>,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notion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self-adjusting</a:t>
            </a:r>
            <a:r>
              <a:rPr lang="de-DE" dirty="0"/>
              <a:t> </a:t>
            </a:r>
            <a:r>
              <a:rPr lang="de-DE" dirty="0" err="1"/>
              <a:t>networks</a:t>
            </a:r>
            <a:r>
              <a:rPr lang="de-DE" dirty="0"/>
              <a:t> </a:t>
            </a:r>
            <a:r>
              <a:rPr lang="de-DE" dirty="0" err="1"/>
              <a:t>opens</a:t>
            </a:r>
            <a:r>
              <a:rPr lang="de-DE" dirty="0"/>
              <a:t> </a:t>
            </a:r>
            <a:r>
              <a:rPr lang="de-DE" baseline="0" dirty="0" err="1"/>
              <a:t>are</a:t>
            </a:r>
            <a:r>
              <a:rPr lang="de-DE" baseline="0" dirty="0"/>
              <a:t> large </a:t>
            </a:r>
            <a:r>
              <a:rPr lang="de-DE" baseline="0" dirty="0" err="1"/>
              <a:t>uncharted</a:t>
            </a:r>
            <a:r>
              <a:rPr lang="de-DE" baseline="0" dirty="0"/>
              <a:t> </a:t>
            </a:r>
            <a:r>
              <a:rPr lang="de-DE" baseline="0" dirty="0" err="1"/>
              <a:t>field</a:t>
            </a:r>
            <a:r>
              <a:rPr lang="de-DE" baseline="0" dirty="0"/>
              <a:t>, </a:t>
            </a:r>
            <a:r>
              <a:rPr lang="de-DE" baseline="0" dirty="0" err="1"/>
              <a:t>with</a:t>
            </a:r>
            <a:r>
              <a:rPr lang="de-DE" baseline="0" dirty="0"/>
              <a:t> </a:t>
            </a:r>
            <a:r>
              <a:rPr lang="de-DE" baseline="0" dirty="0" err="1"/>
              <a:t>many</a:t>
            </a:r>
            <a:r>
              <a:rPr lang="de-DE" baseline="0" dirty="0"/>
              <a:t> </a:t>
            </a:r>
            <a:r>
              <a:rPr lang="de-DE" baseline="0" dirty="0" err="1"/>
              <a:t>questions</a:t>
            </a:r>
            <a:r>
              <a:rPr lang="de-DE" baseline="0" dirty="0"/>
              <a:t>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 err="1"/>
              <a:t>W</a:t>
            </a:r>
            <a:r>
              <a:rPr lang="de-DE" baseline="0" dirty="0" err="1"/>
              <a:t>e</a:t>
            </a:r>
            <a:r>
              <a:rPr lang="de-DE" baseline="0" dirty="0"/>
              <a:t> </a:t>
            </a:r>
            <a:r>
              <a:rPr lang="de-DE" baseline="0" dirty="0" err="1"/>
              <a:t>structure</a:t>
            </a:r>
            <a:r>
              <a:rPr lang="de-DE" baseline="0" dirty="0"/>
              <a:t> </a:t>
            </a:r>
            <a:r>
              <a:rPr lang="de-DE" baseline="0" dirty="0" err="1"/>
              <a:t>our</a:t>
            </a:r>
            <a:r>
              <a:rPr lang="de-DE" baseline="0" dirty="0"/>
              <a:t> </a:t>
            </a:r>
            <a:r>
              <a:rPr lang="de-DE" baseline="0" dirty="0" err="1"/>
              <a:t>project</a:t>
            </a:r>
            <a:r>
              <a:rPr lang="de-DE" baseline="0" dirty="0"/>
              <a:t> </a:t>
            </a:r>
            <a:r>
              <a:rPr lang="de-DE" baseline="0" dirty="0" err="1"/>
              <a:t>around</a:t>
            </a:r>
            <a:r>
              <a:rPr lang="de-DE" baseline="0" dirty="0"/>
              <a:t> </a:t>
            </a:r>
            <a:r>
              <a:rPr lang="de-DE" baseline="0" dirty="0" err="1"/>
              <a:t>models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metrics</a:t>
            </a:r>
            <a:r>
              <a:rPr lang="de-DE" baseline="0" dirty="0"/>
              <a:t>, </a:t>
            </a:r>
            <a:r>
              <a:rPr lang="de-DE" baseline="0" dirty="0" err="1"/>
              <a:t>algorithms</a:t>
            </a:r>
            <a:r>
              <a:rPr lang="de-DE" baseline="0" dirty="0"/>
              <a:t>, fault-</a:t>
            </a:r>
            <a:r>
              <a:rPr lang="de-DE" baseline="0" dirty="0" err="1"/>
              <a:t>tolerance</a:t>
            </a:r>
            <a:r>
              <a:rPr lang="de-DE" baseline="0" dirty="0"/>
              <a:t>, </a:t>
            </a:r>
            <a:r>
              <a:rPr lang="de-DE" baseline="0" dirty="0" err="1"/>
              <a:t>integration</a:t>
            </a:r>
            <a:r>
              <a:rPr lang="de-DE" baseline="0" dirty="0"/>
              <a:t> </a:t>
            </a:r>
            <a:r>
              <a:rPr lang="de-DE" baseline="0" dirty="0" err="1"/>
              <a:t>into</a:t>
            </a:r>
            <a:r>
              <a:rPr lang="de-DE" baseline="0" dirty="0"/>
              <a:t> </a:t>
            </a:r>
            <a:r>
              <a:rPr lang="de-DE" baseline="0" dirty="0" err="1"/>
              <a:t>higher</a:t>
            </a:r>
            <a:r>
              <a:rPr lang="de-DE" baseline="0" dirty="0"/>
              <a:t> </a:t>
            </a:r>
            <a:r>
              <a:rPr lang="de-DE" baseline="0" dirty="0" err="1"/>
              <a:t>layers</a:t>
            </a:r>
            <a:r>
              <a:rPr lang="de-DE" baseline="0" dirty="0"/>
              <a:t>,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case</a:t>
            </a:r>
            <a:r>
              <a:rPr lang="de-DE" baseline="0" dirty="0"/>
              <a:t> </a:t>
            </a:r>
            <a:r>
              <a:rPr lang="de-DE" baseline="0" dirty="0" err="1"/>
              <a:t>studies</a:t>
            </a:r>
            <a:r>
              <a:rPr lang="de-DE" baseline="0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/>
              <a:t>In </a:t>
            </a:r>
            <a:r>
              <a:rPr lang="de-DE" baseline="0" dirty="0" err="1"/>
              <a:t>particular</a:t>
            </a:r>
            <a:r>
              <a:rPr lang="de-DE" baseline="0" dirty="0"/>
              <a:t>, </a:t>
            </a:r>
            <a:r>
              <a:rPr lang="de-DE" baseline="0" dirty="0" err="1"/>
              <a:t>we</a:t>
            </a:r>
            <a:r>
              <a:rPr lang="de-DE" baseline="0" dirty="0"/>
              <a:t> will </a:t>
            </a:r>
            <a:r>
              <a:rPr lang="de-DE" baseline="0" dirty="0" err="1"/>
              <a:t>explore</a:t>
            </a:r>
            <a:r>
              <a:rPr lang="de-DE" baseline="0" dirty="0"/>
              <a:t> </a:t>
            </a:r>
            <a:r>
              <a:rPr lang="de-DE" baseline="0" dirty="0" err="1"/>
              <a:t>metrics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algorithms</a:t>
            </a:r>
            <a:r>
              <a:rPr lang="de-DE" baseline="0" dirty="0"/>
              <a:t> </a:t>
            </a:r>
            <a:r>
              <a:rPr lang="de-DE" baseline="0" dirty="0" err="1"/>
              <a:t>for</a:t>
            </a:r>
            <a:r>
              <a:rPr lang="de-DE" baseline="0" dirty="0"/>
              <a:t> </a:t>
            </a:r>
            <a:r>
              <a:rPr lang="de-DE" baseline="0" dirty="0" err="1"/>
              <a:t>by</a:t>
            </a:r>
            <a:r>
              <a:rPr lang="de-DE" baseline="0" dirty="0"/>
              <a:t> </a:t>
            </a:r>
            <a:r>
              <a:rPr lang="de-DE" baseline="0" dirty="0" err="1"/>
              <a:t>how</a:t>
            </a:r>
            <a:r>
              <a:rPr lang="de-DE" baseline="0" dirty="0"/>
              <a:t> </a:t>
            </a:r>
            <a:r>
              <a:rPr lang="de-DE" baseline="0" dirty="0" err="1"/>
              <a:t>much</a:t>
            </a:r>
            <a:r>
              <a:rPr lang="de-DE" baseline="0" dirty="0"/>
              <a:t> </a:t>
            </a:r>
            <a:r>
              <a:rPr lang="de-DE" baseline="0" dirty="0" err="1"/>
              <a:t>load</a:t>
            </a:r>
            <a:r>
              <a:rPr lang="de-DE" baseline="0" dirty="0"/>
              <a:t> </a:t>
            </a:r>
            <a:r>
              <a:rPr lang="de-DE" baseline="0" dirty="0" err="1"/>
              <a:t>can</a:t>
            </a:r>
            <a:r>
              <a:rPr lang="de-DE" baseline="0" dirty="0"/>
              <a:t> </a:t>
            </a:r>
            <a:r>
              <a:rPr lang="de-DE" baseline="0" dirty="0" err="1"/>
              <a:t>be</a:t>
            </a:r>
            <a:r>
              <a:rPr lang="de-DE" baseline="0" dirty="0"/>
              <a:t> </a:t>
            </a:r>
            <a:r>
              <a:rPr lang="de-DE" baseline="0" dirty="0" err="1"/>
              <a:t>lowered</a:t>
            </a:r>
            <a:r>
              <a:rPr lang="de-DE" baseline="0" dirty="0"/>
              <a:t>, </a:t>
            </a:r>
            <a:r>
              <a:rPr lang="de-DE" baseline="0" dirty="0" err="1"/>
              <a:t>energy</a:t>
            </a:r>
            <a:r>
              <a:rPr lang="de-DE" baseline="0" dirty="0"/>
              <a:t> </a:t>
            </a:r>
            <a:r>
              <a:rPr lang="de-DE" baseline="0" dirty="0" err="1"/>
              <a:t>reduced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quality</a:t>
            </a:r>
            <a:r>
              <a:rPr lang="de-DE" baseline="0" dirty="0"/>
              <a:t>-</a:t>
            </a:r>
            <a:r>
              <a:rPr lang="de-DE" baseline="0" dirty="0" err="1"/>
              <a:t>of</a:t>
            </a:r>
            <a:r>
              <a:rPr lang="de-DE" baseline="0" dirty="0"/>
              <a:t>-service </a:t>
            </a:r>
            <a:r>
              <a:rPr lang="de-DE" baseline="0" dirty="0" err="1"/>
              <a:t>improved</a:t>
            </a:r>
            <a:r>
              <a:rPr lang="de-DE" baseline="0" dirty="0"/>
              <a:t> in </a:t>
            </a:r>
            <a:r>
              <a:rPr lang="de-DE" baseline="0" dirty="0" err="1"/>
              <a:t>selfadjusting</a:t>
            </a:r>
            <a:r>
              <a:rPr lang="de-DE" baseline="0" dirty="0"/>
              <a:t> </a:t>
            </a:r>
            <a:r>
              <a:rPr lang="de-DE" baseline="0" dirty="0" err="1"/>
              <a:t>networks</a:t>
            </a:r>
            <a:r>
              <a:rPr lang="de-DE" baseline="0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 err="1"/>
              <a:t>We</a:t>
            </a:r>
            <a:r>
              <a:rPr lang="de-DE" baseline="0" dirty="0"/>
              <a:t> also </a:t>
            </a:r>
            <a:r>
              <a:rPr lang="de-DE" baseline="0" dirty="0" err="1"/>
              <a:t>need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develop</a:t>
            </a:r>
            <a:r>
              <a:rPr lang="de-DE" baseline="0" dirty="0"/>
              <a:t> </a:t>
            </a:r>
            <a:r>
              <a:rPr lang="de-DE" baseline="0" dirty="0" err="1"/>
              <a:t>models</a:t>
            </a:r>
            <a:r>
              <a:rPr lang="de-DE" baseline="0" dirty="0"/>
              <a:t> </a:t>
            </a:r>
            <a:r>
              <a:rPr lang="de-DE" baseline="0" dirty="0" err="1"/>
              <a:t>for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tradeoff</a:t>
            </a:r>
            <a:r>
              <a:rPr lang="de-DE" baseline="0" dirty="0"/>
              <a:t> </a:t>
            </a:r>
            <a:r>
              <a:rPr lang="de-DE" baseline="0" dirty="0" err="1"/>
              <a:t>between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benefits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costs</a:t>
            </a:r>
            <a:r>
              <a:rPr lang="de-DE" baseline="0" dirty="0"/>
              <a:t> </a:t>
            </a:r>
            <a:r>
              <a:rPr lang="de-DE" baseline="0" dirty="0" err="1"/>
              <a:t>of</a:t>
            </a:r>
            <a:r>
              <a:rPr lang="de-DE" baseline="0" dirty="0"/>
              <a:t> </a:t>
            </a:r>
            <a:r>
              <a:rPr lang="de-DE" baseline="0" dirty="0" err="1"/>
              <a:t>reconfigurations</a:t>
            </a:r>
            <a:r>
              <a:rPr lang="de-DE" baseline="0" dirty="0"/>
              <a:t> </a:t>
            </a:r>
            <a:r>
              <a:rPr lang="de-DE" baseline="0" dirty="0" err="1"/>
              <a:t>over</a:t>
            </a:r>
            <a:r>
              <a:rPr lang="de-DE" baseline="0" dirty="0"/>
              <a:t> time.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 err="1"/>
              <a:t>We</a:t>
            </a:r>
            <a:r>
              <a:rPr lang="de-DE" baseline="0" dirty="0"/>
              <a:t> also </a:t>
            </a:r>
            <a:r>
              <a:rPr lang="de-DE" baseline="0" dirty="0" err="1"/>
              <a:t>study</a:t>
            </a:r>
            <a:r>
              <a:rPr lang="de-DE" baseline="0" dirty="0"/>
              <a:t> </a:t>
            </a:r>
            <a:r>
              <a:rPr lang="de-DE" baseline="0" dirty="0" err="1"/>
              <a:t>how</a:t>
            </a:r>
            <a:r>
              <a:rPr lang="de-DE" baseline="0" dirty="0"/>
              <a:t> </a:t>
            </a:r>
            <a:r>
              <a:rPr lang="de-DE" baseline="0" dirty="0" err="1"/>
              <a:t>self-adjusting</a:t>
            </a:r>
            <a:r>
              <a:rPr lang="de-DE" baseline="0" dirty="0"/>
              <a:t> </a:t>
            </a:r>
            <a:r>
              <a:rPr lang="de-DE" baseline="0" dirty="0" err="1"/>
              <a:t>networks</a:t>
            </a:r>
            <a:r>
              <a:rPr lang="de-DE" baseline="0" dirty="0"/>
              <a:t> </a:t>
            </a:r>
            <a:r>
              <a:rPr lang="de-DE" baseline="0" dirty="0" err="1"/>
              <a:t>can</a:t>
            </a:r>
            <a:r>
              <a:rPr lang="de-DE" baseline="0" dirty="0"/>
              <a:t> </a:t>
            </a:r>
            <a:r>
              <a:rPr lang="de-DE" baseline="0" dirty="0" err="1"/>
              <a:t>be</a:t>
            </a:r>
            <a:r>
              <a:rPr lang="de-DE" baseline="0" dirty="0"/>
              <a:t> </a:t>
            </a:r>
            <a:r>
              <a:rPr lang="de-DE" baseline="0" dirty="0" err="1"/>
              <a:t>used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improve</a:t>
            </a:r>
            <a:r>
              <a:rPr lang="de-DE" baseline="0" dirty="0"/>
              <a:t> fault-</a:t>
            </a:r>
            <a:r>
              <a:rPr lang="de-DE" baseline="0" dirty="0" err="1"/>
              <a:t>tolerance</a:t>
            </a:r>
            <a:r>
              <a:rPr lang="de-DE" baseline="0" dirty="0"/>
              <a:t>, </a:t>
            </a:r>
            <a:r>
              <a:rPr lang="de-DE" baseline="0" dirty="0" err="1"/>
              <a:t>what</a:t>
            </a:r>
            <a:r>
              <a:rPr lang="de-DE" baseline="0" dirty="0"/>
              <a:t> </a:t>
            </a:r>
            <a:r>
              <a:rPr lang="de-DE" baseline="0" dirty="0" err="1"/>
              <a:t>is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impact</a:t>
            </a:r>
            <a:r>
              <a:rPr lang="de-DE" baseline="0" dirty="0"/>
              <a:t> on </a:t>
            </a:r>
            <a:r>
              <a:rPr lang="de-DE" baseline="0" dirty="0" err="1"/>
              <a:t>other</a:t>
            </a:r>
            <a:r>
              <a:rPr lang="de-DE" baseline="0" dirty="0"/>
              <a:t> </a:t>
            </a:r>
            <a:r>
              <a:rPr lang="de-DE" baseline="0" dirty="0" err="1"/>
              <a:t>layers</a:t>
            </a:r>
            <a:r>
              <a:rPr lang="de-DE" baseline="0" dirty="0"/>
              <a:t>,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how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apply</a:t>
            </a:r>
            <a:r>
              <a:rPr lang="de-DE" baseline="0" dirty="0"/>
              <a:t> </a:t>
            </a:r>
            <a:r>
              <a:rPr lang="de-DE" baseline="0" dirty="0" err="1"/>
              <a:t>our</a:t>
            </a:r>
            <a:r>
              <a:rPr lang="de-DE" baseline="0" dirty="0"/>
              <a:t> </a:t>
            </a:r>
            <a:r>
              <a:rPr lang="de-DE" baseline="0" dirty="0" err="1"/>
              <a:t>solutions</a:t>
            </a:r>
            <a:r>
              <a:rPr lang="de-DE" baseline="0" dirty="0"/>
              <a:t> in a </a:t>
            </a:r>
            <a:r>
              <a:rPr lang="de-DE" baseline="0" dirty="0" err="1"/>
              <a:t>specific</a:t>
            </a:r>
            <a:r>
              <a:rPr lang="de-DE" baseline="0" dirty="0"/>
              <a:t> </a:t>
            </a:r>
            <a:r>
              <a:rPr lang="de-DE" baseline="0" dirty="0" err="1"/>
              <a:t>case</a:t>
            </a:r>
            <a:r>
              <a:rPr lang="de-DE" baseline="0" dirty="0"/>
              <a:t> </a:t>
            </a:r>
            <a:r>
              <a:rPr lang="de-DE" baseline="0" dirty="0" err="1"/>
              <a:t>study</a:t>
            </a:r>
            <a:r>
              <a:rPr lang="de-DE" baseline="0" dirty="0"/>
              <a:t>, e.g., </a:t>
            </a:r>
            <a:r>
              <a:rPr lang="de-DE" baseline="0" dirty="0" err="1"/>
              <a:t>how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develop</a:t>
            </a:r>
            <a:r>
              <a:rPr lang="de-DE" baseline="0" dirty="0"/>
              <a:t> a </a:t>
            </a:r>
            <a:r>
              <a:rPr lang="de-DE" baseline="0" dirty="0" err="1"/>
              <a:t>scalable</a:t>
            </a:r>
            <a:r>
              <a:rPr lang="de-DE" baseline="0" dirty="0"/>
              <a:t> </a:t>
            </a:r>
            <a:r>
              <a:rPr lang="de-DE" baseline="0" dirty="0" err="1"/>
              <a:t>control</a:t>
            </a:r>
            <a:r>
              <a:rPr lang="de-DE" baseline="0" dirty="0"/>
              <a:t> plane.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/>
              <a:t>This </a:t>
            </a:r>
            <a:r>
              <a:rPr lang="de-DE" baseline="0" dirty="0" err="1"/>
              <a:t>project</a:t>
            </a:r>
            <a:r>
              <a:rPr lang="de-DE" baseline="0" dirty="0"/>
              <a:t> </a:t>
            </a:r>
            <a:r>
              <a:rPr lang="de-DE" baseline="0" dirty="0" err="1"/>
              <a:t>hence</a:t>
            </a:r>
            <a:r>
              <a:rPr lang="de-DE" baseline="0" dirty="0"/>
              <a:t> </a:t>
            </a:r>
            <a:r>
              <a:rPr lang="de-DE" baseline="0" dirty="0" err="1"/>
              <a:t>requires</a:t>
            </a:r>
            <a:r>
              <a:rPr lang="de-DE" baseline="0" dirty="0"/>
              <a:t> </a:t>
            </a:r>
            <a:r>
              <a:rPr lang="de-DE" baseline="0" dirty="0" err="1"/>
              <a:t>expertises</a:t>
            </a:r>
            <a:r>
              <a:rPr lang="de-DE" baseline="0" dirty="0"/>
              <a:t> </a:t>
            </a:r>
            <a:r>
              <a:rPr lang="de-DE" baseline="0" dirty="0" err="1"/>
              <a:t>from</a:t>
            </a:r>
            <a:r>
              <a:rPr lang="de-DE" baseline="0" dirty="0"/>
              <a:t> different </a:t>
            </a:r>
            <a:r>
              <a:rPr lang="de-DE" baseline="0" dirty="0" err="1"/>
              <a:t>fields</a:t>
            </a:r>
            <a:r>
              <a:rPr lang="de-DE" baseline="0" dirty="0"/>
              <a:t>, </a:t>
            </a:r>
            <a:r>
              <a:rPr lang="de-DE" baseline="0" dirty="0" err="1"/>
              <a:t>from</a:t>
            </a:r>
            <a:r>
              <a:rPr lang="de-DE" baseline="0" dirty="0"/>
              <a:t> </a:t>
            </a:r>
            <a:r>
              <a:rPr lang="de-DE" baseline="0" dirty="0" err="1"/>
              <a:t>networking</a:t>
            </a:r>
            <a:r>
              <a:rPr lang="de-DE" baseline="0" dirty="0"/>
              <a:t>, </a:t>
            </a:r>
            <a:r>
              <a:rPr lang="de-DE" baseline="0" dirty="0" err="1"/>
              <a:t>over</a:t>
            </a:r>
            <a:r>
              <a:rPr lang="de-DE" baseline="0" dirty="0"/>
              <a:t> </a:t>
            </a:r>
            <a:r>
              <a:rPr lang="de-DE" baseline="0" dirty="0" err="1"/>
              <a:t>distributed</a:t>
            </a:r>
            <a:r>
              <a:rPr lang="de-DE" baseline="0" dirty="0"/>
              <a:t> </a:t>
            </a:r>
            <a:r>
              <a:rPr lang="de-DE" baseline="0" dirty="0" err="1"/>
              <a:t>systems</a:t>
            </a:r>
            <a:r>
              <a:rPr lang="de-DE" baseline="0" dirty="0"/>
              <a:t>, </a:t>
            </a:r>
            <a:r>
              <a:rPr lang="de-DE" baseline="0" dirty="0" err="1"/>
              <a:t>algorithms</a:t>
            </a:r>
            <a:r>
              <a:rPr lang="de-DE" baseline="0" dirty="0"/>
              <a:t>,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performance</a:t>
            </a:r>
            <a:r>
              <a:rPr lang="de-DE" baseline="0" dirty="0"/>
              <a:t> </a:t>
            </a:r>
            <a:r>
              <a:rPr lang="de-DE" baseline="0" dirty="0" err="1"/>
              <a:t>evaluation</a:t>
            </a:r>
            <a:r>
              <a:rPr lang="de-DE" baseline="0" dirty="0"/>
              <a:t>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/>
              <a:t>I </a:t>
            </a:r>
            <a:r>
              <a:rPr lang="de-DE" baseline="0" dirty="0" err="1"/>
              <a:t>have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necessary</a:t>
            </a:r>
            <a:r>
              <a:rPr lang="de-DE" baseline="0" dirty="0"/>
              <a:t> </a:t>
            </a:r>
            <a:r>
              <a:rPr lang="de-DE" baseline="0" dirty="0" err="1"/>
              <a:t>background</a:t>
            </a:r>
            <a:r>
              <a:rPr lang="de-DE" baseline="0" dirty="0"/>
              <a:t> in all </a:t>
            </a:r>
            <a:r>
              <a:rPr lang="de-DE" baseline="0" dirty="0" err="1"/>
              <a:t>these</a:t>
            </a:r>
            <a:r>
              <a:rPr lang="de-DE" baseline="0" dirty="0"/>
              <a:t> </a:t>
            </a:r>
            <a:r>
              <a:rPr lang="de-DE" baseline="0" dirty="0" err="1"/>
              <a:t>areas</a:t>
            </a:r>
            <a:r>
              <a:rPr lang="de-DE" baseline="0" dirty="0"/>
              <a:t>.</a:t>
            </a:r>
            <a:endParaRPr dirty="0"/>
          </a:p>
        </p:txBody>
      </p:sp>
      <p:sp>
        <p:nvSpPr>
          <p:cNvPr id="1899" name="Google Shape;1899;g60be7dcf1c_0_790:notes">
            <a:extLst>
              <a:ext uri="{FF2B5EF4-FFF2-40B4-BE49-F238E27FC236}">
                <a16:creationId xmlns:a16="http://schemas.microsoft.com/office/drawing/2014/main" id="{017EB8CD-AC0D-73BE-3EEC-3963573950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109582275"/>
      </p:ext>
    </p:extLst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7">
          <a:extLst>
            <a:ext uri="{FF2B5EF4-FFF2-40B4-BE49-F238E27FC236}">
              <a16:creationId xmlns:a16="http://schemas.microsoft.com/office/drawing/2014/main" id="{AF47A0C7-C3ED-04BB-5A7A-53D3D7E2F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8" name="Google Shape;1898;g60be7dcf1c_0_790:notes">
            <a:extLst>
              <a:ext uri="{FF2B5EF4-FFF2-40B4-BE49-F238E27FC236}">
                <a16:creationId xmlns:a16="http://schemas.microsoft.com/office/drawing/2014/main" id="{7D8C4146-E200-BDB4-8414-3D3A5F1F09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So </a:t>
            </a:r>
            <a:r>
              <a:rPr lang="de-DE" dirty="0" err="1"/>
              <a:t>far</a:t>
            </a:r>
            <a:r>
              <a:rPr lang="de-DE" dirty="0"/>
              <a:t>,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have</a:t>
            </a:r>
            <a:r>
              <a:rPr lang="de-DE" dirty="0"/>
              <a:t> just </a:t>
            </a:r>
            <a:r>
              <a:rPr lang="de-DE" dirty="0" err="1"/>
              <a:t>scratched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surface</a:t>
            </a:r>
            <a:r>
              <a:rPr lang="de-DE" baseline="0" dirty="0"/>
              <a:t>,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with</a:t>
            </a:r>
            <a:r>
              <a:rPr lang="de-DE" baseline="0" dirty="0"/>
              <a:t> </a:t>
            </a:r>
            <a:r>
              <a:rPr lang="de-DE" baseline="0" dirty="0" err="1"/>
              <a:t>this</a:t>
            </a:r>
            <a:r>
              <a:rPr lang="de-DE" baseline="0" dirty="0"/>
              <a:t> ERC </a:t>
            </a:r>
            <a:r>
              <a:rPr lang="de-DE" baseline="0" dirty="0" err="1"/>
              <a:t>project</a:t>
            </a:r>
            <a:r>
              <a:rPr lang="de-DE" baseline="0" dirty="0"/>
              <a:t>, </a:t>
            </a:r>
            <a:r>
              <a:rPr lang="de-DE" baseline="0" dirty="0" err="1"/>
              <a:t>we</a:t>
            </a:r>
            <a:r>
              <a:rPr lang="de-DE" baseline="0" dirty="0"/>
              <a:t> </a:t>
            </a:r>
            <a:r>
              <a:rPr lang="de-DE" baseline="0" dirty="0" err="1"/>
              <a:t>want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explore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rest</a:t>
            </a:r>
            <a:r>
              <a:rPr lang="de-DE" baseline="0" dirty="0"/>
              <a:t> </a:t>
            </a:r>
            <a:r>
              <a:rPr lang="de-DE" baseline="0" dirty="0" err="1"/>
              <a:t>of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iceberg</a:t>
            </a:r>
            <a:r>
              <a:rPr lang="de-DE" baseline="0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 err="1"/>
              <a:t>Indeed</a:t>
            </a:r>
            <a:r>
              <a:rPr lang="de-DE" baseline="0" dirty="0"/>
              <a:t>,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notion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self-adjusting</a:t>
            </a:r>
            <a:r>
              <a:rPr lang="de-DE" dirty="0"/>
              <a:t> </a:t>
            </a:r>
            <a:r>
              <a:rPr lang="de-DE" dirty="0" err="1"/>
              <a:t>networks</a:t>
            </a:r>
            <a:r>
              <a:rPr lang="de-DE" dirty="0"/>
              <a:t> </a:t>
            </a:r>
            <a:r>
              <a:rPr lang="de-DE" dirty="0" err="1"/>
              <a:t>opens</a:t>
            </a:r>
            <a:r>
              <a:rPr lang="de-DE" dirty="0"/>
              <a:t> </a:t>
            </a:r>
            <a:r>
              <a:rPr lang="de-DE" baseline="0" dirty="0" err="1"/>
              <a:t>are</a:t>
            </a:r>
            <a:r>
              <a:rPr lang="de-DE" baseline="0" dirty="0"/>
              <a:t> large </a:t>
            </a:r>
            <a:r>
              <a:rPr lang="de-DE" baseline="0" dirty="0" err="1"/>
              <a:t>uncharted</a:t>
            </a:r>
            <a:r>
              <a:rPr lang="de-DE" baseline="0" dirty="0"/>
              <a:t> </a:t>
            </a:r>
            <a:r>
              <a:rPr lang="de-DE" baseline="0" dirty="0" err="1"/>
              <a:t>field</a:t>
            </a:r>
            <a:r>
              <a:rPr lang="de-DE" baseline="0" dirty="0"/>
              <a:t>, </a:t>
            </a:r>
            <a:r>
              <a:rPr lang="de-DE" baseline="0" dirty="0" err="1"/>
              <a:t>with</a:t>
            </a:r>
            <a:r>
              <a:rPr lang="de-DE" baseline="0" dirty="0"/>
              <a:t> </a:t>
            </a:r>
            <a:r>
              <a:rPr lang="de-DE" baseline="0" dirty="0" err="1"/>
              <a:t>many</a:t>
            </a:r>
            <a:r>
              <a:rPr lang="de-DE" baseline="0" dirty="0"/>
              <a:t> </a:t>
            </a:r>
            <a:r>
              <a:rPr lang="de-DE" baseline="0" dirty="0" err="1"/>
              <a:t>questions</a:t>
            </a:r>
            <a:r>
              <a:rPr lang="de-DE" baseline="0" dirty="0"/>
              <a:t>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 err="1"/>
              <a:t>W</a:t>
            </a:r>
            <a:r>
              <a:rPr lang="de-DE" baseline="0" dirty="0" err="1"/>
              <a:t>e</a:t>
            </a:r>
            <a:r>
              <a:rPr lang="de-DE" baseline="0" dirty="0"/>
              <a:t> </a:t>
            </a:r>
            <a:r>
              <a:rPr lang="de-DE" baseline="0" dirty="0" err="1"/>
              <a:t>structure</a:t>
            </a:r>
            <a:r>
              <a:rPr lang="de-DE" baseline="0" dirty="0"/>
              <a:t> </a:t>
            </a:r>
            <a:r>
              <a:rPr lang="de-DE" baseline="0" dirty="0" err="1"/>
              <a:t>our</a:t>
            </a:r>
            <a:r>
              <a:rPr lang="de-DE" baseline="0" dirty="0"/>
              <a:t> </a:t>
            </a:r>
            <a:r>
              <a:rPr lang="de-DE" baseline="0" dirty="0" err="1"/>
              <a:t>project</a:t>
            </a:r>
            <a:r>
              <a:rPr lang="de-DE" baseline="0" dirty="0"/>
              <a:t> </a:t>
            </a:r>
            <a:r>
              <a:rPr lang="de-DE" baseline="0" dirty="0" err="1"/>
              <a:t>around</a:t>
            </a:r>
            <a:r>
              <a:rPr lang="de-DE" baseline="0" dirty="0"/>
              <a:t> </a:t>
            </a:r>
            <a:r>
              <a:rPr lang="de-DE" baseline="0" dirty="0" err="1"/>
              <a:t>models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metrics</a:t>
            </a:r>
            <a:r>
              <a:rPr lang="de-DE" baseline="0" dirty="0"/>
              <a:t>, </a:t>
            </a:r>
            <a:r>
              <a:rPr lang="de-DE" baseline="0" dirty="0" err="1"/>
              <a:t>algorithms</a:t>
            </a:r>
            <a:r>
              <a:rPr lang="de-DE" baseline="0" dirty="0"/>
              <a:t>, fault-</a:t>
            </a:r>
            <a:r>
              <a:rPr lang="de-DE" baseline="0" dirty="0" err="1"/>
              <a:t>tolerance</a:t>
            </a:r>
            <a:r>
              <a:rPr lang="de-DE" baseline="0" dirty="0"/>
              <a:t>, </a:t>
            </a:r>
            <a:r>
              <a:rPr lang="de-DE" baseline="0" dirty="0" err="1"/>
              <a:t>integration</a:t>
            </a:r>
            <a:r>
              <a:rPr lang="de-DE" baseline="0" dirty="0"/>
              <a:t> </a:t>
            </a:r>
            <a:r>
              <a:rPr lang="de-DE" baseline="0" dirty="0" err="1"/>
              <a:t>into</a:t>
            </a:r>
            <a:r>
              <a:rPr lang="de-DE" baseline="0" dirty="0"/>
              <a:t> </a:t>
            </a:r>
            <a:r>
              <a:rPr lang="de-DE" baseline="0" dirty="0" err="1"/>
              <a:t>higher</a:t>
            </a:r>
            <a:r>
              <a:rPr lang="de-DE" baseline="0" dirty="0"/>
              <a:t> </a:t>
            </a:r>
            <a:r>
              <a:rPr lang="de-DE" baseline="0" dirty="0" err="1"/>
              <a:t>layers</a:t>
            </a:r>
            <a:r>
              <a:rPr lang="de-DE" baseline="0" dirty="0"/>
              <a:t>,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case</a:t>
            </a:r>
            <a:r>
              <a:rPr lang="de-DE" baseline="0" dirty="0"/>
              <a:t> </a:t>
            </a:r>
            <a:r>
              <a:rPr lang="de-DE" baseline="0" dirty="0" err="1"/>
              <a:t>studies</a:t>
            </a:r>
            <a:r>
              <a:rPr lang="de-DE" baseline="0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/>
              <a:t>In </a:t>
            </a:r>
            <a:r>
              <a:rPr lang="de-DE" baseline="0" dirty="0" err="1"/>
              <a:t>particular</a:t>
            </a:r>
            <a:r>
              <a:rPr lang="de-DE" baseline="0" dirty="0"/>
              <a:t>, </a:t>
            </a:r>
            <a:r>
              <a:rPr lang="de-DE" baseline="0" dirty="0" err="1"/>
              <a:t>we</a:t>
            </a:r>
            <a:r>
              <a:rPr lang="de-DE" baseline="0" dirty="0"/>
              <a:t> will </a:t>
            </a:r>
            <a:r>
              <a:rPr lang="de-DE" baseline="0" dirty="0" err="1"/>
              <a:t>explore</a:t>
            </a:r>
            <a:r>
              <a:rPr lang="de-DE" baseline="0" dirty="0"/>
              <a:t> </a:t>
            </a:r>
            <a:r>
              <a:rPr lang="de-DE" baseline="0" dirty="0" err="1"/>
              <a:t>metrics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algorithms</a:t>
            </a:r>
            <a:r>
              <a:rPr lang="de-DE" baseline="0" dirty="0"/>
              <a:t> </a:t>
            </a:r>
            <a:r>
              <a:rPr lang="de-DE" baseline="0" dirty="0" err="1"/>
              <a:t>for</a:t>
            </a:r>
            <a:r>
              <a:rPr lang="de-DE" baseline="0" dirty="0"/>
              <a:t> </a:t>
            </a:r>
            <a:r>
              <a:rPr lang="de-DE" baseline="0" dirty="0" err="1"/>
              <a:t>by</a:t>
            </a:r>
            <a:r>
              <a:rPr lang="de-DE" baseline="0" dirty="0"/>
              <a:t> </a:t>
            </a:r>
            <a:r>
              <a:rPr lang="de-DE" baseline="0" dirty="0" err="1"/>
              <a:t>how</a:t>
            </a:r>
            <a:r>
              <a:rPr lang="de-DE" baseline="0" dirty="0"/>
              <a:t> </a:t>
            </a:r>
            <a:r>
              <a:rPr lang="de-DE" baseline="0" dirty="0" err="1"/>
              <a:t>much</a:t>
            </a:r>
            <a:r>
              <a:rPr lang="de-DE" baseline="0" dirty="0"/>
              <a:t> </a:t>
            </a:r>
            <a:r>
              <a:rPr lang="de-DE" baseline="0" dirty="0" err="1"/>
              <a:t>load</a:t>
            </a:r>
            <a:r>
              <a:rPr lang="de-DE" baseline="0" dirty="0"/>
              <a:t> </a:t>
            </a:r>
            <a:r>
              <a:rPr lang="de-DE" baseline="0" dirty="0" err="1"/>
              <a:t>can</a:t>
            </a:r>
            <a:r>
              <a:rPr lang="de-DE" baseline="0" dirty="0"/>
              <a:t> </a:t>
            </a:r>
            <a:r>
              <a:rPr lang="de-DE" baseline="0" dirty="0" err="1"/>
              <a:t>be</a:t>
            </a:r>
            <a:r>
              <a:rPr lang="de-DE" baseline="0" dirty="0"/>
              <a:t> </a:t>
            </a:r>
            <a:r>
              <a:rPr lang="de-DE" baseline="0" dirty="0" err="1"/>
              <a:t>lowered</a:t>
            </a:r>
            <a:r>
              <a:rPr lang="de-DE" baseline="0" dirty="0"/>
              <a:t>, </a:t>
            </a:r>
            <a:r>
              <a:rPr lang="de-DE" baseline="0" dirty="0" err="1"/>
              <a:t>energy</a:t>
            </a:r>
            <a:r>
              <a:rPr lang="de-DE" baseline="0" dirty="0"/>
              <a:t> </a:t>
            </a:r>
            <a:r>
              <a:rPr lang="de-DE" baseline="0" dirty="0" err="1"/>
              <a:t>reduced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quality</a:t>
            </a:r>
            <a:r>
              <a:rPr lang="de-DE" baseline="0" dirty="0"/>
              <a:t>-</a:t>
            </a:r>
            <a:r>
              <a:rPr lang="de-DE" baseline="0" dirty="0" err="1"/>
              <a:t>of</a:t>
            </a:r>
            <a:r>
              <a:rPr lang="de-DE" baseline="0" dirty="0"/>
              <a:t>-service </a:t>
            </a:r>
            <a:r>
              <a:rPr lang="de-DE" baseline="0" dirty="0" err="1"/>
              <a:t>improved</a:t>
            </a:r>
            <a:r>
              <a:rPr lang="de-DE" baseline="0" dirty="0"/>
              <a:t> in </a:t>
            </a:r>
            <a:r>
              <a:rPr lang="de-DE" baseline="0" dirty="0" err="1"/>
              <a:t>selfadjusting</a:t>
            </a:r>
            <a:r>
              <a:rPr lang="de-DE" baseline="0" dirty="0"/>
              <a:t> </a:t>
            </a:r>
            <a:r>
              <a:rPr lang="de-DE" baseline="0" dirty="0" err="1"/>
              <a:t>networks</a:t>
            </a:r>
            <a:r>
              <a:rPr lang="de-DE" baseline="0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 err="1"/>
              <a:t>We</a:t>
            </a:r>
            <a:r>
              <a:rPr lang="de-DE" baseline="0" dirty="0"/>
              <a:t> also </a:t>
            </a:r>
            <a:r>
              <a:rPr lang="de-DE" baseline="0" dirty="0" err="1"/>
              <a:t>need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develop</a:t>
            </a:r>
            <a:r>
              <a:rPr lang="de-DE" baseline="0" dirty="0"/>
              <a:t> </a:t>
            </a:r>
            <a:r>
              <a:rPr lang="de-DE" baseline="0" dirty="0" err="1"/>
              <a:t>models</a:t>
            </a:r>
            <a:r>
              <a:rPr lang="de-DE" baseline="0" dirty="0"/>
              <a:t> </a:t>
            </a:r>
            <a:r>
              <a:rPr lang="de-DE" baseline="0" dirty="0" err="1"/>
              <a:t>for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tradeoff</a:t>
            </a:r>
            <a:r>
              <a:rPr lang="de-DE" baseline="0" dirty="0"/>
              <a:t> </a:t>
            </a:r>
            <a:r>
              <a:rPr lang="de-DE" baseline="0" dirty="0" err="1"/>
              <a:t>between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benefits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costs</a:t>
            </a:r>
            <a:r>
              <a:rPr lang="de-DE" baseline="0" dirty="0"/>
              <a:t> </a:t>
            </a:r>
            <a:r>
              <a:rPr lang="de-DE" baseline="0" dirty="0" err="1"/>
              <a:t>of</a:t>
            </a:r>
            <a:r>
              <a:rPr lang="de-DE" baseline="0" dirty="0"/>
              <a:t> </a:t>
            </a:r>
            <a:r>
              <a:rPr lang="de-DE" baseline="0" dirty="0" err="1"/>
              <a:t>reconfigurations</a:t>
            </a:r>
            <a:r>
              <a:rPr lang="de-DE" baseline="0" dirty="0"/>
              <a:t> </a:t>
            </a:r>
            <a:r>
              <a:rPr lang="de-DE" baseline="0" dirty="0" err="1"/>
              <a:t>over</a:t>
            </a:r>
            <a:r>
              <a:rPr lang="de-DE" baseline="0" dirty="0"/>
              <a:t> time.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 err="1"/>
              <a:t>We</a:t>
            </a:r>
            <a:r>
              <a:rPr lang="de-DE" baseline="0" dirty="0"/>
              <a:t> also </a:t>
            </a:r>
            <a:r>
              <a:rPr lang="de-DE" baseline="0" dirty="0" err="1"/>
              <a:t>study</a:t>
            </a:r>
            <a:r>
              <a:rPr lang="de-DE" baseline="0" dirty="0"/>
              <a:t> </a:t>
            </a:r>
            <a:r>
              <a:rPr lang="de-DE" baseline="0" dirty="0" err="1"/>
              <a:t>how</a:t>
            </a:r>
            <a:r>
              <a:rPr lang="de-DE" baseline="0" dirty="0"/>
              <a:t> </a:t>
            </a:r>
            <a:r>
              <a:rPr lang="de-DE" baseline="0" dirty="0" err="1"/>
              <a:t>self-adjusting</a:t>
            </a:r>
            <a:r>
              <a:rPr lang="de-DE" baseline="0" dirty="0"/>
              <a:t> </a:t>
            </a:r>
            <a:r>
              <a:rPr lang="de-DE" baseline="0" dirty="0" err="1"/>
              <a:t>networks</a:t>
            </a:r>
            <a:r>
              <a:rPr lang="de-DE" baseline="0" dirty="0"/>
              <a:t> </a:t>
            </a:r>
            <a:r>
              <a:rPr lang="de-DE" baseline="0" dirty="0" err="1"/>
              <a:t>can</a:t>
            </a:r>
            <a:r>
              <a:rPr lang="de-DE" baseline="0" dirty="0"/>
              <a:t> </a:t>
            </a:r>
            <a:r>
              <a:rPr lang="de-DE" baseline="0" dirty="0" err="1"/>
              <a:t>be</a:t>
            </a:r>
            <a:r>
              <a:rPr lang="de-DE" baseline="0" dirty="0"/>
              <a:t> </a:t>
            </a:r>
            <a:r>
              <a:rPr lang="de-DE" baseline="0" dirty="0" err="1"/>
              <a:t>used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improve</a:t>
            </a:r>
            <a:r>
              <a:rPr lang="de-DE" baseline="0" dirty="0"/>
              <a:t> fault-</a:t>
            </a:r>
            <a:r>
              <a:rPr lang="de-DE" baseline="0" dirty="0" err="1"/>
              <a:t>tolerance</a:t>
            </a:r>
            <a:r>
              <a:rPr lang="de-DE" baseline="0" dirty="0"/>
              <a:t>, </a:t>
            </a:r>
            <a:r>
              <a:rPr lang="de-DE" baseline="0" dirty="0" err="1"/>
              <a:t>what</a:t>
            </a:r>
            <a:r>
              <a:rPr lang="de-DE" baseline="0" dirty="0"/>
              <a:t> </a:t>
            </a:r>
            <a:r>
              <a:rPr lang="de-DE" baseline="0" dirty="0" err="1"/>
              <a:t>is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impact</a:t>
            </a:r>
            <a:r>
              <a:rPr lang="de-DE" baseline="0" dirty="0"/>
              <a:t> on </a:t>
            </a:r>
            <a:r>
              <a:rPr lang="de-DE" baseline="0" dirty="0" err="1"/>
              <a:t>other</a:t>
            </a:r>
            <a:r>
              <a:rPr lang="de-DE" baseline="0" dirty="0"/>
              <a:t> </a:t>
            </a:r>
            <a:r>
              <a:rPr lang="de-DE" baseline="0" dirty="0" err="1"/>
              <a:t>layers</a:t>
            </a:r>
            <a:r>
              <a:rPr lang="de-DE" baseline="0" dirty="0"/>
              <a:t>,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how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apply</a:t>
            </a:r>
            <a:r>
              <a:rPr lang="de-DE" baseline="0" dirty="0"/>
              <a:t> </a:t>
            </a:r>
            <a:r>
              <a:rPr lang="de-DE" baseline="0" dirty="0" err="1"/>
              <a:t>our</a:t>
            </a:r>
            <a:r>
              <a:rPr lang="de-DE" baseline="0" dirty="0"/>
              <a:t> </a:t>
            </a:r>
            <a:r>
              <a:rPr lang="de-DE" baseline="0" dirty="0" err="1"/>
              <a:t>solutions</a:t>
            </a:r>
            <a:r>
              <a:rPr lang="de-DE" baseline="0" dirty="0"/>
              <a:t> in a </a:t>
            </a:r>
            <a:r>
              <a:rPr lang="de-DE" baseline="0" dirty="0" err="1"/>
              <a:t>specific</a:t>
            </a:r>
            <a:r>
              <a:rPr lang="de-DE" baseline="0" dirty="0"/>
              <a:t> </a:t>
            </a:r>
            <a:r>
              <a:rPr lang="de-DE" baseline="0" dirty="0" err="1"/>
              <a:t>case</a:t>
            </a:r>
            <a:r>
              <a:rPr lang="de-DE" baseline="0" dirty="0"/>
              <a:t> </a:t>
            </a:r>
            <a:r>
              <a:rPr lang="de-DE" baseline="0" dirty="0" err="1"/>
              <a:t>study</a:t>
            </a:r>
            <a:r>
              <a:rPr lang="de-DE" baseline="0" dirty="0"/>
              <a:t>, e.g., </a:t>
            </a:r>
            <a:r>
              <a:rPr lang="de-DE" baseline="0" dirty="0" err="1"/>
              <a:t>how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develop</a:t>
            </a:r>
            <a:r>
              <a:rPr lang="de-DE" baseline="0" dirty="0"/>
              <a:t> a </a:t>
            </a:r>
            <a:r>
              <a:rPr lang="de-DE" baseline="0" dirty="0" err="1"/>
              <a:t>scalable</a:t>
            </a:r>
            <a:r>
              <a:rPr lang="de-DE" baseline="0" dirty="0"/>
              <a:t> </a:t>
            </a:r>
            <a:r>
              <a:rPr lang="de-DE" baseline="0" dirty="0" err="1"/>
              <a:t>control</a:t>
            </a:r>
            <a:r>
              <a:rPr lang="de-DE" baseline="0" dirty="0"/>
              <a:t> plane.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/>
              <a:t>This </a:t>
            </a:r>
            <a:r>
              <a:rPr lang="de-DE" baseline="0" dirty="0" err="1"/>
              <a:t>project</a:t>
            </a:r>
            <a:r>
              <a:rPr lang="de-DE" baseline="0" dirty="0"/>
              <a:t> </a:t>
            </a:r>
            <a:r>
              <a:rPr lang="de-DE" baseline="0" dirty="0" err="1"/>
              <a:t>hence</a:t>
            </a:r>
            <a:r>
              <a:rPr lang="de-DE" baseline="0" dirty="0"/>
              <a:t> </a:t>
            </a:r>
            <a:r>
              <a:rPr lang="de-DE" baseline="0" dirty="0" err="1"/>
              <a:t>requires</a:t>
            </a:r>
            <a:r>
              <a:rPr lang="de-DE" baseline="0" dirty="0"/>
              <a:t> </a:t>
            </a:r>
            <a:r>
              <a:rPr lang="de-DE" baseline="0" dirty="0" err="1"/>
              <a:t>expertises</a:t>
            </a:r>
            <a:r>
              <a:rPr lang="de-DE" baseline="0" dirty="0"/>
              <a:t> </a:t>
            </a:r>
            <a:r>
              <a:rPr lang="de-DE" baseline="0" dirty="0" err="1"/>
              <a:t>from</a:t>
            </a:r>
            <a:r>
              <a:rPr lang="de-DE" baseline="0" dirty="0"/>
              <a:t> different </a:t>
            </a:r>
            <a:r>
              <a:rPr lang="de-DE" baseline="0" dirty="0" err="1"/>
              <a:t>fields</a:t>
            </a:r>
            <a:r>
              <a:rPr lang="de-DE" baseline="0" dirty="0"/>
              <a:t>, </a:t>
            </a:r>
            <a:r>
              <a:rPr lang="de-DE" baseline="0" dirty="0" err="1"/>
              <a:t>from</a:t>
            </a:r>
            <a:r>
              <a:rPr lang="de-DE" baseline="0" dirty="0"/>
              <a:t> </a:t>
            </a:r>
            <a:r>
              <a:rPr lang="de-DE" baseline="0" dirty="0" err="1"/>
              <a:t>networking</a:t>
            </a:r>
            <a:r>
              <a:rPr lang="de-DE" baseline="0" dirty="0"/>
              <a:t>, </a:t>
            </a:r>
            <a:r>
              <a:rPr lang="de-DE" baseline="0" dirty="0" err="1"/>
              <a:t>over</a:t>
            </a:r>
            <a:r>
              <a:rPr lang="de-DE" baseline="0" dirty="0"/>
              <a:t> </a:t>
            </a:r>
            <a:r>
              <a:rPr lang="de-DE" baseline="0" dirty="0" err="1"/>
              <a:t>distributed</a:t>
            </a:r>
            <a:r>
              <a:rPr lang="de-DE" baseline="0" dirty="0"/>
              <a:t> </a:t>
            </a:r>
            <a:r>
              <a:rPr lang="de-DE" baseline="0" dirty="0" err="1"/>
              <a:t>systems</a:t>
            </a:r>
            <a:r>
              <a:rPr lang="de-DE" baseline="0" dirty="0"/>
              <a:t>, </a:t>
            </a:r>
            <a:r>
              <a:rPr lang="de-DE" baseline="0" dirty="0" err="1"/>
              <a:t>algorithms</a:t>
            </a:r>
            <a:r>
              <a:rPr lang="de-DE" baseline="0" dirty="0"/>
              <a:t>,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performance</a:t>
            </a:r>
            <a:r>
              <a:rPr lang="de-DE" baseline="0" dirty="0"/>
              <a:t> </a:t>
            </a:r>
            <a:r>
              <a:rPr lang="de-DE" baseline="0" dirty="0" err="1"/>
              <a:t>evaluation</a:t>
            </a:r>
            <a:r>
              <a:rPr lang="de-DE" baseline="0" dirty="0"/>
              <a:t>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/>
              <a:t>I </a:t>
            </a:r>
            <a:r>
              <a:rPr lang="de-DE" baseline="0" dirty="0" err="1"/>
              <a:t>have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necessary</a:t>
            </a:r>
            <a:r>
              <a:rPr lang="de-DE" baseline="0" dirty="0"/>
              <a:t> </a:t>
            </a:r>
            <a:r>
              <a:rPr lang="de-DE" baseline="0" dirty="0" err="1"/>
              <a:t>background</a:t>
            </a:r>
            <a:r>
              <a:rPr lang="de-DE" baseline="0" dirty="0"/>
              <a:t> in all </a:t>
            </a:r>
            <a:r>
              <a:rPr lang="de-DE" baseline="0" dirty="0" err="1"/>
              <a:t>these</a:t>
            </a:r>
            <a:r>
              <a:rPr lang="de-DE" baseline="0" dirty="0"/>
              <a:t> </a:t>
            </a:r>
            <a:r>
              <a:rPr lang="de-DE" baseline="0" dirty="0" err="1"/>
              <a:t>areas</a:t>
            </a:r>
            <a:r>
              <a:rPr lang="de-DE" baseline="0" dirty="0"/>
              <a:t>.</a:t>
            </a:r>
            <a:endParaRPr dirty="0"/>
          </a:p>
        </p:txBody>
      </p:sp>
      <p:sp>
        <p:nvSpPr>
          <p:cNvPr id="1899" name="Google Shape;1899;g60be7dcf1c_0_790:notes">
            <a:extLst>
              <a:ext uri="{FF2B5EF4-FFF2-40B4-BE49-F238E27FC236}">
                <a16:creationId xmlns:a16="http://schemas.microsoft.com/office/drawing/2014/main" id="{98D3FBC7-0DD8-8808-47D7-671053D8A9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444453596"/>
      </p:ext>
    </p:extLst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7">
          <a:extLst>
            <a:ext uri="{FF2B5EF4-FFF2-40B4-BE49-F238E27FC236}">
              <a16:creationId xmlns:a16="http://schemas.microsoft.com/office/drawing/2014/main" id="{FE91A934-3E2F-38E3-D036-F4DFEB18C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8" name="Google Shape;1898;g60be7dcf1c_0_790:notes">
            <a:extLst>
              <a:ext uri="{FF2B5EF4-FFF2-40B4-BE49-F238E27FC236}">
                <a16:creationId xmlns:a16="http://schemas.microsoft.com/office/drawing/2014/main" id="{B27125B2-027D-51E7-A9F4-A3ABE2AAC9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So </a:t>
            </a:r>
            <a:r>
              <a:rPr lang="de-DE" dirty="0" err="1"/>
              <a:t>far</a:t>
            </a:r>
            <a:r>
              <a:rPr lang="de-DE" dirty="0"/>
              <a:t>,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have</a:t>
            </a:r>
            <a:r>
              <a:rPr lang="de-DE" dirty="0"/>
              <a:t> just </a:t>
            </a:r>
            <a:r>
              <a:rPr lang="de-DE" dirty="0" err="1"/>
              <a:t>scratched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surface</a:t>
            </a:r>
            <a:r>
              <a:rPr lang="de-DE" baseline="0" dirty="0"/>
              <a:t>,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with</a:t>
            </a:r>
            <a:r>
              <a:rPr lang="de-DE" baseline="0" dirty="0"/>
              <a:t> </a:t>
            </a:r>
            <a:r>
              <a:rPr lang="de-DE" baseline="0" dirty="0" err="1"/>
              <a:t>this</a:t>
            </a:r>
            <a:r>
              <a:rPr lang="de-DE" baseline="0" dirty="0"/>
              <a:t> ERC </a:t>
            </a:r>
            <a:r>
              <a:rPr lang="de-DE" baseline="0" dirty="0" err="1"/>
              <a:t>project</a:t>
            </a:r>
            <a:r>
              <a:rPr lang="de-DE" baseline="0" dirty="0"/>
              <a:t>, </a:t>
            </a:r>
            <a:r>
              <a:rPr lang="de-DE" baseline="0" dirty="0" err="1"/>
              <a:t>we</a:t>
            </a:r>
            <a:r>
              <a:rPr lang="de-DE" baseline="0" dirty="0"/>
              <a:t> </a:t>
            </a:r>
            <a:r>
              <a:rPr lang="de-DE" baseline="0" dirty="0" err="1"/>
              <a:t>want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explore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rest</a:t>
            </a:r>
            <a:r>
              <a:rPr lang="de-DE" baseline="0" dirty="0"/>
              <a:t> </a:t>
            </a:r>
            <a:r>
              <a:rPr lang="de-DE" baseline="0" dirty="0" err="1"/>
              <a:t>of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iceberg</a:t>
            </a:r>
            <a:r>
              <a:rPr lang="de-DE" baseline="0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 err="1"/>
              <a:t>Indeed</a:t>
            </a:r>
            <a:r>
              <a:rPr lang="de-DE" baseline="0" dirty="0"/>
              <a:t>,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notion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self-adjusting</a:t>
            </a:r>
            <a:r>
              <a:rPr lang="de-DE" dirty="0"/>
              <a:t> </a:t>
            </a:r>
            <a:r>
              <a:rPr lang="de-DE" dirty="0" err="1"/>
              <a:t>networks</a:t>
            </a:r>
            <a:r>
              <a:rPr lang="de-DE" dirty="0"/>
              <a:t> </a:t>
            </a:r>
            <a:r>
              <a:rPr lang="de-DE" dirty="0" err="1"/>
              <a:t>opens</a:t>
            </a:r>
            <a:r>
              <a:rPr lang="de-DE" dirty="0"/>
              <a:t> </a:t>
            </a:r>
            <a:r>
              <a:rPr lang="de-DE" baseline="0" dirty="0" err="1"/>
              <a:t>are</a:t>
            </a:r>
            <a:r>
              <a:rPr lang="de-DE" baseline="0" dirty="0"/>
              <a:t> large </a:t>
            </a:r>
            <a:r>
              <a:rPr lang="de-DE" baseline="0" dirty="0" err="1"/>
              <a:t>uncharted</a:t>
            </a:r>
            <a:r>
              <a:rPr lang="de-DE" baseline="0" dirty="0"/>
              <a:t> </a:t>
            </a:r>
            <a:r>
              <a:rPr lang="de-DE" baseline="0" dirty="0" err="1"/>
              <a:t>field</a:t>
            </a:r>
            <a:r>
              <a:rPr lang="de-DE" baseline="0" dirty="0"/>
              <a:t>, </a:t>
            </a:r>
            <a:r>
              <a:rPr lang="de-DE" baseline="0" dirty="0" err="1"/>
              <a:t>with</a:t>
            </a:r>
            <a:r>
              <a:rPr lang="de-DE" baseline="0" dirty="0"/>
              <a:t> </a:t>
            </a:r>
            <a:r>
              <a:rPr lang="de-DE" baseline="0" dirty="0" err="1"/>
              <a:t>many</a:t>
            </a:r>
            <a:r>
              <a:rPr lang="de-DE" baseline="0" dirty="0"/>
              <a:t> </a:t>
            </a:r>
            <a:r>
              <a:rPr lang="de-DE" baseline="0" dirty="0" err="1"/>
              <a:t>questions</a:t>
            </a:r>
            <a:r>
              <a:rPr lang="de-DE" baseline="0" dirty="0"/>
              <a:t>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 err="1"/>
              <a:t>W</a:t>
            </a:r>
            <a:r>
              <a:rPr lang="de-DE" baseline="0" dirty="0" err="1"/>
              <a:t>e</a:t>
            </a:r>
            <a:r>
              <a:rPr lang="de-DE" baseline="0" dirty="0"/>
              <a:t> </a:t>
            </a:r>
            <a:r>
              <a:rPr lang="de-DE" baseline="0" dirty="0" err="1"/>
              <a:t>structure</a:t>
            </a:r>
            <a:r>
              <a:rPr lang="de-DE" baseline="0" dirty="0"/>
              <a:t> </a:t>
            </a:r>
            <a:r>
              <a:rPr lang="de-DE" baseline="0" dirty="0" err="1"/>
              <a:t>our</a:t>
            </a:r>
            <a:r>
              <a:rPr lang="de-DE" baseline="0" dirty="0"/>
              <a:t> </a:t>
            </a:r>
            <a:r>
              <a:rPr lang="de-DE" baseline="0" dirty="0" err="1"/>
              <a:t>project</a:t>
            </a:r>
            <a:r>
              <a:rPr lang="de-DE" baseline="0" dirty="0"/>
              <a:t> </a:t>
            </a:r>
            <a:r>
              <a:rPr lang="de-DE" baseline="0" dirty="0" err="1"/>
              <a:t>around</a:t>
            </a:r>
            <a:r>
              <a:rPr lang="de-DE" baseline="0" dirty="0"/>
              <a:t> </a:t>
            </a:r>
            <a:r>
              <a:rPr lang="de-DE" baseline="0" dirty="0" err="1"/>
              <a:t>models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metrics</a:t>
            </a:r>
            <a:r>
              <a:rPr lang="de-DE" baseline="0" dirty="0"/>
              <a:t>, </a:t>
            </a:r>
            <a:r>
              <a:rPr lang="de-DE" baseline="0" dirty="0" err="1"/>
              <a:t>algorithms</a:t>
            </a:r>
            <a:r>
              <a:rPr lang="de-DE" baseline="0" dirty="0"/>
              <a:t>, fault-</a:t>
            </a:r>
            <a:r>
              <a:rPr lang="de-DE" baseline="0" dirty="0" err="1"/>
              <a:t>tolerance</a:t>
            </a:r>
            <a:r>
              <a:rPr lang="de-DE" baseline="0" dirty="0"/>
              <a:t>, </a:t>
            </a:r>
            <a:r>
              <a:rPr lang="de-DE" baseline="0" dirty="0" err="1"/>
              <a:t>integration</a:t>
            </a:r>
            <a:r>
              <a:rPr lang="de-DE" baseline="0" dirty="0"/>
              <a:t> </a:t>
            </a:r>
            <a:r>
              <a:rPr lang="de-DE" baseline="0" dirty="0" err="1"/>
              <a:t>into</a:t>
            </a:r>
            <a:r>
              <a:rPr lang="de-DE" baseline="0" dirty="0"/>
              <a:t> </a:t>
            </a:r>
            <a:r>
              <a:rPr lang="de-DE" baseline="0" dirty="0" err="1"/>
              <a:t>higher</a:t>
            </a:r>
            <a:r>
              <a:rPr lang="de-DE" baseline="0" dirty="0"/>
              <a:t> </a:t>
            </a:r>
            <a:r>
              <a:rPr lang="de-DE" baseline="0" dirty="0" err="1"/>
              <a:t>layers</a:t>
            </a:r>
            <a:r>
              <a:rPr lang="de-DE" baseline="0" dirty="0"/>
              <a:t>,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case</a:t>
            </a:r>
            <a:r>
              <a:rPr lang="de-DE" baseline="0" dirty="0"/>
              <a:t> </a:t>
            </a:r>
            <a:r>
              <a:rPr lang="de-DE" baseline="0" dirty="0" err="1"/>
              <a:t>studies</a:t>
            </a:r>
            <a:r>
              <a:rPr lang="de-DE" baseline="0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/>
              <a:t>In </a:t>
            </a:r>
            <a:r>
              <a:rPr lang="de-DE" baseline="0" dirty="0" err="1"/>
              <a:t>particular</a:t>
            </a:r>
            <a:r>
              <a:rPr lang="de-DE" baseline="0" dirty="0"/>
              <a:t>, </a:t>
            </a:r>
            <a:r>
              <a:rPr lang="de-DE" baseline="0" dirty="0" err="1"/>
              <a:t>we</a:t>
            </a:r>
            <a:r>
              <a:rPr lang="de-DE" baseline="0" dirty="0"/>
              <a:t> will </a:t>
            </a:r>
            <a:r>
              <a:rPr lang="de-DE" baseline="0" dirty="0" err="1"/>
              <a:t>explore</a:t>
            </a:r>
            <a:r>
              <a:rPr lang="de-DE" baseline="0" dirty="0"/>
              <a:t> </a:t>
            </a:r>
            <a:r>
              <a:rPr lang="de-DE" baseline="0" dirty="0" err="1"/>
              <a:t>metrics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algorithms</a:t>
            </a:r>
            <a:r>
              <a:rPr lang="de-DE" baseline="0" dirty="0"/>
              <a:t> </a:t>
            </a:r>
            <a:r>
              <a:rPr lang="de-DE" baseline="0" dirty="0" err="1"/>
              <a:t>for</a:t>
            </a:r>
            <a:r>
              <a:rPr lang="de-DE" baseline="0" dirty="0"/>
              <a:t> </a:t>
            </a:r>
            <a:r>
              <a:rPr lang="de-DE" baseline="0" dirty="0" err="1"/>
              <a:t>by</a:t>
            </a:r>
            <a:r>
              <a:rPr lang="de-DE" baseline="0" dirty="0"/>
              <a:t> </a:t>
            </a:r>
            <a:r>
              <a:rPr lang="de-DE" baseline="0" dirty="0" err="1"/>
              <a:t>how</a:t>
            </a:r>
            <a:r>
              <a:rPr lang="de-DE" baseline="0" dirty="0"/>
              <a:t> </a:t>
            </a:r>
            <a:r>
              <a:rPr lang="de-DE" baseline="0" dirty="0" err="1"/>
              <a:t>much</a:t>
            </a:r>
            <a:r>
              <a:rPr lang="de-DE" baseline="0" dirty="0"/>
              <a:t> </a:t>
            </a:r>
            <a:r>
              <a:rPr lang="de-DE" baseline="0" dirty="0" err="1"/>
              <a:t>load</a:t>
            </a:r>
            <a:r>
              <a:rPr lang="de-DE" baseline="0" dirty="0"/>
              <a:t> </a:t>
            </a:r>
            <a:r>
              <a:rPr lang="de-DE" baseline="0" dirty="0" err="1"/>
              <a:t>can</a:t>
            </a:r>
            <a:r>
              <a:rPr lang="de-DE" baseline="0" dirty="0"/>
              <a:t> </a:t>
            </a:r>
            <a:r>
              <a:rPr lang="de-DE" baseline="0" dirty="0" err="1"/>
              <a:t>be</a:t>
            </a:r>
            <a:r>
              <a:rPr lang="de-DE" baseline="0" dirty="0"/>
              <a:t> </a:t>
            </a:r>
            <a:r>
              <a:rPr lang="de-DE" baseline="0" dirty="0" err="1"/>
              <a:t>lowered</a:t>
            </a:r>
            <a:r>
              <a:rPr lang="de-DE" baseline="0" dirty="0"/>
              <a:t>, </a:t>
            </a:r>
            <a:r>
              <a:rPr lang="de-DE" baseline="0" dirty="0" err="1"/>
              <a:t>energy</a:t>
            </a:r>
            <a:r>
              <a:rPr lang="de-DE" baseline="0" dirty="0"/>
              <a:t> </a:t>
            </a:r>
            <a:r>
              <a:rPr lang="de-DE" baseline="0" dirty="0" err="1"/>
              <a:t>reduced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quality</a:t>
            </a:r>
            <a:r>
              <a:rPr lang="de-DE" baseline="0" dirty="0"/>
              <a:t>-</a:t>
            </a:r>
            <a:r>
              <a:rPr lang="de-DE" baseline="0" dirty="0" err="1"/>
              <a:t>of</a:t>
            </a:r>
            <a:r>
              <a:rPr lang="de-DE" baseline="0" dirty="0"/>
              <a:t>-service </a:t>
            </a:r>
            <a:r>
              <a:rPr lang="de-DE" baseline="0" dirty="0" err="1"/>
              <a:t>improved</a:t>
            </a:r>
            <a:r>
              <a:rPr lang="de-DE" baseline="0" dirty="0"/>
              <a:t> in </a:t>
            </a:r>
            <a:r>
              <a:rPr lang="de-DE" baseline="0" dirty="0" err="1"/>
              <a:t>selfadjusting</a:t>
            </a:r>
            <a:r>
              <a:rPr lang="de-DE" baseline="0" dirty="0"/>
              <a:t> </a:t>
            </a:r>
            <a:r>
              <a:rPr lang="de-DE" baseline="0" dirty="0" err="1"/>
              <a:t>networks</a:t>
            </a:r>
            <a:r>
              <a:rPr lang="de-DE" baseline="0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 err="1"/>
              <a:t>We</a:t>
            </a:r>
            <a:r>
              <a:rPr lang="de-DE" baseline="0" dirty="0"/>
              <a:t> also </a:t>
            </a:r>
            <a:r>
              <a:rPr lang="de-DE" baseline="0" dirty="0" err="1"/>
              <a:t>need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develop</a:t>
            </a:r>
            <a:r>
              <a:rPr lang="de-DE" baseline="0" dirty="0"/>
              <a:t> </a:t>
            </a:r>
            <a:r>
              <a:rPr lang="de-DE" baseline="0" dirty="0" err="1"/>
              <a:t>models</a:t>
            </a:r>
            <a:r>
              <a:rPr lang="de-DE" baseline="0" dirty="0"/>
              <a:t> </a:t>
            </a:r>
            <a:r>
              <a:rPr lang="de-DE" baseline="0" dirty="0" err="1"/>
              <a:t>for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tradeoff</a:t>
            </a:r>
            <a:r>
              <a:rPr lang="de-DE" baseline="0" dirty="0"/>
              <a:t> </a:t>
            </a:r>
            <a:r>
              <a:rPr lang="de-DE" baseline="0" dirty="0" err="1"/>
              <a:t>between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benefits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costs</a:t>
            </a:r>
            <a:r>
              <a:rPr lang="de-DE" baseline="0" dirty="0"/>
              <a:t> </a:t>
            </a:r>
            <a:r>
              <a:rPr lang="de-DE" baseline="0" dirty="0" err="1"/>
              <a:t>of</a:t>
            </a:r>
            <a:r>
              <a:rPr lang="de-DE" baseline="0" dirty="0"/>
              <a:t> </a:t>
            </a:r>
            <a:r>
              <a:rPr lang="de-DE" baseline="0" dirty="0" err="1"/>
              <a:t>reconfigurations</a:t>
            </a:r>
            <a:r>
              <a:rPr lang="de-DE" baseline="0" dirty="0"/>
              <a:t> </a:t>
            </a:r>
            <a:r>
              <a:rPr lang="de-DE" baseline="0" dirty="0" err="1"/>
              <a:t>over</a:t>
            </a:r>
            <a:r>
              <a:rPr lang="de-DE" baseline="0" dirty="0"/>
              <a:t> time.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 err="1"/>
              <a:t>We</a:t>
            </a:r>
            <a:r>
              <a:rPr lang="de-DE" baseline="0" dirty="0"/>
              <a:t> also </a:t>
            </a:r>
            <a:r>
              <a:rPr lang="de-DE" baseline="0" dirty="0" err="1"/>
              <a:t>study</a:t>
            </a:r>
            <a:r>
              <a:rPr lang="de-DE" baseline="0" dirty="0"/>
              <a:t> </a:t>
            </a:r>
            <a:r>
              <a:rPr lang="de-DE" baseline="0" dirty="0" err="1"/>
              <a:t>how</a:t>
            </a:r>
            <a:r>
              <a:rPr lang="de-DE" baseline="0" dirty="0"/>
              <a:t> </a:t>
            </a:r>
            <a:r>
              <a:rPr lang="de-DE" baseline="0" dirty="0" err="1"/>
              <a:t>self-adjusting</a:t>
            </a:r>
            <a:r>
              <a:rPr lang="de-DE" baseline="0" dirty="0"/>
              <a:t> </a:t>
            </a:r>
            <a:r>
              <a:rPr lang="de-DE" baseline="0" dirty="0" err="1"/>
              <a:t>networks</a:t>
            </a:r>
            <a:r>
              <a:rPr lang="de-DE" baseline="0" dirty="0"/>
              <a:t> </a:t>
            </a:r>
            <a:r>
              <a:rPr lang="de-DE" baseline="0" dirty="0" err="1"/>
              <a:t>can</a:t>
            </a:r>
            <a:r>
              <a:rPr lang="de-DE" baseline="0" dirty="0"/>
              <a:t> </a:t>
            </a:r>
            <a:r>
              <a:rPr lang="de-DE" baseline="0" dirty="0" err="1"/>
              <a:t>be</a:t>
            </a:r>
            <a:r>
              <a:rPr lang="de-DE" baseline="0" dirty="0"/>
              <a:t> </a:t>
            </a:r>
            <a:r>
              <a:rPr lang="de-DE" baseline="0" dirty="0" err="1"/>
              <a:t>used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improve</a:t>
            </a:r>
            <a:r>
              <a:rPr lang="de-DE" baseline="0" dirty="0"/>
              <a:t> fault-</a:t>
            </a:r>
            <a:r>
              <a:rPr lang="de-DE" baseline="0" dirty="0" err="1"/>
              <a:t>tolerance</a:t>
            </a:r>
            <a:r>
              <a:rPr lang="de-DE" baseline="0" dirty="0"/>
              <a:t>, </a:t>
            </a:r>
            <a:r>
              <a:rPr lang="de-DE" baseline="0" dirty="0" err="1"/>
              <a:t>what</a:t>
            </a:r>
            <a:r>
              <a:rPr lang="de-DE" baseline="0" dirty="0"/>
              <a:t> </a:t>
            </a:r>
            <a:r>
              <a:rPr lang="de-DE" baseline="0" dirty="0" err="1"/>
              <a:t>is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impact</a:t>
            </a:r>
            <a:r>
              <a:rPr lang="de-DE" baseline="0" dirty="0"/>
              <a:t> on </a:t>
            </a:r>
            <a:r>
              <a:rPr lang="de-DE" baseline="0" dirty="0" err="1"/>
              <a:t>other</a:t>
            </a:r>
            <a:r>
              <a:rPr lang="de-DE" baseline="0" dirty="0"/>
              <a:t> </a:t>
            </a:r>
            <a:r>
              <a:rPr lang="de-DE" baseline="0" dirty="0" err="1"/>
              <a:t>layers</a:t>
            </a:r>
            <a:r>
              <a:rPr lang="de-DE" baseline="0" dirty="0"/>
              <a:t>,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how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apply</a:t>
            </a:r>
            <a:r>
              <a:rPr lang="de-DE" baseline="0" dirty="0"/>
              <a:t> </a:t>
            </a:r>
            <a:r>
              <a:rPr lang="de-DE" baseline="0" dirty="0" err="1"/>
              <a:t>our</a:t>
            </a:r>
            <a:r>
              <a:rPr lang="de-DE" baseline="0" dirty="0"/>
              <a:t> </a:t>
            </a:r>
            <a:r>
              <a:rPr lang="de-DE" baseline="0" dirty="0" err="1"/>
              <a:t>solutions</a:t>
            </a:r>
            <a:r>
              <a:rPr lang="de-DE" baseline="0" dirty="0"/>
              <a:t> in a </a:t>
            </a:r>
            <a:r>
              <a:rPr lang="de-DE" baseline="0" dirty="0" err="1"/>
              <a:t>specific</a:t>
            </a:r>
            <a:r>
              <a:rPr lang="de-DE" baseline="0" dirty="0"/>
              <a:t> </a:t>
            </a:r>
            <a:r>
              <a:rPr lang="de-DE" baseline="0" dirty="0" err="1"/>
              <a:t>case</a:t>
            </a:r>
            <a:r>
              <a:rPr lang="de-DE" baseline="0" dirty="0"/>
              <a:t> </a:t>
            </a:r>
            <a:r>
              <a:rPr lang="de-DE" baseline="0" dirty="0" err="1"/>
              <a:t>study</a:t>
            </a:r>
            <a:r>
              <a:rPr lang="de-DE" baseline="0" dirty="0"/>
              <a:t>, e.g., </a:t>
            </a:r>
            <a:r>
              <a:rPr lang="de-DE" baseline="0" dirty="0" err="1"/>
              <a:t>how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develop</a:t>
            </a:r>
            <a:r>
              <a:rPr lang="de-DE" baseline="0" dirty="0"/>
              <a:t> a </a:t>
            </a:r>
            <a:r>
              <a:rPr lang="de-DE" baseline="0" dirty="0" err="1"/>
              <a:t>scalable</a:t>
            </a:r>
            <a:r>
              <a:rPr lang="de-DE" baseline="0" dirty="0"/>
              <a:t> </a:t>
            </a:r>
            <a:r>
              <a:rPr lang="de-DE" baseline="0" dirty="0" err="1"/>
              <a:t>control</a:t>
            </a:r>
            <a:r>
              <a:rPr lang="de-DE" baseline="0" dirty="0"/>
              <a:t> plane.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/>
              <a:t>This </a:t>
            </a:r>
            <a:r>
              <a:rPr lang="de-DE" baseline="0" dirty="0" err="1"/>
              <a:t>project</a:t>
            </a:r>
            <a:r>
              <a:rPr lang="de-DE" baseline="0" dirty="0"/>
              <a:t> </a:t>
            </a:r>
            <a:r>
              <a:rPr lang="de-DE" baseline="0" dirty="0" err="1"/>
              <a:t>hence</a:t>
            </a:r>
            <a:r>
              <a:rPr lang="de-DE" baseline="0" dirty="0"/>
              <a:t> </a:t>
            </a:r>
            <a:r>
              <a:rPr lang="de-DE" baseline="0" dirty="0" err="1"/>
              <a:t>requires</a:t>
            </a:r>
            <a:r>
              <a:rPr lang="de-DE" baseline="0" dirty="0"/>
              <a:t> </a:t>
            </a:r>
            <a:r>
              <a:rPr lang="de-DE" baseline="0" dirty="0" err="1"/>
              <a:t>expertises</a:t>
            </a:r>
            <a:r>
              <a:rPr lang="de-DE" baseline="0" dirty="0"/>
              <a:t> </a:t>
            </a:r>
            <a:r>
              <a:rPr lang="de-DE" baseline="0" dirty="0" err="1"/>
              <a:t>from</a:t>
            </a:r>
            <a:r>
              <a:rPr lang="de-DE" baseline="0" dirty="0"/>
              <a:t> different </a:t>
            </a:r>
            <a:r>
              <a:rPr lang="de-DE" baseline="0" dirty="0" err="1"/>
              <a:t>fields</a:t>
            </a:r>
            <a:r>
              <a:rPr lang="de-DE" baseline="0" dirty="0"/>
              <a:t>, </a:t>
            </a:r>
            <a:r>
              <a:rPr lang="de-DE" baseline="0" dirty="0" err="1"/>
              <a:t>from</a:t>
            </a:r>
            <a:r>
              <a:rPr lang="de-DE" baseline="0" dirty="0"/>
              <a:t> </a:t>
            </a:r>
            <a:r>
              <a:rPr lang="de-DE" baseline="0" dirty="0" err="1"/>
              <a:t>networking</a:t>
            </a:r>
            <a:r>
              <a:rPr lang="de-DE" baseline="0" dirty="0"/>
              <a:t>, </a:t>
            </a:r>
            <a:r>
              <a:rPr lang="de-DE" baseline="0" dirty="0" err="1"/>
              <a:t>over</a:t>
            </a:r>
            <a:r>
              <a:rPr lang="de-DE" baseline="0" dirty="0"/>
              <a:t> </a:t>
            </a:r>
            <a:r>
              <a:rPr lang="de-DE" baseline="0" dirty="0" err="1"/>
              <a:t>distributed</a:t>
            </a:r>
            <a:r>
              <a:rPr lang="de-DE" baseline="0" dirty="0"/>
              <a:t> </a:t>
            </a:r>
            <a:r>
              <a:rPr lang="de-DE" baseline="0" dirty="0" err="1"/>
              <a:t>systems</a:t>
            </a:r>
            <a:r>
              <a:rPr lang="de-DE" baseline="0" dirty="0"/>
              <a:t>, </a:t>
            </a:r>
            <a:r>
              <a:rPr lang="de-DE" baseline="0" dirty="0" err="1"/>
              <a:t>algorithms</a:t>
            </a:r>
            <a:r>
              <a:rPr lang="de-DE" baseline="0" dirty="0"/>
              <a:t>,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performance</a:t>
            </a:r>
            <a:r>
              <a:rPr lang="de-DE" baseline="0" dirty="0"/>
              <a:t> </a:t>
            </a:r>
            <a:r>
              <a:rPr lang="de-DE" baseline="0" dirty="0" err="1"/>
              <a:t>evaluation</a:t>
            </a:r>
            <a:r>
              <a:rPr lang="de-DE" baseline="0" dirty="0"/>
              <a:t>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/>
              <a:t>I </a:t>
            </a:r>
            <a:r>
              <a:rPr lang="de-DE" baseline="0" dirty="0" err="1"/>
              <a:t>have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necessary</a:t>
            </a:r>
            <a:r>
              <a:rPr lang="de-DE" baseline="0" dirty="0"/>
              <a:t> </a:t>
            </a:r>
            <a:r>
              <a:rPr lang="de-DE" baseline="0" dirty="0" err="1"/>
              <a:t>background</a:t>
            </a:r>
            <a:r>
              <a:rPr lang="de-DE" baseline="0" dirty="0"/>
              <a:t> in all </a:t>
            </a:r>
            <a:r>
              <a:rPr lang="de-DE" baseline="0" dirty="0" err="1"/>
              <a:t>these</a:t>
            </a:r>
            <a:r>
              <a:rPr lang="de-DE" baseline="0" dirty="0"/>
              <a:t> </a:t>
            </a:r>
            <a:r>
              <a:rPr lang="de-DE" baseline="0" dirty="0" err="1"/>
              <a:t>areas</a:t>
            </a:r>
            <a:r>
              <a:rPr lang="de-DE" baseline="0" dirty="0"/>
              <a:t>.</a:t>
            </a:r>
            <a:endParaRPr dirty="0"/>
          </a:p>
        </p:txBody>
      </p:sp>
      <p:sp>
        <p:nvSpPr>
          <p:cNvPr id="1899" name="Google Shape;1899;g60be7dcf1c_0_790:notes">
            <a:extLst>
              <a:ext uri="{FF2B5EF4-FFF2-40B4-BE49-F238E27FC236}">
                <a16:creationId xmlns:a16="http://schemas.microsoft.com/office/drawing/2014/main" id="{64894A8C-2CF8-7EBB-42E3-6BCB0BFB0D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131906376"/>
      </p:ext>
    </p:extLst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7">
          <a:extLst>
            <a:ext uri="{FF2B5EF4-FFF2-40B4-BE49-F238E27FC236}">
              <a16:creationId xmlns:a16="http://schemas.microsoft.com/office/drawing/2014/main" id="{57A55928-359C-F3FB-33AC-DA9AB3BA5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8" name="Google Shape;1898;g60be7dcf1c_0_790:notes">
            <a:extLst>
              <a:ext uri="{FF2B5EF4-FFF2-40B4-BE49-F238E27FC236}">
                <a16:creationId xmlns:a16="http://schemas.microsoft.com/office/drawing/2014/main" id="{AD68A97C-5084-2E10-0864-8B03F24EFB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So </a:t>
            </a:r>
            <a:r>
              <a:rPr lang="de-DE" dirty="0" err="1"/>
              <a:t>far</a:t>
            </a:r>
            <a:r>
              <a:rPr lang="de-DE" dirty="0"/>
              <a:t>,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have</a:t>
            </a:r>
            <a:r>
              <a:rPr lang="de-DE" dirty="0"/>
              <a:t> just </a:t>
            </a:r>
            <a:r>
              <a:rPr lang="de-DE" dirty="0" err="1"/>
              <a:t>scratched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surface</a:t>
            </a:r>
            <a:r>
              <a:rPr lang="de-DE" baseline="0" dirty="0"/>
              <a:t>,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with</a:t>
            </a:r>
            <a:r>
              <a:rPr lang="de-DE" baseline="0" dirty="0"/>
              <a:t> </a:t>
            </a:r>
            <a:r>
              <a:rPr lang="de-DE" baseline="0" dirty="0" err="1"/>
              <a:t>this</a:t>
            </a:r>
            <a:r>
              <a:rPr lang="de-DE" baseline="0" dirty="0"/>
              <a:t> ERC </a:t>
            </a:r>
            <a:r>
              <a:rPr lang="de-DE" baseline="0" dirty="0" err="1"/>
              <a:t>project</a:t>
            </a:r>
            <a:r>
              <a:rPr lang="de-DE" baseline="0" dirty="0"/>
              <a:t>, </a:t>
            </a:r>
            <a:r>
              <a:rPr lang="de-DE" baseline="0" dirty="0" err="1"/>
              <a:t>we</a:t>
            </a:r>
            <a:r>
              <a:rPr lang="de-DE" baseline="0" dirty="0"/>
              <a:t> </a:t>
            </a:r>
            <a:r>
              <a:rPr lang="de-DE" baseline="0" dirty="0" err="1"/>
              <a:t>want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explore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rest</a:t>
            </a:r>
            <a:r>
              <a:rPr lang="de-DE" baseline="0" dirty="0"/>
              <a:t> </a:t>
            </a:r>
            <a:r>
              <a:rPr lang="de-DE" baseline="0" dirty="0" err="1"/>
              <a:t>of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iceberg</a:t>
            </a:r>
            <a:r>
              <a:rPr lang="de-DE" baseline="0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 err="1"/>
              <a:t>Indeed</a:t>
            </a:r>
            <a:r>
              <a:rPr lang="de-DE" baseline="0" dirty="0"/>
              <a:t>,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notion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self-adjusting</a:t>
            </a:r>
            <a:r>
              <a:rPr lang="de-DE" dirty="0"/>
              <a:t> </a:t>
            </a:r>
            <a:r>
              <a:rPr lang="de-DE" dirty="0" err="1"/>
              <a:t>networks</a:t>
            </a:r>
            <a:r>
              <a:rPr lang="de-DE" dirty="0"/>
              <a:t> </a:t>
            </a:r>
            <a:r>
              <a:rPr lang="de-DE" dirty="0" err="1"/>
              <a:t>opens</a:t>
            </a:r>
            <a:r>
              <a:rPr lang="de-DE" dirty="0"/>
              <a:t> </a:t>
            </a:r>
            <a:r>
              <a:rPr lang="de-DE" baseline="0" dirty="0" err="1"/>
              <a:t>are</a:t>
            </a:r>
            <a:r>
              <a:rPr lang="de-DE" baseline="0" dirty="0"/>
              <a:t> large </a:t>
            </a:r>
            <a:r>
              <a:rPr lang="de-DE" baseline="0" dirty="0" err="1"/>
              <a:t>uncharted</a:t>
            </a:r>
            <a:r>
              <a:rPr lang="de-DE" baseline="0" dirty="0"/>
              <a:t> </a:t>
            </a:r>
            <a:r>
              <a:rPr lang="de-DE" baseline="0" dirty="0" err="1"/>
              <a:t>field</a:t>
            </a:r>
            <a:r>
              <a:rPr lang="de-DE" baseline="0" dirty="0"/>
              <a:t>, </a:t>
            </a:r>
            <a:r>
              <a:rPr lang="de-DE" baseline="0" dirty="0" err="1"/>
              <a:t>with</a:t>
            </a:r>
            <a:r>
              <a:rPr lang="de-DE" baseline="0" dirty="0"/>
              <a:t> </a:t>
            </a:r>
            <a:r>
              <a:rPr lang="de-DE" baseline="0" dirty="0" err="1"/>
              <a:t>many</a:t>
            </a:r>
            <a:r>
              <a:rPr lang="de-DE" baseline="0" dirty="0"/>
              <a:t> </a:t>
            </a:r>
            <a:r>
              <a:rPr lang="de-DE" baseline="0" dirty="0" err="1"/>
              <a:t>questions</a:t>
            </a:r>
            <a:r>
              <a:rPr lang="de-DE" baseline="0" dirty="0"/>
              <a:t>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 err="1"/>
              <a:t>W</a:t>
            </a:r>
            <a:r>
              <a:rPr lang="de-DE" baseline="0" dirty="0" err="1"/>
              <a:t>e</a:t>
            </a:r>
            <a:r>
              <a:rPr lang="de-DE" baseline="0" dirty="0"/>
              <a:t> </a:t>
            </a:r>
            <a:r>
              <a:rPr lang="de-DE" baseline="0" dirty="0" err="1"/>
              <a:t>structure</a:t>
            </a:r>
            <a:r>
              <a:rPr lang="de-DE" baseline="0" dirty="0"/>
              <a:t> </a:t>
            </a:r>
            <a:r>
              <a:rPr lang="de-DE" baseline="0" dirty="0" err="1"/>
              <a:t>our</a:t>
            </a:r>
            <a:r>
              <a:rPr lang="de-DE" baseline="0" dirty="0"/>
              <a:t> </a:t>
            </a:r>
            <a:r>
              <a:rPr lang="de-DE" baseline="0" dirty="0" err="1"/>
              <a:t>project</a:t>
            </a:r>
            <a:r>
              <a:rPr lang="de-DE" baseline="0" dirty="0"/>
              <a:t> </a:t>
            </a:r>
            <a:r>
              <a:rPr lang="de-DE" baseline="0" dirty="0" err="1"/>
              <a:t>around</a:t>
            </a:r>
            <a:r>
              <a:rPr lang="de-DE" baseline="0" dirty="0"/>
              <a:t> </a:t>
            </a:r>
            <a:r>
              <a:rPr lang="de-DE" baseline="0" dirty="0" err="1"/>
              <a:t>models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metrics</a:t>
            </a:r>
            <a:r>
              <a:rPr lang="de-DE" baseline="0" dirty="0"/>
              <a:t>, </a:t>
            </a:r>
            <a:r>
              <a:rPr lang="de-DE" baseline="0" dirty="0" err="1"/>
              <a:t>algorithms</a:t>
            </a:r>
            <a:r>
              <a:rPr lang="de-DE" baseline="0" dirty="0"/>
              <a:t>, fault-</a:t>
            </a:r>
            <a:r>
              <a:rPr lang="de-DE" baseline="0" dirty="0" err="1"/>
              <a:t>tolerance</a:t>
            </a:r>
            <a:r>
              <a:rPr lang="de-DE" baseline="0" dirty="0"/>
              <a:t>, </a:t>
            </a:r>
            <a:r>
              <a:rPr lang="de-DE" baseline="0" dirty="0" err="1"/>
              <a:t>integration</a:t>
            </a:r>
            <a:r>
              <a:rPr lang="de-DE" baseline="0" dirty="0"/>
              <a:t> </a:t>
            </a:r>
            <a:r>
              <a:rPr lang="de-DE" baseline="0" dirty="0" err="1"/>
              <a:t>into</a:t>
            </a:r>
            <a:r>
              <a:rPr lang="de-DE" baseline="0" dirty="0"/>
              <a:t> </a:t>
            </a:r>
            <a:r>
              <a:rPr lang="de-DE" baseline="0" dirty="0" err="1"/>
              <a:t>higher</a:t>
            </a:r>
            <a:r>
              <a:rPr lang="de-DE" baseline="0" dirty="0"/>
              <a:t> </a:t>
            </a:r>
            <a:r>
              <a:rPr lang="de-DE" baseline="0" dirty="0" err="1"/>
              <a:t>layers</a:t>
            </a:r>
            <a:r>
              <a:rPr lang="de-DE" baseline="0" dirty="0"/>
              <a:t>,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case</a:t>
            </a:r>
            <a:r>
              <a:rPr lang="de-DE" baseline="0" dirty="0"/>
              <a:t> </a:t>
            </a:r>
            <a:r>
              <a:rPr lang="de-DE" baseline="0" dirty="0" err="1"/>
              <a:t>studies</a:t>
            </a:r>
            <a:r>
              <a:rPr lang="de-DE" baseline="0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/>
              <a:t>In </a:t>
            </a:r>
            <a:r>
              <a:rPr lang="de-DE" baseline="0" dirty="0" err="1"/>
              <a:t>particular</a:t>
            </a:r>
            <a:r>
              <a:rPr lang="de-DE" baseline="0" dirty="0"/>
              <a:t>, </a:t>
            </a:r>
            <a:r>
              <a:rPr lang="de-DE" baseline="0" dirty="0" err="1"/>
              <a:t>we</a:t>
            </a:r>
            <a:r>
              <a:rPr lang="de-DE" baseline="0" dirty="0"/>
              <a:t> will </a:t>
            </a:r>
            <a:r>
              <a:rPr lang="de-DE" baseline="0" dirty="0" err="1"/>
              <a:t>explore</a:t>
            </a:r>
            <a:r>
              <a:rPr lang="de-DE" baseline="0" dirty="0"/>
              <a:t> </a:t>
            </a:r>
            <a:r>
              <a:rPr lang="de-DE" baseline="0" dirty="0" err="1"/>
              <a:t>metrics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algorithms</a:t>
            </a:r>
            <a:r>
              <a:rPr lang="de-DE" baseline="0" dirty="0"/>
              <a:t> </a:t>
            </a:r>
            <a:r>
              <a:rPr lang="de-DE" baseline="0" dirty="0" err="1"/>
              <a:t>for</a:t>
            </a:r>
            <a:r>
              <a:rPr lang="de-DE" baseline="0" dirty="0"/>
              <a:t> </a:t>
            </a:r>
            <a:r>
              <a:rPr lang="de-DE" baseline="0" dirty="0" err="1"/>
              <a:t>by</a:t>
            </a:r>
            <a:r>
              <a:rPr lang="de-DE" baseline="0" dirty="0"/>
              <a:t> </a:t>
            </a:r>
            <a:r>
              <a:rPr lang="de-DE" baseline="0" dirty="0" err="1"/>
              <a:t>how</a:t>
            </a:r>
            <a:r>
              <a:rPr lang="de-DE" baseline="0" dirty="0"/>
              <a:t> </a:t>
            </a:r>
            <a:r>
              <a:rPr lang="de-DE" baseline="0" dirty="0" err="1"/>
              <a:t>much</a:t>
            </a:r>
            <a:r>
              <a:rPr lang="de-DE" baseline="0" dirty="0"/>
              <a:t> </a:t>
            </a:r>
            <a:r>
              <a:rPr lang="de-DE" baseline="0" dirty="0" err="1"/>
              <a:t>load</a:t>
            </a:r>
            <a:r>
              <a:rPr lang="de-DE" baseline="0" dirty="0"/>
              <a:t> </a:t>
            </a:r>
            <a:r>
              <a:rPr lang="de-DE" baseline="0" dirty="0" err="1"/>
              <a:t>can</a:t>
            </a:r>
            <a:r>
              <a:rPr lang="de-DE" baseline="0" dirty="0"/>
              <a:t> </a:t>
            </a:r>
            <a:r>
              <a:rPr lang="de-DE" baseline="0" dirty="0" err="1"/>
              <a:t>be</a:t>
            </a:r>
            <a:r>
              <a:rPr lang="de-DE" baseline="0" dirty="0"/>
              <a:t> </a:t>
            </a:r>
            <a:r>
              <a:rPr lang="de-DE" baseline="0" dirty="0" err="1"/>
              <a:t>lowered</a:t>
            </a:r>
            <a:r>
              <a:rPr lang="de-DE" baseline="0" dirty="0"/>
              <a:t>, </a:t>
            </a:r>
            <a:r>
              <a:rPr lang="de-DE" baseline="0" dirty="0" err="1"/>
              <a:t>energy</a:t>
            </a:r>
            <a:r>
              <a:rPr lang="de-DE" baseline="0" dirty="0"/>
              <a:t> </a:t>
            </a:r>
            <a:r>
              <a:rPr lang="de-DE" baseline="0" dirty="0" err="1"/>
              <a:t>reduced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quality</a:t>
            </a:r>
            <a:r>
              <a:rPr lang="de-DE" baseline="0" dirty="0"/>
              <a:t>-</a:t>
            </a:r>
            <a:r>
              <a:rPr lang="de-DE" baseline="0" dirty="0" err="1"/>
              <a:t>of</a:t>
            </a:r>
            <a:r>
              <a:rPr lang="de-DE" baseline="0" dirty="0"/>
              <a:t>-service </a:t>
            </a:r>
            <a:r>
              <a:rPr lang="de-DE" baseline="0" dirty="0" err="1"/>
              <a:t>improved</a:t>
            </a:r>
            <a:r>
              <a:rPr lang="de-DE" baseline="0" dirty="0"/>
              <a:t> in </a:t>
            </a:r>
            <a:r>
              <a:rPr lang="de-DE" baseline="0" dirty="0" err="1"/>
              <a:t>selfadjusting</a:t>
            </a:r>
            <a:r>
              <a:rPr lang="de-DE" baseline="0" dirty="0"/>
              <a:t> </a:t>
            </a:r>
            <a:r>
              <a:rPr lang="de-DE" baseline="0" dirty="0" err="1"/>
              <a:t>networks</a:t>
            </a:r>
            <a:r>
              <a:rPr lang="de-DE" baseline="0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 err="1"/>
              <a:t>We</a:t>
            </a:r>
            <a:r>
              <a:rPr lang="de-DE" baseline="0" dirty="0"/>
              <a:t> also </a:t>
            </a:r>
            <a:r>
              <a:rPr lang="de-DE" baseline="0" dirty="0" err="1"/>
              <a:t>need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develop</a:t>
            </a:r>
            <a:r>
              <a:rPr lang="de-DE" baseline="0" dirty="0"/>
              <a:t> </a:t>
            </a:r>
            <a:r>
              <a:rPr lang="de-DE" baseline="0" dirty="0" err="1"/>
              <a:t>models</a:t>
            </a:r>
            <a:r>
              <a:rPr lang="de-DE" baseline="0" dirty="0"/>
              <a:t> </a:t>
            </a:r>
            <a:r>
              <a:rPr lang="de-DE" baseline="0" dirty="0" err="1"/>
              <a:t>for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tradeoff</a:t>
            </a:r>
            <a:r>
              <a:rPr lang="de-DE" baseline="0" dirty="0"/>
              <a:t> </a:t>
            </a:r>
            <a:r>
              <a:rPr lang="de-DE" baseline="0" dirty="0" err="1"/>
              <a:t>between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benefits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costs</a:t>
            </a:r>
            <a:r>
              <a:rPr lang="de-DE" baseline="0" dirty="0"/>
              <a:t> </a:t>
            </a:r>
            <a:r>
              <a:rPr lang="de-DE" baseline="0" dirty="0" err="1"/>
              <a:t>of</a:t>
            </a:r>
            <a:r>
              <a:rPr lang="de-DE" baseline="0" dirty="0"/>
              <a:t> </a:t>
            </a:r>
            <a:r>
              <a:rPr lang="de-DE" baseline="0" dirty="0" err="1"/>
              <a:t>reconfigurations</a:t>
            </a:r>
            <a:r>
              <a:rPr lang="de-DE" baseline="0" dirty="0"/>
              <a:t> </a:t>
            </a:r>
            <a:r>
              <a:rPr lang="de-DE" baseline="0" dirty="0" err="1"/>
              <a:t>over</a:t>
            </a:r>
            <a:r>
              <a:rPr lang="de-DE" baseline="0" dirty="0"/>
              <a:t> time.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 err="1"/>
              <a:t>We</a:t>
            </a:r>
            <a:r>
              <a:rPr lang="de-DE" baseline="0" dirty="0"/>
              <a:t> also </a:t>
            </a:r>
            <a:r>
              <a:rPr lang="de-DE" baseline="0" dirty="0" err="1"/>
              <a:t>study</a:t>
            </a:r>
            <a:r>
              <a:rPr lang="de-DE" baseline="0" dirty="0"/>
              <a:t> </a:t>
            </a:r>
            <a:r>
              <a:rPr lang="de-DE" baseline="0" dirty="0" err="1"/>
              <a:t>how</a:t>
            </a:r>
            <a:r>
              <a:rPr lang="de-DE" baseline="0" dirty="0"/>
              <a:t> </a:t>
            </a:r>
            <a:r>
              <a:rPr lang="de-DE" baseline="0" dirty="0" err="1"/>
              <a:t>self-adjusting</a:t>
            </a:r>
            <a:r>
              <a:rPr lang="de-DE" baseline="0" dirty="0"/>
              <a:t> </a:t>
            </a:r>
            <a:r>
              <a:rPr lang="de-DE" baseline="0" dirty="0" err="1"/>
              <a:t>networks</a:t>
            </a:r>
            <a:r>
              <a:rPr lang="de-DE" baseline="0" dirty="0"/>
              <a:t> </a:t>
            </a:r>
            <a:r>
              <a:rPr lang="de-DE" baseline="0" dirty="0" err="1"/>
              <a:t>can</a:t>
            </a:r>
            <a:r>
              <a:rPr lang="de-DE" baseline="0" dirty="0"/>
              <a:t> </a:t>
            </a:r>
            <a:r>
              <a:rPr lang="de-DE" baseline="0" dirty="0" err="1"/>
              <a:t>be</a:t>
            </a:r>
            <a:r>
              <a:rPr lang="de-DE" baseline="0" dirty="0"/>
              <a:t> </a:t>
            </a:r>
            <a:r>
              <a:rPr lang="de-DE" baseline="0" dirty="0" err="1"/>
              <a:t>used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improve</a:t>
            </a:r>
            <a:r>
              <a:rPr lang="de-DE" baseline="0" dirty="0"/>
              <a:t> fault-</a:t>
            </a:r>
            <a:r>
              <a:rPr lang="de-DE" baseline="0" dirty="0" err="1"/>
              <a:t>tolerance</a:t>
            </a:r>
            <a:r>
              <a:rPr lang="de-DE" baseline="0" dirty="0"/>
              <a:t>, </a:t>
            </a:r>
            <a:r>
              <a:rPr lang="de-DE" baseline="0" dirty="0" err="1"/>
              <a:t>what</a:t>
            </a:r>
            <a:r>
              <a:rPr lang="de-DE" baseline="0" dirty="0"/>
              <a:t> </a:t>
            </a:r>
            <a:r>
              <a:rPr lang="de-DE" baseline="0" dirty="0" err="1"/>
              <a:t>is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impact</a:t>
            </a:r>
            <a:r>
              <a:rPr lang="de-DE" baseline="0" dirty="0"/>
              <a:t> on </a:t>
            </a:r>
            <a:r>
              <a:rPr lang="de-DE" baseline="0" dirty="0" err="1"/>
              <a:t>other</a:t>
            </a:r>
            <a:r>
              <a:rPr lang="de-DE" baseline="0" dirty="0"/>
              <a:t> </a:t>
            </a:r>
            <a:r>
              <a:rPr lang="de-DE" baseline="0" dirty="0" err="1"/>
              <a:t>layers</a:t>
            </a:r>
            <a:r>
              <a:rPr lang="de-DE" baseline="0" dirty="0"/>
              <a:t>,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how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apply</a:t>
            </a:r>
            <a:r>
              <a:rPr lang="de-DE" baseline="0" dirty="0"/>
              <a:t> </a:t>
            </a:r>
            <a:r>
              <a:rPr lang="de-DE" baseline="0" dirty="0" err="1"/>
              <a:t>our</a:t>
            </a:r>
            <a:r>
              <a:rPr lang="de-DE" baseline="0" dirty="0"/>
              <a:t> </a:t>
            </a:r>
            <a:r>
              <a:rPr lang="de-DE" baseline="0" dirty="0" err="1"/>
              <a:t>solutions</a:t>
            </a:r>
            <a:r>
              <a:rPr lang="de-DE" baseline="0" dirty="0"/>
              <a:t> in a </a:t>
            </a:r>
            <a:r>
              <a:rPr lang="de-DE" baseline="0" dirty="0" err="1"/>
              <a:t>specific</a:t>
            </a:r>
            <a:r>
              <a:rPr lang="de-DE" baseline="0" dirty="0"/>
              <a:t> </a:t>
            </a:r>
            <a:r>
              <a:rPr lang="de-DE" baseline="0" dirty="0" err="1"/>
              <a:t>case</a:t>
            </a:r>
            <a:r>
              <a:rPr lang="de-DE" baseline="0" dirty="0"/>
              <a:t> </a:t>
            </a:r>
            <a:r>
              <a:rPr lang="de-DE" baseline="0" dirty="0" err="1"/>
              <a:t>study</a:t>
            </a:r>
            <a:r>
              <a:rPr lang="de-DE" baseline="0" dirty="0"/>
              <a:t>, e.g., </a:t>
            </a:r>
            <a:r>
              <a:rPr lang="de-DE" baseline="0" dirty="0" err="1"/>
              <a:t>how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develop</a:t>
            </a:r>
            <a:r>
              <a:rPr lang="de-DE" baseline="0" dirty="0"/>
              <a:t> a </a:t>
            </a:r>
            <a:r>
              <a:rPr lang="de-DE" baseline="0" dirty="0" err="1"/>
              <a:t>scalable</a:t>
            </a:r>
            <a:r>
              <a:rPr lang="de-DE" baseline="0" dirty="0"/>
              <a:t> </a:t>
            </a:r>
            <a:r>
              <a:rPr lang="de-DE" baseline="0" dirty="0" err="1"/>
              <a:t>control</a:t>
            </a:r>
            <a:r>
              <a:rPr lang="de-DE" baseline="0" dirty="0"/>
              <a:t> plane.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/>
              <a:t>This </a:t>
            </a:r>
            <a:r>
              <a:rPr lang="de-DE" baseline="0" dirty="0" err="1"/>
              <a:t>project</a:t>
            </a:r>
            <a:r>
              <a:rPr lang="de-DE" baseline="0" dirty="0"/>
              <a:t> </a:t>
            </a:r>
            <a:r>
              <a:rPr lang="de-DE" baseline="0" dirty="0" err="1"/>
              <a:t>hence</a:t>
            </a:r>
            <a:r>
              <a:rPr lang="de-DE" baseline="0" dirty="0"/>
              <a:t> </a:t>
            </a:r>
            <a:r>
              <a:rPr lang="de-DE" baseline="0" dirty="0" err="1"/>
              <a:t>requires</a:t>
            </a:r>
            <a:r>
              <a:rPr lang="de-DE" baseline="0" dirty="0"/>
              <a:t> </a:t>
            </a:r>
            <a:r>
              <a:rPr lang="de-DE" baseline="0" dirty="0" err="1"/>
              <a:t>expertises</a:t>
            </a:r>
            <a:r>
              <a:rPr lang="de-DE" baseline="0" dirty="0"/>
              <a:t> </a:t>
            </a:r>
            <a:r>
              <a:rPr lang="de-DE" baseline="0" dirty="0" err="1"/>
              <a:t>from</a:t>
            </a:r>
            <a:r>
              <a:rPr lang="de-DE" baseline="0" dirty="0"/>
              <a:t> different </a:t>
            </a:r>
            <a:r>
              <a:rPr lang="de-DE" baseline="0" dirty="0" err="1"/>
              <a:t>fields</a:t>
            </a:r>
            <a:r>
              <a:rPr lang="de-DE" baseline="0" dirty="0"/>
              <a:t>, </a:t>
            </a:r>
            <a:r>
              <a:rPr lang="de-DE" baseline="0" dirty="0" err="1"/>
              <a:t>from</a:t>
            </a:r>
            <a:r>
              <a:rPr lang="de-DE" baseline="0" dirty="0"/>
              <a:t> </a:t>
            </a:r>
            <a:r>
              <a:rPr lang="de-DE" baseline="0" dirty="0" err="1"/>
              <a:t>networking</a:t>
            </a:r>
            <a:r>
              <a:rPr lang="de-DE" baseline="0" dirty="0"/>
              <a:t>, </a:t>
            </a:r>
            <a:r>
              <a:rPr lang="de-DE" baseline="0" dirty="0" err="1"/>
              <a:t>over</a:t>
            </a:r>
            <a:r>
              <a:rPr lang="de-DE" baseline="0" dirty="0"/>
              <a:t> </a:t>
            </a:r>
            <a:r>
              <a:rPr lang="de-DE" baseline="0" dirty="0" err="1"/>
              <a:t>distributed</a:t>
            </a:r>
            <a:r>
              <a:rPr lang="de-DE" baseline="0" dirty="0"/>
              <a:t> </a:t>
            </a:r>
            <a:r>
              <a:rPr lang="de-DE" baseline="0" dirty="0" err="1"/>
              <a:t>systems</a:t>
            </a:r>
            <a:r>
              <a:rPr lang="de-DE" baseline="0" dirty="0"/>
              <a:t>, </a:t>
            </a:r>
            <a:r>
              <a:rPr lang="de-DE" baseline="0" dirty="0" err="1"/>
              <a:t>algorithms</a:t>
            </a:r>
            <a:r>
              <a:rPr lang="de-DE" baseline="0" dirty="0"/>
              <a:t>,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performance</a:t>
            </a:r>
            <a:r>
              <a:rPr lang="de-DE" baseline="0" dirty="0"/>
              <a:t> </a:t>
            </a:r>
            <a:r>
              <a:rPr lang="de-DE" baseline="0" dirty="0" err="1"/>
              <a:t>evaluation</a:t>
            </a:r>
            <a:r>
              <a:rPr lang="de-DE" baseline="0" dirty="0"/>
              <a:t>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/>
              <a:t>I </a:t>
            </a:r>
            <a:r>
              <a:rPr lang="de-DE" baseline="0" dirty="0" err="1"/>
              <a:t>have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necessary</a:t>
            </a:r>
            <a:r>
              <a:rPr lang="de-DE" baseline="0" dirty="0"/>
              <a:t> </a:t>
            </a:r>
            <a:r>
              <a:rPr lang="de-DE" baseline="0" dirty="0" err="1"/>
              <a:t>background</a:t>
            </a:r>
            <a:r>
              <a:rPr lang="de-DE" baseline="0" dirty="0"/>
              <a:t> in all </a:t>
            </a:r>
            <a:r>
              <a:rPr lang="de-DE" baseline="0" dirty="0" err="1"/>
              <a:t>these</a:t>
            </a:r>
            <a:r>
              <a:rPr lang="de-DE" baseline="0" dirty="0"/>
              <a:t> </a:t>
            </a:r>
            <a:r>
              <a:rPr lang="de-DE" baseline="0" dirty="0" err="1"/>
              <a:t>areas</a:t>
            </a:r>
            <a:r>
              <a:rPr lang="de-DE" baseline="0" dirty="0"/>
              <a:t>.</a:t>
            </a:r>
            <a:endParaRPr dirty="0"/>
          </a:p>
        </p:txBody>
      </p:sp>
      <p:sp>
        <p:nvSpPr>
          <p:cNvPr id="1899" name="Google Shape;1899;g60be7dcf1c_0_790:notes">
            <a:extLst>
              <a:ext uri="{FF2B5EF4-FFF2-40B4-BE49-F238E27FC236}">
                <a16:creationId xmlns:a16="http://schemas.microsoft.com/office/drawing/2014/main" id="{530C06FD-92C5-E70B-B334-35AC9B3491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4286404897"/>
      </p:ext>
    </p:extLst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7">
          <a:extLst>
            <a:ext uri="{FF2B5EF4-FFF2-40B4-BE49-F238E27FC236}">
              <a16:creationId xmlns:a16="http://schemas.microsoft.com/office/drawing/2014/main" id="{0C049177-E947-4D55-2D8F-D6B9BF7CC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8" name="Google Shape;1898;g60be7dcf1c_0_790:notes">
            <a:extLst>
              <a:ext uri="{FF2B5EF4-FFF2-40B4-BE49-F238E27FC236}">
                <a16:creationId xmlns:a16="http://schemas.microsoft.com/office/drawing/2014/main" id="{C673ACC6-6615-3909-09DB-DAB5756D07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So </a:t>
            </a:r>
            <a:r>
              <a:rPr lang="de-DE" dirty="0" err="1"/>
              <a:t>far</a:t>
            </a:r>
            <a:r>
              <a:rPr lang="de-DE" dirty="0"/>
              <a:t>,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have</a:t>
            </a:r>
            <a:r>
              <a:rPr lang="de-DE" dirty="0"/>
              <a:t> just </a:t>
            </a:r>
            <a:r>
              <a:rPr lang="de-DE" dirty="0" err="1"/>
              <a:t>scratched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surface</a:t>
            </a:r>
            <a:r>
              <a:rPr lang="de-DE" baseline="0" dirty="0"/>
              <a:t>,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with</a:t>
            </a:r>
            <a:r>
              <a:rPr lang="de-DE" baseline="0" dirty="0"/>
              <a:t> </a:t>
            </a:r>
            <a:r>
              <a:rPr lang="de-DE" baseline="0" dirty="0" err="1"/>
              <a:t>this</a:t>
            </a:r>
            <a:r>
              <a:rPr lang="de-DE" baseline="0" dirty="0"/>
              <a:t> ERC </a:t>
            </a:r>
            <a:r>
              <a:rPr lang="de-DE" baseline="0" dirty="0" err="1"/>
              <a:t>project</a:t>
            </a:r>
            <a:r>
              <a:rPr lang="de-DE" baseline="0" dirty="0"/>
              <a:t>, </a:t>
            </a:r>
            <a:r>
              <a:rPr lang="de-DE" baseline="0" dirty="0" err="1"/>
              <a:t>we</a:t>
            </a:r>
            <a:r>
              <a:rPr lang="de-DE" baseline="0" dirty="0"/>
              <a:t> </a:t>
            </a:r>
            <a:r>
              <a:rPr lang="de-DE" baseline="0" dirty="0" err="1"/>
              <a:t>want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explore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rest</a:t>
            </a:r>
            <a:r>
              <a:rPr lang="de-DE" baseline="0" dirty="0"/>
              <a:t> </a:t>
            </a:r>
            <a:r>
              <a:rPr lang="de-DE" baseline="0" dirty="0" err="1"/>
              <a:t>of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iceberg</a:t>
            </a:r>
            <a:r>
              <a:rPr lang="de-DE" baseline="0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 err="1"/>
              <a:t>Indeed</a:t>
            </a:r>
            <a:r>
              <a:rPr lang="de-DE" baseline="0" dirty="0"/>
              <a:t>,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notion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self-adjusting</a:t>
            </a:r>
            <a:r>
              <a:rPr lang="de-DE" dirty="0"/>
              <a:t> </a:t>
            </a:r>
            <a:r>
              <a:rPr lang="de-DE" dirty="0" err="1"/>
              <a:t>networks</a:t>
            </a:r>
            <a:r>
              <a:rPr lang="de-DE" dirty="0"/>
              <a:t> </a:t>
            </a:r>
            <a:r>
              <a:rPr lang="de-DE" dirty="0" err="1"/>
              <a:t>opens</a:t>
            </a:r>
            <a:r>
              <a:rPr lang="de-DE" dirty="0"/>
              <a:t> </a:t>
            </a:r>
            <a:r>
              <a:rPr lang="de-DE" baseline="0" dirty="0" err="1"/>
              <a:t>are</a:t>
            </a:r>
            <a:r>
              <a:rPr lang="de-DE" baseline="0" dirty="0"/>
              <a:t> large </a:t>
            </a:r>
            <a:r>
              <a:rPr lang="de-DE" baseline="0" dirty="0" err="1"/>
              <a:t>uncharted</a:t>
            </a:r>
            <a:r>
              <a:rPr lang="de-DE" baseline="0" dirty="0"/>
              <a:t> </a:t>
            </a:r>
            <a:r>
              <a:rPr lang="de-DE" baseline="0" dirty="0" err="1"/>
              <a:t>field</a:t>
            </a:r>
            <a:r>
              <a:rPr lang="de-DE" baseline="0" dirty="0"/>
              <a:t>, </a:t>
            </a:r>
            <a:r>
              <a:rPr lang="de-DE" baseline="0" dirty="0" err="1"/>
              <a:t>with</a:t>
            </a:r>
            <a:r>
              <a:rPr lang="de-DE" baseline="0" dirty="0"/>
              <a:t> </a:t>
            </a:r>
            <a:r>
              <a:rPr lang="de-DE" baseline="0" dirty="0" err="1"/>
              <a:t>many</a:t>
            </a:r>
            <a:r>
              <a:rPr lang="de-DE" baseline="0" dirty="0"/>
              <a:t> </a:t>
            </a:r>
            <a:r>
              <a:rPr lang="de-DE" baseline="0" dirty="0" err="1"/>
              <a:t>questions</a:t>
            </a:r>
            <a:r>
              <a:rPr lang="de-DE" baseline="0" dirty="0"/>
              <a:t>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 err="1"/>
              <a:t>W</a:t>
            </a:r>
            <a:r>
              <a:rPr lang="de-DE" baseline="0" dirty="0" err="1"/>
              <a:t>e</a:t>
            </a:r>
            <a:r>
              <a:rPr lang="de-DE" baseline="0" dirty="0"/>
              <a:t> </a:t>
            </a:r>
            <a:r>
              <a:rPr lang="de-DE" baseline="0" dirty="0" err="1"/>
              <a:t>structure</a:t>
            </a:r>
            <a:r>
              <a:rPr lang="de-DE" baseline="0" dirty="0"/>
              <a:t> </a:t>
            </a:r>
            <a:r>
              <a:rPr lang="de-DE" baseline="0" dirty="0" err="1"/>
              <a:t>our</a:t>
            </a:r>
            <a:r>
              <a:rPr lang="de-DE" baseline="0" dirty="0"/>
              <a:t> </a:t>
            </a:r>
            <a:r>
              <a:rPr lang="de-DE" baseline="0" dirty="0" err="1"/>
              <a:t>project</a:t>
            </a:r>
            <a:r>
              <a:rPr lang="de-DE" baseline="0" dirty="0"/>
              <a:t> </a:t>
            </a:r>
            <a:r>
              <a:rPr lang="de-DE" baseline="0" dirty="0" err="1"/>
              <a:t>around</a:t>
            </a:r>
            <a:r>
              <a:rPr lang="de-DE" baseline="0" dirty="0"/>
              <a:t> </a:t>
            </a:r>
            <a:r>
              <a:rPr lang="de-DE" baseline="0" dirty="0" err="1"/>
              <a:t>models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metrics</a:t>
            </a:r>
            <a:r>
              <a:rPr lang="de-DE" baseline="0" dirty="0"/>
              <a:t>, </a:t>
            </a:r>
            <a:r>
              <a:rPr lang="de-DE" baseline="0" dirty="0" err="1"/>
              <a:t>algorithms</a:t>
            </a:r>
            <a:r>
              <a:rPr lang="de-DE" baseline="0" dirty="0"/>
              <a:t>, fault-</a:t>
            </a:r>
            <a:r>
              <a:rPr lang="de-DE" baseline="0" dirty="0" err="1"/>
              <a:t>tolerance</a:t>
            </a:r>
            <a:r>
              <a:rPr lang="de-DE" baseline="0" dirty="0"/>
              <a:t>, </a:t>
            </a:r>
            <a:r>
              <a:rPr lang="de-DE" baseline="0" dirty="0" err="1"/>
              <a:t>integration</a:t>
            </a:r>
            <a:r>
              <a:rPr lang="de-DE" baseline="0" dirty="0"/>
              <a:t> </a:t>
            </a:r>
            <a:r>
              <a:rPr lang="de-DE" baseline="0" dirty="0" err="1"/>
              <a:t>into</a:t>
            </a:r>
            <a:r>
              <a:rPr lang="de-DE" baseline="0" dirty="0"/>
              <a:t> </a:t>
            </a:r>
            <a:r>
              <a:rPr lang="de-DE" baseline="0" dirty="0" err="1"/>
              <a:t>higher</a:t>
            </a:r>
            <a:r>
              <a:rPr lang="de-DE" baseline="0" dirty="0"/>
              <a:t> </a:t>
            </a:r>
            <a:r>
              <a:rPr lang="de-DE" baseline="0" dirty="0" err="1"/>
              <a:t>layers</a:t>
            </a:r>
            <a:r>
              <a:rPr lang="de-DE" baseline="0" dirty="0"/>
              <a:t>,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case</a:t>
            </a:r>
            <a:r>
              <a:rPr lang="de-DE" baseline="0" dirty="0"/>
              <a:t> </a:t>
            </a:r>
            <a:r>
              <a:rPr lang="de-DE" baseline="0" dirty="0" err="1"/>
              <a:t>studies</a:t>
            </a:r>
            <a:r>
              <a:rPr lang="de-DE" baseline="0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/>
              <a:t>In </a:t>
            </a:r>
            <a:r>
              <a:rPr lang="de-DE" baseline="0" dirty="0" err="1"/>
              <a:t>particular</a:t>
            </a:r>
            <a:r>
              <a:rPr lang="de-DE" baseline="0" dirty="0"/>
              <a:t>, </a:t>
            </a:r>
            <a:r>
              <a:rPr lang="de-DE" baseline="0" dirty="0" err="1"/>
              <a:t>we</a:t>
            </a:r>
            <a:r>
              <a:rPr lang="de-DE" baseline="0" dirty="0"/>
              <a:t> will </a:t>
            </a:r>
            <a:r>
              <a:rPr lang="de-DE" baseline="0" dirty="0" err="1"/>
              <a:t>explore</a:t>
            </a:r>
            <a:r>
              <a:rPr lang="de-DE" baseline="0" dirty="0"/>
              <a:t> </a:t>
            </a:r>
            <a:r>
              <a:rPr lang="de-DE" baseline="0" dirty="0" err="1"/>
              <a:t>metrics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algorithms</a:t>
            </a:r>
            <a:r>
              <a:rPr lang="de-DE" baseline="0" dirty="0"/>
              <a:t> </a:t>
            </a:r>
            <a:r>
              <a:rPr lang="de-DE" baseline="0" dirty="0" err="1"/>
              <a:t>for</a:t>
            </a:r>
            <a:r>
              <a:rPr lang="de-DE" baseline="0" dirty="0"/>
              <a:t> </a:t>
            </a:r>
            <a:r>
              <a:rPr lang="de-DE" baseline="0" dirty="0" err="1"/>
              <a:t>by</a:t>
            </a:r>
            <a:r>
              <a:rPr lang="de-DE" baseline="0" dirty="0"/>
              <a:t> </a:t>
            </a:r>
            <a:r>
              <a:rPr lang="de-DE" baseline="0" dirty="0" err="1"/>
              <a:t>how</a:t>
            </a:r>
            <a:r>
              <a:rPr lang="de-DE" baseline="0" dirty="0"/>
              <a:t> </a:t>
            </a:r>
            <a:r>
              <a:rPr lang="de-DE" baseline="0" dirty="0" err="1"/>
              <a:t>much</a:t>
            </a:r>
            <a:r>
              <a:rPr lang="de-DE" baseline="0" dirty="0"/>
              <a:t> </a:t>
            </a:r>
            <a:r>
              <a:rPr lang="de-DE" baseline="0" dirty="0" err="1"/>
              <a:t>load</a:t>
            </a:r>
            <a:r>
              <a:rPr lang="de-DE" baseline="0" dirty="0"/>
              <a:t> </a:t>
            </a:r>
            <a:r>
              <a:rPr lang="de-DE" baseline="0" dirty="0" err="1"/>
              <a:t>can</a:t>
            </a:r>
            <a:r>
              <a:rPr lang="de-DE" baseline="0" dirty="0"/>
              <a:t> </a:t>
            </a:r>
            <a:r>
              <a:rPr lang="de-DE" baseline="0" dirty="0" err="1"/>
              <a:t>be</a:t>
            </a:r>
            <a:r>
              <a:rPr lang="de-DE" baseline="0" dirty="0"/>
              <a:t> </a:t>
            </a:r>
            <a:r>
              <a:rPr lang="de-DE" baseline="0" dirty="0" err="1"/>
              <a:t>lowered</a:t>
            </a:r>
            <a:r>
              <a:rPr lang="de-DE" baseline="0" dirty="0"/>
              <a:t>, </a:t>
            </a:r>
            <a:r>
              <a:rPr lang="de-DE" baseline="0" dirty="0" err="1"/>
              <a:t>energy</a:t>
            </a:r>
            <a:r>
              <a:rPr lang="de-DE" baseline="0" dirty="0"/>
              <a:t> </a:t>
            </a:r>
            <a:r>
              <a:rPr lang="de-DE" baseline="0" dirty="0" err="1"/>
              <a:t>reduced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quality</a:t>
            </a:r>
            <a:r>
              <a:rPr lang="de-DE" baseline="0" dirty="0"/>
              <a:t>-</a:t>
            </a:r>
            <a:r>
              <a:rPr lang="de-DE" baseline="0" dirty="0" err="1"/>
              <a:t>of</a:t>
            </a:r>
            <a:r>
              <a:rPr lang="de-DE" baseline="0" dirty="0"/>
              <a:t>-service </a:t>
            </a:r>
            <a:r>
              <a:rPr lang="de-DE" baseline="0" dirty="0" err="1"/>
              <a:t>improved</a:t>
            </a:r>
            <a:r>
              <a:rPr lang="de-DE" baseline="0" dirty="0"/>
              <a:t> in </a:t>
            </a:r>
            <a:r>
              <a:rPr lang="de-DE" baseline="0" dirty="0" err="1"/>
              <a:t>selfadjusting</a:t>
            </a:r>
            <a:r>
              <a:rPr lang="de-DE" baseline="0" dirty="0"/>
              <a:t> </a:t>
            </a:r>
            <a:r>
              <a:rPr lang="de-DE" baseline="0" dirty="0" err="1"/>
              <a:t>networks</a:t>
            </a:r>
            <a:r>
              <a:rPr lang="de-DE" baseline="0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 err="1"/>
              <a:t>We</a:t>
            </a:r>
            <a:r>
              <a:rPr lang="de-DE" baseline="0" dirty="0"/>
              <a:t> also </a:t>
            </a:r>
            <a:r>
              <a:rPr lang="de-DE" baseline="0" dirty="0" err="1"/>
              <a:t>need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develop</a:t>
            </a:r>
            <a:r>
              <a:rPr lang="de-DE" baseline="0" dirty="0"/>
              <a:t> </a:t>
            </a:r>
            <a:r>
              <a:rPr lang="de-DE" baseline="0" dirty="0" err="1"/>
              <a:t>models</a:t>
            </a:r>
            <a:r>
              <a:rPr lang="de-DE" baseline="0" dirty="0"/>
              <a:t> </a:t>
            </a:r>
            <a:r>
              <a:rPr lang="de-DE" baseline="0" dirty="0" err="1"/>
              <a:t>for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tradeoff</a:t>
            </a:r>
            <a:r>
              <a:rPr lang="de-DE" baseline="0" dirty="0"/>
              <a:t> </a:t>
            </a:r>
            <a:r>
              <a:rPr lang="de-DE" baseline="0" dirty="0" err="1"/>
              <a:t>between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benefits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costs</a:t>
            </a:r>
            <a:r>
              <a:rPr lang="de-DE" baseline="0" dirty="0"/>
              <a:t> </a:t>
            </a:r>
            <a:r>
              <a:rPr lang="de-DE" baseline="0" dirty="0" err="1"/>
              <a:t>of</a:t>
            </a:r>
            <a:r>
              <a:rPr lang="de-DE" baseline="0" dirty="0"/>
              <a:t> </a:t>
            </a:r>
            <a:r>
              <a:rPr lang="de-DE" baseline="0" dirty="0" err="1"/>
              <a:t>reconfigurations</a:t>
            </a:r>
            <a:r>
              <a:rPr lang="de-DE" baseline="0" dirty="0"/>
              <a:t> </a:t>
            </a:r>
            <a:r>
              <a:rPr lang="de-DE" baseline="0" dirty="0" err="1"/>
              <a:t>over</a:t>
            </a:r>
            <a:r>
              <a:rPr lang="de-DE" baseline="0" dirty="0"/>
              <a:t> time.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 err="1"/>
              <a:t>We</a:t>
            </a:r>
            <a:r>
              <a:rPr lang="de-DE" baseline="0" dirty="0"/>
              <a:t> also </a:t>
            </a:r>
            <a:r>
              <a:rPr lang="de-DE" baseline="0" dirty="0" err="1"/>
              <a:t>study</a:t>
            </a:r>
            <a:r>
              <a:rPr lang="de-DE" baseline="0" dirty="0"/>
              <a:t> </a:t>
            </a:r>
            <a:r>
              <a:rPr lang="de-DE" baseline="0" dirty="0" err="1"/>
              <a:t>how</a:t>
            </a:r>
            <a:r>
              <a:rPr lang="de-DE" baseline="0" dirty="0"/>
              <a:t> </a:t>
            </a:r>
            <a:r>
              <a:rPr lang="de-DE" baseline="0" dirty="0" err="1"/>
              <a:t>self-adjusting</a:t>
            </a:r>
            <a:r>
              <a:rPr lang="de-DE" baseline="0" dirty="0"/>
              <a:t> </a:t>
            </a:r>
            <a:r>
              <a:rPr lang="de-DE" baseline="0" dirty="0" err="1"/>
              <a:t>networks</a:t>
            </a:r>
            <a:r>
              <a:rPr lang="de-DE" baseline="0" dirty="0"/>
              <a:t> </a:t>
            </a:r>
            <a:r>
              <a:rPr lang="de-DE" baseline="0" dirty="0" err="1"/>
              <a:t>can</a:t>
            </a:r>
            <a:r>
              <a:rPr lang="de-DE" baseline="0" dirty="0"/>
              <a:t> </a:t>
            </a:r>
            <a:r>
              <a:rPr lang="de-DE" baseline="0" dirty="0" err="1"/>
              <a:t>be</a:t>
            </a:r>
            <a:r>
              <a:rPr lang="de-DE" baseline="0" dirty="0"/>
              <a:t> </a:t>
            </a:r>
            <a:r>
              <a:rPr lang="de-DE" baseline="0" dirty="0" err="1"/>
              <a:t>used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improve</a:t>
            </a:r>
            <a:r>
              <a:rPr lang="de-DE" baseline="0" dirty="0"/>
              <a:t> fault-</a:t>
            </a:r>
            <a:r>
              <a:rPr lang="de-DE" baseline="0" dirty="0" err="1"/>
              <a:t>tolerance</a:t>
            </a:r>
            <a:r>
              <a:rPr lang="de-DE" baseline="0" dirty="0"/>
              <a:t>, </a:t>
            </a:r>
            <a:r>
              <a:rPr lang="de-DE" baseline="0" dirty="0" err="1"/>
              <a:t>what</a:t>
            </a:r>
            <a:r>
              <a:rPr lang="de-DE" baseline="0" dirty="0"/>
              <a:t> </a:t>
            </a:r>
            <a:r>
              <a:rPr lang="de-DE" baseline="0" dirty="0" err="1"/>
              <a:t>is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impact</a:t>
            </a:r>
            <a:r>
              <a:rPr lang="de-DE" baseline="0" dirty="0"/>
              <a:t> on </a:t>
            </a:r>
            <a:r>
              <a:rPr lang="de-DE" baseline="0" dirty="0" err="1"/>
              <a:t>other</a:t>
            </a:r>
            <a:r>
              <a:rPr lang="de-DE" baseline="0" dirty="0"/>
              <a:t> </a:t>
            </a:r>
            <a:r>
              <a:rPr lang="de-DE" baseline="0" dirty="0" err="1"/>
              <a:t>layers</a:t>
            </a:r>
            <a:r>
              <a:rPr lang="de-DE" baseline="0" dirty="0"/>
              <a:t>,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how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apply</a:t>
            </a:r>
            <a:r>
              <a:rPr lang="de-DE" baseline="0" dirty="0"/>
              <a:t> </a:t>
            </a:r>
            <a:r>
              <a:rPr lang="de-DE" baseline="0" dirty="0" err="1"/>
              <a:t>our</a:t>
            </a:r>
            <a:r>
              <a:rPr lang="de-DE" baseline="0" dirty="0"/>
              <a:t> </a:t>
            </a:r>
            <a:r>
              <a:rPr lang="de-DE" baseline="0" dirty="0" err="1"/>
              <a:t>solutions</a:t>
            </a:r>
            <a:r>
              <a:rPr lang="de-DE" baseline="0" dirty="0"/>
              <a:t> in a </a:t>
            </a:r>
            <a:r>
              <a:rPr lang="de-DE" baseline="0" dirty="0" err="1"/>
              <a:t>specific</a:t>
            </a:r>
            <a:r>
              <a:rPr lang="de-DE" baseline="0" dirty="0"/>
              <a:t> </a:t>
            </a:r>
            <a:r>
              <a:rPr lang="de-DE" baseline="0" dirty="0" err="1"/>
              <a:t>case</a:t>
            </a:r>
            <a:r>
              <a:rPr lang="de-DE" baseline="0" dirty="0"/>
              <a:t> </a:t>
            </a:r>
            <a:r>
              <a:rPr lang="de-DE" baseline="0" dirty="0" err="1"/>
              <a:t>study</a:t>
            </a:r>
            <a:r>
              <a:rPr lang="de-DE" baseline="0" dirty="0"/>
              <a:t>, e.g., </a:t>
            </a:r>
            <a:r>
              <a:rPr lang="de-DE" baseline="0" dirty="0" err="1"/>
              <a:t>how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develop</a:t>
            </a:r>
            <a:r>
              <a:rPr lang="de-DE" baseline="0" dirty="0"/>
              <a:t> a </a:t>
            </a:r>
            <a:r>
              <a:rPr lang="de-DE" baseline="0" dirty="0" err="1"/>
              <a:t>scalable</a:t>
            </a:r>
            <a:r>
              <a:rPr lang="de-DE" baseline="0" dirty="0"/>
              <a:t> </a:t>
            </a:r>
            <a:r>
              <a:rPr lang="de-DE" baseline="0" dirty="0" err="1"/>
              <a:t>control</a:t>
            </a:r>
            <a:r>
              <a:rPr lang="de-DE" baseline="0" dirty="0"/>
              <a:t> plane.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/>
              <a:t>This </a:t>
            </a:r>
            <a:r>
              <a:rPr lang="de-DE" baseline="0" dirty="0" err="1"/>
              <a:t>project</a:t>
            </a:r>
            <a:r>
              <a:rPr lang="de-DE" baseline="0" dirty="0"/>
              <a:t> </a:t>
            </a:r>
            <a:r>
              <a:rPr lang="de-DE" baseline="0" dirty="0" err="1"/>
              <a:t>hence</a:t>
            </a:r>
            <a:r>
              <a:rPr lang="de-DE" baseline="0" dirty="0"/>
              <a:t> </a:t>
            </a:r>
            <a:r>
              <a:rPr lang="de-DE" baseline="0" dirty="0" err="1"/>
              <a:t>requires</a:t>
            </a:r>
            <a:r>
              <a:rPr lang="de-DE" baseline="0" dirty="0"/>
              <a:t> </a:t>
            </a:r>
            <a:r>
              <a:rPr lang="de-DE" baseline="0" dirty="0" err="1"/>
              <a:t>expertises</a:t>
            </a:r>
            <a:r>
              <a:rPr lang="de-DE" baseline="0" dirty="0"/>
              <a:t> </a:t>
            </a:r>
            <a:r>
              <a:rPr lang="de-DE" baseline="0" dirty="0" err="1"/>
              <a:t>from</a:t>
            </a:r>
            <a:r>
              <a:rPr lang="de-DE" baseline="0" dirty="0"/>
              <a:t> different </a:t>
            </a:r>
            <a:r>
              <a:rPr lang="de-DE" baseline="0" dirty="0" err="1"/>
              <a:t>fields</a:t>
            </a:r>
            <a:r>
              <a:rPr lang="de-DE" baseline="0" dirty="0"/>
              <a:t>, </a:t>
            </a:r>
            <a:r>
              <a:rPr lang="de-DE" baseline="0" dirty="0" err="1"/>
              <a:t>from</a:t>
            </a:r>
            <a:r>
              <a:rPr lang="de-DE" baseline="0" dirty="0"/>
              <a:t> </a:t>
            </a:r>
            <a:r>
              <a:rPr lang="de-DE" baseline="0" dirty="0" err="1"/>
              <a:t>networking</a:t>
            </a:r>
            <a:r>
              <a:rPr lang="de-DE" baseline="0" dirty="0"/>
              <a:t>, </a:t>
            </a:r>
            <a:r>
              <a:rPr lang="de-DE" baseline="0" dirty="0" err="1"/>
              <a:t>over</a:t>
            </a:r>
            <a:r>
              <a:rPr lang="de-DE" baseline="0" dirty="0"/>
              <a:t> </a:t>
            </a:r>
            <a:r>
              <a:rPr lang="de-DE" baseline="0" dirty="0" err="1"/>
              <a:t>distributed</a:t>
            </a:r>
            <a:r>
              <a:rPr lang="de-DE" baseline="0" dirty="0"/>
              <a:t> </a:t>
            </a:r>
            <a:r>
              <a:rPr lang="de-DE" baseline="0" dirty="0" err="1"/>
              <a:t>systems</a:t>
            </a:r>
            <a:r>
              <a:rPr lang="de-DE" baseline="0" dirty="0"/>
              <a:t>, </a:t>
            </a:r>
            <a:r>
              <a:rPr lang="de-DE" baseline="0" dirty="0" err="1"/>
              <a:t>algorithms</a:t>
            </a:r>
            <a:r>
              <a:rPr lang="de-DE" baseline="0" dirty="0"/>
              <a:t>,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performance</a:t>
            </a:r>
            <a:r>
              <a:rPr lang="de-DE" baseline="0" dirty="0"/>
              <a:t> </a:t>
            </a:r>
            <a:r>
              <a:rPr lang="de-DE" baseline="0" dirty="0" err="1"/>
              <a:t>evaluation</a:t>
            </a:r>
            <a:r>
              <a:rPr lang="de-DE" baseline="0" dirty="0"/>
              <a:t>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/>
              <a:t>I </a:t>
            </a:r>
            <a:r>
              <a:rPr lang="de-DE" baseline="0" dirty="0" err="1"/>
              <a:t>have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necessary</a:t>
            </a:r>
            <a:r>
              <a:rPr lang="de-DE" baseline="0" dirty="0"/>
              <a:t> </a:t>
            </a:r>
            <a:r>
              <a:rPr lang="de-DE" baseline="0" dirty="0" err="1"/>
              <a:t>background</a:t>
            </a:r>
            <a:r>
              <a:rPr lang="de-DE" baseline="0" dirty="0"/>
              <a:t> in all </a:t>
            </a:r>
            <a:r>
              <a:rPr lang="de-DE" baseline="0" dirty="0" err="1"/>
              <a:t>these</a:t>
            </a:r>
            <a:r>
              <a:rPr lang="de-DE" baseline="0" dirty="0"/>
              <a:t> </a:t>
            </a:r>
            <a:r>
              <a:rPr lang="de-DE" baseline="0" dirty="0" err="1"/>
              <a:t>areas</a:t>
            </a:r>
            <a:r>
              <a:rPr lang="de-DE" baseline="0" dirty="0"/>
              <a:t>.</a:t>
            </a:r>
            <a:endParaRPr dirty="0"/>
          </a:p>
        </p:txBody>
      </p:sp>
      <p:sp>
        <p:nvSpPr>
          <p:cNvPr id="1899" name="Google Shape;1899;g60be7dcf1c_0_790:notes">
            <a:extLst>
              <a:ext uri="{FF2B5EF4-FFF2-40B4-BE49-F238E27FC236}">
                <a16:creationId xmlns:a16="http://schemas.microsoft.com/office/drawing/2014/main" id="{44C56A1C-F167-E025-BFC7-E4130F91E3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332646839"/>
      </p:ext>
    </p:extLst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7">
          <a:extLst>
            <a:ext uri="{FF2B5EF4-FFF2-40B4-BE49-F238E27FC236}">
              <a16:creationId xmlns:a16="http://schemas.microsoft.com/office/drawing/2014/main" id="{3A8B8550-79DF-6830-4BC3-A2EB85955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8" name="Google Shape;1898;g60be7dcf1c_0_790:notes">
            <a:extLst>
              <a:ext uri="{FF2B5EF4-FFF2-40B4-BE49-F238E27FC236}">
                <a16:creationId xmlns:a16="http://schemas.microsoft.com/office/drawing/2014/main" id="{92BFE1E9-9277-607B-DE0C-114F87D4D2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So </a:t>
            </a:r>
            <a:r>
              <a:rPr lang="de-DE" dirty="0" err="1"/>
              <a:t>far</a:t>
            </a:r>
            <a:r>
              <a:rPr lang="de-DE" dirty="0"/>
              <a:t>,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have</a:t>
            </a:r>
            <a:r>
              <a:rPr lang="de-DE" dirty="0"/>
              <a:t> just </a:t>
            </a:r>
            <a:r>
              <a:rPr lang="de-DE" dirty="0" err="1"/>
              <a:t>scratched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surface</a:t>
            </a:r>
            <a:r>
              <a:rPr lang="de-DE" baseline="0" dirty="0"/>
              <a:t>,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with</a:t>
            </a:r>
            <a:r>
              <a:rPr lang="de-DE" baseline="0" dirty="0"/>
              <a:t> </a:t>
            </a:r>
            <a:r>
              <a:rPr lang="de-DE" baseline="0" dirty="0" err="1"/>
              <a:t>this</a:t>
            </a:r>
            <a:r>
              <a:rPr lang="de-DE" baseline="0" dirty="0"/>
              <a:t> ERC </a:t>
            </a:r>
            <a:r>
              <a:rPr lang="de-DE" baseline="0" dirty="0" err="1"/>
              <a:t>project</a:t>
            </a:r>
            <a:r>
              <a:rPr lang="de-DE" baseline="0" dirty="0"/>
              <a:t>, </a:t>
            </a:r>
            <a:r>
              <a:rPr lang="de-DE" baseline="0" dirty="0" err="1"/>
              <a:t>we</a:t>
            </a:r>
            <a:r>
              <a:rPr lang="de-DE" baseline="0" dirty="0"/>
              <a:t> </a:t>
            </a:r>
            <a:r>
              <a:rPr lang="de-DE" baseline="0" dirty="0" err="1"/>
              <a:t>want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explore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rest</a:t>
            </a:r>
            <a:r>
              <a:rPr lang="de-DE" baseline="0" dirty="0"/>
              <a:t> </a:t>
            </a:r>
            <a:r>
              <a:rPr lang="de-DE" baseline="0" dirty="0" err="1"/>
              <a:t>of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iceberg</a:t>
            </a:r>
            <a:r>
              <a:rPr lang="de-DE" baseline="0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 err="1"/>
              <a:t>Indeed</a:t>
            </a:r>
            <a:r>
              <a:rPr lang="de-DE" baseline="0" dirty="0"/>
              <a:t>,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notion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self-adjusting</a:t>
            </a:r>
            <a:r>
              <a:rPr lang="de-DE" dirty="0"/>
              <a:t> </a:t>
            </a:r>
            <a:r>
              <a:rPr lang="de-DE" dirty="0" err="1"/>
              <a:t>networks</a:t>
            </a:r>
            <a:r>
              <a:rPr lang="de-DE" dirty="0"/>
              <a:t> </a:t>
            </a:r>
            <a:r>
              <a:rPr lang="de-DE" dirty="0" err="1"/>
              <a:t>opens</a:t>
            </a:r>
            <a:r>
              <a:rPr lang="de-DE" dirty="0"/>
              <a:t> </a:t>
            </a:r>
            <a:r>
              <a:rPr lang="de-DE" baseline="0" dirty="0" err="1"/>
              <a:t>are</a:t>
            </a:r>
            <a:r>
              <a:rPr lang="de-DE" baseline="0" dirty="0"/>
              <a:t> large </a:t>
            </a:r>
            <a:r>
              <a:rPr lang="de-DE" baseline="0" dirty="0" err="1"/>
              <a:t>uncharted</a:t>
            </a:r>
            <a:r>
              <a:rPr lang="de-DE" baseline="0" dirty="0"/>
              <a:t> </a:t>
            </a:r>
            <a:r>
              <a:rPr lang="de-DE" baseline="0" dirty="0" err="1"/>
              <a:t>field</a:t>
            </a:r>
            <a:r>
              <a:rPr lang="de-DE" baseline="0" dirty="0"/>
              <a:t>, </a:t>
            </a:r>
            <a:r>
              <a:rPr lang="de-DE" baseline="0" dirty="0" err="1"/>
              <a:t>with</a:t>
            </a:r>
            <a:r>
              <a:rPr lang="de-DE" baseline="0" dirty="0"/>
              <a:t> </a:t>
            </a:r>
            <a:r>
              <a:rPr lang="de-DE" baseline="0" dirty="0" err="1"/>
              <a:t>many</a:t>
            </a:r>
            <a:r>
              <a:rPr lang="de-DE" baseline="0" dirty="0"/>
              <a:t> </a:t>
            </a:r>
            <a:r>
              <a:rPr lang="de-DE" baseline="0" dirty="0" err="1"/>
              <a:t>questions</a:t>
            </a:r>
            <a:r>
              <a:rPr lang="de-DE" baseline="0" dirty="0"/>
              <a:t>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 err="1"/>
              <a:t>W</a:t>
            </a:r>
            <a:r>
              <a:rPr lang="de-DE" baseline="0" dirty="0" err="1"/>
              <a:t>e</a:t>
            </a:r>
            <a:r>
              <a:rPr lang="de-DE" baseline="0" dirty="0"/>
              <a:t> </a:t>
            </a:r>
            <a:r>
              <a:rPr lang="de-DE" baseline="0" dirty="0" err="1"/>
              <a:t>structure</a:t>
            </a:r>
            <a:r>
              <a:rPr lang="de-DE" baseline="0" dirty="0"/>
              <a:t> </a:t>
            </a:r>
            <a:r>
              <a:rPr lang="de-DE" baseline="0" dirty="0" err="1"/>
              <a:t>our</a:t>
            </a:r>
            <a:r>
              <a:rPr lang="de-DE" baseline="0" dirty="0"/>
              <a:t> </a:t>
            </a:r>
            <a:r>
              <a:rPr lang="de-DE" baseline="0" dirty="0" err="1"/>
              <a:t>project</a:t>
            </a:r>
            <a:r>
              <a:rPr lang="de-DE" baseline="0" dirty="0"/>
              <a:t> </a:t>
            </a:r>
            <a:r>
              <a:rPr lang="de-DE" baseline="0" dirty="0" err="1"/>
              <a:t>around</a:t>
            </a:r>
            <a:r>
              <a:rPr lang="de-DE" baseline="0" dirty="0"/>
              <a:t> </a:t>
            </a:r>
            <a:r>
              <a:rPr lang="de-DE" baseline="0" dirty="0" err="1"/>
              <a:t>models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metrics</a:t>
            </a:r>
            <a:r>
              <a:rPr lang="de-DE" baseline="0" dirty="0"/>
              <a:t>, </a:t>
            </a:r>
            <a:r>
              <a:rPr lang="de-DE" baseline="0" dirty="0" err="1"/>
              <a:t>algorithms</a:t>
            </a:r>
            <a:r>
              <a:rPr lang="de-DE" baseline="0" dirty="0"/>
              <a:t>, fault-</a:t>
            </a:r>
            <a:r>
              <a:rPr lang="de-DE" baseline="0" dirty="0" err="1"/>
              <a:t>tolerance</a:t>
            </a:r>
            <a:r>
              <a:rPr lang="de-DE" baseline="0" dirty="0"/>
              <a:t>, </a:t>
            </a:r>
            <a:r>
              <a:rPr lang="de-DE" baseline="0" dirty="0" err="1"/>
              <a:t>integration</a:t>
            </a:r>
            <a:r>
              <a:rPr lang="de-DE" baseline="0" dirty="0"/>
              <a:t> </a:t>
            </a:r>
            <a:r>
              <a:rPr lang="de-DE" baseline="0" dirty="0" err="1"/>
              <a:t>into</a:t>
            </a:r>
            <a:r>
              <a:rPr lang="de-DE" baseline="0" dirty="0"/>
              <a:t> </a:t>
            </a:r>
            <a:r>
              <a:rPr lang="de-DE" baseline="0" dirty="0" err="1"/>
              <a:t>higher</a:t>
            </a:r>
            <a:r>
              <a:rPr lang="de-DE" baseline="0" dirty="0"/>
              <a:t> </a:t>
            </a:r>
            <a:r>
              <a:rPr lang="de-DE" baseline="0" dirty="0" err="1"/>
              <a:t>layers</a:t>
            </a:r>
            <a:r>
              <a:rPr lang="de-DE" baseline="0" dirty="0"/>
              <a:t>,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case</a:t>
            </a:r>
            <a:r>
              <a:rPr lang="de-DE" baseline="0" dirty="0"/>
              <a:t> </a:t>
            </a:r>
            <a:r>
              <a:rPr lang="de-DE" baseline="0" dirty="0" err="1"/>
              <a:t>studies</a:t>
            </a:r>
            <a:r>
              <a:rPr lang="de-DE" baseline="0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/>
              <a:t>In </a:t>
            </a:r>
            <a:r>
              <a:rPr lang="de-DE" baseline="0" dirty="0" err="1"/>
              <a:t>particular</a:t>
            </a:r>
            <a:r>
              <a:rPr lang="de-DE" baseline="0" dirty="0"/>
              <a:t>, </a:t>
            </a:r>
            <a:r>
              <a:rPr lang="de-DE" baseline="0" dirty="0" err="1"/>
              <a:t>we</a:t>
            </a:r>
            <a:r>
              <a:rPr lang="de-DE" baseline="0" dirty="0"/>
              <a:t> will </a:t>
            </a:r>
            <a:r>
              <a:rPr lang="de-DE" baseline="0" dirty="0" err="1"/>
              <a:t>explore</a:t>
            </a:r>
            <a:r>
              <a:rPr lang="de-DE" baseline="0" dirty="0"/>
              <a:t> </a:t>
            </a:r>
            <a:r>
              <a:rPr lang="de-DE" baseline="0" dirty="0" err="1"/>
              <a:t>metrics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algorithms</a:t>
            </a:r>
            <a:r>
              <a:rPr lang="de-DE" baseline="0" dirty="0"/>
              <a:t> </a:t>
            </a:r>
            <a:r>
              <a:rPr lang="de-DE" baseline="0" dirty="0" err="1"/>
              <a:t>for</a:t>
            </a:r>
            <a:r>
              <a:rPr lang="de-DE" baseline="0" dirty="0"/>
              <a:t> </a:t>
            </a:r>
            <a:r>
              <a:rPr lang="de-DE" baseline="0" dirty="0" err="1"/>
              <a:t>by</a:t>
            </a:r>
            <a:r>
              <a:rPr lang="de-DE" baseline="0" dirty="0"/>
              <a:t> </a:t>
            </a:r>
            <a:r>
              <a:rPr lang="de-DE" baseline="0" dirty="0" err="1"/>
              <a:t>how</a:t>
            </a:r>
            <a:r>
              <a:rPr lang="de-DE" baseline="0" dirty="0"/>
              <a:t> </a:t>
            </a:r>
            <a:r>
              <a:rPr lang="de-DE" baseline="0" dirty="0" err="1"/>
              <a:t>much</a:t>
            </a:r>
            <a:r>
              <a:rPr lang="de-DE" baseline="0" dirty="0"/>
              <a:t> </a:t>
            </a:r>
            <a:r>
              <a:rPr lang="de-DE" baseline="0" dirty="0" err="1"/>
              <a:t>load</a:t>
            </a:r>
            <a:r>
              <a:rPr lang="de-DE" baseline="0" dirty="0"/>
              <a:t> </a:t>
            </a:r>
            <a:r>
              <a:rPr lang="de-DE" baseline="0" dirty="0" err="1"/>
              <a:t>can</a:t>
            </a:r>
            <a:r>
              <a:rPr lang="de-DE" baseline="0" dirty="0"/>
              <a:t> </a:t>
            </a:r>
            <a:r>
              <a:rPr lang="de-DE" baseline="0" dirty="0" err="1"/>
              <a:t>be</a:t>
            </a:r>
            <a:r>
              <a:rPr lang="de-DE" baseline="0" dirty="0"/>
              <a:t> </a:t>
            </a:r>
            <a:r>
              <a:rPr lang="de-DE" baseline="0" dirty="0" err="1"/>
              <a:t>lowered</a:t>
            </a:r>
            <a:r>
              <a:rPr lang="de-DE" baseline="0" dirty="0"/>
              <a:t>, </a:t>
            </a:r>
            <a:r>
              <a:rPr lang="de-DE" baseline="0" dirty="0" err="1"/>
              <a:t>energy</a:t>
            </a:r>
            <a:r>
              <a:rPr lang="de-DE" baseline="0" dirty="0"/>
              <a:t> </a:t>
            </a:r>
            <a:r>
              <a:rPr lang="de-DE" baseline="0" dirty="0" err="1"/>
              <a:t>reduced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quality</a:t>
            </a:r>
            <a:r>
              <a:rPr lang="de-DE" baseline="0" dirty="0"/>
              <a:t>-</a:t>
            </a:r>
            <a:r>
              <a:rPr lang="de-DE" baseline="0" dirty="0" err="1"/>
              <a:t>of</a:t>
            </a:r>
            <a:r>
              <a:rPr lang="de-DE" baseline="0" dirty="0"/>
              <a:t>-service </a:t>
            </a:r>
            <a:r>
              <a:rPr lang="de-DE" baseline="0" dirty="0" err="1"/>
              <a:t>improved</a:t>
            </a:r>
            <a:r>
              <a:rPr lang="de-DE" baseline="0" dirty="0"/>
              <a:t> in </a:t>
            </a:r>
            <a:r>
              <a:rPr lang="de-DE" baseline="0" dirty="0" err="1"/>
              <a:t>selfadjusting</a:t>
            </a:r>
            <a:r>
              <a:rPr lang="de-DE" baseline="0" dirty="0"/>
              <a:t> </a:t>
            </a:r>
            <a:r>
              <a:rPr lang="de-DE" baseline="0" dirty="0" err="1"/>
              <a:t>networks</a:t>
            </a:r>
            <a:r>
              <a:rPr lang="de-DE" baseline="0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 err="1"/>
              <a:t>We</a:t>
            </a:r>
            <a:r>
              <a:rPr lang="de-DE" baseline="0" dirty="0"/>
              <a:t> also </a:t>
            </a:r>
            <a:r>
              <a:rPr lang="de-DE" baseline="0" dirty="0" err="1"/>
              <a:t>need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develop</a:t>
            </a:r>
            <a:r>
              <a:rPr lang="de-DE" baseline="0" dirty="0"/>
              <a:t> </a:t>
            </a:r>
            <a:r>
              <a:rPr lang="de-DE" baseline="0" dirty="0" err="1"/>
              <a:t>models</a:t>
            </a:r>
            <a:r>
              <a:rPr lang="de-DE" baseline="0" dirty="0"/>
              <a:t> </a:t>
            </a:r>
            <a:r>
              <a:rPr lang="de-DE" baseline="0" dirty="0" err="1"/>
              <a:t>for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tradeoff</a:t>
            </a:r>
            <a:r>
              <a:rPr lang="de-DE" baseline="0" dirty="0"/>
              <a:t> </a:t>
            </a:r>
            <a:r>
              <a:rPr lang="de-DE" baseline="0" dirty="0" err="1"/>
              <a:t>between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benefits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costs</a:t>
            </a:r>
            <a:r>
              <a:rPr lang="de-DE" baseline="0" dirty="0"/>
              <a:t> </a:t>
            </a:r>
            <a:r>
              <a:rPr lang="de-DE" baseline="0" dirty="0" err="1"/>
              <a:t>of</a:t>
            </a:r>
            <a:r>
              <a:rPr lang="de-DE" baseline="0" dirty="0"/>
              <a:t> </a:t>
            </a:r>
            <a:r>
              <a:rPr lang="de-DE" baseline="0" dirty="0" err="1"/>
              <a:t>reconfigurations</a:t>
            </a:r>
            <a:r>
              <a:rPr lang="de-DE" baseline="0" dirty="0"/>
              <a:t> </a:t>
            </a:r>
            <a:r>
              <a:rPr lang="de-DE" baseline="0" dirty="0" err="1"/>
              <a:t>over</a:t>
            </a:r>
            <a:r>
              <a:rPr lang="de-DE" baseline="0" dirty="0"/>
              <a:t> time.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 err="1"/>
              <a:t>We</a:t>
            </a:r>
            <a:r>
              <a:rPr lang="de-DE" baseline="0" dirty="0"/>
              <a:t> also </a:t>
            </a:r>
            <a:r>
              <a:rPr lang="de-DE" baseline="0" dirty="0" err="1"/>
              <a:t>study</a:t>
            </a:r>
            <a:r>
              <a:rPr lang="de-DE" baseline="0" dirty="0"/>
              <a:t> </a:t>
            </a:r>
            <a:r>
              <a:rPr lang="de-DE" baseline="0" dirty="0" err="1"/>
              <a:t>how</a:t>
            </a:r>
            <a:r>
              <a:rPr lang="de-DE" baseline="0" dirty="0"/>
              <a:t> </a:t>
            </a:r>
            <a:r>
              <a:rPr lang="de-DE" baseline="0" dirty="0" err="1"/>
              <a:t>self-adjusting</a:t>
            </a:r>
            <a:r>
              <a:rPr lang="de-DE" baseline="0" dirty="0"/>
              <a:t> </a:t>
            </a:r>
            <a:r>
              <a:rPr lang="de-DE" baseline="0" dirty="0" err="1"/>
              <a:t>networks</a:t>
            </a:r>
            <a:r>
              <a:rPr lang="de-DE" baseline="0" dirty="0"/>
              <a:t> </a:t>
            </a:r>
            <a:r>
              <a:rPr lang="de-DE" baseline="0" dirty="0" err="1"/>
              <a:t>can</a:t>
            </a:r>
            <a:r>
              <a:rPr lang="de-DE" baseline="0" dirty="0"/>
              <a:t> </a:t>
            </a:r>
            <a:r>
              <a:rPr lang="de-DE" baseline="0" dirty="0" err="1"/>
              <a:t>be</a:t>
            </a:r>
            <a:r>
              <a:rPr lang="de-DE" baseline="0" dirty="0"/>
              <a:t> </a:t>
            </a:r>
            <a:r>
              <a:rPr lang="de-DE" baseline="0" dirty="0" err="1"/>
              <a:t>used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improve</a:t>
            </a:r>
            <a:r>
              <a:rPr lang="de-DE" baseline="0" dirty="0"/>
              <a:t> fault-</a:t>
            </a:r>
            <a:r>
              <a:rPr lang="de-DE" baseline="0" dirty="0" err="1"/>
              <a:t>tolerance</a:t>
            </a:r>
            <a:r>
              <a:rPr lang="de-DE" baseline="0" dirty="0"/>
              <a:t>, </a:t>
            </a:r>
            <a:r>
              <a:rPr lang="de-DE" baseline="0" dirty="0" err="1"/>
              <a:t>what</a:t>
            </a:r>
            <a:r>
              <a:rPr lang="de-DE" baseline="0" dirty="0"/>
              <a:t> </a:t>
            </a:r>
            <a:r>
              <a:rPr lang="de-DE" baseline="0" dirty="0" err="1"/>
              <a:t>is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impact</a:t>
            </a:r>
            <a:r>
              <a:rPr lang="de-DE" baseline="0" dirty="0"/>
              <a:t> on </a:t>
            </a:r>
            <a:r>
              <a:rPr lang="de-DE" baseline="0" dirty="0" err="1"/>
              <a:t>other</a:t>
            </a:r>
            <a:r>
              <a:rPr lang="de-DE" baseline="0" dirty="0"/>
              <a:t> </a:t>
            </a:r>
            <a:r>
              <a:rPr lang="de-DE" baseline="0" dirty="0" err="1"/>
              <a:t>layers</a:t>
            </a:r>
            <a:r>
              <a:rPr lang="de-DE" baseline="0" dirty="0"/>
              <a:t>,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how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apply</a:t>
            </a:r>
            <a:r>
              <a:rPr lang="de-DE" baseline="0" dirty="0"/>
              <a:t> </a:t>
            </a:r>
            <a:r>
              <a:rPr lang="de-DE" baseline="0" dirty="0" err="1"/>
              <a:t>our</a:t>
            </a:r>
            <a:r>
              <a:rPr lang="de-DE" baseline="0" dirty="0"/>
              <a:t> </a:t>
            </a:r>
            <a:r>
              <a:rPr lang="de-DE" baseline="0" dirty="0" err="1"/>
              <a:t>solutions</a:t>
            </a:r>
            <a:r>
              <a:rPr lang="de-DE" baseline="0" dirty="0"/>
              <a:t> in a </a:t>
            </a:r>
            <a:r>
              <a:rPr lang="de-DE" baseline="0" dirty="0" err="1"/>
              <a:t>specific</a:t>
            </a:r>
            <a:r>
              <a:rPr lang="de-DE" baseline="0" dirty="0"/>
              <a:t> </a:t>
            </a:r>
            <a:r>
              <a:rPr lang="de-DE" baseline="0" dirty="0" err="1"/>
              <a:t>case</a:t>
            </a:r>
            <a:r>
              <a:rPr lang="de-DE" baseline="0" dirty="0"/>
              <a:t> </a:t>
            </a:r>
            <a:r>
              <a:rPr lang="de-DE" baseline="0" dirty="0" err="1"/>
              <a:t>study</a:t>
            </a:r>
            <a:r>
              <a:rPr lang="de-DE" baseline="0" dirty="0"/>
              <a:t>, e.g., </a:t>
            </a:r>
            <a:r>
              <a:rPr lang="de-DE" baseline="0" dirty="0" err="1"/>
              <a:t>how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develop</a:t>
            </a:r>
            <a:r>
              <a:rPr lang="de-DE" baseline="0" dirty="0"/>
              <a:t> a </a:t>
            </a:r>
            <a:r>
              <a:rPr lang="de-DE" baseline="0" dirty="0" err="1"/>
              <a:t>scalable</a:t>
            </a:r>
            <a:r>
              <a:rPr lang="de-DE" baseline="0" dirty="0"/>
              <a:t> </a:t>
            </a:r>
            <a:r>
              <a:rPr lang="de-DE" baseline="0" dirty="0" err="1"/>
              <a:t>control</a:t>
            </a:r>
            <a:r>
              <a:rPr lang="de-DE" baseline="0" dirty="0"/>
              <a:t> plane.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/>
              <a:t>This </a:t>
            </a:r>
            <a:r>
              <a:rPr lang="de-DE" baseline="0" dirty="0" err="1"/>
              <a:t>project</a:t>
            </a:r>
            <a:r>
              <a:rPr lang="de-DE" baseline="0" dirty="0"/>
              <a:t> </a:t>
            </a:r>
            <a:r>
              <a:rPr lang="de-DE" baseline="0" dirty="0" err="1"/>
              <a:t>hence</a:t>
            </a:r>
            <a:r>
              <a:rPr lang="de-DE" baseline="0" dirty="0"/>
              <a:t> </a:t>
            </a:r>
            <a:r>
              <a:rPr lang="de-DE" baseline="0" dirty="0" err="1"/>
              <a:t>requires</a:t>
            </a:r>
            <a:r>
              <a:rPr lang="de-DE" baseline="0" dirty="0"/>
              <a:t> </a:t>
            </a:r>
            <a:r>
              <a:rPr lang="de-DE" baseline="0" dirty="0" err="1"/>
              <a:t>expertises</a:t>
            </a:r>
            <a:r>
              <a:rPr lang="de-DE" baseline="0" dirty="0"/>
              <a:t> </a:t>
            </a:r>
            <a:r>
              <a:rPr lang="de-DE" baseline="0" dirty="0" err="1"/>
              <a:t>from</a:t>
            </a:r>
            <a:r>
              <a:rPr lang="de-DE" baseline="0" dirty="0"/>
              <a:t> different </a:t>
            </a:r>
            <a:r>
              <a:rPr lang="de-DE" baseline="0" dirty="0" err="1"/>
              <a:t>fields</a:t>
            </a:r>
            <a:r>
              <a:rPr lang="de-DE" baseline="0" dirty="0"/>
              <a:t>, </a:t>
            </a:r>
            <a:r>
              <a:rPr lang="de-DE" baseline="0" dirty="0" err="1"/>
              <a:t>from</a:t>
            </a:r>
            <a:r>
              <a:rPr lang="de-DE" baseline="0" dirty="0"/>
              <a:t> </a:t>
            </a:r>
            <a:r>
              <a:rPr lang="de-DE" baseline="0" dirty="0" err="1"/>
              <a:t>networking</a:t>
            </a:r>
            <a:r>
              <a:rPr lang="de-DE" baseline="0" dirty="0"/>
              <a:t>, </a:t>
            </a:r>
            <a:r>
              <a:rPr lang="de-DE" baseline="0" dirty="0" err="1"/>
              <a:t>over</a:t>
            </a:r>
            <a:r>
              <a:rPr lang="de-DE" baseline="0" dirty="0"/>
              <a:t> </a:t>
            </a:r>
            <a:r>
              <a:rPr lang="de-DE" baseline="0" dirty="0" err="1"/>
              <a:t>distributed</a:t>
            </a:r>
            <a:r>
              <a:rPr lang="de-DE" baseline="0" dirty="0"/>
              <a:t> </a:t>
            </a:r>
            <a:r>
              <a:rPr lang="de-DE" baseline="0" dirty="0" err="1"/>
              <a:t>systems</a:t>
            </a:r>
            <a:r>
              <a:rPr lang="de-DE" baseline="0" dirty="0"/>
              <a:t>, </a:t>
            </a:r>
            <a:r>
              <a:rPr lang="de-DE" baseline="0" dirty="0" err="1"/>
              <a:t>algorithms</a:t>
            </a:r>
            <a:r>
              <a:rPr lang="de-DE" baseline="0" dirty="0"/>
              <a:t>,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performance</a:t>
            </a:r>
            <a:r>
              <a:rPr lang="de-DE" baseline="0" dirty="0"/>
              <a:t> </a:t>
            </a:r>
            <a:r>
              <a:rPr lang="de-DE" baseline="0" dirty="0" err="1"/>
              <a:t>evaluation</a:t>
            </a:r>
            <a:r>
              <a:rPr lang="de-DE" baseline="0" dirty="0"/>
              <a:t>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/>
              <a:t>I </a:t>
            </a:r>
            <a:r>
              <a:rPr lang="de-DE" baseline="0" dirty="0" err="1"/>
              <a:t>have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necessary</a:t>
            </a:r>
            <a:r>
              <a:rPr lang="de-DE" baseline="0" dirty="0"/>
              <a:t> </a:t>
            </a:r>
            <a:r>
              <a:rPr lang="de-DE" baseline="0" dirty="0" err="1"/>
              <a:t>background</a:t>
            </a:r>
            <a:r>
              <a:rPr lang="de-DE" baseline="0" dirty="0"/>
              <a:t> in all </a:t>
            </a:r>
            <a:r>
              <a:rPr lang="de-DE" baseline="0" dirty="0" err="1"/>
              <a:t>these</a:t>
            </a:r>
            <a:r>
              <a:rPr lang="de-DE" baseline="0" dirty="0"/>
              <a:t> </a:t>
            </a:r>
            <a:r>
              <a:rPr lang="de-DE" baseline="0" dirty="0" err="1"/>
              <a:t>areas</a:t>
            </a:r>
            <a:r>
              <a:rPr lang="de-DE" baseline="0" dirty="0"/>
              <a:t>.</a:t>
            </a:r>
            <a:endParaRPr dirty="0"/>
          </a:p>
        </p:txBody>
      </p:sp>
      <p:sp>
        <p:nvSpPr>
          <p:cNvPr id="1899" name="Google Shape;1899;g60be7dcf1c_0_790:notes">
            <a:extLst>
              <a:ext uri="{FF2B5EF4-FFF2-40B4-BE49-F238E27FC236}">
                <a16:creationId xmlns:a16="http://schemas.microsoft.com/office/drawing/2014/main" id="{26CB9C4F-B261-D98A-94A4-4635F65372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625668452"/>
      </p:ext>
    </p:extLst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7">
          <a:extLst>
            <a:ext uri="{FF2B5EF4-FFF2-40B4-BE49-F238E27FC236}">
              <a16:creationId xmlns:a16="http://schemas.microsoft.com/office/drawing/2014/main" id="{52F8DD0D-84F0-6EF4-1F9B-CECEDF753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8" name="Google Shape;1898;g60be7dcf1c_0_790:notes">
            <a:extLst>
              <a:ext uri="{FF2B5EF4-FFF2-40B4-BE49-F238E27FC236}">
                <a16:creationId xmlns:a16="http://schemas.microsoft.com/office/drawing/2014/main" id="{74F4F2E7-E923-F12D-84D7-3C589B3222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So </a:t>
            </a:r>
            <a:r>
              <a:rPr lang="de-DE" dirty="0" err="1"/>
              <a:t>far</a:t>
            </a:r>
            <a:r>
              <a:rPr lang="de-DE" dirty="0"/>
              <a:t>,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have</a:t>
            </a:r>
            <a:r>
              <a:rPr lang="de-DE" dirty="0"/>
              <a:t> just </a:t>
            </a:r>
            <a:r>
              <a:rPr lang="de-DE" dirty="0" err="1"/>
              <a:t>scratched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surface</a:t>
            </a:r>
            <a:r>
              <a:rPr lang="de-DE" baseline="0" dirty="0"/>
              <a:t>,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with</a:t>
            </a:r>
            <a:r>
              <a:rPr lang="de-DE" baseline="0" dirty="0"/>
              <a:t> </a:t>
            </a:r>
            <a:r>
              <a:rPr lang="de-DE" baseline="0" dirty="0" err="1"/>
              <a:t>this</a:t>
            </a:r>
            <a:r>
              <a:rPr lang="de-DE" baseline="0" dirty="0"/>
              <a:t> ERC </a:t>
            </a:r>
            <a:r>
              <a:rPr lang="de-DE" baseline="0" dirty="0" err="1"/>
              <a:t>project</a:t>
            </a:r>
            <a:r>
              <a:rPr lang="de-DE" baseline="0" dirty="0"/>
              <a:t>, </a:t>
            </a:r>
            <a:r>
              <a:rPr lang="de-DE" baseline="0" dirty="0" err="1"/>
              <a:t>we</a:t>
            </a:r>
            <a:r>
              <a:rPr lang="de-DE" baseline="0" dirty="0"/>
              <a:t> </a:t>
            </a:r>
            <a:r>
              <a:rPr lang="de-DE" baseline="0" dirty="0" err="1"/>
              <a:t>want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explore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rest</a:t>
            </a:r>
            <a:r>
              <a:rPr lang="de-DE" baseline="0" dirty="0"/>
              <a:t> </a:t>
            </a:r>
            <a:r>
              <a:rPr lang="de-DE" baseline="0" dirty="0" err="1"/>
              <a:t>of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iceberg</a:t>
            </a:r>
            <a:r>
              <a:rPr lang="de-DE" baseline="0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 err="1"/>
              <a:t>Indeed</a:t>
            </a:r>
            <a:r>
              <a:rPr lang="de-DE" baseline="0" dirty="0"/>
              <a:t>,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notion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self-adjusting</a:t>
            </a:r>
            <a:r>
              <a:rPr lang="de-DE" dirty="0"/>
              <a:t> </a:t>
            </a:r>
            <a:r>
              <a:rPr lang="de-DE" dirty="0" err="1"/>
              <a:t>networks</a:t>
            </a:r>
            <a:r>
              <a:rPr lang="de-DE" dirty="0"/>
              <a:t> </a:t>
            </a:r>
            <a:r>
              <a:rPr lang="de-DE" dirty="0" err="1"/>
              <a:t>opens</a:t>
            </a:r>
            <a:r>
              <a:rPr lang="de-DE" dirty="0"/>
              <a:t> </a:t>
            </a:r>
            <a:r>
              <a:rPr lang="de-DE" baseline="0" dirty="0" err="1"/>
              <a:t>are</a:t>
            </a:r>
            <a:r>
              <a:rPr lang="de-DE" baseline="0" dirty="0"/>
              <a:t> large </a:t>
            </a:r>
            <a:r>
              <a:rPr lang="de-DE" baseline="0" dirty="0" err="1"/>
              <a:t>uncharted</a:t>
            </a:r>
            <a:r>
              <a:rPr lang="de-DE" baseline="0" dirty="0"/>
              <a:t> </a:t>
            </a:r>
            <a:r>
              <a:rPr lang="de-DE" baseline="0" dirty="0" err="1"/>
              <a:t>field</a:t>
            </a:r>
            <a:r>
              <a:rPr lang="de-DE" baseline="0" dirty="0"/>
              <a:t>, </a:t>
            </a:r>
            <a:r>
              <a:rPr lang="de-DE" baseline="0" dirty="0" err="1"/>
              <a:t>with</a:t>
            </a:r>
            <a:r>
              <a:rPr lang="de-DE" baseline="0" dirty="0"/>
              <a:t> </a:t>
            </a:r>
            <a:r>
              <a:rPr lang="de-DE" baseline="0" dirty="0" err="1"/>
              <a:t>many</a:t>
            </a:r>
            <a:r>
              <a:rPr lang="de-DE" baseline="0" dirty="0"/>
              <a:t> </a:t>
            </a:r>
            <a:r>
              <a:rPr lang="de-DE" baseline="0" dirty="0" err="1"/>
              <a:t>questions</a:t>
            </a:r>
            <a:r>
              <a:rPr lang="de-DE" baseline="0" dirty="0"/>
              <a:t>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 err="1"/>
              <a:t>W</a:t>
            </a:r>
            <a:r>
              <a:rPr lang="de-DE" baseline="0" dirty="0" err="1"/>
              <a:t>e</a:t>
            </a:r>
            <a:r>
              <a:rPr lang="de-DE" baseline="0" dirty="0"/>
              <a:t> </a:t>
            </a:r>
            <a:r>
              <a:rPr lang="de-DE" baseline="0" dirty="0" err="1"/>
              <a:t>structure</a:t>
            </a:r>
            <a:r>
              <a:rPr lang="de-DE" baseline="0" dirty="0"/>
              <a:t> </a:t>
            </a:r>
            <a:r>
              <a:rPr lang="de-DE" baseline="0" dirty="0" err="1"/>
              <a:t>our</a:t>
            </a:r>
            <a:r>
              <a:rPr lang="de-DE" baseline="0" dirty="0"/>
              <a:t> </a:t>
            </a:r>
            <a:r>
              <a:rPr lang="de-DE" baseline="0" dirty="0" err="1"/>
              <a:t>project</a:t>
            </a:r>
            <a:r>
              <a:rPr lang="de-DE" baseline="0" dirty="0"/>
              <a:t> </a:t>
            </a:r>
            <a:r>
              <a:rPr lang="de-DE" baseline="0" dirty="0" err="1"/>
              <a:t>around</a:t>
            </a:r>
            <a:r>
              <a:rPr lang="de-DE" baseline="0" dirty="0"/>
              <a:t> </a:t>
            </a:r>
            <a:r>
              <a:rPr lang="de-DE" baseline="0" dirty="0" err="1"/>
              <a:t>models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metrics</a:t>
            </a:r>
            <a:r>
              <a:rPr lang="de-DE" baseline="0" dirty="0"/>
              <a:t>, </a:t>
            </a:r>
            <a:r>
              <a:rPr lang="de-DE" baseline="0" dirty="0" err="1"/>
              <a:t>algorithms</a:t>
            </a:r>
            <a:r>
              <a:rPr lang="de-DE" baseline="0" dirty="0"/>
              <a:t>, fault-</a:t>
            </a:r>
            <a:r>
              <a:rPr lang="de-DE" baseline="0" dirty="0" err="1"/>
              <a:t>tolerance</a:t>
            </a:r>
            <a:r>
              <a:rPr lang="de-DE" baseline="0" dirty="0"/>
              <a:t>, </a:t>
            </a:r>
            <a:r>
              <a:rPr lang="de-DE" baseline="0" dirty="0" err="1"/>
              <a:t>integration</a:t>
            </a:r>
            <a:r>
              <a:rPr lang="de-DE" baseline="0" dirty="0"/>
              <a:t> </a:t>
            </a:r>
            <a:r>
              <a:rPr lang="de-DE" baseline="0" dirty="0" err="1"/>
              <a:t>into</a:t>
            </a:r>
            <a:r>
              <a:rPr lang="de-DE" baseline="0" dirty="0"/>
              <a:t> </a:t>
            </a:r>
            <a:r>
              <a:rPr lang="de-DE" baseline="0" dirty="0" err="1"/>
              <a:t>higher</a:t>
            </a:r>
            <a:r>
              <a:rPr lang="de-DE" baseline="0" dirty="0"/>
              <a:t> </a:t>
            </a:r>
            <a:r>
              <a:rPr lang="de-DE" baseline="0" dirty="0" err="1"/>
              <a:t>layers</a:t>
            </a:r>
            <a:r>
              <a:rPr lang="de-DE" baseline="0" dirty="0"/>
              <a:t>,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case</a:t>
            </a:r>
            <a:r>
              <a:rPr lang="de-DE" baseline="0" dirty="0"/>
              <a:t> </a:t>
            </a:r>
            <a:r>
              <a:rPr lang="de-DE" baseline="0" dirty="0" err="1"/>
              <a:t>studies</a:t>
            </a:r>
            <a:r>
              <a:rPr lang="de-DE" baseline="0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/>
              <a:t>In </a:t>
            </a:r>
            <a:r>
              <a:rPr lang="de-DE" baseline="0" dirty="0" err="1"/>
              <a:t>particular</a:t>
            </a:r>
            <a:r>
              <a:rPr lang="de-DE" baseline="0" dirty="0"/>
              <a:t>, </a:t>
            </a:r>
            <a:r>
              <a:rPr lang="de-DE" baseline="0" dirty="0" err="1"/>
              <a:t>we</a:t>
            </a:r>
            <a:r>
              <a:rPr lang="de-DE" baseline="0" dirty="0"/>
              <a:t> will </a:t>
            </a:r>
            <a:r>
              <a:rPr lang="de-DE" baseline="0" dirty="0" err="1"/>
              <a:t>explore</a:t>
            </a:r>
            <a:r>
              <a:rPr lang="de-DE" baseline="0" dirty="0"/>
              <a:t> </a:t>
            </a:r>
            <a:r>
              <a:rPr lang="de-DE" baseline="0" dirty="0" err="1"/>
              <a:t>metrics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algorithms</a:t>
            </a:r>
            <a:r>
              <a:rPr lang="de-DE" baseline="0" dirty="0"/>
              <a:t> </a:t>
            </a:r>
            <a:r>
              <a:rPr lang="de-DE" baseline="0" dirty="0" err="1"/>
              <a:t>for</a:t>
            </a:r>
            <a:r>
              <a:rPr lang="de-DE" baseline="0" dirty="0"/>
              <a:t> </a:t>
            </a:r>
            <a:r>
              <a:rPr lang="de-DE" baseline="0" dirty="0" err="1"/>
              <a:t>by</a:t>
            </a:r>
            <a:r>
              <a:rPr lang="de-DE" baseline="0" dirty="0"/>
              <a:t> </a:t>
            </a:r>
            <a:r>
              <a:rPr lang="de-DE" baseline="0" dirty="0" err="1"/>
              <a:t>how</a:t>
            </a:r>
            <a:r>
              <a:rPr lang="de-DE" baseline="0" dirty="0"/>
              <a:t> </a:t>
            </a:r>
            <a:r>
              <a:rPr lang="de-DE" baseline="0" dirty="0" err="1"/>
              <a:t>much</a:t>
            </a:r>
            <a:r>
              <a:rPr lang="de-DE" baseline="0" dirty="0"/>
              <a:t> </a:t>
            </a:r>
            <a:r>
              <a:rPr lang="de-DE" baseline="0" dirty="0" err="1"/>
              <a:t>load</a:t>
            </a:r>
            <a:r>
              <a:rPr lang="de-DE" baseline="0" dirty="0"/>
              <a:t> </a:t>
            </a:r>
            <a:r>
              <a:rPr lang="de-DE" baseline="0" dirty="0" err="1"/>
              <a:t>can</a:t>
            </a:r>
            <a:r>
              <a:rPr lang="de-DE" baseline="0" dirty="0"/>
              <a:t> </a:t>
            </a:r>
            <a:r>
              <a:rPr lang="de-DE" baseline="0" dirty="0" err="1"/>
              <a:t>be</a:t>
            </a:r>
            <a:r>
              <a:rPr lang="de-DE" baseline="0" dirty="0"/>
              <a:t> </a:t>
            </a:r>
            <a:r>
              <a:rPr lang="de-DE" baseline="0" dirty="0" err="1"/>
              <a:t>lowered</a:t>
            </a:r>
            <a:r>
              <a:rPr lang="de-DE" baseline="0" dirty="0"/>
              <a:t>, </a:t>
            </a:r>
            <a:r>
              <a:rPr lang="de-DE" baseline="0" dirty="0" err="1"/>
              <a:t>energy</a:t>
            </a:r>
            <a:r>
              <a:rPr lang="de-DE" baseline="0" dirty="0"/>
              <a:t> </a:t>
            </a:r>
            <a:r>
              <a:rPr lang="de-DE" baseline="0" dirty="0" err="1"/>
              <a:t>reduced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quality</a:t>
            </a:r>
            <a:r>
              <a:rPr lang="de-DE" baseline="0" dirty="0"/>
              <a:t>-</a:t>
            </a:r>
            <a:r>
              <a:rPr lang="de-DE" baseline="0" dirty="0" err="1"/>
              <a:t>of</a:t>
            </a:r>
            <a:r>
              <a:rPr lang="de-DE" baseline="0" dirty="0"/>
              <a:t>-service </a:t>
            </a:r>
            <a:r>
              <a:rPr lang="de-DE" baseline="0" dirty="0" err="1"/>
              <a:t>improved</a:t>
            </a:r>
            <a:r>
              <a:rPr lang="de-DE" baseline="0" dirty="0"/>
              <a:t> in </a:t>
            </a:r>
            <a:r>
              <a:rPr lang="de-DE" baseline="0" dirty="0" err="1"/>
              <a:t>selfadjusting</a:t>
            </a:r>
            <a:r>
              <a:rPr lang="de-DE" baseline="0" dirty="0"/>
              <a:t> </a:t>
            </a:r>
            <a:r>
              <a:rPr lang="de-DE" baseline="0" dirty="0" err="1"/>
              <a:t>networks</a:t>
            </a:r>
            <a:r>
              <a:rPr lang="de-DE" baseline="0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 err="1"/>
              <a:t>We</a:t>
            </a:r>
            <a:r>
              <a:rPr lang="de-DE" baseline="0" dirty="0"/>
              <a:t> also </a:t>
            </a:r>
            <a:r>
              <a:rPr lang="de-DE" baseline="0" dirty="0" err="1"/>
              <a:t>need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develop</a:t>
            </a:r>
            <a:r>
              <a:rPr lang="de-DE" baseline="0" dirty="0"/>
              <a:t> </a:t>
            </a:r>
            <a:r>
              <a:rPr lang="de-DE" baseline="0" dirty="0" err="1"/>
              <a:t>models</a:t>
            </a:r>
            <a:r>
              <a:rPr lang="de-DE" baseline="0" dirty="0"/>
              <a:t> </a:t>
            </a:r>
            <a:r>
              <a:rPr lang="de-DE" baseline="0" dirty="0" err="1"/>
              <a:t>for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tradeoff</a:t>
            </a:r>
            <a:r>
              <a:rPr lang="de-DE" baseline="0" dirty="0"/>
              <a:t> </a:t>
            </a:r>
            <a:r>
              <a:rPr lang="de-DE" baseline="0" dirty="0" err="1"/>
              <a:t>between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benefits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costs</a:t>
            </a:r>
            <a:r>
              <a:rPr lang="de-DE" baseline="0" dirty="0"/>
              <a:t> </a:t>
            </a:r>
            <a:r>
              <a:rPr lang="de-DE" baseline="0" dirty="0" err="1"/>
              <a:t>of</a:t>
            </a:r>
            <a:r>
              <a:rPr lang="de-DE" baseline="0" dirty="0"/>
              <a:t> </a:t>
            </a:r>
            <a:r>
              <a:rPr lang="de-DE" baseline="0" dirty="0" err="1"/>
              <a:t>reconfigurations</a:t>
            </a:r>
            <a:r>
              <a:rPr lang="de-DE" baseline="0" dirty="0"/>
              <a:t> </a:t>
            </a:r>
            <a:r>
              <a:rPr lang="de-DE" baseline="0" dirty="0" err="1"/>
              <a:t>over</a:t>
            </a:r>
            <a:r>
              <a:rPr lang="de-DE" baseline="0" dirty="0"/>
              <a:t> time.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 err="1"/>
              <a:t>We</a:t>
            </a:r>
            <a:r>
              <a:rPr lang="de-DE" baseline="0" dirty="0"/>
              <a:t> also </a:t>
            </a:r>
            <a:r>
              <a:rPr lang="de-DE" baseline="0" dirty="0" err="1"/>
              <a:t>study</a:t>
            </a:r>
            <a:r>
              <a:rPr lang="de-DE" baseline="0" dirty="0"/>
              <a:t> </a:t>
            </a:r>
            <a:r>
              <a:rPr lang="de-DE" baseline="0" dirty="0" err="1"/>
              <a:t>how</a:t>
            </a:r>
            <a:r>
              <a:rPr lang="de-DE" baseline="0" dirty="0"/>
              <a:t> </a:t>
            </a:r>
            <a:r>
              <a:rPr lang="de-DE" baseline="0" dirty="0" err="1"/>
              <a:t>self-adjusting</a:t>
            </a:r>
            <a:r>
              <a:rPr lang="de-DE" baseline="0" dirty="0"/>
              <a:t> </a:t>
            </a:r>
            <a:r>
              <a:rPr lang="de-DE" baseline="0" dirty="0" err="1"/>
              <a:t>networks</a:t>
            </a:r>
            <a:r>
              <a:rPr lang="de-DE" baseline="0" dirty="0"/>
              <a:t> </a:t>
            </a:r>
            <a:r>
              <a:rPr lang="de-DE" baseline="0" dirty="0" err="1"/>
              <a:t>can</a:t>
            </a:r>
            <a:r>
              <a:rPr lang="de-DE" baseline="0" dirty="0"/>
              <a:t> </a:t>
            </a:r>
            <a:r>
              <a:rPr lang="de-DE" baseline="0" dirty="0" err="1"/>
              <a:t>be</a:t>
            </a:r>
            <a:r>
              <a:rPr lang="de-DE" baseline="0" dirty="0"/>
              <a:t> </a:t>
            </a:r>
            <a:r>
              <a:rPr lang="de-DE" baseline="0" dirty="0" err="1"/>
              <a:t>used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improve</a:t>
            </a:r>
            <a:r>
              <a:rPr lang="de-DE" baseline="0" dirty="0"/>
              <a:t> fault-</a:t>
            </a:r>
            <a:r>
              <a:rPr lang="de-DE" baseline="0" dirty="0" err="1"/>
              <a:t>tolerance</a:t>
            </a:r>
            <a:r>
              <a:rPr lang="de-DE" baseline="0" dirty="0"/>
              <a:t>, </a:t>
            </a:r>
            <a:r>
              <a:rPr lang="de-DE" baseline="0" dirty="0" err="1"/>
              <a:t>what</a:t>
            </a:r>
            <a:r>
              <a:rPr lang="de-DE" baseline="0" dirty="0"/>
              <a:t> </a:t>
            </a:r>
            <a:r>
              <a:rPr lang="de-DE" baseline="0" dirty="0" err="1"/>
              <a:t>is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impact</a:t>
            </a:r>
            <a:r>
              <a:rPr lang="de-DE" baseline="0" dirty="0"/>
              <a:t> on </a:t>
            </a:r>
            <a:r>
              <a:rPr lang="de-DE" baseline="0" dirty="0" err="1"/>
              <a:t>other</a:t>
            </a:r>
            <a:r>
              <a:rPr lang="de-DE" baseline="0" dirty="0"/>
              <a:t> </a:t>
            </a:r>
            <a:r>
              <a:rPr lang="de-DE" baseline="0" dirty="0" err="1"/>
              <a:t>layers</a:t>
            </a:r>
            <a:r>
              <a:rPr lang="de-DE" baseline="0" dirty="0"/>
              <a:t>,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how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apply</a:t>
            </a:r>
            <a:r>
              <a:rPr lang="de-DE" baseline="0" dirty="0"/>
              <a:t> </a:t>
            </a:r>
            <a:r>
              <a:rPr lang="de-DE" baseline="0" dirty="0" err="1"/>
              <a:t>our</a:t>
            </a:r>
            <a:r>
              <a:rPr lang="de-DE" baseline="0" dirty="0"/>
              <a:t> </a:t>
            </a:r>
            <a:r>
              <a:rPr lang="de-DE" baseline="0" dirty="0" err="1"/>
              <a:t>solutions</a:t>
            </a:r>
            <a:r>
              <a:rPr lang="de-DE" baseline="0" dirty="0"/>
              <a:t> in a </a:t>
            </a:r>
            <a:r>
              <a:rPr lang="de-DE" baseline="0" dirty="0" err="1"/>
              <a:t>specific</a:t>
            </a:r>
            <a:r>
              <a:rPr lang="de-DE" baseline="0" dirty="0"/>
              <a:t> </a:t>
            </a:r>
            <a:r>
              <a:rPr lang="de-DE" baseline="0" dirty="0" err="1"/>
              <a:t>case</a:t>
            </a:r>
            <a:r>
              <a:rPr lang="de-DE" baseline="0" dirty="0"/>
              <a:t> </a:t>
            </a:r>
            <a:r>
              <a:rPr lang="de-DE" baseline="0" dirty="0" err="1"/>
              <a:t>study</a:t>
            </a:r>
            <a:r>
              <a:rPr lang="de-DE" baseline="0" dirty="0"/>
              <a:t>, e.g., </a:t>
            </a:r>
            <a:r>
              <a:rPr lang="de-DE" baseline="0" dirty="0" err="1"/>
              <a:t>how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develop</a:t>
            </a:r>
            <a:r>
              <a:rPr lang="de-DE" baseline="0" dirty="0"/>
              <a:t> a </a:t>
            </a:r>
            <a:r>
              <a:rPr lang="de-DE" baseline="0" dirty="0" err="1"/>
              <a:t>scalable</a:t>
            </a:r>
            <a:r>
              <a:rPr lang="de-DE" baseline="0" dirty="0"/>
              <a:t> </a:t>
            </a:r>
            <a:r>
              <a:rPr lang="de-DE" baseline="0" dirty="0" err="1"/>
              <a:t>control</a:t>
            </a:r>
            <a:r>
              <a:rPr lang="de-DE" baseline="0" dirty="0"/>
              <a:t> plane.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/>
              <a:t>This </a:t>
            </a:r>
            <a:r>
              <a:rPr lang="de-DE" baseline="0" dirty="0" err="1"/>
              <a:t>project</a:t>
            </a:r>
            <a:r>
              <a:rPr lang="de-DE" baseline="0" dirty="0"/>
              <a:t> </a:t>
            </a:r>
            <a:r>
              <a:rPr lang="de-DE" baseline="0" dirty="0" err="1"/>
              <a:t>hence</a:t>
            </a:r>
            <a:r>
              <a:rPr lang="de-DE" baseline="0" dirty="0"/>
              <a:t> </a:t>
            </a:r>
            <a:r>
              <a:rPr lang="de-DE" baseline="0" dirty="0" err="1"/>
              <a:t>requires</a:t>
            </a:r>
            <a:r>
              <a:rPr lang="de-DE" baseline="0" dirty="0"/>
              <a:t> </a:t>
            </a:r>
            <a:r>
              <a:rPr lang="de-DE" baseline="0" dirty="0" err="1"/>
              <a:t>expertises</a:t>
            </a:r>
            <a:r>
              <a:rPr lang="de-DE" baseline="0" dirty="0"/>
              <a:t> </a:t>
            </a:r>
            <a:r>
              <a:rPr lang="de-DE" baseline="0" dirty="0" err="1"/>
              <a:t>from</a:t>
            </a:r>
            <a:r>
              <a:rPr lang="de-DE" baseline="0" dirty="0"/>
              <a:t> different </a:t>
            </a:r>
            <a:r>
              <a:rPr lang="de-DE" baseline="0" dirty="0" err="1"/>
              <a:t>fields</a:t>
            </a:r>
            <a:r>
              <a:rPr lang="de-DE" baseline="0" dirty="0"/>
              <a:t>, </a:t>
            </a:r>
            <a:r>
              <a:rPr lang="de-DE" baseline="0" dirty="0" err="1"/>
              <a:t>from</a:t>
            </a:r>
            <a:r>
              <a:rPr lang="de-DE" baseline="0" dirty="0"/>
              <a:t> </a:t>
            </a:r>
            <a:r>
              <a:rPr lang="de-DE" baseline="0" dirty="0" err="1"/>
              <a:t>networking</a:t>
            </a:r>
            <a:r>
              <a:rPr lang="de-DE" baseline="0" dirty="0"/>
              <a:t>, </a:t>
            </a:r>
            <a:r>
              <a:rPr lang="de-DE" baseline="0" dirty="0" err="1"/>
              <a:t>over</a:t>
            </a:r>
            <a:r>
              <a:rPr lang="de-DE" baseline="0" dirty="0"/>
              <a:t> </a:t>
            </a:r>
            <a:r>
              <a:rPr lang="de-DE" baseline="0" dirty="0" err="1"/>
              <a:t>distributed</a:t>
            </a:r>
            <a:r>
              <a:rPr lang="de-DE" baseline="0" dirty="0"/>
              <a:t> </a:t>
            </a:r>
            <a:r>
              <a:rPr lang="de-DE" baseline="0" dirty="0" err="1"/>
              <a:t>systems</a:t>
            </a:r>
            <a:r>
              <a:rPr lang="de-DE" baseline="0" dirty="0"/>
              <a:t>, </a:t>
            </a:r>
            <a:r>
              <a:rPr lang="de-DE" baseline="0" dirty="0" err="1"/>
              <a:t>algorithms</a:t>
            </a:r>
            <a:r>
              <a:rPr lang="de-DE" baseline="0" dirty="0"/>
              <a:t>,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performance</a:t>
            </a:r>
            <a:r>
              <a:rPr lang="de-DE" baseline="0" dirty="0"/>
              <a:t> </a:t>
            </a:r>
            <a:r>
              <a:rPr lang="de-DE" baseline="0" dirty="0" err="1"/>
              <a:t>evaluation</a:t>
            </a:r>
            <a:r>
              <a:rPr lang="de-DE" baseline="0" dirty="0"/>
              <a:t>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/>
              <a:t>I </a:t>
            </a:r>
            <a:r>
              <a:rPr lang="de-DE" baseline="0" dirty="0" err="1"/>
              <a:t>have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necessary</a:t>
            </a:r>
            <a:r>
              <a:rPr lang="de-DE" baseline="0" dirty="0"/>
              <a:t> </a:t>
            </a:r>
            <a:r>
              <a:rPr lang="de-DE" baseline="0" dirty="0" err="1"/>
              <a:t>background</a:t>
            </a:r>
            <a:r>
              <a:rPr lang="de-DE" baseline="0" dirty="0"/>
              <a:t> in all </a:t>
            </a:r>
            <a:r>
              <a:rPr lang="de-DE" baseline="0" dirty="0" err="1"/>
              <a:t>these</a:t>
            </a:r>
            <a:r>
              <a:rPr lang="de-DE" baseline="0" dirty="0"/>
              <a:t> </a:t>
            </a:r>
            <a:r>
              <a:rPr lang="de-DE" baseline="0" dirty="0" err="1"/>
              <a:t>areas</a:t>
            </a:r>
            <a:r>
              <a:rPr lang="de-DE" baseline="0" dirty="0"/>
              <a:t>.</a:t>
            </a:r>
            <a:endParaRPr dirty="0"/>
          </a:p>
        </p:txBody>
      </p:sp>
      <p:sp>
        <p:nvSpPr>
          <p:cNvPr id="1899" name="Google Shape;1899;g60be7dcf1c_0_790:notes">
            <a:extLst>
              <a:ext uri="{FF2B5EF4-FFF2-40B4-BE49-F238E27FC236}">
                <a16:creationId xmlns:a16="http://schemas.microsoft.com/office/drawing/2014/main" id="{864ACB8F-FDF7-811C-7384-D4E9492603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407759144"/>
      </p:ext>
    </p:extLst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7">
          <a:extLst>
            <a:ext uri="{FF2B5EF4-FFF2-40B4-BE49-F238E27FC236}">
              <a16:creationId xmlns:a16="http://schemas.microsoft.com/office/drawing/2014/main" id="{EA81DE60-ED95-C0C4-8446-1642FD56F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8" name="Google Shape;1898;g60be7dcf1c_0_790:notes">
            <a:extLst>
              <a:ext uri="{FF2B5EF4-FFF2-40B4-BE49-F238E27FC236}">
                <a16:creationId xmlns:a16="http://schemas.microsoft.com/office/drawing/2014/main" id="{73431A52-368E-59C9-887C-482DEAF491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So </a:t>
            </a:r>
            <a:r>
              <a:rPr lang="de-DE" dirty="0" err="1"/>
              <a:t>far</a:t>
            </a:r>
            <a:r>
              <a:rPr lang="de-DE" dirty="0"/>
              <a:t>,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have</a:t>
            </a:r>
            <a:r>
              <a:rPr lang="de-DE" dirty="0"/>
              <a:t> just </a:t>
            </a:r>
            <a:r>
              <a:rPr lang="de-DE" dirty="0" err="1"/>
              <a:t>scratched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surface</a:t>
            </a:r>
            <a:r>
              <a:rPr lang="de-DE" baseline="0" dirty="0"/>
              <a:t>,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with</a:t>
            </a:r>
            <a:r>
              <a:rPr lang="de-DE" baseline="0" dirty="0"/>
              <a:t> </a:t>
            </a:r>
            <a:r>
              <a:rPr lang="de-DE" baseline="0" dirty="0" err="1"/>
              <a:t>this</a:t>
            </a:r>
            <a:r>
              <a:rPr lang="de-DE" baseline="0" dirty="0"/>
              <a:t> ERC </a:t>
            </a:r>
            <a:r>
              <a:rPr lang="de-DE" baseline="0" dirty="0" err="1"/>
              <a:t>project</a:t>
            </a:r>
            <a:r>
              <a:rPr lang="de-DE" baseline="0" dirty="0"/>
              <a:t>, </a:t>
            </a:r>
            <a:r>
              <a:rPr lang="de-DE" baseline="0" dirty="0" err="1"/>
              <a:t>we</a:t>
            </a:r>
            <a:r>
              <a:rPr lang="de-DE" baseline="0" dirty="0"/>
              <a:t> </a:t>
            </a:r>
            <a:r>
              <a:rPr lang="de-DE" baseline="0" dirty="0" err="1"/>
              <a:t>want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explore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rest</a:t>
            </a:r>
            <a:r>
              <a:rPr lang="de-DE" baseline="0" dirty="0"/>
              <a:t> </a:t>
            </a:r>
            <a:r>
              <a:rPr lang="de-DE" baseline="0" dirty="0" err="1"/>
              <a:t>of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iceberg</a:t>
            </a:r>
            <a:r>
              <a:rPr lang="de-DE" baseline="0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 err="1"/>
              <a:t>Indeed</a:t>
            </a:r>
            <a:r>
              <a:rPr lang="de-DE" baseline="0" dirty="0"/>
              <a:t>,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notion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self-adjusting</a:t>
            </a:r>
            <a:r>
              <a:rPr lang="de-DE" dirty="0"/>
              <a:t> </a:t>
            </a:r>
            <a:r>
              <a:rPr lang="de-DE" dirty="0" err="1"/>
              <a:t>networks</a:t>
            </a:r>
            <a:r>
              <a:rPr lang="de-DE" dirty="0"/>
              <a:t> </a:t>
            </a:r>
            <a:r>
              <a:rPr lang="de-DE" dirty="0" err="1"/>
              <a:t>opens</a:t>
            </a:r>
            <a:r>
              <a:rPr lang="de-DE" dirty="0"/>
              <a:t> </a:t>
            </a:r>
            <a:r>
              <a:rPr lang="de-DE" baseline="0" dirty="0" err="1"/>
              <a:t>are</a:t>
            </a:r>
            <a:r>
              <a:rPr lang="de-DE" baseline="0" dirty="0"/>
              <a:t> large </a:t>
            </a:r>
            <a:r>
              <a:rPr lang="de-DE" baseline="0" dirty="0" err="1"/>
              <a:t>uncharted</a:t>
            </a:r>
            <a:r>
              <a:rPr lang="de-DE" baseline="0" dirty="0"/>
              <a:t> </a:t>
            </a:r>
            <a:r>
              <a:rPr lang="de-DE" baseline="0" dirty="0" err="1"/>
              <a:t>field</a:t>
            </a:r>
            <a:r>
              <a:rPr lang="de-DE" baseline="0" dirty="0"/>
              <a:t>, </a:t>
            </a:r>
            <a:r>
              <a:rPr lang="de-DE" baseline="0" dirty="0" err="1"/>
              <a:t>with</a:t>
            </a:r>
            <a:r>
              <a:rPr lang="de-DE" baseline="0" dirty="0"/>
              <a:t> </a:t>
            </a:r>
            <a:r>
              <a:rPr lang="de-DE" baseline="0" dirty="0" err="1"/>
              <a:t>many</a:t>
            </a:r>
            <a:r>
              <a:rPr lang="de-DE" baseline="0" dirty="0"/>
              <a:t> </a:t>
            </a:r>
            <a:r>
              <a:rPr lang="de-DE" baseline="0" dirty="0" err="1"/>
              <a:t>questions</a:t>
            </a:r>
            <a:r>
              <a:rPr lang="de-DE" baseline="0" dirty="0"/>
              <a:t>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 err="1"/>
              <a:t>W</a:t>
            </a:r>
            <a:r>
              <a:rPr lang="de-DE" baseline="0" dirty="0" err="1"/>
              <a:t>e</a:t>
            </a:r>
            <a:r>
              <a:rPr lang="de-DE" baseline="0" dirty="0"/>
              <a:t> </a:t>
            </a:r>
            <a:r>
              <a:rPr lang="de-DE" baseline="0" dirty="0" err="1"/>
              <a:t>structure</a:t>
            </a:r>
            <a:r>
              <a:rPr lang="de-DE" baseline="0" dirty="0"/>
              <a:t> </a:t>
            </a:r>
            <a:r>
              <a:rPr lang="de-DE" baseline="0" dirty="0" err="1"/>
              <a:t>our</a:t>
            </a:r>
            <a:r>
              <a:rPr lang="de-DE" baseline="0" dirty="0"/>
              <a:t> </a:t>
            </a:r>
            <a:r>
              <a:rPr lang="de-DE" baseline="0" dirty="0" err="1"/>
              <a:t>project</a:t>
            </a:r>
            <a:r>
              <a:rPr lang="de-DE" baseline="0" dirty="0"/>
              <a:t> </a:t>
            </a:r>
            <a:r>
              <a:rPr lang="de-DE" baseline="0" dirty="0" err="1"/>
              <a:t>around</a:t>
            </a:r>
            <a:r>
              <a:rPr lang="de-DE" baseline="0" dirty="0"/>
              <a:t> </a:t>
            </a:r>
            <a:r>
              <a:rPr lang="de-DE" baseline="0" dirty="0" err="1"/>
              <a:t>models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metrics</a:t>
            </a:r>
            <a:r>
              <a:rPr lang="de-DE" baseline="0" dirty="0"/>
              <a:t>, </a:t>
            </a:r>
            <a:r>
              <a:rPr lang="de-DE" baseline="0" dirty="0" err="1"/>
              <a:t>algorithms</a:t>
            </a:r>
            <a:r>
              <a:rPr lang="de-DE" baseline="0" dirty="0"/>
              <a:t>, fault-</a:t>
            </a:r>
            <a:r>
              <a:rPr lang="de-DE" baseline="0" dirty="0" err="1"/>
              <a:t>tolerance</a:t>
            </a:r>
            <a:r>
              <a:rPr lang="de-DE" baseline="0" dirty="0"/>
              <a:t>, </a:t>
            </a:r>
            <a:r>
              <a:rPr lang="de-DE" baseline="0" dirty="0" err="1"/>
              <a:t>integration</a:t>
            </a:r>
            <a:r>
              <a:rPr lang="de-DE" baseline="0" dirty="0"/>
              <a:t> </a:t>
            </a:r>
            <a:r>
              <a:rPr lang="de-DE" baseline="0" dirty="0" err="1"/>
              <a:t>into</a:t>
            </a:r>
            <a:r>
              <a:rPr lang="de-DE" baseline="0" dirty="0"/>
              <a:t> </a:t>
            </a:r>
            <a:r>
              <a:rPr lang="de-DE" baseline="0" dirty="0" err="1"/>
              <a:t>higher</a:t>
            </a:r>
            <a:r>
              <a:rPr lang="de-DE" baseline="0" dirty="0"/>
              <a:t> </a:t>
            </a:r>
            <a:r>
              <a:rPr lang="de-DE" baseline="0" dirty="0" err="1"/>
              <a:t>layers</a:t>
            </a:r>
            <a:r>
              <a:rPr lang="de-DE" baseline="0" dirty="0"/>
              <a:t>,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case</a:t>
            </a:r>
            <a:r>
              <a:rPr lang="de-DE" baseline="0" dirty="0"/>
              <a:t> </a:t>
            </a:r>
            <a:r>
              <a:rPr lang="de-DE" baseline="0" dirty="0" err="1"/>
              <a:t>studies</a:t>
            </a:r>
            <a:r>
              <a:rPr lang="de-DE" baseline="0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/>
              <a:t>In </a:t>
            </a:r>
            <a:r>
              <a:rPr lang="de-DE" baseline="0" dirty="0" err="1"/>
              <a:t>particular</a:t>
            </a:r>
            <a:r>
              <a:rPr lang="de-DE" baseline="0" dirty="0"/>
              <a:t>, </a:t>
            </a:r>
            <a:r>
              <a:rPr lang="de-DE" baseline="0" dirty="0" err="1"/>
              <a:t>we</a:t>
            </a:r>
            <a:r>
              <a:rPr lang="de-DE" baseline="0" dirty="0"/>
              <a:t> will </a:t>
            </a:r>
            <a:r>
              <a:rPr lang="de-DE" baseline="0" dirty="0" err="1"/>
              <a:t>explore</a:t>
            </a:r>
            <a:r>
              <a:rPr lang="de-DE" baseline="0" dirty="0"/>
              <a:t> </a:t>
            </a:r>
            <a:r>
              <a:rPr lang="de-DE" baseline="0" dirty="0" err="1"/>
              <a:t>metrics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algorithms</a:t>
            </a:r>
            <a:r>
              <a:rPr lang="de-DE" baseline="0" dirty="0"/>
              <a:t> </a:t>
            </a:r>
            <a:r>
              <a:rPr lang="de-DE" baseline="0" dirty="0" err="1"/>
              <a:t>for</a:t>
            </a:r>
            <a:r>
              <a:rPr lang="de-DE" baseline="0" dirty="0"/>
              <a:t> </a:t>
            </a:r>
            <a:r>
              <a:rPr lang="de-DE" baseline="0" dirty="0" err="1"/>
              <a:t>by</a:t>
            </a:r>
            <a:r>
              <a:rPr lang="de-DE" baseline="0" dirty="0"/>
              <a:t> </a:t>
            </a:r>
            <a:r>
              <a:rPr lang="de-DE" baseline="0" dirty="0" err="1"/>
              <a:t>how</a:t>
            </a:r>
            <a:r>
              <a:rPr lang="de-DE" baseline="0" dirty="0"/>
              <a:t> </a:t>
            </a:r>
            <a:r>
              <a:rPr lang="de-DE" baseline="0" dirty="0" err="1"/>
              <a:t>much</a:t>
            </a:r>
            <a:r>
              <a:rPr lang="de-DE" baseline="0" dirty="0"/>
              <a:t> </a:t>
            </a:r>
            <a:r>
              <a:rPr lang="de-DE" baseline="0" dirty="0" err="1"/>
              <a:t>load</a:t>
            </a:r>
            <a:r>
              <a:rPr lang="de-DE" baseline="0" dirty="0"/>
              <a:t> </a:t>
            </a:r>
            <a:r>
              <a:rPr lang="de-DE" baseline="0" dirty="0" err="1"/>
              <a:t>can</a:t>
            </a:r>
            <a:r>
              <a:rPr lang="de-DE" baseline="0" dirty="0"/>
              <a:t> </a:t>
            </a:r>
            <a:r>
              <a:rPr lang="de-DE" baseline="0" dirty="0" err="1"/>
              <a:t>be</a:t>
            </a:r>
            <a:r>
              <a:rPr lang="de-DE" baseline="0" dirty="0"/>
              <a:t> </a:t>
            </a:r>
            <a:r>
              <a:rPr lang="de-DE" baseline="0" dirty="0" err="1"/>
              <a:t>lowered</a:t>
            </a:r>
            <a:r>
              <a:rPr lang="de-DE" baseline="0" dirty="0"/>
              <a:t>, </a:t>
            </a:r>
            <a:r>
              <a:rPr lang="de-DE" baseline="0" dirty="0" err="1"/>
              <a:t>energy</a:t>
            </a:r>
            <a:r>
              <a:rPr lang="de-DE" baseline="0" dirty="0"/>
              <a:t> </a:t>
            </a:r>
            <a:r>
              <a:rPr lang="de-DE" baseline="0" dirty="0" err="1"/>
              <a:t>reduced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quality</a:t>
            </a:r>
            <a:r>
              <a:rPr lang="de-DE" baseline="0" dirty="0"/>
              <a:t>-</a:t>
            </a:r>
            <a:r>
              <a:rPr lang="de-DE" baseline="0" dirty="0" err="1"/>
              <a:t>of</a:t>
            </a:r>
            <a:r>
              <a:rPr lang="de-DE" baseline="0" dirty="0"/>
              <a:t>-service </a:t>
            </a:r>
            <a:r>
              <a:rPr lang="de-DE" baseline="0" dirty="0" err="1"/>
              <a:t>improved</a:t>
            </a:r>
            <a:r>
              <a:rPr lang="de-DE" baseline="0" dirty="0"/>
              <a:t> in </a:t>
            </a:r>
            <a:r>
              <a:rPr lang="de-DE" baseline="0" dirty="0" err="1"/>
              <a:t>selfadjusting</a:t>
            </a:r>
            <a:r>
              <a:rPr lang="de-DE" baseline="0" dirty="0"/>
              <a:t> </a:t>
            </a:r>
            <a:r>
              <a:rPr lang="de-DE" baseline="0" dirty="0" err="1"/>
              <a:t>networks</a:t>
            </a:r>
            <a:r>
              <a:rPr lang="de-DE" baseline="0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 err="1"/>
              <a:t>We</a:t>
            </a:r>
            <a:r>
              <a:rPr lang="de-DE" baseline="0" dirty="0"/>
              <a:t> also </a:t>
            </a:r>
            <a:r>
              <a:rPr lang="de-DE" baseline="0" dirty="0" err="1"/>
              <a:t>need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develop</a:t>
            </a:r>
            <a:r>
              <a:rPr lang="de-DE" baseline="0" dirty="0"/>
              <a:t> </a:t>
            </a:r>
            <a:r>
              <a:rPr lang="de-DE" baseline="0" dirty="0" err="1"/>
              <a:t>models</a:t>
            </a:r>
            <a:r>
              <a:rPr lang="de-DE" baseline="0" dirty="0"/>
              <a:t> </a:t>
            </a:r>
            <a:r>
              <a:rPr lang="de-DE" baseline="0" dirty="0" err="1"/>
              <a:t>for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tradeoff</a:t>
            </a:r>
            <a:r>
              <a:rPr lang="de-DE" baseline="0" dirty="0"/>
              <a:t> </a:t>
            </a:r>
            <a:r>
              <a:rPr lang="de-DE" baseline="0" dirty="0" err="1"/>
              <a:t>between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benefits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costs</a:t>
            </a:r>
            <a:r>
              <a:rPr lang="de-DE" baseline="0" dirty="0"/>
              <a:t> </a:t>
            </a:r>
            <a:r>
              <a:rPr lang="de-DE" baseline="0" dirty="0" err="1"/>
              <a:t>of</a:t>
            </a:r>
            <a:r>
              <a:rPr lang="de-DE" baseline="0" dirty="0"/>
              <a:t> </a:t>
            </a:r>
            <a:r>
              <a:rPr lang="de-DE" baseline="0" dirty="0" err="1"/>
              <a:t>reconfigurations</a:t>
            </a:r>
            <a:r>
              <a:rPr lang="de-DE" baseline="0" dirty="0"/>
              <a:t> </a:t>
            </a:r>
            <a:r>
              <a:rPr lang="de-DE" baseline="0" dirty="0" err="1"/>
              <a:t>over</a:t>
            </a:r>
            <a:r>
              <a:rPr lang="de-DE" baseline="0" dirty="0"/>
              <a:t> time.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 err="1"/>
              <a:t>We</a:t>
            </a:r>
            <a:r>
              <a:rPr lang="de-DE" baseline="0" dirty="0"/>
              <a:t> also </a:t>
            </a:r>
            <a:r>
              <a:rPr lang="de-DE" baseline="0" dirty="0" err="1"/>
              <a:t>study</a:t>
            </a:r>
            <a:r>
              <a:rPr lang="de-DE" baseline="0" dirty="0"/>
              <a:t> </a:t>
            </a:r>
            <a:r>
              <a:rPr lang="de-DE" baseline="0" dirty="0" err="1"/>
              <a:t>how</a:t>
            </a:r>
            <a:r>
              <a:rPr lang="de-DE" baseline="0" dirty="0"/>
              <a:t> </a:t>
            </a:r>
            <a:r>
              <a:rPr lang="de-DE" baseline="0" dirty="0" err="1"/>
              <a:t>self-adjusting</a:t>
            </a:r>
            <a:r>
              <a:rPr lang="de-DE" baseline="0" dirty="0"/>
              <a:t> </a:t>
            </a:r>
            <a:r>
              <a:rPr lang="de-DE" baseline="0" dirty="0" err="1"/>
              <a:t>networks</a:t>
            </a:r>
            <a:r>
              <a:rPr lang="de-DE" baseline="0" dirty="0"/>
              <a:t> </a:t>
            </a:r>
            <a:r>
              <a:rPr lang="de-DE" baseline="0" dirty="0" err="1"/>
              <a:t>can</a:t>
            </a:r>
            <a:r>
              <a:rPr lang="de-DE" baseline="0" dirty="0"/>
              <a:t> </a:t>
            </a:r>
            <a:r>
              <a:rPr lang="de-DE" baseline="0" dirty="0" err="1"/>
              <a:t>be</a:t>
            </a:r>
            <a:r>
              <a:rPr lang="de-DE" baseline="0" dirty="0"/>
              <a:t> </a:t>
            </a:r>
            <a:r>
              <a:rPr lang="de-DE" baseline="0" dirty="0" err="1"/>
              <a:t>used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improve</a:t>
            </a:r>
            <a:r>
              <a:rPr lang="de-DE" baseline="0" dirty="0"/>
              <a:t> fault-</a:t>
            </a:r>
            <a:r>
              <a:rPr lang="de-DE" baseline="0" dirty="0" err="1"/>
              <a:t>tolerance</a:t>
            </a:r>
            <a:r>
              <a:rPr lang="de-DE" baseline="0" dirty="0"/>
              <a:t>, </a:t>
            </a:r>
            <a:r>
              <a:rPr lang="de-DE" baseline="0" dirty="0" err="1"/>
              <a:t>what</a:t>
            </a:r>
            <a:r>
              <a:rPr lang="de-DE" baseline="0" dirty="0"/>
              <a:t> </a:t>
            </a:r>
            <a:r>
              <a:rPr lang="de-DE" baseline="0" dirty="0" err="1"/>
              <a:t>is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impact</a:t>
            </a:r>
            <a:r>
              <a:rPr lang="de-DE" baseline="0" dirty="0"/>
              <a:t> on </a:t>
            </a:r>
            <a:r>
              <a:rPr lang="de-DE" baseline="0" dirty="0" err="1"/>
              <a:t>other</a:t>
            </a:r>
            <a:r>
              <a:rPr lang="de-DE" baseline="0" dirty="0"/>
              <a:t> </a:t>
            </a:r>
            <a:r>
              <a:rPr lang="de-DE" baseline="0" dirty="0" err="1"/>
              <a:t>layers</a:t>
            </a:r>
            <a:r>
              <a:rPr lang="de-DE" baseline="0" dirty="0"/>
              <a:t>,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how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apply</a:t>
            </a:r>
            <a:r>
              <a:rPr lang="de-DE" baseline="0" dirty="0"/>
              <a:t> </a:t>
            </a:r>
            <a:r>
              <a:rPr lang="de-DE" baseline="0" dirty="0" err="1"/>
              <a:t>our</a:t>
            </a:r>
            <a:r>
              <a:rPr lang="de-DE" baseline="0" dirty="0"/>
              <a:t> </a:t>
            </a:r>
            <a:r>
              <a:rPr lang="de-DE" baseline="0" dirty="0" err="1"/>
              <a:t>solutions</a:t>
            </a:r>
            <a:r>
              <a:rPr lang="de-DE" baseline="0" dirty="0"/>
              <a:t> in a </a:t>
            </a:r>
            <a:r>
              <a:rPr lang="de-DE" baseline="0" dirty="0" err="1"/>
              <a:t>specific</a:t>
            </a:r>
            <a:r>
              <a:rPr lang="de-DE" baseline="0" dirty="0"/>
              <a:t> </a:t>
            </a:r>
            <a:r>
              <a:rPr lang="de-DE" baseline="0" dirty="0" err="1"/>
              <a:t>case</a:t>
            </a:r>
            <a:r>
              <a:rPr lang="de-DE" baseline="0" dirty="0"/>
              <a:t> </a:t>
            </a:r>
            <a:r>
              <a:rPr lang="de-DE" baseline="0" dirty="0" err="1"/>
              <a:t>study</a:t>
            </a:r>
            <a:r>
              <a:rPr lang="de-DE" baseline="0" dirty="0"/>
              <a:t>, e.g., </a:t>
            </a:r>
            <a:r>
              <a:rPr lang="de-DE" baseline="0" dirty="0" err="1"/>
              <a:t>how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develop</a:t>
            </a:r>
            <a:r>
              <a:rPr lang="de-DE" baseline="0" dirty="0"/>
              <a:t> a </a:t>
            </a:r>
            <a:r>
              <a:rPr lang="de-DE" baseline="0" dirty="0" err="1"/>
              <a:t>scalable</a:t>
            </a:r>
            <a:r>
              <a:rPr lang="de-DE" baseline="0" dirty="0"/>
              <a:t> </a:t>
            </a:r>
            <a:r>
              <a:rPr lang="de-DE" baseline="0" dirty="0" err="1"/>
              <a:t>control</a:t>
            </a:r>
            <a:r>
              <a:rPr lang="de-DE" baseline="0" dirty="0"/>
              <a:t> plane.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/>
              <a:t>This </a:t>
            </a:r>
            <a:r>
              <a:rPr lang="de-DE" baseline="0" dirty="0" err="1"/>
              <a:t>project</a:t>
            </a:r>
            <a:r>
              <a:rPr lang="de-DE" baseline="0" dirty="0"/>
              <a:t> </a:t>
            </a:r>
            <a:r>
              <a:rPr lang="de-DE" baseline="0" dirty="0" err="1"/>
              <a:t>hence</a:t>
            </a:r>
            <a:r>
              <a:rPr lang="de-DE" baseline="0" dirty="0"/>
              <a:t> </a:t>
            </a:r>
            <a:r>
              <a:rPr lang="de-DE" baseline="0" dirty="0" err="1"/>
              <a:t>requires</a:t>
            </a:r>
            <a:r>
              <a:rPr lang="de-DE" baseline="0" dirty="0"/>
              <a:t> </a:t>
            </a:r>
            <a:r>
              <a:rPr lang="de-DE" baseline="0" dirty="0" err="1"/>
              <a:t>expertises</a:t>
            </a:r>
            <a:r>
              <a:rPr lang="de-DE" baseline="0" dirty="0"/>
              <a:t> </a:t>
            </a:r>
            <a:r>
              <a:rPr lang="de-DE" baseline="0" dirty="0" err="1"/>
              <a:t>from</a:t>
            </a:r>
            <a:r>
              <a:rPr lang="de-DE" baseline="0" dirty="0"/>
              <a:t> different </a:t>
            </a:r>
            <a:r>
              <a:rPr lang="de-DE" baseline="0" dirty="0" err="1"/>
              <a:t>fields</a:t>
            </a:r>
            <a:r>
              <a:rPr lang="de-DE" baseline="0" dirty="0"/>
              <a:t>, </a:t>
            </a:r>
            <a:r>
              <a:rPr lang="de-DE" baseline="0" dirty="0" err="1"/>
              <a:t>from</a:t>
            </a:r>
            <a:r>
              <a:rPr lang="de-DE" baseline="0" dirty="0"/>
              <a:t> </a:t>
            </a:r>
            <a:r>
              <a:rPr lang="de-DE" baseline="0" dirty="0" err="1"/>
              <a:t>networking</a:t>
            </a:r>
            <a:r>
              <a:rPr lang="de-DE" baseline="0" dirty="0"/>
              <a:t>, </a:t>
            </a:r>
            <a:r>
              <a:rPr lang="de-DE" baseline="0" dirty="0" err="1"/>
              <a:t>over</a:t>
            </a:r>
            <a:r>
              <a:rPr lang="de-DE" baseline="0" dirty="0"/>
              <a:t> </a:t>
            </a:r>
            <a:r>
              <a:rPr lang="de-DE" baseline="0" dirty="0" err="1"/>
              <a:t>distributed</a:t>
            </a:r>
            <a:r>
              <a:rPr lang="de-DE" baseline="0" dirty="0"/>
              <a:t> </a:t>
            </a:r>
            <a:r>
              <a:rPr lang="de-DE" baseline="0" dirty="0" err="1"/>
              <a:t>systems</a:t>
            </a:r>
            <a:r>
              <a:rPr lang="de-DE" baseline="0" dirty="0"/>
              <a:t>, </a:t>
            </a:r>
            <a:r>
              <a:rPr lang="de-DE" baseline="0" dirty="0" err="1"/>
              <a:t>algorithms</a:t>
            </a:r>
            <a:r>
              <a:rPr lang="de-DE" baseline="0" dirty="0"/>
              <a:t>,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performance</a:t>
            </a:r>
            <a:r>
              <a:rPr lang="de-DE" baseline="0" dirty="0"/>
              <a:t> </a:t>
            </a:r>
            <a:r>
              <a:rPr lang="de-DE" baseline="0" dirty="0" err="1"/>
              <a:t>evaluation</a:t>
            </a:r>
            <a:r>
              <a:rPr lang="de-DE" baseline="0" dirty="0"/>
              <a:t>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/>
              <a:t>I </a:t>
            </a:r>
            <a:r>
              <a:rPr lang="de-DE" baseline="0" dirty="0" err="1"/>
              <a:t>have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necessary</a:t>
            </a:r>
            <a:r>
              <a:rPr lang="de-DE" baseline="0" dirty="0"/>
              <a:t> </a:t>
            </a:r>
            <a:r>
              <a:rPr lang="de-DE" baseline="0" dirty="0" err="1"/>
              <a:t>background</a:t>
            </a:r>
            <a:r>
              <a:rPr lang="de-DE" baseline="0" dirty="0"/>
              <a:t> in all </a:t>
            </a:r>
            <a:r>
              <a:rPr lang="de-DE" baseline="0" dirty="0" err="1"/>
              <a:t>these</a:t>
            </a:r>
            <a:r>
              <a:rPr lang="de-DE" baseline="0" dirty="0"/>
              <a:t> </a:t>
            </a:r>
            <a:r>
              <a:rPr lang="de-DE" baseline="0" dirty="0" err="1"/>
              <a:t>areas</a:t>
            </a:r>
            <a:r>
              <a:rPr lang="de-DE" baseline="0" dirty="0"/>
              <a:t>.</a:t>
            </a:r>
            <a:endParaRPr dirty="0"/>
          </a:p>
        </p:txBody>
      </p:sp>
      <p:sp>
        <p:nvSpPr>
          <p:cNvPr id="1899" name="Google Shape;1899;g60be7dcf1c_0_790:notes">
            <a:extLst>
              <a:ext uri="{FF2B5EF4-FFF2-40B4-BE49-F238E27FC236}">
                <a16:creationId xmlns:a16="http://schemas.microsoft.com/office/drawing/2014/main" id="{30D05C8B-5B5E-C872-6966-936E701134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614489067"/>
      </p:ext>
    </p:extLst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7">
          <a:extLst>
            <a:ext uri="{FF2B5EF4-FFF2-40B4-BE49-F238E27FC236}">
              <a16:creationId xmlns:a16="http://schemas.microsoft.com/office/drawing/2014/main" id="{E9EE2C08-A17C-22CD-2660-C076A6679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8" name="Google Shape;1898;g60be7dcf1c_0_790:notes">
            <a:extLst>
              <a:ext uri="{FF2B5EF4-FFF2-40B4-BE49-F238E27FC236}">
                <a16:creationId xmlns:a16="http://schemas.microsoft.com/office/drawing/2014/main" id="{77F37032-20EB-80EF-10B1-E0D0568CF7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So </a:t>
            </a:r>
            <a:r>
              <a:rPr lang="de-DE" dirty="0" err="1"/>
              <a:t>far</a:t>
            </a:r>
            <a:r>
              <a:rPr lang="de-DE" dirty="0"/>
              <a:t>,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have</a:t>
            </a:r>
            <a:r>
              <a:rPr lang="de-DE" dirty="0"/>
              <a:t> just </a:t>
            </a:r>
            <a:r>
              <a:rPr lang="de-DE" dirty="0" err="1"/>
              <a:t>scratched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surface</a:t>
            </a:r>
            <a:r>
              <a:rPr lang="de-DE" baseline="0" dirty="0"/>
              <a:t>,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with</a:t>
            </a:r>
            <a:r>
              <a:rPr lang="de-DE" baseline="0" dirty="0"/>
              <a:t> </a:t>
            </a:r>
            <a:r>
              <a:rPr lang="de-DE" baseline="0" dirty="0" err="1"/>
              <a:t>this</a:t>
            </a:r>
            <a:r>
              <a:rPr lang="de-DE" baseline="0" dirty="0"/>
              <a:t> ERC </a:t>
            </a:r>
            <a:r>
              <a:rPr lang="de-DE" baseline="0" dirty="0" err="1"/>
              <a:t>project</a:t>
            </a:r>
            <a:r>
              <a:rPr lang="de-DE" baseline="0" dirty="0"/>
              <a:t>, </a:t>
            </a:r>
            <a:r>
              <a:rPr lang="de-DE" baseline="0" dirty="0" err="1"/>
              <a:t>we</a:t>
            </a:r>
            <a:r>
              <a:rPr lang="de-DE" baseline="0" dirty="0"/>
              <a:t> </a:t>
            </a:r>
            <a:r>
              <a:rPr lang="de-DE" baseline="0" dirty="0" err="1"/>
              <a:t>want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explore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rest</a:t>
            </a:r>
            <a:r>
              <a:rPr lang="de-DE" baseline="0" dirty="0"/>
              <a:t> </a:t>
            </a:r>
            <a:r>
              <a:rPr lang="de-DE" baseline="0" dirty="0" err="1"/>
              <a:t>of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iceberg</a:t>
            </a:r>
            <a:r>
              <a:rPr lang="de-DE" baseline="0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 err="1"/>
              <a:t>Indeed</a:t>
            </a:r>
            <a:r>
              <a:rPr lang="de-DE" baseline="0" dirty="0"/>
              <a:t>,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notion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self-adjusting</a:t>
            </a:r>
            <a:r>
              <a:rPr lang="de-DE" dirty="0"/>
              <a:t> </a:t>
            </a:r>
            <a:r>
              <a:rPr lang="de-DE" dirty="0" err="1"/>
              <a:t>networks</a:t>
            </a:r>
            <a:r>
              <a:rPr lang="de-DE" dirty="0"/>
              <a:t> </a:t>
            </a:r>
            <a:r>
              <a:rPr lang="de-DE" dirty="0" err="1"/>
              <a:t>opens</a:t>
            </a:r>
            <a:r>
              <a:rPr lang="de-DE" dirty="0"/>
              <a:t> </a:t>
            </a:r>
            <a:r>
              <a:rPr lang="de-DE" baseline="0" dirty="0" err="1"/>
              <a:t>are</a:t>
            </a:r>
            <a:r>
              <a:rPr lang="de-DE" baseline="0" dirty="0"/>
              <a:t> large </a:t>
            </a:r>
            <a:r>
              <a:rPr lang="de-DE" baseline="0" dirty="0" err="1"/>
              <a:t>uncharted</a:t>
            </a:r>
            <a:r>
              <a:rPr lang="de-DE" baseline="0" dirty="0"/>
              <a:t> </a:t>
            </a:r>
            <a:r>
              <a:rPr lang="de-DE" baseline="0" dirty="0" err="1"/>
              <a:t>field</a:t>
            </a:r>
            <a:r>
              <a:rPr lang="de-DE" baseline="0" dirty="0"/>
              <a:t>, </a:t>
            </a:r>
            <a:r>
              <a:rPr lang="de-DE" baseline="0" dirty="0" err="1"/>
              <a:t>with</a:t>
            </a:r>
            <a:r>
              <a:rPr lang="de-DE" baseline="0" dirty="0"/>
              <a:t> </a:t>
            </a:r>
            <a:r>
              <a:rPr lang="de-DE" baseline="0" dirty="0" err="1"/>
              <a:t>many</a:t>
            </a:r>
            <a:r>
              <a:rPr lang="de-DE" baseline="0" dirty="0"/>
              <a:t> </a:t>
            </a:r>
            <a:r>
              <a:rPr lang="de-DE" baseline="0" dirty="0" err="1"/>
              <a:t>questions</a:t>
            </a:r>
            <a:r>
              <a:rPr lang="de-DE" baseline="0" dirty="0"/>
              <a:t>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 err="1"/>
              <a:t>W</a:t>
            </a:r>
            <a:r>
              <a:rPr lang="de-DE" baseline="0" dirty="0" err="1"/>
              <a:t>e</a:t>
            </a:r>
            <a:r>
              <a:rPr lang="de-DE" baseline="0" dirty="0"/>
              <a:t> </a:t>
            </a:r>
            <a:r>
              <a:rPr lang="de-DE" baseline="0" dirty="0" err="1"/>
              <a:t>structure</a:t>
            </a:r>
            <a:r>
              <a:rPr lang="de-DE" baseline="0" dirty="0"/>
              <a:t> </a:t>
            </a:r>
            <a:r>
              <a:rPr lang="de-DE" baseline="0" dirty="0" err="1"/>
              <a:t>our</a:t>
            </a:r>
            <a:r>
              <a:rPr lang="de-DE" baseline="0" dirty="0"/>
              <a:t> </a:t>
            </a:r>
            <a:r>
              <a:rPr lang="de-DE" baseline="0" dirty="0" err="1"/>
              <a:t>project</a:t>
            </a:r>
            <a:r>
              <a:rPr lang="de-DE" baseline="0" dirty="0"/>
              <a:t> </a:t>
            </a:r>
            <a:r>
              <a:rPr lang="de-DE" baseline="0" dirty="0" err="1"/>
              <a:t>around</a:t>
            </a:r>
            <a:r>
              <a:rPr lang="de-DE" baseline="0" dirty="0"/>
              <a:t> </a:t>
            </a:r>
            <a:r>
              <a:rPr lang="de-DE" baseline="0" dirty="0" err="1"/>
              <a:t>models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metrics</a:t>
            </a:r>
            <a:r>
              <a:rPr lang="de-DE" baseline="0" dirty="0"/>
              <a:t>, </a:t>
            </a:r>
            <a:r>
              <a:rPr lang="de-DE" baseline="0" dirty="0" err="1"/>
              <a:t>algorithms</a:t>
            </a:r>
            <a:r>
              <a:rPr lang="de-DE" baseline="0" dirty="0"/>
              <a:t>, fault-</a:t>
            </a:r>
            <a:r>
              <a:rPr lang="de-DE" baseline="0" dirty="0" err="1"/>
              <a:t>tolerance</a:t>
            </a:r>
            <a:r>
              <a:rPr lang="de-DE" baseline="0" dirty="0"/>
              <a:t>, </a:t>
            </a:r>
            <a:r>
              <a:rPr lang="de-DE" baseline="0" dirty="0" err="1"/>
              <a:t>integration</a:t>
            </a:r>
            <a:r>
              <a:rPr lang="de-DE" baseline="0" dirty="0"/>
              <a:t> </a:t>
            </a:r>
            <a:r>
              <a:rPr lang="de-DE" baseline="0" dirty="0" err="1"/>
              <a:t>into</a:t>
            </a:r>
            <a:r>
              <a:rPr lang="de-DE" baseline="0" dirty="0"/>
              <a:t> </a:t>
            </a:r>
            <a:r>
              <a:rPr lang="de-DE" baseline="0" dirty="0" err="1"/>
              <a:t>higher</a:t>
            </a:r>
            <a:r>
              <a:rPr lang="de-DE" baseline="0" dirty="0"/>
              <a:t> </a:t>
            </a:r>
            <a:r>
              <a:rPr lang="de-DE" baseline="0" dirty="0" err="1"/>
              <a:t>layers</a:t>
            </a:r>
            <a:r>
              <a:rPr lang="de-DE" baseline="0" dirty="0"/>
              <a:t>,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case</a:t>
            </a:r>
            <a:r>
              <a:rPr lang="de-DE" baseline="0" dirty="0"/>
              <a:t> </a:t>
            </a:r>
            <a:r>
              <a:rPr lang="de-DE" baseline="0" dirty="0" err="1"/>
              <a:t>studies</a:t>
            </a:r>
            <a:r>
              <a:rPr lang="de-DE" baseline="0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/>
              <a:t>In </a:t>
            </a:r>
            <a:r>
              <a:rPr lang="de-DE" baseline="0" dirty="0" err="1"/>
              <a:t>particular</a:t>
            </a:r>
            <a:r>
              <a:rPr lang="de-DE" baseline="0" dirty="0"/>
              <a:t>, </a:t>
            </a:r>
            <a:r>
              <a:rPr lang="de-DE" baseline="0" dirty="0" err="1"/>
              <a:t>we</a:t>
            </a:r>
            <a:r>
              <a:rPr lang="de-DE" baseline="0" dirty="0"/>
              <a:t> will </a:t>
            </a:r>
            <a:r>
              <a:rPr lang="de-DE" baseline="0" dirty="0" err="1"/>
              <a:t>explore</a:t>
            </a:r>
            <a:r>
              <a:rPr lang="de-DE" baseline="0" dirty="0"/>
              <a:t> </a:t>
            </a:r>
            <a:r>
              <a:rPr lang="de-DE" baseline="0" dirty="0" err="1"/>
              <a:t>metrics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algorithms</a:t>
            </a:r>
            <a:r>
              <a:rPr lang="de-DE" baseline="0" dirty="0"/>
              <a:t> </a:t>
            </a:r>
            <a:r>
              <a:rPr lang="de-DE" baseline="0" dirty="0" err="1"/>
              <a:t>for</a:t>
            </a:r>
            <a:r>
              <a:rPr lang="de-DE" baseline="0" dirty="0"/>
              <a:t> </a:t>
            </a:r>
            <a:r>
              <a:rPr lang="de-DE" baseline="0" dirty="0" err="1"/>
              <a:t>by</a:t>
            </a:r>
            <a:r>
              <a:rPr lang="de-DE" baseline="0" dirty="0"/>
              <a:t> </a:t>
            </a:r>
            <a:r>
              <a:rPr lang="de-DE" baseline="0" dirty="0" err="1"/>
              <a:t>how</a:t>
            </a:r>
            <a:r>
              <a:rPr lang="de-DE" baseline="0" dirty="0"/>
              <a:t> </a:t>
            </a:r>
            <a:r>
              <a:rPr lang="de-DE" baseline="0" dirty="0" err="1"/>
              <a:t>much</a:t>
            </a:r>
            <a:r>
              <a:rPr lang="de-DE" baseline="0" dirty="0"/>
              <a:t> </a:t>
            </a:r>
            <a:r>
              <a:rPr lang="de-DE" baseline="0" dirty="0" err="1"/>
              <a:t>load</a:t>
            </a:r>
            <a:r>
              <a:rPr lang="de-DE" baseline="0" dirty="0"/>
              <a:t> </a:t>
            </a:r>
            <a:r>
              <a:rPr lang="de-DE" baseline="0" dirty="0" err="1"/>
              <a:t>can</a:t>
            </a:r>
            <a:r>
              <a:rPr lang="de-DE" baseline="0" dirty="0"/>
              <a:t> </a:t>
            </a:r>
            <a:r>
              <a:rPr lang="de-DE" baseline="0" dirty="0" err="1"/>
              <a:t>be</a:t>
            </a:r>
            <a:r>
              <a:rPr lang="de-DE" baseline="0" dirty="0"/>
              <a:t> </a:t>
            </a:r>
            <a:r>
              <a:rPr lang="de-DE" baseline="0" dirty="0" err="1"/>
              <a:t>lowered</a:t>
            </a:r>
            <a:r>
              <a:rPr lang="de-DE" baseline="0" dirty="0"/>
              <a:t>, </a:t>
            </a:r>
            <a:r>
              <a:rPr lang="de-DE" baseline="0" dirty="0" err="1"/>
              <a:t>energy</a:t>
            </a:r>
            <a:r>
              <a:rPr lang="de-DE" baseline="0" dirty="0"/>
              <a:t> </a:t>
            </a:r>
            <a:r>
              <a:rPr lang="de-DE" baseline="0" dirty="0" err="1"/>
              <a:t>reduced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quality</a:t>
            </a:r>
            <a:r>
              <a:rPr lang="de-DE" baseline="0" dirty="0"/>
              <a:t>-</a:t>
            </a:r>
            <a:r>
              <a:rPr lang="de-DE" baseline="0" dirty="0" err="1"/>
              <a:t>of</a:t>
            </a:r>
            <a:r>
              <a:rPr lang="de-DE" baseline="0" dirty="0"/>
              <a:t>-service </a:t>
            </a:r>
            <a:r>
              <a:rPr lang="de-DE" baseline="0" dirty="0" err="1"/>
              <a:t>improved</a:t>
            </a:r>
            <a:r>
              <a:rPr lang="de-DE" baseline="0" dirty="0"/>
              <a:t> in </a:t>
            </a:r>
            <a:r>
              <a:rPr lang="de-DE" baseline="0" dirty="0" err="1"/>
              <a:t>selfadjusting</a:t>
            </a:r>
            <a:r>
              <a:rPr lang="de-DE" baseline="0" dirty="0"/>
              <a:t> </a:t>
            </a:r>
            <a:r>
              <a:rPr lang="de-DE" baseline="0" dirty="0" err="1"/>
              <a:t>networks</a:t>
            </a:r>
            <a:r>
              <a:rPr lang="de-DE" baseline="0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 err="1"/>
              <a:t>We</a:t>
            </a:r>
            <a:r>
              <a:rPr lang="de-DE" baseline="0" dirty="0"/>
              <a:t> also </a:t>
            </a:r>
            <a:r>
              <a:rPr lang="de-DE" baseline="0" dirty="0" err="1"/>
              <a:t>need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develop</a:t>
            </a:r>
            <a:r>
              <a:rPr lang="de-DE" baseline="0" dirty="0"/>
              <a:t> </a:t>
            </a:r>
            <a:r>
              <a:rPr lang="de-DE" baseline="0" dirty="0" err="1"/>
              <a:t>models</a:t>
            </a:r>
            <a:r>
              <a:rPr lang="de-DE" baseline="0" dirty="0"/>
              <a:t> </a:t>
            </a:r>
            <a:r>
              <a:rPr lang="de-DE" baseline="0" dirty="0" err="1"/>
              <a:t>for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tradeoff</a:t>
            </a:r>
            <a:r>
              <a:rPr lang="de-DE" baseline="0" dirty="0"/>
              <a:t> </a:t>
            </a:r>
            <a:r>
              <a:rPr lang="de-DE" baseline="0" dirty="0" err="1"/>
              <a:t>between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benefits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costs</a:t>
            </a:r>
            <a:r>
              <a:rPr lang="de-DE" baseline="0" dirty="0"/>
              <a:t> </a:t>
            </a:r>
            <a:r>
              <a:rPr lang="de-DE" baseline="0" dirty="0" err="1"/>
              <a:t>of</a:t>
            </a:r>
            <a:r>
              <a:rPr lang="de-DE" baseline="0" dirty="0"/>
              <a:t> </a:t>
            </a:r>
            <a:r>
              <a:rPr lang="de-DE" baseline="0" dirty="0" err="1"/>
              <a:t>reconfigurations</a:t>
            </a:r>
            <a:r>
              <a:rPr lang="de-DE" baseline="0" dirty="0"/>
              <a:t> </a:t>
            </a:r>
            <a:r>
              <a:rPr lang="de-DE" baseline="0" dirty="0" err="1"/>
              <a:t>over</a:t>
            </a:r>
            <a:r>
              <a:rPr lang="de-DE" baseline="0" dirty="0"/>
              <a:t> time.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 err="1"/>
              <a:t>We</a:t>
            </a:r>
            <a:r>
              <a:rPr lang="de-DE" baseline="0" dirty="0"/>
              <a:t> also </a:t>
            </a:r>
            <a:r>
              <a:rPr lang="de-DE" baseline="0" dirty="0" err="1"/>
              <a:t>study</a:t>
            </a:r>
            <a:r>
              <a:rPr lang="de-DE" baseline="0" dirty="0"/>
              <a:t> </a:t>
            </a:r>
            <a:r>
              <a:rPr lang="de-DE" baseline="0" dirty="0" err="1"/>
              <a:t>how</a:t>
            </a:r>
            <a:r>
              <a:rPr lang="de-DE" baseline="0" dirty="0"/>
              <a:t> </a:t>
            </a:r>
            <a:r>
              <a:rPr lang="de-DE" baseline="0" dirty="0" err="1"/>
              <a:t>self-adjusting</a:t>
            </a:r>
            <a:r>
              <a:rPr lang="de-DE" baseline="0" dirty="0"/>
              <a:t> </a:t>
            </a:r>
            <a:r>
              <a:rPr lang="de-DE" baseline="0" dirty="0" err="1"/>
              <a:t>networks</a:t>
            </a:r>
            <a:r>
              <a:rPr lang="de-DE" baseline="0" dirty="0"/>
              <a:t> </a:t>
            </a:r>
            <a:r>
              <a:rPr lang="de-DE" baseline="0" dirty="0" err="1"/>
              <a:t>can</a:t>
            </a:r>
            <a:r>
              <a:rPr lang="de-DE" baseline="0" dirty="0"/>
              <a:t> </a:t>
            </a:r>
            <a:r>
              <a:rPr lang="de-DE" baseline="0" dirty="0" err="1"/>
              <a:t>be</a:t>
            </a:r>
            <a:r>
              <a:rPr lang="de-DE" baseline="0" dirty="0"/>
              <a:t> </a:t>
            </a:r>
            <a:r>
              <a:rPr lang="de-DE" baseline="0" dirty="0" err="1"/>
              <a:t>used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improve</a:t>
            </a:r>
            <a:r>
              <a:rPr lang="de-DE" baseline="0" dirty="0"/>
              <a:t> fault-</a:t>
            </a:r>
            <a:r>
              <a:rPr lang="de-DE" baseline="0" dirty="0" err="1"/>
              <a:t>tolerance</a:t>
            </a:r>
            <a:r>
              <a:rPr lang="de-DE" baseline="0" dirty="0"/>
              <a:t>, </a:t>
            </a:r>
            <a:r>
              <a:rPr lang="de-DE" baseline="0" dirty="0" err="1"/>
              <a:t>what</a:t>
            </a:r>
            <a:r>
              <a:rPr lang="de-DE" baseline="0" dirty="0"/>
              <a:t> </a:t>
            </a:r>
            <a:r>
              <a:rPr lang="de-DE" baseline="0" dirty="0" err="1"/>
              <a:t>is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impact</a:t>
            </a:r>
            <a:r>
              <a:rPr lang="de-DE" baseline="0" dirty="0"/>
              <a:t> on </a:t>
            </a:r>
            <a:r>
              <a:rPr lang="de-DE" baseline="0" dirty="0" err="1"/>
              <a:t>other</a:t>
            </a:r>
            <a:r>
              <a:rPr lang="de-DE" baseline="0" dirty="0"/>
              <a:t> </a:t>
            </a:r>
            <a:r>
              <a:rPr lang="de-DE" baseline="0" dirty="0" err="1"/>
              <a:t>layers</a:t>
            </a:r>
            <a:r>
              <a:rPr lang="de-DE" baseline="0" dirty="0"/>
              <a:t>,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how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apply</a:t>
            </a:r>
            <a:r>
              <a:rPr lang="de-DE" baseline="0" dirty="0"/>
              <a:t> </a:t>
            </a:r>
            <a:r>
              <a:rPr lang="de-DE" baseline="0" dirty="0" err="1"/>
              <a:t>our</a:t>
            </a:r>
            <a:r>
              <a:rPr lang="de-DE" baseline="0" dirty="0"/>
              <a:t> </a:t>
            </a:r>
            <a:r>
              <a:rPr lang="de-DE" baseline="0" dirty="0" err="1"/>
              <a:t>solutions</a:t>
            </a:r>
            <a:r>
              <a:rPr lang="de-DE" baseline="0" dirty="0"/>
              <a:t> in a </a:t>
            </a:r>
            <a:r>
              <a:rPr lang="de-DE" baseline="0" dirty="0" err="1"/>
              <a:t>specific</a:t>
            </a:r>
            <a:r>
              <a:rPr lang="de-DE" baseline="0" dirty="0"/>
              <a:t> </a:t>
            </a:r>
            <a:r>
              <a:rPr lang="de-DE" baseline="0" dirty="0" err="1"/>
              <a:t>case</a:t>
            </a:r>
            <a:r>
              <a:rPr lang="de-DE" baseline="0" dirty="0"/>
              <a:t> </a:t>
            </a:r>
            <a:r>
              <a:rPr lang="de-DE" baseline="0" dirty="0" err="1"/>
              <a:t>study</a:t>
            </a:r>
            <a:r>
              <a:rPr lang="de-DE" baseline="0" dirty="0"/>
              <a:t>, e.g., </a:t>
            </a:r>
            <a:r>
              <a:rPr lang="de-DE" baseline="0" dirty="0" err="1"/>
              <a:t>how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develop</a:t>
            </a:r>
            <a:r>
              <a:rPr lang="de-DE" baseline="0" dirty="0"/>
              <a:t> a </a:t>
            </a:r>
            <a:r>
              <a:rPr lang="de-DE" baseline="0" dirty="0" err="1"/>
              <a:t>scalable</a:t>
            </a:r>
            <a:r>
              <a:rPr lang="de-DE" baseline="0" dirty="0"/>
              <a:t> </a:t>
            </a:r>
            <a:r>
              <a:rPr lang="de-DE" baseline="0" dirty="0" err="1"/>
              <a:t>control</a:t>
            </a:r>
            <a:r>
              <a:rPr lang="de-DE" baseline="0" dirty="0"/>
              <a:t> plane.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/>
              <a:t>This </a:t>
            </a:r>
            <a:r>
              <a:rPr lang="de-DE" baseline="0" dirty="0" err="1"/>
              <a:t>project</a:t>
            </a:r>
            <a:r>
              <a:rPr lang="de-DE" baseline="0" dirty="0"/>
              <a:t> </a:t>
            </a:r>
            <a:r>
              <a:rPr lang="de-DE" baseline="0" dirty="0" err="1"/>
              <a:t>hence</a:t>
            </a:r>
            <a:r>
              <a:rPr lang="de-DE" baseline="0" dirty="0"/>
              <a:t> </a:t>
            </a:r>
            <a:r>
              <a:rPr lang="de-DE" baseline="0" dirty="0" err="1"/>
              <a:t>requires</a:t>
            </a:r>
            <a:r>
              <a:rPr lang="de-DE" baseline="0" dirty="0"/>
              <a:t> </a:t>
            </a:r>
            <a:r>
              <a:rPr lang="de-DE" baseline="0" dirty="0" err="1"/>
              <a:t>expertises</a:t>
            </a:r>
            <a:r>
              <a:rPr lang="de-DE" baseline="0" dirty="0"/>
              <a:t> </a:t>
            </a:r>
            <a:r>
              <a:rPr lang="de-DE" baseline="0" dirty="0" err="1"/>
              <a:t>from</a:t>
            </a:r>
            <a:r>
              <a:rPr lang="de-DE" baseline="0" dirty="0"/>
              <a:t> different </a:t>
            </a:r>
            <a:r>
              <a:rPr lang="de-DE" baseline="0" dirty="0" err="1"/>
              <a:t>fields</a:t>
            </a:r>
            <a:r>
              <a:rPr lang="de-DE" baseline="0" dirty="0"/>
              <a:t>, </a:t>
            </a:r>
            <a:r>
              <a:rPr lang="de-DE" baseline="0" dirty="0" err="1"/>
              <a:t>from</a:t>
            </a:r>
            <a:r>
              <a:rPr lang="de-DE" baseline="0" dirty="0"/>
              <a:t> </a:t>
            </a:r>
            <a:r>
              <a:rPr lang="de-DE" baseline="0" dirty="0" err="1"/>
              <a:t>networking</a:t>
            </a:r>
            <a:r>
              <a:rPr lang="de-DE" baseline="0" dirty="0"/>
              <a:t>, </a:t>
            </a:r>
            <a:r>
              <a:rPr lang="de-DE" baseline="0" dirty="0" err="1"/>
              <a:t>over</a:t>
            </a:r>
            <a:r>
              <a:rPr lang="de-DE" baseline="0" dirty="0"/>
              <a:t> </a:t>
            </a:r>
            <a:r>
              <a:rPr lang="de-DE" baseline="0" dirty="0" err="1"/>
              <a:t>distributed</a:t>
            </a:r>
            <a:r>
              <a:rPr lang="de-DE" baseline="0" dirty="0"/>
              <a:t> </a:t>
            </a:r>
            <a:r>
              <a:rPr lang="de-DE" baseline="0" dirty="0" err="1"/>
              <a:t>systems</a:t>
            </a:r>
            <a:r>
              <a:rPr lang="de-DE" baseline="0" dirty="0"/>
              <a:t>, </a:t>
            </a:r>
            <a:r>
              <a:rPr lang="de-DE" baseline="0" dirty="0" err="1"/>
              <a:t>algorithms</a:t>
            </a:r>
            <a:r>
              <a:rPr lang="de-DE" baseline="0" dirty="0"/>
              <a:t>,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performance</a:t>
            </a:r>
            <a:r>
              <a:rPr lang="de-DE" baseline="0" dirty="0"/>
              <a:t> </a:t>
            </a:r>
            <a:r>
              <a:rPr lang="de-DE" baseline="0" dirty="0" err="1"/>
              <a:t>evaluation</a:t>
            </a:r>
            <a:r>
              <a:rPr lang="de-DE" baseline="0" dirty="0"/>
              <a:t>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/>
              <a:t>I </a:t>
            </a:r>
            <a:r>
              <a:rPr lang="de-DE" baseline="0" dirty="0" err="1"/>
              <a:t>have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necessary</a:t>
            </a:r>
            <a:r>
              <a:rPr lang="de-DE" baseline="0" dirty="0"/>
              <a:t> </a:t>
            </a:r>
            <a:r>
              <a:rPr lang="de-DE" baseline="0" dirty="0" err="1"/>
              <a:t>background</a:t>
            </a:r>
            <a:r>
              <a:rPr lang="de-DE" baseline="0" dirty="0"/>
              <a:t> in all </a:t>
            </a:r>
            <a:r>
              <a:rPr lang="de-DE" baseline="0" dirty="0" err="1"/>
              <a:t>these</a:t>
            </a:r>
            <a:r>
              <a:rPr lang="de-DE" baseline="0" dirty="0"/>
              <a:t> </a:t>
            </a:r>
            <a:r>
              <a:rPr lang="de-DE" baseline="0" dirty="0" err="1"/>
              <a:t>areas</a:t>
            </a:r>
            <a:r>
              <a:rPr lang="de-DE" baseline="0" dirty="0"/>
              <a:t>.</a:t>
            </a:r>
            <a:endParaRPr dirty="0"/>
          </a:p>
        </p:txBody>
      </p:sp>
      <p:sp>
        <p:nvSpPr>
          <p:cNvPr id="1899" name="Google Shape;1899;g60be7dcf1c_0_790:notes">
            <a:extLst>
              <a:ext uri="{FF2B5EF4-FFF2-40B4-BE49-F238E27FC236}">
                <a16:creationId xmlns:a16="http://schemas.microsoft.com/office/drawing/2014/main" id="{02E257AA-6D5E-EF33-7964-3E6F80A790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478314826"/>
      </p:ext>
    </p:extLst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7">
          <a:extLst>
            <a:ext uri="{FF2B5EF4-FFF2-40B4-BE49-F238E27FC236}">
              <a16:creationId xmlns:a16="http://schemas.microsoft.com/office/drawing/2014/main" id="{F33557F5-4CD5-81A6-A7E4-55D5DFE54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8" name="Google Shape;1898;g60be7dcf1c_0_790:notes">
            <a:extLst>
              <a:ext uri="{FF2B5EF4-FFF2-40B4-BE49-F238E27FC236}">
                <a16:creationId xmlns:a16="http://schemas.microsoft.com/office/drawing/2014/main" id="{CC990190-D230-167C-4FDA-3804753D64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So </a:t>
            </a:r>
            <a:r>
              <a:rPr lang="de-DE" dirty="0" err="1"/>
              <a:t>far</a:t>
            </a:r>
            <a:r>
              <a:rPr lang="de-DE" dirty="0"/>
              <a:t>,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have</a:t>
            </a:r>
            <a:r>
              <a:rPr lang="de-DE" dirty="0"/>
              <a:t> just </a:t>
            </a:r>
            <a:r>
              <a:rPr lang="de-DE" dirty="0" err="1"/>
              <a:t>scratched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surface</a:t>
            </a:r>
            <a:r>
              <a:rPr lang="de-DE" baseline="0" dirty="0"/>
              <a:t>,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with</a:t>
            </a:r>
            <a:r>
              <a:rPr lang="de-DE" baseline="0" dirty="0"/>
              <a:t> </a:t>
            </a:r>
            <a:r>
              <a:rPr lang="de-DE" baseline="0" dirty="0" err="1"/>
              <a:t>this</a:t>
            </a:r>
            <a:r>
              <a:rPr lang="de-DE" baseline="0" dirty="0"/>
              <a:t> ERC </a:t>
            </a:r>
            <a:r>
              <a:rPr lang="de-DE" baseline="0" dirty="0" err="1"/>
              <a:t>project</a:t>
            </a:r>
            <a:r>
              <a:rPr lang="de-DE" baseline="0" dirty="0"/>
              <a:t>, </a:t>
            </a:r>
            <a:r>
              <a:rPr lang="de-DE" baseline="0" dirty="0" err="1"/>
              <a:t>we</a:t>
            </a:r>
            <a:r>
              <a:rPr lang="de-DE" baseline="0" dirty="0"/>
              <a:t> </a:t>
            </a:r>
            <a:r>
              <a:rPr lang="de-DE" baseline="0" dirty="0" err="1"/>
              <a:t>want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explore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rest</a:t>
            </a:r>
            <a:r>
              <a:rPr lang="de-DE" baseline="0" dirty="0"/>
              <a:t> </a:t>
            </a:r>
            <a:r>
              <a:rPr lang="de-DE" baseline="0" dirty="0" err="1"/>
              <a:t>of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iceberg</a:t>
            </a:r>
            <a:r>
              <a:rPr lang="de-DE" baseline="0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 err="1"/>
              <a:t>Indeed</a:t>
            </a:r>
            <a:r>
              <a:rPr lang="de-DE" baseline="0" dirty="0"/>
              <a:t>,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notion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self-adjusting</a:t>
            </a:r>
            <a:r>
              <a:rPr lang="de-DE" dirty="0"/>
              <a:t> </a:t>
            </a:r>
            <a:r>
              <a:rPr lang="de-DE" dirty="0" err="1"/>
              <a:t>networks</a:t>
            </a:r>
            <a:r>
              <a:rPr lang="de-DE" dirty="0"/>
              <a:t> </a:t>
            </a:r>
            <a:r>
              <a:rPr lang="de-DE" dirty="0" err="1"/>
              <a:t>opens</a:t>
            </a:r>
            <a:r>
              <a:rPr lang="de-DE" dirty="0"/>
              <a:t> </a:t>
            </a:r>
            <a:r>
              <a:rPr lang="de-DE" baseline="0" dirty="0" err="1"/>
              <a:t>are</a:t>
            </a:r>
            <a:r>
              <a:rPr lang="de-DE" baseline="0" dirty="0"/>
              <a:t> large </a:t>
            </a:r>
            <a:r>
              <a:rPr lang="de-DE" baseline="0" dirty="0" err="1"/>
              <a:t>uncharted</a:t>
            </a:r>
            <a:r>
              <a:rPr lang="de-DE" baseline="0" dirty="0"/>
              <a:t> </a:t>
            </a:r>
            <a:r>
              <a:rPr lang="de-DE" baseline="0" dirty="0" err="1"/>
              <a:t>field</a:t>
            </a:r>
            <a:r>
              <a:rPr lang="de-DE" baseline="0" dirty="0"/>
              <a:t>, </a:t>
            </a:r>
            <a:r>
              <a:rPr lang="de-DE" baseline="0" dirty="0" err="1"/>
              <a:t>with</a:t>
            </a:r>
            <a:r>
              <a:rPr lang="de-DE" baseline="0" dirty="0"/>
              <a:t> </a:t>
            </a:r>
            <a:r>
              <a:rPr lang="de-DE" baseline="0" dirty="0" err="1"/>
              <a:t>many</a:t>
            </a:r>
            <a:r>
              <a:rPr lang="de-DE" baseline="0" dirty="0"/>
              <a:t> </a:t>
            </a:r>
            <a:r>
              <a:rPr lang="de-DE" baseline="0" dirty="0" err="1"/>
              <a:t>questions</a:t>
            </a:r>
            <a:r>
              <a:rPr lang="de-DE" baseline="0" dirty="0"/>
              <a:t>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 err="1"/>
              <a:t>W</a:t>
            </a:r>
            <a:r>
              <a:rPr lang="de-DE" baseline="0" dirty="0" err="1"/>
              <a:t>e</a:t>
            </a:r>
            <a:r>
              <a:rPr lang="de-DE" baseline="0" dirty="0"/>
              <a:t> </a:t>
            </a:r>
            <a:r>
              <a:rPr lang="de-DE" baseline="0" dirty="0" err="1"/>
              <a:t>structure</a:t>
            </a:r>
            <a:r>
              <a:rPr lang="de-DE" baseline="0" dirty="0"/>
              <a:t> </a:t>
            </a:r>
            <a:r>
              <a:rPr lang="de-DE" baseline="0" dirty="0" err="1"/>
              <a:t>our</a:t>
            </a:r>
            <a:r>
              <a:rPr lang="de-DE" baseline="0" dirty="0"/>
              <a:t> </a:t>
            </a:r>
            <a:r>
              <a:rPr lang="de-DE" baseline="0" dirty="0" err="1"/>
              <a:t>project</a:t>
            </a:r>
            <a:r>
              <a:rPr lang="de-DE" baseline="0" dirty="0"/>
              <a:t> </a:t>
            </a:r>
            <a:r>
              <a:rPr lang="de-DE" baseline="0" dirty="0" err="1"/>
              <a:t>around</a:t>
            </a:r>
            <a:r>
              <a:rPr lang="de-DE" baseline="0" dirty="0"/>
              <a:t> </a:t>
            </a:r>
            <a:r>
              <a:rPr lang="de-DE" baseline="0" dirty="0" err="1"/>
              <a:t>models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metrics</a:t>
            </a:r>
            <a:r>
              <a:rPr lang="de-DE" baseline="0" dirty="0"/>
              <a:t>, </a:t>
            </a:r>
            <a:r>
              <a:rPr lang="de-DE" baseline="0" dirty="0" err="1"/>
              <a:t>algorithms</a:t>
            </a:r>
            <a:r>
              <a:rPr lang="de-DE" baseline="0" dirty="0"/>
              <a:t>, fault-</a:t>
            </a:r>
            <a:r>
              <a:rPr lang="de-DE" baseline="0" dirty="0" err="1"/>
              <a:t>tolerance</a:t>
            </a:r>
            <a:r>
              <a:rPr lang="de-DE" baseline="0" dirty="0"/>
              <a:t>, </a:t>
            </a:r>
            <a:r>
              <a:rPr lang="de-DE" baseline="0" dirty="0" err="1"/>
              <a:t>integration</a:t>
            </a:r>
            <a:r>
              <a:rPr lang="de-DE" baseline="0" dirty="0"/>
              <a:t> </a:t>
            </a:r>
            <a:r>
              <a:rPr lang="de-DE" baseline="0" dirty="0" err="1"/>
              <a:t>into</a:t>
            </a:r>
            <a:r>
              <a:rPr lang="de-DE" baseline="0" dirty="0"/>
              <a:t> </a:t>
            </a:r>
            <a:r>
              <a:rPr lang="de-DE" baseline="0" dirty="0" err="1"/>
              <a:t>higher</a:t>
            </a:r>
            <a:r>
              <a:rPr lang="de-DE" baseline="0" dirty="0"/>
              <a:t> </a:t>
            </a:r>
            <a:r>
              <a:rPr lang="de-DE" baseline="0" dirty="0" err="1"/>
              <a:t>layers</a:t>
            </a:r>
            <a:r>
              <a:rPr lang="de-DE" baseline="0" dirty="0"/>
              <a:t>,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case</a:t>
            </a:r>
            <a:r>
              <a:rPr lang="de-DE" baseline="0" dirty="0"/>
              <a:t> </a:t>
            </a:r>
            <a:r>
              <a:rPr lang="de-DE" baseline="0" dirty="0" err="1"/>
              <a:t>studies</a:t>
            </a:r>
            <a:r>
              <a:rPr lang="de-DE" baseline="0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/>
              <a:t>In </a:t>
            </a:r>
            <a:r>
              <a:rPr lang="de-DE" baseline="0" dirty="0" err="1"/>
              <a:t>particular</a:t>
            </a:r>
            <a:r>
              <a:rPr lang="de-DE" baseline="0" dirty="0"/>
              <a:t>, </a:t>
            </a:r>
            <a:r>
              <a:rPr lang="de-DE" baseline="0" dirty="0" err="1"/>
              <a:t>we</a:t>
            </a:r>
            <a:r>
              <a:rPr lang="de-DE" baseline="0" dirty="0"/>
              <a:t> will </a:t>
            </a:r>
            <a:r>
              <a:rPr lang="de-DE" baseline="0" dirty="0" err="1"/>
              <a:t>explore</a:t>
            </a:r>
            <a:r>
              <a:rPr lang="de-DE" baseline="0" dirty="0"/>
              <a:t> </a:t>
            </a:r>
            <a:r>
              <a:rPr lang="de-DE" baseline="0" dirty="0" err="1"/>
              <a:t>metrics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algorithms</a:t>
            </a:r>
            <a:r>
              <a:rPr lang="de-DE" baseline="0" dirty="0"/>
              <a:t> </a:t>
            </a:r>
            <a:r>
              <a:rPr lang="de-DE" baseline="0" dirty="0" err="1"/>
              <a:t>for</a:t>
            </a:r>
            <a:r>
              <a:rPr lang="de-DE" baseline="0" dirty="0"/>
              <a:t> </a:t>
            </a:r>
            <a:r>
              <a:rPr lang="de-DE" baseline="0" dirty="0" err="1"/>
              <a:t>by</a:t>
            </a:r>
            <a:r>
              <a:rPr lang="de-DE" baseline="0" dirty="0"/>
              <a:t> </a:t>
            </a:r>
            <a:r>
              <a:rPr lang="de-DE" baseline="0" dirty="0" err="1"/>
              <a:t>how</a:t>
            </a:r>
            <a:r>
              <a:rPr lang="de-DE" baseline="0" dirty="0"/>
              <a:t> </a:t>
            </a:r>
            <a:r>
              <a:rPr lang="de-DE" baseline="0" dirty="0" err="1"/>
              <a:t>much</a:t>
            </a:r>
            <a:r>
              <a:rPr lang="de-DE" baseline="0" dirty="0"/>
              <a:t> </a:t>
            </a:r>
            <a:r>
              <a:rPr lang="de-DE" baseline="0" dirty="0" err="1"/>
              <a:t>load</a:t>
            </a:r>
            <a:r>
              <a:rPr lang="de-DE" baseline="0" dirty="0"/>
              <a:t> </a:t>
            </a:r>
            <a:r>
              <a:rPr lang="de-DE" baseline="0" dirty="0" err="1"/>
              <a:t>can</a:t>
            </a:r>
            <a:r>
              <a:rPr lang="de-DE" baseline="0" dirty="0"/>
              <a:t> </a:t>
            </a:r>
            <a:r>
              <a:rPr lang="de-DE" baseline="0" dirty="0" err="1"/>
              <a:t>be</a:t>
            </a:r>
            <a:r>
              <a:rPr lang="de-DE" baseline="0" dirty="0"/>
              <a:t> </a:t>
            </a:r>
            <a:r>
              <a:rPr lang="de-DE" baseline="0" dirty="0" err="1"/>
              <a:t>lowered</a:t>
            </a:r>
            <a:r>
              <a:rPr lang="de-DE" baseline="0" dirty="0"/>
              <a:t>, </a:t>
            </a:r>
            <a:r>
              <a:rPr lang="de-DE" baseline="0" dirty="0" err="1"/>
              <a:t>energy</a:t>
            </a:r>
            <a:r>
              <a:rPr lang="de-DE" baseline="0" dirty="0"/>
              <a:t> </a:t>
            </a:r>
            <a:r>
              <a:rPr lang="de-DE" baseline="0" dirty="0" err="1"/>
              <a:t>reduced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quality</a:t>
            </a:r>
            <a:r>
              <a:rPr lang="de-DE" baseline="0" dirty="0"/>
              <a:t>-</a:t>
            </a:r>
            <a:r>
              <a:rPr lang="de-DE" baseline="0" dirty="0" err="1"/>
              <a:t>of</a:t>
            </a:r>
            <a:r>
              <a:rPr lang="de-DE" baseline="0" dirty="0"/>
              <a:t>-service </a:t>
            </a:r>
            <a:r>
              <a:rPr lang="de-DE" baseline="0" dirty="0" err="1"/>
              <a:t>improved</a:t>
            </a:r>
            <a:r>
              <a:rPr lang="de-DE" baseline="0" dirty="0"/>
              <a:t> in </a:t>
            </a:r>
            <a:r>
              <a:rPr lang="de-DE" baseline="0" dirty="0" err="1"/>
              <a:t>selfadjusting</a:t>
            </a:r>
            <a:r>
              <a:rPr lang="de-DE" baseline="0" dirty="0"/>
              <a:t> </a:t>
            </a:r>
            <a:r>
              <a:rPr lang="de-DE" baseline="0" dirty="0" err="1"/>
              <a:t>networks</a:t>
            </a:r>
            <a:r>
              <a:rPr lang="de-DE" baseline="0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 err="1"/>
              <a:t>We</a:t>
            </a:r>
            <a:r>
              <a:rPr lang="de-DE" baseline="0" dirty="0"/>
              <a:t> also </a:t>
            </a:r>
            <a:r>
              <a:rPr lang="de-DE" baseline="0" dirty="0" err="1"/>
              <a:t>need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develop</a:t>
            </a:r>
            <a:r>
              <a:rPr lang="de-DE" baseline="0" dirty="0"/>
              <a:t> </a:t>
            </a:r>
            <a:r>
              <a:rPr lang="de-DE" baseline="0" dirty="0" err="1"/>
              <a:t>models</a:t>
            </a:r>
            <a:r>
              <a:rPr lang="de-DE" baseline="0" dirty="0"/>
              <a:t> </a:t>
            </a:r>
            <a:r>
              <a:rPr lang="de-DE" baseline="0" dirty="0" err="1"/>
              <a:t>for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tradeoff</a:t>
            </a:r>
            <a:r>
              <a:rPr lang="de-DE" baseline="0" dirty="0"/>
              <a:t> </a:t>
            </a:r>
            <a:r>
              <a:rPr lang="de-DE" baseline="0" dirty="0" err="1"/>
              <a:t>between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benefits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costs</a:t>
            </a:r>
            <a:r>
              <a:rPr lang="de-DE" baseline="0" dirty="0"/>
              <a:t> </a:t>
            </a:r>
            <a:r>
              <a:rPr lang="de-DE" baseline="0" dirty="0" err="1"/>
              <a:t>of</a:t>
            </a:r>
            <a:r>
              <a:rPr lang="de-DE" baseline="0" dirty="0"/>
              <a:t> </a:t>
            </a:r>
            <a:r>
              <a:rPr lang="de-DE" baseline="0" dirty="0" err="1"/>
              <a:t>reconfigurations</a:t>
            </a:r>
            <a:r>
              <a:rPr lang="de-DE" baseline="0" dirty="0"/>
              <a:t> </a:t>
            </a:r>
            <a:r>
              <a:rPr lang="de-DE" baseline="0" dirty="0" err="1"/>
              <a:t>over</a:t>
            </a:r>
            <a:r>
              <a:rPr lang="de-DE" baseline="0" dirty="0"/>
              <a:t> time.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 err="1"/>
              <a:t>We</a:t>
            </a:r>
            <a:r>
              <a:rPr lang="de-DE" baseline="0" dirty="0"/>
              <a:t> also </a:t>
            </a:r>
            <a:r>
              <a:rPr lang="de-DE" baseline="0" dirty="0" err="1"/>
              <a:t>study</a:t>
            </a:r>
            <a:r>
              <a:rPr lang="de-DE" baseline="0" dirty="0"/>
              <a:t> </a:t>
            </a:r>
            <a:r>
              <a:rPr lang="de-DE" baseline="0" dirty="0" err="1"/>
              <a:t>how</a:t>
            </a:r>
            <a:r>
              <a:rPr lang="de-DE" baseline="0" dirty="0"/>
              <a:t> </a:t>
            </a:r>
            <a:r>
              <a:rPr lang="de-DE" baseline="0" dirty="0" err="1"/>
              <a:t>self-adjusting</a:t>
            </a:r>
            <a:r>
              <a:rPr lang="de-DE" baseline="0" dirty="0"/>
              <a:t> </a:t>
            </a:r>
            <a:r>
              <a:rPr lang="de-DE" baseline="0" dirty="0" err="1"/>
              <a:t>networks</a:t>
            </a:r>
            <a:r>
              <a:rPr lang="de-DE" baseline="0" dirty="0"/>
              <a:t> </a:t>
            </a:r>
            <a:r>
              <a:rPr lang="de-DE" baseline="0" dirty="0" err="1"/>
              <a:t>can</a:t>
            </a:r>
            <a:r>
              <a:rPr lang="de-DE" baseline="0" dirty="0"/>
              <a:t> </a:t>
            </a:r>
            <a:r>
              <a:rPr lang="de-DE" baseline="0" dirty="0" err="1"/>
              <a:t>be</a:t>
            </a:r>
            <a:r>
              <a:rPr lang="de-DE" baseline="0" dirty="0"/>
              <a:t> </a:t>
            </a:r>
            <a:r>
              <a:rPr lang="de-DE" baseline="0" dirty="0" err="1"/>
              <a:t>used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improve</a:t>
            </a:r>
            <a:r>
              <a:rPr lang="de-DE" baseline="0" dirty="0"/>
              <a:t> fault-</a:t>
            </a:r>
            <a:r>
              <a:rPr lang="de-DE" baseline="0" dirty="0" err="1"/>
              <a:t>tolerance</a:t>
            </a:r>
            <a:r>
              <a:rPr lang="de-DE" baseline="0" dirty="0"/>
              <a:t>, </a:t>
            </a:r>
            <a:r>
              <a:rPr lang="de-DE" baseline="0" dirty="0" err="1"/>
              <a:t>what</a:t>
            </a:r>
            <a:r>
              <a:rPr lang="de-DE" baseline="0" dirty="0"/>
              <a:t> </a:t>
            </a:r>
            <a:r>
              <a:rPr lang="de-DE" baseline="0" dirty="0" err="1"/>
              <a:t>is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impact</a:t>
            </a:r>
            <a:r>
              <a:rPr lang="de-DE" baseline="0" dirty="0"/>
              <a:t> on </a:t>
            </a:r>
            <a:r>
              <a:rPr lang="de-DE" baseline="0" dirty="0" err="1"/>
              <a:t>other</a:t>
            </a:r>
            <a:r>
              <a:rPr lang="de-DE" baseline="0" dirty="0"/>
              <a:t> </a:t>
            </a:r>
            <a:r>
              <a:rPr lang="de-DE" baseline="0" dirty="0" err="1"/>
              <a:t>layers</a:t>
            </a:r>
            <a:r>
              <a:rPr lang="de-DE" baseline="0" dirty="0"/>
              <a:t>,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how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apply</a:t>
            </a:r>
            <a:r>
              <a:rPr lang="de-DE" baseline="0" dirty="0"/>
              <a:t> </a:t>
            </a:r>
            <a:r>
              <a:rPr lang="de-DE" baseline="0" dirty="0" err="1"/>
              <a:t>our</a:t>
            </a:r>
            <a:r>
              <a:rPr lang="de-DE" baseline="0" dirty="0"/>
              <a:t> </a:t>
            </a:r>
            <a:r>
              <a:rPr lang="de-DE" baseline="0" dirty="0" err="1"/>
              <a:t>solutions</a:t>
            </a:r>
            <a:r>
              <a:rPr lang="de-DE" baseline="0" dirty="0"/>
              <a:t> in a </a:t>
            </a:r>
            <a:r>
              <a:rPr lang="de-DE" baseline="0" dirty="0" err="1"/>
              <a:t>specific</a:t>
            </a:r>
            <a:r>
              <a:rPr lang="de-DE" baseline="0" dirty="0"/>
              <a:t> </a:t>
            </a:r>
            <a:r>
              <a:rPr lang="de-DE" baseline="0" dirty="0" err="1"/>
              <a:t>case</a:t>
            </a:r>
            <a:r>
              <a:rPr lang="de-DE" baseline="0" dirty="0"/>
              <a:t> </a:t>
            </a:r>
            <a:r>
              <a:rPr lang="de-DE" baseline="0" dirty="0" err="1"/>
              <a:t>study</a:t>
            </a:r>
            <a:r>
              <a:rPr lang="de-DE" baseline="0" dirty="0"/>
              <a:t>, e.g., </a:t>
            </a:r>
            <a:r>
              <a:rPr lang="de-DE" baseline="0" dirty="0" err="1"/>
              <a:t>how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develop</a:t>
            </a:r>
            <a:r>
              <a:rPr lang="de-DE" baseline="0" dirty="0"/>
              <a:t> a </a:t>
            </a:r>
            <a:r>
              <a:rPr lang="de-DE" baseline="0" dirty="0" err="1"/>
              <a:t>scalable</a:t>
            </a:r>
            <a:r>
              <a:rPr lang="de-DE" baseline="0" dirty="0"/>
              <a:t> </a:t>
            </a:r>
            <a:r>
              <a:rPr lang="de-DE" baseline="0" dirty="0" err="1"/>
              <a:t>control</a:t>
            </a:r>
            <a:r>
              <a:rPr lang="de-DE" baseline="0" dirty="0"/>
              <a:t> plane.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/>
              <a:t>This </a:t>
            </a:r>
            <a:r>
              <a:rPr lang="de-DE" baseline="0" dirty="0" err="1"/>
              <a:t>project</a:t>
            </a:r>
            <a:r>
              <a:rPr lang="de-DE" baseline="0" dirty="0"/>
              <a:t> </a:t>
            </a:r>
            <a:r>
              <a:rPr lang="de-DE" baseline="0" dirty="0" err="1"/>
              <a:t>hence</a:t>
            </a:r>
            <a:r>
              <a:rPr lang="de-DE" baseline="0" dirty="0"/>
              <a:t> </a:t>
            </a:r>
            <a:r>
              <a:rPr lang="de-DE" baseline="0" dirty="0" err="1"/>
              <a:t>requires</a:t>
            </a:r>
            <a:r>
              <a:rPr lang="de-DE" baseline="0" dirty="0"/>
              <a:t> </a:t>
            </a:r>
            <a:r>
              <a:rPr lang="de-DE" baseline="0" dirty="0" err="1"/>
              <a:t>expertises</a:t>
            </a:r>
            <a:r>
              <a:rPr lang="de-DE" baseline="0" dirty="0"/>
              <a:t> </a:t>
            </a:r>
            <a:r>
              <a:rPr lang="de-DE" baseline="0" dirty="0" err="1"/>
              <a:t>from</a:t>
            </a:r>
            <a:r>
              <a:rPr lang="de-DE" baseline="0" dirty="0"/>
              <a:t> different </a:t>
            </a:r>
            <a:r>
              <a:rPr lang="de-DE" baseline="0" dirty="0" err="1"/>
              <a:t>fields</a:t>
            </a:r>
            <a:r>
              <a:rPr lang="de-DE" baseline="0" dirty="0"/>
              <a:t>, </a:t>
            </a:r>
            <a:r>
              <a:rPr lang="de-DE" baseline="0" dirty="0" err="1"/>
              <a:t>from</a:t>
            </a:r>
            <a:r>
              <a:rPr lang="de-DE" baseline="0" dirty="0"/>
              <a:t> </a:t>
            </a:r>
            <a:r>
              <a:rPr lang="de-DE" baseline="0" dirty="0" err="1"/>
              <a:t>networking</a:t>
            </a:r>
            <a:r>
              <a:rPr lang="de-DE" baseline="0" dirty="0"/>
              <a:t>, </a:t>
            </a:r>
            <a:r>
              <a:rPr lang="de-DE" baseline="0" dirty="0" err="1"/>
              <a:t>over</a:t>
            </a:r>
            <a:r>
              <a:rPr lang="de-DE" baseline="0" dirty="0"/>
              <a:t> </a:t>
            </a:r>
            <a:r>
              <a:rPr lang="de-DE" baseline="0" dirty="0" err="1"/>
              <a:t>distributed</a:t>
            </a:r>
            <a:r>
              <a:rPr lang="de-DE" baseline="0" dirty="0"/>
              <a:t> </a:t>
            </a:r>
            <a:r>
              <a:rPr lang="de-DE" baseline="0" dirty="0" err="1"/>
              <a:t>systems</a:t>
            </a:r>
            <a:r>
              <a:rPr lang="de-DE" baseline="0" dirty="0"/>
              <a:t>, </a:t>
            </a:r>
            <a:r>
              <a:rPr lang="de-DE" baseline="0" dirty="0" err="1"/>
              <a:t>algorithms</a:t>
            </a:r>
            <a:r>
              <a:rPr lang="de-DE" baseline="0" dirty="0"/>
              <a:t>,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performance</a:t>
            </a:r>
            <a:r>
              <a:rPr lang="de-DE" baseline="0" dirty="0"/>
              <a:t> </a:t>
            </a:r>
            <a:r>
              <a:rPr lang="de-DE" baseline="0" dirty="0" err="1"/>
              <a:t>evaluation</a:t>
            </a:r>
            <a:r>
              <a:rPr lang="de-DE" baseline="0" dirty="0"/>
              <a:t>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/>
              <a:t>I </a:t>
            </a:r>
            <a:r>
              <a:rPr lang="de-DE" baseline="0" dirty="0" err="1"/>
              <a:t>have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necessary</a:t>
            </a:r>
            <a:r>
              <a:rPr lang="de-DE" baseline="0" dirty="0"/>
              <a:t> </a:t>
            </a:r>
            <a:r>
              <a:rPr lang="de-DE" baseline="0" dirty="0" err="1"/>
              <a:t>background</a:t>
            </a:r>
            <a:r>
              <a:rPr lang="de-DE" baseline="0" dirty="0"/>
              <a:t> in all </a:t>
            </a:r>
            <a:r>
              <a:rPr lang="de-DE" baseline="0" dirty="0" err="1"/>
              <a:t>these</a:t>
            </a:r>
            <a:r>
              <a:rPr lang="de-DE" baseline="0" dirty="0"/>
              <a:t> </a:t>
            </a:r>
            <a:r>
              <a:rPr lang="de-DE" baseline="0" dirty="0" err="1"/>
              <a:t>areas</a:t>
            </a:r>
            <a:r>
              <a:rPr lang="de-DE" baseline="0" dirty="0"/>
              <a:t>.</a:t>
            </a:r>
            <a:endParaRPr dirty="0"/>
          </a:p>
        </p:txBody>
      </p:sp>
      <p:sp>
        <p:nvSpPr>
          <p:cNvPr id="1899" name="Google Shape;1899;g60be7dcf1c_0_790:notes">
            <a:extLst>
              <a:ext uri="{FF2B5EF4-FFF2-40B4-BE49-F238E27FC236}">
                <a16:creationId xmlns:a16="http://schemas.microsoft.com/office/drawing/2014/main" id="{B291AA93-3939-D648-A055-7FB674F818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792286571"/>
      </p:ext>
    </p:extLst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7">
          <a:extLst>
            <a:ext uri="{FF2B5EF4-FFF2-40B4-BE49-F238E27FC236}">
              <a16:creationId xmlns:a16="http://schemas.microsoft.com/office/drawing/2014/main" id="{7049EBD4-63FC-231B-C8CD-15D9543EF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8" name="Google Shape;1898;g60be7dcf1c_0_790:notes">
            <a:extLst>
              <a:ext uri="{FF2B5EF4-FFF2-40B4-BE49-F238E27FC236}">
                <a16:creationId xmlns:a16="http://schemas.microsoft.com/office/drawing/2014/main" id="{6A5C5BC8-D9CD-71E5-22E0-ED18605BFA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So </a:t>
            </a:r>
            <a:r>
              <a:rPr lang="de-DE" dirty="0" err="1"/>
              <a:t>far</a:t>
            </a:r>
            <a:r>
              <a:rPr lang="de-DE" dirty="0"/>
              <a:t>,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have</a:t>
            </a:r>
            <a:r>
              <a:rPr lang="de-DE" dirty="0"/>
              <a:t> just </a:t>
            </a:r>
            <a:r>
              <a:rPr lang="de-DE" dirty="0" err="1"/>
              <a:t>scratched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surface</a:t>
            </a:r>
            <a:r>
              <a:rPr lang="de-DE" baseline="0" dirty="0"/>
              <a:t>,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with</a:t>
            </a:r>
            <a:r>
              <a:rPr lang="de-DE" baseline="0" dirty="0"/>
              <a:t> </a:t>
            </a:r>
            <a:r>
              <a:rPr lang="de-DE" baseline="0" dirty="0" err="1"/>
              <a:t>this</a:t>
            </a:r>
            <a:r>
              <a:rPr lang="de-DE" baseline="0" dirty="0"/>
              <a:t> ERC </a:t>
            </a:r>
            <a:r>
              <a:rPr lang="de-DE" baseline="0" dirty="0" err="1"/>
              <a:t>project</a:t>
            </a:r>
            <a:r>
              <a:rPr lang="de-DE" baseline="0" dirty="0"/>
              <a:t>, </a:t>
            </a:r>
            <a:r>
              <a:rPr lang="de-DE" baseline="0" dirty="0" err="1"/>
              <a:t>we</a:t>
            </a:r>
            <a:r>
              <a:rPr lang="de-DE" baseline="0" dirty="0"/>
              <a:t> </a:t>
            </a:r>
            <a:r>
              <a:rPr lang="de-DE" baseline="0" dirty="0" err="1"/>
              <a:t>want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explore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rest</a:t>
            </a:r>
            <a:r>
              <a:rPr lang="de-DE" baseline="0" dirty="0"/>
              <a:t> </a:t>
            </a:r>
            <a:r>
              <a:rPr lang="de-DE" baseline="0" dirty="0" err="1"/>
              <a:t>of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iceberg</a:t>
            </a:r>
            <a:r>
              <a:rPr lang="de-DE" baseline="0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 err="1"/>
              <a:t>Indeed</a:t>
            </a:r>
            <a:r>
              <a:rPr lang="de-DE" baseline="0" dirty="0"/>
              <a:t>,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notion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self-adjusting</a:t>
            </a:r>
            <a:r>
              <a:rPr lang="de-DE" dirty="0"/>
              <a:t> </a:t>
            </a:r>
            <a:r>
              <a:rPr lang="de-DE" dirty="0" err="1"/>
              <a:t>networks</a:t>
            </a:r>
            <a:r>
              <a:rPr lang="de-DE" dirty="0"/>
              <a:t> </a:t>
            </a:r>
            <a:r>
              <a:rPr lang="de-DE" dirty="0" err="1"/>
              <a:t>opens</a:t>
            </a:r>
            <a:r>
              <a:rPr lang="de-DE" dirty="0"/>
              <a:t> </a:t>
            </a:r>
            <a:r>
              <a:rPr lang="de-DE" baseline="0" dirty="0" err="1"/>
              <a:t>are</a:t>
            </a:r>
            <a:r>
              <a:rPr lang="de-DE" baseline="0" dirty="0"/>
              <a:t> large </a:t>
            </a:r>
            <a:r>
              <a:rPr lang="de-DE" baseline="0" dirty="0" err="1"/>
              <a:t>uncharted</a:t>
            </a:r>
            <a:r>
              <a:rPr lang="de-DE" baseline="0" dirty="0"/>
              <a:t> </a:t>
            </a:r>
            <a:r>
              <a:rPr lang="de-DE" baseline="0" dirty="0" err="1"/>
              <a:t>field</a:t>
            </a:r>
            <a:r>
              <a:rPr lang="de-DE" baseline="0" dirty="0"/>
              <a:t>, </a:t>
            </a:r>
            <a:r>
              <a:rPr lang="de-DE" baseline="0" dirty="0" err="1"/>
              <a:t>with</a:t>
            </a:r>
            <a:r>
              <a:rPr lang="de-DE" baseline="0" dirty="0"/>
              <a:t> </a:t>
            </a:r>
            <a:r>
              <a:rPr lang="de-DE" baseline="0" dirty="0" err="1"/>
              <a:t>many</a:t>
            </a:r>
            <a:r>
              <a:rPr lang="de-DE" baseline="0" dirty="0"/>
              <a:t> </a:t>
            </a:r>
            <a:r>
              <a:rPr lang="de-DE" baseline="0" dirty="0" err="1"/>
              <a:t>questions</a:t>
            </a:r>
            <a:r>
              <a:rPr lang="de-DE" baseline="0" dirty="0"/>
              <a:t>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 err="1"/>
              <a:t>W</a:t>
            </a:r>
            <a:r>
              <a:rPr lang="de-DE" baseline="0" dirty="0" err="1"/>
              <a:t>e</a:t>
            </a:r>
            <a:r>
              <a:rPr lang="de-DE" baseline="0" dirty="0"/>
              <a:t> </a:t>
            </a:r>
            <a:r>
              <a:rPr lang="de-DE" baseline="0" dirty="0" err="1"/>
              <a:t>structure</a:t>
            </a:r>
            <a:r>
              <a:rPr lang="de-DE" baseline="0" dirty="0"/>
              <a:t> </a:t>
            </a:r>
            <a:r>
              <a:rPr lang="de-DE" baseline="0" dirty="0" err="1"/>
              <a:t>our</a:t>
            </a:r>
            <a:r>
              <a:rPr lang="de-DE" baseline="0" dirty="0"/>
              <a:t> </a:t>
            </a:r>
            <a:r>
              <a:rPr lang="de-DE" baseline="0" dirty="0" err="1"/>
              <a:t>project</a:t>
            </a:r>
            <a:r>
              <a:rPr lang="de-DE" baseline="0" dirty="0"/>
              <a:t> </a:t>
            </a:r>
            <a:r>
              <a:rPr lang="de-DE" baseline="0" dirty="0" err="1"/>
              <a:t>around</a:t>
            </a:r>
            <a:r>
              <a:rPr lang="de-DE" baseline="0" dirty="0"/>
              <a:t> </a:t>
            </a:r>
            <a:r>
              <a:rPr lang="de-DE" baseline="0" dirty="0" err="1"/>
              <a:t>models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metrics</a:t>
            </a:r>
            <a:r>
              <a:rPr lang="de-DE" baseline="0" dirty="0"/>
              <a:t>, </a:t>
            </a:r>
            <a:r>
              <a:rPr lang="de-DE" baseline="0" dirty="0" err="1"/>
              <a:t>algorithms</a:t>
            </a:r>
            <a:r>
              <a:rPr lang="de-DE" baseline="0" dirty="0"/>
              <a:t>, fault-</a:t>
            </a:r>
            <a:r>
              <a:rPr lang="de-DE" baseline="0" dirty="0" err="1"/>
              <a:t>tolerance</a:t>
            </a:r>
            <a:r>
              <a:rPr lang="de-DE" baseline="0" dirty="0"/>
              <a:t>, </a:t>
            </a:r>
            <a:r>
              <a:rPr lang="de-DE" baseline="0" dirty="0" err="1"/>
              <a:t>integration</a:t>
            </a:r>
            <a:r>
              <a:rPr lang="de-DE" baseline="0" dirty="0"/>
              <a:t> </a:t>
            </a:r>
            <a:r>
              <a:rPr lang="de-DE" baseline="0" dirty="0" err="1"/>
              <a:t>into</a:t>
            </a:r>
            <a:r>
              <a:rPr lang="de-DE" baseline="0" dirty="0"/>
              <a:t> </a:t>
            </a:r>
            <a:r>
              <a:rPr lang="de-DE" baseline="0" dirty="0" err="1"/>
              <a:t>higher</a:t>
            </a:r>
            <a:r>
              <a:rPr lang="de-DE" baseline="0" dirty="0"/>
              <a:t> </a:t>
            </a:r>
            <a:r>
              <a:rPr lang="de-DE" baseline="0" dirty="0" err="1"/>
              <a:t>layers</a:t>
            </a:r>
            <a:r>
              <a:rPr lang="de-DE" baseline="0" dirty="0"/>
              <a:t>,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case</a:t>
            </a:r>
            <a:r>
              <a:rPr lang="de-DE" baseline="0" dirty="0"/>
              <a:t> </a:t>
            </a:r>
            <a:r>
              <a:rPr lang="de-DE" baseline="0" dirty="0" err="1"/>
              <a:t>studies</a:t>
            </a:r>
            <a:r>
              <a:rPr lang="de-DE" baseline="0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/>
              <a:t>In </a:t>
            </a:r>
            <a:r>
              <a:rPr lang="de-DE" baseline="0" dirty="0" err="1"/>
              <a:t>particular</a:t>
            </a:r>
            <a:r>
              <a:rPr lang="de-DE" baseline="0" dirty="0"/>
              <a:t>, </a:t>
            </a:r>
            <a:r>
              <a:rPr lang="de-DE" baseline="0" dirty="0" err="1"/>
              <a:t>we</a:t>
            </a:r>
            <a:r>
              <a:rPr lang="de-DE" baseline="0" dirty="0"/>
              <a:t> will </a:t>
            </a:r>
            <a:r>
              <a:rPr lang="de-DE" baseline="0" dirty="0" err="1"/>
              <a:t>explore</a:t>
            </a:r>
            <a:r>
              <a:rPr lang="de-DE" baseline="0" dirty="0"/>
              <a:t> </a:t>
            </a:r>
            <a:r>
              <a:rPr lang="de-DE" baseline="0" dirty="0" err="1"/>
              <a:t>metrics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algorithms</a:t>
            </a:r>
            <a:r>
              <a:rPr lang="de-DE" baseline="0" dirty="0"/>
              <a:t> </a:t>
            </a:r>
            <a:r>
              <a:rPr lang="de-DE" baseline="0" dirty="0" err="1"/>
              <a:t>for</a:t>
            </a:r>
            <a:r>
              <a:rPr lang="de-DE" baseline="0" dirty="0"/>
              <a:t> </a:t>
            </a:r>
            <a:r>
              <a:rPr lang="de-DE" baseline="0" dirty="0" err="1"/>
              <a:t>by</a:t>
            </a:r>
            <a:r>
              <a:rPr lang="de-DE" baseline="0" dirty="0"/>
              <a:t> </a:t>
            </a:r>
            <a:r>
              <a:rPr lang="de-DE" baseline="0" dirty="0" err="1"/>
              <a:t>how</a:t>
            </a:r>
            <a:r>
              <a:rPr lang="de-DE" baseline="0" dirty="0"/>
              <a:t> </a:t>
            </a:r>
            <a:r>
              <a:rPr lang="de-DE" baseline="0" dirty="0" err="1"/>
              <a:t>much</a:t>
            </a:r>
            <a:r>
              <a:rPr lang="de-DE" baseline="0" dirty="0"/>
              <a:t> </a:t>
            </a:r>
            <a:r>
              <a:rPr lang="de-DE" baseline="0" dirty="0" err="1"/>
              <a:t>load</a:t>
            </a:r>
            <a:r>
              <a:rPr lang="de-DE" baseline="0" dirty="0"/>
              <a:t> </a:t>
            </a:r>
            <a:r>
              <a:rPr lang="de-DE" baseline="0" dirty="0" err="1"/>
              <a:t>can</a:t>
            </a:r>
            <a:r>
              <a:rPr lang="de-DE" baseline="0" dirty="0"/>
              <a:t> </a:t>
            </a:r>
            <a:r>
              <a:rPr lang="de-DE" baseline="0" dirty="0" err="1"/>
              <a:t>be</a:t>
            </a:r>
            <a:r>
              <a:rPr lang="de-DE" baseline="0" dirty="0"/>
              <a:t> </a:t>
            </a:r>
            <a:r>
              <a:rPr lang="de-DE" baseline="0" dirty="0" err="1"/>
              <a:t>lowered</a:t>
            </a:r>
            <a:r>
              <a:rPr lang="de-DE" baseline="0" dirty="0"/>
              <a:t>, </a:t>
            </a:r>
            <a:r>
              <a:rPr lang="de-DE" baseline="0" dirty="0" err="1"/>
              <a:t>energy</a:t>
            </a:r>
            <a:r>
              <a:rPr lang="de-DE" baseline="0" dirty="0"/>
              <a:t> </a:t>
            </a:r>
            <a:r>
              <a:rPr lang="de-DE" baseline="0" dirty="0" err="1"/>
              <a:t>reduced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quality</a:t>
            </a:r>
            <a:r>
              <a:rPr lang="de-DE" baseline="0" dirty="0"/>
              <a:t>-</a:t>
            </a:r>
            <a:r>
              <a:rPr lang="de-DE" baseline="0" dirty="0" err="1"/>
              <a:t>of</a:t>
            </a:r>
            <a:r>
              <a:rPr lang="de-DE" baseline="0" dirty="0"/>
              <a:t>-service </a:t>
            </a:r>
            <a:r>
              <a:rPr lang="de-DE" baseline="0" dirty="0" err="1"/>
              <a:t>improved</a:t>
            </a:r>
            <a:r>
              <a:rPr lang="de-DE" baseline="0" dirty="0"/>
              <a:t> in </a:t>
            </a:r>
            <a:r>
              <a:rPr lang="de-DE" baseline="0" dirty="0" err="1"/>
              <a:t>selfadjusting</a:t>
            </a:r>
            <a:r>
              <a:rPr lang="de-DE" baseline="0" dirty="0"/>
              <a:t> </a:t>
            </a:r>
            <a:r>
              <a:rPr lang="de-DE" baseline="0" dirty="0" err="1"/>
              <a:t>networks</a:t>
            </a:r>
            <a:r>
              <a:rPr lang="de-DE" baseline="0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 err="1"/>
              <a:t>We</a:t>
            </a:r>
            <a:r>
              <a:rPr lang="de-DE" baseline="0" dirty="0"/>
              <a:t> also </a:t>
            </a:r>
            <a:r>
              <a:rPr lang="de-DE" baseline="0" dirty="0" err="1"/>
              <a:t>need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develop</a:t>
            </a:r>
            <a:r>
              <a:rPr lang="de-DE" baseline="0" dirty="0"/>
              <a:t> </a:t>
            </a:r>
            <a:r>
              <a:rPr lang="de-DE" baseline="0" dirty="0" err="1"/>
              <a:t>models</a:t>
            </a:r>
            <a:r>
              <a:rPr lang="de-DE" baseline="0" dirty="0"/>
              <a:t> </a:t>
            </a:r>
            <a:r>
              <a:rPr lang="de-DE" baseline="0" dirty="0" err="1"/>
              <a:t>for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tradeoff</a:t>
            </a:r>
            <a:r>
              <a:rPr lang="de-DE" baseline="0" dirty="0"/>
              <a:t> </a:t>
            </a:r>
            <a:r>
              <a:rPr lang="de-DE" baseline="0" dirty="0" err="1"/>
              <a:t>between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benefits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costs</a:t>
            </a:r>
            <a:r>
              <a:rPr lang="de-DE" baseline="0" dirty="0"/>
              <a:t> </a:t>
            </a:r>
            <a:r>
              <a:rPr lang="de-DE" baseline="0" dirty="0" err="1"/>
              <a:t>of</a:t>
            </a:r>
            <a:r>
              <a:rPr lang="de-DE" baseline="0" dirty="0"/>
              <a:t> </a:t>
            </a:r>
            <a:r>
              <a:rPr lang="de-DE" baseline="0" dirty="0" err="1"/>
              <a:t>reconfigurations</a:t>
            </a:r>
            <a:r>
              <a:rPr lang="de-DE" baseline="0" dirty="0"/>
              <a:t> </a:t>
            </a:r>
            <a:r>
              <a:rPr lang="de-DE" baseline="0" dirty="0" err="1"/>
              <a:t>over</a:t>
            </a:r>
            <a:r>
              <a:rPr lang="de-DE" baseline="0" dirty="0"/>
              <a:t> time.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 err="1"/>
              <a:t>We</a:t>
            </a:r>
            <a:r>
              <a:rPr lang="de-DE" baseline="0" dirty="0"/>
              <a:t> also </a:t>
            </a:r>
            <a:r>
              <a:rPr lang="de-DE" baseline="0" dirty="0" err="1"/>
              <a:t>study</a:t>
            </a:r>
            <a:r>
              <a:rPr lang="de-DE" baseline="0" dirty="0"/>
              <a:t> </a:t>
            </a:r>
            <a:r>
              <a:rPr lang="de-DE" baseline="0" dirty="0" err="1"/>
              <a:t>how</a:t>
            </a:r>
            <a:r>
              <a:rPr lang="de-DE" baseline="0" dirty="0"/>
              <a:t> </a:t>
            </a:r>
            <a:r>
              <a:rPr lang="de-DE" baseline="0" dirty="0" err="1"/>
              <a:t>self-adjusting</a:t>
            </a:r>
            <a:r>
              <a:rPr lang="de-DE" baseline="0" dirty="0"/>
              <a:t> </a:t>
            </a:r>
            <a:r>
              <a:rPr lang="de-DE" baseline="0" dirty="0" err="1"/>
              <a:t>networks</a:t>
            </a:r>
            <a:r>
              <a:rPr lang="de-DE" baseline="0" dirty="0"/>
              <a:t> </a:t>
            </a:r>
            <a:r>
              <a:rPr lang="de-DE" baseline="0" dirty="0" err="1"/>
              <a:t>can</a:t>
            </a:r>
            <a:r>
              <a:rPr lang="de-DE" baseline="0" dirty="0"/>
              <a:t> </a:t>
            </a:r>
            <a:r>
              <a:rPr lang="de-DE" baseline="0" dirty="0" err="1"/>
              <a:t>be</a:t>
            </a:r>
            <a:r>
              <a:rPr lang="de-DE" baseline="0" dirty="0"/>
              <a:t> </a:t>
            </a:r>
            <a:r>
              <a:rPr lang="de-DE" baseline="0" dirty="0" err="1"/>
              <a:t>used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improve</a:t>
            </a:r>
            <a:r>
              <a:rPr lang="de-DE" baseline="0" dirty="0"/>
              <a:t> fault-</a:t>
            </a:r>
            <a:r>
              <a:rPr lang="de-DE" baseline="0" dirty="0" err="1"/>
              <a:t>tolerance</a:t>
            </a:r>
            <a:r>
              <a:rPr lang="de-DE" baseline="0" dirty="0"/>
              <a:t>, </a:t>
            </a:r>
            <a:r>
              <a:rPr lang="de-DE" baseline="0" dirty="0" err="1"/>
              <a:t>what</a:t>
            </a:r>
            <a:r>
              <a:rPr lang="de-DE" baseline="0" dirty="0"/>
              <a:t> </a:t>
            </a:r>
            <a:r>
              <a:rPr lang="de-DE" baseline="0" dirty="0" err="1"/>
              <a:t>is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impact</a:t>
            </a:r>
            <a:r>
              <a:rPr lang="de-DE" baseline="0" dirty="0"/>
              <a:t> on </a:t>
            </a:r>
            <a:r>
              <a:rPr lang="de-DE" baseline="0" dirty="0" err="1"/>
              <a:t>other</a:t>
            </a:r>
            <a:r>
              <a:rPr lang="de-DE" baseline="0" dirty="0"/>
              <a:t> </a:t>
            </a:r>
            <a:r>
              <a:rPr lang="de-DE" baseline="0" dirty="0" err="1"/>
              <a:t>layers</a:t>
            </a:r>
            <a:r>
              <a:rPr lang="de-DE" baseline="0" dirty="0"/>
              <a:t>,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how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apply</a:t>
            </a:r>
            <a:r>
              <a:rPr lang="de-DE" baseline="0" dirty="0"/>
              <a:t> </a:t>
            </a:r>
            <a:r>
              <a:rPr lang="de-DE" baseline="0" dirty="0" err="1"/>
              <a:t>our</a:t>
            </a:r>
            <a:r>
              <a:rPr lang="de-DE" baseline="0" dirty="0"/>
              <a:t> </a:t>
            </a:r>
            <a:r>
              <a:rPr lang="de-DE" baseline="0" dirty="0" err="1"/>
              <a:t>solutions</a:t>
            </a:r>
            <a:r>
              <a:rPr lang="de-DE" baseline="0" dirty="0"/>
              <a:t> in a </a:t>
            </a:r>
            <a:r>
              <a:rPr lang="de-DE" baseline="0" dirty="0" err="1"/>
              <a:t>specific</a:t>
            </a:r>
            <a:r>
              <a:rPr lang="de-DE" baseline="0" dirty="0"/>
              <a:t> </a:t>
            </a:r>
            <a:r>
              <a:rPr lang="de-DE" baseline="0" dirty="0" err="1"/>
              <a:t>case</a:t>
            </a:r>
            <a:r>
              <a:rPr lang="de-DE" baseline="0" dirty="0"/>
              <a:t> </a:t>
            </a:r>
            <a:r>
              <a:rPr lang="de-DE" baseline="0" dirty="0" err="1"/>
              <a:t>study</a:t>
            </a:r>
            <a:r>
              <a:rPr lang="de-DE" baseline="0" dirty="0"/>
              <a:t>, e.g., </a:t>
            </a:r>
            <a:r>
              <a:rPr lang="de-DE" baseline="0" dirty="0" err="1"/>
              <a:t>how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develop</a:t>
            </a:r>
            <a:r>
              <a:rPr lang="de-DE" baseline="0" dirty="0"/>
              <a:t> a </a:t>
            </a:r>
            <a:r>
              <a:rPr lang="de-DE" baseline="0" dirty="0" err="1"/>
              <a:t>scalable</a:t>
            </a:r>
            <a:r>
              <a:rPr lang="de-DE" baseline="0" dirty="0"/>
              <a:t> </a:t>
            </a:r>
            <a:r>
              <a:rPr lang="de-DE" baseline="0" dirty="0" err="1"/>
              <a:t>control</a:t>
            </a:r>
            <a:r>
              <a:rPr lang="de-DE" baseline="0" dirty="0"/>
              <a:t> plane.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/>
              <a:t>This </a:t>
            </a:r>
            <a:r>
              <a:rPr lang="de-DE" baseline="0" dirty="0" err="1"/>
              <a:t>project</a:t>
            </a:r>
            <a:r>
              <a:rPr lang="de-DE" baseline="0" dirty="0"/>
              <a:t> </a:t>
            </a:r>
            <a:r>
              <a:rPr lang="de-DE" baseline="0" dirty="0" err="1"/>
              <a:t>hence</a:t>
            </a:r>
            <a:r>
              <a:rPr lang="de-DE" baseline="0" dirty="0"/>
              <a:t> </a:t>
            </a:r>
            <a:r>
              <a:rPr lang="de-DE" baseline="0" dirty="0" err="1"/>
              <a:t>requires</a:t>
            </a:r>
            <a:r>
              <a:rPr lang="de-DE" baseline="0" dirty="0"/>
              <a:t> </a:t>
            </a:r>
            <a:r>
              <a:rPr lang="de-DE" baseline="0" dirty="0" err="1"/>
              <a:t>expertises</a:t>
            </a:r>
            <a:r>
              <a:rPr lang="de-DE" baseline="0" dirty="0"/>
              <a:t> </a:t>
            </a:r>
            <a:r>
              <a:rPr lang="de-DE" baseline="0" dirty="0" err="1"/>
              <a:t>from</a:t>
            </a:r>
            <a:r>
              <a:rPr lang="de-DE" baseline="0" dirty="0"/>
              <a:t> different </a:t>
            </a:r>
            <a:r>
              <a:rPr lang="de-DE" baseline="0" dirty="0" err="1"/>
              <a:t>fields</a:t>
            </a:r>
            <a:r>
              <a:rPr lang="de-DE" baseline="0" dirty="0"/>
              <a:t>, </a:t>
            </a:r>
            <a:r>
              <a:rPr lang="de-DE" baseline="0" dirty="0" err="1"/>
              <a:t>from</a:t>
            </a:r>
            <a:r>
              <a:rPr lang="de-DE" baseline="0" dirty="0"/>
              <a:t> </a:t>
            </a:r>
            <a:r>
              <a:rPr lang="de-DE" baseline="0" dirty="0" err="1"/>
              <a:t>networking</a:t>
            </a:r>
            <a:r>
              <a:rPr lang="de-DE" baseline="0" dirty="0"/>
              <a:t>, </a:t>
            </a:r>
            <a:r>
              <a:rPr lang="de-DE" baseline="0" dirty="0" err="1"/>
              <a:t>over</a:t>
            </a:r>
            <a:r>
              <a:rPr lang="de-DE" baseline="0" dirty="0"/>
              <a:t> </a:t>
            </a:r>
            <a:r>
              <a:rPr lang="de-DE" baseline="0" dirty="0" err="1"/>
              <a:t>distributed</a:t>
            </a:r>
            <a:r>
              <a:rPr lang="de-DE" baseline="0" dirty="0"/>
              <a:t> </a:t>
            </a:r>
            <a:r>
              <a:rPr lang="de-DE" baseline="0" dirty="0" err="1"/>
              <a:t>systems</a:t>
            </a:r>
            <a:r>
              <a:rPr lang="de-DE" baseline="0" dirty="0"/>
              <a:t>, </a:t>
            </a:r>
            <a:r>
              <a:rPr lang="de-DE" baseline="0" dirty="0" err="1"/>
              <a:t>algorithms</a:t>
            </a:r>
            <a:r>
              <a:rPr lang="de-DE" baseline="0" dirty="0"/>
              <a:t>,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performance</a:t>
            </a:r>
            <a:r>
              <a:rPr lang="de-DE" baseline="0" dirty="0"/>
              <a:t> </a:t>
            </a:r>
            <a:r>
              <a:rPr lang="de-DE" baseline="0" dirty="0" err="1"/>
              <a:t>evaluation</a:t>
            </a:r>
            <a:r>
              <a:rPr lang="de-DE" baseline="0" dirty="0"/>
              <a:t>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/>
              <a:t>I </a:t>
            </a:r>
            <a:r>
              <a:rPr lang="de-DE" baseline="0" dirty="0" err="1"/>
              <a:t>have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necessary</a:t>
            </a:r>
            <a:r>
              <a:rPr lang="de-DE" baseline="0" dirty="0"/>
              <a:t> </a:t>
            </a:r>
            <a:r>
              <a:rPr lang="de-DE" baseline="0" dirty="0" err="1"/>
              <a:t>background</a:t>
            </a:r>
            <a:r>
              <a:rPr lang="de-DE" baseline="0" dirty="0"/>
              <a:t> in all </a:t>
            </a:r>
            <a:r>
              <a:rPr lang="de-DE" baseline="0" dirty="0" err="1"/>
              <a:t>these</a:t>
            </a:r>
            <a:r>
              <a:rPr lang="de-DE" baseline="0" dirty="0"/>
              <a:t> </a:t>
            </a:r>
            <a:r>
              <a:rPr lang="de-DE" baseline="0" dirty="0" err="1"/>
              <a:t>areas</a:t>
            </a:r>
            <a:r>
              <a:rPr lang="de-DE" baseline="0" dirty="0"/>
              <a:t>.</a:t>
            </a:r>
            <a:endParaRPr dirty="0"/>
          </a:p>
        </p:txBody>
      </p:sp>
      <p:sp>
        <p:nvSpPr>
          <p:cNvPr id="1899" name="Google Shape;1899;g60be7dcf1c_0_790:notes">
            <a:extLst>
              <a:ext uri="{FF2B5EF4-FFF2-40B4-BE49-F238E27FC236}">
                <a16:creationId xmlns:a16="http://schemas.microsoft.com/office/drawing/2014/main" id="{DB6C6396-F59A-93D9-F094-8C260A9A99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790171212"/>
      </p:ext>
    </p:extLst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7">
          <a:extLst>
            <a:ext uri="{FF2B5EF4-FFF2-40B4-BE49-F238E27FC236}">
              <a16:creationId xmlns:a16="http://schemas.microsoft.com/office/drawing/2014/main" id="{77B42807-671F-F524-EB87-A88F40C53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8" name="Google Shape;1898;g60be7dcf1c_0_790:notes">
            <a:extLst>
              <a:ext uri="{FF2B5EF4-FFF2-40B4-BE49-F238E27FC236}">
                <a16:creationId xmlns:a16="http://schemas.microsoft.com/office/drawing/2014/main" id="{E2988A2B-511C-227E-2CC5-AFFA0ABC68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So </a:t>
            </a:r>
            <a:r>
              <a:rPr lang="de-DE" dirty="0" err="1"/>
              <a:t>far</a:t>
            </a:r>
            <a:r>
              <a:rPr lang="de-DE" dirty="0"/>
              <a:t>,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have</a:t>
            </a:r>
            <a:r>
              <a:rPr lang="de-DE" dirty="0"/>
              <a:t> just </a:t>
            </a:r>
            <a:r>
              <a:rPr lang="de-DE" dirty="0" err="1"/>
              <a:t>scratched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surface</a:t>
            </a:r>
            <a:r>
              <a:rPr lang="de-DE" baseline="0" dirty="0"/>
              <a:t>,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with</a:t>
            </a:r>
            <a:r>
              <a:rPr lang="de-DE" baseline="0" dirty="0"/>
              <a:t> </a:t>
            </a:r>
            <a:r>
              <a:rPr lang="de-DE" baseline="0" dirty="0" err="1"/>
              <a:t>this</a:t>
            </a:r>
            <a:r>
              <a:rPr lang="de-DE" baseline="0" dirty="0"/>
              <a:t> ERC </a:t>
            </a:r>
            <a:r>
              <a:rPr lang="de-DE" baseline="0" dirty="0" err="1"/>
              <a:t>project</a:t>
            </a:r>
            <a:r>
              <a:rPr lang="de-DE" baseline="0" dirty="0"/>
              <a:t>, </a:t>
            </a:r>
            <a:r>
              <a:rPr lang="de-DE" baseline="0" dirty="0" err="1"/>
              <a:t>we</a:t>
            </a:r>
            <a:r>
              <a:rPr lang="de-DE" baseline="0" dirty="0"/>
              <a:t> </a:t>
            </a:r>
            <a:r>
              <a:rPr lang="de-DE" baseline="0" dirty="0" err="1"/>
              <a:t>want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explore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rest</a:t>
            </a:r>
            <a:r>
              <a:rPr lang="de-DE" baseline="0" dirty="0"/>
              <a:t> </a:t>
            </a:r>
            <a:r>
              <a:rPr lang="de-DE" baseline="0" dirty="0" err="1"/>
              <a:t>of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iceberg</a:t>
            </a:r>
            <a:r>
              <a:rPr lang="de-DE" baseline="0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 err="1"/>
              <a:t>Indeed</a:t>
            </a:r>
            <a:r>
              <a:rPr lang="de-DE" baseline="0" dirty="0"/>
              <a:t>,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notion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self-adjusting</a:t>
            </a:r>
            <a:r>
              <a:rPr lang="de-DE" dirty="0"/>
              <a:t> </a:t>
            </a:r>
            <a:r>
              <a:rPr lang="de-DE" dirty="0" err="1"/>
              <a:t>networks</a:t>
            </a:r>
            <a:r>
              <a:rPr lang="de-DE" dirty="0"/>
              <a:t> </a:t>
            </a:r>
            <a:r>
              <a:rPr lang="de-DE" dirty="0" err="1"/>
              <a:t>opens</a:t>
            </a:r>
            <a:r>
              <a:rPr lang="de-DE" dirty="0"/>
              <a:t> </a:t>
            </a:r>
            <a:r>
              <a:rPr lang="de-DE" baseline="0" dirty="0" err="1"/>
              <a:t>are</a:t>
            </a:r>
            <a:r>
              <a:rPr lang="de-DE" baseline="0" dirty="0"/>
              <a:t> large </a:t>
            </a:r>
            <a:r>
              <a:rPr lang="de-DE" baseline="0" dirty="0" err="1"/>
              <a:t>uncharted</a:t>
            </a:r>
            <a:r>
              <a:rPr lang="de-DE" baseline="0" dirty="0"/>
              <a:t> </a:t>
            </a:r>
            <a:r>
              <a:rPr lang="de-DE" baseline="0" dirty="0" err="1"/>
              <a:t>field</a:t>
            </a:r>
            <a:r>
              <a:rPr lang="de-DE" baseline="0" dirty="0"/>
              <a:t>, </a:t>
            </a:r>
            <a:r>
              <a:rPr lang="de-DE" baseline="0" dirty="0" err="1"/>
              <a:t>with</a:t>
            </a:r>
            <a:r>
              <a:rPr lang="de-DE" baseline="0" dirty="0"/>
              <a:t> </a:t>
            </a:r>
            <a:r>
              <a:rPr lang="de-DE" baseline="0" dirty="0" err="1"/>
              <a:t>many</a:t>
            </a:r>
            <a:r>
              <a:rPr lang="de-DE" baseline="0" dirty="0"/>
              <a:t> </a:t>
            </a:r>
            <a:r>
              <a:rPr lang="de-DE" baseline="0" dirty="0" err="1"/>
              <a:t>questions</a:t>
            </a:r>
            <a:r>
              <a:rPr lang="de-DE" baseline="0" dirty="0"/>
              <a:t>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 err="1"/>
              <a:t>W</a:t>
            </a:r>
            <a:r>
              <a:rPr lang="de-DE" baseline="0" dirty="0" err="1"/>
              <a:t>e</a:t>
            </a:r>
            <a:r>
              <a:rPr lang="de-DE" baseline="0" dirty="0"/>
              <a:t> </a:t>
            </a:r>
            <a:r>
              <a:rPr lang="de-DE" baseline="0" dirty="0" err="1"/>
              <a:t>structure</a:t>
            </a:r>
            <a:r>
              <a:rPr lang="de-DE" baseline="0" dirty="0"/>
              <a:t> </a:t>
            </a:r>
            <a:r>
              <a:rPr lang="de-DE" baseline="0" dirty="0" err="1"/>
              <a:t>our</a:t>
            </a:r>
            <a:r>
              <a:rPr lang="de-DE" baseline="0" dirty="0"/>
              <a:t> </a:t>
            </a:r>
            <a:r>
              <a:rPr lang="de-DE" baseline="0" dirty="0" err="1"/>
              <a:t>project</a:t>
            </a:r>
            <a:r>
              <a:rPr lang="de-DE" baseline="0" dirty="0"/>
              <a:t> </a:t>
            </a:r>
            <a:r>
              <a:rPr lang="de-DE" baseline="0" dirty="0" err="1"/>
              <a:t>around</a:t>
            </a:r>
            <a:r>
              <a:rPr lang="de-DE" baseline="0" dirty="0"/>
              <a:t> </a:t>
            </a:r>
            <a:r>
              <a:rPr lang="de-DE" baseline="0" dirty="0" err="1"/>
              <a:t>models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metrics</a:t>
            </a:r>
            <a:r>
              <a:rPr lang="de-DE" baseline="0" dirty="0"/>
              <a:t>, </a:t>
            </a:r>
            <a:r>
              <a:rPr lang="de-DE" baseline="0" dirty="0" err="1"/>
              <a:t>algorithms</a:t>
            </a:r>
            <a:r>
              <a:rPr lang="de-DE" baseline="0" dirty="0"/>
              <a:t>, fault-</a:t>
            </a:r>
            <a:r>
              <a:rPr lang="de-DE" baseline="0" dirty="0" err="1"/>
              <a:t>tolerance</a:t>
            </a:r>
            <a:r>
              <a:rPr lang="de-DE" baseline="0" dirty="0"/>
              <a:t>, </a:t>
            </a:r>
            <a:r>
              <a:rPr lang="de-DE" baseline="0" dirty="0" err="1"/>
              <a:t>integration</a:t>
            </a:r>
            <a:r>
              <a:rPr lang="de-DE" baseline="0" dirty="0"/>
              <a:t> </a:t>
            </a:r>
            <a:r>
              <a:rPr lang="de-DE" baseline="0" dirty="0" err="1"/>
              <a:t>into</a:t>
            </a:r>
            <a:r>
              <a:rPr lang="de-DE" baseline="0" dirty="0"/>
              <a:t> </a:t>
            </a:r>
            <a:r>
              <a:rPr lang="de-DE" baseline="0" dirty="0" err="1"/>
              <a:t>higher</a:t>
            </a:r>
            <a:r>
              <a:rPr lang="de-DE" baseline="0" dirty="0"/>
              <a:t> </a:t>
            </a:r>
            <a:r>
              <a:rPr lang="de-DE" baseline="0" dirty="0" err="1"/>
              <a:t>layers</a:t>
            </a:r>
            <a:r>
              <a:rPr lang="de-DE" baseline="0" dirty="0"/>
              <a:t>,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case</a:t>
            </a:r>
            <a:r>
              <a:rPr lang="de-DE" baseline="0" dirty="0"/>
              <a:t> </a:t>
            </a:r>
            <a:r>
              <a:rPr lang="de-DE" baseline="0" dirty="0" err="1"/>
              <a:t>studies</a:t>
            </a:r>
            <a:r>
              <a:rPr lang="de-DE" baseline="0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/>
              <a:t>In </a:t>
            </a:r>
            <a:r>
              <a:rPr lang="de-DE" baseline="0" dirty="0" err="1"/>
              <a:t>particular</a:t>
            </a:r>
            <a:r>
              <a:rPr lang="de-DE" baseline="0" dirty="0"/>
              <a:t>, </a:t>
            </a:r>
            <a:r>
              <a:rPr lang="de-DE" baseline="0" dirty="0" err="1"/>
              <a:t>we</a:t>
            </a:r>
            <a:r>
              <a:rPr lang="de-DE" baseline="0" dirty="0"/>
              <a:t> will </a:t>
            </a:r>
            <a:r>
              <a:rPr lang="de-DE" baseline="0" dirty="0" err="1"/>
              <a:t>explore</a:t>
            </a:r>
            <a:r>
              <a:rPr lang="de-DE" baseline="0" dirty="0"/>
              <a:t> </a:t>
            </a:r>
            <a:r>
              <a:rPr lang="de-DE" baseline="0" dirty="0" err="1"/>
              <a:t>metrics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algorithms</a:t>
            </a:r>
            <a:r>
              <a:rPr lang="de-DE" baseline="0" dirty="0"/>
              <a:t> </a:t>
            </a:r>
            <a:r>
              <a:rPr lang="de-DE" baseline="0" dirty="0" err="1"/>
              <a:t>for</a:t>
            </a:r>
            <a:r>
              <a:rPr lang="de-DE" baseline="0" dirty="0"/>
              <a:t> </a:t>
            </a:r>
            <a:r>
              <a:rPr lang="de-DE" baseline="0" dirty="0" err="1"/>
              <a:t>by</a:t>
            </a:r>
            <a:r>
              <a:rPr lang="de-DE" baseline="0" dirty="0"/>
              <a:t> </a:t>
            </a:r>
            <a:r>
              <a:rPr lang="de-DE" baseline="0" dirty="0" err="1"/>
              <a:t>how</a:t>
            </a:r>
            <a:r>
              <a:rPr lang="de-DE" baseline="0" dirty="0"/>
              <a:t> </a:t>
            </a:r>
            <a:r>
              <a:rPr lang="de-DE" baseline="0" dirty="0" err="1"/>
              <a:t>much</a:t>
            </a:r>
            <a:r>
              <a:rPr lang="de-DE" baseline="0" dirty="0"/>
              <a:t> </a:t>
            </a:r>
            <a:r>
              <a:rPr lang="de-DE" baseline="0" dirty="0" err="1"/>
              <a:t>load</a:t>
            </a:r>
            <a:r>
              <a:rPr lang="de-DE" baseline="0" dirty="0"/>
              <a:t> </a:t>
            </a:r>
            <a:r>
              <a:rPr lang="de-DE" baseline="0" dirty="0" err="1"/>
              <a:t>can</a:t>
            </a:r>
            <a:r>
              <a:rPr lang="de-DE" baseline="0" dirty="0"/>
              <a:t> </a:t>
            </a:r>
            <a:r>
              <a:rPr lang="de-DE" baseline="0" dirty="0" err="1"/>
              <a:t>be</a:t>
            </a:r>
            <a:r>
              <a:rPr lang="de-DE" baseline="0" dirty="0"/>
              <a:t> </a:t>
            </a:r>
            <a:r>
              <a:rPr lang="de-DE" baseline="0" dirty="0" err="1"/>
              <a:t>lowered</a:t>
            </a:r>
            <a:r>
              <a:rPr lang="de-DE" baseline="0" dirty="0"/>
              <a:t>, </a:t>
            </a:r>
            <a:r>
              <a:rPr lang="de-DE" baseline="0" dirty="0" err="1"/>
              <a:t>energy</a:t>
            </a:r>
            <a:r>
              <a:rPr lang="de-DE" baseline="0" dirty="0"/>
              <a:t> </a:t>
            </a:r>
            <a:r>
              <a:rPr lang="de-DE" baseline="0" dirty="0" err="1"/>
              <a:t>reduced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quality</a:t>
            </a:r>
            <a:r>
              <a:rPr lang="de-DE" baseline="0" dirty="0"/>
              <a:t>-</a:t>
            </a:r>
            <a:r>
              <a:rPr lang="de-DE" baseline="0" dirty="0" err="1"/>
              <a:t>of</a:t>
            </a:r>
            <a:r>
              <a:rPr lang="de-DE" baseline="0" dirty="0"/>
              <a:t>-service </a:t>
            </a:r>
            <a:r>
              <a:rPr lang="de-DE" baseline="0" dirty="0" err="1"/>
              <a:t>improved</a:t>
            </a:r>
            <a:r>
              <a:rPr lang="de-DE" baseline="0" dirty="0"/>
              <a:t> in </a:t>
            </a:r>
            <a:r>
              <a:rPr lang="de-DE" baseline="0" dirty="0" err="1"/>
              <a:t>selfadjusting</a:t>
            </a:r>
            <a:r>
              <a:rPr lang="de-DE" baseline="0" dirty="0"/>
              <a:t> </a:t>
            </a:r>
            <a:r>
              <a:rPr lang="de-DE" baseline="0" dirty="0" err="1"/>
              <a:t>networks</a:t>
            </a:r>
            <a:r>
              <a:rPr lang="de-DE" baseline="0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 err="1"/>
              <a:t>We</a:t>
            </a:r>
            <a:r>
              <a:rPr lang="de-DE" baseline="0" dirty="0"/>
              <a:t> also </a:t>
            </a:r>
            <a:r>
              <a:rPr lang="de-DE" baseline="0" dirty="0" err="1"/>
              <a:t>need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develop</a:t>
            </a:r>
            <a:r>
              <a:rPr lang="de-DE" baseline="0" dirty="0"/>
              <a:t> </a:t>
            </a:r>
            <a:r>
              <a:rPr lang="de-DE" baseline="0" dirty="0" err="1"/>
              <a:t>models</a:t>
            </a:r>
            <a:r>
              <a:rPr lang="de-DE" baseline="0" dirty="0"/>
              <a:t> </a:t>
            </a:r>
            <a:r>
              <a:rPr lang="de-DE" baseline="0" dirty="0" err="1"/>
              <a:t>for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tradeoff</a:t>
            </a:r>
            <a:r>
              <a:rPr lang="de-DE" baseline="0" dirty="0"/>
              <a:t> </a:t>
            </a:r>
            <a:r>
              <a:rPr lang="de-DE" baseline="0" dirty="0" err="1"/>
              <a:t>between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benefits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costs</a:t>
            </a:r>
            <a:r>
              <a:rPr lang="de-DE" baseline="0" dirty="0"/>
              <a:t> </a:t>
            </a:r>
            <a:r>
              <a:rPr lang="de-DE" baseline="0" dirty="0" err="1"/>
              <a:t>of</a:t>
            </a:r>
            <a:r>
              <a:rPr lang="de-DE" baseline="0" dirty="0"/>
              <a:t> </a:t>
            </a:r>
            <a:r>
              <a:rPr lang="de-DE" baseline="0" dirty="0" err="1"/>
              <a:t>reconfigurations</a:t>
            </a:r>
            <a:r>
              <a:rPr lang="de-DE" baseline="0" dirty="0"/>
              <a:t> </a:t>
            </a:r>
            <a:r>
              <a:rPr lang="de-DE" baseline="0" dirty="0" err="1"/>
              <a:t>over</a:t>
            </a:r>
            <a:r>
              <a:rPr lang="de-DE" baseline="0" dirty="0"/>
              <a:t> time.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 err="1"/>
              <a:t>We</a:t>
            </a:r>
            <a:r>
              <a:rPr lang="de-DE" baseline="0" dirty="0"/>
              <a:t> also </a:t>
            </a:r>
            <a:r>
              <a:rPr lang="de-DE" baseline="0" dirty="0" err="1"/>
              <a:t>study</a:t>
            </a:r>
            <a:r>
              <a:rPr lang="de-DE" baseline="0" dirty="0"/>
              <a:t> </a:t>
            </a:r>
            <a:r>
              <a:rPr lang="de-DE" baseline="0" dirty="0" err="1"/>
              <a:t>how</a:t>
            </a:r>
            <a:r>
              <a:rPr lang="de-DE" baseline="0" dirty="0"/>
              <a:t> </a:t>
            </a:r>
            <a:r>
              <a:rPr lang="de-DE" baseline="0" dirty="0" err="1"/>
              <a:t>self-adjusting</a:t>
            </a:r>
            <a:r>
              <a:rPr lang="de-DE" baseline="0" dirty="0"/>
              <a:t> </a:t>
            </a:r>
            <a:r>
              <a:rPr lang="de-DE" baseline="0" dirty="0" err="1"/>
              <a:t>networks</a:t>
            </a:r>
            <a:r>
              <a:rPr lang="de-DE" baseline="0" dirty="0"/>
              <a:t> </a:t>
            </a:r>
            <a:r>
              <a:rPr lang="de-DE" baseline="0" dirty="0" err="1"/>
              <a:t>can</a:t>
            </a:r>
            <a:r>
              <a:rPr lang="de-DE" baseline="0" dirty="0"/>
              <a:t> </a:t>
            </a:r>
            <a:r>
              <a:rPr lang="de-DE" baseline="0" dirty="0" err="1"/>
              <a:t>be</a:t>
            </a:r>
            <a:r>
              <a:rPr lang="de-DE" baseline="0" dirty="0"/>
              <a:t> </a:t>
            </a:r>
            <a:r>
              <a:rPr lang="de-DE" baseline="0" dirty="0" err="1"/>
              <a:t>used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improve</a:t>
            </a:r>
            <a:r>
              <a:rPr lang="de-DE" baseline="0" dirty="0"/>
              <a:t> fault-</a:t>
            </a:r>
            <a:r>
              <a:rPr lang="de-DE" baseline="0" dirty="0" err="1"/>
              <a:t>tolerance</a:t>
            </a:r>
            <a:r>
              <a:rPr lang="de-DE" baseline="0" dirty="0"/>
              <a:t>, </a:t>
            </a:r>
            <a:r>
              <a:rPr lang="de-DE" baseline="0" dirty="0" err="1"/>
              <a:t>what</a:t>
            </a:r>
            <a:r>
              <a:rPr lang="de-DE" baseline="0" dirty="0"/>
              <a:t> </a:t>
            </a:r>
            <a:r>
              <a:rPr lang="de-DE" baseline="0" dirty="0" err="1"/>
              <a:t>is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impact</a:t>
            </a:r>
            <a:r>
              <a:rPr lang="de-DE" baseline="0" dirty="0"/>
              <a:t> on </a:t>
            </a:r>
            <a:r>
              <a:rPr lang="de-DE" baseline="0" dirty="0" err="1"/>
              <a:t>other</a:t>
            </a:r>
            <a:r>
              <a:rPr lang="de-DE" baseline="0" dirty="0"/>
              <a:t> </a:t>
            </a:r>
            <a:r>
              <a:rPr lang="de-DE" baseline="0" dirty="0" err="1"/>
              <a:t>layers</a:t>
            </a:r>
            <a:r>
              <a:rPr lang="de-DE" baseline="0" dirty="0"/>
              <a:t>,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how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apply</a:t>
            </a:r>
            <a:r>
              <a:rPr lang="de-DE" baseline="0" dirty="0"/>
              <a:t> </a:t>
            </a:r>
            <a:r>
              <a:rPr lang="de-DE" baseline="0" dirty="0" err="1"/>
              <a:t>our</a:t>
            </a:r>
            <a:r>
              <a:rPr lang="de-DE" baseline="0" dirty="0"/>
              <a:t> </a:t>
            </a:r>
            <a:r>
              <a:rPr lang="de-DE" baseline="0" dirty="0" err="1"/>
              <a:t>solutions</a:t>
            </a:r>
            <a:r>
              <a:rPr lang="de-DE" baseline="0" dirty="0"/>
              <a:t> in a </a:t>
            </a:r>
            <a:r>
              <a:rPr lang="de-DE" baseline="0" dirty="0" err="1"/>
              <a:t>specific</a:t>
            </a:r>
            <a:r>
              <a:rPr lang="de-DE" baseline="0" dirty="0"/>
              <a:t> </a:t>
            </a:r>
            <a:r>
              <a:rPr lang="de-DE" baseline="0" dirty="0" err="1"/>
              <a:t>case</a:t>
            </a:r>
            <a:r>
              <a:rPr lang="de-DE" baseline="0" dirty="0"/>
              <a:t> </a:t>
            </a:r>
            <a:r>
              <a:rPr lang="de-DE" baseline="0" dirty="0" err="1"/>
              <a:t>study</a:t>
            </a:r>
            <a:r>
              <a:rPr lang="de-DE" baseline="0" dirty="0"/>
              <a:t>, e.g., </a:t>
            </a:r>
            <a:r>
              <a:rPr lang="de-DE" baseline="0" dirty="0" err="1"/>
              <a:t>how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develop</a:t>
            </a:r>
            <a:r>
              <a:rPr lang="de-DE" baseline="0" dirty="0"/>
              <a:t> a </a:t>
            </a:r>
            <a:r>
              <a:rPr lang="de-DE" baseline="0" dirty="0" err="1"/>
              <a:t>scalable</a:t>
            </a:r>
            <a:r>
              <a:rPr lang="de-DE" baseline="0" dirty="0"/>
              <a:t> </a:t>
            </a:r>
            <a:r>
              <a:rPr lang="de-DE" baseline="0" dirty="0" err="1"/>
              <a:t>control</a:t>
            </a:r>
            <a:r>
              <a:rPr lang="de-DE" baseline="0" dirty="0"/>
              <a:t> plane.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/>
              <a:t>This </a:t>
            </a:r>
            <a:r>
              <a:rPr lang="de-DE" baseline="0" dirty="0" err="1"/>
              <a:t>project</a:t>
            </a:r>
            <a:r>
              <a:rPr lang="de-DE" baseline="0" dirty="0"/>
              <a:t> </a:t>
            </a:r>
            <a:r>
              <a:rPr lang="de-DE" baseline="0" dirty="0" err="1"/>
              <a:t>hence</a:t>
            </a:r>
            <a:r>
              <a:rPr lang="de-DE" baseline="0" dirty="0"/>
              <a:t> </a:t>
            </a:r>
            <a:r>
              <a:rPr lang="de-DE" baseline="0" dirty="0" err="1"/>
              <a:t>requires</a:t>
            </a:r>
            <a:r>
              <a:rPr lang="de-DE" baseline="0" dirty="0"/>
              <a:t> </a:t>
            </a:r>
            <a:r>
              <a:rPr lang="de-DE" baseline="0" dirty="0" err="1"/>
              <a:t>expertises</a:t>
            </a:r>
            <a:r>
              <a:rPr lang="de-DE" baseline="0" dirty="0"/>
              <a:t> </a:t>
            </a:r>
            <a:r>
              <a:rPr lang="de-DE" baseline="0" dirty="0" err="1"/>
              <a:t>from</a:t>
            </a:r>
            <a:r>
              <a:rPr lang="de-DE" baseline="0" dirty="0"/>
              <a:t> different </a:t>
            </a:r>
            <a:r>
              <a:rPr lang="de-DE" baseline="0" dirty="0" err="1"/>
              <a:t>fields</a:t>
            </a:r>
            <a:r>
              <a:rPr lang="de-DE" baseline="0" dirty="0"/>
              <a:t>, </a:t>
            </a:r>
            <a:r>
              <a:rPr lang="de-DE" baseline="0" dirty="0" err="1"/>
              <a:t>from</a:t>
            </a:r>
            <a:r>
              <a:rPr lang="de-DE" baseline="0" dirty="0"/>
              <a:t> </a:t>
            </a:r>
            <a:r>
              <a:rPr lang="de-DE" baseline="0" dirty="0" err="1"/>
              <a:t>networking</a:t>
            </a:r>
            <a:r>
              <a:rPr lang="de-DE" baseline="0" dirty="0"/>
              <a:t>, </a:t>
            </a:r>
            <a:r>
              <a:rPr lang="de-DE" baseline="0" dirty="0" err="1"/>
              <a:t>over</a:t>
            </a:r>
            <a:r>
              <a:rPr lang="de-DE" baseline="0" dirty="0"/>
              <a:t> </a:t>
            </a:r>
            <a:r>
              <a:rPr lang="de-DE" baseline="0" dirty="0" err="1"/>
              <a:t>distributed</a:t>
            </a:r>
            <a:r>
              <a:rPr lang="de-DE" baseline="0" dirty="0"/>
              <a:t> </a:t>
            </a:r>
            <a:r>
              <a:rPr lang="de-DE" baseline="0" dirty="0" err="1"/>
              <a:t>systems</a:t>
            </a:r>
            <a:r>
              <a:rPr lang="de-DE" baseline="0" dirty="0"/>
              <a:t>, </a:t>
            </a:r>
            <a:r>
              <a:rPr lang="de-DE" baseline="0" dirty="0" err="1"/>
              <a:t>algorithms</a:t>
            </a:r>
            <a:r>
              <a:rPr lang="de-DE" baseline="0" dirty="0"/>
              <a:t>,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performance</a:t>
            </a:r>
            <a:r>
              <a:rPr lang="de-DE" baseline="0" dirty="0"/>
              <a:t> </a:t>
            </a:r>
            <a:r>
              <a:rPr lang="de-DE" baseline="0" dirty="0" err="1"/>
              <a:t>evaluation</a:t>
            </a:r>
            <a:r>
              <a:rPr lang="de-DE" baseline="0" dirty="0"/>
              <a:t>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/>
              <a:t>I </a:t>
            </a:r>
            <a:r>
              <a:rPr lang="de-DE" baseline="0" dirty="0" err="1"/>
              <a:t>have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necessary</a:t>
            </a:r>
            <a:r>
              <a:rPr lang="de-DE" baseline="0" dirty="0"/>
              <a:t> </a:t>
            </a:r>
            <a:r>
              <a:rPr lang="de-DE" baseline="0" dirty="0" err="1"/>
              <a:t>background</a:t>
            </a:r>
            <a:r>
              <a:rPr lang="de-DE" baseline="0" dirty="0"/>
              <a:t> in all </a:t>
            </a:r>
            <a:r>
              <a:rPr lang="de-DE" baseline="0" dirty="0" err="1"/>
              <a:t>these</a:t>
            </a:r>
            <a:r>
              <a:rPr lang="de-DE" baseline="0" dirty="0"/>
              <a:t> </a:t>
            </a:r>
            <a:r>
              <a:rPr lang="de-DE" baseline="0" dirty="0" err="1"/>
              <a:t>areas</a:t>
            </a:r>
            <a:r>
              <a:rPr lang="de-DE" baseline="0" dirty="0"/>
              <a:t>.</a:t>
            </a:r>
            <a:endParaRPr dirty="0"/>
          </a:p>
        </p:txBody>
      </p:sp>
      <p:sp>
        <p:nvSpPr>
          <p:cNvPr id="1899" name="Google Shape;1899;g60be7dcf1c_0_790:notes">
            <a:extLst>
              <a:ext uri="{FF2B5EF4-FFF2-40B4-BE49-F238E27FC236}">
                <a16:creationId xmlns:a16="http://schemas.microsoft.com/office/drawing/2014/main" id="{CD0D693A-6EBF-87DD-3DDE-6DF2D3A248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910355348"/>
      </p:ext>
    </p:extLst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7">
          <a:extLst>
            <a:ext uri="{FF2B5EF4-FFF2-40B4-BE49-F238E27FC236}">
              <a16:creationId xmlns:a16="http://schemas.microsoft.com/office/drawing/2014/main" id="{F56B59EE-3C4E-3066-891D-867D57FC8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8" name="Google Shape;1898;g60be7dcf1c_0_790:notes">
            <a:extLst>
              <a:ext uri="{FF2B5EF4-FFF2-40B4-BE49-F238E27FC236}">
                <a16:creationId xmlns:a16="http://schemas.microsoft.com/office/drawing/2014/main" id="{CF87C14A-2348-233E-1B56-E79D82D3EF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So </a:t>
            </a:r>
            <a:r>
              <a:rPr lang="de-DE" dirty="0" err="1"/>
              <a:t>far</a:t>
            </a:r>
            <a:r>
              <a:rPr lang="de-DE" dirty="0"/>
              <a:t>,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have</a:t>
            </a:r>
            <a:r>
              <a:rPr lang="de-DE" dirty="0"/>
              <a:t> just </a:t>
            </a:r>
            <a:r>
              <a:rPr lang="de-DE" dirty="0" err="1"/>
              <a:t>scratched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surface</a:t>
            </a:r>
            <a:r>
              <a:rPr lang="de-DE" baseline="0" dirty="0"/>
              <a:t>,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with</a:t>
            </a:r>
            <a:r>
              <a:rPr lang="de-DE" baseline="0" dirty="0"/>
              <a:t> </a:t>
            </a:r>
            <a:r>
              <a:rPr lang="de-DE" baseline="0" dirty="0" err="1"/>
              <a:t>this</a:t>
            </a:r>
            <a:r>
              <a:rPr lang="de-DE" baseline="0" dirty="0"/>
              <a:t> ERC </a:t>
            </a:r>
            <a:r>
              <a:rPr lang="de-DE" baseline="0" dirty="0" err="1"/>
              <a:t>project</a:t>
            </a:r>
            <a:r>
              <a:rPr lang="de-DE" baseline="0" dirty="0"/>
              <a:t>, </a:t>
            </a:r>
            <a:r>
              <a:rPr lang="de-DE" baseline="0" dirty="0" err="1"/>
              <a:t>we</a:t>
            </a:r>
            <a:r>
              <a:rPr lang="de-DE" baseline="0" dirty="0"/>
              <a:t> </a:t>
            </a:r>
            <a:r>
              <a:rPr lang="de-DE" baseline="0" dirty="0" err="1"/>
              <a:t>want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explore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rest</a:t>
            </a:r>
            <a:r>
              <a:rPr lang="de-DE" baseline="0" dirty="0"/>
              <a:t> </a:t>
            </a:r>
            <a:r>
              <a:rPr lang="de-DE" baseline="0" dirty="0" err="1"/>
              <a:t>of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iceberg</a:t>
            </a:r>
            <a:r>
              <a:rPr lang="de-DE" baseline="0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 err="1"/>
              <a:t>Indeed</a:t>
            </a:r>
            <a:r>
              <a:rPr lang="de-DE" baseline="0" dirty="0"/>
              <a:t>,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notion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self-adjusting</a:t>
            </a:r>
            <a:r>
              <a:rPr lang="de-DE" dirty="0"/>
              <a:t> </a:t>
            </a:r>
            <a:r>
              <a:rPr lang="de-DE" dirty="0" err="1"/>
              <a:t>networks</a:t>
            </a:r>
            <a:r>
              <a:rPr lang="de-DE" dirty="0"/>
              <a:t> </a:t>
            </a:r>
            <a:r>
              <a:rPr lang="de-DE" dirty="0" err="1"/>
              <a:t>opens</a:t>
            </a:r>
            <a:r>
              <a:rPr lang="de-DE" dirty="0"/>
              <a:t> </a:t>
            </a:r>
            <a:r>
              <a:rPr lang="de-DE" baseline="0" dirty="0" err="1"/>
              <a:t>are</a:t>
            </a:r>
            <a:r>
              <a:rPr lang="de-DE" baseline="0" dirty="0"/>
              <a:t> large </a:t>
            </a:r>
            <a:r>
              <a:rPr lang="de-DE" baseline="0" dirty="0" err="1"/>
              <a:t>uncharted</a:t>
            </a:r>
            <a:r>
              <a:rPr lang="de-DE" baseline="0" dirty="0"/>
              <a:t> </a:t>
            </a:r>
            <a:r>
              <a:rPr lang="de-DE" baseline="0" dirty="0" err="1"/>
              <a:t>field</a:t>
            </a:r>
            <a:r>
              <a:rPr lang="de-DE" baseline="0" dirty="0"/>
              <a:t>, </a:t>
            </a:r>
            <a:r>
              <a:rPr lang="de-DE" baseline="0" dirty="0" err="1"/>
              <a:t>with</a:t>
            </a:r>
            <a:r>
              <a:rPr lang="de-DE" baseline="0" dirty="0"/>
              <a:t> </a:t>
            </a:r>
            <a:r>
              <a:rPr lang="de-DE" baseline="0" dirty="0" err="1"/>
              <a:t>many</a:t>
            </a:r>
            <a:r>
              <a:rPr lang="de-DE" baseline="0" dirty="0"/>
              <a:t> </a:t>
            </a:r>
            <a:r>
              <a:rPr lang="de-DE" baseline="0" dirty="0" err="1"/>
              <a:t>questions</a:t>
            </a:r>
            <a:r>
              <a:rPr lang="de-DE" baseline="0" dirty="0"/>
              <a:t>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 err="1"/>
              <a:t>W</a:t>
            </a:r>
            <a:r>
              <a:rPr lang="de-DE" baseline="0" dirty="0" err="1"/>
              <a:t>e</a:t>
            </a:r>
            <a:r>
              <a:rPr lang="de-DE" baseline="0" dirty="0"/>
              <a:t> </a:t>
            </a:r>
            <a:r>
              <a:rPr lang="de-DE" baseline="0" dirty="0" err="1"/>
              <a:t>structure</a:t>
            </a:r>
            <a:r>
              <a:rPr lang="de-DE" baseline="0" dirty="0"/>
              <a:t> </a:t>
            </a:r>
            <a:r>
              <a:rPr lang="de-DE" baseline="0" dirty="0" err="1"/>
              <a:t>our</a:t>
            </a:r>
            <a:r>
              <a:rPr lang="de-DE" baseline="0" dirty="0"/>
              <a:t> </a:t>
            </a:r>
            <a:r>
              <a:rPr lang="de-DE" baseline="0" dirty="0" err="1"/>
              <a:t>project</a:t>
            </a:r>
            <a:r>
              <a:rPr lang="de-DE" baseline="0" dirty="0"/>
              <a:t> </a:t>
            </a:r>
            <a:r>
              <a:rPr lang="de-DE" baseline="0" dirty="0" err="1"/>
              <a:t>around</a:t>
            </a:r>
            <a:r>
              <a:rPr lang="de-DE" baseline="0" dirty="0"/>
              <a:t> </a:t>
            </a:r>
            <a:r>
              <a:rPr lang="de-DE" baseline="0" dirty="0" err="1"/>
              <a:t>models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metrics</a:t>
            </a:r>
            <a:r>
              <a:rPr lang="de-DE" baseline="0" dirty="0"/>
              <a:t>, </a:t>
            </a:r>
            <a:r>
              <a:rPr lang="de-DE" baseline="0" dirty="0" err="1"/>
              <a:t>algorithms</a:t>
            </a:r>
            <a:r>
              <a:rPr lang="de-DE" baseline="0" dirty="0"/>
              <a:t>, fault-</a:t>
            </a:r>
            <a:r>
              <a:rPr lang="de-DE" baseline="0" dirty="0" err="1"/>
              <a:t>tolerance</a:t>
            </a:r>
            <a:r>
              <a:rPr lang="de-DE" baseline="0" dirty="0"/>
              <a:t>, </a:t>
            </a:r>
            <a:r>
              <a:rPr lang="de-DE" baseline="0" dirty="0" err="1"/>
              <a:t>integration</a:t>
            </a:r>
            <a:r>
              <a:rPr lang="de-DE" baseline="0" dirty="0"/>
              <a:t> </a:t>
            </a:r>
            <a:r>
              <a:rPr lang="de-DE" baseline="0" dirty="0" err="1"/>
              <a:t>into</a:t>
            </a:r>
            <a:r>
              <a:rPr lang="de-DE" baseline="0" dirty="0"/>
              <a:t> </a:t>
            </a:r>
            <a:r>
              <a:rPr lang="de-DE" baseline="0" dirty="0" err="1"/>
              <a:t>higher</a:t>
            </a:r>
            <a:r>
              <a:rPr lang="de-DE" baseline="0" dirty="0"/>
              <a:t> </a:t>
            </a:r>
            <a:r>
              <a:rPr lang="de-DE" baseline="0" dirty="0" err="1"/>
              <a:t>layers</a:t>
            </a:r>
            <a:r>
              <a:rPr lang="de-DE" baseline="0" dirty="0"/>
              <a:t>,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case</a:t>
            </a:r>
            <a:r>
              <a:rPr lang="de-DE" baseline="0" dirty="0"/>
              <a:t> </a:t>
            </a:r>
            <a:r>
              <a:rPr lang="de-DE" baseline="0" dirty="0" err="1"/>
              <a:t>studies</a:t>
            </a:r>
            <a:r>
              <a:rPr lang="de-DE" baseline="0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/>
              <a:t>In </a:t>
            </a:r>
            <a:r>
              <a:rPr lang="de-DE" baseline="0" dirty="0" err="1"/>
              <a:t>particular</a:t>
            </a:r>
            <a:r>
              <a:rPr lang="de-DE" baseline="0" dirty="0"/>
              <a:t>, </a:t>
            </a:r>
            <a:r>
              <a:rPr lang="de-DE" baseline="0" dirty="0" err="1"/>
              <a:t>we</a:t>
            </a:r>
            <a:r>
              <a:rPr lang="de-DE" baseline="0" dirty="0"/>
              <a:t> will </a:t>
            </a:r>
            <a:r>
              <a:rPr lang="de-DE" baseline="0" dirty="0" err="1"/>
              <a:t>explore</a:t>
            </a:r>
            <a:r>
              <a:rPr lang="de-DE" baseline="0" dirty="0"/>
              <a:t> </a:t>
            </a:r>
            <a:r>
              <a:rPr lang="de-DE" baseline="0" dirty="0" err="1"/>
              <a:t>metrics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algorithms</a:t>
            </a:r>
            <a:r>
              <a:rPr lang="de-DE" baseline="0" dirty="0"/>
              <a:t> </a:t>
            </a:r>
            <a:r>
              <a:rPr lang="de-DE" baseline="0" dirty="0" err="1"/>
              <a:t>for</a:t>
            </a:r>
            <a:r>
              <a:rPr lang="de-DE" baseline="0" dirty="0"/>
              <a:t> </a:t>
            </a:r>
            <a:r>
              <a:rPr lang="de-DE" baseline="0" dirty="0" err="1"/>
              <a:t>by</a:t>
            </a:r>
            <a:r>
              <a:rPr lang="de-DE" baseline="0" dirty="0"/>
              <a:t> </a:t>
            </a:r>
            <a:r>
              <a:rPr lang="de-DE" baseline="0" dirty="0" err="1"/>
              <a:t>how</a:t>
            </a:r>
            <a:r>
              <a:rPr lang="de-DE" baseline="0" dirty="0"/>
              <a:t> </a:t>
            </a:r>
            <a:r>
              <a:rPr lang="de-DE" baseline="0" dirty="0" err="1"/>
              <a:t>much</a:t>
            </a:r>
            <a:r>
              <a:rPr lang="de-DE" baseline="0" dirty="0"/>
              <a:t> </a:t>
            </a:r>
            <a:r>
              <a:rPr lang="de-DE" baseline="0" dirty="0" err="1"/>
              <a:t>load</a:t>
            </a:r>
            <a:r>
              <a:rPr lang="de-DE" baseline="0" dirty="0"/>
              <a:t> </a:t>
            </a:r>
            <a:r>
              <a:rPr lang="de-DE" baseline="0" dirty="0" err="1"/>
              <a:t>can</a:t>
            </a:r>
            <a:r>
              <a:rPr lang="de-DE" baseline="0" dirty="0"/>
              <a:t> </a:t>
            </a:r>
            <a:r>
              <a:rPr lang="de-DE" baseline="0" dirty="0" err="1"/>
              <a:t>be</a:t>
            </a:r>
            <a:r>
              <a:rPr lang="de-DE" baseline="0" dirty="0"/>
              <a:t> </a:t>
            </a:r>
            <a:r>
              <a:rPr lang="de-DE" baseline="0" dirty="0" err="1"/>
              <a:t>lowered</a:t>
            </a:r>
            <a:r>
              <a:rPr lang="de-DE" baseline="0" dirty="0"/>
              <a:t>, </a:t>
            </a:r>
            <a:r>
              <a:rPr lang="de-DE" baseline="0" dirty="0" err="1"/>
              <a:t>energy</a:t>
            </a:r>
            <a:r>
              <a:rPr lang="de-DE" baseline="0" dirty="0"/>
              <a:t> </a:t>
            </a:r>
            <a:r>
              <a:rPr lang="de-DE" baseline="0" dirty="0" err="1"/>
              <a:t>reduced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quality</a:t>
            </a:r>
            <a:r>
              <a:rPr lang="de-DE" baseline="0" dirty="0"/>
              <a:t>-</a:t>
            </a:r>
            <a:r>
              <a:rPr lang="de-DE" baseline="0" dirty="0" err="1"/>
              <a:t>of</a:t>
            </a:r>
            <a:r>
              <a:rPr lang="de-DE" baseline="0" dirty="0"/>
              <a:t>-service </a:t>
            </a:r>
            <a:r>
              <a:rPr lang="de-DE" baseline="0" dirty="0" err="1"/>
              <a:t>improved</a:t>
            </a:r>
            <a:r>
              <a:rPr lang="de-DE" baseline="0" dirty="0"/>
              <a:t> in </a:t>
            </a:r>
            <a:r>
              <a:rPr lang="de-DE" baseline="0" dirty="0" err="1"/>
              <a:t>selfadjusting</a:t>
            </a:r>
            <a:r>
              <a:rPr lang="de-DE" baseline="0" dirty="0"/>
              <a:t> </a:t>
            </a:r>
            <a:r>
              <a:rPr lang="de-DE" baseline="0" dirty="0" err="1"/>
              <a:t>networks</a:t>
            </a:r>
            <a:r>
              <a:rPr lang="de-DE" baseline="0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 err="1"/>
              <a:t>We</a:t>
            </a:r>
            <a:r>
              <a:rPr lang="de-DE" baseline="0" dirty="0"/>
              <a:t> also </a:t>
            </a:r>
            <a:r>
              <a:rPr lang="de-DE" baseline="0" dirty="0" err="1"/>
              <a:t>need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develop</a:t>
            </a:r>
            <a:r>
              <a:rPr lang="de-DE" baseline="0" dirty="0"/>
              <a:t> </a:t>
            </a:r>
            <a:r>
              <a:rPr lang="de-DE" baseline="0" dirty="0" err="1"/>
              <a:t>models</a:t>
            </a:r>
            <a:r>
              <a:rPr lang="de-DE" baseline="0" dirty="0"/>
              <a:t> </a:t>
            </a:r>
            <a:r>
              <a:rPr lang="de-DE" baseline="0" dirty="0" err="1"/>
              <a:t>for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tradeoff</a:t>
            </a:r>
            <a:r>
              <a:rPr lang="de-DE" baseline="0" dirty="0"/>
              <a:t> </a:t>
            </a:r>
            <a:r>
              <a:rPr lang="de-DE" baseline="0" dirty="0" err="1"/>
              <a:t>between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benefits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costs</a:t>
            </a:r>
            <a:r>
              <a:rPr lang="de-DE" baseline="0" dirty="0"/>
              <a:t> </a:t>
            </a:r>
            <a:r>
              <a:rPr lang="de-DE" baseline="0" dirty="0" err="1"/>
              <a:t>of</a:t>
            </a:r>
            <a:r>
              <a:rPr lang="de-DE" baseline="0" dirty="0"/>
              <a:t> </a:t>
            </a:r>
            <a:r>
              <a:rPr lang="de-DE" baseline="0" dirty="0" err="1"/>
              <a:t>reconfigurations</a:t>
            </a:r>
            <a:r>
              <a:rPr lang="de-DE" baseline="0" dirty="0"/>
              <a:t> </a:t>
            </a:r>
            <a:r>
              <a:rPr lang="de-DE" baseline="0" dirty="0" err="1"/>
              <a:t>over</a:t>
            </a:r>
            <a:r>
              <a:rPr lang="de-DE" baseline="0" dirty="0"/>
              <a:t> time.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 err="1"/>
              <a:t>We</a:t>
            </a:r>
            <a:r>
              <a:rPr lang="de-DE" baseline="0" dirty="0"/>
              <a:t> also </a:t>
            </a:r>
            <a:r>
              <a:rPr lang="de-DE" baseline="0" dirty="0" err="1"/>
              <a:t>study</a:t>
            </a:r>
            <a:r>
              <a:rPr lang="de-DE" baseline="0" dirty="0"/>
              <a:t> </a:t>
            </a:r>
            <a:r>
              <a:rPr lang="de-DE" baseline="0" dirty="0" err="1"/>
              <a:t>how</a:t>
            </a:r>
            <a:r>
              <a:rPr lang="de-DE" baseline="0" dirty="0"/>
              <a:t> </a:t>
            </a:r>
            <a:r>
              <a:rPr lang="de-DE" baseline="0" dirty="0" err="1"/>
              <a:t>self-adjusting</a:t>
            </a:r>
            <a:r>
              <a:rPr lang="de-DE" baseline="0" dirty="0"/>
              <a:t> </a:t>
            </a:r>
            <a:r>
              <a:rPr lang="de-DE" baseline="0" dirty="0" err="1"/>
              <a:t>networks</a:t>
            </a:r>
            <a:r>
              <a:rPr lang="de-DE" baseline="0" dirty="0"/>
              <a:t> </a:t>
            </a:r>
            <a:r>
              <a:rPr lang="de-DE" baseline="0" dirty="0" err="1"/>
              <a:t>can</a:t>
            </a:r>
            <a:r>
              <a:rPr lang="de-DE" baseline="0" dirty="0"/>
              <a:t> </a:t>
            </a:r>
            <a:r>
              <a:rPr lang="de-DE" baseline="0" dirty="0" err="1"/>
              <a:t>be</a:t>
            </a:r>
            <a:r>
              <a:rPr lang="de-DE" baseline="0" dirty="0"/>
              <a:t> </a:t>
            </a:r>
            <a:r>
              <a:rPr lang="de-DE" baseline="0" dirty="0" err="1"/>
              <a:t>used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improve</a:t>
            </a:r>
            <a:r>
              <a:rPr lang="de-DE" baseline="0" dirty="0"/>
              <a:t> fault-</a:t>
            </a:r>
            <a:r>
              <a:rPr lang="de-DE" baseline="0" dirty="0" err="1"/>
              <a:t>tolerance</a:t>
            </a:r>
            <a:r>
              <a:rPr lang="de-DE" baseline="0" dirty="0"/>
              <a:t>, </a:t>
            </a:r>
            <a:r>
              <a:rPr lang="de-DE" baseline="0" dirty="0" err="1"/>
              <a:t>what</a:t>
            </a:r>
            <a:r>
              <a:rPr lang="de-DE" baseline="0" dirty="0"/>
              <a:t> </a:t>
            </a:r>
            <a:r>
              <a:rPr lang="de-DE" baseline="0" dirty="0" err="1"/>
              <a:t>is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impact</a:t>
            </a:r>
            <a:r>
              <a:rPr lang="de-DE" baseline="0" dirty="0"/>
              <a:t> on </a:t>
            </a:r>
            <a:r>
              <a:rPr lang="de-DE" baseline="0" dirty="0" err="1"/>
              <a:t>other</a:t>
            </a:r>
            <a:r>
              <a:rPr lang="de-DE" baseline="0" dirty="0"/>
              <a:t> </a:t>
            </a:r>
            <a:r>
              <a:rPr lang="de-DE" baseline="0" dirty="0" err="1"/>
              <a:t>layers</a:t>
            </a:r>
            <a:r>
              <a:rPr lang="de-DE" baseline="0" dirty="0"/>
              <a:t>,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how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apply</a:t>
            </a:r>
            <a:r>
              <a:rPr lang="de-DE" baseline="0" dirty="0"/>
              <a:t> </a:t>
            </a:r>
            <a:r>
              <a:rPr lang="de-DE" baseline="0" dirty="0" err="1"/>
              <a:t>our</a:t>
            </a:r>
            <a:r>
              <a:rPr lang="de-DE" baseline="0" dirty="0"/>
              <a:t> </a:t>
            </a:r>
            <a:r>
              <a:rPr lang="de-DE" baseline="0" dirty="0" err="1"/>
              <a:t>solutions</a:t>
            </a:r>
            <a:r>
              <a:rPr lang="de-DE" baseline="0" dirty="0"/>
              <a:t> in a </a:t>
            </a:r>
            <a:r>
              <a:rPr lang="de-DE" baseline="0" dirty="0" err="1"/>
              <a:t>specific</a:t>
            </a:r>
            <a:r>
              <a:rPr lang="de-DE" baseline="0" dirty="0"/>
              <a:t> </a:t>
            </a:r>
            <a:r>
              <a:rPr lang="de-DE" baseline="0" dirty="0" err="1"/>
              <a:t>case</a:t>
            </a:r>
            <a:r>
              <a:rPr lang="de-DE" baseline="0" dirty="0"/>
              <a:t> </a:t>
            </a:r>
            <a:r>
              <a:rPr lang="de-DE" baseline="0" dirty="0" err="1"/>
              <a:t>study</a:t>
            </a:r>
            <a:r>
              <a:rPr lang="de-DE" baseline="0" dirty="0"/>
              <a:t>, e.g., </a:t>
            </a:r>
            <a:r>
              <a:rPr lang="de-DE" baseline="0" dirty="0" err="1"/>
              <a:t>how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develop</a:t>
            </a:r>
            <a:r>
              <a:rPr lang="de-DE" baseline="0" dirty="0"/>
              <a:t> a </a:t>
            </a:r>
            <a:r>
              <a:rPr lang="de-DE" baseline="0" dirty="0" err="1"/>
              <a:t>scalable</a:t>
            </a:r>
            <a:r>
              <a:rPr lang="de-DE" baseline="0" dirty="0"/>
              <a:t> </a:t>
            </a:r>
            <a:r>
              <a:rPr lang="de-DE" baseline="0" dirty="0" err="1"/>
              <a:t>control</a:t>
            </a:r>
            <a:r>
              <a:rPr lang="de-DE" baseline="0" dirty="0"/>
              <a:t> plane.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/>
              <a:t>This </a:t>
            </a:r>
            <a:r>
              <a:rPr lang="de-DE" baseline="0" dirty="0" err="1"/>
              <a:t>project</a:t>
            </a:r>
            <a:r>
              <a:rPr lang="de-DE" baseline="0" dirty="0"/>
              <a:t> </a:t>
            </a:r>
            <a:r>
              <a:rPr lang="de-DE" baseline="0" dirty="0" err="1"/>
              <a:t>hence</a:t>
            </a:r>
            <a:r>
              <a:rPr lang="de-DE" baseline="0" dirty="0"/>
              <a:t> </a:t>
            </a:r>
            <a:r>
              <a:rPr lang="de-DE" baseline="0" dirty="0" err="1"/>
              <a:t>requires</a:t>
            </a:r>
            <a:r>
              <a:rPr lang="de-DE" baseline="0" dirty="0"/>
              <a:t> </a:t>
            </a:r>
            <a:r>
              <a:rPr lang="de-DE" baseline="0" dirty="0" err="1"/>
              <a:t>expertises</a:t>
            </a:r>
            <a:r>
              <a:rPr lang="de-DE" baseline="0" dirty="0"/>
              <a:t> </a:t>
            </a:r>
            <a:r>
              <a:rPr lang="de-DE" baseline="0" dirty="0" err="1"/>
              <a:t>from</a:t>
            </a:r>
            <a:r>
              <a:rPr lang="de-DE" baseline="0" dirty="0"/>
              <a:t> different </a:t>
            </a:r>
            <a:r>
              <a:rPr lang="de-DE" baseline="0" dirty="0" err="1"/>
              <a:t>fields</a:t>
            </a:r>
            <a:r>
              <a:rPr lang="de-DE" baseline="0" dirty="0"/>
              <a:t>, </a:t>
            </a:r>
            <a:r>
              <a:rPr lang="de-DE" baseline="0" dirty="0" err="1"/>
              <a:t>from</a:t>
            </a:r>
            <a:r>
              <a:rPr lang="de-DE" baseline="0" dirty="0"/>
              <a:t> </a:t>
            </a:r>
            <a:r>
              <a:rPr lang="de-DE" baseline="0" dirty="0" err="1"/>
              <a:t>networking</a:t>
            </a:r>
            <a:r>
              <a:rPr lang="de-DE" baseline="0" dirty="0"/>
              <a:t>, </a:t>
            </a:r>
            <a:r>
              <a:rPr lang="de-DE" baseline="0" dirty="0" err="1"/>
              <a:t>over</a:t>
            </a:r>
            <a:r>
              <a:rPr lang="de-DE" baseline="0" dirty="0"/>
              <a:t> </a:t>
            </a:r>
            <a:r>
              <a:rPr lang="de-DE" baseline="0" dirty="0" err="1"/>
              <a:t>distributed</a:t>
            </a:r>
            <a:r>
              <a:rPr lang="de-DE" baseline="0" dirty="0"/>
              <a:t> </a:t>
            </a:r>
            <a:r>
              <a:rPr lang="de-DE" baseline="0" dirty="0" err="1"/>
              <a:t>systems</a:t>
            </a:r>
            <a:r>
              <a:rPr lang="de-DE" baseline="0" dirty="0"/>
              <a:t>, </a:t>
            </a:r>
            <a:r>
              <a:rPr lang="de-DE" baseline="0" dirty="0" err="1"/>
              <a:t>algorithms</a:t>
            </a:r>
            <a:r>
              <a:rPr lang="de-DE" baseline="0" dirty="0"/>
              <a:t>,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performance</a:t>
            </a:r>
            <a:r>
              <a:rPr lang="de-DE" baseline="0" dirty="0"/>
              <a:t> </a:t>
            </a:r>
            <a:r>
              <a:rPr lang="de-DE" baseline="0" dirty="0" err="1"/>
              <a:t>evaluation</a:t>
            </a:r>
            <a:r>
              <a:rPr lang="de-DE" baseline="0" dirty="0"/>
              <a:t>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/>
              <a:t>I </a:t>
            </a:r>
            <a:r>
              <a:rPr lang="de-DE" baseline="0" dirty="0" err="1"/>
              <a:t>have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necessary</a:t>
            </a:r>
            <a:r>
              <a:rPr lang="de-DE" baseline="0" dirty="0"/>
              <a:t> </a:t>
            </a:r>
            <a:r>
              <a:rPr lang="de-DE" baseline="0" dirty="0" err="1"/>
              <a:t>background</a:t>
            </a:r>
            <a:r>
              <a:rPr lang="de-DE" baseline="0" dirty="0"/>
              <a:t> in all </a:t>
            </a:r>
            <a:r>
              <a:rPr lang="de-DE" baseline="0" dirty="0" err="1"/>
              <a:t>these</a:t>
            </a:r>
            <a:r>
              <a:rPr lang="de-DE" baseline="0" dirty="0"/>
              <a:t> </a:t>
            </a:r>
            <a:r>
              <a:rPr lang="de-DE" baseline="0" dirty="0" err="1"/>
              <a:t>areas</a:t>
            </a:r>
            <a:r>
              <a:rPr lang="de-DE" baseline="0" dirty="0"/>
              <a:t>.</a:t>
            </a:r>
            <a:endParaRPr dirty="0"/>
          </a:p>
        </p:txBody>
      </p:sp>
      <p:sp>
        <p:nvSpPr>
          <p:cNvPr id="1899" name="Google Shape;1899;g60be7dcf1c_0_790:notes">
            <a:extLst>
              <a:ext uri="{FF2B5EF4-FFF2-40B4-BE49-F238E27FC236}">
                <a16:creationId xmlns:a16="http://schemas.microsoft.com/office/drawing/2014/main" id="{07B56DEA-3B8B-8177-C80C-0CC681143E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911464537"/>
      </p:ext>
    </p:extLst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7">
          <a:extLst>
            <a:ext uri="{FF2B5EF4-FFF2-40B4-BE49-F238E27FC236}">
              <a16:creationId xmlns:a16="http://schemas.microsoft.com/office/drawing/2014/main" id="{1F9DA1C0-18C0-2691-5F6D-E8C5D0C13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8" name="Google Shape;1898;g60be7dcf1c_0_790:notes">
            <a:extLst>
              <a:ext uri="{FF2B5EF4-FFF2-40B4-BE49-F238E27FC236}">
                <a16:creationId xmlns:a16="http://schemas.microsoft.com/office/drawing/2014/main" id="{0DC8A154-B4A6-67F1-FCCE-CE45AD5376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So </a:t>
            </a:r>
            <a:r>
              <a:rPr lang="de-DE" dirty="0" err="1"/>
              <a:t>far</a:t>
            </a:r>
            <a:r>
              <a:rPr lang="de-DE" dirty="0"/>
              <a:t>,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have</a:t>
            </a:r>
            <a:r>
              <a:rPr lang="de-DE" dirty="0"/>
              <a:t> just </a:t>
            </a:r>
            <a:r>
              <a:rPr lang="de-DE" dirty="0" err="1"/>
              <a:t>scratched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surface</a:t>
            </a:r>
            <a:r>
              <a:rPr lang="de-DE" baseline="0" dirty="0"/>
              <a:t>,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with</a:t>
            </a:r>
            <a:r>
              <a:rPr lang="de-DE" baseline="0" dirty="0"/>
              <a:t> </a:t>
            </a:r>
            <a:r>
              <a:rPr lang="de-DE" baseline="0" dirty="0" err="1"/>
              <a:t>this</a:t>
            </a:r>
            <a:r>
              <a:rPr lang="de-DE" baseline="0" dirty="0"/>
              <a:t> ERC </a:t>
            </a:r>
            <a:r>
              <a:rPr lang="de-DE" baseline="0" dirty="0" err="1"/>
              <a:t>project</a:t>
            </a:r>
            <a:r>
              <a:rPr lang="de-DE" baseline="0" dirty="0"/>
              <a:t>, </a:t>
            </a:r>
            <a:r>
              <a:rPr lang="de-DE" baseline="0" dirty="0" err="1"/>
              <a:t>we</a:t>
            </a:r>
            <a:r>
              <a:rPr lang="de-DE" baseline="0" dirty="0"/>
              <a:t> </a:t>
            </a:r>
            <a:r>
              <a:rPr lang="de-DE" baseline="0" dirty="0" err="1"/>
              <a:t>want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explore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rest</a:t>
            </a:r>
            <a:r>
              <a:rPr lang="de-DE" baseline="0" dirty="0"/>
              <a:t> </a:t>
            </a:r>
            <a:r>
              <a:rPr lang="de-DE" baseline="0" dirty="0" err="1"/>
              <a:t>of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iceberg</a:t>
            </a:r>
            <a:r>
              <a:rPr lang="de-DE" baseline="0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 err="1"/>
              <a:t>Indeed</a:t>
            </a:r>
            <a:r>
              <a:rPr lang="de-DE" baseline="0" dirty="0"/>
              <a:t>,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notion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self-adjusting</a:t>
            </a:r>
            <a:r>
              <a:rPr lang="de-DE" dirty="0"/>
              <a:t> </a:t>
            </a:r>
            <a:r>
              <a:rPr lang="de-DE" dirty="0" err="1"/>
              <a:t>networks</a:t>
            </a:r>
            <a:r>
              <a:rPr lang="de-DE" dirty="0"/>
              <a:t> </a:t>
            </a:r>
            <a:r>
              <a:rPr lang="de-DE" dirty="0" err="1"/>
              <a:t>opens</a:t>
            </a:r>
            <a:r>
              <a:rPr lang="de-DE" dirty="0"/>
              <a:t> </a:t>
            </a:r>
            <a:r>
              <a:rPr lang="de-DE" baseline="0" dirty="0" err="1"/>
              <a:t>are</a:t>
            </a:r>
            <a:r>
              <a:rPr lang="de-DE" baseline="0" dirty="0"/>
              <a:t> large </a:t>
            </a:r>
            <a:r>
              <a:rPr lang="de-DE" baseline="0" dirty="0" err="1"/>
              <a:t>uncharted</a:t>
            </a:r>
            <a:r>
              <a:rPr lang="de-DE" baseline="0" dirty="0"/>
              <a:t> </a:t>
            </a:r>
            <a:r>
              <a:rPr lang="de-DE" baseline="0" dirty="0" err="1"/>
              <a:t>field</a:t>
            </a:r>
            <a:r>
              <a:rPr lang="de-DE" baseline="0" dirty="0"/>
              <a:t>, </a:t>
            </a:r>
            <a:r>
              <a:rPr lang="de-DE" baseline="0" dirty="0" err="1"/>
              <a:t>with</a:t>
            </a:r>
            <a:r>
              <a:rPr lang="de-DE" baseline="0" dirty="0"/>
              <a:t> </a:t>
            </a:r>
            <a:r>
              <a:rPr lang="de-DE" baseline="0" dirty="0" err="1"/>
              <a:t>many</a:t>
            </a:r>
            <a:r>
              <a:rPr lang="de-DE" baseline="0" dirty="0"/>
              <a:t> </a:t>
            </a:r>
            <a:r>
              <a:rPr lang="de-DE" baseline="0" dirty="0" err="1"/>
              <a:t>questions</a:t>
            </a:r>
            <a:r>
              <a:rPr lang="de-DE" baseline="0" dirty="0"/>
              <a:t>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 err="1"/>
              <a:t>W</a:t>
            </a:r>
            <a:r>
              <a:rPr lang="de-DE" baseline="0" dirty="0" err="1"/>
              <a:t>e</a:t>
            </a:r>
            <a:r>
              <a:rPr lang="de-DE" baseline="0" dirty="0"/>
              <a:t> </a:t>
            </a:r>
            <a:r>
              <a:rPr lang="de-DE" baseline="0" dirty="0" err="1"/>
              <a:t>structure</a:t>
            </a:r>
            <a:r>
              <a:rPr lang="de-DE" baseline="0" dirty="0"/>
              <a:t> </a:t>
            </a:r>
            <a:r>
              <a:rPr lang="de-DE" baseline="0" dirty="0" err="1"/>
              <a:t>our</a:t>
            </a:r>
            <a:r>
              <a:rPr lang="de-DE" baseline="0" dirty="0"/>
              <a:t> </a:t>
            </a:r>
            <a:r>
              <a:rPr lang="de-DE" baseline="0" dirty="0" err="1"/>
              <a:t>project</a:t>
            </a:r>
            <a:r>
              <a:rPr lang="de-DE" baseline="0" dirty="0"/>
              <a:t> </a:t>
            </a:r>
            <a:r>
              <a:rPr lang="de-DE" baseline="0" dirty="0" err="1"/>
              <a:t>around</a:t>
            </a:r>
            <a:r>
              <a:rPr lang="de-DE" baseline="0" dirty="0"/>
              <a:t> </a:t>
            </a:r>
            <a:r>
              <a:rPr lang="de-DE" baseline="0" dirty="0" err="1"/>
              <a:t>models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metrics</a:t>
            </a:r>
            <a:r>
              <a:rPr lang="de-DE" baseline="0" dirty="0"/>
              <a:t>, </a:t>
            </a:r>
            <a:r>
              <a:rPr lang="de-DE" baseline="0" dirty="0" err="1"/>
              <a:t>algorithms</a:t>
            </a:r>
            <a:r>
              <a:rPr lang="de-DE" baseline="0" dirty="0"/>
              <a:t>, fault-</a:t>
            </a:r>
            <a:r>
              <a:rPr lang="de-DE" baseline="0" dirty="0" err="1"/>
              <a:t>tolerance</a:t>
            </a:r>
            <a:r>
              <a:rPr lang="de-DE" baseline="0" dirty="0"/>
              <a:t>, </a:t>
            </a:r>
            <a:r>
              <a:rPr lang="de-DE" baseline="0" dirty="0" err="1"/>
              <a:t>integration</a:t>
            </a:r>
            <a:r>
              <a:rPr lang="de-DE" baseline="0" dirty="0"/>
              <a:t> </a:t>
            </a:r>
            <a:r>
              <a:rPr lang="de-DE" baseline="0" dirty="0" err="1"/>
              <a:t>into</a:t>
            </a:r>
            <a:r>
              <a:rPr lang="de-DE" baseline="0" dirty="0"/>
              <a:t> </a:t>
            </a:r>
            <a:r>
              <a:rPr lang="de-DE" baseline="0" dirty="0" err="1"/>
              <a:t>higher</a:t>
            </a:r>
            <a:r>
              <a:rPr lang="de-DE" baseline="0" dirty="0"/>
              <a:t> </a:t>
            </a:r>
            <a:r>
              <a:rPr lang="de-DE" baseline="0" dirty="0" err="1"/>
              <a:t>layers</a:t>
            </a:r>
            <a:r>
              <a:rPr lang="de-DE" baseline="0" dirty="0"/>
              <a:t>,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case</a:t>
            </a:r>
            <a:r>
              <a:rPr lang="de-DE" baseline="0" dirty="0"/>
              <a:t> </a:t>
            </a:r>
            <a:r>
              <a:rPr lang="de-DE" baseline="0" dirty="0" err="1"/>
              <a:t>studies</a:t>
            </a:r>
            <a:r>
              <a:rPr lang="de-DE" baseline="0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/>
              <a:t>In </a:t>
            </a:r>
            <a:r>
              <a:rPr lang="de-DE" baseline="0" dirty="0" err="1"/>
              <a:t>particular</a:t>
            </a:r>
            <a:r>
              <a:rPr lang="de-DE" baseline="0" dirty="0"/>
              <a:t>, </a:t>
            </a:r>
            <a:r>
              <a:rPr lang="de-DE" baseline="0" dirty="0" err="1"/>
              <a:t>we</a:t>
            </a:r>
            <a:r>
              <a:rPr lang="de-DE" baseline="0" dirty="0"/>
              <a:t> will </a:t>
            </a:r>
            <a:r>
              <a:rPr lang="de-DE" baseline="0" dirty="0" err="1"/>
              <a:t>explore</a:t>
            </a:r>
            <a:r>
              <a:rPr lang="de-DE" baseline="0" dirty="0"/>
              <a:t> </a:t>
            </a:r>
            <a:r>
              <a:rPr lang="de-DE" baseline="0" dirty="0" err="1"/>
              <a:t>metrics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algorithms</a:t>
            </a:r>
            <a:r>
              <a:rPr lang="de-DE" baseline="0" dirty="0"/>
              <a:t> </a:t>
            </a:r>
            <a:r>
              <a:rPr lang="de-DE" baseline="0" dirty="0" err="1"/>
              <a:t>for</a:t>
            </a:r>
            <a:r>
              <a:rPr lang="de-DE" baseline="0" dirty="0"/>
              <a:t> </a:t>
            </a:r>
            <a:r>
              <a:rPr lang="de-DE" baseline="0" dirty="0" err="1"/>
              <a:t>by</a:t>
            </a:r>
            <a:r>
              <a:rPr lang="de-DE" baseline="0" dirty="0"/>
              <a:t> </a:t>
            </a:r>
            <a:r>
              <a:rPr lang="de-DE" baseline="0" dirty="0" err="1"/>
              <a:t>how</a:t>
            </a:r>
            <a:r>
              <a:rPr lang="de-DE" baseline="0" dirty="0"/>
              <a:t> </a:t>
            </a:r>
            <a:r>
              <a:rPr lang="de-DE" baseline="0" dirty="0" err="1"/>
              <a:t>much</a:t>
            </a:r>
            <a:r>
              <a:rPr lang="de-DE" baseline="0" dirty="0"/>
              <a:t> </a:t>
            </a:r>
            <a:r>
              <a:rPr lang="de-DE" baseline="0" dirty="0" err="1"/>
              <a:t>load</a:t>
            </a:r>
            <a:r>
              <a:rPr lang="de-DE" baseline="0" dirty="0"/>
              <a:t> </a:t>
            </a:r>
            <a:r>
              <a:rPr lang="de-DE" baseline="0" dirty="0" err="1"/>
              <a:t>can</a:t>
            </a:r>
            <a:r>
              <a:rPr lang="de-DE" baseline="0" dirty="0"/>
              <a:t> </a:t>
            </a:r>
            <a:r>
              <a:rPr lang="de-DE" baseline="0" dirty="0" err="1"/>
              <a:t>be</a:t>
            </a:r>
            <a:r>
              <a:rPr lang="de-DE" baseline="0" dirty="0"/>
              <a:t> </a:t>
            </a:r>
            <a:r>
              <a:rPr lang="de-DE" baseline="0" dirty="0" err="1"/>
              <a:t>lowered</a:t>
            </a:r>
            <a:r>
              <a:rPr lang="de-DE" baseline="0" dirty="0"/>
              <a:t>, </a:t>
            </a:r>
            <a:r>
              <a:rPr lang="de-DE" baseline="0" dirty="0" err="1"/>
              <a:t>energy</a:t>
            </a:r>
            <a:r>
              <a:rPr lang="de-DE" baseline="0" dirty="0"/>
              <a:t> </a:t>
            </a:r>
            <a:r>
              <a:rPr lang="de-DE" baseline="0" dirty="0" err="1"/>
              <a:t>reduced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quality</a:t>
            </a:r>
            <a:r>
              <a:rPr lang="de-DE" baseline="0" dirty="0"/>
              <a:t>-</a:t>
            </a:r>
            <a:r>
              <a:rPr lang="de-DE" baseline="0" dirty="0" err="1"/>
              <a:t>of</a:t>
            </a:r>
            <a:r>
              <a:rPr lang="de-DE" baseline="0" dirty="0"/>
              <a:t>-service </a:t>
            </a:r>
            <a:r>
              <a:rPr lang="de-DE" baseline="0" dirty="0" err="1"/>
              <a:t>improved</a:t>
            </a:r>
            <a:r>
              <a:rPr lang="de-DE" baseline="0" dirty="0"/>
              <a:t> in </a:t>
            </a:r>
            <a:r>
              <a:rPr lang="de-DE" baseline="0" dirty="0" err="1"/>
              <a:t>selfadjusting</a:t>
            </a:r>
            <a:r>
              <a:rPr lang="de-DE" baseline="0" dirty="0"/>
              <a:t> </a:t>
            </a:r>
            <a:r>
              <a:rPr lang="de-DE" baseline="0" dirty="0" err="1"/>
              <a:t>networks</a:t>
            </a:r>
            <a:r>
              <a:rPr lang="de-DE" baseline="0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 err="1"/>
              <a:t>We</a:t>
            </a:r>
            <a:r>
              <a:rPr lang="de-DE" baseline="0" dirty="0"/>
              <a:t> also </a:t>
            </a:r>
            <a:r>
              <a:rPr lang="de-DE" baseline="0" dirty="0" err="1"/>
              <a:t>need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develop</a:t>
            </a:r>
            <a:r>
              <a:rPr lang="de-DE" baseline="0" dirty="0"/>
              <a:t> </a:t>
            </a:r>
            <a:r>
              <a:rPr lang="de-DE" baseline="0" dirty="0" err="1"/>
              <a:t>models</a:t>
            </a:r>
            <a:r>
              <a:rPr lang="de-DE" baseline="0" dirty="0"/>
              <a:t> </a:t>
            </a:r>
            <a:r>
              <a:rPr lang="de-DE" baseline="0" dirty="0" err="1"/>
              <a:t>for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tradeoff</a:t>
            </a:r>
            <a:r>
              <a:rPr lang="de-DE" baseline="0" dirty="0"/>
              <a:t> </a:t>
            </a:r>
            <a:r>
              <a:rPr lang="de-DE" baseline="0" dirty="0" err="1"/>
              <a:t>between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benefits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costs</a:t>
            </a:r>
            <a:r>
              <a:rPr lang="de-DE" baseline="0" dirty="0"/>
              <a:t> </a:t>
            </a:r>
            <a:r>
              <a:rPr lang="de-DE" baseline="0" dirty="0" err="1"/>
              <a:t>of</a:t>
            </a:r>
            <a:r>
              <a:rPr lang="de-DE" baseline="0" dirty="0"/>
              <a:t> </a:t>
            </a:r>
            <a:r>
              <a:rPr lang="de-DE" baseline="0" dirty="0" err="1"/>
              <a:t>reconfigurations</a:t>
            </a:r>
            <a:r>
              <a:rPr lang="de-DE" baseline="0" dirty="0"/>
              <a:t> </a:t>
            </a:r>
            <a:r>
              <a:rPr lang="de-DE" baseline="0" dirty="0" err="1"/>
              <a:t>over</a:t>
            </a:r>
            <a:r>
              <a:rPr lang="de-DE" baseline="0" dirty="0"/>
              <a:t> time.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 err="1"/>
              <a:t>We</a:t>
            </a:r>
            <a:r>
              <a:rPr lang="de-DE" baseline="0" dirty="0"/>
              <a:t> also </a:t>
            </a:r>
            <a:r>
              <a:rPr lang="de-DE" baseline="0" dirty="0" err="1"/>
              <a:t>study</a:t>
            </a:r>
            <a:r>
              <a:rPr lang="de-DE" baseline="0" dirty="0"/>
              <a:t> </a:t>
            </a:r>
            <a:r>
              <a:rPr lang="de-DE" baseline="0" dirty="0" err="1"/>
              <a:t>how</a:t>
            </a:r>
            <a:r>
              <a:rPr lang="de-DE" baseline="0" dirty="0"/>
              <a:t> </a:t>
            </a:r>
            <a:r>
              <a:rPr lang="de-DE" baseline="0" dirty="0" err="1"/>
              <a:t>self-adjusting</a:t>
            </a:r>
            <a:r>
              <a:rPr lang="de-DE" baseline="0" dirty="0"/>
              <a:t> </a:t>
            </a:r>
            <a:r>
              <a:rPr lang="de-DE" baseline="0" dirty="0" err="1"/>
              <a:t>networks</a:t>
            </a:r>
            <a:r>
              <a:rPr lang="de-DE" baseline="0" dirty="0"/>
              <a:t> </a:t>
            </a:r>
            <a:r>
              <a:rPr lang="de-DE" baseline="0" dirty="0" err="1"/>
              <a:t>can</a:t>
            </a:r>
            <a:r>
              <a:rPr lang="de-DE" baseline="0" dirty="0"/>
              <a:t> </a:t>
            </a:r>
            <a:r>
              <a:rPr lang="de-DE" baseline="0" dirty="0" err="1"/>
              <a:t>be</a:t>
            </a:r>
            <a:r>
              <a:rPr lang="de-DE" baseline="0" dirty="0"/>
              <a:t> </a:t>
            </a:r>
            <a:r>
              <a:rPr lang="de-DE" baseline="0" dirty="0" err="1"/>
              <a:t>used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improve</a:t>
            </a:r>
            <a:r>
              <a:rPr lang="de-DE" baseline="0" dirty="0"/>
              <a:t> fault-</a:t>
            </a:r>
            <a:r>
              <a:rPr lang="de-DE" baseline="0" dirty="0" err="1"/>
              <a:t>tolerance</a:t>
            </a:r>
            <a:r>
              <a:rPr lang="de-DE" baseline="0" dirty="0"/>
              <a:t>, </a:t>
            </a:r>
            <a:r>
              <a:rPr lang="de-DE" baseline="0" dirty="0" err="1"/>
              <a:t>what</a:t>
            </a:r>
            <a:r>
              <a:rPr lang="de-DE" baseline="0" dirty="0"/>
              <a:t> </a:t>
            </a:r>
            <a:r>
              <a:rPr lang="de-DE" baseline="0" dirty="0" err="1"/>
              <a:t>is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impact</a:t>
            </a:r>
            <a:r>
              <a:rPr lang="de-DE" baseline="0" dirty="0"/>
              <a:t> on </a:t>
            </a:r>
            <a:r>
              <a:rPr lang="de-DE" baseline="0" dirty="0" err="1"/>
              <a:t>other</a:t>
            </a:r>
            <a:r>
              <a:rPr lang="de-DE" baseline="0" dirty="0"/>
              <a:t> </a:t>
            </a:r>
            <a:r>
              <a:rPr lang="de-DE" baseline="0" dirty="0" err="1"/>
              <a:t>layers</a:t>
            </a:r>
            <a:r>
              <a:rPr lang="de-DE" baseline="0" dirty="0"/>
              <a:t>,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how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apply</a:t>
            </a:r>
            <a:r>
              <a:rPr lang="de-DE" baseline="0" dirty="0"/>
              <a:t> </a:t>
            </a:r>
            <a:r>
              <a:rPr lang="de-DE" baseline="0" dirty="0" err="1"/>
              <a:t>our</a:t>
            </a:r>
            <a:r>
              <a:rPr lang="de-DE" baseline="0" dirty="0"/>
              <a:t> </a:t>
            </a:r>
            <a:r>
              <a:rPr lang="de-DE" baseline="0" dirty="0" err="1"/>
              <a:t>solutions</a:t>
            </a:r>
            <a:r>
              <a:rPr lang="de-DE" baseline="0" dirty="0"/>
              <a:t> in a </a:t>
            </a:r>
            <a:r>
              <a:rPr lang="de-DE" baseline="0" dirty="0" err="1"/>
              <a:t>specific</a:t>
            </a:r>
            <a:r>
              <a:rPr lang="de-DE" baseline="0" dirty="0"/>
              <a:t> </a:t>
            </a:r>
            <a:r>
              <a:rPr lang="de-DE" baseline="0" dirty="0" err="1"/>
              <a:t>case</a:t>
            </a:r>
            <a:r>
              <a:rPr lang="de-DE" baseline="0" dirty="0"/>
              <a:t> </a:t>
            </a:r>
            <a:r>
              <a:rPr lang="de-DE" baseline="0" dirty="0" err="1"/>
              <a:t>study</a:t>
            </a:r>
            <a:r>
              <a:rPr lang="de-DE" baseline="0" dirty="0"/>
              <a:t>, e.g., </a:t>
            </a:r>
            <a:r>
              <a:rPr lang="de-DE" baseline="0" dirty="0" err="1"/>
              <a:t>how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develop</a:t>
            </a:r>
            <a:r>
              <a:rPr lang="de-DE" baseline="0" dirty="0"/>
              <a:t> a </a:t>
            </a:r>
            <a:r>
              <a:rPr lang="de-DE" baseline="0" dirty="0" err="1"/>
              <a:t>scalable</a:t>
            </a:r>
            <a:r>
              <a:rPr lang="de-DE" baseline="0" dirty="0"/>
              <a:t> </a:t>
            </a:r>
            <a:r>
              <a:rPr lang="de-DE" baseline="0" dirty="0" err="1"/>
              <a:t>control</a:t>
            </a:r>
            <a:r>
              <a:rPr lang="de-DE" baseline="0" dirty="0"/>
              <a:t> plane.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/>
              <a:t>This </a:t>
            </a:r>
            <a:r>
              <a:rPr lang="de-DE" baseline="0" dirty="0" err="1"/>
              <a:t>project</a:t>
            </a:r>
            <a:r>
              <a:rPr lang="de-DE" baseline="0" dirty="0"/>
              <a:t> </a:t>
            </a:r>
            <a:r>
              <a:rPr lang="de-DE" baseline="0" dirty="0" err="1"/>
              <a:t>hence</a:t>
            </a:r>
            <a:r>
              <a:rPr lang="de-DE" baseline="0" dirty="0"/>
              <a:t> </a:t>
            </a:r>
            <a:r>
              <a:rPr lang="de-DE" baseline="0" dirty="0" err="1"/>
              <a:t>requires</a:t>
            </a:r>
            <a:r>
              <a:rPr lang="de-DE" baseline="0" dirty="0"/>
              <a:t> </a:t>
            </a:r>
            <a:r>
              <a:rPr lang="de-DE" baseline="0" dirty="0" err="1"/>
              <a:t>expertises</a:t>
            </a:r>
            <a:r>
              <a:rPr lang="de-DE" baseline="0" dirty="0"/>
              <a:t> </a:t>
            </a:r>
            <a:r>
              <a:rPr lang="de-DE" baseline="0" dirty="0" err="1"/>
              <a:t>from</a:t>
            </a:r>
            <a:r>
              <a:rPr lang="de-DE" baseline="0" dirty="0"/>
              <a:t> different </a:t>
            </a:r>
            <a:r>
              <a:rPr lang="de-DE" baseline="0" dirty="0" err="1"/>
              <a:t>fields</a:t>
            </a:r>
            <a:r>
              <a:rPr lang="de-DE" baseline="0" dirty="0"/>
              <a:t>, </a:t>
            </a:r>
            <a:r>
              <a:rPr lang="de-DE" baseline="0" dirty="0" err="1"/>
              <a:t>from</a:t>
            </a:r>
            <a:r>
              <a:rPr lang="de-DE" baseline="0" dirty="0"/>
              <a:t> </a:t>
            </a:r>
            <a:r>
              <a:rPr lang="de-DE" baseline="0" dirty="0" err="1"/>
              <a:t>networking</a:t>
            </a:r>
            <a:r>
              <a:rPr lang="de-DE" baseline="0" dirty="0"/>
              <a:t>, </a:t>
            </a:r>
            <a:r>
              <a:rPr lang="de-DE" baseline="0" dirty="0" err="1"/>
              <a:t>over</a:t>
            </a:r>
            <a:r>
              <a:rPr lang="de-DE" baseline="0" dirty="0"/>
              <a:t> </a:t>
            </a:r>
            <a:r>
              <a:rPr lang="de-DE" baseline="0" dirty="0" err="1"/>
              <a:t>distributed</a:t>
            </a:r>
            <a:r>
              <a:rPr lang="de-DE" baseline="0" dirty="0"/>
              <a:t> </a:t>
            </a:r>
            <a:r>
              <a:rPr lang="de-DE" baseline="0" dirty="0" err="1"/>
              <a:t>systems</a:t>
            </a:r>
            <a:r>
              <a:rPr lang="de-DE" baseline="0" dirty="0"/>
              <a:t>, </a:t>
            </a:r>
            <a:r>
              <a:rPr lang="de-DE" baseline="0" dirty="0" err="1"/>
              <a:t>algorithms</a:t>
            </a:r>
            <a:r>
              <a:rPr lang="de-DE" baseline="0" dirty="0"/>
              <a:t>,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performance</a:t>
            </a:r>
            <a:r>
              <a:rPr lang="de-DE" baseline="0" dirty="0"/>
              <a:t> </a:t>
            </a:r>
            <a:r>
              <a:rPr lang="de-DE" baseline="0" dirty="0" err="1"/>
              <a:t>evaluation</a:t>
            </a:r>
            <a:r>
              <a:rPr lang="de-DE" baseline="0" dirty="0"/>
              <a:t>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/>
              <a:t>I </a:t>
            </a:r>
            <a:r>
              <a:rPr lang="de-DE" baseline="0" dirty="0" err="1"/>
              <a:t>have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necessary</a:t>
            </a:r>
            <a:r>
              <a:rPr lang="de-DE" baseline="0" dirty="0"/>
              <a:t> </a:t>
            </a:r>
            <a:r>
              <a:rPr lang="de-DE" baseline="0" dirty="0" err="1"/>
              <a:t>background</a:t>
            </a:r>
            <a:r>
              <a:rPr lang="de-DE" baseline="0" dirty="0"/>
              <a:t> in all </a:t>
            </a:r>
            <a:r>
              <a:rPr lang="de-DE" baseline="0" dirty="0" err="1"/>
              <a:t>these</a:t>
            </a:r>
            <a:r>
              <a:rPr lang="de-DE" baseline="0" dirty="0"/>
              <a:t> </a:t>
            </a:r>
            <a:r>
              <a:rPr lang="de-DE" baseline="0" dirty="0" err="1"/>
              <a:t>areas</a:t>
            </a:r>
            <a:r>
              <a:rPr lang="de-DE" baseline="0" dirty="0"/>
              <a:t>.</a:t>
            </a:r>
            <a:endParaRPr dirty="0"/>
          </a:p>
        </p:txBody>
      </p:sp>
      <p:sp>
        <p:nvSpPr>
          <p:cNvPr id="1899" name="Google Shape;1899;g60be7dcf1c_0_790:notes">
            <a:extLst>
              <a:ext uri="{FF2B5EF4-FFF2-40B4-BE49-F238E27FC236}">
                <a16:creationId xmlns:a16="http://schemas.microsoft.com/office/drawing/2014/main" id="{5E0CC900-A1E4-28EA-B63D-825DD7CB49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908181790"/>
      </p:ext>
    </p:extLst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7">
          <a:extLst>
            <a:ext uri="{FF2B5EF4-FFF2-40B4-BE49-F238E27FC236}">
              <a16:creationId xmlns:a16="http://schemas.microsoft.com/office/drawing/2014/main" id="{E6037FA7-5C84-E68E-FDB3-849DD2F2A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8" name="Google Shape;1898;g60be7dcf1c_0_790:notes">
            <a:extLst>
              <a:ext uri="{FF2B5EF4-FFF2-40B4-BE49-F238E27FC236}">
                <a16:creationId xmlns:a16="http://schemas.microsoft.com/office/drawing/2014/main" id="{628DC58C-462D-D2C8-F795-9A2FB04623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So </a:t>
            </a:r>
            <a:r>
              <a:rPr lang="de-DE" dirty="0" err="1"/>
              <a:t>far</a:t>
            </a:r>
            <a:r>
              <a:rPr lang="de-DE" dirty="0"/>
              <a:t>,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have</a:t>
            </a:r>
            <a:r>
              <a:rPr lang="de-DE" dirty="0"/>
              <a:t> just </a:t>
            </a:r>
            <a:r>
              <a:rPr lang="de-DE" dirty="0" err="1"/>
              <a:t>scratched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surface</a:t>
            </a:r>
            <a:r>
              <a:rPr lang="de-DE" baseline="0" dirty="0"/>
              <a:t>,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with</a:t>
            </a:r>
            <a:r>
              <a:rPr lang="de-DE" baseline="0" dirty="0"/>
              <a:t> </a:t>
            </a:r>
            <a:r>
              <a:rPr lang="de-DE" baseline="0" dirty="0" err="1"/>
              <a:t>this</a:t>
            </a:r>
            <a:r>
              <a:rPr lang="de-DE" baseline="0" dirty="0"/>
              <a:t> ERC </a:t>
            </a:r>
            <a:r>
              <a:rPr lang="de-DE" baseline="0" dirty="0" err="1"/>
              <a:t>project</a:t>
            </a:r>
            <a:r>
              <a:rPr lang="de-DE" baseline="0" dirty="0"/>
              <a:t>, </a:t>
            </a:r>
            <a:r>
              <a:rPr lang="de-DE" baseline="0" dirty="0" err="1"/>
              <a:t>we</a:t>
            </a:r>
            <a:r>
              <a:rPr lang="de-DE" baseline="0" dirty="0"/>
              <a:t> </a:t>
            </a:r>
            <a:r>
              <a:rPr lang="de-DE" baseline="0" dirty="0" err="1"/>
              <a:t>want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explore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rest</a:t>
            </a:r>
            <a:r>
              <a:rPr lang="de-DE" baseline="0" dirty="0"/>
              <a:t> </a:t>
            </a:r>
            <a:r>
              <a:rPr lang="de-DE" baseline="0" dirty="0" err="1"/>
              <a:t>of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iceberg</a:t>
            </a:r>
            <a:r>
              <a:rPr lang="de-DE" baseline="0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 err="1"/>
              <a:t>Indeed</a:t>
            </a:r>
            <a:r>
              <a:rPr lang="de-DE" baseline="0" dirty="0"/>
              <a:t>,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notion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self-adjusting</a:t>
            </a:r>
            <a:r>
              <a:rPr lang="de-DE" dirty="0"/>
              <a:t> </a:t>
            </a:r>
            <a:r>
              <a:rPr lang="de-DE" dirty="0" err="1"/>
              <a:t>networks</a:t>
            </a:r>
            <a:r>
              <a:rPr lang="de-DE" dirty="0"/>
              <a:t> </a:t>
            </a:r>
            <a:r>
              <a:rPr lang="de-DE" dirty="0" err="1"/>
              <a:t>opens</a:t>
            </a:r>
            <a:r>
              <a:rPr lang="de-DE" dirty="0"/>
              <a:t> </a:t>
            </a:r>
            <a:r>
              <a:rPr lang="de-DE" baseline="0" dirty="0" err="1"/>
              <a:t>are</a:t>
            </a:r>
            <a:r>
              <a:rPr lang="de-DE" baseline="0" dirty="0"/>
              <a:t> large </a:t>
            </a:r>
            <a:r>
              <a:rPr lang="de-DE" baseline="0" dirty="0" err="1"/>
              <a:t>uncharted</a:t>
            </a:r>
            <a:r>
              <a:rPr lang="de-DE" baseline="0" dirty="0"/>
              <a:t> </a:t>
            </a:r>
            <a:r>
              <a:rPr lang="de-DE" baseline="0" dirty="0" err="1"/>
              <a:t>field</a:t>
            </a:r>
            <a:r>
              <a:rPr lang="de-DE" baseline="0" dirty="0"/>
              <a:t>, </a:t>
            </a:r>
            <a:r>
              <a:rPr lang="de-DE" baseline="0" dirty="0" err="1"/>
              <a:t>with</a:t>
            </a:r>
            <a:r>
              <a:rPr lang="de-DE" baseline="0" dirty="0"/>
              <a:t> </a:t>
            </a:r>
            <a:r>
              <a:rPr lang="de-DE" baseline="0" dirty="0" err="1"/>
              <a:t>many</a:t>
            </a:r>
            <a:r>
              <a:rPr lang="de-DE" baseline="0" dirty="0"/>
              <a:t> </a:t>
            </a:r>
            <a:r>
              <a:rPr lang="de-DE" baseline="0" dirty="0" err="1"/>
              <a:t>questions</a:t>
            </a:r>
            <a:r>
              <a:rPr lang="de-DE" baseline="0" dirty="0"/>
              <a:t>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 err="1"/>
              <a:t>W</a:t>
            </a:r>
            <a:r>
              <a:rPr lang="de-DE" baseline="0" dirty="0" err="1"/>
              <a:t>e</a:t>
            </a:r>
            <a:r>
              <a:rPr lang="de-DE" baseline="0" dirty="0"/>
              <a:t> </a:t>
            </a:r>
            <a:r>
              <a:rPr lang="de-DE" baseline="0" dirty="0" err="1"/>
              <a:t>structure</a:t>
            </a:r>
            <a:r>
              <a:rPr lang="de-DE" baseline="0" dirty="0"/>
              <a:t> </a:t>
            </a:r>
            <a:r>
              <a:rPr lang="de-DE" baseline="0" dirty="0" err="1"/>
              <a:t>our</a:t>
            </a:r>
            <a:r>
              <a:rPr lang="de-DE" baseline="0" dirty="0"/>
              <a:t> </a:t>
            </a:r>
            <a:r>
              <a:rPr lang="de-DE" baseline="0" dirty="0" err="1"/>
              <a:t>project</a:t>
            </a:r>
            <a:r>
              <a:rPr lang="de-DE" baseline="0" dirty="0"/>
              <a:t> </a:t>
            </a:r>
            <a:r>
              <a:rPr lang="de-DE" baseline="0" dirty="0" err="1"/>
              <a:t>around</a:t>
            </a:r>
            <a:r>
              <a:rPr lang="de-DE" baseline="0" dirty="0"/>
              <a:t> </a:t>
            </a:r>
            <a:r>
              <a:rPr lang="de-DE" baseline="0" dirty="0" err="1"/>
              <a:t>models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metrics</a:t>
            </a:r>
            <a:r>
              <a:rPr lang="de-DE" baseline="0" dirty="0"/>
              <a:t>, </a:t>
            </a:r>
            <a:r>
              <a:rPr lang="de-DE" baseline="0" dirty="0" err="1"/>
              <a:t>algorithms</a:t>
            </a:r>
            <a:r>
              <a:rPr lang="de-DE" baseline="0" dirty="0"/>
              <a:t>, fault-</a:t>
            </a:r>
            <a:r>
              <a:rPr lang="de-DE" baseline="0" dirty="0" err="1"/>
              <a:t>tolerance</a:t>
            </a:r>
            <a:r>
              <a:rPr lang="de-DE" baseline="0" dirty="0"/>
              <a:t>, </a:t>
            </a:r>
            <a:r>
              <a:rPr lang="de-DE" baseline="0" dirty="0" err="1"/>
              <a:t>integration</a:t>
            </a:r>
            <a:r>
              <a:rPr lang="de-DE" baseline="0" dirty="0"/>
              <a:t> </a:t>
            </a:r>
            <a:r>
              <a:rPr lang="de-DE" baseline="0" dirty="0" err="1"/>
              <a:t>into</a:t>
            </a:r>
            <a:r>
              <a:rPr lang="de-DE" baseline="0" dirty="0"/>
              <a:t> </a:t>
            </a:r>
            <a:r>
              <a:rPr lang="de-DE" baseline="0" dirty="0" err="1"/>
              <a:t>higher</a:t>
            </a:r>
            <a:r>
              <a:rPr lang="de-DE" baseline="0" dirty="0"/>
              <a:t> </a:t>
            </a:r>
            <a:r>
              <a:rPr lang="de-DE" baseline="0" dirty="0" err="1"/>
              <a:t>layers</a:t>
            </a:r>
            <a:r>
              <a:rPr lang="de-DE" baseline="0" dirty="0"/>
              <a:t>,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case</a:t>
            </a:r>
            <a:r>
              <a:rPr lang="de-DE" baseline="0" dirty="0"/>
              <a:t> </a:t>
            </a:r>
            <a:r>
              <a:rPr lang="de-DE" baseline="0" dirty="0" err="1"/>
              <a:t>studies</a:t>
            </a:r>
            <a:r>
              <a:rPr lang="de-DE" baseline="0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/>
              <a:t>In </a:t>
            </a:r>
            <a:r>
              <a:rPr lang="de-DE" baseline="0" dirty="0" err="1"/>
              <a:t>particular</a:t>
            </a:r>
            <a:r>
              <a:rPr lang="de-DE" baseline="0" dirty="0"/>
              <a:t>, </a:t>
            </a:r>
            <a:r>
              <a:rPr lang="de-DE" baseline="0" dirty="0" err="1"/>
              <a:t>we</a:t>
            </a:r>
            <a:r>
              <a:rPr lang="de-DE" baseline="0" dirty="0"/>
              <a:t> will </a:t>
            </a:r>
            <a:r>
              <a:rPr lang="de-DE" baseline="0" dirty="0" err="1"/>
              <a:t>explore</a:t>
            </a:r>
            <a:r>
              <a:rPr lang="de-DE" baseline="0" dirty="0"/>
              <a:t> </a:t>
            </a:r>
            <a:r>
              <a:rPr lang="de-DE" baseline="0" dirty="0" err="1"/>
              <a:t>metrics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algorithms</a:t>
            </a:r>
            <a:r>
              <a:rPr lang="de-DE" baseline="0" dirty="0"/>
              <a:t> </a:t>
            </a:r>
            <a:r>
              <a:rPr lang="de-DE" baseline="0" dirty="0" err="1"/>
              <a:t>for</a:t>
            </a:r>
            <a:r>
              <a:rPr lang="de-DE" baseline="0" dirty="0"/>
              <a:t> </a:t>
            </a:r>
            <a:r>
              <a:rPr lang="de-DE" baseline="0" dirty="0" err="1"/>
              <a:t>by</a:t>
            </a:r>
            <a:r>
              <a:rPr lang="de-DE" baseline="0" dirty="0"/>
              <a:t> </a:t>
            </a:r>
            <a:r>
              <a:rPr lang="de-DE" baseline="0" dirty="0" err="1"/>
              <a:t>how</a:t>
            </a:r>
            <a:r>
              <a:rPr lang="de-DE" baseline="0" dirty="0"/>
              <a:t> </a:t>
            </a:r>
            <a:r>
              <a:rPr lang="de-DE" baseline="0" dirty="0" err="1"/>
              <a:t>much</a:t>
            </a:r>
            <a:r>
              <a:rPr lang="de-DE" baseline="0" dirty="0"/>
              <a:t> </a:t>
            </a:r>
            <a:r>
              <a:rPr lang="de-DE" baseline="0" dirty="0" err="1"/>
              <a:t>load</a:t>
            </a:r>
            <a:r>
              <a:rPr lang="de-DE" baseline="0" dirty="0"/>
              <a:t> </a:t>
            </a:r>
            <a:r>
              <a:rPr lang="de-DE" baseline="0" dirty="0" err="1"/>
              <a:t>can</a:t>
            </a:r>
            <a:r>
              <a:rPr lang="de-DE" baseline="0" dirty="0"/>
              <a:t> </a:t>
            </a:r>
            <a:r>
              <a:rPr lang="de-DE" baseline="0" dirty="0" err="1"/>
              <a:t>be</a:t>
            </a:r>
            <a:r>
              <a:rPr lang="de-DE" baseline="0" dirty="0"/>
              <a:t> </a:t>
            </a:r>
            <a:r>
              <a:rPr lang="de-DE" baseline="0" dirty="0" err="1"/>
              <a:t>lowered</a:t>
            </a:r>
            <a:r>
              <a:rPr lang="de-DE" baseline="0" dirty="0"/>
              <a:t>, </a:t>
            </a:r>
            <a:r>
              <a:rPr lang="de-DE" baseline="0" dirty="0" err="1"/>
              <a:t>energy</a:t>
            </a:r>
            <a:r>
              <a:rPr lang="de-DE" baseline="0" dirty="0"/>
              <a:t> </a:t>
            </a:r>
            <a:r>
              <a:rPr lang="de-DE" baseline="0" dirty="0" err="1"/>
              <a:t>reduced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quality</a:t>
            </a:r>
            <a:r>
              <a:rPr lang="de-DE" baseline="0" dirty="0"/>
              <a:t>-</a:t>
            </a:r>
            <a:r>
              <a:rPr lang="de-DE" baseline="0" dirty="0" err="1"/>
              <a:t>of</a:t>
            </a:r>
            <a:r>
              <a:rPr lang="de-DE" baseline="0" dirty="0"/>
              <a:t>-service </a:t>
            </a:r>
            <a:r>
              <a:rPr lang="de-DE" baseline="0" dirty="0" err="1"/>
              <a:t>improved</a:t>
            </a:r>
            <a:r>
              <a:rPr lang="de-DE" baseline="0" dirty="0"/>
              <a:t> in </a:t>
            </a:r>
            <a:r>
              <a:rPr lang="de-DE" baseline="0" dirty="0" err="1"/>
              <a:t>selfadjusting</a:t>
            </a:r>
            <a:r>
              <a:rPr lang="de-DE" baseline="0" dirty="0"/>
              <a:t> </a:t>
            </a:r>
            <a:r>
              <a:rPr lang="de-DE" baseline="0" dirty="0" err="1"/>
              <a:t>networks</a:t>
            </a:r>
            <a:r>
              <a:rPr lang="de-DE" baseline="0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 err="1"/>
              <a:t>We</a:t>
            </a:r>
            <a:r>
              <a:rPr lang="de-DE" baseline="0" dirty="0"/>
              <a:t> also </a:t>
            </a:r>
            <a:r>
              <a:rPr lang="de-DE" baseline="0" dirty="0" err="1"/>
              <a:t>need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develop</a:t>
            </a:r>
            <a:r>
              <a:rPr lang="de-DE" baseline="0" dirty="0"/>
              <a:t> </a:t>
            </a:r>
            <a:r>
              <a:rPr lang="de-DE" baseline="0" dirty="0" err="1"/>
              <a:t>models</a:t>
            </a:r>
            <a:r>
              <a:rPr lang="de-DE" baseline="0" dirty="0"/>
              <a:t> </a:t>
            </a:r>
            <a:r>
              <a:rPr lang="de-DE" baseline="0" dirty="0" err="1"/>
              <a:t>for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tradeoff</a:t>
            </a:r>
            <a:r>
              <a:rPr lang="de-DE" baseline="0" dirty="0"/>
              <a:t> </a:t>
            </a:r>
            <a:r>
              <a:rPr lang="de-DE" baseline="0" dirty="0" err="1"/>
              <a:t>between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benefits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costs</a:t>
            </a:r>
            <a:r>
              <a:rPr lang="de-DE" baseline="0" dirty="0"/>
              <a:t> </a:t>
            </a:r>
            <a:r>
              <a:rPr lang="de-DE" baseline="0" dirty="0" err="1"/>
              <a:t>of</a:t>
            </a:r>
            <a:r>
              <a:rPr lang="de-DE" baseline="0" dirty="0"/>
              <a:t> </a:t>
            </a:r>
            <a:r>
              <a:rPr lang="de-DE" baseline="0" dirty="0" err="1"/>
              <a:t>reconfigurations</a:t>
            </a:r>
            <a:r>
              <a:rPr lang="de-DE" baseline="0" dirty="0"/>
              <a:t> </a:t>
            </a:r>
            <a:r>
              <a:rPr lang="de-DE" baseline="0" dirty="0" err="1"/>
              <a:t>over</a:t>
            </a:r>
            <a:r>
              <a:rPr lang="de-DE" baseline="0" dirty="0"/>
              <a:t> time.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 err="1"/>
              <a:t>We</a:t>
            </a:r>
            <a:r>
              <a:rPr lang="de-DE" baseline="0" dirty="0"/>
              <a:t> also </a:t>
            </a:r>
            <a:r>
              <a:rPr lang="de-DE" baseline="0" dirty="0" err="1"/>
              <a:t>study</a:t>
            </a:r>
            <a:r>
              <a:rPr lang="de-DE" baseline="0" dirty="0"/>
              <a:t> </a:t>
            </a:r>
            <a:r>
              <a:rPr lang="de-DE" baseline="0" dirty="0" err="1"/>
              <a:t>how</a:t>
            </a:r>
            <a:r>
              <a:rPr lang="de-DE" baseline="0" dirty="0"/>
              <a:t> </a:t>
            </a:r>
            <a:r>
              <a:rPr lang="de-DE" baseline="0" dirty="0" err="1"/>
              <a:t>self-adjusting</a:t>
            </a:r>
            <a:r>
              <a:rPr lang="de-DE" baseline="0" dirty="0"/>
              <a:t> </a:t>
            </a:r>
            <a:r>
              <a:rPr lang="de-DE" baseline="0" dirty="0" err="1"/>
              <a:t>networks</a:t>
            </a:r>
            <a:r>
              <a:rPr lang="de-DE" baseline="0" dirty="0"/>
              <a:t> </a:t>
            </a:r>
            <a:r>
              <a:rPr lang="de-DE" baseline="0" dirty="0" err="1"/>
              <a:t>can</a:t>
            </a:r>
            <a:r>
              <a:rPr lang="de-DE" baseline="0" dirty="0"/>
              <a:t> </a:t>
            </a:r>
            <a:r>
              <a:rPr lang="de-DE" baseline="0" dirty="0" err="1"/>
              <a:t>be</a:t>
            </a:r>
            <a:r>
              <a:rPr lang="de-DE" baseline="0" dirty="0"/>
              <a:t> </a:t>
            </a:r>
            <a:r>
              <a:rPr lang="de-DE" baseline="0" dirty="0" err="1"/>
              <a:t>used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improve</a:t>
            </a:r>
            <a:r>
              <a:rPr lang="de-DE" baseline="0" dirty="0"/>
              <a:t> fault-</a:t>
            </a:r>
            <a:r>
              <a:rPr lang="de-DE" baseline="0" dirty="0" err="1"/>
              <a:t>tolerance</a:t>
            </a:r>
            <a:r>
              <a:rPr lang="de-DE" baseline="0" dirty="0"/>
              <a:t>, </a:t>
            </a:r>
            <a:r>
              <a:rPr lang="de-DE" baseline="0" dirty="0" err="1"/>
              <a:t>what</a:t>
            </a:r>
            <a:r>
              <a:rPr lang="de-DE" baseline="0" dirty="0"/>
              <a:t> </a:t>
            </a:r>
            <a:r>
              <a:rPr lang="de-DE" baseline="0" dirty="0" err="1"/>
              <a:t>is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impact</a:t>
            </a:r>
            <a:r>
              <a:rPr lang="de-DE" baseline="0" dirty="0"/>
              <a:t> on </a:t>
            </a:r>
            <a:r>
              <a:rPr lang="de-DE" baseline="0" dirty="0" err="1"/>
              <a:t>other</a:t>
            </a:r>
            <a:r>
              <a:rPr lang="de-DE" baseline="0" dirty="0"/>
              <a:t> </a:t>
            </a:r>
            <a:r>
              <a:rPr lang="de-DE" baseline="0" dirty="0" err="1"/>
              <a:t>layers</a:t>
            </a:r>
            <a:r>
              <a:rPr lang="de-DE" baseline="0" dirty="0"/>
              <a:t>,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how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apply</a:t>
            </a:r>
            <a:r>
              <a:rPr lang="de-DE" baseline="0" dirty="0"/>
              <a:t> </a:t>
            </a:r>
            <a:r>
              <a:rPr lang="de-DE" baseline="0" dirty="0" err="1"/>
              <a:t>our</a:t>
            </a:r>
            <a:r>
              <a:rPr lang="de-DE" baseline="0" dirty="0"/>
              <a:t> </a:t>
            </a:r>
            <a:r>
              <a:rPr lang="de-DE" baseline="0" dirty="0" err="1"/>
              <a:t>solutions</a:t>
            </a:r>
            <a:r>
              <a:rPr lang="de-DE" baseline="0" dirty="0"/>
              <a:t> in a </a:t>
            </a:r>
            <a:r>
              <a:rPr lang="de-DE" baseline="0" dirty="0" err="1"/>
              <a:t>specific</a:t>
            </a:r>
            <a:r>
              <a:rPr lang="de-DE" baseline="0" dirty="0"/>
              <a:t> </a:t>
            </a:r>
            <a:r>
              <a:rPr lang="de-DE" baseline="0" dirty="0" err="1"/>
              <a:t>case</a:t>
            </a:r>
            <a:r>
              <a:rPr lang="de-DE" baseline="0" dirty="0"/>
              <a:t> </a:t>
            </a:r>
            <a:r>
              <a:rPr lang="de-DE" baseline="0" dirty="0" err="1"/>
              <a:t>study</a:t>
            </a:r>
            <a:r>
              <a:rPr lang="de-DE" baseline="0" dirty="0"/>
              <a:t>, e.g., </a:t>
            </a:r>
            <a:r>
              <a:rPr lang="de-DE" baseline="0" dirty="0" err="1"/>
              <a:t>how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develop</a:t>
            </a:r>
            <a:r>
              <a:rPr lang="de-DE" baseline="0" dirty="0"/>
              <a:t> a </a:t>
            </a:r>
            <a:r>
              <a:rPr lang="de-DE" baseline="0" dirty="0" err="1"/>
              <a:t>scalable</a:t>
            </a:r>
            <a:r>
              <a:rPr lang="de-DE" baseline="0" dirty="0"/>
              <a:t> </a:t>
            </a:r>
            <a:r>
              <a:rPr lang="de-DE" baseline="0" dirty="0" err="1"/>
              <a:t>control</a:t>
            </a:r>
            <a:r>
              <a:rPr lang="de-DE" baseline="0" dirty="0"/>
              <a:t> plane.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/>
              <a:t>This </a:t>
            </a:r>
            <a:r>
              <a:rPr lang="de-DE" baseline="0" dirty="0" err="1"/>
              <a:t>project</a:t>
            </a:r>
            <a:r>
              <a:rPr lang="de-DE" baseline="0" dirty="0"/>
              <a:t> </a:t>
            </a:r>
            <a:r>
              <a:rPr lang="de-DE" baseline="0" dirty="0" err="1"/>
              <a:t>hence</a:t>
            </a:r>
            <a:r>
              <a:rPr lang="de-DE" baseline="0" dirty="0"/>
              <a:t> </a:t>
            </a:r>
            <a:r>
              <a:rPr lang="de-DE" baseline="0" dirty="0" err="1"/>
              <a:t>requires</a:t>
            </a:r>
            <a:r>
              <a:rPr lang="de-DE" baseline="0" dirty="0"/>
              <a:t> </a:t>
            </a:r>
            <a:r>
              <a:rPr lang="de-DE" baseline="0" dirty="0" err="1"/>
              <a:t>expertises</a:t>
            </a:r>
            <a:r>
              <a:rPr lang="de-DE" baseline="0" dirty="0"/>
              <a:t> </a:t>
            </a:r>
            <a:r>
              <a:rPr lang="de-DE" baseline="0" dirty="0" err="1"/>
              <a:t>from</a:t>
            </a:r>
            <a:r>
              <a:rPr lang="de-DE" baseline="0" dirty="0"/>
              <a:t> different </a:t>
            </a:r>
            <a:r>
              <a:rPr lang="de-DE" baseline="0" dirty="0" err="1"/>
              <a:t>fields</a:t>
            </a:r>
            <a:r>
              <a:rPr lang="de-DE" baseline="0" dirty="0"/>
              <a:t>, </a:t>
            </a:r>
            <a:r>
              <a:rPr lang="de-DE" baseline="0" dirty="0" err="1"/>
              <a:t>from</a:t>
            </a:r>
            <a:r>
              <a:rPr lang="de-DE" baseline="0" dirty="0"/>
              <a:t> </a:t>
            </a:r>
            <a:r>
              <a:rPr lang="de-DE" baseline="0" dirty="0" err="1"/>
              <a:t>networking</a:t>
            </a:r>
            <a:r>
              <a:rPr lang="de-DE" baseline="0" dirty="0"/>
              <a:t>, </a:t>
            </a:r>
            <a:r>
              <a:rPr lang="de-DE" baseline="0" dirty="0" err="1"/>
              <a:t>over</a:t>
            </a:r>
            <a:r>
              <a:rPr lang="de-DE" baseline="0" dirty="0"/>
              <a:t> </a:t>
            </a:r>
            <a:r>
              <a:rPr lang="de-DE" baseline="0" dirty="0" err="1"/>
              <a:t>distributed</a:t>
            </a:r>
            <a:r>
              <a:rPr lang="de-DE" baseline="0" dirty="0"/>
              <a:t> </a:t>
            </a:r>
            <a:r>
              <a:rPr lang="de-DE" baseline="0" dirty="0" err="1"/>
              <a:t>systems</a:t>
            </a:r>
            <a:r>
              <a:rPr lang="de-DE" baseline="0" dirty="0"/>
              <a:t>, </a:t>
            </a:r>
            <a:r>
              <a:rPr lang="de-DE" baseline="0" dirty="0" err="1"/>
              <a:t>algorithms</a:t>
            </a:r>
            <a:r>
              <a:rPr lang="de-DE" baseline="0" dirty="0"/>
              <a:t>,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performance</a:t>
            </a:r>
            <a:r>
              <a:rPr lang="de-DE" baseline="0" dirty="0"/>
              <a:t> </a:t>
            </a:r>
            <a:r>
              <a:rPr lang="de-DE" baseline="0" dirty="0" err="1"/>
              <a:t>evaluation</a:t>
            </a:r>
            <a:r>
              <a:rPr lang="de-DE" baseline="0" dirty="0"/>
              <a:t>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/>
              <a:t>I </a:t>
            </a:r>
            <a:r>
              <a:rPr lang="de-DE" baseline="0" dirty="0" err="1"/>
              <a:t>have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necessary</a:t>
            </a:r>
            <a:r>
              <a:rPr lang="de-DE" baseline="0" dirty="0"/>
              <a:t> </a:t>
            </a:r>
            <a:r>
              <a:rPr lang="de-DE" baseline="0" dirty="0" err="1"/>
              <a:t>background</a:t>
            </a:r>
            <a:r>
              <a:rPr lang="de-DE" baseline="0" dirty="0"/>
              <a:t> in all </a:t>
            </a:r>
            <a:r>
              <a:rPr lang="de-DE" baseline="0" dirty="0" err="1"/>
              <a:t>these</a:t>
            </a:r>
            <a:r>
              <a:rPr lang="de-DE" baseline="0" dirty="0"/>
              <a:t> </a:t>
            </a:r>
            <a:r>
              <a:rPr lang="de-DE" baseline="0" dirty="0" err="1"/>
              <a:t>areas</a:t>
            </a:r>
            <a:r>
              <a:rPr lang="de-DE" baseline="0" dirty="0"/>
              <a:t>.</a:t>
            </a:r>
            <a:endParaRPr dirty="0"/>
          </a:p>
        </p:txBody>
      </p:sp>
      <p:sp>
        <p:nvSpPr>
          <p:cNvPr id="1899" name="Google Shape;1899;g60be7dcf1c_0_790:notes">
            <a:extLst>
              <a:ext uri="{FF2B5EF4-FFF2-40B4-BE49-F238E27FC236}">
                <a16:creationId xmlns:a16="http://schemas.microsoft.com/office/drawing/2014/main" id="{BF736EED-38E3-C83C-0E08-8EB414B684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765313489"/>
      </p:ext>
    </p:extLst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7">
          <a:extLst>
            <a:ext uri="{FF2B5EF4-FFF2-40B4-BE49-F238E27FC236}">
              <a16:creationId xmlns:a16="http://schemas.microsoft.com/office/drawing/2014/main" id="{94D6D933-0962-4A5A-2C85-4A7630BFA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8" name="Google Shape;1898;g60be7dcf1c_0_790:notes">
            <a:extLst>
              <a:ext uri="{FF2B5EF4-FFF2-40B4-BE49-F238E27FC236}">
                <a16:creationId xmlns:a16="http://schemas.microsoft.com/office/drawing/2014/main" id="{9B436227-E034-BB7D-F25B-EB7BA7C7FA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So </a:t>
            </a:r>
            <a:r>
              <a:rPr lang="de-DE" dirty="0" err="1"/>
              <a:t>far</a:t>
            </a:r>
            <a:r>
              <a:rPr lang="de-DE" dirty="0"/>
              <a:t>,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have</a:t>
            </a:r>
            <a:r>
              <a:rPr lang="de-DE" dirty="0"/>
              <a:t> just </a:t>
            </a:r>
            <a:r>
              <a:rPr lang="de-DE" dirty="0" err="1"/>
              <a:t>scratched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surface</a:t>
            </a:r>
            <a:r>
              <a:rPr lang="de-DE" baseline="0" dirty="0"/>
              <a:t>,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with</a:t>
            </a:r>
            <a:r>
              <a:rPr lang="de-DE" baseline="0" dirty="0"/>
              <a:t> </a:t>
            </a:r>
            <a:r>
              <a:rPr lang="de-DE" baseline="0" dirty="0" err="1"/>
              <a:t>this</a:t>
            </a:r>
            <a:r>
              <a:rPr lang="de-DE" baseline="0" dirty="0"/>
              <a:t> ERC </a:t>
            </a:r>
            <a:r>
              <a:rPr lang="de-DE" baseline="0" dirty="0" err="1"/>
              <a:t>project</a:t>
            </a:r>
            <a:r>
              <a:rPr lang="de-DE" baseline="0" dirty="0"/>
              <a:t>, </a:t>
            </a:r>
            <a:r>
              <a:rPr lang="de-DE" baseline="0" dirty="0" err="1"/>
              <a:t>we</a:t>
            </a:r>
            <a:r>
              <a:rPr lang="de-DE" baseline="0" dirty="0"/>
              <a:t> </a:t>
            </a:r>
            <a:r>
              <a:rPr lang="de-DE" baseline="0" dirty="0" err="1"/>
              <a:t>want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explore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rest</a:t>
            </a:r>
            <a:r>
              <a:rPr lang="de-DE" baseline="0" dirty="0"/>
              <a:t> </a:t>
            </a:r>
            <a:r>
              <a:rPr lang="de-DE" baseline="0" dirty="0" err="1"/>
              <a:t>of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iceberg</a:t>
            </a:r>
            <a:r>
              <a:rPr lang="de-DE" baseline="0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 err="1"/>
              <a:t>Indeed</a:t>
            </a:r>
            <a:r>
              <a:rPr lang="de-DE" baseline="0" dirty="0"/>
              <a:t>,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notion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self-adjusting</a:t>
            </a:r>
            <a:r>
              <a:rPr lang="de-DE" dirty="0"/>
              <a:t> </a:t>
            </a:r>
            <a:r>
              <a:rPr lang="de-DE" dirty="0" err="1"/>
              <a:t>networks</a:t>
            </a:r>
            <a:r>
              <a:rPr lang="de-DE" dirty="0"/>
              <a:t> </a:t>
            </a:r>
            <a:r>
              <a:rPr lang="de-DE" dirty="0" err="1"/>
              <a:t>opens</a:t>
            </a:r>
            <a:r>
              <a:rPr lang="de-DE" dirty="0"/>
              <a:t> </a:t>
            </a:r>
            <a:r>
              <a:rPr lang="de-DE" baseline="0" dirty="0" err="1"/>
              <a:t>are</a:t>
            </a:r>
            <a:r>
              <a:rPr lang="de-DE" baseline="0" dirty="0"/>
              <a:t> large </a:t>
            </a:r>
            <a:r>
              <a:rPr lang="de-DE" baseline="0" dirty="0" err="1"/>
              <a:t>uncharted</a:t>
            </a:r>
            <a:r>
              <a:rPr lang="de-DE" baseline="0" dirty="0"/>
              <a:t> </a:t>
            </a:r>
            <a:r>
              <a:rPr lang="de-DE" baseline="0" dirty="0" err="1"/>
              <a:t>field</a:t>
            </a:r>
            <a:r>
              <a:rPr lang="de-DE" baseline="0" dirty="0"/>
              <a:t>, </a:t>
            </a:r>
            <a:r>
              <a:rPr lang="de-DE" baseline="0" dirty="0" err="1"/>
              <a:t>with</a:t>
            </a:r>
            <a:r>
              <a:rPr lang="de-DE" baseline="0" dirty="0"/>
              <a:t> </a:t>
            </a:r>
            <a:r>
              <a:rPr lang="de-DE" baseline="0" dirty="0" err="1"/>
              <a:t>many</a:t>
            </a:r>
            <a:r>
              <a:rPr lang="de-DE" baseline="0" dirty="0"/>
              <a:t> </a:t>
            </a:r>
            <a:r>
              <a:rPr lang="de-DE" baseline="0" dirty="0" err="1"/>
              <a:t>questions</a:t>
            </a:r>
            <a:r>
              <a:rPr lang="de-DE" baseline="0" dirty="0"/>
              <a:t>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 err="1"/>
              <a:t>W</a:t>
            </a:r>
            <a:r>
              <a:rPr lang="de-DE" baseline="0" dirty="0" err="1"/>
              <a:t>e</a:t>
            </a:r>
            <a:r>
              <a:rPr lang="de-DE" baseline="0" dirty="0"/>
              <a:t> </a:t>
            </a:r>
            <a:r>
              <a:rPr lang="de-DE" baseline="0" dirty="0" err="1"/>
              <a:t>structure</a:t>
            </a:r>
            <a:r>
              <a:rPr lang="de-DE" baseline="0" dirty="0"/>
              <a:t> </a:t>
            </a:r>
            <a:r>
              <a:rPr lang="de-DE" baseline="0" dirty="0" err="1"/>
              <a:t>our</a:t>
            </a:r>
            <a:r>
              <a:rPr lang="de-DE" baseline="0" dirty="0"/>
              <a:t> </a:t>
            </a:r>
            <a:r>
              <a:rPr lang="de-DE" baseline="0" dirty="0" err="1"/>
              <a:t>project</a:t>
            </a:r>
            <a:r>
              <a:rPr lang="de-DE" baseline="0" dirty="0"/>
              <a:t> </a:t>
            </a:r>
            <a:r>
              <a:rPr lang="de-DE" baseline="0" dirty="0" err="1"/>
              <a:t>around</a:t>
            </a:r>
            <a:r>
              <a:rPr lang="de-DE" baseline="0" dirty="0"/>
              <a:t> </a:t>
            </a:r>
            <a:r>
              <a:rPr lang="de-DE" baseline="0" dirty="0" err="1"/>
              <a:t>models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metrics</a:t>
            </a:r>
            <a:r>
              <a:rPr lang="de-DE" baseline="0" dirty="0"/>
              <a:t>, </a:t>
            </a:r>
            <a:r>
              <a:rPr lang="de-DE" baseline="0" dirty="0" err="1"/>
              <a:t>algorithms</a:t>
            </a:r>
            <a:r>
              <a:rPr lang="de-DE" baseline="0" dirty="0"/>
              <a:t>, fault-</a:t>
            </a:r>
            <a:r>
              <a:rPr lang="de-DE" baseline="0" dirty="0" err="1"/>
              <a:t>tolerance</a:t>
            </a:r>
            <a:r>
              <a:rPr lang="de-DE" baseline="0" dirty="0"/>
              <a:t>, </a:t>
            </a:r>
            <a:r>
              <a:rPr lang="de-DE" baseline="0" dirty="0" err="1"/>
              <a:t>integration</a:t>
            </a:r>
            <a:r>
              <a:rPr lang="de-DE" baseline="0" dirty="0"/>
              <a:t> </a:t>
            </a:r>
            <a:r>
              <a:rPr lang="de-DE" baseline="0" dirty="0" err="1"/>
              <a:t>into</a:t>
            </a:r>
            <a:r>
              <a:rPr lang="de-DE" baseline="0" dirty="0"/>
              <a:t> </a:t>
            </a:r>
            <a:r>
              <a:rPr lang="de-DE" baseline="0" dirty="0" err="1"/>
              <a:t>higher</a:t>
            </a:r>
            <a:r>
              <a:rPr lang="de-DE" baseline="0" dirty="0"/>
              <a:t> </a:t>
            </a:r>
            <a:r>
              <a:rPr lang="de-DE" baseline="0" dirty="0" err="1"/>
              <a:t>layers</a:t>
            </a:r>
            <a:r>
              <a:rPr lang="de-DE" baseline="0" dirty="0"/>
              <a:t>,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case</a:t>
            </a:r>
            <a:r>
              <a:rPr lang="de-DE" baseline="0" dirty="0"/>
              <a:t> </a:t>
            </a:r>
            <a:r>
              <a:rPr lang="de-DE" baseline="0" dirty="0" err="1"/>
              <a:t>studies</a:t>
            </a:r>
            <a:r>
              <a:rPr lang="de-DE" baseline="0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/>
              <a:t>In </a:t>
            </a:r>
            <a:r>
              <a:rPr lang="de-DE" baseline="0" dirty="0" err="1"/>
              <a:t>particular</a:t>
            </a:r>
            <a:r>
              <a:rPr lang="de-DE" baseline="0" dirty="0"/>
              <a:t>, </a:t>
            </a:r>
            <a:r>
              <a:rPr lang="de-DE" baseline="0" dirty="0" err="1"/>
              <a:t>we</a:t>
            </a:r>
            <a:r>
              <a:rPr lang="de-DE" baseline="0" dirty="0"/>
              <a:t> will </a:t>
            </a:r>
            <a:r>
              <a:rPr lang="de-DE" baseline="0" dirty="0" err="1"/>
              <a:t>explore</a:t>
            </a:r>
            <a:r>
              <a:rPr lang="de-DE" baseline="0" dirty="0"/>
              <a:t> </a:t>
            </a:r>
            <a:r>
              <a:rPr lang="de-DE" baseline="0" dirty="0" err="1"/>
              <a:t>metrics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algorithms</a:t>
            </a:r>
            <a:r>
              <a:rPr lang="de-DE" baseline="0" dirty="0"/>
              <a:t> </a:t>
            </a:r>
            <a:r>
              <a:rPr lang="de-DE" baseline="0" dirty="0" err="1"/>
              <a:t>for</a:t>
            </a:r>
            <a:r>
              <a:rPr lang="de-DE" baseline="0" dirty="0"/>
              <a:t> </a:t>
            </a:r>
            <a:r>
              <a:rPr lang="de-DE" baseline="0" dirty="0" err="1"/>
              <a:t>by</a:t>
            </a:r>
            <a:r>
              <a:rPr lang="de-DE" baseline="0" dirty="0"/>
              <a:t> </a:t>
            </a:r>
            <a:r>
              <a:rPr lang="de-DE" baseline="0" dirty="0" err="1"/>
              <a:t>how</a:t>
            </a:r>
            <a:r>
              <a:rPr lang="de-DE" baseline="0" dirty="0"/>
              <a:t> </a:t>
            </a:r>
            <a:r>
              <a:rPr lang="de-DE" baseline="0" dirty="0" err="1"/>
              <a:t>much</a:t>
            </a:r>
            <a:r>
              <a:rPr lang="de-DE" baseline="0" dirty="0"/>
              <a:t> </a:t>
            </a:r>
            <a:r>
              <a:rPr lang="de-DE" baseline="0" dirty="0" err="1"/>
              <a:t>load</a:t>
            </a:r>
            <a:r>
              <a:rPr lang="de-DE" baseline="0" dirty="0"/>
              <a:t> </a:t>
            </a:r>
            <a:r>
              <a:rPr lang="de-DE" baseline="0" dirty="0" err="1"/>
              <a:t>can</a:t>
            </a:r>
            <a:r>
              <a:rPr lang="de-DE" baseline="0" dirty="0"/>
              <a:t> </a:t>
            </a:r>
            <a:r>
              <a:rPr lang="de-DE" baseline="0" dirty="0" err="1"/>
              <a:t>be</a:t>
            </a:r>
            <a:r>
              <a:rPr lang="de-DE" baseline="0" dirty="0"/>
              <a:t> </a:t>
            </a:r>
            <a:r>
              <a:rPr lang="de-DE" baseline="0" dirty="0" err="1"/>
              <a:t>lowered</a:t>
            </a:r>
            <a:r>
              <a:rPr lang="de-DE" baseline="0" dirty="0"/>
              <a:t>, </a:t>
            </a:r>
            <a:r>
              <a:rPr lang="de-DE" baseline="0" dirty="0" err="1"/>
              <a:t>energy</a:t>
            </a:r>
            <a:r>
              <a:rPr lang="de-DE" baseline="0" dirty="0"/>
              <a:t> </a:t>
            </a:r>
            <a:r>
              <a:rPr lang="de-DE" baseline="0" dirty="0" err="1"/>
              <a:t>reduced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quality</a:t>
            </a:r>
            <a:r>
              <a:rPr lang="de-DE" baseline="0" dirty="0"/>
              <a:t>-</a:t>
            </a:r>
            <a:r>
              <a:rPr lang="de-DE" baseline="0" dirty="0" err="1"/>
              <a:t>of</a:t>
            </a:r>
            <a:r>
              <a:rPr lang="de-DE" baseline="0" dirty="0"/>
              <a:t>-service </a:t>
            </a:r>
            <a:r>
              <a:rPr lang="de-DE" baseline="0" dirty="0" err="1"/>
              <a:t>improved</a:t>
            </a:r>
            <a:r>
              <a:rPr lang="de-DE" baseline="0" dirty="0"/>
              <a:t> in </a:t>
            </a:r>
            <a:r>
              <a:rPr lang="de-DE" baseline="0" dirty="0" err="1"/>
              <a:t>selfadjusting</a:t>
            </a:r>
            <a:r>
              <a:rPr lang="de-DE" baseline="0" dirty="0"/>
              <a:t> </a:t>
            </a:r>
            <a:r>
              <a:rPr lang="de-DE" baseline="0" dirty="0" err="1"/>
              <a:t>networks</a:t>
            </a:r>
            <a:r>
              <a:rPr lang="de-DE" baseline="0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 err="1"/>
              <a:t>We</a:t>
            </a:r>
            <a:r>
              <a:rPr lang="de-DE" baseline="0" dirty="0"/>
              <a:t> also </a:t>
            </a:r>
            <a:r>
              <a:rPr lang="de-DE" baseline="0" dirty="0" err="1"/>
              <a:t>need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develop</a:t>
            </a:r>
            <a:r>
              <a:rPr lang="de-DE" baseline="0" dirty="0"/>
              <a:t> </a:t>
            </a:r>
            <a:r>
              <a:rPr lang="de-DE" baseline="0" dirty="0" err="1"/>
              <a:t>models</a:t>
            </a:r>
            <a:r>
              <a:rPr lang="de-DE" baseline="0" dirty="0"/>
              <a:t> </a:t>
            </a:r>
            <a:r>
              <a:rPr lang="de-DE" baseline="0" dirty="0" err="1"/>
              <a:t>for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tradeoff</a:t>
            </a:r>
            <a:r>
              <a:rPr lang="de-DE" baseline="0" dirty="0"/>
              <a:t> </a:t>
            </a:r>
            <a:r>
              <a:rPr lang="de-DE" baseline="0" dirty="0" err="1"/>
              <a:t>between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benefits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costs</a:t>
            </a:r>
            <a:r>
              <a:rPr lang="de-DE" baseline="0" dirty="0"/>
              <a:t> </a:t>
            </a:r>
            <a:r>
              <a:rPr lang="de-DE" baseline="0" dirty="0" err="1"/>
              <a:t>of</a:t>
            </a:r>
            <a:r>
              <a:rPr lang="de-DE" baseline="0" dirty="0"/>
              <a:t> </a:t>
            </a:r>
            <a:r>
              <a:rPr lang="de-DE" baseline="0" dirty="0" err="1"/>
              <a:t>reconfigurations</a:t>
            </a:r>
            <a:r>
              <a:rPr lang="de-DE" baseline="0" dirty="0"/>
              <a:t> </a:t>
            </a:r>
            <a:r>
              <a:rPr lang="de-DE" baseline="0" dirty="0" err="1"/>
              <a:t>over</a:t>
            </a:r>
            <a:r>
              <a:rPr lang="de-DE" baseline="0" dirty="0"/>
              <a:t> time.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 err="1"/>
              <a:t>We</a:t>
            </a:r>
            <a:r>
              <a:rPr lang="de-DE" baseline="0" dirty="0"/>
              <a:t> also </a:t>
            </a:r>
            <a:r>
              <a:rPr lang="de-DE" baseline="0" dirty="0" err="1"/>
              <a:t>study</a:t>
            </a:r>
            <a:r>
              <a:rPr lang="de-DE" baseline="0" dirty="0"/>
              <a:t> </a:t>
            </a:r>
            <a:r>
              <a:rPr lang="de-DE" baseline="0" dirty="0" err="1"/>
              <a:t>how</a:t>
            </a:r>
            <a:r>
              <a:rPr lang="de-DE" baseline="0" dirty="0"/>
              <a:t> </a:t>
            </a:r>
            <a:r>
              <a:rPr lang="de-DE" baseline="0" dirty="0" err="1"/>
              <a:t>self-adjusting</a:t>
            </a:r>
            <a:r>
              <a:rPr lang="de-DE" baseline="0" dirty="0"/>
              <a:t> </a:t>
            </a:r>
            <a:r>
              <a:rPr lang="de-DE" baseline="0" dirty="0" err="1"/>
              <a:t>networks</a:t>
            </a:r>
            <a:r>
              <a:rPr lang="de-DE" baseline="0" dirty="0"/>
              <a:t> </a:t>
            </a:r>
            <a:r>
              <a:rPr lang="de-DE" baseline="0" dirty="0" err="1"/>
              <a:t>can</a:t>
            </a:r>
            <a:r>
              <a:rPr lang="de-DE" baseline="0" dirty="0"/>
              <a:t> </a:t>
            </a:r>
            <a:r>
              <a:rPr lang="de-DE" baseline="0" dirty="0" err="1"/>
              <a:t>be</a:t>
            </a:r>
            <a:r>
              <a:rPr lang="de-DE" baseline="0" dirty="0"/>
              <a:t> </a:t>
            </a:r>
            <a:r>
              <a:rPr lang="de-DE" baseline="0" dirty="0" err="1"/>
              <a:t>used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improve</a:t>
            </a:r>
            <a:r>
              <a:rPr lang="de-DE" baseline="0" dirty="0"/>
              <a:t> fault-</a:t>
            </a:r>
            <a:r>
              <a:rPr lang="de-DE" baseline="0" dirty="0" err="1"/>
              <a:t>tolerance</a:t>
            </a:r>
            <a:r>
              <a:rPr lang="de-DE" baseline="0" dirty="0"/>
              <a:t>, </a:t>
            </a:r>
            <a:r>
              <a:rPr lang="de-DE" baseline="0" dirty="0" err="1"/>
              <a:t>what</a:t>
            </a:r>
            <a:r>
              <a:rPr lang="de-DE" baseline="0" dirty="0"/>
              <a:t> </a:t>
            </a:r>
            <a:r>
              <a:rPr lang="de-DE" baseline="0" dirty="0" err="1"/>
              <a:t>is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impact</a:t>
            </a:r>
            <a:r>
              <a:rPr lang="de-DE" baseline="0" dirty="0"/>
              <a:t> on </a:t>
            </a:r>
            <a:r>
              <a:rPr lang="de-DE" baseline="0" dirty="0" err="1"/>
              <a:t>other</a:t>
            </a:r>
            <a:r>
              <a:rPr lang="de-DE" baseline="0" dirty="0"/>
              <a:t> </a:t>
            </a:r>
            <a:r>
              <a:rPr lang="de-DE" baseline="0" dirty="0" err="1"/>
              <a:t>layers</a:t>
            </a:r>
            <a:r>
              <a:rPr lang="de-DE" baseline="0" dirty="0"/>
              <a:t>,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how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apply</a:t>
            </a:r>
            <a:r>
              <a:rPr lang="de-DE" baseline="0" dirty="0"/>
              <a:t> </a:t>
            </a:r>
            <a:r>
              <a:rPr lang="de-DE" baseline="0" dirty="0" err="1"/>
              <a:t>our</a:t>
            </a:r>
            <a:r>
              <a:rPr lang="de-DE" baseline="0" dirty="0"/>
              <a:t> </a:t>
            </a:r>
            <a:r>
              <a:rPr lang="de-DE" baseline="0" dirty="0" err="1"/>
              <a:t>solutions</a:t>
            </a:r>
            <a:r>
              <a:rPr lang="de-DE" baseline="0" dirty="0"/>
              <a:t> in a </a:t>
            </a:r>
            <a:r>
              <a:rPr lang="de-DE" baseline="0" dirty="0" err="1"/>
              <a:t>specific</a:t>
            </a:r>
            <a:r>
              <a:rPr lang="de-DE" baseline="0" dirty="0"/>
              <a:t> </a:t>
            </a:r>
            <a:r>
              <a:rPr lang="de-DE" baseline="0" dirty="0" err="1"/>
              <a:t>case</a:t>
            </a:r>
            <a:r>
              <a:rPr lang="de-DE" baseline="0" dirty="0"/>
              <a:t> </a:t>
            </a:r>
            <a:r>
              <a:rPr lang="de-DE" baseline="0" dirty="0" err="1"/>
              <a:t>study</a:t>
            </a:r>
            <a:r>
              <a:rPr lang="de-DE" baseline="0" dirty="0"/>
              <a:t>, e.g., </a:t>
            </a:r>
            <a:r>
              <a:rPr lang="de-DE" baseline="0" dirty="0" err="1"/>
              <a:t>how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develop</a:t>
            </a:r>
            <a:r>
              <a:rPr lang="de-DE" baseline="0" dirty="0"/>
              <a:t> a </a:t>
            </a:r>
            <a:r>
              <a:rPr lang="de-DE" baseline="0" dirty="0" err="1"/>
              <a:t>scalable</a:t>
            </a:r>
            <a:r>
              <a:rPr lang="de-DE" baseline="0" dirty="0"/>
              <a:t> </a:t>
            </a:r>
            <a:r>
              <a:rPr lang="de-DE" baseline="0" dirty="0" err="1"/>
              <a:t>control</a:t>
            </a:r>
            <a:r>
              <a:rPr lang="de-DE" baseline="0" dirty="0"/>
              <a:t> plane.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/>
              <a:t>This </a:t>
            </a:r>
            <a:r>
              <a:rPr lang="de-DE" baseline="0" dirty="0" err="1"/>
              <a:t>project</a:t>
            </a:r>
            <a:r>
              <a:rPr lang="de-DE" baseline="0" dirty="0"/>
              <a:t> </a:t>
            </a:r>
            <a:r>
              <a:rPr lang="de-DE" baseline="0" dirty="0" err="1"/>
              <a:t>hence</a:t>
            </a:r>
            <a:r>
              <a:rPr lang="de-DE" baseline="0" dirty="0"/>
              <a:t> </a:t>
            </a:r>
            <a:r>
              <a:rPr lang="de-DE" baseline="0" dirty="0" err="1"/>
              <a:t>requires</a:t>
            </a:r>
            <a:r>
              <a:rPr lang="de-DE" baseline="0" dirty="0"/>
              <a:t> </a:t>
            </a:r>
            <a:r>
              <a:rPr lang="de-DE" baseline="0" dirty="0" err="1"/>
              <a:t>expertises</a:t>
            </a:r>
            <a:r>
              <a:rPr lang="de-DE" baseline="0" dirty="0"/>
              <a:t> </a:t>
            </a:r>
            <a:r>
              <a:rPr lang="de-DE" baseline="0" dirty="0" err="1"/>
              <a:t>from</a:t>
            </a:r>
            <a:r>
              <a:rPr lang="de-DE" baseline="0" dirty="0"/>
              <a:t> different </a:t>
            </a:r>
            <a:r>
              <a:rPr lang="de-DE" baseline="0" dirty="0" err="1"/>
              <a:t>fields</a:t>
            </a:r>
            <a:r>
              <a:rPr lang="de-DE" baseline="0" dirty="0"/>
              <a:t>, </a:t>
            </a:r>
            <a:r>
              <a:rPr lang="de-DE" baseline="0" dirty="0" err="1"/>
              <a:t>from</a:t>
            </a:r>
            <a:r>
              <a:rPr lang="de-DE" baseline="0" dirty="0"/>
              <a:t> </a:t>
            </a:r>
            <a:r>
              <a:rPr lang="de-DE" baseline="0" dirty="0" err="1"/>
              <a:t>networking</a:t>
            </a:r>
            <a:r>
              <a:rPr lang="de-DE" baseline="0" dirty="0"/>
              <a:t>, </a:t>
            </a:r>
            <a:r>
              <a:rPr lang="de-DE" baseline="0" dirty="0" err="1"/>
              <a:t>over</a:t>
            </a:r>
            <a:r>
              <a:rPr lang="de-DE" baseline="0" dirty="0"/>
              <a:t> </a:t>
            </a:r>
            <a:r>
              <a:rPr lang="de-DE" baseline="0" dirty="0" err="1"/>
              <a:t>distributed</a:t>
            </a:r>
            <a:r>
              <a:rPr lang="de-DE" baseline="0" dirty="0"/>
              <a:t> </a:t>
            </a:r>
            <a:r>
              <a:rPr lang="de-DE" baseline="0" dirty="0" err="1"/>
              <a:t>systems</a:t>
            </a:r>
            <a:r>
              <a:rPr lang="de-DE" baseline="0" dirty="0"/>
              <a:t>, </a:t>
            </a:r>
            <a:r>
              <a:rPr lang="de-DE" baseline="0" dirty="0" err="1"/>
              <a:t>algorithms</a:t>
            </a:r>
            <a:r>
              <a:rPr lang="de-DE" baseline="0" dirty="0"/>
              <a:t>,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performance</a:t>
            </a:r>
            <a:r>
              <a:rPr lang="de-DE" baseline="0" dirty="0"/>
              <a:t> </a:t>
            </a:r>
            <a:r>
              <a:rPr lang="de-DE" baseline="0" dirty="0" err="1"/>
              <a:t>evaluation</a:t>
            </a:r>
            <a:r>
              <a:rPr lang="de-DE" baseline="0" dirty="0"/>
              <a:t>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/>
              <a:t>I </a:t>
            </a:r>
            <a:r>
              <a:rPr lang="de-DE" baseline="0" dirty="0" err="1"/>
              <a:t>have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necessary</a:t>
            </a:r>
            <a:r>
              <a:rPr lang="de-DE" baseline="0" dirty="0"/>
              <a:t> </a:t>
            </a:r>
            <a:r>
              <a:rPr lang="de-DE" baseline="0" dirty="0" err="1"/>
              <a:t>background</a:t>
            </a:r>
            <a:r>
              <a:rPr lang="de-DE" baseline="0" dirty="0"/>
              <a:t> in all </a:t>
            </a:r>
            <a:r>
              <a:rPr lang="de-DE" baseline="0" dirty="0" err="1"/>
              <a:t>these</a:t>
            </a:r>
            <a:r>
              <a:rPr lang="de-DE" baseline="0" dirty="0"/>
              <a:t> </a:t>
            </a:r>
            <a:r>
              <a:rPr lang="de-DE" baseline="0" dirty="0" err="1"/>
              <a:t>areas</a:t>
            </a:r>
            <a:r>
              <a:rPr lang="de-DE" baseline="0" dirty="0"/>
              <a:t>.</a:t>
            </a:r>
            <a:endParaRPr dirty="0"/>
          </a:p>
        </p:txBody>
      </p:sp>
      <p:sp>
        <p:nvSpPr>
          <p:cNvPr id="1899" name="Google Shape;1899;g60be7dcf1c_0_790:notes">
            <a:extLst>
              <a:ext uri="{FF2B5EF4-FFF2-40B4-BE49-F238E27FC236}">
                <a16:creationId xmlns:a16="http://schemas.microsoft.com/office/drawing/2014/main" id="{5CBD3B0E-F0CB-E82A-440C-921D01CDDE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68418255"/>
      </p:ext>
    </p:extLst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7">
          <a:extLst>
            <a:ext uri="{FF2B5EF4-FFF2-40B4-BE49-F238E27FC236}">
              <a16:creationId xmlns:a16="http://schemas.microsoft.com/office/drawing/2014/main" id="{7F43B839-074B-3512-ADAC-B7AB0CF71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8" name="Google Shape;1898;g60be7dcf1c_0_790:notes">
            <a:extLst>
              <a:ext uri="{FF2B5EF4-FFF2-40B4-BE49-F238E27FC236}">
                <a16:creationId xmlns:a16="http://schemas.microsoft.com/office/drawing/2014/main" id="{54564729-63AD-1C43-DC8E-C4B9D0979F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So </a:t>
            </a:r>
            <a:r>
              <a:rPr lang="de-DE" dirty="0" err="1"/>
              <a:t>far</a:t>
            </a:r>
            <a:r>
              <a:rPr lang="de-DE" dirty="0"/>
              <a:t>,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have</a:t>
            </a:r>
            <a:r>
              <a:rPr lang="de-DE" dirty="0"/>
              <a:t> just </a:t>
            </a:r>
            <a:r>
              <a:rPr lang="de-DE" dirty="0" err="1"/>
              <a:t>scratched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surface</a:t>
            </a:r>
            <a:r>
              <a:rPr lang="de-DE" baseline="0" dirty="0"/>
              <a:t>,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with</a:t>
            </a:r>
            <a:r>
              <a:rPr lang="de-DE" baseline="0" dirty="0"/>
              <a:t> </a:t>
            </a:r>
            <a:r>
              <a:rPr lang="de-DE" baseline="0" dirty="0" err="1"/>
              <a:t>this</a:t>
            </a:r>
            <a:r>
              <a:rPr lang="de-DE" baseline="0" dirty="0"/>
              <a:t> ERC </a:t>
            </a:r>
            <a:r>
              <a:rPr lang="de-DE" baseline="0" dirty="0" err="1"/>
              <a:t>project</a:t>
            </a:r>
            <a:r>
              <a:rPr lang="de-DE" baseline="0" dirty="0"/>
              <a:t>, </a:t>
            </a:r>
            <a:r>
              <a:rPr lang="de-DE" baseline="0" dirty="0" err="1"/>
              <a:t>we</a:t>
            </a:r>
            <a:r>
              <a:rPr lang="de-DE" baseline="0" dirty="0"/>
              <a:t> </a:t>
            </a:r>
            <a:r>
              <a:rPr lang="de-DE" baseline="0" dirty="0" err="1"/>
              <a:t>want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explore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rest</a:t>
            </a:r>
            <a:r>
              <a:rPr lang="de-DE" baseline="0" dirty="0"/>
              <a:t> </a:t>
            </a:r>
            <a:r>
              <a:rPr lang="de-DE" baseline="0" dirty="0" err="1"/>
              <a:t>of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iceberg</a:t>
            </a:r>
            <a:r>
              <a:rPr lang="de-DE" baseline="0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 err="1"/>
              <a:t>Indeed</a:t>
            </a:r>
            <a:r>
              <a:rPr lang="de-DE" baseline="0" dirty="0"/>
              <a:t>,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notion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self-adjusting</a:t>
            </a:r>
            <a:r>
              <a:rPr lang="de-DE" dirty="0"/>
              <a:t> </a:t>
            </a:r>
            <a:r>
              <a:rPr lang="de-DE" dirty="0" err="1"/>
              <a:t>networks</a:t>
            </a:r>
            <a:r>
              <a:rPr lang="de-DE" dirty="0"/>
              <a:t> </a:t>
            </a:r>
            <a:r>
              <a:rPr lang="de-DE" dirty="0" err="1"/>
              <a:t>opens</a:t>
            </a:r>
            <a:r>
              <a:rPr lang="de-DE" dirty="0"/>
              <a:t> </a:t>
            </a:r>
            <a:r>
              <a:rPr lang="de-DE" baseline="0" dirty="0" err="1"/>
              <a:t>are</a:t>
            </a:r>
            <a:r>
              <a:rPr lang="de-DE" baseline="0" dirty="0"/>
              <a:t> large </a:t>
            </a:r>
            <a:r>
              <a:rPr lang="de-DE" baseline="0" dirty="0" err="1"/>
              <a:t>uncharted</a:t>
            </a:r>
            <a:r>
              <a:rPr lang="de-DE" baseline="0" dirty="0"/>
              <a:t> </a:t>
            </a:r>
            <a:r>
              <a:rPr lang="de-DE" baseline="0" dirty="0" err="1"/>
              <a:t>field</a:t>
            </a:r>
            <a:r>
              <a:rPr lang="de-DE" baseline="0" dirty="0"/>
              <a:t>, </a:t>
            </a:r>
            <a:r>
              <a:rPr lang="de-DE" baseline="0" dirty="0" err="1"/>
              <a:t>with</a:t>
            </a:r>
            <a:r>
              <a:rPr lang="de-DE" baseline="0" dirty="0"/>
              <a:t> </a:t>
            </a:r>
            <a:r>
              <a:rPr lang="de-DE" baseline="0" dirty="0" err="1"/>
              <a:t>many</a:t>
            </a:r>
            <a:r>
              <a:rPr lang="de-DE" baseline="0" dirty="0"/>
              <a:t> </a:t>
            </a:r>
            <a:r>
              <a:rPr lang="de-DE" baseline="0" dirty="0" err="1"/>
              <a:t>questions</a:t>
            </a:r>
            <a:r>
              <a:rPr lang="de-DE" baseline="0" dirty="0"/>
              <a:t>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 err="1"/>
              <a:t>W</a:t>
            </a:r>
            <a:r>
              <a:rPr lang="de-DE" baseline="0" dirty="0" err="1"/>
              <a:t>e</a:t>
            </a:r>
            <a:r>
              <a:rPr lang="de-DE" baseline="0" dirty="0"/>
              <a:t> </a:t>
            </a:r>
            <a:r>
              <a:rPr lang="de-DE" baseline="0" dirty="0" err="1"/>
              <a:t>structure</a:t>
            </a:r>
            <a:r>
              <a:rPr lang="de-DE" baseline="0" dirty="0"/>
              <a:t> </a:t>
            </a:r>
            <a:r>
              <a:rPr lang="de-DE" baseline="0" dirty="0" err="1"/>
              <a:t>our</a:t>
            </a:r>
            <a:r>
              <a:rPr lang="de-DE" baseline="0" dirty="0"/>
              <a:t> </a:t>
            </a:r>
            <a:r>
              <a:rPr lang="de-DE" baseline="0" dirty="0" err="1"/>
              <a:t>project</a:t>
            </a:r>
            <a:r>
              <a:rPr lang="de-DE" baseline="0" dirty="0"/>
              <a:t> </a:t>
            </a:r>
            <a:r>
              <a:rPr lang="de-DE" baseline="0" dirty="0" err="1"/>
              <a:t>around</a:t>
            </a:r>
            <a:r>
              <a:rPr lang="de-DE" baseline="0" dirty="0"/>
              <a:t> </a:t>
            </a:r>
            <a:r>
              <a:rPr lang="de-DE" baseline="0" dirty="0" err="1"/>
              <a:t>models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metrics</a:t>
            </a:r>
            <a:r>
              <a:rPr lang="de-DE" baseline="0" dirty="0"/>
              <a:t>, </a:t>
            </a:r>
            <a:r>
              <a:rPr lang="de-DE" baseline="0" dirty="0" err="1"/>
              <a:t>algorithms</a:t>
            </a:r>
            <a:r>
              <a:rPr lang="de-DE" baseline="0" dirty="0"/>
              <a:t>, fault-</a:t>
            </a:r>
            <a:r>
              <a:rPr lang="de-DE" baseline="0" dirty="0" err="1"/>
              <a:t>tolerance</a:t>
            </a:r>
            <a:r>
              <a:rPr lang="de-DE" baseline="0" dirty="0"/>
              <a:t>, </a:t>
            </a:r>
            <a:r>
              <a:rPr lang="de-DE" baseline="0" dirty="0" err="1"/>
              <a:t>integration</a:t>
            </a:r>
            <a:r>
              <a:rPr lang="de-DE" baseline="0" dirty="0"/>
              <a:t> </a:t>
            </a:r>
            <a:r>
              <a:rPr lang="de-DE" baseline="0" dirty="0" err="1"/>
              <a:t>into</a:t>
            </a:r>
            <a:r>
              <a:rPr lang="de-DE" baseline="0" dirty="0"/>
              <a:t> </a:t>
            </a:r>
            <a:r>
              <a:rPr lang="de-DE" baseline="0" dirty="0" err="1"/>
              <a:t>higher</a:t>
            </a:r>
            <a:r>
              <a:rPr lang="de-DE" baseline="0" dirty="0"/>
              <a:t> </a:t>
            </a:r>
            <a:r>
              <a:rPr lang="de-DE" baseline="0" dirty="0" err="1"/>
              <a:t>layers</a:t>
            </a:r>
            <a:r>
              <a:rPr lang="de-DE" baseline="0" dirty="0"/>
              <a:t>,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case</a:t>
            </a:r>
            <a:r>
              <a:rPr lang="de-DE" baseline="0" dirty="0"/>
              <a:t> </a:t>
            </a:r>
            <a:r>
              <a:rPr lang="de-DE" baseline="0" dirty="0" err="1"/>
              <a:t>studies</a:t>
            </a:r>
            <a:r>
              <a:rPr lang="de-DE" baseline="0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/>
              <a:t>In </a:t>
            </a:r>
            <a:r>
              <a:rPr lang="de-DE" baseline="0" dirty="0" err="1"/>
              <a:t>particular</a:t>
            </a:r>
            <a:r>
              <a:rPr lang="de-DE" baseline="0" dirty="0"/>
              <a:t>, </a:t>
            </a:r>
            <a:r>
              <a:rPr lang="de-DE" baseline="0" dirty="0" err="1"/>
              <a:t>we</a:t>
            </a:r>
            <a:r>
              <a:rPr lang="de-DE" baseline="0" dirty="0"/>
              <a:t> will </a:t>
            </a:r>
            <a:r>
              <a:rPr lang="de-DE" baseline="0" dirty="0" err="1"/>
              <a:t>explore</a:t>
            </a:r>
            <a:r>
              <a:rPr lang="de-DE" baseline="0" dirty="0"/>
              <a:t> </a:t>
            </a:r>
            <a:r>
              <a:rPr lang="de-DE" baseline="0" dirty="0" err="1"/>
              <a:t>metrics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algorithms</a:t>
            </a:r>
            <a:r>
              <a:rPr lang="de-DE" baseline="0" dirty="0"/>
              <a:t> </a:t>
            </a:r>
            <a:r>
              <a:rPr lang="de-DE" baseline="0" dirty="0" err="1"/>
              <a:t>for</a:t>
            </a:r>
            <a:r>
              <a:rPr lang="de-DE" baseline="0" dirty="0"/>
              <a:t> </a:t>
            </a:r>
            <a:r>
              <a:rPr lang="de-DE" baseline="0" dirty="0" err="1"/>
              <a:t>by</a:t>
            </a:r>
            <a:r>
              <a:rPr lang="de-DE" baseline="0" dirty="0"/>
              <a:t> </a:t>
            </a:r>
            <a:r>
              <a:rPr lang="de-DE" baseline="0" dirty="0" err="1"/>
              <a:t>how</a:t>
            </a:r>
            <a:r>
              <a:rPr lang="de-DE" baseline="0" dirty="0"/>
              <a:t> </a:t>
            </a:r>
            <a:r>
              <a:rPr lang="de-DE" baseline="0" dirty="0" err="1"/>
              <a:t>much</a:t>
            </a:r>
            <a:r>
              <a:rPr lang="de-DE" baseline="0" dirty="0"/>
              <a:t> </a:t>
            </a:r>
            <a:r>
              <a:rPr lang="de-DE" baseline="0" dirty="0" err="1"/>
              <a:t>load</a:t>
            </a:r>
            <a:r>
              <a:rPr lang="de-DE" baseline="0" dirty="0"/>
              <a:t> </a:t>
            </a:r>
            <a:r>
              <a:rPr lang="de-DE" baseline="0" dirty="0" err="1"/>
              <a:t>can</a:t>
            </a:r>
            <a:r>
              <a:rPr lang="de-DE" baseline="0" dirty="0"/>
              <a:t> </a:t>
            </a:r>
            <a:r>
              <a:rPr lang="de-DE" baseline="0" dirty="0" err="1"/>
              <a:t>be</a:t>
            </a:r>
            <a:r>
              <a:rPr lang="de-DE" baseline="0" dirty="0"/>
              <a:t> </a:t>
            </a:r>
            <a:r>
              <a:rPr lang="de-DE" baseline="0" dirty="0" err="1"/>
              <a:t>lowered</a:t>
            </a:r>
            <a:r>
              <a:rPr lang="de-DE" baseline="0" dirty="0"/>
              <a:t>, </a:t>
            </a:r>
            <a:r>
              <a:rPr lang="de-DE" baseline="0" dirty="0" err="1"/>
              <a:t>energy</a:t>
            </a:r>
            <a:r>
              <a:rPr lang="de-DE" baseline="0" dirty="0"/>
              <a:t> </a:t>
            </a:r>
            <a:r>
              <a:rPr lang="de-DE" baseline="0" dirty="0" err="1"/>
              <a:t>reduced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quality</a:t>
            </a:r>
            <a:r>
              <a:rPr lang="de-DE" baseline="0" dirty="0"/>
              <a:t>-</a:t>
            </a:r>
            <a:r>
              <a:rPr lang="de-DE" baseline="0" dirty="0" err="1"/>
              <a:t>of</a:t>
            </a:r>
            <a:r>
              <a:rPr lang="de-DE" baseline="0" dirty="0"/>
              <a:t>-service </a:t>
            </a:r>
            <a:r>
              <a:rPr lang="de-DE" baseline="0" dirty="0" err="1"/>
              <a:t>improved</a:t>
            </a:r>
            <a:r>
              <a:rPr lang="de-DE" baseline="0" dirty="0"/>
              <a:t> in </a:t>
            </a:r>
            <a:r>
              <a:rPr lang="de-DE" baseline="0" dirty="0" err="1"/>
              <a:t>selfadjusting</a:t>
            </a:r>
            <a:r>
              <a:rPr lang="de-DE" baseline="0" dirty="0"/>
              <a:t> </a:t>
            </a:r>
            <a:r>
              <a:rPr lang="de-DE" baseline="0" dirty="0" err="1"/>
              <a:t>networks</a:t>
            </a:r>
            <a:r>
              <a:rPr lang="de-DE" baseline="0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 err="1"/>
              <a:t>We</a:t>
            </a:r>
            <a:r>
              <a:rPr lang="de-DE" baseline="0" dirty="0"/>
              <a:t> also </a:t>
            </a:r>
            <a:r>
              <a:rPr lang="de-DE" baseline="0" dirty="0" err="1"/>
              <a:t>need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develop</a:t>
            </a:r>
            <a:r>
              <a:rPr lang="de-DE" baseline="0" dirty="0"/>
              <a:t> </a:t>
            </a:r>
            <a:r>
              <a:rPr lang="de-DE" baseline="0" dirty="0" err="1"/>
              <a:t>models</a:t>
            </a:r>
            <a:r>
              <a:rPr lang="de-DE" baseline="0" dirty="0"/>
              <a:t> </a:t>
            </a:r>
            <a:r>
              <a:rPr lang="de-DE" baseline="0" dirty="0" err="1"/>
              <a:t>for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tradeoff</a:t>
            </a:r>
            <a:r>
              <a:rPr lang="de-DE" baseline="0" dirty="0"/>
              <a:t> </a:t>
            </a:r>
            <a:r>
              <a:rPr lang="de-DE" baseline="0" dirty="0" err="1"/>
              <a:t>between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benefits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costs</a:t>
            </a:r>
            <a:r>
              <a:rPr lang="de-DE" baseline="0" dirty="0"/>
              <a:t> </a:t>
            </a:r>
            <a:r>
              <a:rPr lang="de-DE" baseline="0" dirty="0" err="1"/>
              <a:t>of</a:t>
            </a:r>
            <a:r>
              <a:rPr lang="de-DE" baseline="0" dirty="0"/>
              <a:t> </a:t>
            </a:r>
            <a:r>
              <a:rPr lang="de-DE" baseline="0" dirty="0" err="1"/>
              <a:t>reconfigurations</a:t>
            </a:r>
            <a:r>
              <a:rPr lang="de-DE" baseline="0" dirty="0"/>
              <a:t> </a:t>
            </a:r>
            <a:r>
              <a:rPr lang="de-DE" baseline="0" dirty="0" err="1"/>
              <a:t>over</a:t>
            </a:r>
            <a:r>
              <a:rPr lang="de-DE" baseline="0" dirty="0"/>
              <a:t> time.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 err="1"/>
              <a:t>We</a:t>
            </a:r>
            <a:r>
              <a:rPr lang="de-DE" baseline="0" dirty="0"/>
              <a:t> also </a:t>
            </a:r>
            <a:r>
              <a:rPr lang="de-DE" baseline="0" dirty="0" err="1"/>
              <a:t>study</a:t>
            </a:r>
            <a:r>
              <a:rPr lang="de-DE" baseline="0" dirty="0"/>
              <a:t> </a:t>
            </a:r>
            <a:r>
              <a:rPr lang="de-DE" baseline="0" dirty="0" err="1"/>
              <a:t>how</a:t>
            </a:r>
            <a:r>
              <a:rPr lang="de-DE" baseline="0" dirty="0"/>
              <a:t> </a:t>
            </a:r>
            <a:r>
              <a:rPr lang="de-DE" baseline="0" dirty="0" err="1"/>
              <a:t>self-adjusting</a:t>
            </a:r>
            <a:r>
              <a:rPr lang="de-DE" baseline="0" dirty="0"/>
              <a:t> </a:t>
            </a:r>
            <a:r>
              <a:rPr lang="de-DE" baseline="0" dirty="0" err="1"/>
              <a:t>networks</a:t>
            </a:r>
            <a:r>
              <a:rPr lang="de-DE" baseline="0" dirty="0"/>
              <a:t> </a:t>
            </a:r>
            <a:r>
              <a:rPr lang="de-DE" baseline="0" dirty="0" err="1"/>
              <a:t>can</a:t>
            </a:r>
            <a:r>
              <a:rPr lang="de-DE" baseline="0" dirty="0"/>
              <a:t> </a:t>
            </a:r>
            <a:r>
              <a:rPr lang="de-DE" baseline="0" dirty="0" err="1"/>
              <a:t>be</a:t>
            </a:r>
            <a:r>
              <a:rPr lang="de-DE" baseline="0" dirty="0"/>
              <a:t> </a:t>
            </a:r>
            <a:r>
              <a:rPr lang="de-DE" baseline="0" dirty="0" err="1"/>
              <a:t>used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improve</a:t>
            </a:r>
            <a:r>
              <a:rPr lang="de-DE" baseline="0" dirty="0"/>
              <a:t> fault-</a:t>
            </a:r>
            <a:r>
              <a:rPr lang="de-DE" baseline="0" dirty="0" err="1"/>
              <a:t>tolerance</a:t>
            </a:r>
            <a:r>
              <a:rPr lang="de-DE" baseline="0" dirty="0"/>
              <a:t>, </a:t>
            </a:r>
            <a:r>
              <a:rPr lang="de-DE" baseline="0" dirty="0" err="1"/>
              <a:t>what</a:t>
            </a:r>
            <a:r>
              <a:rPr lang="de-DE" baseline="0" dirty="0"/>
              <a:t> </a:t>
            </a:r>
            <a:r>
              <a:rPr lang="de-DE" baseline="0" dirty="0" err="1"/>
              <a:t>is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impact</a:t>
            </a:r>
            <a:r>
              <a:rPr lang="de-DE" baseline="0" dirty="0"/>
              <a:t> on </a:t>
            </a:r>
            <a:r>
              <a:rPr lang="de-DE" baseline="0" dirty="0" err="1"/>
              <a:t>other</a:t>
            </a:r>
            <a:r>
              <a:rPr lang="de-DE" baseline="0" dirty="0"/>
              <a:t> </a:t>
            </a:r>
            <a:r>
              <a:rPr lang="de-DE" baseline="0" dirty="0" err="1"/>
              <a:t>layers</a:t>
            </a:r>
            <a:r>
              <a:rPr lang="de-DE" baseline="0" dirty="0"/>
              <a:t>,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how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apply</a:t>
            </a:r>
            <a:r>
              <a:rPr lang="de-DE" baseline="0" dirty="0"/>
              <a:t> </a:t>
            </a:r>
            <a:r>
              <a:rPr lang="de-DE" baseline="0" dirty="0" err="1"/>
              <a:t>our</a:t>
            </a:r>
            <a:r>
              <a:rPr lang="de-DE" baseline="0" dirty="0"/>
              <a:t> </a:t>
            </a:r>
            <a:r>
              <a:rPr lang="de-DE" baseline="0" dirty="0" err="1"/>
              <a:t>solutions</a:t>
            </a:r>
            <a:r>
              <a:rPr lang="de-DE" baseline="0" dirty="0"/>
              <a:t> in a </a:t>
            </a:r>
            <a:r>
              <a:rPr lang="de-DE" baseline="0" dirty="0" err="1"/>
              <a:t>specific</a:t>
            </a:r>
            <a:r>
              <a:rPr lang="de-DE" baseline="0" dirty="0"/>
              <a:t> </a:t>
            </a:r>
            <a:r>
              <a:rPr lang="de-DE" baseline="0" dirty="0" err="1"/>
              <a:t>case</a:t>
            </a:r>
            <a:r>
              <a:rPr lang="de-DE" baseline="0" dirty="0"/>
              <a:t> </a:t>
            </a:r>
            <a:r>
              <a:rPr lang="de-DE" baseline="0" dirty="0" err="1"/>
              <a:t>study</a:t>
            </a:r>
            <a:r>
              <a:rPr lang="de-DE" baseline="0" dirty="0"/>
              <a:t>, e.g., </a:t>
            </a:r>
            <a:r>
              <a:rPr lang="de-DE" baseline="0" dirty="0" err="1"/>
              <a:t>how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develop</a:t>
            </a:r>
            <a:r>
              <a:rPr lang="de-DE" baseline="0" dirty="0"/>
              <a:t> a </a:t>
            </a:r>
            <a:r>
              <a:rPr lang="de-DE" baseline="0" dirty="0" err="1"/>
              <a:t>scalable</a:t>
            </a:r>
            <a:r>
              <a:rPr lang="de-DE" baseline="0" dirty="0"/>
              <a:t> </a:t>
            </a:r>
            <a:r>
              <a:rPr lang="de-DE" baseline="0" dirty="0" err="1"/>
              <a:t>control</a:t>
            </a:r>
            <a:r>
              <a:rPr lang="de-DE" baseline="0" dirty="0"/>
              <a:t> plane.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/>
              <a:t>This </a:t>
            </a:r>
            <a:r>
              <a:rPr lang="de-DE" baseline="0" dirty="0" err="1"/>
              <a:t>project</a:t>
            </a:r>
            <a:r>
              <a:rPr lang="de-DE" baseline="0" dirty="0"/>
              <a:t> </a:t>
            </a:r>
            <a:r>
              <a:rPr lang="de-DE" baseline="0" dirty="0" err="1"/>
              <a:t>hence</a:t>
            </a:r>
            <a:r>
              <a:rPr lang="de-DE" baseline="0" dirty="0"/>
              <a:t> </a:t>
            </a:r>
            <a:r>
              <a:rPr lang="de-DE" baseline="0" dirty="0" err="1"/>
              <a:t>requires</a:t>
            </a:r>
            <a:r>
              <a:rPr lang="de-DE" baseline="0" dirty="0"/>
              <a:t> </a:t>
            </a:r>
            <a:r>
              <a:rPr lang="de-DE" baseline="0" dirty="0" err="1"/>
              <a:t>expertises</a:t>
            </a:r>
            <a:r>
              <a:rPr lang="de-DE" baseline="0" dirty="0"/>
              <a:t> </a:t>
            </a:r>
            <a:r>
              <a:rPr lang="de-DE" baseline="0" dirty="0" err="1"/>
              <a:t>from</a:t>
            </a:r>
            <a:r>
              <a:rPr lang="de-DE" baseline="0" dirty="0"/>
              <a:t> different </a:t>
            </a:r>
            <a:r>
              <a:rPr lang="de-DE" baseline="0" dirty="0" err="1"/>
              <a:t>fields</a:t>
            </a:r>
            <a:r>
              <a:rPr lang="de-DE" baseline="0" dirty="0"/>
              <a:t>, </a:t>
            </a:r>
            <a:r>
              <a:rPr lang="de-DE" baseline="0" dirty="0" err="1"/>
              <a:t>from</a:t>
            </a:r>
            <a:r>
              <a:rPr lang="de-DE" baseline="0" dirty="0"/>
              <a:t> </a:t>
            </a:r>
            <a:r>
              <a:rPr lang="de-DE" baseline="0" dirty="0" err="1"/>
              <a:t>networking</a:t>
            </a:r>
            <a:r>
              <a:rPr lang="de-DE" baseline="0" dirty="0"/>
              <a:t>, </a:t>
            </a:r>
            <a:r>
              <a:rPr lang="de-DE" baseline="0" dirty="0" err="1"/>
              <a:t>over</a:t>
            </a:r>
            <a:r>
              <a:rPr lang="de-DE" baseline="0" dirty="0"/>
              <a:t> </a:t>
            </a:r>
            <a:r>
              <a:rPr lang="de-DE" baseline="0" dirty="0" err="1"/>
              <a:t>distributed</a:t>
            </a:r>
            <a:r>
              <a:rPr lang="de-DE" baseline="0" dirty="0"/>
              <a:t> </a:t>
            </a:r>
            <a:r>
              <a:rPr lang="de-DE" baseline="0" dirty="0" err="1"/>
              <a:t>systems</a:t>
            </a:r>
            <a:r>
              <a:rPr lang="de-DE" baseline="0" dirty="0"/>
              <a:t>, </a:t>
            </a:r>
            <a:r>
              <a:rPr lang="de-DE" baseline="0" dirty="0" err="1"/>
              <a:t>algorithms</a:t>
            </a:r>
            <a:r>
              <a:rPr lang="de-DE" baseline="0" dirty="0"/>
              <a:t>,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performance</a:t>
            </a:r>
            <a:r>
              <a:rPr lang="de-DE" baseline="0" dirty="0"/>
              <a:t> </a:t>
            </a:r>
            <a:r>
              <a:rPr lang="de-DE" baseline="0" dirty="0" err="1"/>
              <a:t>evaluation</a:t>
            </a:r>
            <a:r>
              <a:rPr lang="de-DE" baseline="0" dirty="0"/>
              <a:t>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/>
              <a:t>I </a:t>
            </a:r>
            <a:r>
              <a:rPr lang="de-DE" baseline="0" dirty="0" err="1"/>
              <a:t>have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necessary</a:t>
            </a:r>
            <a:r>
              <a:rPr lang="de-DE" baseline="0" dirty="0"/>
              <a:t> </a:t>
            </a:r>
            <a:r>
              <a:rPr lang="de-DE" baseline="0" dirty="0" err="1"/>
              <a:t>background</a:t>
            </a:r>
            <a:r>
              <a:rPr lang="de-DE" baseline="0" dirty="0"/>
              <a:t> in all </a:t>
            </a:r>
            <a:r>
              <a:rPr lang="de-DE" baseline="0" dirty="0" err="1"/>
              <a:t>these</a:t>
            </a:r>
            <a:r>
              <a:rPr lang="de-DE" baseline="0" dirty="0"/>
              <a:t> </a:t>
            </a:r>
            <a:r>
              <a:rPr lang="de-DE" baseline="0" dirty="0" err="1"/>
              <a:t>areas</a:t>
            </a:r>
            <a:r>
              <a:rPr lang="de-DE" baseline="0" dirty="0"/>
              <a:t>.</a:t>
            </a:r>
            <a:endParaRPr dirty="0"/>
          </a:p>
        </p:txBody>
      </p:sp>
      <p:sp>
        <p:nvSpPr>
          <p:cNvPr id="1899" name="Google Shape;1899;g60be7dcf1c_0_790:notes">
            <a:extLst>
              <a:ext uri="{FF2B5EF4-FFF2-40B4-BE49-F238E27FC236}">
                <a16:creationId xmlns:a16="http://schemas.microsoft.com/office/drawing/2014/main" id="{F029B7DF-5AF2-4F3E-F09C-91658D6B0D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550623265"/>
      </p:ext>
    </p:extLst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7">
          <a:extLst>
            <a:ext uri="{FF2B5EF4-FFF2-40B4-BE49-F238E27FC236}">
              <a16:creationId xmlns:a16="http://schemas.microsoft.com/office/drawing/2014/main" id="{F227C2C2-CE34-13A9-5313-662F1CCBF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8" name="Google Shape;1898;g60be7dcf1c_0_790:notes">
            <a:extLst>
              <a:ext uri="{FF2B5EF4-FFF2-40B4-BE49-F238E27FC236}">
                <a16:creationId xmlns:a16="http://schemas.microsoft.com/office/drawing/2014/main" id="{B9C46DED-D5A2-D830-20D4-B287222A16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So </a:t>
            </a:r>
            <a:r>
              <a:rPr lang="de-DE" dirty="0" err="1"/>
              <a:t>far</a:t>
            </a:r>
            <a:r>
              <a:rPr lang="de-DE" dirty="0"/>
              <a:t>,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have</a:t>
            </a:r>
            <a:r>
              <a:rPr lang="de-DE" dirty="0"/>
              <a:t> just </a:t>
            </a:r>
            <a:r>
              <a:rPr lang="de-DE" dirty="0" err="1"/>
              <a:t>scratched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surface</a:t>
            </a:r>
            <a:r>
              <a:rPr lang="de-DE" baseline="0" dirty="0"/>
              <a:t>,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with</a:t>
            </a:r>
            <a:r>
              <a:rPr lang="de-DE" baseline="0" dirty="0"/>
              <a:t> </a:t>
            </a:r>
            <a:r>
              <a:rPr lang="de-DE" baseline="0" dirty="0" err="1"/>
              <a:t>this</a:t>
            </a:r>
            <a:r>
              <a:rPr lang="de-DE" baseline="0" dirty="0"/>
              <a:t> ERC </a:t>
            </a:r>
            <a:r>
              <a:rPr lang="de-DE" baseline="0" dirty="0" err="1"/>
              <a:t>project</a:t>
            </a:r>
            <a:r>
              <a:rPr lang="de-DE" baseline="0" dirty="0"/>
              <a:t>, </a:t>
            </a:r>
            <a:r>
              <a:rPr lang="de-DE" baseline="0" dirty="0" err="1"/>
              <a:t>we</a:t>
            </a:r>
            <a:r>
              <a:rPr lang="de-DE" baseline="0" dirty="0"/>
              <a:t> </a:t>
            </a:r>
            <a:r>
              <a:rPr lang="de-DE" baseline="0" dirty="0" err="1"/>
              <a:t>want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explore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rest</a:t>
            </a:r>
            <a:r>
              <a:rPr lang="de-DE" baseline="0" dirty="0"/>
              <a:t> </a:t>
            </a:r>
            <a:r>
              <a:rPr lang="de-DE" baseline="0" dirty="0" err="1"/>
              <a:t>of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iceberg</a:t>
            </a:r>
            <a:r>
              <a:rPr lang="de-DE" baseline="0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 err="1"/>
              <a:t>Indeed</a:t>
            </a:r>
            <a:r>
              <a:rPr lang="de-DE" baseline="0" dirty="0"/>
              <a:t>,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notion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self-adjusting</a:t>
            </a:r>
            <a:r>
              <a:rPr lang="de-DE" dirty="0"/>
              <a:t> </a:t>
            </a:r>
            <a:r>
              <a:rPr lang="de-DE" dirty="0" err="1"/>
              <a:t>networks</a:t>
            </a:r>
            <a:r>
              <a:rPr lang="de-DE" dirty="0"/>
              <a:t> </a:t>
            </a:r>
            <a:r>
              <a:rPr lang="de-DE" dirty="0" err="1"/>
              <a:t>opens</a:t>
            </a:r>
            <a:r>
              <a:rPr lang="de-DE" dirty="0"/>
              <a:t> </a:t>
            </a:r>
            <a:r>
              <a:rPr lang="de-DE" baseline="0" dirty="0" err="1"/>
              <a:t>are</a:t>
            </a:r>
            <a:r>
              <a:rPr lang="de-DE" baseline="0" dirty="0"/>
              <a:t> large </a:t>
            </a:r>
            <a:r>
              <a:rPr lang="de-DE" baseline="0" dirty="0" err="1"/>
              <a:t>uncharted</a:t>
            </a:r>
            <a:r>
              <a:rPr lang="de-DE" baseline="0" dirty="0"/>
              <a:t> </a:t>
            </a:r>
            <a:r>
              <a:rPr lang="de-DE" baseline="0" dirty="0" err="1"/>
              <a:t>field</a:t>
            </a:r>
            <a:r>
              <a:rPr lang="de-DE" baseline="0" dirty="0"/>
              <a:t>, </a:t>
            </a:r>
            <a:r>
              <a:rPr lang="de-DE" baseline="0" dirty="0" err="1"/>
              <a:t>with</a:t>
            </a:r>
            <a:r>
              <a:rPr lang="de-DE" baseline="0" dirty="0"/>
              <a:t> </a:t>
            </a:r>
            <a:r>
              <a:rPr lang="de-DE" baseline="0" dirty="0" err="1"/>
              <a:t>many</a:t>
            </a:r>
            <a:r>
              <a:rPr lang="de-DE" baseline="0" dirty="0"/>
              <a:t> </a:t>
            </a:r>
            <a:r>
              <a:rPr lang="de-DE" baseline="0" dirty="0" err="1"/>
              <a:t>questions</a:t>
            </a:r>
            <a:r>
              <a:rPr lang="de-DE" baseline="0" dirty="0"/>
              <a:t>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 err="1"/>
              <a:t>W</a:t>
            </a:r>
            <a:r>
              <a:rPr lang="de-DE" baseline="0" dirty="0" err="1"/>
              <a:t>e</a:t>
            </a:r>
            <a:r>
              <a:rPr lang="de-DE" baseline="0" dirty="0"/>
              <a:t> </a:t>
            </a:r>
            <a:r>
              <a:rPr lang="de-DE" baseline="0" dirty="0" err="1"/>
              <a:t>structure</a:t>
            </a:r>
            <a:r>
              <a:rPr lang="de-DE" baseline="0" dirty="0"/>
              <a:t> </a:t>
            </a:r>
            <a:r>
              <a:rPr lang="de-DE" baseline="0" dirty="0" err="1"/>
              <a:t>our</a:t>
            </a:r>
            <a:r>
              <a:rPr lang="de-DE" baseline="0" dirty="0"/>
              <a:t> </a:t>
            </a:r>
            <a:r>
              <a:rPr lang="de-DE" baseline="0" dirty="0" err="1"/>
              <a:t>project</a:t>
            </a:r>
            <a:r>
              <a:rPr lang="de-DE" baseline="0" dirty="0"/>
              <a:t> </a:t>
            </a:r>
            <a:r>
              <a:rPr lang="de-DE" baseline="0" dirty="0" err="1"/>
              <a:t>around</a:t>
            </a:r>
            <a:r>
              <a:rPr lang="de-DE" baseline="0" dirty="0"/>
              <a:t> </a:t>
            </a:r>
            <a:r>
              <a:rPr lang="de-DE" baseline="0" dirty="0" err="1"/>
              <a:t>models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metrics</a:t>
            </a:r>
            <a:r>
              <a:rPr lang="de-DE" baseline="0" dirty="0"/>
              <a:t>, </a:t>
            </a:r>
            <a:r>
              <a:rPr lang="de-DE" baseline="0" dirty="0" err="1"/>
              <a:t>algorithms</a:t>
            </a:r>
            <a:r>
              <a:rPr lang="de-DE" baseline="0" dirty="0"/>
              <a:t>, fault-</a:t>
            </a:r>
            <a:r>
              <a:rPr lang="de-DE" baseline="0" dirty="0" err="1"/>
              <a:t>tolerance</a:t>
            </a:r>
            <a:r>
              <a:rPr lang="de-DE" baseline="0" dirty="0"/>
              <a:t>, </a:t>
            </a:r>
            <a:r>
              <a:rPr lang="de-DE" baseline="0" dirty="0" err="1"/>
              <a:t>integration</a:t>
            </a:r>
            <a:r>
              <a:rPr lang="de-DE" baseline="0" dirty="0"/>
              <a:t> </a:t>
            </a:r>
            <a:r>
              <a:rPr lang="de-DE" baseline="0" dirty="0" err="1"/>
              <a:t>into</a:t>
            </a:r>
            <a:r>
              <a:rPr lang="de-DE" baseline="0" dirty="0"/>
              <a:t> </a:t>
            </a:r>
            <a:r>
              <a:rPr lang="de-DE" baseline="0" dirty="0" err="1"/>
              <a:t>higher</a:t>
            </a:r>
            <a:r>
              <a:rPr lang="de-DE" baseline="0" dirty="0"/>
              <a:t> </a:t>
            </a:r>
            <a:r>
              <a:rPr lang="de-DE" baseline="0" dirty="0" err="1"/>
              <a:t>layers</a:t>
            </a:r>
            <a:r>
              <a:rPr lang="de-DE" baseline="0" dirty="0"/>
              <a:t>,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case</a:t>
            </a:r>
            <a:r>
              <a:rPr lang="de-DE" baseline="0" dirty="0"/>
              <a:t> </a:t>
            </a:r>
            <a:r>
              <a:rPr lang="de-DE" baseline="0" dirty="0" err="1"/>
              <a:t>studies</a:t>
            </a:r>
            <a:r>
              <a:rPr lang="de-DE" baseline="0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/>
              <a:t>In </a:t>
            </a:r>
            <a:r>
              <a:rPr lang="de-DE" baseline="0" dirty="0" err="1"/>
              <a:t>particular</a:t>
            </a:r>
            <a:r>
              <a:rPr lang="de-DE" baseline="0" dirty="0"/>
              <a:t>, </a:t>
            </a:r>
            <a:r>
              <a:rPr lang="de-DE" baseline="0" dirty="0" err="1"/>
              <a:t>we</a:t>
            </a:r>
            <a:r>
              <a:rPr lang="de-DE" baseline="0" dirty="0"/>
              <a:t> will </a:t>
            </a:r>
            <a:r>
              <a:rPr lang="de-DE" baseline="0" dirty="0" err="1"/>
              <a:t>explore</a:t>
            </a:r>
            <a:r>
              <a:rPr lang="de-DE" baseline="0" dirty="0"/>
              <a:t> </a:t>
            </a:r>
            <a:r>
              <a:rPr lang="de-DE" baseline="0" dirty="0" err="1"/>
              <a:t>metrics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algorithms</a:t>
            </a:r>
            <a:r>
              <a:rPr lang="de-DE" baseline="0" dirty="0"/>
              <a:t> </a:t>
            </a:r>
            <a:r>
              <a:rPr lang="de-DE" baseline="0" dirty="0" err="1"/>
              <a:t>for</a:t>
            </a:r>
            <a:r>
              <a:rPr lang="de-DE" baseline="0" dirty="0"/>
              <a:t> </a:t>
            </a:r>
            <a:r>
              <a:rPr lang="de-DE" baseline="0" dirty="0" err="1"/>
              <a:t>by</a:t>
            </a:r>
            <a:r>
              <a:rPr lang="de-DE" baseline="0" dirty="0"/>
              <a:t> </a:t>
            </a:r>
            <a:r>
              <a:rPr lang="de-DE" baseline="0" dirty="0" err="1"/>
              <a:t>how</a:t>
            </a:r>
            <a:r>
              <a:rPr lang="de-DE" baseline="0" dirty="0"/>
              <a:t> </a:t>
            </a:r>
            <a:r>
              <a:rPr lang="de-DE" baseline="0" dirty="0" err="1"/>
              <a:t>much</a:t>
            </a:r>
            <a:r>
              <a:rPr lang="de-DE" baseline="0" dirty="0"/>
              <a:t> </a:t>
            </a:r>
            <a:r>
              <a:rPr lang="de-DE" baseline="0" dirty="0" err="1"/>
              <a:t>load</a:t>
            </a:r>
            <a:r>
              <a:rPr lang="de-DE" baseline="0" dirty="0"/>
              <a:t> </a:t>
            </a:r>
            <a:r>
              <a:rPr lang="de-DE" baseline="0" dirty="0" err="1"/>
              <a:t>can</a:t>
            </a:r>
            <a:r>
              <a:rPr lang="de-DE" baseline="0" dirty="0"/>
              <a:t> </a:t>
            </a:r>
            <a:r>
              <a:rPr lang="de-DE" baseline="0" dirty="0" err="1"/>
              <a:t>be</a:t>
            </a:r>
            <a:r>
              <a:rPr lang="de-DE" baseline="0" dirty="0"/>
              <a:t> </a:t>
            </a:r>
            <a:r>
              <a:rPr lang="de-DE" baseline="0" dirty="0" err="1"/>
              <a:t>lowered</a:t>
            </a:r>
            <a:r>
              <a:rPr lang="de-DE" baseline="0" dirty="0"/>
              <a:t>, </a:t>
            </a:r>
            <a:r>
              <a:rPr lang="de-DE" baseline="0" dirty="0" err="1"/>
              <a:t>energy</a:t>
            </a:r>
            <a:r>
              <a:rPr lang="de-DE" baseline="0" dirty="0"/>
              <a:t> </a:t>
            </a:r>
            <a:r>
              <a:rPr lang="de-DE" baseline="0" dirty="0" err="1"/>
              <a:t>reduced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quality</a:t>
            </a:r>
            <a:r>
              <a:rPr lang="de-DE" baseline="0" dirty="0"/>
              <a:t>-</a:t>
            </a:r>
            <a:r>
              <a:rPr lang="de-DE" baseline="0" dirty="0" err="1"/>
              <a:t>of</a:t>
            </a:r>
            <a:r>
              <a:rPr lang="de-DE" baseline="0" dirty="0"/>
              <a:t>-service </a:t>
            </a:r>
            <a:r>
              <a:rPr lang="de-DE" baseline="0" dirty="0" err="1"/>
              <a:t>improved</a:t>
            </a:r>
            <a:r>
              <a:rPr lang="de-DE" baseline="0" dirty="0"/>
              <a:t> in </a:t>
            </a:r>
            <a:r>
              <a:rPr lang="de-DE" baseline="0" dirty="0" err="1"/>
              <a:t>selfadjusting</a:t>
            </a:r>
            <a:r>
              <a:rPr lang="de-DE" baseline="0" dirty="0"/>
              <a:t> </a:t>
            </a:r>
            <a:r>
              <a:rPr lang="de-DE" baseline="0" dirty="0" err="1"/>
              <a:t>networks</a:t>
            </a:r>
            <a:r>
              <a:rPr lang="de-DE" baseline="0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 err="1"/>
              <a:t>We</a:t>
            </a:r>
            <a:r>
              <a:rPr lang="de-DE" baseline="0" dirty="0"/>
              <a:t> also </a:t>
            </a:r>
            <a:r>
              <a:rPr lang="de-DE" baseline="0" dirty="0" err="1"/>
              <a:t>need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develop</a:t>
            </a:r>
            <a:r>
              <a:rPr lang="de-DE" baseline="0" dirty="0"/>
              <a:t> </a:t>
            </a:r>
            <a:r>
              <a:rPr lang="de-DE" baseline="0" dirty="0" err="1"/>
              <a:t>models</a:t>
            </a:r>
            <a:r>
              <a:rPr lang="de-DE" baseline="0" dirty="0"/>
              <a:t> </a:t>
            </a:r>
            <a:r>
              <a:rPr lang="de-DE" baseline="0" dirty="0" err="1"/>
              <a:t>for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tradeoff</a:t>
            </a:r>
            <a:r>
              <a:rPr lang="de-DE" baseline="0" dirty="0"/>
              <a:t> </a:t>
            </a:r>
            <a:r>
              <a:rPr lang="de-DE" baseline="0" dirty="0" err="1"/>
              <a:t>between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benefits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costs</a:t>
            </a:r>
            <a:r>
              <a:rPr lang="de-DE" baseline="0" dirty="0"/>
              <a:t> </a:t>
            </a:r>
            <a:r>
              <a:rPr lang="de-DE" baseline="0" dirty="0" err="1"/>
              <a:t>of</a:t>
            </a:r>
            <a:r>
              <a:rPr lang="de-DE" baseline="0" dirty="0"/>
              <a:t> </a:t>
            </a:r>
            <a:r>
              <a:rPr lang="de-DE" baseline="0" dirty="0" err="1"/>
              <a:t>reconfigurations</a:t>
            </a:r>
            <a:r>
              <a:rPr lang="de-DE" baseline="0" dirty="0"/>
              <a:t> </a:t>
            </a:r>
            <a:r>
              <a:rPr lang="de-DE" baseline="0" dirty="0" err="1"/>
              <a:t>over</a:t>
            </a:r>
            <a:r>
              <a:rPr lang="de-DE" baseline="0" dirty="0"/>
              <a:t> time.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 err="1"/>
              <a:t>We</a:t>
            </a:r>
            <a:r>
              <a:rPr lang="de-DE" baseline="0" dirty="0"/>
              <a:t> also </a:t>
            </a:r>
            <a:r>
              <a:rPr lang="de-DE" baseline="0" dirty="0" err="1"/>
              <a:t>study</a:t>
            </a:r>
            <a:r>
              <a:rPr lang="de-DE" baseline="0" dirty="0"/>
              <a:t> </a:t>
            </a:r>
            <a:r>
              <a:rPr lang="de-DE" baseline="0" dirty="0" err="1"/>
              <a:t>how</a:t>
            </a:r>
            <a:r>
              <a:rPr lang="de-DE" baseline="0" dirty="0"/>
              <a:t> </a:t>
            </a:r>
            <a:r>
              <a:rPr lang="de-DE" baseline="0" dirty="0" err="1"/>
              <a:t>self-adjusting</a:t>
            </a:r>
            <a:r>
              <a:rPr lang="de-DE" baseline="0" dirty="0"/>
              <a:t> </a:t>
            </a:r>
            <a:r>
              <a:rPr lang="de-DE" baseline="0" dirty="0" err="1"/>
              <a:t>networks</a:t>
            </a:r>
            <a:r>
              <a:rPr lang="de-DE" baseline="0" dirty="0"/>
              <a:t> </a:t>
            </a:r>
            <a:r>
              <a:rPr lang="de-DE" baseline="0" dirty="0" err="1"/>
              <a:t>can</a:t>
            </a:r>
            <a:r>
              <a:rPr lang="de-DE" baseline="0" dirty="0"/>
              <a:t> </a:t>
            </a:r>
            <a:r>
              <a:rPr lang="de-DE" baseline="0" dirty="0" err="1"/>
              <a:t>be</a:t>
            </a:r>
            <a:r>
              <a:rPr lang="de-DE" baseline="0" dirty="0"/>
              <a:t> </a:t>
            </a:r>
            <a:r>
              <a:rPr lang="de-DE" baseline="0" dirty="0" err="1"/>
              <a:t>used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improve</a:t>
            </a:r>
            <a:r>
              <a:rPr lang="de-DE" baseline="0" dirty="0"/>
              <a:t> fault-</a:t>
            </a:r>
            <a:r>
              <a:rPr lang="de-DE" baseline="0" dirty="0" err="1"/>
              <a:t>tolerance</a:t>
            </a:r>
            <a:r>
              <a:rPr lang="de-DE" baseline="0" dirty="0"/>
              <a:t>, </a:t>
            </a:r>
            <a:r>
              <a:rPr lang="de-DE" baseline="0" dirty="0" err="1"/>
              <a:t>what</a:t>
            </a:r>
            <a:r>
              <a:rPr lang="de-DE" baseline="0" dirty="0"/>
              <a:t> </a:t>
            </a:r>
            <a:r>
              <a:rPr lang="de-DE" baseline="0" dirty="0" err="1"/>
              <a:t>is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impact</a:t>
            </a:r>
            <a:r>
              <a:rPr lang="de-DE" baseline="0" dirty="0"/>
              <a:t> on </a:t>
            </a:r>
            <a:r>
              <a:rPr lang="de-DE" baseline="0" dirty="0" err="1"/>
              <a:t>other</a:t>
            </a:r>
            <a:r>
              <a:rPr lang="de-DE" baseline="0" dirty="0"/>
              <a:t> </a:t>
            </a:r>
            <a:r>
              <a:rPr lang="de-DE" baseline="0" dirty="0" err="1"/>
              <a:t>layers</a:t>
            </a:r>
            <a:r>
              <a:rPr lang="de-DE" baseline="0" dirty="0"/>
              <a:t>,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how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apply</a:t>
            </a:r>
            <a:r>
              <a:rPr lang="de-DE" baseline="0" dirty="0"/>
              <a:t> </a:t>
            </a:r>
            <a:r>
              <a:rPr lang="de-DE" baseline="0" dirty="0" err="1"/>
              <a:t>our</a:t>
            </a:r>
            <a:r>
              <a:rPr lang="de-DE" baseline="0" dirty="0"/>
              <a:t> </a:t>
            </a:r>
            <a:r>
              <a:rPr lang="de-DE" baseline="0" dirty="0" err="1"/>
              <a:t>solutions</a:t>
            </a:r>
            <a:r>
              <a:rPr lang="de-DE" baseline="0" dirty="0"/>
              <a:t> in a </a:t>
            </a:r>
            <a:r>
              <a:rPr lang="de-DE" baseline="0" dirty="0" err="1"/>
              <a:t>specific</a:t>
            </a:r>
            <a:r>
              <a:rPr lang="de-DE" baseline="0" dirty="0"/>
              <a:t> </a:t>
            </a:r>
            <a:r>
              <a:rPr lang="de-DE" baseline="0" dirty="0" err="1"/>
              <a:t>case</a:t>
            </a:r>
            <a:r>
              <a:rPr lang="de-DE" baseline="0" dirty="0"/>
              <a:t> </a:t>
            </a:r>
            <a:r>
              <a:rPr lang="de-DE" baseline="0" dirty="0" err="1"/>
              <a:t>study</a:t>
            </a:r>
            <a:r>
              <a:rPr lang="de-DE" baseline="0" dirty="0"/>
              <a:t>, e.g., </a:t>
            </a:r>
            <a:r>
              <a:rPr lang="de-DE" baseline="0" dirty="0" err="1"/>
              <a:t>how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develop</a:t>
            </a:r>
            <a:r>
              <a:rPr lang="de-DE" baseline="0" dirty="0"/>
              <a:t> a </a:t>
            </a:r>
            <a:r>
              <a:rPr lang="de-DE" baseline="0" dirty="0" err="1"/>
              <a:t>scalable</a:t>
            </a:r>
            <a:r>
              <a:rPr lang="de-DE" baseline="0" dirty="0"/>
              <a:t> </a:t>
            </a:r>
            <a:r>
              <a:rPr lang="de-DE" baseline="0" dirty="0" err="1"/>
              <a:t>control</a:t>
            </a:r>
            <a:r>
              <a:rPr lang="de-DE" baseline="0" dirty="0"/>
              <a:t> plane.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/>
              <a:t>This </a:t>
            </a:r>
            <a:r>
              <a:rPr lang="de-DE" baseline="0" dirty="0" err="1"/>
              <a:t>project</a:t>
            </a:r>
            <a:r>
              <a:rPr lang="de-DE" baseline="0" dirty="0"/>
              <a:t> </a:t>
            </a:r>
            <a:r>
              <a:rPr lang="de-DE" baseline="0" dirty="0" err="1"/>
              <a:t>hence</a:t>
            </a:r>
            <a:r>
              <a:rPr lang="de-DE" baseline="0" dirty="0"/>
              <a:t> </a:t>
            </a:r>
            <a:r>
              <a:rPr lang="de-DE" baseline="0" dirty="0" err="1"/>
              <a:t>requires</a:t>
            </a:r>
            <a:r>
              <a:rPr lang="de-DE" baseline="0" dirty="0"/>
              <a:t> </a:t>
            </a:r>
            <a:r>
              <a:rPr lang="de-DE" baseline="0" dirty="0" err="1"/>
              <a:t>expertises</a:t>
            </a:r>
            <a:r>
              <a:rPr lang="de-DE" baseline="0" dirty="0"/>
              <a:t> </a:t>
            </a:r>
            <a:r>
              <a:rPr lang="de-DE" baseline="0" dirty="0" err="1"/>
              <a:t>from</a:t>
            </a:r>
            <a:r>
              <a:rPr lang="de-DE" baseline="0" dirty="0"/>
              <a:t> different </a:t>
            </a:r>
            <a:r>
              <a:rPr lang="de-DE" baseline="0" dirty="0" err="1"/>
              <a:t>fields</a:t>
            </a:r>
            <a:r>
              <a:rPr lang="de-DE" baseline="0" dirty="0"/>
              <a:t>, </a:t>
            </a:r>
            <a:r>
              <a:rPr lang="de-DE" baseline="0" dirty="0" err="1"/>
              <a:t>from</a:t>
            </a:r>
            <a:r>
              <a:rPr lang="de-DE" baseline="0" dirty="0"/>
              <a:t> </a:t>
            </a:r>
            <a:r>
              <a:rPr lang="de-DE" baseline="0" dirty="0" err="1"/>
              <a:t>networking</a:t>
            </a:r>
            <a:r>
              <a:rPr lang="de-DE" baseline="0" dirty="0"/>
              <a:t>, </a:t>
            </a:r>
            <a:r>
              <a:rPr lang="de-DE" baseline="0" dirty="0" err="1"/>
              <a:t>over</a:t>
            </a:r>
            <a:r>
              <a:rPr lang="de-DE" baseline="0" dirty="0"/>
              <a:t> </a:t>
            </a:r>
            <a:r>
              <a:rPr lang="de-DE" baseline="0" dirty="0" err="1"/>
              <a:t>distributed</a:t>
            </a:r>
            <a:r>
              <a:rPr lang="de-DE" baseline="0" dirty="0"/>
              <a:t> </a:t>
            </a:r>
            <a:r>
              <a:rPr lang="de-DE" baseline="0" dirty="0" err="1"/>
              <a:t>systems</a:t>
            </a:r>
            <a:r>
              <a:rPr lang="de-DE" baseline="0" dirty="0"/>
              <a:t>, </a:t>
            </a:r>
            <a:r>
              <a:rPr lang="de-DE" baseline="0" dirty="0" err="1"/>
              <a:t>algorithms</a:t>
            </a:r>
            <a:r>
              <a:rPr lang="de-DE" baseline="0" dirty="0"/>
              <a:t>,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performance</a:t>
            </a:r>
            <a:r>
              <a:rPr lang="de-DE" baseline="0" dirty="0"/>
              <a:t> </a:t>
            </a:r>
            <a:r>
              <a:rPr lang="de-DE" baseline="0" dirty="0" err="1"/>
              <a:t>evaluation</a:t>
            </a:r>
            <a:r>
              <a:rPr lang="de-DE" baseline="0" dirty="0"/>
              <a:t>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/>
              <a:t>I </a:t>
            </a:r>
            <a:r>
              <a:rPr lang="de-DE" baseline="0" dirty="0" err="1"/>
              <a:t>have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necessary</a:t>
            </a:r>
            <a:r>
              <a:rPr lang="de-DE" baseline="0" dirty="0"/>
              <a:t> </a:t>
            </a:r>
            <a:r>
              <a:rPr lang="de-DE" baseline="0" dirty="0" err="1"/>
              <a:t>background</a:t>
            </a:r>
            <a:r>
              <a:rPr lang="de-DE" baseline="0" dirty="0"/>
              <a:t> in all </a:t>
            </a:r>
            <a:r>
              <a:rPr lang="de-DE" baseline="0" dirty="0" err="1"/>
              <a:t>these</a:t>
            </a:r>
            <a:r>
              <a:rPr lang="de-DE" baseline="0" dirty="0"/>
              <a:t> </a:t>
            </a:r>
            <a:r>
              <a:rPr lang="de-DE" baseline="0" dirty="0" err="1"/>
              <a:t>areas</a:t>
            </a:r>
            <a:r>
              <a:rPr lang="de-DE" baseline="0" dirty="0"/>
              <a:t>.</a:t>
            </a:r>
            <a:endParaRPr dirty="0"/>
          </a:p>
        </p:txBody>
      </p:sp>
      <p:sp>
        <p:nvSpPr>
          <p:cNvPr id="1899" name="Google Shape;1899;g60be7dcf1c_0_790:notes">
            <a:extLst>
              <a:ext uri="{FF2B5EF4-FFF2-40B4-BE49-F238E27FC236}">
                <a16:creationId xmlns:a16="http://schemas.microsoft.com/office/drawing/2014/main" id="{810BCE30-BB43-A99B-4A93-A56D1B8552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190110968"/>
      </p:ext>
    </p:extLst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7">
          <a:extLst>
            <a:ext uri="{FF2B5EF4-FFF2-40B4-BE49-F238E27FC236}">
              <a16:creationId xmlns:a16="http://schemas.microsoft.com/office/drawing/2014/main" id="{E5D71C22-6F0B-87BD-1A8F-E8E800FDE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8" name="Google Shape;1898;g60be7dcf1c_0_790:notes">
            <a:extLst>
              <a:ext uri="{FF2B5EF4-FFF2-40B4-BE49-F238E27FC236}">
                <a16:creationId xmlns:a16="http://schemas.microsoft.com/office/drawing/2014/main" id="{1C253E8F-E43B-60EB-DAF3-7A9BFC0602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So </a:t>
            </a:r>
            <a:r>
              <a:rPr lang="de-DE" dirty="0" err="1"/>
              <a:t>far</a:t>
            </a:r>
            <a:r>
              <a:rPr lang="de-DE" dirty="0"/>
              <a:t>,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have</a:t>
            </a:r>
            <a:r>
              <a:rPr lang="de-DE" dirty="0"/>
              <a:t> just </a:t>
            </a:r>
            <a:r>
              <a:rPr lang="de-DE" dirty="0" err="1"/>
              <a:t>scratched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surface</a:t>
            </a:r>
            <a:r>
              <a:rPr lang="de-DE" baseline="0" dirty="0"/>
              <a:t>,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with</a:t>
            </a:r>
            <a:r>
              <a:rPr lang="de-DE" baseline="0" dirty="0"/>
              <a:t> </a:t>
            </a:r>
            <a:r>
              <a:rPr lang="de-DE" baseline="0" dirty="0" err="1"/>
              <a:t>this</a:t>
            </a:r>
            <a:r>
              <a:rPr lang="de-DE" baseline="0" dirty="0"/>
              <a:t> ERC </a:t>
            </a:r>
            <a:r>
              <a:rPr lang="de-DE" baseline="0" dirty="0" err="1"/>
              <a:t>project</a:t>
            </a:r>
            <a:r>
              <a:rPr lang="de-DE" baseline="0" dirty="0"/>
              <a:t>, </a:t>
            </a:r>
            <a:r>
              <a:rPr lang="de-DE" baseline="0" dirty="0" err="1"/>
              <a:t>we</a:t>
            </a:r>
            <a:r>
              <a:rPr lang="de-DE" baseline="0" dirty="0"/>
              <a:t> </a:t>
            </a:r>
            <a:r>
              <a:rPr lang="de-DE" baseline="0" dirty="0" err="1"/>
              <a:t>want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explore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rest</a:t>
            </a:r>
            <a:r>
              <a:rPr lang="de-DE" baseline="0" dirty="0"/>
              <a:t> </a:t>
            </a:r>
            <a:r>
              <a:rPr lang="de-DE" baseline="0" dirty="0" err="1"/>
              <a:t>of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iceberg</a:t>
            </a:r>
            <a:r>
              <a:rPr lang="de-DE" baseline="0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 err="1"/>
              <a:t>Indeed</a:t>
            </a:r>
            <a:r>
              <a:rPr lang="de-DE" baseline="0" dirty="0"/>
              <a:t>,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notion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self-adjusting</a:t>
            </a:r>
            <a:r>
              <a:rPr lang="de-DE" dirty="0"/>
              <a:t> </a:t>
            </a:r>
            <a:r>
              <a:rPr lang="de-DE" dirty="0" err="1"/>
              <a:t>networks</a:t>
            </a:r>
            <a:r>
              <a:rPr lang="de-DE" dirty="0"/>
              <a:t> </a:t>
            </a:r>
            <a:r>
              <a:rPr lang="de-DE" dirty="0" err="1"/>
              <a:t>opens</a:t>
            </a:r>
            <a:r>
              <a:rPr lang="de-DE" dirty="0"/>
              <a:t> </a:t>
            </a:r>
            <a:r>
              <a:rPr lang="de-DE" baseline="0" dirty="0" err="1"/>
              <a:t>are</a:t>
            </a:r>
            <a:r>
              <a:rPr lang="de-DE" baseline="0" dirty="0"/>
              <a:t> large </a:t>
            </a:r>
            <a:r>
              <a:rPr lang="de-DE" baseline="0" dirty="0" err="1"/>
              <a:t>uncharted</a:t>
            </a:r>
            <a:r>
              <a:rPr lang="de-DE" baseline="0" dirty="0"/>
              <a:t> </a:t>
            </a:r>
            <a:r>
              <a:rPr lang="de-DE" baseline="0" dirty="0" err="1"/>
              <a:t>field</a:t>
            </a:r>
            <a:r>
              <a:rPr lang="de-DE" baseline="0" dirty="0"/>
              <a:t>, </a:t>
            </a:r>
            <a:r>
              <a:rPr lang="de-DE" baseline="0" dirty="0" err="1"/>
              <a:t>with</a:t>
            </a:r>
            <a:r>
              <a:rPr lang="de-DE" baseline="0" dirty="0"/>
              <a:t> </a:t>
            </a:r>
            <a:r>
              <a:rPr lang="de-DE" baseline="0" dirty="0" err="1"/>
              <a:t>many</a:t>
            </a:r>
            <a:r>
              <a:rPr lang="de-DE" baseline="0" dirty="0"/>
              <a:t> </a:t>
            </a:r>
            <a:r>
              <a:rPr lang="de-DE" baseline="0" dirty="0" err="1"/>
              <a:t>questions</a:t>
            </a:r>
            <a:r>
              <a:rPr lang="de-DE" baseline="0" dirty="0"/>
              <a:t>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 err="1"/>
              <a:t>W</a:t>
            </a:r>
            <a:r>
              <a:rPr lang="de-DE" baseline="0" dirty="0" err="1"/>
              <a:t>e</a:t>
            </a:r>
            <a:r>
              <a:rPr lang="de-DE" baseline="0" dirty="0"/>
              <a:t> </a:t>
            </a:r>
            <a:r>
              <a:rPr lang="de-DE" baseline="0" dirty="0" err="1"/>
              <a:t>structure</a:t>
            </a:r>
            <a:r>
              <a:rPr lang="de-DE" baseline="0" dirty="0"/>
              <a:t> </a:t>
            </a:r>
            <a:r>
              <a:rPr lang="de-DE" baseline="0" dirty="0" err="1"/>
              <a:t>our</a:t>
            </a:r>
            <a:r>
              <a:rPr lang="de-DE" baseline="0" dirty="0"/>
              <a:t> </a:t>
            </a:r>
            <a:r>
              <a:rPr lang="de-DE" baseline="0" dirty="0" err="1"/>
              <a:t>project</a:t>
            </a:r>
            <a:r>
              <a:rPr lang="de-DE" baseline="0" dirty="0"/>
              <a:t> </a:t>
            </a:r>
            <a:r>
              <a:rPr lang="de-DE" baseline="0" dirty="0" err="1"/>
              <a:t>around</a:t>
            </a:r>
            <a:r>
              <a:rPr lang="de-DE" baseline="0" dirty="0"/>
              <a:t> </a:t>
            </a:r>
            <a:r>
              <a:rPr lang="de-DE" baseline="0" dirty="0" err="1"/>
              <a:t>models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metrics</a:t>
            </a:r>
            <a:r>
              <a:rPr lang="de-DE" baseline="0" dirty="0"/>
              <a:t>, </a:t>
            </a:r>
            <a:r>
              <a:rPr lang="de-DE" baseline="0" dirty="0" err="1"/>
              <a:t>algorithms</a:t>
            </a:r>
            <a:r>
              <a:rPr lang="de-DE" baseline="0" dirty="0"/>
              <a:t>, fault-</a:t>
            </a:r>
            <a:r>
              <a:rPr lang="de-DE" baseline="0" dirty="0" err="1"/>
              <a:t>tolerance</a:t>
            </a:r>
            <a:r>
              <a:rPr lang="de-DE" baseline="0" dirty="0"/>
              <a:t>, </a:t>
            </a:r>
            <a:r>
              <a:rPr lang="de-DE" baseline="0" dirty="0" err="1"/>
              <a:t>integration</a:t>
            </a:r>
            <a:r>
              <a:rPr lang="de-DE" baseline="0" dirty="0"/>
              <a:t> </a:t>
            </a:r>
            <a:r>
              <a:rPr lang="de-DE" baseline="0" dirty="0" err="1"/>
              <a:t>into</a:t>
            </a:r>
            <a:r>
              <a:rPr lang="de-DE" baseline="0" dirty="0"/>
              <a:t> </a:t>
            </a:r>
            <a:r>
              <a:rPr lang="de-DE" baseline="0" dirty="0" err="1"/>
              <a:t>higher</a:t>
            </a:r>
            <a:r>
              <a:rPr lang="de-DE" baseline="0" dirty="0"/>
              <a:t> </a:t>
            </a:r>
            <a:r>
              <a:rPr lang="de-DE" baseline="0" dirty="0" err="1"/>
              <a:t>layers</a:t>
            </a:r>
            <a:r>
              <a:rPr lang="de-DE" baseline="0" dirty="0"/>
              <a:t>,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case</a:t>
            </a:r>
            <a:r>
              <a:rPr lang="de-DE" baseline="0" dirty="0"/>
              <a:t> </a:t>
            </a:r>
            <a:r>
              <a:rPr lang="de-DE" baseline="0" dirty="0" err="1"/>
              <a:t>studies</a:t>
            </a:r>
            <a:r>
              <a:rPr lang="de-DE" baseline="0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/>
              <a:t>In </a:t>
            </a:r>
            <a:r>
              <a:rPr lang="de-DE" baseline="0" dirty="0" err="1"/>
              <a:t>particular</a:t>
            </a:r>
            <a:r>
              <a:rPr lang="de-DE" baseline="0" dirty="0"/>
              <a:t>, </a:t>
            </a:r>
            <a:r>
              <a:rPr lang="de-DE" baseline="0" dirty="0" err="1"/>
              <a:t>we</a:t>
            </a:r>
            <a:r>
              <a:rPr lang="de-DE" baseline="0" dirty="0"/>
              <a:t> will </a:t>
            </a:r>
            <a:r>
              <a:rPr lang="de-DE" baseline="0" dirty="0" err="1"/>
              <a:t>explore</a:t>
            </a:r>
            <a:r>
              <a:rPr lang="de-DE" baseline="0" dirty="0"/>
              <a:t> </a:t>
            </a:r>
            <a:r>
              <a:rPr lang="de-DE" baseline="0" dirty="0" err="1"/>
              <a:t>metrics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algorithms</a:t>
            </a:r>
            <a:r>
              <a:rPr lang="de-DE" baseline="0" dirty="0"/>
              <a:t> </a:t>
            </a:r>
            <a:r>
              <a:rPr lang="de-DE" baseline="0" dirty="0" err="1"/>
              <a:t>for</a:t>
            </a:r>
            <a:r>
              <a:rPr lang="de-DE" baseline="0" dirty="0"/>
              <a:t> </a:t>
            </a:r>
            <a:r>
              <a:rPr lang="de-DE" baseline="0" dirty="0" err="1"/>
              <a:t>by</a:t>
            </a:r>
            <a:r>
              <a:rPr lang="de-DE" baseline="0" dirty="0"/>
              <a:t> </a:t>
            </a:r>
            <a:r>
              <a:rPr lang="de-DE" baseline="0" dirty="0" err="1"/>
              <a:t>how</a:t>
            </a:r>
            <a:r>
              <a:rPr lang="de-DE" baseline="0" dirty="0"/>
              <a:t> </a:t>
            </a:r>
            <a:r>
              <a:rPr lang="de-DE" baseline="0" dirty="0" err="1"/>
              <a:t>much</a:t>
            </a:r>
            <a:r>
              <a:rPr lang="de-DE" baseline="0" dirty="0"/>
              <a:t> </a:t>
            </a:r>
            <a:r>
              <a:rPr lang="de-DE" baseline="0" dirty="0" err="1"/>
              <a:t>load</a:t>
            </a:r>
            <a:r>
              <a:rPr lang="de-DE" baseline="0" dirty="0"/>
              <a:t> </a:t>
            </a:r>
            <a:r>
              <a:rPr lang="de-DE" baseline="0" dirty="0" err="1"/>
              <a:t>can</a:t>
            </a:r>
            <a:r>
              <a:rPr lang="de-DE" baseline="0" dirty="0"/>
              <a:t> </a:t>
            </a:r>
            <a:r>
              <a:rPr lang="de-DE" baseline="0" dirty="0" err="1"/>
              <a:t>be</a:t>
            </a:r>
            <a:r>
              <a:rPr lang="de-DE" baseline="0" dirty="0"/>
              <a:t> </a:t>
            </a:r>
            <a:r>
              <a:rPr lang="de-DE" baseline="0" dirty="0" err="1"/>
              <a:t>lowered</a:t>
            </a:r>
            <a:r>
              <a:rPr lang="de-DE" baseline="0" dirty="0"/>
              <a:t>, </a:t>
            </a:r>
            <a:r>
              <a:rPr lang="de-DE" baseline="0" dirty="0" err="1"/>
              <a:t>energy</a:t>
            </a:r>
            <a:r>
              <a:rPr lang="de-DE" baseline="0" dirty="0"/>
              <a:t> </a:t>
            </a:r>
            <a:r>
              <a:rPr lang="de-DE" baseline="0" dirty="0" err="1"/>
              <a:t>reduced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quality</a:t>
            </a:r>
            <a:r>
              <a:rPr lang="de-DE" baseline="0" dirty="0"/>
              <a:t>-</a:t>
            </a:r>
            <a:r>
              <a:rPr lang="de-DE" baseline="0" dirty="0" err="1"/>
              <a:t>of</a:t>
            </a:r>
            <a:r>
              <a:rPr lang="de-DE" baseline="0" dirty="0"/>
              <a:t>-service </a:t>
            </a:r>
            <a:r>
              <a:rPr lang="de-DE" baseline="0" dirty="0" err="1"/>
              <a:t>improved</a:t>
            </a:r>
            <a:r>
              <a:rPr lang="de-DE" baseline="0" dirty="0"/>
              <a:t> in </a:t>
            </a:r>
            <a:r>
              <a:rPr lang="de-DE" baseline="0" dirty="0" err="1"/>
              <a:t>selfadjusting</a:t>
            </a:r>
            <a:r>
              <a:rPr lang="de-DE" baseline="0" dirty="0"/>
              <a:t> </a:t>
            </a:r>
            <a:r>
              <a:rPr lang="de-DE" baseline="0" dirty="0" err="1"/>
              <a:t>networks</a:t>
            </a:r>
            <a:r>
              <a:rPr lang="de-DE" baseline="0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 err="1"/>
              <a:t>We</a:t>
            </a:r>
            <a:r>
              <a:rPr lang="de-DE" baseline="0" dirty="0"/>
              <a:t> also </a:t>
            </a:r>
            <a:r>
              <a:rPr lang="de-DE" baseline="0" dirty="0" err="1"/>
              <a:t>need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develop</a:t>
            </a:r>
            <a:r>
              <a:rPr lang="de-DE" baseline="0" dirty="0"/>
              <a:t> </a:t>
            </a:r>
            <a:r>
              <a:rPr lang="de-DE" baseline="0" dirty="0" err="1"/>
              <a:t>models</a:t>
            </a:r>
            <a:r>
              <a:rPr lang="de-DE" baseline="0" dirty="0"/>
              <a:t> </a:t>
            </a:r>
            <a:r>
              <a:rPr lang="de-DE" baseline="0" dirty="0" err="1"/>
              <a:t>for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tradeoff</a:t>
            </a:r>
            <a:r>
              <a:rPr lang="de-DE" baseline="0" dirty="0"/>
              <a:t> </a:t>
            </a:r>
            <a:r>
              <a:rPr lang="de-DE" baseline="0" dirty="0" err="1"/>
              <a:t>between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benefits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costs</a:t>
            </a:r>
            <a:r>
              <a:rPr lang="de-DE" baseline="0" dirty="0"/>
              <a:t> </a:t>
            </a:r>
            <a:r>
              <a:rPr lang="de-DE" baseline="0" dirty="0" err="1"/>
              <a:t>of</a:t>
            </a:r>
            <a:r>
              <a:rPr lang="de-DE" baseline="0" dirty="0"/>
              <a:t> </a:t>
            </a:r>
            <a:r>
              <a:rPr lang="de-DE" baseline="0" dirty="0" err="1"/>
              <a:t>reconfigurations</a:t>
            </a:r>
            <a:r>
              <a:rPr lang="de-DE" baseline="0" dirty="0"/>
              <a:t> </a:t>
            </a:r>
            <a:r>
              <a:rPr lang="de-DE" baseline="0" dirty="0" err="1"/>
              <a:t>over</a:t>
            </a:r>
            <a:r>
              <a:rPr lang="de-DE" baseline="0" dirty="0"/>
              <a:t> time.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 err="1"/>
              <a:t>We</a:t>
            </a:r>
            <a:r>
              <a:rPr lang="de-DE" baseline="0" dirty="0"/>
              <a:t> also </a:t>
            </a:r>
            <a:r>
              <a:rPr lang="de-DE" baseline="0" dirty="0" err="1"/>
              <a:t>study</a:t>
            </a:r>
            <a:r>
              <a:rPr lang="de-DE" baseline="0" dirty="0"/>
              <a:t> </a:t>
            </a:r>
            <a:r>
              <a:rPr lang="de-DE" baseline="0" dirty="0" err="1"/>
              <a:t>how</a:t>
            </a:r>
            <a:r>
              <a:rPr lang="de-DE" baseline="0" dirty="0"/>
              <a:t> </a:t>
            </a:r>
            <a:r>
              <a:rPr lang="de-DE" baseline="0" dirty="0" err="1"/>
              <a:t>self-adjusting</a:t>
            </a:r>
            <a:r>
              <a:rPr lang="de-DE" baseline="0" dirty="0"/>
              <a:t> </a:t>
            </a:r>
            <a:r>
              <a:rPr lang="de-DE" baseline="0" dirty="0" err="1"/>
              <a:t>networks</a:t>
            </a:r>
            <a:r>
              <a:rPr lang="de-DE" baseline="0" dirty="0"/>
              <a:t> </a:t>
            </a:r>
            <a:r>
              <a:rPr lang="de-DE" baseline="0" dirty="0" err="1"/>
              <a:t>can</a:t>
            </a:r>
            <a:r>
              <a:rPr lang="de-DE" baseline="0" dirty="0"/>
              <a:t> </a:t>
            </a:r>
            <a:r>
              <a:rPr lang="de-DE" baseline="0" dirty="0" err="1"/>
              <a:t>be</a:t>
            </a:r>
            <a:r>
              <a:rPr lang="de-DE" baseline="0" dirty="0"/>
              <a:t> </a:t>
            </a:r>
            <a:r>
              <a:rPr lang="de-DE" baseline="0" dirty="0" err="1"/>
              <a:t>used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improve</a:t>
            </a:r>
            <a:r>
              <a:rPr lang="de-DE" baseline="0" dirty="0"/>
              <a:t> fault-</a:t>
            </a:r>
            <a:r>
              <a:rPr lang="de-DE" baseline="0" dirty="0" err="1"/>
              <a:t>tolerance</a:t>
            </a:r>
            <a:r>
              <a:rPr lang="de-DE" baseline="0" dirty="0"/>
              <a:t>, </a:t>
            </a:r>
            <a:r>
              <a:rPr lang="de-DE" baseline="0" dirty="0" err="1"/>
              <a:t>what</a:t>
            </a:r>
            <a:r>
              <a:rPr lang="de-DE" baseline="0" dirty="0"/>
              <a:t> </a:t>
            </a:r>
            <a:r>
              <a:rPr lang="de-DE" baseline="0" dirty="0" err="1"/>
              <a:t>is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impact</a:t>
            </a:r>
            <a:r>
              <a:rPr lang="de-DE" baseline="0" dirty="0"/>
              <a:t> on </a:t>
            </a:r>
            <a:r>
              <a:rPr lang="de-DE" baseline="0" dirty="0" err="1"/>
              <a:t>other</a:t>
            </a:r>
            <a:r>
              <a:rPr lang="de-DE" baseline="0" dirty="0"/>
              <a:t> </a:t>
            </a:r>
            <a:r>
              <a:rPr lang="de-DE" baseline="0" dirty="0" err="1"/>
              <a:t>layers</a:t>
            </a:r>
            <a:r>
              <a:rPr lang="de-DE" baseline="0" dirty="0"/>
              <a:t>,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how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apply</a:t>
            </a:r>
            <a:r>
              <a:rPr lang="de-DE" baseline="0" dirty="0"/>
              <a:t> </a:t>
            </a:r>
            <a:r>
              <a:rPr lang="de-DE" baseline="0" dirty="0" err="1"/>
              <a:t>our</a:t>
            </a:r>
            <a:r>
              <a:rPr lang="de-DE" baseline="0" dirty="0"/>
              <a:t> </a:t>
            </a:r>
            <a:r>
              <a:rPr lang="de-DE" baseline="0" dirty="0" err="1"/>
              <a:t>solutions</a:t>
            </a:r>
            <a:r>
              <a:rPr lang="de-DE" baseline="0" dirty="0"/>
              <a:t> in a </a:t>
            </a:r>
            <a:r>
              <a:rPr lang="de-DE" baseline="0" dirty="0" err="1"/>
              <a:t>specific</a:t>
            </a:r>
            <a:r>
              <a:rPr lang="de-DE" baseline="0" dirty="0"/>
              <a:t> </a:t>
            </a:r>
            <a:r>
              <a:rPr lang="de-DE" baseline="0" dirty="0" err="1"/>
              <a:t>case</a:t>
            </a:r>
            <a:r>
              <a:rPr lang="de-DE" baseline="0" dirty="0"/>
              <a:t> </a:t>
            </a:r>
            <a:r>
              <a:rPr lang="de-DE" baseline="0" dirty="0" err="1"/>
              <a:t>study</a:t>
            </a:r>
            <a:r>
              <a:rPr lang="de-DE" baseline="0" dirty="0"/>
              <a:t>, e.g., </a:t>
            </a:r>
            <a:r>
              <a:rPr lang="de-DE" baseline="0" dirty="0" err="1"/>
              <a:t>how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develop</a:t>
            </a:r>
            <a:r>
              <a:rPr lang="de-DE" baseline="0" dirty="0"/>
              <a:t> a </a:t>
            </a:r>
            <a:r>
              <a:rPr lang="de-DE" baseline="0" dirty="0" err="1"/>
              <a:t>scalable</a:t>
            </a:r>
            <a:r>
              <a:rPr lang="de-DE" baseline="0" dirty="0"/>
              <a:t> </a:t>
            </a:r>
            <a:r>
              <a:rPr lang="de-DE" baseline="0" dirty="0" err="1"/>
              <a:t>control</a:t>
            </a:r>
            <a:r>
              <a:rPr lang="de-DE" baseline="0" dirty="0"/>
              <a:t> plane.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/>
              <a:t>This </a:t>
            </a:r>
            <a:r>
              <a:rPr lang="de-DE" baseline="0" dirty="0" err="1"/>
              <a:t>project</a:t>
            </a:r>
            <a:r>
              <a:rPr lang="de-DE" baseline="0" dirty="0"/>
              <a:t> </a:t>
            </a:r>
            <a:r>
              <a:rPr lang="de-DE" baseline="0" dirty="0" err="1"/>
              <a:t>hence</a:t>
            </a:r>
            <a:r>
              <a:rPr lang="de-DE" baseline="0" dirty="0"/>
              <a:t> </a:t>
            </a:r>
            <a:r>
              <a:rPr lang="de-DE" baseline="0" dirty="0" err="1"/>
              <a:t>requires</a:t>
            </a:r>
            <a:r>
              <a:rPr lang="de-DE" baseline="0" dirty="0"/>
              <a:t> </a:t>
            </a:r>
            <a:r>
              <a:rPr lang="de-DE" baseline="0" dirty="0" err="1"/>
              <a:t>expertises</a:t>
            </a:r>
            <a:r>
              <a:rPr lang="de-DE" baseline="0" dirty="0"/>
              <a:t> </a:t>
            </a:r>
            <a:r>
              <a:rPr lang="de-DE" baseline="0" dirty="0" err="1"/>
              <a:t>from</a:t>
            </a:r>
            <a:r>
              <a:rPr lang="de-DE" baseline="0" dirty="0"/>
              <a:t> different </a:t>
            </a:r>
            <a:r>
              <a:rPr lang="de-DE" baseline="0" dirty="0" err="1"/>
              <a:t>fields</a:t>
            </a:r>
            <a:r>
              <a:rPr lang="de-DE" baseline="0" dirty="0"/>
              <a:t>, </a:t>
            </a:r>
            <a:r>
              <a:rPr lang="de-DE" baseline="0" dirty="0" err="1"/>
              <a:t>from</a:t>
            </a:r>
            <a:r>
              <a:rPr lang="de-DE" baseline="0" dirty="0"/>
              <a:t> </a:t>
            </a:r>
            <a:r>
              <a:rPr lang="de-DE" baseline="0" dirty="0" err="1"/>
              <a:t>networking</a:t>
            </a:r>
            <a:r>
              <a:rPr lang="de-DE" baseline="0" dirty="0"/>
              <a:t>, </a:t>
            </a:r>
            <a:r>
              <a:rPr lang="de-DE" baseline="0" dirty="0" err="1"/>
              <a:t>over</a:t>
            </a:r>
            <a:r>
              <a:rPr lang="de-DE" baseline="0" dirty="0"/>
              <a:t> </a:t>
            </a:r>
            <a:r>
              <a:rPr lang="de-DE" baseline="0" dirty="0" err="1"/>
              <a:t>distributed</a:t>
            </a:r>
            <a:r>
              <a:rPr lang="de-DE" baseline="0" dirty="0"/>
              <a:t> </a:t>
            </a:r>
            <a:r>
              <a:rPr lang="de-DE" baseline="0" dirty="0" err="1"/>
              <a:t>systems</a:t>
            </a:r>
            <a:r>
              <a:rPr lang="de-DE" baseline="0" dirty="0"/>
              <a:t>, </a:t>
            </a:r>
            <a:r>
              <a:rPr lang="de-DE" baseline="0" dirty="0" err="1"/>
              <a:t>algorithms</a:t>
            </a:r>
            <a:r>
              <a:rPr lang="de-DE" baseline="0" dirty="0"/>
              <a:t>,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performance</a:t>
            </a:r>
            <a:r>
              <a:rPr lang="de-DE" baseline="0" dirty="0"/>
              <a:t> </a:t>
            </a:r>
            <a:r>
              <a:rPr lang="de-DE" baseline="0" dirty="0" err="1"/>
              <a:t>evaluation</a:t>
            </a:r>
            <a:r>
              <a:rPr lang="de-DE" baseline="0" dirty="0"/>
              <a:t>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/>
              <a:t>I </a:t>
            </a:r>
            <a:r>
              <a:rPr lang="de-DE" baseline="0" dirty="0" err="1"/>
              <a:t>have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necessary</a:t>
            </a:r>
            <a:r>
              <a:rPr lang="de-DE" baseline="0" dirty="0"/>
              <a:t> </a:t>
            </a:r>
            <a:r>
              <a:rPr lang="de-DE" baseline="0" dirty="0" err="1"/>
              <a:t>background</a:t>
            </a:r>
            <a:r>
              <a:rPr lang="de-DE" baseline="0" dirty="0"/>
              <a:t> in all </a:t>
            </a:r>
            <a:r>
              <a:rPr lang="de-DE" baseline="0" dirty="0" err="1"/>
              <a:t>these</a:t>
            </a:r>
            <a:r>
              <a:rPr lang="de-DE" baseline="0" dirty="0"/>
              <a:t> </a:t>
            </a:r>
            <a:r>
              <a:rPr lang="de-DE" baseline="0" dirty="0" err="1"/>
              <a:t>areas</a:t>
            </a:r>
            <a:r>
              <a:rPr lang="de-DE" baseline="0" dirty="0"/>
              <a:t>.</a:t>
            </a:r>
            <a:endParaRPr dirty="0"/>
          </a:p>
        </p:txBody>
      </p:sp>
      <p:sp>
        <p:nvSpPr>
          <p:cNvPr id="1899" name="Google Shape;1899;g60be7dcf1c_0_790:notes">
            <a:extLst>
              <a:ext uri="{FF2B5EF4-FFF2-40B4-BE49-F238E27FC236}">
                <a16:creationId xmlns:a16="http://schemas.microsoft.com/office/drawing/2014/main" id="{7C08A9E1-1BBF-1696-1B78-2E571E3153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865302034"/>
      </p:ext>
    </p:extLst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7">
          <a:extLst>
            <a:ext uri="{FF2B5EF4-FFF2-40B4-BE49-F238E27FC236}">
              <a16:creationId xmlns:a16="http://schemas.microsoft.com/office/drawing/2014/main" id="{AB252272-0615-76C2-4DED-77AE2877C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8" name="Google Shape;1898;g60be7dcf1c_0_790:notes">
            <a:extLst>
              <a:ext uri="{FF2B5EF4-FFF2-40B4-BE49-F238E27FC236}">
                <a16:creationId xmlns:a16="http://schemas.microsoft.com/office/drawing/2014/main" id="{CC697FB8-D5EB-48C1-7BB7-B285D11370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So </a:t>
            </a:r>
            <a:r>
              <a:rPr lang="de-DE" dirty="0" err="1"/>
              <a:t>far</a:t>
            </a:r>
            <a:r>
              <a:rPr lang="de-DE" dirty="0"/>
              <a:t>,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have</a:t>
            </a:r>
            <a:r>
              <a:rPr lang="de-DE" dirty="0"/>
              <a:t> just </a:t>
            </a:r>
            <a:r>
              <a:rPr lang="de-DE" dirty="0" err="1"/>
              <a:t>scratched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surface</a:t>
            </a:r>
            <a:r>
              <a:rPr lang="de-DE" baseline="0" dirty="0"/>
              <a:t>,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with</a:t>
            </a:r>
            <a:r>
              <a:rPr lang="de-DE" baseline="0" dirty="0"/>
              <a:t> </a:t>
            </a:r>
            <a:r>
              <a:rPr lang="de-DE" baseline="0" dirty="0" err="1"/>
              <a:t>this</a:t>
            </a:r>
            <a:r>
              <a:rPr lang="de-DE" baseline="0" dirty="0"/>
              <a:t> ERC </a:t>
            </a:r>
            <a:r>
              <a:rPr lang="de-DE" baseline="0" dirty="0" err="1"/>
              <a:t>project</a:t>
            </a:r>
            <a:r>
              <a:rPr lang="de-DE" baseline="0" dirty="0"/>
              <a:t>, </a:t>
            </a:r>
            <a:r>
              <a:rPr lang="de-DE" baseline="0" dirty="0" err="1"/>
              <a:t>we</a:t>
            </a:r>
            <a:r>
              <a:rPr lang="de-DE" baseline="0" dirty="0"/>
              <a:t> </a:t>
            </a:r>
            <a:r>
              <a:rPr lang="de-DE" baseline="0" dirty="0" err="1"/>
              <a:t>want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explore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rest</a:t>
            </a:r>
            <a:r>
              <a:rPr lang="de-DE" baseline="0" dirty="0"/>
              <a:t> </a:t>
            </a:r>
            <a:r>
              <a:rPr lang="de-DE" baseline="0" dirty="0" err="1"/>
              <a:t>of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iceberg</a:t>
            </a:r>
            <a:r>
              <a:rPr lang="de-DE" baseline="0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 err="1"/>
              <a:t>Indeed</a:t>
            </a:r>
            <a:r>
              <a:rPr lang="de-DE" baseline="0" dirty="0"/>
              <a:t>,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notion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self-adjusting</a:t>
            </a:r>
            <a:r>
              <a:rPr lang="de-DE" dirty="0"/>
              <a:t> </a:t>
            </a:r>
            <a:r>
              <a:rPr lang="de-DE" dirty="0" err="1"/>
              <a:t>networks</a:t>
            </a:r>
            <a:r>
              <a:rPr lang="de-DE" dirty="0"/>
              <a:t> </a:t>
            </a:r>
            <a:r>
              <a:rPr lang="de-DE" dirty="0" err="1"/>
              <a:t>opens</a:t>
            </a:r>
            <a:r>
              <a:rPr lang="de-DE" dirty="0"/>
              <a:t> </a:t>
            </a:r>
            <a:r>
              <a:rPr lang="de-DE" baseline="0" dirty="0" err="1"/>
              <a:t>are</a:t>
            </a:r>
            <a:r>
              <a:rPr lang="de-DE" baseline="0" dirty="0"/>
              <a:t> large </a:t>
            </a:r>
            <a:r>
              <a:rPr lang="de-DE" baseline="0" dirty="0" err="1"/>
              <a:t>uncharted</a:t>
            </a:r>
            <a:r>
              <a:rPr lang="de-DE" baseline="0" dirty="0"/>
              <a:t> </a:t>
            </a:r>
            <a:r>
              <a:rPr lang="de-DE" baseline="0" dirty="0" err="1"/>
              <a:t>field</a:t>
            </a:r>
            <a:r>
              <a:rPr lang="de-DE" baseline="0" dirty="0"/>
              <a:t>, </a:t>
            </a:r>
            <a:r>
              <a:rPr lang="de-DE" baseline="0" dirty="0" err="1"/>
              <a:t>with</a:t>
            </a:r>
            <a:r>
              <a:rPr lang="de-DE" baseline="0" dirty="0"/>
              <a:t> </a:t>
            </a:r>
            <a:r>
              <a:rPr lang="de-DE" baseline="0" dirty="0" err="1"/>
              <a:t>many</a:t>
            </a:r>
            <a:r>
              <a:rPr lang="de-DE" baseline="0" dirty="0"/>
              <a:t> </a:t>
            </a:r>
            <a:r>
              <a:rPr lang="de-DE" baseline="0" dirty="0" err="1"/>
              <a:t>questions</a:t>
            </a:r>
            <a:r>
              <a:rPr lang="de-DE" baseline="0" dirty="0"/>
              <a:t>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 err="1"/>
              <a:t>W</a:t>
            </a:r>
            <a:r>
              <a:rPr lang="de-DE" baseline="0" dirty="0" err="1"/>
              <a:t>e</a:t>
            </a:r>
            <a:r>
              <a:rPr lang="de-DE" baseline="0" dirty="0"/>
              <a:t> </a:t>
            </a:r>
            <a:r>
              <a:rPr lang="de-DE" baseline="0" dirty="0" err="1"/>
              <a:t>structure</a:t>
            </a:r>
            <a:r>
              <a:rPr lang="de-DE" baseline="0" dirty="0"/>
              <a:t> </a:t>
            </a:r>
            <a:r>
              <a:rPr lang="de-DE" baseline="0" dirty="0" err="1"/>
              <a:t>our</a:t>
            </a:r>
            <a:r>
              <a:rPr lang="de-DE" baseline="0" dirty="0"/>
              <a:t> </a:t>
            </a:r>
            <a:r>
              <a:rPr lang="de-DE" baseline="0" dirty="0" err="1"/>
              <a:t>project</a:t>
            </a:r>
            <a:r>
              <a:rPr lang="de-DE" baseline="0" dirty="0"/>
              <a:t> </a:t>
            </a:r>
            <a:r>
              <a:rPr lang="de-DE" baseline="0" dirty="0" err="1"/>
              <a:t>around</a:t>
            </a:r>
            <a:r>
              <a:rPr lang="de-DE" baseline="0" dirty="0"/>
              <a:t> </a:t>
            </a:r>
            <a:r>
              <a:rPr lang="de-DE" baseline="0" dirty="0" err="1"/>
              <a:t>models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metrics</a:t>
            </a:r>
            <a:r>
              <a:rPr lang="de-DE" baseline="0" dirty="0"/>
              <a:t>, </a:t>
            </a:r>
            <a:r>
              <a:rPr lang="de-DE" baseline="0" dirty="0" err="1"/>
              <a:t>algorithms</a:t>
            </a:r>
            <a:r>
              <a:rPr lang="de-DE" baseline="0" dirty="0"/>
              <a:t>, fault-</a:t>
            </a:r>
            <a:r>
              <a:rPr lang="de-DE" baseline="0" dirty="0" err="1"/>
              <a:t>tolerance</a:t>
            </a:r>
            <a:r>
              <a:rPr lang="de-DE" baseline="0" dirty="0"/>
              <a:t>, </a:t>
            </a:r>
            <a:r>
              <a:rPr lang="de-DE" baseline="0" dirty="0" err="1"/>
              <a:t>integration</a:t>
            </a:r>
            <a:r>
              <a:rPr lang="de-DE" baseline="0" dirty="0"/>
              <a:t> </a:t>
            </a:r>
            <a:r>
              <a:rPr lang="de-DE" baseline="0" dirty="0" err="1"/>
              <a:t>into</a:t>
            </a:r>
            <a:r>
              <a:rPr lang="de-DE" baseline="0" dirty="0"/>
              <a:t> </a:t>
            </a:r>
            <a:r>
              <a:rPr lang="de-DE" baseline="0" dirty="0" err="1"/>
              <a:t>higher</a:t>
            </a:r>
            <a:r>
              <a:rPr lang="de-DE" baseline="0" dirty="0"/>
              <a:t> </a:t>
            </a:r>
            <a:r>
              <a:rPr lang="de-DE" baseline="0" dirty="0" err="1"/>
              <a:t>layers</a:t>
            </a:r>
            <a:r>
              <a:rPr lang="de-DE" baseline="0" dirty="0"/>
              <a:t>,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case</a:t>
            </a:r>
            <a:r>
              <a:rPr lang="de-DE" baseline="0" dirty="0"/>
              <a:t> </a:t>
            </a:r>
            <a:r>
              <a:rPr lang="de-DE" baseline="0" dirty="0" err="1"/>
              <a:t>studies</a:t>
            </a:r>
            <a:r>
              <a:rPr lang="de-DE" baseline="0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/>
              <a:t>In </a:t>
            </a:r>
            <a:r>
              <a:rPr lang="de-DE" baseline="0" dirty="0" err="1"/>
              <a:t>particular</a:t>
            </a:r>
            <a:r>
              <a:rPr lang="de-DE" baseline="0" dirty="0"/>
              <a:t>, </a:t>
            </a:r>
            <a:r>
              <a:rPr lang="de-DE" baseline="0" dirty="0" err="1"/>
              <a:t>we</a:t>
            </a:r>
            <a:r>
              <a:rPr lang="de-DE" baseline="0" dirty="0"/>
              <a:t> will </a:t>
            </a:r>
            <a:r>
              <a:rPr lang="de-DE" baseline="0" dirty="0" err="1"/>
              <a:t>explore</a:t>
            </a:r>
            <a:r>
              <a:rPr lang="de-DE" baseline="0" dirty="0"/>
              <a:t> </a:t>
            </a:r>
            <a:r>
              <a:rPr lang="de-DE" baseline="0" dirty="0" err="1"/>
              <a:t>metrics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algorithms</a:t>
            </a:r>
            <a:r>
              <a:rPr lang="de-DE" baseline="0" dirty="0"/>
              <a:t> </a:t>
            </a:r>
            <a:r>
              <a:rPr lang="de-DE" baseline="0" dirty="0" err="1"/>
              <a:t>for</a:t>
            </a:r>
            <a:r>
              <a:rPr lang="de-DE" baseline="0" dirty="0"/>
              <a:t> </a:t>
            </a:r>
            <a:r>
              <a:rPr lang="de-DE" baseline="0" dirty="0" err="1"/>
              <a:t>by</a:t>
            </a:r>
            <a:r>
              <a:rPr lang="de-DE" baseline="0" dirty="0"/>
              <a:t> </a:t>
            </a:r>
            <a:r>
              <a:rPr lang="de-DE" baseline="0" dirty="0" err="1"/>
              <a:t>how</a:t>
            </a:r>
            <a:r>
              <a:rPr lang="de-DE" baseline="0" dirty="0"/>
              <a:t> </a:t>
            </a:r>
            <a:r>
              <a:rPr lang="de-DE" baseline="0" dirty="0" err="1"/>
              <a:t>much</a:t>
            </a:r>
            <a:r>
              <a:rPr lang="de-DE" baseline="0" dirty="0"/>
              <a:t> </a:t>
            </a:r>
            <a:r>
              <a:rPr lang="de-DE" baseline="0" dirty="0" err="1"/>
              <a:t>load</a:t>
            </a:r>
            <a:r>
              <a:rPr lang="de-DE" baseline="0" dirty="0"/>
              <a:t> </a:t>
            </a:r>
            <a:r>
              <a:rPr lang="de-DE" baseline="0" dirty="0" err="1"/>
              <a:t>can</a:t>
            </a:r>
            <a:r>
              <a:rPr lang="de-DE" baseline="0" dirty="0"/>
              <a:t> </a:t>
            </a:r>
            <a:r>
              <a:rPr lang="de-DE" baseline="0" dirty="0" err="1"/>
              <a:t>be</a:t>
            </a:r>
            <a:r>
              <a:rPr lang="de-DE" baseline="0" dirty="0"/>
              <a:t> </a:t>
            </a:r>
            <a:r>
              <a:rPr lang="de-DE" baseline="0" dirty="0" err="1"/>
              <a:t>lowered</a:t>
            </a:r>
            <a:r>
              <a:rPr lang="de-DE" baseline="0" dirty="0"/>
              <a:t>, </a:t>
            </a:r>
            <a:r>
              <a:rPr lang="de-DE" baseline="0" dirty="0" err="1"/>
              <a:t>energy</a:t>
            </a:r>
            <a:r>
              <a:rPr lang="de-DE" baseline="0" dirty="0"/>
              <a:t> </a:t>
            </a:r>
            <a:r>
              <a:rPr lang="de-DE" baseline="0" dirty="0" err="1"/>
              <a:t>reduced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quality</a:t>
            </a:r>
            <a:r>
              <a:rPr lang="de-DE" baseline="0" dirty="0"/>
              <a:t>-</a:t>
            </a:r>
            <a:r>
              <a:rPr lang="de-DE" baseline="0" dirty="0" err="1"/>
              <a:t>of</a:t>
            </a:r>
            <a:r>
              <a:rPr lang="de-DE" baseline="0" dirty="0"/>
              <a:t>-service </a:t>
            </a:r>
            <a:r>
              <a:rPr lang="de-DE" baseline="0" dirty="0" err="1"/>
              <a:t>improved</a:t>
            </a:r>
            <a:r>
              <a:rPr lang="de-DE" baseline="0" dirty="0"/>
              <a:t> in </a:t>
            </a:r>
            <a:r>
              <a:rPr lang="de-DE" baseline="0" dirty="0" err="1"/>
              <a:t>selfadjusting</a:t>
            </a:r>
            <a:r>
              <a:rPr lang="de-DE" baseline="0" dirty="0"/>
              <a:t> </a:t>
            </a:r>
            <a:r>
              <a:rPr lang="de-DE" baseline="0" dirty="0" err="1"/>
              <a:t>networks</a:t>
            </a:r>
            <a:r>
              <a:rPr lang="de-DE" baseline="0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 err="1"/>
              <a:t>We</a:t>
            </a:r>
            <a:r>
              <a:rPr lang="de-DE" baseline="0" dirty="0"/>
              <a:t> also </a:t>
            </a:r>
            <a:r>
              <a:rPr lang="de-DE" baseline="0" dirty="0" err="1"/>
              <a:t>need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develop</a:t>
            </a:r>
            <a:r>
              <a:rPr lang="de-DE" baseline="0" dirty="0"/>
              <a:t> </a:t>
            </a:r>
            <a:r>
              <a:rPr lang="de-DE" baseline="0" dirty="0" err="1"/>
              <a:t>models</a:t>
            </a:r>
            <a:r>
              <a:rPr lang="de-DE" baseline="0" dirty="0"/>
              <a:t> </a:t>
            </a:r>
            <a:r>
              <a:rPr lang="de-DE" baseline="0" dirty="0" err="1"/>
              <a:t>for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tradeoff</a:t>
            </a:r>
            <a:r>
              <a:rPr lang="de-DE" baseline="0" dirty="0"/>
              <a:t> </a:t>
            </a:r>
            <a:r>
              <a:rPr lang="de-DE" baseline="0" dirty="0" err="1"/>
              <a:t>between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benefits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costs</a:t>
            </a:r>
            <a:r>
              <a:rPr lang="de-DE" baseline="0" dirty="0"/>
              <a:t> </a:t>
            </a:r>
            <a:r>
              <a:rPr lang="de-DE" baseline="0" dirty="0" err="1"/>
              <a:t>of</a:t>
            </a:r>
            <a:r>
              <a:rPr lang="de-DE" baseline="0" dirty="0"/>
              <a:t> </a:t>
            </a:r>
            <a:r>
              <a:rPr lang="de-DE" baseline="0" dirty="0" err="1"/>
              <a:t>reconfigurations</a:t>
            </a:r>
            <a:r>
              <a:rPr lang="de-DE" baseline="0" dirty="0"/>
              <a:t> </a:t>
            </a:r>
            <a:r>
              <a:rPr lang="de-DE" baseline="0" dirty="0" err="1"/>
              <a:t>over</a:t>
            </a:r>
            <a:r>
              <a:rPr lang="de-DE" baseline="0" dirty="0"/>
              <a:t> time.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 err="1"/>
              <a:t>We</a:t>
            </a:r>
            <a:r>
              <a:rPr lang="de-DE" baseline="0" dirty="0"/>
              <a:t> also </a:t>
            </a:r>
            <a:r>
              <a:rPr lang="de-DE" baseline="0" dirty="0" err="1"/>
              <a:t>study</a:t>
            </a:r>
            <a:r>
              <a:rPr lang="de-DE" baseline="0" dirty="0"/>
              <a:t> </a:t>
            </a:r>
            <a:r>
              <a:rPr lang="de-DE" baseline="0" dirty="0" err="1"/>
              <a:t>how</a:t>
            </a:r>
            <a:r>
              <a:rPr lang="de-DE" baseline="0" dirty="0"/>
              <a:t> </a:t>
            </a:r>
            <a:r>
              <a:rPr lang="de-DE" baseline="0" dirty="0" err="1"/>
              <a:t>self-adjusting</a:t>
            </a:r>
            <a:r>
              <a:rPr lang="de-DE" baseline="0" dirty="0"/>
              <a:t> </a:t>
            </a:r>
            <a:r>
              <a:rPr lang="de-DE" baseline="0" dirty="0" err="1"/>
              <a:t>networks</a:t>
            </a:r>
            <a:r>
              <a:rPr lang="de-DE" baseline="0" dirty="0"/>
              <a:t> </a:t>
            </a:r>
            <a:r>
              <a:rPr lang="de-DE" baseline="0" dirty="0" err="1"/>
              <a:t>can</a:t>
            </a:r>
            <a:r>
              <a:rPr lang="de-DE" baseline="0" dirty="0"/>
              <a:t> </a:t>
            </a:r>
            <a:r>
              <a:rPr lang="de-DE" baseline="0" dirty="0" err="1"/>
              <a:t>be</a:t>
            </a:r>
            <a:r>
              <a:rPr lang="de-DE" baseline="0" dirty="0"/>
              <a:t> </a:t>
            </a:r>
            <a:r>
              <a:rPr lang="de-DE" baseline="0" dirty="0" err="1"/>
              <a:t>used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improve</a:t>
            </a:r>
            <a:r>
              <a:rPr lang="de-DE" baseline="0" dirty="0"/>
              <a:t> fault-</a:t>
            </a:r>
            <a:r>
              <a:rPr lang="de-DE" baseline="0" dirty="0" err="1"/>
              <a:t>tolerance</a:t>
            </a:r>
            <a:r>
              <a:rPr lang="de-DE" baseline="0" dirty="0"/>
              <a:t>, </a:t>
            </a:r>
            <a:r>
              <a:rPr lang="de-DE" baseline="0" dirty="0" err="1"/>
              <a:t>what</a:t>
            </a:r>
            <a:r>
              <a:rPr lang="de-DE" baseline="0" dirty="0"/>
              <a:t> </a:t>
            </a:r>
            <a:r>
              <a:rPr lang="de-DE" baseline="0" dirty="0" err="1"/>
              <a:t>is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impact</a:t>
            </a:r>
            <a:r>
              <a:rPr lang="de-DE" baseline="0" dirty="0"/>
              <a:t> on </a:t>
            </a:r>
            <a:r>
              <a:rPr lang="de-DE" baseline="0" dirty="0" err="1"/>
              <a:t>other</a:t>
            </a:r>
            <a:r>
              <a:rPr lang="de-DE" baseline="0" dirty="0"/>
              <a:t> </a:t>
            </a:r>
            <a:r>
              <a:rPr lang="de-DE" baseline="0" dirty="0" err="1"/>
              <a:t>layers</a:t>
            </a:r>
            <a:r>
              <a:rPr lang="de-DE" baseline="0" dirty="0"/>
              <a:t>,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how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apply</a:t>
            </a:r>
            <a:r>
              <a:rPr lang="de-DE" baseline="0" dirty="0"/>
              <a:t> </a:t>
            </a:r>
            <a:r>
              <a:rPr lang="de-DE" baseline="0" dirty="0" err="1"/>
              <a:t>our</a:t>
            </a:r>
            <a:r>
              <a:rPr lang="de-DE" baseline="0" dirty="0"/>
              <a:t> </a:t>
            </a:r>
            <a:r>
              <a:rPr lang="de-DE" baseline="0" dirty="0" err="1"/>
              <a:t>solutions</a:t>
            </a:r>
            <a:r>
              <a:rPr lang="de-DE" baseline="0" dirty="0"/>
              <a:t> in a </a:t>
            </a:r>
            <a:r>
              <a:rPr lang="de-DE" baseline="0" dirty="0" err="1"/>
              <a:t>specific</a:t>
            </a:r>
            <a:r>
              <a:rPr lang="de-DE" baseline="0" dirty="0"/>
              <a:t> </a:t>
            </a:r>
            <a:r>
              <a:rPr lang="de-DE" baseline="0" dirty="0" err="1"/>
              <a:t>case</a:t>
            </a:r>
            <a:r>
              <a:rPr lang="de-DE" baseline="0" dirty="0"/>
              <a:t> </a:t>
            </a:r>
            <a:r>
              <a:rPr lang="de-DE" baseline="0" dirty="0" err="1"/>
              <a:t>study</a:t>
            </a:r>
            <a:r>
              <a:rPr lang="de-DE" baseline="0" dirty="0"/>
              <a:t>, e.g., </a:t>
            </a:r>
            <a:r>
              <a:rPr lang="de-DE" baseline="0" dirty="0" err="1"/>
              <a:t>how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develop</a:t>
            </a:r>
            <a:r>
              <a:rPr lang="de-DE" baseline="0" dirty="0"/>
              <a:t> a </a:t>
            </a:r>
            <a:r>
              <a:rPr lang="de-DE" baseline="0" dirty="0" err="1"/>
              <a:t>scalable</a:t>
            </a:r>
            <a:r>
              <a:rPr lang="de-DE" baseline="0" dirty="0"/>
              <a:t> </a:t>
            </a:r>
            <a:r>
              <a:rPr lang="de-DE" baseline="0" dirty="0" err="1"/>
              <a:t>control</a:t>
            </a:r>
            <a:r>
              <a:rPr lang="de-DE" baseline="0" dirty="0"/>
              <a:t> plane.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/>
              <a:t>This </a:t>
            </a:r>
            <a:r>
              <a:rPr lang="de-DE" baseline="0" dirty="0" err="1"/>
              <a:t>project</a:t>
            </a:r>
            <a:r>
              <a:rPr lang="de-DE" baseline="0" dirty="0"/>
              <a:t> </a:t>
            </a:r>
            <a:r>
              <a:rPr lang="de-DE" baseline="0" dirty="0" err="1"/>
              <a:t>hence</a:t>
            </a:r>
            <a:r>
              <a:rPr lang="de-DE" baseline="0" dirty="0"/>
              <a:t> </a:t>
            </a:r>
            <a:r>
              <a:rPr lang="de-DE" baseline="0" dirty="0" err="1"/>
              <a:t>requires</a:t>
            </a:r>
            <a:r>
              <a:rPr lang="de-DE" baseline="0" dirty="0"/>
              <a:t> </a:t>
            </a:r>
            <a:r>
              <a:rPr lang="de-DE" baseline="0" dirty="0" err="1"/>
              <a:t>expertises</a:t>
            </a:r>
            <a:r>
              <a:rPr lang="de-DE" baseline="0" dirty="0"/>
              <a:t> </a:t>
            </a:r>
            <a:r>
              <a:rPr lang="de-DE" baseline="0" dirty="0" err="1"/>
              <a:t>from</a:t>
            </a:r>
            <a:r>
              <a:rPr lang="de-DE" baseline="0" dirty="0"/>
              <a:t> different </a:t>
            </a:r>
            <a:r>
              <a:rPr lang="de-DE" baseline="0" dirty="0" err="1"/>
              <a:t>fields</a:t>
            </a:r>
            <a:r>
              <a:rPr lang="de-DE" baseline="0" dirty="0"/>
              <a:t>, </a:t>
            </a:r>
            <a:r>
              <a:rPr lang="de-DE" baseline="0" dirty="0" err="1"/>
              <a:t>from</a:t>
            </a:r>
            <a:r>
              <a:rPr lang="de-DE" baseline="0" dirty="0"/>
              <a:t> </a:t>
            </a:r>
            <a:r>
              <a:rPr lang="de-DE" baseline="0" dirty="0" err="1"/>
              <a:t>networking</a:t>
            </a:r>
            <a:r>
              <a:rPr lang="de-DE" baseline="0" dirty="0"/>
              <a:t>, </a:t>
            </a:r>
            <a:r>
              <a:rPr lang="de-DE" baseline="0" dirty="0" err="1"/>
              <a:t>over</a:t>
            </a:r>
            <a:r>
              <a:rPr lang="de-DE" baseline="0" dirty="0"/>
              <a:t> </a:t>
            </a:r>
            <a:r>
              <a:rPr lang="de-DE" baseline="0" dirty="0" err="1"/>
              <a:t>distributed</a:t>
            </a:r>
            <a:r>
              <a:rPr lang="de-DE" baseline="0" dirty="0"/>
              <a:t> </a:t>
            </a:r>
            <a:r>
              <a:rPr lang="de-DE" baseline="0" dirty="0" err="1"/>
              <a:t>systems</a:t>
            </a:r>
            <a:r>
              <a:rPr lang="de-DE" baseline="0" dirty="0"/>
              <a:t>, </a:t>
            </a:r>
            <a:r>
              <a:rPr lang="de-DE" baseline="0" dirty="0" err="1"/>
              <a:t>algorithms</a:t>
            </a:r>
            <a:r>
              <a:rPr lang="de-DE" baseline="0" dirty="0"/>
              <a:t>,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performance</a:t>
            </a:r>
            <a:r>
              <a:rPr lang="de-DE" baseline="0" dirty="0"/>
              <a:t> </a:t>
            </a:r>
            <a:r>
              <a:rPr lang="de-DE" baseline="0" dirty="0" err="1"/>
              <a:t>evaluation</a:t>
            </a:r>
            <a:r>
              <a:rPr lang="de-DE" baseline="0" dirty="0"/>
              <a:t>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/>
              <a:t>I </a:t>
            </a:r>
            <a:r>
              <a:rPr lang="de-DE" baseline="0" dirty="0" err="1"/>
              <a:t>have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necessary</a:t>
            </a:r>
            <a:r>
              <a:rPr lang="de-DE" baseline="0" dirty="0"/>
              <a:t> </a:t>
            </a:r>
            <a:r>
              <a:rPr lang="de-DE" baseline="0" dirty="0" err="1"/>
              <a:t>background</a:t>
            </a:r>
            <a:r>
              <a:rPr lang="de-DE" baseline="0" dirty="0"/>
              <a:t> in all </a:t>
            </a:r>
            <a:r>
              <a:rPr lang="de-DE" baseline="0" dirty="0" err="1"/>
              <a:t>these</a:t>
            </a:r>
            <a:r>
              <a:rPr lang="de-DE" baseline="0" dirty="0"/>
              <a:t> </a:t>
            </a:r>
            <a:r>
              <a:rPr lang="de-DE" baseline="0" dirty="0" err="1"/>
              <a:t>areas</a:t>
            </a:r>
            <a:r>
              <a:rPr lang="de-DE" baseline="0" dirty="0"/>
              <a:t>.</a:t>
            </a:r>
            <a:endParaRPr dirty="0"/>
          </a:p>
        </p:txBody>
      </p:sp>
      <p:sp>
        <p:nvSpPr>
          <p:cNvPr id="1899" name="Google Shape;1899;g60be7dcf1c_0_790:notes">
            <a:extLst>
              <a:ext uri="{FF2B5EF4-FFF2-40B4-BE49-F238E27FC236}">
                <a16:creationId xmlns:a16="http://schemas.microsoft.com/office/drawing/2014/main" id="{7CDD9BEE-729A-E917-E4FA-D1AC8A45DC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256332755"/>
      </p:ext>
    </p:extLst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7">
          <a:extLst>
            <a:ext uri="{FF2B5EF4-FFF2-40B4-BE49-F238E27FC236}">
              <a16:creationId xmlns:a16="http://schemas.microsoft.com/office/drawing/2014/main" id="{88B2AF80-09B9-43DF-5808-53FD99208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8" name="Google Shape;1898;g60be7dcf1c_0_790:notes">
            <a:extLst>
              <a:ext uri="{FF2B5EF4-FFF2-40B4-BE49-F238E27FC236}">
                <a16:creationId xmlns:a16="http://schemas.microsoft.com/office/drawing/2014/main" id="{A4437E74-E980-6322-CDB5-65B2EF7924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So </a:t>
            </a:r>
            <a:r>
              <a:rPr lang="de-DE" dirty="0" err="1"/>
              <a:t>far</a:t>
            </a:r>
            <a:r>
              <a:rPr lang="de-DE" dirty="0"/>
              <a:t>,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have</a:t>
            </a:r>
            <a:r>
              <a:rPr lang="de-DE" dirty="0"/>
              <a:t> just </a:t>
            </a:r>
            <a:r>
              <a:rPr lang="de-DE" dirty="0" err="1"/>
              <a:t>scratched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surface</a:t>
            </a:r>
            <a:r>
              <a:rPr lang="de-DE" baseline="0" dirty="0"/>
              <a:t>,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with</a:t>
            </a:r>
            <a:r>
              <a:rPr lang="de-DE" baseline="0" dirty="0"/>
              <a:t> </a:t>
            </a:r>
            <a:r>
              <a:rPr lang="de-DE" baseline="0" dirty="0" err="1"/>
              <a:t>this</a:t>
            </a:r>
            <a:r>
              <a:rPr lang="de-DE" baseline="0" dirty="0"/>
              <a:t> ERC </a:t>
            </a:r>
            <a:r>
              <a:rPr lang="de-DE" baseline="0" dirty="0" err="1"/>
              <a:t>project</a:t>
            </a:r>
            <a:r>
              <a:rPr lang="de-DE" baseline="0" dirty="0"/>
              <a:t>, </a:t>
            </a:r>
            <a:r>
              <a:rPr lang="de-DE" baseline="0" dirty="0" err="1"/>
              <a:t>we</a:t>
            </a:r>
            <a:r>
              <a:rPr lang="de-DE" baseline="0" dirty="0"/>
              <a:t> </a:t>
            </a:r>
            <a:r>
              <a:rPr lang="de-DE" baseline="0" dirty="0" err="1"/>
              <a:t>want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explore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rest</a:t>
            </a:r>
            <a:r>
              <a:rPr lang="de-DE" baseline="0" dirty="0"/>
              <a:t> </a:t>
            </a:r>
            <a:r>
              <a:rPr lang="de-DE" baseline="0" dirty="0" err="1"/>
              <a:t>of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iceberg</a:t>
            </a:r>
            <a:r>
              <a:rPr lang="de-DE" baseline="0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 err="1"/>
              <a:t>Indeed</a:t>
            </a:r>
            <a:r>
              <a:rPr lang="de-DE" baseline="0" dirty="0"/>
              <a:t>,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notion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self-adjusting</a:t>
            </a:r>
            <a:r>
              <a:rPr lang="de-DE" dirty="0"/>
              <a:t> </a:t>
            </a:r>
            <a:r>
              <a:rPr lang="de-DE" dirty="0" err="1"/>
              <a:t>networks</a:t>
            </a:r>
            <a:r>
              <a:rPr lang="de-DE" dirty="0"/>
              <a:t> </a:t>
            </a:r>
            <a:r>
              <a:rPr lang="de-DE" dirty="0" err="1"/>
              <a:t>opens</a:t>
            </a:r>
            <a:r>
              <a:rPr lang="de-DE" dirty="0"/>
              <a:t> </a:t>
            </a:r>
            <a:r>
              <a:rPr lang="de-DE" baseline="0" dirty="0" err="1"/>
              <a:t>are</a:t>
            </a:r>
            <a:r>
              <a:rPr lang="de-DE" baseline="0" dirty="0"/>
              <a:t> large </a:t>
            </a:r>
            <a:r>
              <a:rPr lang="de-DE" baseline="0" dirty="0" err="1"/>
              <a:t>uncharted</a:t>
            </a:r>
            <a:r>
              <a:rPr lang="de-DE" baseline="0" dirty="0"/>
              <a:t> </a:t>
            </a:r>
            <a:r>
              <a:rPr lang="de-DE" baseline="0" dirty="0" err="1"/>
              <a:t>field</a:t>
            </a:r>
            <a:r>
              <a:rPr lang="de-DE" baseline="0" dirty="0"/>
              <a:t>, </a:t>
            </a:r>
            <a:r>
              <a:rPr lang="de-DE" baseline="0" dirty="0" err="1"/>
              <a:t>with</a:t>
            </a:r>
            <a:r>
              <a:rPr lang="de-DE" baseline="0" dirty="0"/>
              <a:t> </a:t>
            </a:r>
            <a:r>
              <a:rPr lang="de-DE" baseline="0" dirty="0" err="1"/>
              <a:t>many</a:t>
            </a:r>
            <a:r>
              <a:rPr lang="de-DE" baseline="0" dirty="0"/>
              <a:t> </a:t>
            </a:r>
            <a:r>
              <a:rPr lang="de-DE" baseline="0" dirty="0" err="1"/>
              <a:t>questions</a:t>
            </a:r>
            <a:r>
              <a:rPr lang="de-DE" baseline="0" dirty="0"/>
              <a:t>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 err="1"/>
              <a:t>W</a:t>
            </a:r>
            <a:r>
              <a:rPr lang="de-DE" baseline="0" dirty="0" err="1"/>
              <a:t>e</a:t>
            </a:r>
            <a:r>
              <a:rPr lang="de-DE" baseline="0" dirty="0"/>
              <a:t> </a:t>
            </a:r>
            <a:r>
              <a:rPr lang="de-DE" baseline="0" dirty="0" err="1"/>
              <a:t>structure</a:t>
            </a:r>
            <a:r>
              <a:rPr lang="de-DE" baseline="0" dirty="0"/>
              <a:t> </a:t>
            </a:r>
            <a:r>
              <a:rPr lang="de-DE" baseline="0" dirty="0" err="1"/>
              <a:t>our</a:t>
            </a:r>
            <a:r>
              <a:rPr lang="de-DE" baseline="0" dirty="0"/>
              <a:t> </a:t>
            </a:r>
            <a:r>
              <a:rPr lang="de-DE" baseline="0" dirty="0" err="1"/>
              <a:t>project</a:t>
            </a:r>
            <a:r>
              <a:rPr lang="de-DE" baseline="0" dirty="0"/>
              <a:t> </a:t>
            </a:r>
            <a:r>
              <a:rPr lang="de-DE" baseline="0" dirty="0" err="1"/>
              <a:t>around</a:t>
            </a:r>
            <a:r>
              <a:rPr lang="de-DE" baseline="0" dirty="0"/>
              <a:t> </a:t>
            </a:r>
            <a:r>
              <a:rPr lang="de-DE" baseline="0" dirty="0" err="1"/>
              <a:t>models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metrics</a:t>
            </a:r>
            <a:r>
              <a:rPr lang="de-DE" baseline="0" dirty="0"/>
              <a:t>, </a:t>
            </a:r>
            <a:r>
              <a:rPr lang="de-DE" baseline="0" dirty="0" err="1"/>
              <a:t>algorithms</a:t>
            </a:r>
            <a:r>
              <a:rPr lang="de-DE" baseline="0" dirty="0"/>
              <a:t>, fault-</a:t>
            </a:r>
            <a:r>
              <a:rPr lang="de-DE" baseline="0" dirty="0" err="1"/>
              <a:t>tolerance</a:t>
            </a:r>
            <a:r>
              <a:rPr lang="de-DE" baseline="0" dirty="0"/>
              <a:t>, </a:t>
            </a:r>
            <a:r>
              <a:rPr lang="de-DE" baseline="0" dirty="0" err="1"/>
              <a:t>integration</a:t>
            </a:r>
            <a:r>
              <a:rPr lang="de-DE" baseline="0" dirty="0"/>
              <a:t> </a:t>
            </a:r>
            <a:r>
              <a:rPr lang="de-DE" baseline="0" dirty="0" err="1"/>
              <a:t>into</a:t>
            </a:r>
            <a:r>
              <a:rPr lang="de-DE" baseline="0" dirty="0"/>
              <a:t> </a:t>
            </a:r>
            <a:r>
              <a:rPr lang="de-DE" baseline="0" dirty="0" err="1"/>
              <a:t>higher</a:t>
            </a:r>
            <a:r>
              <a:rPr lang="de-DE" baseline="0" dirty="0"/>
              <a:t> </a:t>
            </a:r>
            <a:r>
              <a:rPr lang="de-DE" baseline="0" dirty="0" err="1"/>
              <a:t>layers</a:t>
            </a:r>
            <a:r>
              <a:rPr lang="de-DE" baseline="0" dirty="0"/>
              <a:t>,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case</a:t>
            </a:r>
            <a:r>
              <a:rPr lang="de-DE" baseline="0" dirty="0"/>
              <a:t> </a:t>
            </a:r>
            <a:r>
              <a:rPr lang="de-DE" baseline="0" dirty="0" err="1"/>
              <a:t>studies</a:t>
            </a:r>
            <a:r>
              <a:rPr lang="de-DE" baseline="0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/>
              <a:t>In </a:t>
            </a:r>
            <a:r>
              <a:rPr lang="de-DE" baseline="0" dirty="0" err="1"/>
              <a:t>particular</a:t>
            </a:r>
            <a:r>
              <a:rPr lang="de-DE" baseline="0" dirty="0"/>
              <a:t>, </a:t>
            </a:r>
            <a:r>
              <a:rPr lang="de-DE" baseline="0" dirty="0" err="1"/>
              <a:t>we</a:t>
            </a:r>
            <a:r>
              <a:rPr lang="de-DE" baseline="0" dirty="0"/>
              <a:t> will </a:t>
            </a:r>
            <a:r>
              <a:rPr lang="de-DE" baseline="0" dirty="0" err="1"/>
              <a:t>explore</a:t>
            </a:r>
            <a:r>
              <a:rPr lang="de-DE" baseline="0" dirty="0"/>
              <a:t> </a:t>
            </a:r>
            <a:r>
              <a:rPr lang="de-DE" baseline="0" dirty="0" err="1"/>
              <a:t>metrics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algorithms</a:t>
            </a:r>
            <a:r>
              <a:rPr lang="de-DE" baseline="0" dirty="0"/>
              <a:t> </a:t>
            </a:r>
            <a:r>
              <a:rPr lang="de-DE" baseline="0" dirty="0" err="1"/>
              <a:t>for</a:t>
            </a:r>
            <a:r>
              <a:rPr lang="de-DE" baseline="0" dirty="0"/>
              <a:t> </a:t>
            </a:r>
            <a:r>
              <a:rPr lang="de-DE" baseline="0" dirty="0" err="1"/>
              <a:t>by</a:t>
            </a:r>
            <a:r>
              <a:rPr lang="de-DE" baseline="0" dirty="0"/>
              <a:t> </a:t>
            </a:r>
            <a:r>
              <a:rPr lang="de-DE" baseline="0" dirty="0" err="1"/>
              <a:t>how</a:t>
            </a:r>
            <a:r>
              <a:rPr lang="de-DE" baseline="0" dirty="0"/>
              <a:t> </a:t>
            </a:r>
            <a:r>
              <a:rPr lang="de-DE" baseline="0" dirty="0" err="1"/>
              <a:t>much</a:t>
            </a:r>
            <a:r>
              <a:rPr lang="de-DE" baseline="0" dirty="0"/>
              <a:t> </a:t>
            </a:r>
            <a:r>
              <a:rPr lang="de-DE" baseline="0" dirty="0" err="1"/>
              <a:t>load</a:t>
            </a:r>
            <a:r>
              <a:rPr lang="de-DE" baseline="0" dirty="0"/>
              <a:t> </a:t>
            </a:r>
            <a:r>
              <a:rPr lang="de-DE" baseline="0" dirty="0" err="1"/>
              <a:t>can</a:t>
            </a:r>
            <a:r>
              <a:rPr lang="de-DE" baseline="0" dirty="0"/>
              <a:t> </a:t>
            </a:r>
            <a:r>
              <a:rPr lang="de-DE" baseline="0" dirty="0" err="1"/>
              <a:t>be</a:t>
            </a:r>
            <a:r>
              <a:rPr lang="de-DE" baseline="0" dirty="0"/>
              <a:t> </a:t>
            </a:r>
            <a:r>
              <a:rPr lang="de-DE" baseline="0" dirty="0" err="1"/>
              <a:t>lowered</a:t>
            </a:r>
            <a:r>
              <a:rPr lang="de-DE" baseline="0" dirty="0"/>
              <a:t>, </a:t>
            </a:r>
            <a:r>
              <a:rPr lang="de-DE" baseline="0" dirty="0" err="1"/>
              <a:t>energy</a:t>
            </a:r>
            <a:r>
              <a:rPr lang="de-DE" baseline="0" dirty="0"/>
              <a:t> </a:t>
            </a:r>
            <a:r>
              <a:rPr lang="de-DE" baseline="0" dirty="0" err="1"/>
              <a:t>reduced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quality</a:t>
            </a:r>
            <a:r>
              <a:rPr lang="de-DE" baseline="0" dirty="0"/>
              <a:t>-</a:t>
            </a:r>
            <a:r>
              <a:rPr lang="de-DE" baseline="0" dirty="0" err="1"/>
              <a:t>of</a:t>
            </a:r>
            <a:r>
              <a:rPr lang="de-DE" baseline="0" dirty="0"/>
              <a:t>-service </a:t>
            </a:r>
            <a:r>
              <a:rPr lang="de-DE" baseline="0" dirty="0" err="1"/>
              <a:t>improved</a:t>
            </a:r>
            <a:r>
              <a:rPr lang="de-DE" baseline="0" dirty="0"/>
              <a:t> in </a:t>
            </a:r>
            <a:r>
              <a:rPr lang="de-DE" baseline="0" dirty="0" err="1"/>
              <a:t>selfadjusting</a:t>
            </a:r>
            <a:r>
              <a:rPr lang="de-DE" baseline="0" dirty="0"/>
              <a:t> </a:t>
            </a:r>
            <a:r>
              <a:rPr lang="de-DE" baseline="0" dirty="0" err="1"/>
              <a:t>networks</a:t>
            </a:r>
            <a:r>
              <a:rPr lang="de-DE" baseline="0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 err="1"/>
              <a:t>We</a:t>
            </a:r>
            <a:r>
              <a:rPr lang="de-DE" baseline="0" dirty="0"/>
              <a:t> also </a:t>
            </a:r>
            <a:r>
              <a:rPr lang="de-DE" baseline="0" dirty="0" err="1"/>
              <a:t>need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develop</a:t>
            </a:r>
            <a:r>
              <a:rPr lang="de-DE" baseline="0" dirty="0"/>
              <a:t> </a:t>
            </a:r>
            <a:r>
              <a:rPr lang="de-DE" baseline="0" dirty="0" err="1"/>
              <a:t>models</a:t>
            </a:r>
            <a:r>
              <a:rPr lang="de-DE" baseline="0" dirty="0"/>
              <a:t> </a:t>
            </a:r>
            <a:r>
              <a:rPr lang="de-DE" baseline="0" dirty="0" err="1"/>
              <a:t>for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tradeoff</a:t>
            </a:r>
            <a:r>
              <a:rPr lang="de-DE" baseline="0" dirty="0"/>
              <a:t> </a:t>
            </a:r>
            <a:r>
              <a:rPr lang="de-DE" baseline="0" dirty="0" err="1"/>
              <a:t>between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benefits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costs</a:t>
            </a:r>
            <a:r>
              <a:rPr lang="de-DE" baseline="0" dirty="0"/>
              <a:t> </a:t>
            </a:r>
            <a:r>
              <a:rPr lang="de-DE" baseline="0" dirty="0" err="1"/>
              <a:t>of</a:t>
            </a:r>
            <a:r>
              <a:rPr lang="de-DE" baseline="0" dirty="0"/>
              <a:t> </a:t>
            </a:r>
            <a:r>
              <a:rPr lang="de-DE" baseline="0" dirty="0" err="1"/>
              <a:t>reconfigurations</a:t>
            </a:r>
            <a:r>
              <a:rPr lang="de-DE" baseline="0" dirty="0"/>
              <a:t> </a:t>
            </a:r>
            <a:r>
              <a:rPr lang="de-DE" baseline="0" dirty="0" err="1"/>
              <a:t>over</a:t>
            </a:r>
            <a:r>
              <a:rPr lang="de-DE" baseline="0" dirty="0"/>
              <a:t> time.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 err="1"/>
              <a:t>We</a:t>
            </a:r>
            <a:r>
              <a:rPr lang="de-DE" baseline="0" dirty="0"/>
              <a:t> also </a:t>
            </a:r>
            <a:r>
              <a:rPr lang="de-DE" baseline="0" dirty="0" err="1"/>
              <a:t>study</a:t>
            </a:r>
            <a:r>
              <a:rPr lang="de-DE" baseline="0" dirty="0"/>
              <a:t> </a:t>
            </a:r>
            <a:r>
              <a:rPr lang="de-DE" baseline="0" dirty="0" err="1"/>
              <a:t>how</a:t>
            </a:r>
            <a:r>
              <a:rPr lang="de-DE" baseline="0" dirty="0"/>
              <a:t> </a:t>
            </a:r>
            <a:r>
              <a:rPr lang="de-DE" baseline="0" dirty="0" err="1"/>
              <a:t>self-adjusting</a:t>
            </a:r>
            <a:r>
              <a:rPr lang="de-DE" baseline="0" dirty="0"/>
              <a:t> </a:t>
            </a:r>
            <a:r>
              <a:rPr lang="de-DE" baseline="0" dirty="0" err="1"/>
              <a:t>networks</a:t>
            </a:r>
            <a:r>
              <a:rPr lang="de-DE" baseline="0" dirty="0"/>
              <a:t> </a:t>
            </a:r>
            <a:r>
              <a:rPr lang="de-DE" baseline="0" dirty="0" err="1"/>
              <a:t>can</a:t>
            </a:r>
            <a:r>
              <a:rPr lang="de-DE" baseline="0" dirty="0"/>
              <a:t> </a:t>
            </a:r>
            <a:r>
              <a:rPr lang="de-DE" baseline="0" dirty="0" err="1"/>
              <a:t>be</a:t>
            </a:r>
            <a:r>
              <a:rPr lang="de-DE" baseline="0" dirty="0"/>
              <a:t> </a:t>
            </a:r>
            <a:r>
              <a:rPr lang="de-DE" baseline="0" dirty="0" err="1"/>
              <a:t>used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improve</a:t>
            </a:r>
            <a:r>
              <a:rPr lang="de-DE" baseline="0" dirty="0"/>
              <a:t> fault-</a:t>
            </a:r>
            <a:r>
              <a:rPr lang="de-DE" baseline="0" dirty="0" err="1"/>
              <a:t>tolerance</a:t>
            </a:r>
            <a:r>
              <a:rPr lang="de-DE" baseline="0" dirty="0"/>
              <a:t>, </a:t>
            </a:r>
            <a:r>
              <a:rPr lang="de-DE" baseline="0" dirty="0" err="1"/>
              <a:t>what</a:t>
            </a:r>
            <a:r>
              <a:rPr lang="de-DE" baseline="0" dirty="0"/>
              <a:t> </a:t>
            </a:r>
            <a:r>
              <a:rPr lang="de-DE" baseline="0" dirty="0" err="1"/>
              <a:t>is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impact</a:t>
            </a:r>
            <a:r>
              <a:rPr lang="de-DE" baseline="0" dirty="0"/>
              <a:t> on </a:t>
            </a:r>
            <a:r>
              <a:rPr lang="de-DE" baseline="0" dirty="0" err="1"/>
              <a:t>other</a:t>
            </a:r>
            <a:r>
              <a:rPr lang="de-DE" baseline="0" dirty="0"/>
              <a:t> </a:t>
            </a:r>
            <a:r>
              <a:rPr lang="de-DE" baseline="0" dirty="0" err="1"/>
              <a:t>layers</a:t>
            </a:r>
            <a:r>
              <a:rPr lang="de-DE" baseline="0" dirty="0"/>
              <a:t>,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how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apply</a:t>
            </a:r>
            <a:r>
              <a:rPr lang="de-DE" baseline="0" dirty="0"/>
              <a:t> </a:t>
            </a:r>
            <a:r>
              <a:rPr lang="de-DE" baseline="0" dirty="0" err="1"/>
              <a:t>our</a:t>
            </a:r>
            <a:r>
              <a:rPr lang="de-DE" baseline="0" dirty="0"/>
              <a:t> </a:t>
            </a:r>
            <a:r>
              <a:rPr lang="de-DE" baseline="0" dirty="0" err="1"/>
              <a:t>solutions</a:t>
            </a:r>
            <a:r>
              <a:rPr lang="de-DE" baseline="0" dirty="0"/>
              <a:t> in a </a:t>
            </a:r>
            <a:r>
              <a:rPr lang="de-DE" baseline="0" dirty="0" err="1"/>
              <a:t>specific</a:t>
            </a:r>
            <a:r>
              <a:rPr lang="de-DE" baseline="0" dirty="0"/>
              <a:t> </a:t>
            </a:r>
            <a:r>
              <a:rPr lang="de-DE" baseline="0" dirty="0" err="1"/>
              <a:t>case</a:t>
            </a:r>
            <a:r>
              <a:rPr lang="de-DE" baseline="0" dirty="0"/>
              <a:t> </a:t>
            </a:r>
            <a:r>
              <a:rPr lang="de-DE" baseline="0" dirty="0" err="1"/>
              <a:t>study</a:t>
            </a:r>
            <a:r>
              <a:rPr lang="de-DE" baseline="0" dirty="0"/>
              <a:t>, e.g., </a:t>
            </a:r>
            <a:r>
              <a:rPr lang="de-DE" baseline="0" dirty="0" err="1"/>
              <a:t>how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develop</a:t>
            </a:r>
            <a:r>
              <a:rPr lang="de-DE" baseline="0" dirty="0"/>
              <a:t> a </a:t>
            </a:r>
            <a:r>
              <a:rPr lang="de-DE" baseline="0" dirty="0" err="1"/>
              <a:t>scalable</a:t>
            </a:r>
            <a:r>
              <a:rPr lang="de-DE" baseline="0" dirty="0"/>
              <a:t> </a:t>
            </a:r>
            <a:r>
              <a:rPr lang="de-DE" baseline="0" dirty="0" err="1"/>
              <a:t>control</a:t>
            </a:r>
            <a:r>
              <a:rPr lang="de-DE" baseline="0" dirty="0"/>
              <a:t> plane.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/>
              <a:t>This </a:t>
            </a:r>
            <a:r>
              <a:rPr lang="de-DE" baseline="0" dirty="0" err="1"/>
              <a:t>project</a:t>
            </a:r>
            <a:r>
              <a:rPr lang="de-DE" baseline="0" dirty="0"/>
              <a:t> </a:t>
            </a:r>
            <a:r>
              <a:rPr lang="de-DE" baseline="0" dirty="0" err="1"/>
              <a:t>hence</a:t>
            </a:r>
            <a:r>
              <a:rPr lang="de-DE" baseline="0" dirty="0"/>
              <a:t> </a:t>
            </a:r>
            <a:r>
              <a:rPr lang="de-DE" baseline="0" dirty="0" err="1"/>
              <a:t>requires</a:t>
            </a:r>
            <a:r>
              <a:rPr lang="de-DE" baseline="0" dirty="0"/>
              <a:t> </a:t>
            </a:r>
            <a:r>
              <a:rPr lang="de-DE" baseline="0" dirty="0" err="1"/>
              <a:t>expertises</a:t>
            </a:r>
            <a:r>
              <a:rPr lang="de-DE" baseline="0" dirty="0"/>
              <a:t> </a:t>
            </a:r>
            <a:r>
              <a:rPr lang="de-DE" baseline="0" dirty="0" err="1"/>
              <a:t>from</a:t>
            </a:r>
            <a:r>
              <a:rPr lang="de-DE" baseline="0" dirty="0"/>
              <a:t> different </a:t>
            </a:r>
            <a:r>
              <a:rPr lang="de-DE" baseline="0" dirty="0" err="1"/>
              <a:t>fields</a:t>
            </a:r>
            <a:r>
              <a:rPr lang="de-DE" baseline="0" dirty="0"/>
              <a:t>, </a:t>
            </a:r>
            <a:r>
              <a:rPr lang="de-DE" baseline="0" dirty="0" err="1"/>
              <a:t>from</a:t>
            </a:r>
            <a:r>
              <a:rPr lang="de-DE" baseline="0" dirty="0"/>
              <a:t> </a:t>
            </a:r>
            <a:r>
              <a:rPr lang="de-DE" baseline="0" dirty="0" err="1"/>
              <a:t>networking</a:t>
            </a:r>
            <a:r>
              <a:rPr lang="de-DE" baseline="0" dirty="0"/>
              <a:t>, </a:t>
            </a:r>
            <a:r>
              <a:rPr lang="de-DE" baseline="0" dirty="0" err="1"/>
              <a:t>over</a:t>
            </a:r>
            <a:r>
              <a:rPr lang="de-DE" baseline="0" dirty="0"/>
              <a:t> </a:t>
            </a:r>
            <a:r>
              <a:rPr lang="de-DE" baseline="0" dirty="0" err="1"/>
              <a:t>distributed</a:t>
            </a:r>
            <a:r>
              <a:rPr lang="de-DE" baseline="0" dirty="0"/>
              <a:t> </a:t>
            </a:r>
            <a:r>
              <a:rPr lang="de-DE" baseline="0" dirty="0" err="1"/>
              <a:t>systems</a:t>
            </a:r>
            <a:r>
              <a:rPr lang="de-DE" baseline="0" dirty="0"/>
              <a:t>, </a:t>
            </a:r>
            <a:r>
              <a:rPr lang="de-DE" baseline="0" dirty="0" err="1"/>
              <a:t>algorithms</a:t>
            </a:r>
            <a:r>
              <a:rPr lang="de-DE" baseline="0" dirty="0"/>
              <a:t>,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performance</a:t>
            </a:r>
            <a:r>
              <a:rPr lang="de-DE" baseline="0" dirty="0"/>
              <a:t> </a:t>
            </a:r>
            <a:r>
              <a:rPr lang="de-DE" baseline="0" dirty="0" err="1"/>
              <a:t>evaluation</a:t>
            </a:r>
            <a:r>
              <a:rPr lang="de-DE" baseline="0" dirty="0"/>
              <a:t>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/>
              <a:t>I </a:t>
            </a:r>
            <a:r>
              <a:rPr lang="de-DE" baseline="0" dirty="0" err="1"/>
              <a:t>have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necessary</a:t>
            </a:r>
            <a:r>
              <a:rPr lang="de-DE" baseline="0" dirty="0"/>
              <a:t> </a:t>
            </a:r>
            <a:r>
              <a:rPr lang="de-DE" baseline="0" dirty="0" err="1"/>
              <a:t>background</a:t>
            </a:r>
            <a:r>
              <a:rPr lang="de-DE" baseline="0" dirty="0"/>
              <a:t> in all </a:t>
            </a:r>
            <a:r>
              <a:rPr lang="de-DE" baseline="0" dirty="0" err="1"/>
              <a:t>these</a:t>
            </a:r>
            <a:r>
              <a:rPr lang="de-DE" baseline="0" dirty="0"/>
              <a:t> </a:t>
            </a:r>
            <a:r>
              <a:rPr lang="de-DE" baseline="0" dirty="0" err="1"/>
              <a:t>areas</a:t>
            </a:r>
            <a:r>
              <a:rPr lang="de-DE" baseline="0" dirty="0"/>
              <a:t>.</a:t>
            </a:r>
            <a:endParaRPr dirty="0"/>
          </a:p>
        </p:txBody>
      </p:sp>
      <p:sp>
        <p:nvSpPr>
          <p:cNvPr id="1899" name="Google Shape;1899;g60be7dcf1c_0_790:notes">
            <a:extLst>
              <a:ext uri="{FF2B5EF4-FFF2-40B4-BE49-F238E27FC236}">
                <a16:creationId xmlns:a16="http://schemas.microsoft.com/office/drawing/2014/main" id="{7567543B-1FD2-C55C-774E-71B93A03F9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47744419"/>
      </p:ext>
    </p:extLst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7">
          <a:extLst>
            <a:ext uri="{FF2B5EF4-FFF2-40B4-BE49-F238E27FC236}">
              <a16:creationId xmlns:a16="http://schemas.microsoft.com/office/drawing/2014/main" id="{A45A7BD3-57D8-244F-C4B0-C57CA94BA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8" name="Google Shape;1898;g60be7dcf1c_0_790:notes">
            <a:extLst>
              <a:ext uri="{FF2B5EF4-FFF2-40B4-BE49-F238E27FC236}">
                <a16:creationId xmlns:a16="http://schemas.microsoft.com/office/drawing/2014/main" id="{62D03C03-7F7C-27C4-E6F4-DF10A9DCC2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So </a:t>
            </a:r>
            <a:r>
              <a:rPr lang="de-DE" dirty="0" err="1"/>
              <a:t>far</a:t>
            </a:r>
            <a:r>
              <a:rPr lang="de-DE" dirty="0"/>
              <a:t>,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have</a:t>
            </a:r>
            <a:r>
              <a:rPr lang="de-DE" dirty="0"/>
              <a:t> just </a:t>
            </a:r>
            <a:r>
              <a:rPr lang="de-DE" dirty="0" err="1"/>
              <a:t>scratched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surface</a:t>
            </a:r>
            <a:r>
              <a:rPr lang="de-DE" baseline="0" dirty="0"/>
              <a:t>,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with</a:t>
            </a:r>
            <a:r>
              <a:rPr lang="de-DE" baseline="0" dirty="0"/>
              <a:t> </a:t>
            </a:r>
            <a:r>
              <a:rPr lang="de-DE" baseline="0" dirty="0" err="1"/>
              <a:t>this</a:t>
            </a:r>
            <a:r>
              <a:rPr lang="de-DE" baseline="0" dirty="0"/>
              <a:t> ERC </a:t>
            </a:r>
            <a:r>
              <a:rPr lang="de-DE" baseline="0" dirty="0" err="1"/>
              <a:t>project</a:t>
            </a:r>
            <a:r>
              <a:rPr lang="de-DE" baseline="0" dirty="0"/>
              <a:t>, </a:t>
            </a:r>
            <a:r>
              <a:rPr lang="de-DE" baseline="0" dirty="0" err="1"/>
              <a:t>we</a:t>
            </a:r>
            <a:r>
              <a:rPr lang="de-DE" baseline="0" dirty="0"/>
              <a:t> </a:t>
            </a:r>
            <a:r>
              <a:rPr lang="de-DE" baseline="0" dirty="0" err="1"/>
              <a:t>want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explore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rest</a:t>
            </a:r>
            <a:r>
              <a:rPr lang="de-DE" baseline="0" dirty="0"/>
              <a:t> </a:t>
            </a:r>
            <a:r>
              <a:rPr lang="de-DE" baseline="0" dirty="0" err="1"/>
              <a:t>of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iceberg</a:t>
            </a:r>
            <a:r>
              <a:rPr lang="de-DE" baseline="0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 err="1"/>
              <a:t>Indeed</a:t>
            </a:r>
            <a:r>
              <a:rPr lang="de-DE" baseline="0" dirty="0"/>
              <a:t>,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notion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self-adjusting</a:t>
            </a:r>
            <a:r>
              <a:rPr lang="de-DE" dirty="0"/>
              <a:t> </a:t>
            </a:r>
            <a:r>
              <a:rPr lang="de-DE" dirty="0" err="1"/>
              <a:t>networks</a:t>
            </a:r>
            <a:r>
              <a:rPr lang="de-DE" dirty="0"/>
              <a:t> </a:t>
            </a:r>
            <a:r>
              <a:rPr lang="de-DE" dirty="0" err="1"/>
              <a:t>opens</a:t>
            </a:r>
            <a:r>
              <a:rPr lang="de-DE" dirty="0"/>
              <a:t> </a:t>
            </a:r>
            <a:r>
              <a:rPr lang="de-DE" baseline="0" dirty="0" err="1"/>
              <a:t>are</a:t>
            </a:r>
            <a:r>
              <a:rPr lang="de-DE" baseline="0" dirty="0"/>
              <a:t> large </a:t>
            </a:r>
            <a:r>
              <a:rPr lang="de-DE" baseline="0" dirty="0" err="1"/>
              <a:t>uncharted</a:t>
            </a:r>
            <a:r>
              <a:rPr lang="de-DE" baseline="0" dirty="0"/>
              <a:t> </a:t>
            </a:r>
            <a:r>
              <a:rPr lang="de-DE" baseline="0" dirty="0" err="1"/>
              <a:t>field</a:t>
            </a:r>
            <a:r>
              <a:rPr lang="de-DE" baseline="0" dirty="0"/>
              <a:t>, </a:t>
            </a:r>
            <a:r>
              <a:rPr lang="de-DE" baseline="0" dirty="0" err="1"/>
              <a:t>with</a:t>
            </a:r>
            <a:r>
              <a:rPr lang="de-DE" baseline="0" dirty="0"/>
              <a:t> </a:t>
            </a:r>
            <a:r>
              <a:rPr lang="de-DE" baseline="0" dirty="0" err="1"/>
              <a:t>many</a:t>
            </a:r>
            <a:r>
              <a:rPr lang="de-DE" baseline="0" dirty="0"/>
              <a:t> </a:t>
            </a:r>
            <a:r>
              <a:rPr lang="de-DE" baseline="0" dirty="0" err="1"/>
              <a:t>questions</a:t>
            </a:r>
            <a:r>
              <a:rPr lang="de-DE" baseline="0" dirty="0"/>
              <a:t>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 err="1"/>
              <a:t>W</a:t>
            </a:r>
            <a:r>
              <a:rPr lang="de-DE" baseline="0" dirty="0" err="1"/>
              <a:t>e</a:t>
            </a:r>
            <a:r>
              <a:rPr lang="de-DE" baseline="0" dirty="0"/>
              <a:t> </a:t>
            </a:r>
            <a:r>
              <a:rPr lang="de-DE" baseline="0" dirty="0" err="1"/>
              <a:t>structure</a:t>
            </a:r>
            <a:r>
              <a:rPr lang="de-DE" baseline="0" dirty="0"/>
              <a:t> </a:t>
            </a:r>
            <a:r>
              <a:rPr lang="de-DE" baseline="0" dirty="0" err="1"/>
              <a:t>our</a:t>
            </a:r>
            <a:r>
              <a:rPr lang="de-DE" baseline="0" dirty="0"/>
              <a:t> </a:t>
            </a:r>
            <a:r>
              <a:rPr lang="de-DE" baseline="0" dirty="0" err="1"/>
              <a:t>project</a:t>
            </a:r>
            <a:r>
              <a:rPr lang="de-DE" baseline="0" dirty="0"/>
              <a:t> </a:t>
            </a:r>
            <a:r>
              <a:rPr lang="de-DE" baseline="0" dirty="0" err="1"/>
              <a:t>around</a:t>
            </a:r>
            <a:r>
              <a:rPr lang="de-DE" baseline="0" dirty="0"/>
              <a:t> </a:t>
            </a:r>
            <a:r>
              <a:rPr lang="de-DE" baseline="0" dirty="0" err="1"/>
              <a:t>models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metrics</a:t>
            </a:r>
            <a:r>
              <a:rPr lang="de-DE" baseline="0" dirty="0"/>
              <a:t>, </a:t>
            </a:r>
            <a:r>
              <a:rPr lang="de-DE" baseline="0" dirty="0" err="1"/>
              <a:t>algorithms</a:t>
            </a:r>
            <a:r>
              <a:rPr lang="de-DE" baseline="0" dirty="0"/>
              <a:t>, fault-</a:t>
            </a:r>
            <a:r>
              <a:rPr lang="de-DE" baseline="0" dirty="0" err="1"/>
              <a:t>tolerance</a:t>
            </a:r>
            <a:r>
              <a:rPr lang="de-DE" baseline="0" dirty="0"/>
              <a:t>, </a:t>
            </a:r>
            <a:r>
              <a:rPr lang="de-DE" baseline="0" dirty="0" err="1"/>
              <a:t>integration</a:t>
            </a:r>
            <a:r>
              <a:rPr lang="de-DE" baseline="0" dirty="0"/>
              <a:t> </a:t>
            </a:r>
            <a:r>
              <a:rPr lang="de-DE" baseline="0" dirty="0" err="1"/>
              <a:t>into</a:t>
            </a:r>
            <a:r>
              <a:rPr lang="de-DE" baseline="0" dirty="0"/>
              <a:t> </a:t>
            </a:r>
            <a:r>
              <a:rPr lang="de-DE" baseline="0" dirty="0" err="1"/>
              <a:t>higher</a:t>
            </a:r>
            <a:r>
              <a:rPr lang="de-DE" baseline="0" dirty="0"/>
              <a:t> </a:t>
            </a:r>
            <a:r>
              <a:rPr lang="de-DE" baseline="0" dirty="0" err="1"/>
              <a:t>layers</a:t>
            </a:r>
            <a:r>
              <a:rPr lang="de-DE" baseline="0" dirty="0"/>
              <a:t>,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case</a:t>
            </a:r>
            <a:r>
              <a:rPr lang="de-DE" baseline="0" dirty="0"/>
              <a:t> </a:t>
            </a:r>
            <a:r>
              <a:rPr lang="de-DE" baseline="0" dirty="0" err="1"/>
              <a:t>studies</a:t>
            </a:r>
            <a:r>
              <a:rPr lang="de-DE" baseline="0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/>
              <a:t>In </a:t>
            </a:r>
            <a:r>
              <a:rPr lang="de-DE" baseline="0" dirty="0" err="1"/>
              <a:t>particular</a:t>
            </a:r>
            <a:r>
              <a:rPr lang="de-DE" baseline="0" dirty="0"/>
              <a:t>, </a:t>
            </a:r>
            <a:r>
              <a:rPr lang="de-DE" baseline="0" dirty="0" err="1"/>
              <a:t>we</a:t>
            </a:r>
            <a:r>
              <a:rPr lang="de-DE" baseline="0" dirty="0"/>
              <a:t> will </a:t>
            </a:r>
            <a:r>
              <a:rPr lang="de-DE" baseline="0" dirty="0" err="1"/>
              <a:t>explore</a:t>
            </a:r>
            <a:r>
              <a:rPr lang="de-DE" baseline="0" dirty="0"/>
              <a:t> </a:t>
            </a:r>
            <a:r>
              <a:rPr lang="de-DE" baseline="0" dirty="0" err="1"/>
              <a:t>metrics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algorithms</a:t>
            </a:r>
            <a:r>
              <a:rPr lang="de-DE" baseline="0" dirty="0"/>
              <a:t> </a:t>
            </a:r>
            <a:r>
              <a:rPr lang="de-DE" baseline="0" dirty="0" err="1"/>
              <a:t>for</a:t>
            </a:r>
            <a:r>
              <a:rPr lang="de-DE" baseline="0" dirty="0"/>
              <a:t> </a:t>
            </a:r>
            <a:r>
              <a:rPr lang="de-DE" baseline="0" dirty="0" err="1"/>
              <a:t>by</a:t>
            </a:r>
            <a:r>
              <a:rPr lang="de-DE" baseline="0" dirty="0"/>
              <a:t> </a:t>
            </a:r>
            <a:r>
              <a:rPr lang="de-DE" baseline="0" dirty="0" err="1"/>
              <a:t>how</a:t>
            </a:r>
            <a:r>
              <a:rPr lang="de-DE" baseline="0" dirty="0"/>
              <a:t> </a:t>
            </a:r>
            <a:r>
              <a:rPr lang="de-DE" baseline="0" dirty="0" err="1"/>
              <a:t>much</a:t>
            </a:r>
            <a:r>
              <a:rPr lang="de-DE" baseline="0" dirty="0"/>
              <a:t> </a:t>
            </a:r>
            <a:r>
              <a:rPr lang="de-DE" baseline="0" dirty="0" err="1"/>
              <a:t>load</a:t>
            </a:r>
            <a:r>
              <a:rPr lang="de-DE" baseline="0" dirty="0"/>
              <a:t> </a:t>
            </a:r>
            <a:r>
              <a:rPr lang="de-DE" baseline="0" dirty="0" err="1"/>
              <a:t>can</a:t>
            </a:r>
            <a:r>
              <a:rPr lang="de-DE" baseline="0" dirty="0"/>
              <a:t> </a:t>
            </a:r>
            <a:r>
              <a:rPr lang="de-DE" baseline="0" dirty="0" err="1"/>
              <a:t>be</a:t>
            </a:r>
            <a:r>
              <a:rPr lang="de-DE" baseline="0" dirty="0"/>
              <a:t> </a:t>
            </a:r>
            <a:r>
              <a:rPr lang="de-DE" baseline="0" dirty="0" err="1"/>
              <a:t>lowered</a:t>
            </a:r>
            <a:r>
              <a:rPr lang="de-DE" baseline="0" dirty="0"/>
              <a:t>, </a:t>
            </a:r>
            <a:r>
              <a:rPr lang="de-DE" baseline="0" dirty="0" err="1"/>
              <a:t>energy</a:t>
            </a:r>
            <a:r>
              <a:rPr lang="de-DE" baseline="0" dirty="0"/>
              <a:t> </a:t>
            </a:r>
            <a:r>
              <a:rPr lang="de-DE" baseline="0" dirty="0" err="1"/>
              <a:t>reduced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quality</a:t>
            </a:r>
            <a:r>
              <a:rPr lang="de-DE" baseline="0" dirty="0"/>
              <a:t>-</a:t>
            </a:r>
            <a:r>
              <a:rPr lang="de-DE" baseline="0" dirty="0" err="1"/>
              <a:t>of</a:t>
            </a:r>
            <a:r>
              <a:rPr lang="de-DE" baseline="0" dirty="0"/>
              <a:t>-service </a:t>
            </a:r>
            <a:r>
              <a:rPr lang="de-DE" baseline="0" dirty="0" err="1"/>
              <a:t>improved</a:t>
            </a:r>
            <a:r>
              <a:rPr lang="de-DE" baseline="0" dirty="0"/>
              <a:t> in </a:t>
            </a:r>
            <a:r>
              <a:rPr lang="de-DE" baseline="0" dirty="0" err="1"/>
              <a:t>selfadjusting</a:t>
            </a:r>
            <a:r>
              <a:rPr lang="de-DE" baseline="0" dirty="0"/>
              <a:t> </a:t>
            </a:r>
            <a:r>
              <a:rPr lang="de-DE" baseline="0" dirty="0" err="1"/>
              <a:t>networks</a:t>
            </a:r>
            <a:r>
              <a:rPr lang="de-DE" baseline="0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 err="1"/>
              <a:t>We</a:t>
            </a:r>
            <a:r>
              <a:rPr lang="de-DE" baseline="0" dirty="0"/>
              <a:t> also </a:t>
            </a:r>
            <a:r>
              <a:rPr lang="de-DE" baseline="0" dirty="0" err="1"/>
              <a:t>need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develop</a:t>
            </a:r>
            <a:r>
              <a:rPr lang="de-DE" baseline="0" dirty="0"/>
              <a:t> </a:t>
            </a:r>
            <a:r>
              <a:rPr lang="de-DE" baseline="0" dirty="0" err="1"/>
              <a:t>models</a:t>
            </a:r>
            <a:r>
              <a:rPr lang="de-DE" baseline="0" dirty="0"/>
              <a:t> </a:t>
            </a:r>
            <a:r>
              <a:rPr lang="de-DE" baseline="0" dirty="0" err="1"/>
              <a:t>for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tradeoff</a:t>
            </a:r>
            <a:r>
              <a:rPr lang="de-DE" baseline="0" dirty="0"/>
              <a:t> </a:t>
            </a:r>
            <a:r>
              <a:rPr lang="de-DE" baseline="0" dirty="0" err="1"/>
              <a:t>between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benefits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costs</a:t>
            </a:r>
            <a:r>
              <a:rPr lang="de-DE" baseline="0" dirty="0"/>
              <a:t> </a:t>
            </a:r>
            <a:r>
              <a:rPr lang="de-DE" baseline="0" dirty="0" err="1"/>
              <a:t>of</a:t>
            </a:r>
            <a:r>
              <a:rPr lang="de-DE" baseline="0" dirty="0"/>
              <a:t> </a:t>
            </a:r>
            <a:r>
              <a:rPr lang="de-DE" baseline="0" dirty="0" err="1"/>
              <a:t>reconfigurations</a:t>
            </a:r>
            <a:r>
              <a:rPr lang="de-DE" baseline="0" dirty="0"/>
              <a:t> </a:t>
            </a:r>
            <a:r>
              <a:rPr lang="de-DE" baseline="0" dirty="0" err="1"/>
              <a:t>over</a:t>
            </a:r>
            <a:r>
              <a:rPr lang="de-DE" baseline="0" dirty="0"/>
              <a:t> time.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 err="1"/>
              <a:t>We</a:t>
            </a:r>
            <a:r>
              <a:rPr lang="de-DE" baseline="0" dirty="0"/>
              <a:t> also </a:t>
            </a:r>
            <a:r>
              <a:rPr lang="de-DE" baseline="0" dirty="0" err="1"/>
              <a:t>study</a:t>
            </a:r>
            <a:r>
              <a:rPr lang="de-DE" baseline="0" dirty="0"/>
              <a:t> </a:t>
            </a:r>
            <a:r>
              <a:rPr lang="de-DE" baseline="0" dirty="0" err="1"/>
              <a:t>how</a:t>
            </a:r>
            <a:r>
              <a:rPr lang="de-DE" baseline="0" dirty="0"/>
              <a:t> </a:t>
            </a:r>
            <a:r>
              <a:rPr lang="de-DE" baseline="0" dirty="0" err="1"/>
              <a:t>self-adjusting</a:t>
            </a:r>
            <a:r>
              <a:rPr lang="de-DE" baseline="0" dirty="0"/>
              <a:t> </a:t>
            </a:r>
            <a:r>
              <a:rPr lang="de-DE" baseline="0" dirty="0" err="1"/>
              <a:t>networks</a:t>
            </a:r>
            <a:r>
              <a:rPr lang="de-DE" baseline="0" dirty="0"/>
              <a:t> </a:t>
            </a:r>
            <a:r>
              <a:rPr lang="de-DE" baseline="0" dirty="0" err="1"/>
              <a:t>can</a:t>
            </a:r>
            <a:r>
              <a:rPr lang="de-DE" baseline="0" dirty="0"/>
              <a:t> </a:t>
            </a:r>
            <a:r>
              <a:rPr lang="de-DE" baseline="0" dirty="0" err="1"/>
              <a:t>be</a:t>
            </a:r>
            <a:r>
              <a:rPr lang="de-DE" baseline="0" dirty="0"/>
              <a:t> </a:t>
            </a:r>
            <a:r>
              <a:rPr lang="de-DE" baseline="0" dirty="0" err="1"/>
              <a:t>used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improve</a:t>
            </a:r>
            <a:r>
              <a:rPr lang="de-DE" baseline="0" dirty="0"/>
              <a:t> fault-</a:t>
            </a:r>
            <a:r>
              <a:rPr lang="de-DE" baseline="0" dirty="0" err="1"/>
              <a:t>tolerance</a:t>
            </a:r>
            <a:r>
              <a:rPr lang="de-DE" baseline="0" dirty="0"/>
              <a:t>, </a:t>
            </a:r>
            <a:r>
              <a:rPr lang="de-DE" baseline="0" dirty="0" err="1"/>
              <a:t>what</a:t>
            </a:r>
            <a:r>
              <a:rPr lang="de-DE" baseline="0" dirty="0"/>
              <a:t> </a:t>
            </a:r>
            <a:r>
              <a:rPr lang="de-DE" baseline="0" dirty="0" err="1"/>
              <a:t>is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impact</a:t>
            </a:r>
            <a:r>
              <a:rPr lang="de-DE" baseline="0" dirty="0"/>
              <a:t> on </a:t>
            </a:r>
            <a:r>
              <a:rPr lang="de-DE" baseline="0" dirty="0" err="1"/>
              <a:t>other</a:t>
            </a:r>
            <a:r>
              <a:rPr lang="de-DE" baseline="0" dirty="0"/>
              <a:t> </a:t>
            </a:r>
            <a:r>
              <a:rPr lang="de-DE" baseline="0" dirty="0" err="1"/>
              <a:t>layers</a:t>
            </a:r>
            <a:r>
              <a:rPr lang="de-DE" baseline="0" dirty="0"/>
              <a:t>,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how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apply</a:t>
            </a:r>
            <a:r>
              <a:rPr lang="de-DE" baseline="0" dirty="0"/>
              <a:t> </a:t>
            </a:r>
            <a:r>
              <a:rPr lang="de-DE" baseline="0" dirty="0" err="1"/>
              <a:t>our</a:t>
            </a:r>
            <a:r>
              <a:rPr lang="de-DE" baseline="0" dirty="0"/>
              <a:t> </a:t>
            </a:r>
            <a:r>
              <a:rPr lang="de-DE" baseline="0" dirty="0" err="1"/>
              <a:t>solutions</a:t>
            </a:r>
            <a:r>
              <a:rPr lang="de-DE" baseline="0" dirty="0"/>
              <a:t> in a </a:t>
            </a:r>
            <a:r>
              <a:rPr lang="de-DE" baseline="0" dirty="0" err="1"/>
              <a:t>specific</a:t>
            </a:r>
            <a:r>
              <a:rPr lang="de-DE" baseline="0" dirty="0"/>
              <a:t> </a:t>
            </a:r>
            <a:r>
              <a:rPr lang="de-DE" baseline="0" dirty="0" err="1"/>
              <a:t>case</a:t>
            </a:r>
            <a:r>
              <a:rPr lang="de-DE" baseline="0" dirty="0"/>
              <a:t> </a:t>
            </a:r>
            <a:r>
              <a:rPr lang="de-DE" baseline="0" dirty="0" err="1"/>
              <a:t>study</a:t>
            </a:r>
            <a:r>
              <a:rPr lang="de-DE" baseline="0" dirty="0"/>
              <a:t>, e.g., </a:t>
            </a:r>
            <a:r>
              <a:rPr lang="de-DE" baseline="0" dirty="0" err="1"/>
              <a:t>how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develop</a:t>
            </a:r>
            <a:r>
              <a:rPr lang="de-DE" baseline="0" dirty="0"/>
              <a:t> a </a:t>
            </a:r>
            <a:r>
              <a:rPr lang="de-DE" baseline="0" dirty="0" err="1"/>
              <a:t>scalable</a:t>
            </a:r>
            <a:r>
              <a:rPr lang="de-DE" baseline="0" dirty="0"/>
              <a:t> </a:t>
            </a:r>
            <a:r>
              <a:rPr lang="de-DE" baseline="0" dirty="0" err="1"/>
              <a:t>control</a:t>
            </a:r>
            <a:r>
              <a:rPr lang="de-DE" baseline="0" dirty="0"/>
              <a:t> plane.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/>
              <a:t>This </a:t>
            </a:r>
            <a:r>
              <a:rPr lang="de-DE" baseline="0" dirty="0" err="1"/>
              <a:t>project</a:t>
            </a:r>
            <a:r>
              <a:rPr lang="de-DE" baseline="0" dirty="0"/>
              <a:t> </a:t>
            </a:r>
            <a:r>
              <a:rPr lang="de-DE" baseline="0" dirty="0" err="1"/>
              <a:t>hence</a:t>
            </a:r>
            <a:r>
              <a:rPr lang="de-DE" baseline="0" dirty="0"/>
              <a:t> </a:t>
            </a:r>
            <a:r>
              <a:rPr lang="de-DE" baseline="0" dirty="0" err="1"/>
              <a:t>requires</a:t>
            </a:r>
            <a:r>
              <a:rPr lang="de-DE" baseline="0" dirty="0"/>
              <a:t> </a:t>
            </a:r>
            <a:r>
              <a:rPr lang="de-DE" baseline="0" dirty="0" err="1"/>
              <a:t>expertises</a:t>
            </a:r>
            <a:r>
              <a:rPr lang="de-DE" baseline="0" dirty="0"/>
              <a:t> </a:t>
            </a:r>
            <a:r>
              <a:rPr lang="de-DE" baseline="0" dirty="0" err="1"/>
              <a:t>from</a:t>
            </a:r>
            <a:r>
              <a:rPr lang="de-DE" baseline="0" dirty="0"/>
              <a:t> different </a:t>
            </a:r>
            <a:r>
              <a:rPr lang="de-DE" baseline="0" dirty="0" err="1"/>
              <a:t>fields</a:t>
            </a:r>
            <a:r>
              <a:rPr lang="de-DE" baseline="0" dirty="0"/>
              <a:t>, </a:t>
            </a:r>
            <a:r>
              <a:rPr lang="de-DE" baseline="0" dirty="0" err="1"/>
              <a:t>from</a:t>
            </a:r>
            <a:r>
              <a:rPr lang="de-DE" baseline="0" dirty="0"/>
              <a:t> </a:t>
            </a:r>
            <a:r>
              <a:rPr lang="de-DE" baseline="0" dirty="0" err="1"/>
              <a:t>networking</a:t>
            </a:r>
            <a:r>
              <a:rPr lang="de-DE" baseline="0" dirty="0"/>
              <a:t>, </a:t>
            </a:r>
            <a:r>
              <a:rPr lang="de-DE" baseline="0" dirty="0" err="1"/>
              <a:t>over</a:t>
            </a:r>
            <a:r>
              <a:rPr lang="de-DE" baseline="0" dirty="0"/>
              <a:t> </a:t>
            </a:r>
            <a:r>
              <a:rPr lang="de-DE" baseline="0" dirty="0" err="1"/>
              <a:t>distributed</a:t>
            </a:r>
            <a:r>
              <a:rPr lang="de-DE" baseline="0" dirty="0"/>
              <a:t> </a:t>
            </a:r>
            <a:r>
              <a:rPr lang="de-DE" baseline="0" dirty="0" err="1"/>
              <a:t>systems</a:t>
            </a:r>
            <a:r>
              <a:rPr lang="de-DE" baseline="0" dirty="0"/>
              <a:t>, </a:t>
            </a:r>
            <a:r>
              <a:rPr lang="de-DE" baseline="0" dirty="0" err="1"/>
              <a:t>algorithms</a:t>
            </a:r>
            <a:r>
              <a:rPr lang="de-DE" baseline="0" dirty="0"/>
              <a:t>,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performance</a:t>
            </a:r>
            <a:r>
              <a:rPr lang="de-DE" baseline="0" dirty="0"/>
              <a:t> </a:t>
            </a:r>
            <a:r>
              <a:rPr lang="de-DE" baseline="0" dirty="0" err="1"/>
              <a:t>evaluation</a:t>
            </a:r>
            <a:r>
              <a:rPr lang="de-DE" baseline="0" dirty="0"/>
              <a:t>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/>
              <a:t>I </a:t>
            </a:r>
            <a:r>
              <a:rPr lang="de-DE" baseline="0" dirty="0" err="1"/>
              <a:t>have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necessary</a:t>
            </a:r>
            <a:r>
              <a:rPr lang="de-DE" baseline="0" dirty="0"/>
              <a:t> </a:t>
            </a:r>
            <a:r>
              <a:rPr lang="de-DE" baseline="0" dirty="0" err="1"/>
              <a:t>background</a:t>
            </a:r>
            <a:r>
              <a:rPr lang="de-DE" baseline="0" dirty="0"/>
              <a:t> in all </a:t>
            </a:r>
            <a:r>
              <a:rPr lang="de-DE" baseline="0" dirty="0" err="1"/>
              <a:t>these</a:t>
            </a:r>
            <a:r>
              <a:rPr lang="de-DE" baseline="0" dirty="0"/>
              <a:t> </a:t>
            </a:r>
            <a:r>
              <a:rPr lang="de-DE" baseline="0" dirty="0" err="1"/>
              <a:t>areas</a:t>
            </a:r>
            <a:r>
              <a:rPr lang="de-DE" baseline="0" dirty="0"/>
              <a:t>.</a:t>
            </a:r>
            <a:endParaRPr dirty="0"/>
          </a:p>
        </p:txBody>
      </p:sp>
      <p:sp>
        <p:nvSpPr>
          <p:cNvPr id="1899" name="Google Shape;1899;g60be7dcf1c_0_790:notes">
            <a:extLst>
              <a:ext uri="{FF2B5EF4-FFF2-40B4-BE49-F238E27FC236}">
                <a16:creationId xmlns:a16="http://schemas.microsoft.com/office/drawing/2014/main" id="{92CA2E4A-E0BE-878D-6F78-2A5448F604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597428174"/>
      </p:ext>
    </p:extLst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7">
          <a:extLst>
            <a:ext uri="{FF2B5EF4-FFF2-40B4-BE49-F238E27FC236}">
              <a16:creationId xmlns:a16="http://schemas.microsoft.com/office/drawing/2014/main" id="{3737BE8A-F254-B0CF-80CC-1D074DB81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8" name="Google Shape;1898;g60be7dcf1c_0_790:notes">
            <a:extLst>
              <a:ext uri="{FF2B5EF4-FFF2-40B4-BE49-F238E27FC236}">
                <a16:creationId xmlns:a16="http://schemas.microsoft.com/office/drawing/2014/main" id="{AB87C752-30E8-FDB3-4174-9D0EF374ED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So </a:t>
            </a:r>
            <a:r>
              <a:rPr lang="de-DE" dirty="0" err="1"/>
              <a:t>far</a:t>
            </a:r>
            <a:r>
              <a:rPr lang="de-DE" dirty="0"/>
              <a:t>,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have</a:t>
            </a:r>
            <a:r>
              <a:rPr lang="de-DE" dirty="0"/>
              <a:t> just </a:t>
            </a:r>
            <a:r>
              <a:rPr lang="de-DE" dirty="0" err="1"/>
              <a:t>scratched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surface</a:t>
            </a:r>
            <a:r>
              <a:rPr lang="de-DE" baseline="0" dirty="0"/>
              <a:t>,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with</a:t>
            </a:r>
            <a:r>
              <a:rPr lang="de-DE" baseline="0" dirty="0"/>
              <a:t> </a:t>
            </a:r>
            <a:r>
              <a:rPr lang="de-DE" baseline="0" dirty="0" err="1"/>
              <a:t>this</a:t>
            </a:r>
            <a:r>
              <a:rPr lang="de-DE" baseline="0" dirty="0"/>
              <a:t> ERC </a:t>
            </a:r>
            <a:r>
              <a:rPr lang="de-DE" baseline="0" dirty="0" err="1"/>
              <a:t>project</a:t>
            </a:r>
            <a:r>
              <a:rPr lang="de-DE" baseline="0" dirty="0"/>
              <a:t>, </a:t>
            </a:r>
            <a:r>
              <a:rPr lang="de-DE" baseline="0" dirty="0" err="1"/>
              <a:t>we</a:t>
            </a:r>
            <a:r>
              <a:rPr lang="de-DE" baseline="0" dirty="0"/>
              <a:t> </a:t>
            </a:r>
            <a:r>
              <a:rPr lang="de-DE" baseline="0" dirty="0" err="1"/>
              <a:t>want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explore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rest</a:t>
            </a:r>
            <a:r>
              <a:rPr lang="de-DE" baseline="0" dirty="0"/>
              <a:t> </a:t>
            </a:r>
            <a:r>
              <a:rPr lang="de-DE" baseline="0" dirty="0" err="1"/>
              <a:t>of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iceberg</a:t>
            </a:r>
            <a:r>
              <a:rPr lang="de-DE" baseline="0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 err="1"/>
              <a:t>Indeed</a:t>
            </a:r>
            <a:r>
              <a:rPr lang="de-DE" baseline="0" dirty="0"/>
              <a:t>,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notion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self-adjusting</a:t>
            </a:r>
            <a:r>
              <a:rPr lang="de-DE" dirty="0"/>
              <a:t> </a:t>
            </a:r>
            <a:r>
              <a:rPr lang="de-DE" dirty="0" err="1"/>
              <a:t>networks</a:t>
            </a:r>
            <a:r>
              <a:rPr lang="de-DE" dirty="0"/>
              <a:t> </a:t>
            </a:r>
            <a:r>
              <a:rPr lang="de-DE" dirty="0" err="1"/>
              <a:t>opens</a:t>
            </a:r>
            <a:r>
              <a:rPr lang="de-DE" dirty="0"/>
              <a:t> </a:t>
            </a:r>
            <a:r>
              <a:rPr lang="de-DE" baseline="0" dirty="0" err="1"/>
              <a:t>are</a:t>
            </a:r>
            <a:r>
              <a:rPr lang="de-DE" baseline="0" dirty="0"/>
              <a:t> large </a:t>
            </a:r>
            <a:r>
              <a:rPr lang="de-DE" baseline="0" dirty="0" err="1"/>
              <a:t>uncharted</a:t>
            </a:r>
            <a:r>
              <a:rPr lang="de-DE" baseline="0" dirty="0"/>
              <a:t> </a:t>
            </a:r>
            <a:r>
              <a:rPr lang="de-DE" baseline="0" dirty="0" err="1"/>
              <a:t>field</a:t>
            </a:r>
            <a:r>
              <a:rPr lang="de-DE" baseline="0" dirty="0"/>
              <a:t>, </a:t>
            </a:r>
            <a:r>
              <a:rPr lang="de-DE" baseline="0" dirty="0" err="1"/>
              <a:t>with</a:t>
            </a:r>
            <a:r>
              <a:rPr lang="de-DE" baseline="0" dirty="0"/>
              <a:t> </a:t>
            </a:r>
            <a:r>
              <a:rPr lang="de-DE" baseline="0" dirty="0" err="1"/>
              <a:t>many</a:t>
            </a:r>
            <a:r>
              <a:rPr lang="de-DE" baseline="0" dirty="0"/>
              <a:t> </a:t>
            </a:r>
            <a:r>
              <a:rPr lang="de-DE" baseline="0" dirty="0" err="1"/>
              <a:t>questions</a:t>
            </a:r>
            <a:r>
              <a:rPr lang="de-DE" baseline="0" dirty="0"/>
              <a:t>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 err="1"/>
              <a:t>W</a:t>
            </a:r>
            <a:r>
              <a:rPr lang="de-DE" baseline="0" dirty="0" err="1"/>
              <a:t>e</a:t>
            </a:r>
            <a:r>
              <a:rPr lang="de-DE" baseline="0" dirty="0"/>
              <a:t> </a:t>
            </a:r>
            <a:r>
              <a:rPr lang="de-DE" baseline="0" dirty="0" err="1"/>
              <a:t>structure</a:t>
            </a:r>
            <a:r>
              <a:rPr lang="de-DE" baseline="0" dirty="0"/>
              <a:t> </a:t>
            </a:r>
            <a:r>
              <a:rPr lang="de-DE" baseline="0" dirty="0" err="1"/>
              <a:t>our</a:t>
            </a:r>
            <a:r>
              <a:rPr lang="de-DE" baseline="0" dirty="0"/>
              <a:t> </a:t>
            </a:r>
            <a:r>
              <a:rPr lang="de-DE" baseline="0" dirty="0" err="1"/>
              <a:t>project</a:t>
            </a:r>
            <a:r>
              <a:rPr lang="de-DE" baseline="0" dirty="0"/>
              <a:t> </a:t>
            </a:r>
            <a:r>
              <a:rPr lang="de-DE" baseline="0" dirty="0" err="1"/>
              <a:t>around</a:t>
            </a:r>
            <a:r>
              <a:rPr lang="de-DE" baseline="0" dirty="0"/>
              <a:t> </a:t>
            </a:r>
            <a:r>
              <a:rPr lang="de-DE" baseline="0" dirty="0" err="1"/>
              <a:t>models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metrics</a:t>
            </a:r>
            <a:r>
              <a:rPr lang="de-DE" baseline="0" dirty="0"/>
              <a:t>, </a:t>
            </a:r>
            <a:r>
              <a:rPr lang="de-DE" baseline="0" dirty="0" err="1"/>
              <a:t>algorithms</a:t>
            </a:r>
            <a:r>
              <a:rPr lang="de-DE" baseline="0" dirty="0"/>
              <a:t>, fault-</a:t>
            </a:r>
            <a:r>
              <a:rPr lang="de-DE" baseline="0" dirty="0" err="1"/>
              <a:t>tolerance</a:t>
            </a:r>
            <a:r>
              <a:rPr lang="de-DE" baseline="0" dirty="0"/>
              <a:t>, </a:t>
            </a:r>
            <a:r>
              <a:rPr lang="de-DE" baseline="0" dirty="0" err="1"/>
              <a:t>integration</a:t>
            </a:r>
            <a:r>
              <a:rPr lang="de-DE" baseline="0" dirty="0"/>
              <a:t> </a:t>
            </a:r>
            <a:r>
              <a:rPr lang="de-DE" baseline="0" dirty="0" err="1"/>
              <a:t>into</a:t>
            </a:r>
            <a:r>
              <a:rPr lang="de-DE" baseline="0" dirty="0"/>
              <a:t> </a:t>
            </a:r>
            <a:r>
              <a:rPr lang="de-DE" baseline="0" dirty="0" err="1"/>
              <a:t>higher</a:t>
            </a:r>
            <a:r>
              <a:rPr lang="de-DE" baseline="0" dirty="0"/>
              <a:t> </a:t>
            </a:r>
            <a:r>
              <a:rPr lang="de-DE" baseline="0" dirty="0" err="1"/>
              <a:t>layers</a:t>
            </a:r>
            <a:r>
              <a:rPr lang="de-DE" baseline="0" dirty="0"/>
              <a:t>,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case</a:t>
            </a:r>
            <a:r>
              <a:rPr lang="de-DE" baseline="0" dirty="0"/>
              <a:t> </a:t>
            </a:r>
            <a:r>
              <a:rPr lang="de-DE" baseline="0" dirty="0" err="1"/>
              <a:t>studies</a:t>
            </a:r>
            <a:r>
              <a:rPr lang="de-DE" baseline="0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/>
              <a:t>In </a:t>
            </a:r>
            <a:r>
              <a:rPr lang="de-DE" baseline="0" dirty="0" err="1"/>
              <a:t>particular</a:t>
            </a:r>
            <a:r>
              <a:rPr lang="de-DE" baseline="0" dirty="0"/>
              <a:t>, </a:t>
            </a:r>
            <a:r>
              <a:rPr lang="de-DE" baseline="0" dirty="0" err="1"/>
              <a:t>we</a:t>
            </a:r>
            <a:r>
              <a:rPr lang="de-DE" baseline="0" dirty="0"/>
              <a:t> will </a:t>
            </a:r>
            <a:r>
              <a:rPr lang="de-DE" baseline="0" dirty="0" err="1"/>
              <a:t>explore</a:t>
            </a:r>
            <a:r>
              <a:rPr lang="de-DE" baseline="0" dirty="0"/>
              <a:t> </a:t>
            </a:r>
            <a:r>
              <a:rPr lang="de-DE" baseline="0" dirty="0" err="1"/>
              <a:t>metrics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algorithms</a:t>
            </a:r>
            <a:r>
              <a:rPr lang="de-DE" baseline="0" dirty="0"/>
              <a:t> </a:t>
            </a:r>
            <a:r>
              <a:rPr lang="de-DE" baseline="0" dirty="0" err="1"/>
              <a:t>for</a:t>
            </a:r>
            <a:r>
              <a:rPr lang="de-DE" baseline="0" dirty="0"/>
              <a:t> </a:t>
            </a:r>
            <a:r>
              <a:rPr lang="de-DE" baseline="0" dirty="0" err="1"/>
              <a:t>by</a:t>
            </a:r>
            <a:r>
              <a:rPr lang="de-DE" baseline="0" dirty="0"/>
              <a:t> </a:t>
            </a:r>
            <a:r>
              <a:rPr lang="de-DE" baseline="0" dirty="0" err="1"/>
              <a:t>how</a:t>
            </a:r>
            <a:r>
              <a:rPr lang="de-DE" baseline="0" dirty="0"/>
              <a:t> </a:t>
            </a:r>
            <a:r>
              <a:rPr lang="de-DE" baseline="0" dirty="0" err="1"/>
              <a:t>much</a:t>
            </a:r>
            <a:r>
              <a:rPr lang="de-DE" baseline="0" dirty="0"/>
              <a:t> </a:t>
            </a:r>
            <a:r>
              <a:rPr lang="de-DE" baseline="0" dirty="0" err="1"/>
              <a:t>load</a:t>
            </a:r>
            <a:r>
              <a:rPr lang="de-DE" baseline="0" dirty="0"/>
              <a:t> </a:t>
            </a:r>
            <a:r>
              <a:rPr lang="de-DE" baseline="0" dirty="0" err="1"/>
              <a:t>can</a:t>
            </a:r>
            <a:r>
              <a:rPr lang="de-DE" baseline="0" dirty="0"/>
              <a:t> </a:t>
            </a:r>
            <a:r>
              <a:rPr lang="de-DE" baseline="0" dirty="0" err="1"/>
              <a:t>be</a:t>
            </a:r>
            <a:r>
              <a:rPr lang="de-DE" baseline="0" dirty="0"/>
              <a:t> </a:t>
            </a:r>
            <a:r>
              <a:rPr lang="de-DE" baseline="0" dirty="0" err="1"/>
              <a:t>lowered</a:t>
            </a:r>
            <a:r>
              <a:rPr lang="de-DE" baseline="0" dirty="0"/>
              <a:t>, </a:t>
            </a:r>
            <a:r>
              <a:rPr lang="de-DE" baseline="0" dirty="0" err="1"/>
              <a:t>energy</a:t>
            </a:r>
            <a:r>
              <a:rPr lang="de-DE" baseline="0" dirty="0"/>
              <a:t> </a:t>
            </a:r>
            <a:r>
              <a:rPr lang="de-DE" baseline="0" dirty="0" err="1"/>
              <a:t>reduced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quality</a:t>
            </a:r>
            <a:r>
              <a:rPr lang="de-DE" baseline="0" dirty="0"/>
              <a:t>-</a:t>
            </a:r>
            <a:r>
              <a:rPr lang="de-DE" baseline="0" dirty="0" err="1"/>
              <a:t>of</a:t>
            </a:r>
            <a:r>
              <a:rPr lang="de-DE" baseline="0" dirty="0"/>
              <a:t>-service </a:t>
            </a:r>
            <a:r>
              <a:rPr lang="de-DE" baseline="0" dirty="0" err="1"/>
              <a:t>improved</a:t>
            </a:r>
            <a:r>
              <a:rPr lang="de-DE" baseline="0" dirty="0"/>
              <a:t> in </a:t>
            </a:r>
            <a:r>
              <a:rPr lang="de-DE" baseline="0" dirty="0" err="1"/>
              <a:t>selfadjusting</a:t>
            </a:r>
            <a:r>
              <a:rPr lang="de-DE" baseline="0" dirty="0"/>
              <a:t> </a:t>
            </a:r>
            <a:r>
              <a:rPr lang="de-DE" baseline="0" dirty="0" err="1"/>
              <a:t>networks</a:t>
            </a:r>
            <a:r>
              <a:rPr lang="de-DE" baseline="0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 err="1"/>
              <a:t>We</a:t>
            </a:r>
            <a:r>
              <a:rPr lang="de-DE" baseline="0" dirty="0"/>
              <a:t> also </a:t>
            </a:r>
            <a:r>
              <a:rPr lang="de-DE" baseline="0" dirty="0" err="1"/>
              <a:t>need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develop</a:t>
            </a:r>
            <a:r>
              <a:rPr lang="de-DE" baseline="0" dirty="0"/>
              <a:t> </a:t>
            </a:r>
            <a:r>
              <a:rPr lang="de-DE" baseline="0" dirty="0" err="1"/>
              <a:t>models</a:t>
            </a:r>
            <a:r>
              <a:rPr lang="de-DE" baseline="0" dirty="0"/>
              <a:t> </a:t>
            </a:r>
            <a:r>
              <a:rPr lang="de-DE" baseline="0" dirty="0" err="1"/>
              <a:t>for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tradeoff</a:t>
            </a:r>
            <a:r>
              <a:rPr lang="de-DE" baseline="0" dirty="0"/>
              <a:t> </a:t>
            </a:r>
            <a:r>
              <a:rPr lang="de-DE" baseline="0" dirty="0" err="1"/>
              <a:t>between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benefits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costs</a:t>
            </a:r>
            <a:r>
              <a:rPr lang="de-DE" baseline="0" dirty="0"/>
              <a:t> </a:t>
            </a:r>
            <a:r>
              <a:rPr lang="de-DE" baseline="0" dirty="0" err="1"/>
              <a:t>of</a:t>
            </a:r>
            <a:r>
              <a:rPr lang="de-DE" baseline="0" dirty="0"/>
              <a:t> </a:t>
            </a:r>
            <a:r>
              <a:rPr lang="de-DE" baseline="0" dirty="0" err="1"/>
              <a:t>reconfigurations</a:t>
            </a:r>
            <a:r>
              <a:rPr lang="de-DE" baseline="0" dirty="0"/>
              <a:t> </a:t>
            </a:r>
            <a:r>
              <a:rPr lang="de-DE" baseline="0" dirty="0" err="1"/>
              <a:t>over</a:t>
            </a:r>
            <a:r>
              <a:rPr lang="de-DE" baseline="0" dirty="0"/>
              <a:t> time.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 err="1"/>
              <a:t>We</a:t>
            </a:r>
            <a:r>
              <a:rPr lang="de-DE" baseline="0" dirty="0"/>
              <a:t> also </a:t>
            </a:r>
            <a:r>
              <a:rPr lang="de-DE" baseline="0" dirty="0" err="1"/>
              <a:t>study</a:t>
            </a:r>
            <a:r>
              <a:rPr lang="de-DE" baseline="0" dirty="0"/>
              <a:t> </a:t>
            </a:r>
            <a:r>
              <a:rPr lang="de-DE" baseline="0" dirty="0" err="1"/>
              <a:t>how</a:t>
            </a:r>
            <a:r>
              <a:rPr lang="de-DE" baseline="0" dirty="0"/>
              <a:t> </a:t>
            </a:r>
            <a:r>
              <a:rPr lang="de-DE" baseline="0" dirty="0" err="1"/>
              <a:t>self-adjusting</a:t>
            </a:r>
            <a:r>
              <a:rPr lang="de-DE" baseline="0" dirty="0"/>
              <a:t> </a:t>
            </a:r>
            <a:r>
              <a:rPr lang="de-DE" baseline="0" dirty="0" err="1"/>
              <a:t>networks</a:t>
            </a:r>
            <a:r>
              <a:rPr lang="de-DE" baseline="0" dirty="0"/>
              <a:t> </a:t>
            </a:r>
            <a:r>
              <a:rPr lang="de-DE" baseline="0" dirty="0" err="1"/>
              <a:t>can</a:t>
            </a:r>
            <a:r>
              <a:rPr lang="de-DE" baseline="0" dirty="0"/>
              <a:t> </a:t>
            </a:r>
            <a:r>
              <a:rPr lang="de-DE" baseline="0" dirty="0" err="1"/>
              <a:t>be</a:t>
            </a:r>
            <a:r>
              <a:rPr lang="de-DE" baseline="0" dirty="0"/>
              <a:t> </a:t>
            </a:r>
            <a:r>
              <a:rPr lang="de-DE" baseline="0" dirty="0" err="1"/>
              <a:t>used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improve</a:t>
            </a:r>
            <a:r>
              <a:rPr lang="de-DE" baseline="0" dirty="0"/>
              <a:t> fault-</a:t>
            </a:r>
            <a:r>
              <a:rPr lang="de-DE" baseline="0" dirty="0" err="1"/>
              <a:t>tolerance</a:t>
            </a:r>
            <a:r>
              <a:rPr lang="de-DE" baseline="0" dirty="0"/>
              <a:t>, </a:t>
            </a:r>
            <a:r>
              <a:rPr lang="de-DE" baseline="0" dirty="0" err="1"/>
              <a:t>what</a:t>
            </a:r>
            <a:r>
              <a:rPr lang="de-DE" baseline="0" dirty="0"/>
              <a:t> </a:t>
            </a:r>
            <a:r>
              <a:rPr lang="de-DE" baseline="0" dirty="0" err="1"/>
              <a:t>is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impact</a:t>
            </a:r>
            <a:r>
              <a:rPr lang="de-DE" baseline="0" dirty="0"/>
              <a:t> on </a:t>
            </a:r>
            <a:r>
              <a:rPr lang="de-DE" baseline="0" dirty="0" err="1"/>
              <a:t>other</a:t>
            </a:r>
            <a:r>
              <a:rPr lang="de-DE" baseline="0" dirty="0"/>
              <a:t> </a:t>
            </a:r>
            <a:r>
              <a:rPr lang="de-DE" baseline="0" dirty="0" err="1"/>
              <a:t>layers</a:t>
            </a:r>
            <a:r>
              <a:rPr lang="de-DE" baseline="0" dirty="0"/>
              <a:t>,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how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apply</a:t>
            </a:r>
            <a:r>
              <a:rPr lang="de-DE" baseline="0" dirty="0"/>
              <a:t> </a:t>
            </a:r>
            <a:r>
              <a:rPr lang="de-DE" baseline="0" dirty="0" err="1"/>
              <a:t>our</a:t>
            </a:r>
            <a:r>
              <a:rPr lang="de-DE" baseline="0" dirty="0"/>
              <a:t> </a:t>
            </a:r>
            <a:r>
              <a:rPr lang="de-DE" baseline="0" dirty="0" err="1"/>
              <a:t>solutions</a:t>
            </a:r>
            <a:r>
              <a:rPr lang="de-DE" baseline="0" dirty="0"/>
              <a:t> in a </a:t>
            </a:r>
            <a:r>
              <a:rPr lang="de-DE" baseline="0" dirty="0" err="1"/>
              <a:t>specific</a:t>
            </a:r>
            <a:r>
              <a:rPr lang="de-DE" baseline="0" dirty="0"/>
              <a:t> </a:t>
            </a:r>
            <a:r>
              <a:rPr lang="de-DE" baseline="0" dirty="0" err="1"/>
              <a:t>case</a:t>
            </a:r>
            <a:r>
              <a:rPr lang="de-DE" baseline="0" dirty="0"/>
              <a:t> </a:t>
            </a:r>
            <a:r>
              <a:rPr lang="de-DE" baseline="0" dirty="0" err="1"/>
              <a:t>study</a:t>
            </a:r>
            <a:r>
              <a:rPr lang="de-DE" baseline="0" dirty="0"/>
              <a:t>, e.g., </a:t>
            </a:r>
            <a:r>
              <a:rPr lang="de-DE" baseline="0" dirty="0" err="1"/>
              <a:t>how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develop</a:t>
            </a:r>
            <a:r>
              <a:rPr lang="de-DE" baseline="0" dirty="0"/>
              <a:t> a </a:t>
            </a:r>
            <a:r>
              <a:rPr lang="de-DE" baseline="0" dirty="0" err="1"/>
              <a:t>scalable</a:t>
            </a:r>
            <a:r>
              <a:rPr lang="de-DE" baseline="0" dirty="0"/>
              <a:t> </a:t>
            </a:r>
            <a:r>
              <a:rPr lang="de-DE" baseline="0" dirty="0" err="1"/>
              <a:t>control</a:t>
            </a:r>
            <a:r>
              <a:rPr lang="de-DE" baseline="0" dirty="0"/>
              <a:t> plane.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/>
              <a:t>This </a:t>
            </a:r>
            <a:r>
              <a:rPr lang="de-DE" baseline="0" dirty="0" err="1"/>
              <a:t>project</a:t>
            </a:r>
            <a:r>
              <a:rPr lang="de-DE" baseline="0" dirty="0"/>
              <a:t> </a:t>
            </a:r>
            <a:r>
              <a:rPr lang="de-DE" baseline="0" dirty="0" err="1"/>
              <a:t>hence</a:t>
            </a:r>
            <a:r>
              <a:rPr lang="de-DE" baseline="0" dirty="0"/>
              <a:t> </a:t>
            </a:r>
            <a:r>
              <a:rPr lang="de-DE" baseline="0" dirty="0" err="1"/>
              <a:t>requires</a:t>
            </a:r>
            <a:r>
              <a:rPr lang="de-DE" baseline="0" dirty="0"/>
              <a:t> </a:t>
            </a:r>
            <a:r>
              <a:rPr lang="de-DE" baseline="0" dirty="0" err="1"/>
              <a:t>expertises</a:t>
            </a:r>
            <a:r>
              <a:rPr lang="de-DE" baseline="0" dirty="0"/>
              <a:t> </a:t>
            </a:r>
            <a:r>
              <a:rPr lang="de-DE" baseline="0" dirty="0" err="1"/>
              <a:t>from</a:t>
            </a:r>
            <a:r>
              <a:rPr lang="de-DE" baseline="0" dirty="0"/>
              <a:t> different </a:t>
            </a:r>
            <a:r>
              <a:rPr lang="de-DE" baseline="0" dirty="0" err="1"/>
              <a:t>fields</a:t>
            </a:r>
            <a:r>
              <a:rPr lang="de-DE" baseline="0" dirty="0"/>
              <a:t>, </a:t>
            </a:r>
            <a:r>
              <a:rPr lang="de-DE" baseline="0" dirty="0" err="1"/>
              <a:t>from</a:t>
            </a:r>
            <a:r>
              <a:rPr lang="de-DE" baseline="0" dirty="0"/>
              <a:t> </a:t>
            </a:r>
            <a:r>
              <a:rPr lang="de-DE" baseline="0" dirty="0" err="1"/>
              <a:t>networking</a:t>
            </a:r>
            <a:r>
              <a:rPr lang="de-DE" baseline="0" dirty="0"/>
              <a:t>, </a:t>
            </a:r>
            <a:r>
              <a:rPr lang="de-DE" baseline="0" dirty="0" err="1"/>
              <a:t>over</a:t>
            </a:r>
            <a:r>
              <a:rPr lang="de-DE" baseline="0" dirty="0"/>
              <a:t> </a:t>
            </a:r>
            <a:r>
              <a:rPr lang="de-DE" baseline="0" dirty="0" err="1"/>
              <a:t>distributed</a:t>
            </a:r>
            <a:r>
              <a:rPr lang="de-DE" baseline="0" dirty="0"/>
              <a:t> </a:t>
            </a:r>
            <a:r>
              <a:rPr lang="de-DE" baseline="0" dirty="0" err="1"/>
              <a:t>systems</a:t>
            </a:r>
            <a:r>
              <a:rPr lang="de-DE" baseline="0" dirty="0"/>
              <a:t>, </a:t>
            </a:r>
            <a:r>
              <a:rPr lang="de-DE" baseline="0" dirty="0" err="1"/>
              <a:t>algorithms</a:t>
            </a:r>
            <a:r>
              <a:rPr lang="de-DE" baseline="0" dirty="0"/>
              <a:t>,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performance</a:t>
            </a:r>
            <a:r>
              <a:rPr lang="de-DE" baseline="0" dirty="0"/>
              <a:t> </a:t>
            </a:r>
            <a:r>
              <a:rPr lang="de-DE" baseline="0" dirty="0" err="1"/>
              <a:t>evaluation</a:t>
            </a:r>
            <a:r>
              <a:rPr lang="de-DE" baseline="0" dirty="0"/>
              <a:t>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aseline="0" dirty="0"/>
              <a:t>I </a:t>
            </a:r>
            <a:r>
              <a:rPr lang="de-DE" baseline="0" dirty="0" err="1"/>
              <a:t>have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necessary</a:t>
            </a:r>
            <a:r>
              <a:rPr lang="de-DE" baseline="0" dirty="0"/>
              <a:t> </a:t>
            </a:r>
            <a:r>
              <a:rPr lang="de-DE" baseline="0" dirty="0" err="1"/>
              <a:t>background</a:t>
            </a:r>
            <a:r>
              <a:rPr lang="de-DE" baseline="0" dirty="0"/>
              <a:t> in all </a:t>
            </a:r>
            <a:r>
              <a:rPr lang="de-DE" baseline="0" dirty="0" err="1"/>
              <a:t>these</a:t>
            </a:r>
            <a:r>
              <a:rPr lang="de-DE" baseline="0" dirty="0"/>
              <a:t> </a:t>
            </a:r>
            <a:r>
              <a:rPr lang="de-DE" baseline="0" dirty="0" err="1"/>
              <a:t>areas</a:t>
            </a:r>
            <a:r>
              <a:rPr lang="de-DE" baseline="0" dirty="0"/>
              <a:t>.</a:t>
            </a:r>
            <a:endParaRPr dirty="0"/>
          </a:p>
        </p:txBody>
      </p:sp>
      <p:sp>
        <p:nvSpPr>
          <p:cNvPr id="1899" name="Google Shape;1899;g60be7dcf1c_0_790:notes">
            <a:extLst>
              <a:ext uri="{FF2B5EF4-FFF2-40B4-BE49-F238E27FC236}">
                <a16:creationId xmlns:a16="http://schemas.microsoft.com/office/drawing/2014/main" id="{989BF8BF-1B87-2DF0-A138-D435D86C8E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471859583"/>
      </p:ext>
    </p:extLst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1">
          <a:extLst>
            <a:ext uri="{FF2B5EF4-FFF2-40B4-BE49-F238E27FC236}">
              <a16:creationId xmlns:a16="http://schemas.microsoft.com/office/drawing/2014/main" id="{3085F622-BB6D-32EE-8E9A-41713A555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2" name="Google Shape;1762;g60be7dcf1c_0_659:notes">
            <a:extLst>
              <a:ext uri="{FF2B5EF4-FFF2-40B4-BE49-F238E27FC236}">
                <a16:creationId xmlns:a16="http://schemas.microsoft.com/office/drawing/2014/main" id="{C206DC9C-EFFE-E54C-080D-25A46DEEE2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The potential </a:t>
            </a:r>
            <a:r>
              <a:rPr lang="de-DE" dirty="0" err="1"/>
              <a:t>gain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significant</a:t>
            </a:r>
            <a:r>
              <a:rPr lang="de-DE" dirty="0"/>
              <a:t>.</a:t>
            </a:r>
            <a:endParaRPr dirty="0"/>
          </a:p>
        </p:txBody>
      </p:sp>
      <p:sp>
        <p:nvSpPr>
          <p:cNvPr id="1763" name="Google Shape;1763;g60be7dcf1c_0_659:notes">
            <a:extLst>
              <a:ext uri="{FF2B5EF4-FFF2-40B4-BE49-F238E27FC236}">
                <a16:creationId xmlns:a16="http://schemas.microsoft.com/office/drawing/2014/main" id="{C15F1A75-B6DA-B08B-F961-06411262C2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367093070"/>
      </p:ext>
    </p:extLst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1">
          <a:extLst>
            <a:ext uri="{FF2B5EF4-FFF2-40B4-BE49-F238E27FC236}">
              <a16:creationId xmlns:a16="http://schemas.microsoft.com/office/drawing/2014/main" id="{1FF6027F-49DD-A639-A421-1051B77A5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2" name="Google Shape;1762;g60be7dcf1c_0_659:notes">
            <a:extLst>
              <a:ext uri="{FF2B5EF4-FFF2-40B4-BE49-F238E27FC236}">
                <a16:creationId xmlns:a16="http://schemas.microsoft.com/office/drawing/2014/main" id="{EB0C7C35-105E-3D47-452B-E5988AB6F7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The potential </a:t>
            </a:r>
            <a:r>
              <a:rPr lang="de-DE" dirty="0" err="1"/>
              <a:t>gain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significant</a:t>
            </a:r>
            <a:r>
              <a:rPr lang="de-DE" dirty="0"/>
              <a:t>.</a:t>
            </a:r>
            <a:endParaRPr dirty="0"/>
          </a:p>
        </p:txBody>
      </p:sp>
      <p:sp>
        <p:nvSpPr>
          <p:cNvPr id="1763" name="Google Shape;1763;g60be7dcf1c_0_659:notes">
            <a:extLst>
              <a:ext uri="{FF2B5EF4-FFF2-40B4-BE49-F238E27FC236}">
                <a16:creationId xmlns:a16="http://schemas.microsoft.com/office/drawing/2014/main" id="{2D36A12A-A804-C372-AFB6-C07DCBA3F7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078068921"/>
      </p:ext>
    </p:extLst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1">
          <a:extLst>
            <a:ext uri="{FF2B5EF4-FFF2-40B4-BE49-F238E27FC236}">
              <a16:creationId xmlns:a16="http://schemas.microsoft.com/office/drawing/2014/main" id="{B561B834-F331-A2D7-225A-6527656C0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2" name="Google Shape;1762;g60be7dcf1c_0_659:notes">
            <a:extLst>
              <a:ext uri="{FF2B5EF4-FFF2-40B4-BE49-F238E27FC236}">
                <a16:creationId xmlns:a16="http://schemas.microsoft.com/office/drawing/2014/main" id="{F068C124-CC46-F75A-8C9A-98D07454DC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The potential </a:t>
            </a:r>
            <a:r>
              <a:rPr lang="de-DE" dirty="0" err="1"/>
              <a:t>gain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significant</a:t>
            </a:r>
            <a:r>
              <a:rPr lang="de-DE" dirty="0"/>
              <a:t>.</a:t>
            </a:r>
            <a:endParaRPr dirty="0"/>
          </a:p>
        </p:txBody>
      </p:sp>
      <p:sp>
        <p:nvSpPr>
          <p:cNvPr id="1763" name="Google Shape;1763;g60be7dcf1c_0_659:notes">
            <a:extLst>
              <a:ext uri="{FF2B5EF4-FFF2-40B4-BE49-F238E27FC236}">
                <a16:creationId xmlns:a16="http://schemas.microsoft.com/office/drawing/2014/main" id="{25177F0A-BDD3-DC96-C6AB-BFC5CD09A4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509434252"/>
      </p:ext>
    </p:extLst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EF76DA-FF62-4C1C-88BD-14E81A6264DE}" type="slidenum">
              <a:rPr lang="en-US" smtClean="0"/>
              <a:pPr/>
              <a:t>186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102604"/>
      </p:ext>
    </p:extLst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EF76DA-FF62-4C1C-88BD-14E81A6264DE}" type="slidenum">
              <a:rPr lang="en-US" smtClean="0"/>
              <a:pPr/>
              <a:t>187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4850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60b035751a_17_4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5" name="Google Shape;15;g60b035751a_17_4"/>
          <p:cNvSpPr txBox="1">
            <a:spLocks noGrp="1"/>
          </p:cNvSpPr>
          <p:nvPr>
            <p:ph type="subTitle" idx="1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6" name="Google Shape;16;g60b035751a_17_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60b035751a_17_8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g60b035751a_17_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60b035751a_17_1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g60b035751a_17_11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g60b035751a_17_1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60b035751a_17_1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g60b035751a_17_15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g60b035751a_17_15"/>
          <p:cNvSpPr txBox="1">
            <a:spLocks noGrp="1"/>
          </p:cNvSpPr>
          <p:nvPr>
            <p:ph type="body" idx="2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g60b035751a_17_1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60b035751a_17_20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g60b035751a_17_2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60b035751a_17_23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4" name="Google Shape;34;g60b035751a_17_23"/>
          <p:cNvSpPr txBox="1">
            <a:spLocks noGrp="1"/>
          </p:cNvSpPr>
          <p:nvPr>
            <p:ph type="body" idx="1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5" name="Google Shape;35;g60b035751a_17_2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60b035751a_17_27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8" name="Google Shape;38;g60b035751a_17_2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60b035751a_17_30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g60b035751a_17_30"/>
          <p:cNvSpPr txBox="1">
            <a:spLocks noGrp="1"/>
          </p:cNvSpPr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2" name="Google Shape;42;g60b035751a_17_30"/>
          <p:cNvSpPr txBox="1">
            <a:spLocks noGrp="1"/>
          </p:cNvSpPr>
          <p:nvPr>
            <p:ph type="subTitle" idx="1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3" name="Google Shape;43;g60b035751a_17_30"/>
          <p:cNvSpPr txBox="1">
            <a:spLocks noGrp="1"/>
          </p:cNvSpPr>
          <p:nvPr>
            <p:ph type="body" idx="2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4" name="Google Shape;44;g60b035751a_17_3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60b035751a_17_36"/>
          <p:cNvSpPr txBox="1">
            <a:spLocks noGrp="1"/>
          </p:cNvSpPr>
          <p:nvPr>
            <p:ph type="body" idx="1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7" name="Google Shape;47;g60b035751a_17_3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60b035751a_17_39"/>
          <p:cNvSpPr txBox="1">
            <a:spLocks noGrp="1"/>
          </p:cNvSpPr>
          <p:nvPr>
            <p:ph type="title" hasCustomPrompt="1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0" name="Google Shape;50;g60b035751a_17_39"/>
          <p:cNvSpPr txBox="1">
            <a:spLocks noGrp="1"/>
          </p:cNvSpPr>
          <p:nvPr>
            <p:ph type="body" idx="1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1" name="Google Shape;51;g60b035751a_17_3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60b035751a_17_4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60b035751a_17_45"/>
          <p:cNvSpPr txBox="1">
            <a:spLocks noGrp="1"/>
          </p:cNvSpPr>
          <p:nvPr>
            <p:ph type="title"/>
          </p:nvPr>
        </p:nvSpPr>
        <p:spPr>
          <a:xfrm>
            <a:off x="457200" y="274639"/>
            <a:ext cx="8229600" cy="11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g60b035751a_17_45"/>
          <p:cNvSpPr txBox="1">
            <a:spLocks noGrp="1"/>
          </p:cNvSpPr>
          <p:nvPr>
            <p:ph type="body" idx="1"/>
          </p:nvPr>
        </p:nvSpPr>
        <p:spPr>
          <a:xfrm>
            <a:off x="457200" y="1600201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marL="914400" lvl="1" indent="-34290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marL="1371600" lvl="2" indent="-34290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marL="1828800" lvl="3" indent="-34290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marL="2286000" lvl="4" indent="-34290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marL="2743200" lvl="5" indent="-34290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marL="3200400" lvl="6" indent="-34290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marL="3657600" lvl="7" indent="-34290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marL="4114800" lvl="8" indent="-342900" algn="l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57" name="Google Shape;57;g60b035751a_17_45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g60b035751a_17_45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g60b035751a_17_45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 rtl="0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  <a:lvl2pPr marL="0" lvl="1" indent="0" algn="ctr" rtl="0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2pPr>
            <a:lvl3pPr marL="0" lvl="2" indent="0" algn="ctr" rtl="0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3pPr>
            <a:lvl4pPr marL="0" lvl="3" indent="0" algn="ctr" rtl="0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4pPr>
            <a:lvl5pPr marL="0" lvl="4" indent="0" algn="ctr" rtl="0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5pPr>
            <a:lvl6pPr marL="0" lvl="5" indent="0" algn="ctr" rtl="0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6pPr>
            <a:lvl7pPr marL="0" lvl="6" indent="0" algn="ctr" rtl="0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7pPr>
            <a:lvl8pPr marL="0" lvl="7" indent="0" algn="ctr" rtl="0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8pPr>
            <a:lvl9pPr marL="0" lvl="8" indent="0" algn="ctr" rtl="0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60b035751a_17_0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g60b035751a_17_0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g60b035751a_17_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3" Type="http://schemas.openxmlformats.org/officeDocument/2006/relationships/image" Target="../media/image4.jpg"/><Relationship Id="rId7" Type="http://schemas.openxmlformats.org/officeDocument/2006/relationships/image" Target="../media/image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6.jpeg"/><Relationship Id="rId2" Type="http://schemas.microsoft.com/office/2007/relationships/media" Target="../media/media1.mp4"/><Relationship Id="rId1" Type="http://schemas.openxmlformats.org/officeDocument/2006/relationships/video" Target="NULL" TargetMode="External"/><Relationship Id="rId6" Type="http://schemas.openxmlformats.org/officeDocument/2006/relationships/image" Target="../media/image5.jpg"/><Relationship Id="rId11" Type="http://schemas.openxmlformats.org/officeDocument/2006/relationships/image" Target="../media/image10.png"/><Relationship Id="rId5" Type="http://schemas.openxmlformats.org/officeDocument/2006/relationships/image" Target="../media/image4.jpg"/><Relationship Id="rId10" Type="http://schemas.openxmlformats.org/officeDocument/2006/relationships/image" Target="../media/image9.jpg"/><Relationship Id="rId4" Type="http://schemas.openxmlformats.org/officeDocument/2006/relationships/notesSlide" Target="../notesSlides/notesSlide3.xml"/><Relationship Id="rId9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8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8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9.jpg"/><Relationship Id="rId4" Type="http://schemas.openxmlformats.org/officeDocument/2006/relationships/image" Target="../media/image20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jpg"/><Relationship Id="rId5" Type="http://schemas.openxmlformats.org/officeDocument/2006/relationships/image" Target="../media/image21.jpg"/><Relationship Id="rId4" Type="http://schemas.openxmlformats.org/officeDocument/2006/relationships/image" Target="../media/image20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gi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5.png"/><Relationship Id="rId4" Type="http://schemas.openxmlformats.org/officeDocument/2006/relationships/image" Target="../media/image24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5.png"/><Relationship Id="rId4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5.png"/><Relationship Id="rId4" Type="http://schemas.openxmlformats.org/officeDocument/2006/relationships/image" Target="../media/image3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2.jpg"/><Relationship Id="rId5" Type="http://schemas.openxmlformats.org/officeDocument/2006/relationships/image" Target="../media/image20.jpg"/><Relationship Id="rId4" Type="http://schemas.openxmlformats.org/officeDocument/2006/relationships/image" Target="../media/image3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2.jpg"/><Relationship Id="rId5" Type="http://schemas.openxmlformats.org/officeDocument/2006/relationships/image" Target="../media/image20.jpg"/><Relationship Id="rId4" Type="http://schemas.openxmlformats.org/officeDocument/2006/relationships/image" Target="../media/image3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2.jpg"/><Relationship Id="rId5" Type="http://schemas.openxmlformats.org/officeDocument/2006/relationships/image" Target="../media/image20.jpg"/><Relationship Id="rId4" Type="http://schemas.openxmlformats.org/officeDocument/2006/relationships/image" Target="../media/image3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9.jpg"/><Relationship Id="rId5" Type="http://schemas.openxmlformats.org/officeDocument/2006/relationships/image" Target="../media/image38.jpg"/><Relationship Id="rId4" Type="http://schemas.openxmlformats.org/officeDocument/2006/relationships/image" Target="../media/image37.jp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jpg"/><Relationship Id="rId5" Type="http://schemas.openxmlformats.org/officeDocument/2006/relationships/image" Target="../media/image43.jpg"/><Relationship Id="rId4" Type="http://schemas.openxmlformats.org/officeDocument/2006/relationships/image" Target="../media/image4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jpg"/><Relationship Id="rId5" Type="http://schemas.openxmlformats.org/officeDocument/2006/relationships/image" Target="../media/image43.jpg"/><Relationship Id="rId4" Type="http://schemas.openxmlformats.org/officeDocument/2006/relationships/image" Target="../media/image42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4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4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4.png"/></Relationships>
</file>

<file path=ppt/slides/_rels/slide44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958_F5DD5B1A.xml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F0_72B176.xml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211_EFAD85EF.xml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F1_AF3F18BA.xml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988_9C39A8E7.xml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989_E747C9E3.xml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99C_E3022C25.xml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924_F9DF608D.xml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885_95D51A9C.xml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80.png"/></Relationships>
</file>

<file path=ppt/slides/_rels/slide59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927_9C5551F7.xml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5.png"/></Relationships>
</file>

<file path=ppt/slides/_rels/slide60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928_AFF8B74E.xml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6.png"/></Relationships>
</file>

<file path=ppt/slides/_rels/slide6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92B_CDA8422A.xml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7.png"/></Relationships>
</file>

<file path=ppt/slides/_rels/slide6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92C_472BC8A2.xml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8.png"/></Relationships>
</file>

<file path=ppt/slides/_rels/slide6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929_B96A2F44.xml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9.png"/></Relationships>
</file>

<file path=ppt/slides/_rels/slide64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99E_D12F496C.xml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9.png"/></Relationships>
</file>

<file path=ppt/slides/_rels/slide6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941_FF8E6A02.xml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0.png"/></Relationships>
</file>

<file path=ppt/slides/_rels/slide66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926_1D2E1A5.xml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2.xml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microsoft.com/office/2018/10/relationships/comments" Target="../comments/modernComment_925_306794DD.xml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68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98F_E9C036D7.xml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6.png"/></Relationships>
</file>

<file path=ppt/slides/_rels/slide69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99F_4B96C929.xml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6.png"/></Relationships>
</file>

<file path=ppt/slides/_rels/slide70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923_AD1A488A.xml"/><Relationship Id="rId7" Type="http://schemas.openxmlformats.org/officeDocument/2006/relationships/image" Target="../media/image60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7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9A0_5656719B.xml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1.png"/><Relationship Id="rId5" Type="http://schemas.openxmlformats.org/officeDocument/2006/relationships/image" Target="../media/image59.png"/><Relationship Id="rId4" Type="http://schemas.openxmlformats.org/officeDocument/2006/relationships/image" Target="../media/image57.png"/></Relationships>
</file>

<file path=ppt/slides/_rels/slide7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9A1_2D127DD0.xml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1.png"/><Relationship Id="rId5" Type="http://schemas.openxmlformats.org/officeDocument/2006/relationships/image" Target="../media/image59.png"/><Relationship Id="rId4" Type="http://schemas.openxmlformats.org/officeDocument/2006/relationships/image" Target="../media/image57.png"/></Relationships>
</file>

<file path=ppt/slides/_rels/slide7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99D_9D3A4E84.xml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2.png"/></Relationships>
</file>

<file path=ppt/slides/_rels/slide74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98A_87873206.xml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3.png"/></Relationships>
</file>

<file path=ppt/slides/_rels/slide7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98B_1A629251.xml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4.png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2.xml"/></Relationships>
</file>

<file path=ppt/slides/_rels/slide77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992_218124D2.xml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2.xml"/></Relationships>
</file>

<file path=ppt/slides/_rels/slide78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993_6C3A2C8.xml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5.png"/></Relationships>
</file>

<file path=ppt/slides/_rels/slide79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994_E28E3F71.xml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6.png"/></Relationships>
</file>

<file path=ppt/slides/_rels/slide80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996_97E3592.xml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7.png"/></Relationships>
</file>

<file path=ppt/slides/_rels/slide8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997_2B5CDCC8.xml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7.png"/></Relationships>
</file>

<file path=ppt/slides/_rels/slide8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98D_BF37A15B.xml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8.png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2.xml"/></Relationships>
</file>

<file path=ppt/slides/_rels/slide84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990_2E4DC533.xml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01.png"/></Relationships>
</file>

<file path=ppt/slides/_rels/slide8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1.png"/><Relationship Id="rId3" Type="http://schemas.openxmlformats.org/officeDocument/2006/relationships/image" Target="../media/image19.jpg"/><Relationship Id="rId7" Type="http://schemas.openxmlformats.org/officeDocument/2006/relationships/image" Target="../media/image500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10.png"/><Relationship Id="rId5" Type="http://schemas.openxmlformats.org/officeDocument/2006/relationships/image" Target="../media/image501.png"/></Relationships>
</file>

<file path=ppt/slides/_rels/slide8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0.png"/><Relationship Id="rId3" Type="http://schemas.openxmlformats.org/officeDocument/2006/relationships/image" Target="../media/image19.jpg"/><Relationship Id="rId7" Type="http://schemas.openxmlformats.org/officeDocument/2006/relationships/image" Target="../media/image500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10.png"/><Relationship Id="rId11" Type="http://schemas.openxmlformats.org/officeDocument/2006/relationships/image" Target="../media/image4900.png"/><Relationship Id="rId5" Type="http://schemas.openxmlformats.org/officeDocument/2006/relationships/image" Target="../media/image501.png"/><Relationship Id="rId10" Type="http://schemas.openxmlformats.org/officeDocument/2006/relationships/image" Target="../media/image520.png"/><Relationship Id="rId9" Type="http://schemas.openxmlformats.org/officeDocument/2006/relationships/image" Target="../media/image72.emf"/></Relationships>
</file>

<file path=ppt/slides/_rels/slide8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0.png"/><Relationship Id="rId3" Type="http://schemas.openxmlformats.org/officeDocument/2006/relationships/image" Target="../media/image19.jpg"/><Relationship Id="rId7" Type="http://schemas.openxmlformats.org/officeDocument/2006/relationships/image" Target="../media/image500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10.png"/><Relationship Id="rId11" Type="http://schemas.openxmlformats.org/officeDocument/2006/relationships/image" Target="../media/image4900.png"/><Relationship Id="rId5" Type="http://schemas.openxmlformats.org/officeDocument/2006/relationships/image" Target="../media/image501.png"/><Relationship Id="rId10" Type="http://schemas.openxmlformats.org/officeDocument/2006/relationships/image" Target="../media/image520.png"/><Relationship Id="rId9" Type="http://schemas.openxmlformats.org/officeDocument/2006/relationships/image" Target="../media/image72.emf"/></Relationships>
</file>

<file path=ppt/slides/_rels/slide8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0.png"/><Relationship Id="rId3" Type="http://schemas.openxmlformats.org/officeDocument/2006/relationships/image" Target="../media/image19.jpg"/><Relationship Id="rId7" Type="http://schemas.openxmlformats.org/officeDocument/2006/relationships/image" Target="../media/image500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10.png"/><Relationship Id="rId11" Type="http://schemas.openxmlformats.org/officeDocument/2006/relationships/image" Target="../media/image4900.png"/><Relationship Id="rId5" Type="http://schemas.openxmlformats.org/officeDocument/2006/relationships/image" Target="../media/image501.png"/><Relationship Id="rId10" Type="http://schemas.openxmlformats.org/officeDocument/2006/relationships/image" Target="../media/image520.png"/><Relationship Id="rId9" Type="http://schemas.openxmlformats.org/officeDocument/2006/relationships/image" Target="../media/image72.emf"/></Relationships>
</file>

<file path=ppt/slides/_rels/slide9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0.png"/><Relationship Id="rId3" Type="http://schemas.openxmlformats.org/officeDocument/2006/relationships/image" Target="../media/image19.jpg"/><Relationship Id="rId7" Type="http://schemas.openxmlformats.org/officeDocument/2006/relationships/image" Target="../media/image500.pn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10.png"/><Relationship Id="rId11" Type="http://schemas.openxmlformats.org/officeDocument/2006/relationships/image" Target="../media/image4900.png"/><Relationship Id="rId5" Type="http://schemas.openxmlformats.org/officeDocument/2006/relationships/image" Target="../media/image501.png"/><Relationship Id="rId10" Type="http://schemas.openxmlformats.org/officeDocument/2006/relationships/image" Target="../media/image520.png"/><Relationship Id="rId9" Type="http://schemas.openxmlformats.org/officeDocument/2006/relationships/image" Target="../media/image72.emf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3.emf"/><Relationship Id="rId4" Type="http://schemas.openxmlformats.org/officeDocument/2006/relationships/image" Target="../media/image620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3.emf"/><Relationship Id="rId4" Type="http://schemas.openxmlformats.org/officeDocument/2006/relationships/image" Target="../media/image620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1.pn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4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1.pn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1.pn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7.png"/><Relationship Id="rId4" Type="http://schemas.openxmlformats.org/officeDocument/2006/relationships/image" Target="../media/image690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arxiv.org/pdf/2405.20869" TargetMode="Externa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2.xml"/></Relationships>
</file>

<file path=ppt/slides/_rels/slide100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930_BC8D32AA.xml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0.png"/></Relationships>
</file>

<file path=ppt/slides/_rels/slide10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88B_E65CB0CD.xml"/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10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88A_369C731A.xml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1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1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1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1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1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1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1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12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6.png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12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12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jpeg"/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0.jpeg"/><Relationship Id="rId4" Type="http://schemas.openxmlformats.org/officeDocument/2006/relationships/image" Target="../media/image89.png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jpeg"/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0.jpeg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jpeg"/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0.jpeg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jpeg"/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0.jpeg"/><Relationship Id="rId5" Type="http://schemas.openxmlformats.org/officeDocument/2006/relationships/image" Target="../media/image89.png"/><Relationship Id="rId4" Type="http://schemas.openxmlformats.org/officeDocument/2006/relationships/image" Target="../media/image92.png"/></Relationships>
</file>

<file path=ppt/slides/_rels/slide118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25D_EF02484F.xml"/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3.jpg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5.png"/></Relationships>
</file>

<file path=ppt/slides/_rels/slide120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7E1_EA8F82CC.xml"/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7.png"/><Relationship Id="rId4" Type="http://schemas.openxmlformats.org/officeDocument/2006/relationships/image" Target="../media/image96.gif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hyperlink" Target="https://schmiste.github.io/cacm25.pdf" TargetMode="External"/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8.gif"/><Relationship Id="rId5" Type="http://schemas.openxmlformats.org/officeDocument/2006/relationships/image" Target="../media/image97.png"/><Relationship Id="rId4" Type="http://schemas.openxmlformats.org/officeDocument/2006/relationships/hyperlink" Target="https://www.youtube.com/@self-adjusting-networks-course" TargetMode="Externa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2.png"/><Relationship Id="rId5" Type="http://schemas.openxmlformats.org/officeDocument/2006/relationships/image" Target="../media/image101.png"/><Relationship Id="rId4" Type="http://schemas.openxmlformats.org/officeDocument/2006/relationships/image" Target="../media/image100.png"/></Relationships>
</file>

<file path=ppt/slides/_rels/slide12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7E4_4A9ADDFB.xml"/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3.png"/></Relationships>
</file>

<file path=ppt/slides/_rels/slide124.xml.rels><?xml version="1.0" encoding="UTF-8" standalone="yes"?>
<Relationships xmlns="http://schemas.openxmlformats.org/package/2006/relationships"><Relationship Id="rId8" Type="http://schemas.openxmlformats.org/officeDocument/2006/relationships/hyperlink" Target="https://schmiste.github.io/hotoptics26bruck.pdf" TargetMode="External"/><Relationship Id="rId3" Type="http://schemas.openxmlformats.org/officeDocument/2006/relationships/hyperlink" Target="https://schmiste.github.io/cacm25.pdf" TargetMode="External"/><Relationship Id="rId7" Type="http://schemas.openxmlformats.org/officeDocument/2006/relationships/hyperlink" Target="https://schmiste.github.io/mobihoc26bridge.pdf" TargetMode="External"/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schmiste.github.io/nsdi27.pdf" TargetMode="External"/><Relationship Id="rId11" Type="http://schemas.openxmlformats.org/officeDocument/2006/relationships/hyperlink" Target="https://schmiste.github.io/sigcomm26.pdf" TargetMode="External"/><Relationship Id="rId5" Type="http://schemas.openxmlformats.org/officeDocument/2006/relationships/hyperlink" Target="https://schmiste.github.io/sigmetrics23mars.pdf" TargetMode="External"/><Relationship Id="rId10" Type="http://schemas.openxmlformats.org/officeDocument/2006/relationships/hyperlink" Target="https://schmiste.github.io/sigmetrics20complexity.pdf" TargetMode="External"/><Relationship Id="rId4" Type="http://schemas.openxmlformats.org/officeDocument/2006/relationships/hyperlink" Target="https://schmiste.github.io/sigmetrics22cerberus.pdf" TargetMode="External"/><Relationship Id="rId9" Type="http://schemas.openxmlformats.org/officeDocument/2006/relationships/hyperlink" Target="https://schmiste.github.io/sigmetrics23duo.pdf" TargetMode="External"/></Relationships>
</file>

<file path=ppt/slides/_rels/slide125.xml.rels><?xml version="1.0" encoding="UTF-8" standalone="yes"?>
<Relationships xmlns="http://schemas.openxmlformats.org/package/2006/relationships"><Relationship Id="rId8" Type="http://schemas.openxmlformats.org/officeDocument/2006/relationships/hyperlink" Target="https://schmiste.github.io/ton15splay.pdf" TargetMode="External"/><Relationship Id="rId3" Type="http://schemas.openxmlformats.org/officeDocument/2006/relationships/hyperlink" Target="https://schmiste.github.io/ebpf23.pdf" TargetMode="External"/><Relationship Id="rId7" Type="http://schemas.openxmlformats.org/officeDocument/2006/relationships/hyperlink" Target="https://schmiste.github.io/osn21.pdf" TargetMode="External"/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schmiste.github.io/ton22dan.pdf" TargetMode="External"/><Relationship Id="rId5" Type="http://schemas.openxmlformats.org/officeDocument/2006/relationships/hyperlink" Target="https://schmiste.github.io/ancs21exrec.pdf" TargetMode="External"/><Relationship Id="rId10" Type="http://schemas.openxmlformats.org/officeDocument/2006/relationships/hyperlink" Target="https://schmiste.github.io/nsdi24credence.pdf" TargetMode="External"/><Relationship Id="rId4" Type="http://schemas.openxmlformats.org/officeDocument/2006/relationships/hyperlink" Target="https://schmiste.github.io/sigcomm22.pdf" TargetMode="External"/><Relationship Id="rId9" Type="http://schemas.openxmlformats.org/officeDocument/2006/relationships/hyperlink" Target="https://schmiste.github.io/nsdi22powertcp.pdf" TargetMode="Externa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hyperlink" Target="https://schmiste.github.io/ics26.pdf" TargetMode="External"/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schmiste.github.io/ccr18san.pdf" TargetMode="External"/><Relationship Id="rId5" Type="http://schemas.openxmlformats.org/officeDocument/2006/relationships/hyperlink" Target="https://schmiste.github.io/infocom22matching.pdf" TargetMode="External"/><Relationship Id="rId4" Type="http://schemas.openxmlformats.org/officeDocument/2006/relationships/hyperlink" Target="https://schmiste.github.io/infocom23matching.pdf" TargetMode="External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gif"/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12.xml"/></Relationships>
</file>

<file path=ppt/slides/_rels/slide128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877_7E05F773.xml"/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12.xml"/></Relationships>
</file>

<file path=ppt/slides/_rels/slide129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90E_16FC4603.xml"/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12.xml"/></Relationships>
</file>

<file path=ppt/slides/_rels/slide130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878_6A7E1B9E.xml"/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5.png"/></Relationships>
</file>

<file path=ppt/slides/_rels/slide13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879_D94DF279.xml"/><Relationship Id="rId2" Type="http://schemas.openxmlformats.org/officeDocument/2006/relationships/notesSlide" Target="../notesSlides/notesSlide13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5.png"/></Relationships>
</file>

<file path=ppt/slides/_rels/slide13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87A_B02A6D50.xml"/><Relationship Id="rId2" Type="http://schemas.openxmlformats.org/officeDocument/2006/relationships/notesSlide" Target="../notesSlides/notesSlide13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5.png"/></Relationships>
</file>

<file path=ppt/slides/_rels/slide13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206_EBB39C93.xml"/><Relationship Id="rId2" Type="http://schemas.openxmlformats.org/officeDocument/2006/relationships/notesSlide" Target="../notesSlides/notesSlide13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6.jpeg"/><Relationship Id="rId4" Type="http://schemas.openxmlformats.org/officeDocument/2006/relationships/image" Target="../media/image17.jpg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3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6.jpeg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3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7.jpeg"/><Relationship Id="rId4" Type="http://schemas.openxmlformats.org/officeDocument/2006/relationships/image" Target="../media/image106.jpeg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3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8.png"/><Relationship Id="rId4" Type="http://schemas.openxmlformats.org/officeDocument/2006/relationships/image" Target="../media/image106.jpeg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3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9.tiff"/><Relationship Id="rId4" Type="http://schemas.openxmlformats.org/officeDocument/2006/relationships/image" Target="../media/image106.jpeg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3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9.tiff"/><Relationship Id="rId4" Type="http://schemas.openxmlformats.org/officeDocument/2006/relationships/image" Target="../media/image106.jpeg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3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9.tiff"/><Relationship Id="rId4" Type="http://schemas.openxmlformats.org/officeDocument/2006/relationships/image" Target="../media/image106.jpeg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0.xml"/><Relationship Id="rId1" Type="http://schemas.openxmlformats.org/officeDocument/2006/relationships/slideLayout" Target="../slideLayouts/slideLayout12.xml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7.png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7.png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145.xml"/><Relationship Id="rId1" Type="http://schemas.openxmlformats.org/officeDocument/2006/relationships/slideLayout" Target="../slideLayouts/slideLayout12.xml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14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3.png"/><Relationship Id="rId5" Type="http://schemas.openxmlformats.org/officeDocument/2006/relationships/image" Target="../media/image112.png"/><Relationship Id="rId4" Type="http://schemas.openxmlformats.org/officeDocument/2006/relationships/image" Target="../media/image111.png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14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3.png"/><Relationship Id="rId5" Type="http://schemas.openxmlformats.org/officeDocument/2006/relationships/image" Target="../media/image112.png"/><Relationship Id="rId4" Type="http://schemas.openxmlformats.org/officeDocument/2006/relationships/image" Target="../media/image111.png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14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3.png"/><Relationship Id="rId5" Type="http://schemas.openxmlformats.org/officeDocument/2006/relationships/image" Target="../media/image112.png"/><Relationship Id="rId4" Type="http://schemas.openxmlformats.org/officeDocument/2006/relationships/image" Target="../media/image111.png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14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3.png"/><Relationship Id="rId5" Type="http://schemas.openxmlformats.org/officeDocument/2006/relationships/image" Target="../media/image112.png"/><Relationship Id="rId4" Type="http://schemas.openxmlformats.org/officeDocument/2006/relationships/image" Target="../media/image111.png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jpg"/><Relationship Id="rId2" Type="http://schemas.openxmlformats.org/officeDocument/2006/relationships/notesSlide" Target="../notesSlides/notesSlide15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5.png"/><Relationship Id="rId4" Type="http://schemas.openxmlformats.org/officeDocument/2006/relationships/image" Target="../media/image31.png"/></Relationships>
</file>

<file path=ppt/slides/_rels/slide1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15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5.png"/><Relationship Id="rId4" Type="http://schemas.openxmlformats.org/officeDocument/2006/relationships/image" Target="../media/image31.png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5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2.jpg"/><Relationship Id="rId5" Type="http://schemas.openxmlformats.org/officeDocument/2006/relationships/image" Target="../media/image20.jpg"/><Relationship Id="rId4" Type="http://schemas.openxmlformats.org/officeDocument/2006/relationships/image" Target="../media/image31.png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notesSlide" Target="../notesSlides/notesSlide153.xml"/><Relationship Id="rId1" Type="http://schemas.openxmlformats.org/officeDocument/2006/relationships/slideLayout" Target="../slideLayouts/slideLayout12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4.xml"/><Relationship Id="rId1" Type="http://schemas.openxmlformats.org/officeDocument/2006/relationships/slideLayout" Target="../slideLayouts/slideLayout12.xml"/></Relationships>
</file>

<file path=ppt/slides/_rels/slide1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notesSlide" Target="../notesSlides/notesSlide15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8.png"/><Relationship Id="rId4" Type="http://schemas.openxmlformats.org/officeDocument/2006/relationships/image" Target="../media/image117.png"/></Relationships>
</file>

<file path=ppt/slides/_rels/slide1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notesSlide" Target="../notesSlides/notesSlide15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8.png"/><Relationship Id="rId4" Type="http://schemas.openxmlformats.org/officeDocument/2006/relationships/image" Target="../media/image117.png"/></Relationships>
</file>

<file path=ppt/slides/_rels/slide1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png"/><Relationship Id="rId3" Type="http://schemas.openxmlformats.org/officeDocument/2006/relationships/image" Target="../media/image116.png"/><Relationship Id="rId7" Type="http://schemas.openxmlformats.org/officeDocument/2006/relationships/image" Target="../media/image120.png"/><Relationship Id="rId2" Type="http://schemas.openxmlformats.org/officeDocument/2006/relationships/notesSlide" Target="../notesSlides/notesSlide15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9.png"/><Relationship Id="rId5" Type="http://schemas.openxmlformats.org/officeDocument/2006/relationships/image" Target="../media/image118.png"/><Relationship Id="rId4" Type="http://schemas.openxmlformats.org/officeDocument/2006/relationships/image" Target="../media/image117.png"/></Relationships>
</file>

<file path=ppt/slides/_rels/slide1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png"/><Relationship Id="rId3" Type="http://schemas.openxmlformats.org/officeDocument/2006/relationships/image" Target="../media/image116.png"/><Relationship Id="rId7" Type="http://schemas.openxmlformats.org/officeDocument/2006/relationships/image" Target="../media/image120.png"/><Relationship Id="rId2" Type="http://schemas.openxmlformats.org/officeDocument/2006/relationships/notesSlide" Target="../notesSlides/notesSlide15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9.png"/><Relationship Id="rId5" Type="http://schemas.openxmlformats.org/officeDocument/2006/relationships/image" Target="../media/image118.png"/><Relationship Id="rId4" Type="http://schemas.openxmlformats.org/officeDocument/2006/relationships/image" Target="../media/image117.png"/></Relationships>
</file>

<file path=ppt/slides/_rels/slide1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png"/><Relationship Id="rId3" Type="http://schemas.openxmlformats.org/officeDocument/2006/relationships/image" Target="../media/image116.png"/><Relationship Id="rId7" Type="http://schemas.openxmlformats.org/officeDocument/2006/relationships/image" Target="../media/image120.png"/><Relationship Id="rId2" Type="http://schemas.openxmlformats.org/officeDocument/2006/relationships/notesSlide" Target="../notesSlides/notesSlide15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9.png"/><Relationship Id="rId5" Type="http://schemas.openxmlformats.org/officeDocument/2006/relationships/image" Target="../media/image118.png"/><Relationship Id="rId4" Type="http://schemas.openxmlformats.org/officeDocument/2006/relationships/image" Target="../media/image117.png"/></Relationships>
</file>

<file path=ppt/slides/_rels/slide1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0.png"/><Relationship Id="rId2" Type="http://schemas.openxmlformats.org/officeDocument/2006/relationships/notesSlide" Target="../notesSlides/notesSlide16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90.png"/><Relationship Id="rId5" Type="http://schemas.openxmlformats.org/officeDocument/2006/relationships/image" Target="../media/image480.png"/><Relationship Id="rId4" Type="http://schemas.openxmlformats.org/officeDocument/2006/relationships/image" Target="../media/image113.png"/></Relationships>
</file>

<file path=ppt/slides/_rels/slide1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0.png"/><Relationship Id="rId2" Type="http://schemas.openxmlformats.org/officeDocument/2006/relationships/notesSlide" Target="../notesSlides/notesSlide16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90.png"/><Relationship Id="rId5" Type="http://schemas.openxmlformats.org/officeDocument/2006/relationships/image" Target="../media/image480.png"/><Relationship Id="rId4" Type="http://schemas.openxmlformats.org/officeDocument/2006/relationships/image" Target="../media/image113.png"/></Relationships>
</file>

<file path=ppt/slides/_rels/slide1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0.png"/><Relationship Id="rId2" Type="http://schemas.openxmlformats.org/officeDocument/2006/relationships/notesSlide" Target="../notesSlides/notesSlide16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90.png"/><Relationship Id="rId5" Type="http://schemas.openxmlformats.org/officeDocument/2006/relationships/image" Target="../media/image480.png"/><Relationship Id="rId4" Type="http://schemas.openxmlformats.org/officeDocument/2006/relationships/image" Target="../media/image113.png"/></Relationships>
</file>

<file path=ppt/slides/_rels/slide1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0.png"/><Relationship Id="rId2" Type="http://schemas.openxmlformats.org/officeDocument/2006/relationships/notesSlide" Target="../notesSlides/notesSlide16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90.png"/><Relationship Id="rId5" Type="http://schemas.openxmlformats.org/officeDocument/2006/relationships/image" Target="../media/image480.png"/><Relationship Id="rId4" Type="http://schemas.openxmlformats.org/officeDocument/2006/relationships/image" Target="../media/image113.png"/></Relationships>
</file>

<file path=ppt/slides/_rels/slide1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0.png"/><Relationship Id="rId2" Type="http://schemas.openxmlformats.org/officeDocument/2006/relationships/notesSlide" Target="../notesSlides/notesSlide16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90.png"/><Relationship Id="rId5" Type="http://schemas.openxmlformats.org/officeDocument/2006/relationships/image" Target="../media/image480.png"/><Relationship Id="rId4" Type="http://schemas.openxmlformats.org/officeDocument/2006/relationships/image" Target="../media/image113.png"/></Relationships>
</file>

<file path=ppt/slides/_rels/slide1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0.png"/><Relationship Id="rId2" Type="http://schemas.openxmlformats.org/officeDocument/2006/relationships/notesSlide" Target="../notesSlides/notesSlide165.xml"/><Relationship Id="rId1" Type="http://schemas.openxmlformats.org/officeDocument/2006/relationships/slideLayout" Target="../slideLayouts/slideLayout12.xml"/></Relationships>
</file>

<file path=ppt/slides/_rels/slide1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0.png"/><Relationship Id="rId2" Type="http://schemas.openxmlformats.org/officeDocument/2006/relationships/notesSlide" Target="../notesSlides/notesSlide166.xml"/><Relationship Id="rId1" Type="http://schemas.openxmlformats.org/officeDocument/2006/relationships/slideLayout" Target="../slideLayouts/slideLayout12.xml"/></Relationships>
</file>

<file path=ppt/slides/_rels/slide1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notesSlide" Target="../notesSlides/notesSlide167.xml"/><Relationship Id="rId1" Type="http://schemas.openxmlformats.org/officeDocument/2006/relationships/slideLayout" Target="../slideLayouts/slideLayout12.xml"/></Relationships>
</file>

<file path=ppt/slides/_rels/slide1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notesSlide" Target="../notesSlides/notesSlide168.xml"/><Relationship Id="rId1" Type="http://schemas.openxmlformats.org/officeDocument/2006/relationships/slideLayout" Target="../slideLayouts/slideLayout12.xml"/></Relationships>
</file>

<file path=ppt/slides/_rels/slide1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notesSlide" Target="../notesSlides/notesSlide169.xml"/><Relationship Id="rId1" Type="http://schemas.openxmlformats.org/officeDocument/2006/relationships/slideLayout" Target="../slideLayouts/slideLayout12.xml"/></Relationships>
</file>

<file path=ppt/slides/_rels/slide1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notesSlide" Target="../notesSlides/notesSlide170.xml"/><Relationship Id="rId1" Type="http://schemas.openxmlformats.org/officeDocument/2006/relationships/slideLayout" Target="../slideLayouts/slideLayout12.xml"/></Relationships>
</file>

<file path=ppt/slides/_rels/slide1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notesSlide" Target="../notesSlides/notesSlide171.xml"/><Relationship Id="rId1" Type="http://schemas.openxmlformats.org/officeDocument/2006/relationships/slideLayout" Target="../slideLayouts/slideLayout12.xml"/></Relationships>
</file>

<file path=ppt/slides/_rels/slide1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2.xml"/><Relationship Id="rId1" Type="http://schemas.openxmlformats.org/officeDocument/2006/relationships/slideLayout" Target="../slideLayouts/slideLayout12.xml"/></Relationships>
</file>

<file path=ppt/slides/_rels/slide1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3.xml"/><Relationship Id="rId1" Type="http://schemas.openxmlformats.org/officeDocument/2006/relationships/slideLayout" Target="../slideLayouts/slideLayout12.xml"/></Relationships>
</file>

<file path=ppt/slides/_rels/slide1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4.xml"/><Relationship Id="rId1" Type="http://schemas.openxmlformats.org/officeDocument/2006/relationships/slideLayout" Target="../slideLayouts/slideLayout12.xml"/></Relationships>
</file>

<file path=ppt/slides/_rels/slide1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5.xml"/><Relationship Id="rId1" Type="http://schemas.openxmlformats.org/officeDocument/2006/relationships/slideLayout" Target="../slideLayouts/slideLayout12.xml"/></Relationships>
</file>

<file path=ppt/slides/_rels/slide1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jpeg"/><Relationship Id="rId2" Type="http://schemas.openxmlformats.org/officeDocument/2006/relationships/notesSlide" Target="../notesSlides/notesSlide176.xml"/><Relationship Id="rId1" Type="http://schemas.openxmlformats.org/officeDocument/2006/relationships/slideLayout" Target="../slideLayouts/slideLayout12.xml"/></Relationships>
</file>

<file path=ppt/slides/_rels/slide1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jpeg"/><Relationship Id="rId2" Type="http://schemas.openxmlformats.org/officeDocument/2006/relationships/notesSlide" Target="../notesSlides/notesSlide177.xml"/><Relationship Id="rId1" Type="http://schemas.openxmlformats.org/officeDocument/2006/relationships/slideLayout" Target="../slideLayouts/slideLayout12.xml"/></Relationships>
</file>

<file path=ppt/slides/_rels/slide1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8.xml"/><Relationship Id="rId1" Type="http://schemas.openxmlformats.org/officeDocument/2006/relationships/slideLayout" Target="../slideLayouts/slideLayout12.xml"/></Relationships>
</file>

<file path=ppt/slides/_rels/slide1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9.xml"/><Relationship Id="rId1" Type="http://schemas.openxmlformats.org/officeDocument/2006/relationships/slideLayout" Target="../slideLayouts/slideLayout12.xml"/></Relationships>
</file>

<file path=ppt/slides/_rels/slide1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0.xml"/><Relationship Id="rId1" Type="http://schemas.openxmlformats.org/officeDocument/2006/relationships/slideLayout" Target="../slideLayouts/slideLayout12.xml"/></Relationships>
</file>

<file path=ppt/slides/_rels/slide1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notesSlide" Target="../notesSlides/notesSlide181.xml"/><Relationship Id="rId1" Type="http://schemas.openxmlformats.org/officeDocument/2006/relationships/slideLayout" Target="../slideLayouts/slideLayout12.xml"/></Relationships>
</file>

<file path=ppt/slides/_rels/slide1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notesSlide" Target="../notesSlides/notesSlide182.xml"/><Relationship Id="rId1" Type="http://schemas.openxmlformats.org/officeDocument/2006/relationships/slideLayout" Target="../slideLayouts/slideLayout12.xml"/></Relationships>
</file>

<file path=ppt/slides/_rels/slide1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notesSlide" Target="../notesSlides/notesSlide183.xml"/><Relationship Id="rId1" Type="http://schemas.openxmlformats.org/officeDocument/2006/relationships/slideLayout" Target="../slideLayouts/slideLayout12.xml"/></Relationships>
</file>

<file path=ppt/slides/_rels/slide1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notesSlide" Target="../notesSlides/notesSlide184.xml"/><Relationship Id="rId1" Type="http://schemas.openxmlformats.org/officeDocument/2006/relationships/slideLayout" Target="../slideLayouts/slideLayout12.xml"/></Relationships>
</file>

<file path=ppt/slides/_rels/slide1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notesSlide" Target="../notesSlides/notesSlide185.xml"/><Relationship Id="rId1" Type="http://schemas.openxmlformats.org/officeDocument/2006/relationships/slideLayout" Target="../slideLayouts/slideLayout12.xml"/></Relationships>
</file>

<file path=ppt/slides/_rels/slide18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6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.xml"/></Relationships>
</file>

<file path=ppt/slides/_rels/slide18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7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" name="Google Shape;1209;g60be7dcf1c_0_130"/>
          <p:cNvSpPr txBox="1">
            <a:spLocks noGrp="1"/>
          </p:cNvSpPr>
          <p:nvPr>
            <p:ph type="body" idx="1"/>
          </p:nvPr>
        </p:nvSpPr>
        <p:spPr>
          <a:xfrm>
            <a:off x="501658" y="4638421"/>
            <a:ext cx="6184614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GB" sz="26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“We cannot direct the wind, </a:t>
            </a:r>
          </a:p>
          <a:p>
            <a:pPr marL="45720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GB" sz="26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but we can adjust the sails.”</a:t>
            </a:r>
            <a:endParaRPr lang="en-GB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1" indent="0" algn="l" rtl="0">
              <a:lnSpc>
                <a:spcPct val="100000"/>
              </a:lnSpc>
              <a:spcBef>
                <a:spcPts val="520"/>
              </a:spcBef>
              <a:spcAft>
                <a:spcPts val="1600"/>
              </a:spcAft>
              <a:buClr>
                <a:schemeClr val="dk1"/>
              </a:buClr>
              <a:buSzPts val="2600"/>
              <a:buNone/>
            </a:pPr>
            <a:r>
              <a:rPr lang="en-GB" sz="1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(Folklore)</a:t>
            </a:r>
          </a:p>
        </p:txBody>
      </p:sp>
      <p:sp>
        <p:nvSpPr>
          <p:cNvPr id="7" name="Google Shape;1240;g60be7dcf1c_0_159"/>
          <p:cNvSpPr txBox="1"/>
          <p:nvPr/>
        </p:nvSpPr>
        <p:spPr>
          <a:xfrm>
            <a:off x="0" y="203201"/>
            <a:ext cx="8746836" cy="2229281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de-DE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4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1241;g60be7dcf1c_0_159"/>
          <p:cNvSpPr txBox="1">
            <a:spLocks/>
          </p:cNvSpPr>
          <p:nvPr/>
        </p:nvSpPr>
        <p:spPr>
          <a:xfrm>
            <a:off x="973075" y="332996"/>
            <a:ext cx="7542852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lnSpc>
                <a:spcPct val="115000"/>
              </a:lnSpc>
              <a:buSzPts val="1100"/>
            </a:pPr>
            <a:r>
              <a:rPr lang="en-US" sz="36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From Topology-Aware to Fabric-Adaptive: Rethinking Datacenter Networks for AI</a:t>
            </a:r>
          </a:p>
          <a:p>
            <a:pPr algn="l">
              <a:lnSpc>
                <a:spcPct val="115000"/>
              </a:lnSpc>
              <a:buSzPts val="1100"/>
            </a:pPr>
            <a:endParaRPr lang="en-US" sz="4000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algn="l">
              <a:lnSpc>
                <a:spcPct val="115000"/>
              </a:lnSpc>
              <a:buSzPts val="1100"/>
            </a:pPr>
            <a:r>
              <a:rPr lang="de-DE" sz="2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Stefan Schmid (TU Berlin)</a:t>
            </a:r>
          </a:p>
          <a:p>
            <a:pPr algn="l">
              <a:lnSpc>
                <a:spcPct val="115000"/>
              </a:lnSpc>
              <a:buSzPts val="1100"/>
            </a:pPr>
            <a:endParaRPr lang="de-DE" sz="2000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" name="Google Shape;1907;g60be7dcf1c_0_790"/>
          <p:cNvSpPr txBox="1"/>
          <p:nvPr/>
        </p:nvSpPr>
        <p:spPr>
          <a:xfrm>
            <a:off x="7566232" y="6019040"/>
            <a:ext cx="1516474" cy="241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de-DE" sz="800" dirty="0">
                <a:solidFill>
                  <a:schemeClr val="tx1"/>
                </a:solidFill>
                <a:latin typeface="Consolas" panose="020B0609020204030204" pitchFamily="49" charset="0"/>
              </a:rPr>
              <a:t>Acknowledgements:</a:t>
            </a:r>
            <a:endParaRPr lang="en-GB" sz="800" dirty="0">
              <a:solidFill>
                <a:schemeClr val="tx1"/>
              </a:solidFill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</p:txBody>
      </p:sp>
      <p:pic>
        <p:nvPicPr>
          <p:cNvPr id="6" name="Picture 2" descr="Communicating your research | ERC: European Research Council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4469" y="6278080"/>
            <a:ext cx="524104" cy="524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Ultrafast Optics Group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2992" y="6315647"/>
            <a:ext cx="418008" cy="448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Datei:TU-Berlin-Logo.svg – Wikipedia">
            <a:extLst>
              <a:ext uri="{FF2B5EF4-FFF2-40B4-BE49-F238E27FC236}">
                <a16:creationId xmlns:a16="http://schemas.microsoft.com/office/drawing/2014/main" id="{1837433A-AC38-4BA1-928F-9E7630F7B2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925" y="6453404"/>
            <a:ext cx="371087" cy="2721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9" name="Google Shape;1239;g60be7dcf1c_0_159"/>
          <p:cNvPicPr preferRelativeResize="0"/>
          <p:nvPr/>
        </p:nvPicPr>
        <p:blipFill rotWithShape="1">
          <a:blip r:embed="rId3">
            <a:alphaModFix/>
          </a:blip>
          <a:srcRect l="4004" t="6637" r="7389" b="7385"/>
          <a:stretch/>
        </p:blipFill>
        <p:spPr>
          <a:xfrm>
            <a:off x="6375181" y="4528976"/>
            <a:ext cx="1695250" cy="1644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3" name="Google Shape;1243;g60be7dcf1c_0_1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6622" y="2154939"/>
            <a:ext cx="3086077" cy="3086077"/>
          </a:xfrm>
          <a:prstGeom prst="rect">
            <a:avLst/>
          </a:prstGeom>
          <a:noFill/>
          <a:ln>
            <a:noFill/>
          </a:ln>
        </p:spPr>
      </p:pic>
      <p:sp>
        <p:nvSpPr>
          <p:cNvPr id="1246" name="Google Shape;1246;g60be7dcf1c_0_159"/>
          <p:cNvSpPr txBox="1"/>
          <p:nvPr/>
        </p:nvSpPr>
        <p:spPr>
          <a:xfrm>
            <a:off x="2523600" y="2124957"/>
            <a:ext cx="3222300" cy="7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lnSpc>
                <a:spcPct val="115000"/>
              </a:lnSpc>
              <a:buClr>
                <a:schemeClr val="dk1"/>
              </a:buClr>
              <a:buSzPts val="2000"/>
            </a:pP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Datacenters (</a:t>
            </a:r>
            <a:r>
              <a:rPr lang="de-DE" sz="1600" dirty="0">
                <a:latin typeface="Consolas"/>
                <a:ea typeface="Consolas"/>
                <a:cs typeface="Consolas"/>
                <a:sym typeface="Consolas"/>
              </a:rPr>
              <a:t>“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hyper-</a:t>
            </a:r>
            <a:r>
              <a:rPr lang="de-DE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scale</a:t>
            </a:r>
            <a:r>
              <a:rPr lang="de-DE" sz="1600" dirty="0">
                <a:latin typeface="Consolas"/>
                <a:ea typeface="Consolas"/>
                <a:cs typeface="Consolas"/>
                <a:sym typeface="Consolas"/>
              </a:rPr>
              <a:t>”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lang="de-DE"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47" name="Google Shape;1247;g60be7dcf1c_0_159"/>
          <p:cNvSpPr txBox="1"/>
          <p:nvPr/>
        </p:nvSpPr>
        <p:spPr>
          <a:xfrm>
            <a:off x="6508106" y="4708776"/>
            <a:ext cx="3222300" cy="7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de-D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Traffic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de-D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Growth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48" name="Google Shape;1248;g60be7dcf1c_0_159"/>
          <p:cNvSpPr txBox="1"/>
          <p:nvPr/>
        </p:nvSpPr>
        <p:spPr>
          <a:xfrm rot="-5400000">
            <a:off x="6580406" y="4546976"/>
            <a:ext cx="30777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de-DE" sz="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Source: Facebook</a:t>
            </a:r>
            <a:endParaRPr sz="70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4" name="Picture 2" descr="https://scontent-vie1-1.xx.fbcdn.net/v/t31.0-8/22104772_347311772395322_3595682621070915716_o.jpg?_nc_cat=101&amp;_nc_oc=AQkgC4-fNo88vTSa-XGLO2lQf-qF1HXdeDKzujaFlr5w8T65QPFhM1u4e8D89hMAuscHZrpJ066XEv9JS9PRHj4D&amp;_nc_ht=scontent-vie1-1.xx&amp;oh=81da5bf060d4fb11d77201a4470da72d&amp;oe=5DF2ADD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4426" y="2612539"/>
            <a:ext cx="3839999" cy="21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Google Shape;1233;g60be7dcf1c_0_147"/>
          <p:cNvSpPr/>
          <p:nvPr/>
        </p:nvSpPr>
        <p:spPr>
          <a:xfrm flipH="1">
            <a:off x="5881762" y="2950173"/>
            <a:ext cx="2150702" cy="1279320"/>
          </a:xfrm>
          <a:prstGeom prst="homePlate">
            <a:avLst>
              <a:gd name="adj" fmla="val 50000"/>
            </a:avLst>
          </a:prstGeom>
          <a:solidFill>
            <a:srgbClr val="93C4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" name="Picture 6" descr="Inside LinkedInâs Cutting-Edge Portland Data Center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3181" y="3151016"/>
            <a:ext cx="1460527" cy="9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Google Shape;1266;g60be7dcf1c_0_174"/>
          <p:cNvSpPr txBox="1"/>
          <p:nvPr/>
        </p:nvSpPr>
        <p:spPr>
          <a:xfrm>
            <a:off x="2523600" y="4956708"/>
            <a:ext cx="3913200" cy="10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Interconnecting networks:  </a:t>
            </a:r>
            <a:br>
              <a:rPr lang="en-GB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 </a:t>
            </a:r>
            <a:r>
              <a:rPr lang="en-GB" sz="1800" b="1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critical infrastructure</a:t>
            </a:r>
            <a:r>
              <a:rPr lang="en-GB" sz="18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br>
              <a:rPr lang="en-GB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of our digital society.</a:t>
            </a:r>
            <a:endParaRPr lang="en-GB" sz="18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" name="Google Shape;1266;g60be7dcf1c_0_174"/>
          <p:cNvSpPr txBox="1"/>
          <p:nvPr/>
        </p:nvSpPr>
        <p:spPr>
          <a:xfrm>
            <a:off x="6494096" y="3902959"/>
            <a:ext cx="1538368" cy="533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+network</a:t>
            </a:r>
            <a:endParaRPr lang="en-GB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" name="Google Shape;1708;g60be7dcf1c_0_603">
            <a:extLst>
              <a:ext uri="{FF2B5EF4-FFF2-40B4-BE49-F238E27FC236}">
                <a16:creationId xmlns:a16="http://schemas.microsoft.com/office/drawing/2014/main" id="{96594A6F-ABBE-4A77-B1AF-41B2F0169472}"/>
              </a:ext>
            </a:extLst>
          </p:cNvPr>
          <p:cNvSpPr txBox="1"/>
          <p:nvPr/>
        </p:nvSpPr>
        <p:spPr>
          <a:xfrm>
            <a:off x="0" y="540000"/>
            <a:ext cx="8211000" cy="968915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20" name="Google Shape;1688;g60be7dcf1c_0_579">
            <a:extLst>
              <a:ext uri="{FF2B5EF4-FFF2-40B4-BE49-F238E27FC236}">
                <a16:creationId xmlns:a16="http://schemas.microsoft.com/office/drawing/2014/main" id="{B654F72D-0B6F-4523-8172-39A7C3A93E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3075" y="324175"/>
            <a:ext cx="8171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l">
              <a:lnSpc>
                <a:spcPct val="115000"/>
              </a:lnSpc>
              <a:buSzPts val="1100"/>
            </a:pPr>
            <a:r>
              <a:rPr lang="en-GB" sz="2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We live in the age of</a:t>
            </a:r>
            <a:br>
              <a:rPr lang="en-GB" sz="32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Distributed Computation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82D085A-F56B-4D59-8928-A1755B4CBFD9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1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56A36AC-C0B8-FB2E-3F00-0F5C912C2871}"/>
              </a:ext>
            </a:extLst>
          </p:cNvPr>
          <p:cNvSpPr/>
          <p:nvPr/>
        </p:nvSpPr>
        <p:spPr>
          <a:xfrm>
            <a:off x="887793" y="4353577"/>
            <a:ext cx="774229" cy="41896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054F7F5-97A9-B520-B894-ED2F48092936}"/>
              </a:ext>
            </a:extLst>
          </p:cNvPr>
          <p:cNvSpPr/>
          <p:nvPr/>
        </p:nvSpPr>
        <p:spPr>
          <a:xfrm>
            <a:off x="887792" y="2459534"/>
            <a:ext cx="774229" cy="41896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6" name="Picture 5" descr="OpenAI (@openai) • Instagram photos and videos">
            <a:extLst>
              <a:ext uri="{FF2B5EF4-FFF2-40B4-BE49-F238E27FC236}">
                <a16:creationId xmlns:a16="http://schemas.microsoft.com/office/drawing/2014/main" id="{63F51B86-D41F-9401-720B-89D57561A03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8406" y="2453494"/>
            <a:ext cx="477220" cy="477220"/>
          </a:xfrm>
          <a:prstGeom prst="rect">
            <a:avLst/>
          </a:prstGeom>
        </p:spPr>
      </p:pic>
      <p:pic>
        <p:nvPicPr>
          <p:cNvPr id="8" name="Picture 7" descr="SimplyScience: 60 Jahre Doppelhelix – Die Strukturaufklärung der DNA">
            <a:extLst>
              <a:ext uri="{FF2B5EF4-FFF2-40B4-BE49-F238E27FC236}">
                <a16:creationId xmlns:a16="http://schemas.microsoft.com/office/drawing/2014/main" id="{F7303D4D-D725-4F83-A639-92062ADDE04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3569" y="4425689"/>
            <a:ext cx="524688" cy="295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3441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8">
          <a:extLst>
            <a:ext uri="{FF2B5EF4-FFF2-40B4-BE49-F238E27FC236}">
              <a16:creationId xmlns:a16="http://schemas.microsoft.com/office/drawing/2014/main" id="{AE23070E-6F15-9680-F207-EF17EBE55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9" name="Google Shape;1239;g60be7dcf1c_0_159">
            <a:extLst>
              <a:ext uri="{FF2B5EF4-FFF2-40B4-BE49-F238E27FC236}">
                <a16:creationId xmlns:a16="http://schemas.microsoft.com/office/drawing/2014/main" id="{F85C4EEF-EB0D-EDE7-D274-CE89737F176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4004" t="6637" r="7389" b="7385"/>
          <a:stretch/>
        </p:blipFill>
        <p:spPr>
          <a:xfrm>
            <a:off x="6375181" y="4528976"/>
            <a:ext cx="1695250" cy="1644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3" name="Google Shape;1243;g60be7dcf1c_0_159">
            <a:extLst>
              <a:ext uri="{FF2B5EF4-FFF2-40B4-BE49-F238E27FC236}">
                <a16:creationId xmlns:a16="http://schemas.microsoft.com/office/drawing/2014/main" id="{B484544F-AFC0-7476-F1D4-E874BDC5C9E5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6622" y="2154939"/>
            <a:ext cx="3086077" cy="3086077"/>
          </a:xfrm>
          <a:prstGeom prst="rect">
            <a:avLst/>
          </a:prstGeom>
          <a:noFill/>
          <a:ln>
            <a:noFill/>
          </a:ln>
        </p:spPr>
      </p:pic>
      <p:sp>
        <p:nvSpPr>
          <p:cNvPr id="1246" name="Google Shape;1246;g60be7dcf1c_0_159">
            <a:extLst>
              <a:ext uri="{FF2B5EF4-FFF2-40B4-BE49-F238E27FC236}">
                <a16:creationId xmlns:a16="http://schemas.microsoft.com/office/drawing/2014/main" id="{1206CCB6-62DD-2A6C-78F7-32B6EBACF6A1}"/>
              </a:ext>
            </a:extLst>
          </p:cNvPr>
          <p:cNvSpPr txBox="1"/>
          <p:nvPr/>
        </p:nvSpPr>
        <p:spPr>
          <a:xfrm>
            <a:off x="2523600" y="2124957"/>
            <a:ext cx="3222300" cy="7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lnSpc>
                <a:spcPct val="115000"/>
              </a:lnSpc>
              <a:buClr>
                <a:schemeClr val="dk1"/>
              </a:buClr>
              <a:buSzPts val="2000"/>
            </a:pP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Datacenters (</a:t>
            </a:r>
            <a:r>
              <a:rPr lang="de-DE" sz="1600" dirty="0">
                <a:latin typeface="Consolas"/>
                <a:ea typeface="Consolas"/>
                <a:cs typeface="Consolas"/>
                <a:sym typeface="Consolas"/>
              </a:rPr>
              <a:t>“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hyper-</a:t>
            </a:r>
            <a:r>
              <a:rPr lang="de-DE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scale</a:t>
            </a:r>
            <a:r>
              <a:rPr lang="de-DE" sz="1600" dirty="0">
                <a:latin typeface="Consolas"/>
                <a:ea typeface="Consolas"/>
                <a:cs typeface="Consolas"/>
                <a:sym typeface="Consolas"/>
              </a:rPr>
              <a:t>”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lang="de-DE"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47" name="Google Shape;1247;g60be7dcf1c_0_159">
            <a:extLst>
              <a:ext uri="{FF2B5EF4-FFF2-40B4-BE49-F238E27FC236}">
                <a16:creationId xmlns:a16="http://schemas.microsoft.com/office/drawing/2014/main" id="{4A8B1542-C069-17E2-9F68-2FF7D4369DBE}"/>
              </a:ext>
            </a:extLst>
          </p:cNvPr>
          <p:cNvSpPr txBox="1"/>
          <p:nvPr/>
        </p:nvSpPr>
        <p:spPr>
          <a:xfrm>
            <a:off x="6508106" y="4708776"/>
            <a:ext cx="3222300" cy="7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de-D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Traffic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de-D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Growth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48" name="Google Shape;1248;g60be7dcf1c_0_159">
            <a:extLst>
              <a:ext uri="{FF2B5EF4-FFF2-40B4-BE49-F238E27FC236}">
                <a16:creationId xmlns:a16="http://schemas.microsoft.com/office/drawing/2014/main" id="{021170B0-169B-8366-4B13-412BD9F1A826}"/>
              </a:ext>
            </a:extLst>
          </p:cNvPr>
          <p:cNvSpPr txBox="1"/>
          <p:nvPr/>
        </p:nvSpPr>
        <p:spPr>
          <a:xfrm rot="-5400000">
            <a:off x="6580406" y="4546976"/>
            <a:ext cx="30777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de-DE" sz="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Source: Facebook</a:t>
            </a:r>
            <a:endParaRPr sz="70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4" name="Picture 2" descr="https://scontent-vie1-1.xx.fbcdn.net/v/t31.0-8/22104772_347311772395322_3595682621070915716_o.jpg?_nc_cat=101&amp;_nc_oc=AQkgC4-fNo88vTSa-XGLO2lQf-qF1HXdeDKzujaFlr5w8T65QPFhM1u4e8D89hMAuscHZrpJ066XEv9JS9PRHj4D&amp;_nc_ht=scontent-vie1-1.xx&amp;oh=81da5bf060d4fb11d77201a4470da72d&amp;oe=5DF2ADD3">
            <a:extLst>
              <a:ext uri="{FF2B5EF4-FFF2-40B4-BE49-F238E27FC236}">
                <a16:creationId xmlns:a16="http://schemas.microsoft.com/office/drawing/2014/main" id="{33397911-22CC-C92A-4B54-88531AD333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4426" y="2612539"/>
            <a:ext cx="3839999" cy="21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Google Shape;1233;g60be7dcf1c_0_147">
            <a:extLst>
              <a:ext uri="{FF2B5EF4-FFF2-40B4-BE49-F238E27FC236}">
                <a16:creationId xmlns:a16="http://schemas.microsoft.com/office/drawing/2014/main" id="{8A5844EF-7917-90A8-6B2E-64958170C426}"/>
              </a:ext>
            </a:extLst>
          </p:cNvPr>
          <p:cNvSpPr/>
          <p:nvPr/>
        </p:nvSpPr>
        <p:spPr>
          <a:xfrm flipH="1">
            <a:off x="5881762" y="2950173"/>
            <a:ext cx="2150702" cy="1279320"/>
          </a:xfrm>
          <a:prstGeom prst="homePlate">
            <a:avLst>
              <a:gd name="adj" fmla="val 50000"/>
            </a:avLst>
          </a:prstGeom>
          <a:solidFill>
            <a:srgbClr val="93C4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" name="Picture 6" descr="Inside LinkedInâs Cutting-Edge Portland Data Center">
            <a:extLst>
              <a:ext uri="{FF2B5EF4-FFF2-40B4-BE49-F238E27FC236}">
                <a16:creationId xmlns:a16="http://schemas.microsoft.com/office/drawing/2014/main" id="{94ACA868-3AB5-C189-67EB-3D98EA9DF3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3181" y="3151016"/>
            <a:ext cx="1460527" cy="9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Google Shape;1266;g60be7dcf1c_0_174">
            <a:extLst>
              <a:ext uri="{FF2B5EF4-FFF2-40B4-BE49-F238E27FC236}">
                <a16:creationId xmlns:a16="http://schemas.microsoft.com/office/drawing/2014/main" id="{04412376-A854-9063-3511-6F21424209FF}"/>
              </a:ext>
            </a:extLst>
          </p:cNvPr>
          <p:cNvSpPr txBox="1"/>
          <p:nvPr/>
        </p:nvSpPr>
        <p:spPr>
          <a:xfrm>
            <a:off x="2523600" y="4956708"/>
            <a:ext cx="3913200" cy="10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Interconnecting networks:  </a:t>
            </a:r>
            <a:br>
              <a:rPr lang="en-GB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 </a:t>
            </a:r>
            <a:r>
              <a:rPr lang="en-GB" sz="1800" b="1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critical infrastructure</a:t>
            </a:r>
            <a:r>
              <a:rPr lang="en-GB" sz="18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br>
              <a:rPr lang="en-GB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of our digital society.</a:t>
            </a:r>
            <a:endParaRPr lang="en-GB" sz="18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" name="Google Shape;1266;g60be7dcf1c_0_174">
            <a:extLst>
              <a:ext uri="{FF2B5EF4-FFF2-40B4-BE49-F238E27FC236}">
                <a16:creationId xmlns:a16="http://schemas.microsoft.com/office/drawing/2014/main" id="{FE144E9C-AB72-EA22-0723-A4649930F2F5}"/>
              </a:ext>
            </a:extLst>
          </p:cNvPr>
          <p:cNvSpPr txBox="1"/>
          <p:nvPr/>
        </p:nvSpPr>
        <p:spPr>
          <a:xfrm>
            <a:off x="6494096" y="3902959"/>
            <a:ext cx="1538368" cy="533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+network</a:t>
            </a:r>
            <a:endParaRPr lang="en-GB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" name="Google Shape;1708;g60be7dcf1c_0_603">
            <a:extLst>
              <a:ext uri="{FF2B5EF4-FFF2-40B4-BE49-F238E27FC236}">
                <a16:creationId xmlns:a16="http://schemas.microsoft.com/office/drawing/2014/main" id="{B93CE936-DEC5-2255-0037-6FB14ADCBD97}"/>
              </a:ext>
            </a:extLst>
          </p:cNvPr>
          <p:cNvSpPr txBox="1"/>
          <p:nvPr/>
        </p:nvSpPr>
        <p:spPr>
          <a:xfrm>
            <a:off x="0" y="540000"/>
            <a:ext cx="8211000" cy="968915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20" name="Google Shape;1688;g60be7dcf1c_0_579">
            <a:extLst>
              <a:ext uri="{FF2B5EF4-FFF2-40B4-BE49-F238E27FC236}">
                <a16:creationId xmlns:a16="http://schemas.microsoft.com/office/drawing/2014/main" id="{00E7DE21-1DBA-4E5A-3DDB-81465FF03D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3075" y="324175"/>
            <a:ext cx="8171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l">
              <a:lnSpc>
                <a:spcPct val="115000"/>
              </a:lnSpc>
              <a:buSzPts val="1100"/>
            </a:pPr>
            <a:r>
              <a:rPr lang="en-GB" sz="2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We live in the age of</a:t>
            </a:r>
            <a:br>
              <a:rPr lang="en-GB" sz="32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Distributed Computation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B333D02-F4A0-66FB-237D-0211FF770CBF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1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3F2A1F0-0C59-4393-E528-2F5F9E441957}"/>
              </a:ext>
            </a:extLst>
          </p:cNvPr>
          <p:cNvSpPr/>
          <p:nvPr/>
        </p:nvSpPr>
        <p:spPr>
          <a:xfrm>
            <a:off x="887793" y="4353577"/>
            <a:ext cx="774229" cy="41896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775D92B-98F1-538D-469B-0F4E8EB6875E}"/>
              </a:ext>
            </a:extLst>
          </p:cNvPr>
          <p:cNvSpPr/>
          <p:nvPr/>
        </p:nvSpPr>
        <p:spPr>
          <a:xfrm>
            <a:off x="887792" y="2459534"/>
            <a:ext cx="774229" cy="41896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6" name="Picture 5" descr="OpenAI (@openai) • Instagram photos and videos">
            <a:extLst>
              <a:ext uri="{FF2B5EF4-FFF2-40B4-BE49-F238E27FC236}">
                <a16:creationId xmlns:a16="http://schemas.microsoft.com/office/drawing/2014/main" id="{5A423E10-01EF-1EBD-A228-3C97D477AEE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8406" y="2453494"/>
            <a:ext cx="477220" cy="477220"/>
          </a:xfrm>
          <a:prstGeom prst="rect">
            <a:avLst/>
          </a:prstGeom>
        </p:spPr>
      </p:pic>
      <p:pic>
        <p:nvPicPr>
          <p:cNvPr id="8" name="Picture 7" descr="SimplyScience: 60 Jahre Doppelhelix – Die Strukturaufklärung der DNA">
            <a:extLst>
              <a:ext uri="{FF2B5EF4-FFF2-40B4-BE49-F238E27FC236}">
                <a16:creationId xmlns:a16="http://schemas.microsoft.com/office/drawing/2014/main" id="{97008B4A-F2DC-F133-5A25-3D56FAAF141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73569" y="4425689"/>
            <a:ext cx="524688" cy="295170"/>
          </a:xfrm>
          <a:prstGeom prst="rect">
            <a:avLst/>
          </a:prstGeom>
        </p:spPr>
      </p:pic>
      <p:pic>
        <p:nvPicPr>
          <p:cNvPr id="3" name="Live footage of the logs collected by the ELK cluster.mp4" descr="Live footage of the logs collected by the ELK cluster.mp4">
            <a:hlinkClick r:id="" action="ppaction://media"/>
            <a:extLst>
              <a:ext uri="{FF2B5EF4-FFF2-40B4-BE49-F238E27FC236}">
                <a16:creationId xmlns:a16="http://schemas.microsoft.com/office/drawing/2014/main" id="{2CFA97D0-117C-3779-10C1-D20603AA999E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end="21877.3333"/>
                </p14:media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6477544" y="4443464"/>
            <a:ext cx="1695250" cy="1695250"/>
          </a:xfrm>
          <a:prstGeom prst="rect">
            <a:avLst/>
          </a:prstGeom>
        </p:spPr>
      </p:pic>
      <p:sp>
        <p:nvSpPr>
          <p:cNvPr id="7" name="Textplatzhalter 1">
            <a:extLst>
              <a:ext uri="{FF2B5EF4-FFF2-40B4-BE49-F238E27FC236}">
                <a16:creationId xmlns:a16="http://schemas.microsoft.com/office/drawing/2014/main" id="{E7FDEEAB-72F8-69A9-4764-55FFA6BBEC0C}"/>
              </a:ext>
            </a:extLst>
          </p:cNvPr>
          <p:cNvSpPr txBox="1">
            <a:spLocks/>
          </p:cNvSpPr>
          <p:nvPr/>
        </p:nvSpPr>
        <p:spPr>
          <a:xfrm>
            <a:off x="6029393" y="6181591"/>
            <a:ext cx="2467774" cy="48851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42900" marR="0" indent="-2222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32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rtl val="0"/>
              </a:defRPr>
            </a:lvl1pPr>
            <a:lvl2pPr marL="742950" marR="0" indent="-1778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rtl val="0"/>
              </a:defRPr>
            </a:lvl2pPr>
            <a:lvl3pPr marL="1143000" marR="0" indent="-136525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4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rtl val="0"/>
              </a:defRPr>
            </a:lvl3pPr>
            <a:lvl4pPr marL="1600200" marR="0" indent="-1524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rtl val="0"/>
              </a:defRPr>
            </a:lvl4pPr>
            <a:lvl5pPr marL="2057400" marR="0" indent="-1524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rtl val="0"/>
              </a:defRPr>
            </a:lvl5pPr>
            <a:lvl6pPr marL="2514600" marR="0" indent="-1524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rtl val="0"/>
              </a:defRPr>
            </a:lvl6pPr>
            <a:lvl7pPr marL="2971800" marR="0" indent="-1524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rtl val="0"/>
              </a:defRPr>
            </a:lvl7pPr>
            <a:lvl8pPr marL="3429000" marR="0" indent="-1524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rtl val="0"/>
              </a:defRPr>
            </a:lvl8pPr>
            <a:lvl9pPr marL="3886200" marR="0" indent="-1524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rtl val="0"/>
              </a:defRPr>
            </a:lvl9pPr>
          </a:lstStyle>
          <a:p>
            <a:pPr marL="120650" indent="0" algn="ctr">
              <a:buNone/>
            </a:pPr>
            <a:r>
              <a:rPr lang="de-DE" sz="1000" dirty="0" err="1">
                <a:latin typeface="Consolas" panose="020B0609020204030204" pitchFamily="49" charset="0"/>
              </a:rPr>
              <a:t>Credits</a:t>
            </a:r>
            <a:r>
              <a:rPr lang="de-DE" sz="1000" dirty="0">
                <a:latin typeface="Consolas" panose="020B0609020204030204" pitchFamily="49" charset="0"/>
              </a:rPr>
              <a:t>: Marco </a:t>
            </a:r>
            <a:r>
              <a:rPr lang="de-DE" sz="1000" dirty="0" err="1">
                <a:latin typeface="Consolas" panose="020B0609020204030204" pitchFamily="49" charset="0"/>
              </a:rPr>
              <a:t>Chiesa</a:t>
            </a:r>
            <a:endParaRPr lang="de-DE" sz="10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7806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9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49FD8E2-8F23-49A0-AAF3-D70F18D4D49F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2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499C40B-6884-423A-A0D8-E5433F5690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9058" y="2675825"/>
            <a:ext cx="5629159" cy="2926830"/>
          </a:xfrm>
          <a:prstGeom prst="rect">
            <a:avLst/>
          </a:prstGeom>
        </p:spPr>
      </p:pic>
      <p:sp>
        <p:nvSpPr>
          <p:cNvPr id="12" name="Google Shape;1273;g60be7dcf1c_0_190">
            <a:extLst>
              <a:ext uri="{FF2B5EF4-FFF2-40B4-BE49-F238E27FC236}">
                <a16:creationId xmlns:a16="http://schemas.microsoft.com/office/drawing/2014/main" id="{2B7FEC02-D77A-42ED-BF18-E19FAE78690C}"/>
              </a:ext>
            </a:extLst>
          </p:cNvPr>
          <p:cNvSpPr txBox="1"/>
          <p:nvPr/>
        </p:nvSpPr>
        <p:spPr>
          <a:xfrm>
            <a:off x="0" y="540000"/>
            <a:ext cx="8211000" cy="988354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13" name="Google Shape;1274;g60be7dcf1c_0_190">
            <a:extLst>
              <a:ext uri="{FF2B5EF4-FFF2-40B4-BE49-F238E27FC236}">
                <a16:creationId xmlns:a16="http://schemas.microsoft.com/office/drawing/2014/main" id="{1B3E4145-D48A-4481-A7BA-FDADE6CAB6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3075" y="149350"/>
            <a:ext cx="8171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Technological Trends</a:t>
            </a:r>
            <a:br>
              <a:rPr lang="en-GB" sz="32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2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Increasing Gap Between Compute and Network</a:t>
            </a:r>
          </a:p>
        </p:txBody>
      </p:sp>
      <p:sp>
        <p:nvSpPr>
          <p:cNvPr id="15" name="Google Shape;1725;g60be7dcf1c_0_603">
            <a:extLst>
              <a:ext uri="{FF2B5EF4-FFF2-40B4-BE49-F238E27FC236}">
                <a16:creationId xmlns:a16="http://schemas.microsoft.com/office/drawing/2014/main" id="{09CF725E-8ABC-48BB-997F-E0CB51E9E752}"/>
              </a:ext>
            </a:extLst>
          </p:cNvPr>
          <p:cNvSpPr txBox="1"/>
          <p:nvPr/>
        </p:nvSpPr>
        <p:spPr>
          <a:xfrm>
            <a:off x="4710112" y="5676643"/>
            <a:ext cx="2431679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Credits: Nicola </a:t>
            </a:r>
            <a:r>
              <a:rPr lang="en-GB" sz="1000" dirty="0" err="1">
                <a:latin typeface="Consolas"/>
                <a:ea typeface="Consolas"/>
                <a:cs typeface="Consolas"/>
                <a:sym typeface="Consolas"/>
              </a:rPr>
              <a:t>Calabretta</a:t>
            </a:r>
            <a:endParaRPr lang="en-GB" sz="10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0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000" dirty="0"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25522739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273;g60be7dcf1c_0_190">
            <a:extLst>
              <a:ext uri="{FF2B5EF4-FFF2-40B4-BE49-F238E27FC236}">
                <a16:creationId xmlns:a16="http://schemas.microsoft.com/office/drawing/2014/main" id="{19C8A8AA-D656-F596-7420-44C13E7AAB5F}"/>
              </a:ext>
            </a:extLst>
          </p:cNvPr>
          <p:cNvSpPr txBox="1"/>
          <p:nvPr/>
        </p:nvSpPr>
        <p:spPr>
          <a:xfrm>
            <a:off x="0" y="540000"/>
            <a:ext cx="8211000" cy="988354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1272" name="Google Shape;1272;g60be7dcf1c_0_190"/>
          <p:cNvSpPr txBox="1"/>
          <p:nvPr/>
        </p:nvSpPr>
        <p:spPr>
          <a:xfrm>
            <a:off x="4333311" y="5903932"/>
            <a:ext cx="3878711" cy="971028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1274" name="Google Shape;1274;g60be7dcf1c_0_190"/>
          <p:cNvSpPr txBox="1">
            <a:spLocks noGrp="1"/>
          </p:cNvSpPr>
          <p:nvPr>
            <p:ph type="title"/>
          </p:nvPr>
        </p:nvSpPr>
        <p:spPr>
          <a:xfrm>
            <a:off x="973075" y="149350"/>
            <a:ext cx="8171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The Problem</a:t>
            </a:r>
            <a:br>
              <a:rPr lang="en-GB" sz="32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2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Huge Infrastructure, Inefficient Use</a:t>
            </a:r>
          </a:p>
        </p:txBody>
      </p:sp>
      <p:sp>
        <p:nvSpPr>
          <p:cNvPr id="1277" name="Google Shape;1277;g60be7dcf1c_0_190"/>
          <p:cNvSpPr txBox="1"/>
          <p:nvPr/>
        </p:nvSpPr>
        <p:spPr>
          <a:xfrm>
            <a:off x="552361" y="1923142"/>
            <a:ext cx="4527000" cy="36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GB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GB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GB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GB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⇢  Hence: more equipment, </a:t>
            </a:r>
          </a:p>
          <a:p>
            <a:pPr marL="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larger networks</a:t>
            </a:r>
          </a:p>
          <a:p>
            <a:pPr marL="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GB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⇢  Resource intensive and:</a:t>
            </a:r>
          </a:p>
          <a:p>
            <a:pPr marL="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GB" sz="1600" b="1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inefficient</a:t>
            </a:r>
          </a:p>
        </p:txBody>
      </p:sp>
      <p:sp>
        <p:nvSpPr>
          <p:cNvPr id="1278" name="Google Shape;1278;g60be7dcf1c_0_190"/>
          <p:cNvSpPr txBox="1"/>
          <p:nvPr/>
        </p:nvSpPr>
        <p:spPr>
          <a:xfrm>
            <a:off x="4435411" y="5993423"/>
            <a:ext cx="3913200" cy="9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Annoying for companies,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opportunity</a:t>
            </a:r>
            <a:r>
              <a:rPr lang="en-GB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for researchers!</a:t>
            </a:r>
            <a:endParaRPr lang="en-GB" sz="1800" dirty="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0" name="Google Shape;1279;g60be7dcf1c_0_190"/>
          <p:cNvPicPr preferRelativeResize="0"/>
          <p:nvPr/>
        </p:nvPicPr>
        <p:blipFill rotWithShape="1">
          <a:blip r:embed="rId3">
            <a:alphaModFix/>
          </a:blip>
          <a:srcRect l="15576" t="22308" b="19016"/>
          <a:stretch/>
        </p:blipFill>
        <p:spPr>
          <a:xfrm>
            <a:off x="4370310" y="2635784"/>
            <a:ext cx="3538156" cy="2459098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1280;g60be7dcf1c_0_190"/>
          <p:cNvSpPr txBox="1"/>
          <p:nvPr/>
        </p:nvSpPr>
        <p:spPr>
          <a:xfrm rot="-5400000">
            <a:off x="6104920" y="3086097"/>
            <a:ext cx="30777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7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Credits: Paolo Costa, 2019</a:t>
            </a:r>
            <a:endParaRPr lang="en-GB" sz="7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" name="Google Shape;1281;g60be7dcf1c_0_190"/>
          <p:cNvSpPr txBox="1"/>
          <p:nvPr/>
        </p:nvSpPr>
        <p:spPr>
          <a:xfrm rot="-5400000">
            <a:off x="3411541" y="3725984"/>
            <a:ext cx="20715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Gbps</a:t>
            </a: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/€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" name="Google Shape;1282;g60be7dcf1c_0_190"/>
          <p:cNvSpPr txBox="1"/>
          <p:nvPr/>
        </p:nvSpPr>
        <p:spPr>
          <a:xfrm>
            <a:off x="4586641" y="4967184"/>
            <a:ext cx="28326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Time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26798608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6">
          <a:extLst>
            <a:ext uri="{FF2B5EF4-FFF2-40B4-BE49-F238E27FC236}">
              <a16:creationId xmlns:a16="http://schemas.microsoft.com/office/drawing/2014/main" id="{E14958BC-59D3-88DF-2A87-9D46D8BFC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273;g60be7dcf1c_0_190">
            <a:extLst>
              <a:ext uri="{FF2B5EF4-FFF2-40B4-BE49-F238E27FC236}">
                <a16:creationId xmlns:a16="http://schemas.microsoft.com/office/drawing/2014/main" id="{9747FDE4-792A-81A7-6D84-92E1E5365455}"/>
              </a:ext>
            </a:extLst>
          </p:cNvPr>
          <p:cNvSpPr txBox="1"/>
          <p:nvPr/>
        </p:nvSpPr>
        <p:spPr>
          <a:xfrm>
            <a:off x="0" y="540000"/>
            <a:ext cx="8211000" cy="988354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1288" name="Google Shape;1288;g60be7dcf1c_0_204">
            <a:extLst>
              <a:ext uri="{FF2B5EF4-FFF2-40B4-BE49-F238E27FC236}">
                <a16:creationId xmlns:a16="http://schemas.microsoft.com/office/drawing/2014/main" id="{7F93E7AE-FCD0-3D15-91C1-BAB27BF4A1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3075" y="149350"/>
            <a:ext cx="8171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An Inefficiency</a:t>
            </a:r>
            <a:br>
              <a:rPr lang="en-GB" sz="32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2000" dirty="0">
                <a:solidFill>
                  <a:schemeClr val="tx1"/>
                </a:solidFill>
                <a:latin typeface="Consolas"/>
                <a:ea typeface="Consolas"/>
                <a:cs typeface="Consolas"/>
                <a:sym typeface="Consolas"/>
              </a:rPr>
              <a:t>Fixed and Demand-Oblivious Topology</a:t>
            </a:r>
          </a:p>
        </p:txBody>
      </p:sp>
      <p:pic>
        <p:nvPicPr>
          <p:cNvPr id="1291" name="Google Shape;1291;g60be7dcf1c_0_204">
            <a:extLst>
              <a:ext uri="{FF2B5EF4-FFF2-40B4-BE49-F238E27FC236}">
                <a16:creationId xmlns:a16="http://schemas.microsoft.com/office/drawing/2014/main" id="{5E9FA9BC-068C-EAA0-CADE-34FF39730B0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51565" b="16428"/>
          <a:stretch/>
        </p:blipFill>
        <p:spPr>
          <a:xfrm>
            <a:off x="733550" y="4637450"/>
            <a:ext cx="7103525" cy="1704951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277;g60be7dcf1c_0_190">
            <a:extLst>
              <a:ext uri="{FF2B5EF4-FFF2-40B4-BE49-F238E27FC236}">
                <a16:creationId xmlns:a16="http://schemas.microsoft.com/office/drawing/2014/main" id="{3B94D098-374B-A54C-AADC-BF7732109334}"/>
              </a:ext>
            </a:extLst>
          </p:cNvPr>
          <p:cNvSpPr txBox="1"/>
          <p:nvPr/>
        </p:nvSpPr>
        <p:spPr>
          <a:xfrm>
            <a:off x="991272" y="2202275"/>
            <a:ext cx="7858089" cy="919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How to interconnect? Focus on this talk: </a:t>
            </a:r>
            <a:r>
              <a:rPr lang="en-GB" sz="1600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scale-out network</a:t>
            </a: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B76D3D-887A-402E-8DD8-F9260EBE36F2}"/>
              </a:ext>
            </a:extLst>
          </p:cNvPr>
          <p:cNvSpPr/>
          <p:nvPr/>
        </p:nvSpPr>
        <p:spPr>
          <a:xfrm>
            <a:off x="7765589" y="646407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4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53114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5">
          <a:extLst>
            <a:ext uri="{FF2B5EF4-FFF2-40B4-BE49-F238E27FC236}">
              <a16:creationId xmlns:a16="http://schemas.microsoft.com/office/drawing/2014/main" id="{A4D55F6C-33C5-95E8-71D1-65E31A04A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273;g60be7dcf1c_0_190">
            <a:extLst>
              <a:ext uri="{FF2B5EF4-FFF2-40B4-BE49-F238E27FC236}">
                <a16:creationId xmlns:a16="http://schemas.microsoft.com/office/drawing/2014/main" id="{BB501288-F042-3409-6445-6FA2CF8478B6}"/>
              </a:ext>
            </a:extLst>
          </p:cNvPr>
          <p:cNvSpPr txBox="1"/>
          <p:nvPr/>
        </p:nvSpPr>
        <p:spPr>
          <a:xfrm>
            <a:off x="0" y="540000"/>
            <a:ext cx="8211000" cy="988354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5DA48111-3320-EAB0-9DC4-7E37D9941819}"/>
              </a:ext>
            </a:extLst>
          </p:cNvPr>
          <p:cNvSpPr/>
          <p:nvPr/>
        </p:nvSpPr>
        <p:spPr>
          <a:xfrm>
            <a:off x="524178" y="2220035"/>
            <a:ext cx="7305469" cy="9418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24" name="Google Shape;1277;g60be7dcf1c_0_190">
            <a:extLst>
              <a:ext uri="{FF2B5EF4-FFF2-40B4-BE49-F238E27FC236}">
                <a16:creationId xmlns:a16="http://schemas.microsoft.com/office/drawing/2014/main" id="{B1A3D2D8-6967-83B3-ED7A-066EB29D4F91}"/>
              </a:ext>
            </a:extLst>
          </p:cNvPr>
          <p:cNvSpPr txBox="1"/>
          <p:nvPr/>
        </p:nvSpPr>
        <p:spPr>
          <a:xfrm>
            <a:off x="579792" y="2202275"/>
            <a:ext cx="7858089" cy="919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⇢  Example: fat-tree topology (</a:t>
            </a:r>
            <a:r>
              <a:rPr lang="en-GB" sz="1600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bi-regular</a:t>
            </a: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</a:p>
          <a:p>
            <a: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tabLst>
                <a:tab pos="398463" algn="l"/>
              </a:tabLst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-GB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⇀ 2 types of switches: top-of-rack (</a:t>
            </a:r>
            <a:r>
              <a:rPr lang="en-GB" sz="12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ToR</a:t>
            </a:r>
            <a:r>
              <a:rPr lang="en-GB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connect to hosts, </a:t>
            </a:r>
          </a:p>
          <a:p>
            <a: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tabLst>
                <a:tab pos="398463" algn="l"/>
              </a:tabLst>
            </a:pPr>
            <a:r>
              <a:rPr lang="en-GB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additional switches connecting switches to increase throughput</a:t>
            </a:r>
            <a:endParaRPr lang="en-GB" sz="1600" dirty="0">
              <a:solidFill>
                <a:srgbClr val="CC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57" name="Grafik 56" descr="Ein Bild, das Diagramm, Screenshot, Reihe, Design enthält.&#10;&#10;Automatisch generierte Beschreibung">
            <a:extLst>
              <a:ext uri="{FF2B5EF4-FFF2-40B4-BE49-F238E27FC236}">
                <a16:creationId xmlns:a16="http://schemas.microsoft.com/office/drawing/2014/main" id="{EABE675B-9F04-D14F-9845-0A97BA3C51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940" y="3405374"/>
            <a:ext cx="6508308" cy="277882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BD3F974-49BD-4F2C-9827-DEA09C41846E}"/>
              </a:ext>
            </a:extLst>
          </p:cNvPr>
          <p:cNvSpPr/>
          <p:nvPr/>
        </p:nvSpPr>
        <p:spPr>
          <a:xfrm>
            <a:off x="7765589" y="646407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4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0" name="Google Shape;1288;g60be7dcf1c_0_204">
            <a:extLst>
              <a:ext uri="{FF2B5EF4-FFF2-40B4-BE49-F238E27FC236}">
                <a16:creationId xmlns:a16="http://schemas.microsoft.com/office/drawing/2014/main" id="{D6E8E0E3-B5AA-41D0-97FE-F6CCD8A1E516}"/>
              </a:ext>
            </a:extLst>
          </p:cNvPr>
          <p:cNvSpPr txBox="1">
            <a:spLocks/>
          </p:cNvSpPr>
          <p:nvPr/>
        </p:nvSpPr>
        <p:spPr>
          <a:xfrm>
            <a:off x="973075" y="149350"/>
            <a:ext cx="8171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lnSpc>
                <a:spcPct val="115000"/>
              </a:lnSpc>
              <a:buSzPts val="1100"/>
            </a:pPr>
            <a:r>
              <a:rPr lang="en-GB" sz="4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An Inefficiency</a:t>
            </a:r>
            <a:br>
              <a:rPr lang="en-GB" sz="3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2000">
                <a:solidFill>
                  <a:schemeClr val="tx1"/>
                </a:solidFill>
                <a:latin typeface="Consolas"/>
                <a:ea typeface="Consolas"/>
                <a:cs typeface="Consolas"/>
                <a:sym typeface="Consolas"/>
              </a:rPr>
              <a:t>Fixed and Demand-Oblivious Topology</a:t>
            </a:r>
            <a:endParaRPr lang="en-GB" sz="2000" dirty="0">
              <a:solidFill>
                <a:schemeClr val="tx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9400953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5">
          <a:extLst>
            <a:ext uri="{FF2B5EF4-FFF2-40B4-BE49-F238E27FC236}">
              <a16:creationId xmlns:a16="http://schemas.microsoft.com/office/drawing/2014/main" id="{A4D55F6C-33C5-95E8-71D1-65E31A04A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273;g60be7dcf1c_0_190">
            <a:extLst>
              <a:ext uri="{FF2B5EF4-FFF2-40B4-BE49-F238E27FC236}">
                <a16:creationId xmlns:a16="http://schemas.microsoft.com/office/drawing/2014/main" id="{939D65C5-8079-B3A8-39D3-C11148D2DAC5}"/>
              </a:ext>
            </a:extLst>
          </p:cNvPr>
          <p:cNvSpPr txBox="1"/>
          <p:nvPr/>
        </p:nvSpPr>
        <p:spPr>
          <a:xfrm>
            <a:off x="0" y="540000"/>
            <a:ext cx="8211000" cy="988354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pic>
        <p:nvPicPr>
          <p:cNvPr id="4" name="Grafik 3" descr="Ein Bild, das Entwurf, Diagramm, Design, Muster enthält.&#10;&#10;Automatisch generierte Beschreibung">
            <a:extLst>
              <a:ext uri="{FF2B5EF4-FFF2-40B4-BE49-F238E27FC236}">
                <a16:creationId xmlns:a16="http://schemas.microsoft.com/office/drawing/2014/main" id="{4C4DF22D-C374-3C47-B39A-5BB242C80C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266" y="3377335"/>
            <a:ext cx="6470982" cy="2770291"/>
          </a:xfrm>
          <a:prstGeom prst="rect">
            <a:avLst/>
          </a:prstGeom>
        </p:spPr>
      </p:pic>
      <p:sp>
        <p:nvSpPr>
          <p:cNvPr id="2" name="Rechteck 1">
            <a:extLst>
              <a:ext uri="{FF2B5EF4-FFF2-40B4-BE49-F238E27FC236}">
                <a16:creationId xmlns:a16="http://schemas.microsoft.com/office/drawing/2014/main" id="{5DA48111-3320-EAB0-9DC4-7E37D9941819}"/>
              </a:ext>
            </a:extLst>
          </p:cNvPr>
          <p:cNvSpPr/>
          <p:nvPr/>
        </p:nvSpPr>
        <p:spPr>
          <a:xfrm>
            <a:off x="524178" y="2220035"/>
            <a:ext cx="7305469" cy="9418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B133624-2EDB-460A-84B4-2BCC2315BA09}"/>
              </a:ext>
            </a:extLst>
          </p:cNvPr>
          <p:cNvSpPr/>
          <p:nvPr/>
        </p:nvSpPr>
        <p:spPr>
          <a:xfrm>
            <a:off x="7765589" y="646407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4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9" name="Google Shape;1277;g60be7dcf1c_0_190">
            <a:extLst>
              <a:ext uri="{FF2B5EF4-FFF2-40B4-BE49-F238E27FC236}">
                <a16:creationId xmlns:a16="http://schemas.microsoft.com/office/drawing/2014/main" id="{0C769A71-5DE7-492D-BF37-18CDBB9FCBA0}"/>
              </a:ext>
            </a:extLst>
          </p:cNvPr>
          <p:cNvSpPr txBox="1"/>
          <p:nvPr/>
        </p:nvSpPr>
        <p:spPr>
          <a:xfrm>
            <a:off x="579793" y="2202275"/>
            <a:ext cx="5167294" cy="12864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tabLst>
                <a:tab pos="398463" algn="l"/>
              </a:tabLst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⇢  Example: expander topology (</a:t>
            </a:r>
            <a:r>
              <a:rPr lang="en-GB" sz="1600" dirty="0" err="1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uni</a:t>
            </a:r>
            <a:r>
              <a:rPr lang="en-GB" sz="1600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-regular</a:t>
            </a: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</a:p>
          <a:p>
            <a: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tabLst>
                <a:tab pos="398463" algn="l"/>
              </a:tabLst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GB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⇀ Only 1 type of switches: </a:t>
            </a:r>
          </a:p>
          <a:p>
            <a: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tabLst>
                <a:tab pos="398463" algn="l"/>
              </a:tabLst>
            </a:pPr>
            <a:r>
              <a:rPr lang="en-GB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   lower installation and management overheads</a:t>
            </a:r>
            <a:endParaRPr lang="en-GB" sz="1600" dirty="0">
              <a:solidFill>
                <a:srgbClr val="CC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" name="Google Shape;1288;g60be7dcf1c_0_204">
            <a:extLst>
              <a:ext uri="{FF2B5EF4-FFF2-40B4-BE49-F238E27FC236}">
                <a16:creationId xmlns:a16="http://schemas.microsoft.com/office/drawing/2014/main" id="{C966FFFC-064C-4285-AA3E-D6D19C9F07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3075" y="149350"/>
            <a:ext cx="8171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An Inefficiency</a:t>
            </a:r>
            <a:br>
              <a:rPr lang="en-GB" sz="32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2000" dirty="0">
                <a:solidFill>
                  <a:schemeClr val="tx1"/>
                </a:solidFill>
                <a:latin typeface="Consolas"/>
                <a:ea typeface="Consolas"/>
                <a:cs typeface="Consolas"/>
                <a:sym typeface="Consolas"/>
              </a:rPr>
              <a:t>Fixed and Demand-Oblivious Topology</a:t>
            </a:r>
          </a:p>
        </p:txBody>
      </p:sp>
    </p:spTree>
    <p:extLst>
      <p:ext uri="{BB962C8B-B14F-4D97-AF65-F5344CB8AC3E}">
        <p14:creationId xmlns:p14="http://schemas.microsoft.com/office/powerpoint/2010/main" val="38669159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5">
          <a:extLst>
            <a:ext uri="{FF2B5EF4-FFF2-40B4-BE49-F238E27FC236}">
              <a16:creationId xmlns:a16="http://schemas.microsoft.com/office/drawing/2014/main" id="{A4D55F6C-33C5-95E8-71D1-65E31A04A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273;g60be7dcf1c_0_190">
            <a:extLst>
              <a:ext uri="{FF2B5EF4-FFF2-40B4-BE49-F238E27FC236}">
                <a16:creationId xmlns:a16="http://schemas.microsoft.com/office/drawing/2014/main" id="{21AD5B30-D012-F765-5283-FFB1A8C50760}"/>
              </a:ext>
            </a:extLst>
          </p:cNvPr>
          <p:cNvSpPr txBox="1"/>
          <p:nvPr/>
        </p:nvSpPr>
        <p:spPr>
          <a:xfrm>
            <a:off x="0" y="540000"/>
            <a:ext cx="8211000" cy="988354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pic>
        <p:nvPicPr>
          <p:cNvPr id="4" name="Grafik 3" descr="Ein Bild, das Entwurf, Diagramm, Design, Muster enthält.&#10;&#10;Automatisch generierte Beschreibung">
            <a:extLst>
              <a:ext uri="{FF2B5EF4-FFF2-40B4-BE49-F238E27FC236}">
                <a16:creationId xmlns:a16="http://schemas.microsoft.com/office/drawing/2014/main" id="{4C4DF22D-C374-3C47-B39A-5BB242C80C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266" y="3377335"/>
            <a:ext cx="6470982" cy="2770291"/>
          </a:xfrm>
          <a:prstGeom prst="rect">
            <a:avLst/>
          </a:prstGeom>
        </p:spPr>
      </p:pic>
      <p:sp>
        <p:nvSpPr>
          <p:cNvPr id="9" name="Google Shape;1297;g60be7dcf1c_0_212">
            <a:extLst>
              <a:ext uri="{FF2B5EF4-FFF2-40B4-BE49-F238E27FC236}">
                <a16:creationId xmlns:a16="http://schemas.microsoft.com/office/drawing/2014/main" id="{77986A33-C40E-47F7-8963-E9AD74B163C2}"/>
              </a:ext>
            </a:extLst>
          </p:cNvPr>
          <p:cNvSpPr/>
          <p:nvPr/>
        </p:nvSpPr>
        <p:spPr>
          <a:xfrm flipH="1">
            <a:off x="5971028" y="3538728"/>
            <a:ext cx="3076718" cy="866467"/>
          </a:xfrm>
          <a:prstGeom prst="homePlate">
            <a:avLst>
              <a:gd name="adj" fmla="val 50000"/>
            </a:avLst>
          </a:prstGeom>
          <a:solidFill>
            <a:schemeClr val="bg1"/>
          </a:solidFill>
          <a:ln w="1905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10" name="Google Shape;1302;g60be7dcf1c_0_212">
            <a:extLst>
              <a:ext uri="{FF2B5EF4-FFF2-40B4-BE49-F238E27FC236}">
                <a16:creationId xmlns:a16="http://schemas.microsoft.com/office/drawing/2014/main" id="{564C60DE-6E67-4168-8208-4F7291B6EC60}"/>
              </a:ext>
            </a:extLst>
          </p:cNvPr>
          <p:cNvSpPr txBox="1"/>
          <p:nvPr/>
        </p:nvSpPr>
        <p:spPr>
          <a:xfrm>
            <a:off x="6345936" y="3566684"/>
            <a:ext cx="2971801" cy="866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5000"/>
              </a:lnSpc>
            </a:pPr>
            <a:r>
              <a:rPr lang="en-GB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Many </a:t>
            </a:r>
            <a:r>
              <a:rPr lang="en-GB" sz="12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flavors</a:t>
            </a:r>
            <a:r>
              <a:rPr lang="en-GB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but in </a:t>
            </a:r>
          </a:p>
          <a:p>
            <a:pPr>
              <a:lnSpc>
                <a:spcPct val="115000"/>
              </a:lnSpc>
            </a:pPr>
            <a:r>
              <a:rPr lang="en-GB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common: fixed and </a:t>
            </a:r>
            <a:r>
              <a:rPr lang="en-GB" sz="1200" b="1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oblivious </a:t>
            </a:r>
            <a:r>
              <a:rPr lang="en-GB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(“ignorant”) to actual demand.</a:t>
            </a:r>
            <a:endParaRPr lang="en-GB" sz="12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DD6B83-0827-44DB-B4B3-47F674D57276}"/>
              </a:ext>
            </a:extLst>
          </p:cNvPr>
          <p:cNvSpPr/>
          <p:nvPr/>
        </p:nvSpPr>
        <p:spPr>
          <a:xfrm>
            <a:off x="7765589" y="646407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4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3" name="Google Shape;1277;g60be7dcf1c_0_190">
            <a:extLst>
              <a:ext uri="{FF2B5EF4-FFF2-40B4-BE49-F238E27FC236}">
                <a16:creationId xmlns:a16="http://schemas.microsoft.com/office/drawing/2014/main" id="{6B9B315E-2576-465F-AD5F-431EF171199C}"/>
              </a:ext>
            </a:extLst>
          </p:cNvPr>
          <p:cNvSpPr txBox="1"/>
          <p:nvPr/>
        </p:nvSpPr>
        <p:spPr>
          <a:xfrm>
            <a:off x="579793" y="2202275"/>
            <a:ext cx="5167294" cy="12864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tabLst>
                <a:tab pos="398463" algn="l"/>
              </a:tabLst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⇢  Example: expander topology (</a:t>
            </a:r>
            <a:r>
              <a:rPr lang="en-GB" sz="1600" dirty="0" err="1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uni</a:t>
            </a:r>
            <a:r>
              <a:rPr lang="en-GB" sz="1600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-regular</a:t>
            </a: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</a:p>
          <a:p>
            <a: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tabLst>
                <a:tab pos="398463" algn="l"/>
              </a:tabLst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GB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⇀ Only 1 type of switches: </a:t>
            </a:r>
          </a:p>
          <a:p>
            <a: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tabLst>
                <a:tab pos="398463" algn="l"/>
              </a:tabLst>
            </a:pPr>
            <a:r>
              <a:rPr lang="en-GB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   lower installation and management overheads</a:t>
            </a:r>
            <a:endParaRPr lang="en-GB" sz="1600" dirty="0">
              <a:solidFill>
                <a:srgbClr val="CC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" name="Google Shape;1288;g60be7dcf1c_0_204">
            <a:extLst>
              <a:ext uri="{FF2B5EF4-FFF2-40B4-BE49-F238E27FC236}">
                <a16:creationId xmlns:a16="http://schemas.microsoft.com/office/drawing/2014/main" id="{415634A5-E9FD-4F47-8107-086EE48875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3075" y="149350"/>
            <a:ext cx="8171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An Inefficiency</a:t>
            </a:r>
            <a:br>
              <a:rPr lang="en-GB" sz="32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2000" dirty="0">
                <a:solidFill>
                  <a:schemeClr val="tx1"/>
                </a:solidFill>
                <a:latin typeface="Consolas"/>
                <a:ea typeface="Consolas"/>
                <a:cs typeface="Consolas"/>
                <a:sym typeface="Consolas"/>
              </a:rPr>
              <a:t>Fixed and Demand-Oblivious Topology</a:t>
            </a:r>
          </a:p>
        </p:txBody>
      </p:sp>
    </p:spTree>
    <p:extLst>
      <p:ext uri="{BB962C8B-B14F-4D97-AF65-F5344CB8AC3E}">
        <p14:creationId xmlns:p14="http://schemas.microsoft.com/office/powerpoint/2010/main" val="15302324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5">
          <a:extLst>
            <a:ext uri="{FF2B5EF4-FFF2-40B4-BE49-F238E27FC236}">
              <a16:creationId xmlns:a16="http://schemas.microsoft.com/office/drawing/2014/main" id="{A4D55F6C-33C5-95E8-71D1-65E31A04A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273;g60be7dcf1c_0_190">
            <a:extLst>
              <a:ext uri="{FF2B5EF4-FFF2-40B4-BE49-F238E27FC236}">
                <a16:creationId xmlns:a16="http://schemas.microsoft.com/office/drawing/2014/main" id="{F0D25609-EE9A-9FB8-1623-8CFC58FE0C23}"/>
              </a:ext>
            </a:extLst>
          </p:cNvPr>
          <p:cNvSpPr txBox="1"/>
          <p:nvPr/>
        </p:nvSpPr>
        <p:spPr>
          <a:xfrm>
            <a:off x="0" y="540000"/>
            <a:ext cx="8211000" cy="988354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pic>
        <p:nvPicPr>
          <p:cNvPr id="4" name="Grafik 3" descr="Ein Bild, das Entwurf, Diagramm, Design, Muster enthält.&#10;&#10;Automatisch generierte Beschreibung">
            <a:extLst>
              <a:ext uri="{FF2B5EF4-FFF2-40B4-BE49-F238E27FC236}">
                <a16:creationId xmlns:a16="http://schemas.microsoft.com/office/drawing/2014/main" id="{4C4DF22D-C374-3C47-B39A-5BB242C80C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266" y="3377335"/>
            <a:ext cx="6470982" cy="2770291"/>
          </a:xfrm>
          <a:prstGeom prst="rect">
            <a:avLst/>
          </a:prstGeom>
        </p:spPr>
      </p:pic>
      <p:sp>
        <p:nvSpPr>
          <p:cNvPr id="11" name="Google Shape;1315;g60be7dcf1c_0_222">
            <a:extLst>
              <a:ext uri="{FF2B5EF4-FFF2-40B4-BE49-F238E27FC236}">
                <a16:creationId xmlns:a16="http://schemas.microsoft.com/office/drawing/2014/main" id="{D6F72718-C684-4C45-811C-F62401609C25}"/>
              </a:ext>
            </a:extLst>
          </p:cNvPr>
          <p:cNvSpPr txBox="1"/>
          <p:nvPr/>
        </p:nvSpPr>
        <p:spPr>
          <a:xfrm>
            <a:off x="6364224" y="2721042"/>
            <a:ext cx="2779776" cy="7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GB" sz="1200" b="1" dirty="0">
                <a:latin typeface="Consolas"/>
                <a:ea typeface="Consolas"/>
                <a:cs typeface="Consolas"/>
                <a:sym typeface="Consolas"/>
              </a:rPr>
              <a:t>Highway which ignores </a:t>
            </a:r>
            <a:br>
              <a:rPr lang="en-GB" sz="1200" b="1" dirty="0"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1200" b="1" dirty="0">
                <a:latin typeface="Consolas"/>
                <a:ea typeface="Consolas"/>
                <a:cs typeface="Consolas"/>
                <a:sym typeface="Consolas"/>
              </a:rPr>
              <a:t>actual traffic: </a:t>
            </a:r>
            <a:r>
              <a:rPr lang="en-GB" sz="1200" b="1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frustrating!</a:t>
            </a:r>
            <a:r>
              <a:rPr lang="en-GB" sz="1200" b="1" dirty="0">
                <a:latin typeface="Consolas"/>
                <a:ea typeface="Consolas"/>
                <a:cs typeface="Consolas"/>
                <a:sym typeface="Consolas"/>
              </a:rPr>
              <a:t> </a:t>
            </a:r>
          </a:p>
        </p:txBody>
      </p:sp>
      <p:pic>
        <p:nvPicPr>
          <p:cNvPr id="6" name="Grafik 5" descr="Ein Bild, das Weg, Auto, Infrastruktur, draußen enthält.&#10;&#10;Automatisch generierte Beschreibung">
            <a:extLst>
              <a:ext uri="{FF2B5EF4-FFF2-40B4-BE49-F238E27FC236}">
                <a16:creationId xmlns:a16="http://schemas.microsoft.com/office/drawing/2014/main" id="{AB971567-88F6-A443-9CE0-454B605BF1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6025" y="733394"/>
            <a:ext cx="1978504" cy="197850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8D40AD2-0E32-4F98-BF27-C5A1F4CFF190}"/>
              </a:ext>
            </a:extLst>
          </p:cNvPr>
          <p:cNvSpPr/>
          <p:nvPr/>
        </p:nvSpPr>
        <p:spPr>
          <a:xfrm>
            <a:off x="7765589" y="646407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4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2" name="Google Shape;1277;g60be7dcf1c_0_190">
            <a:extLst>
              <a:ext uri="{FF2B5EF4-FFF2-40B4-BE49-F238E27FC236}">
                <a16:creationId xmlns:a16="http://schemas.microsoft.com/office/drawing/2014/main" id="{76E1BF3A-E926-4B89-A8D9-D206E803F04B}"/>
              </a:ext>
            </a:extLst>
          </p:cNvPr>
          <p:cNvSpPr txBox="1"/>
          <p:nvPr/>
        </p:nvSpPr>
        <p:spPr>
          <a:xfrm>
            <a:off x="579793" y="2202275"/>
            <a:ext cx="5167294" cy="12864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tabLst>
                <a:tab pos="398463" algn="l"/>
              </a:tabLst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⇢  Example: expander topology (</a:t>
            </a:r>
            <a:r>
              <a:rPr lang="en-GB" sz="1600" dirty="0" err="1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uni</a:t>
            </a:r>
            <a:r>
              <a:rPr lang="en-GB" sz="1600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-regular</a:t>
            </a: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</a:p>
          <a:p>
            <a: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tabLst>
                <a:tab pos="398463" algn="l"/>
              </a:tabLst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GB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⇀ Only 1 type of switches: </a:t>
            </a:r>
          </a:p>
          <a:p>
            <a: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tabLst>
                <a:tab pos="398463" algn="l"/>
              </a:tabLst>
            </a:pPr>
            <a:r>
              <a:rPr lang="en-GB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   lower installation and management overheads</a:t>
            </a:r>
            <a:endParaRPr lang="en-GB" sz="1600" dirty="0">
              <a:solidFill>
                <a:srgbClr val="CC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" name="Google Shape;1288;g60be7dcf1c_0_204">
            <a:extLst>
              <a:ext uri="{FF2B5EF4-FFF2-40B4-BE49-F238E27FC236}">
                <a16:creationId xmlns:a16="http://schemas.microsoft.com/office/drawing/2014/main" id="{63D6B84F-AF5D-44CA-BACD-64756F9FB0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3075" y="149350"/>
            <a:ext cx="8171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An Inefficiency</a:t>
            </a:r>
            <a:br>
              <a:rPr lang="en-GB" sz="32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2000" dirty="0">
                <a:solidFill>
                  <a:schemeClr val="tx1"/>
                </a:solidFill>
                <a:latin typeface="Consolas"/>
                <a:ea typeface="Consolas"/>
                <a:cs typeface="Consolas"/>
                <a:sym typeface="Consolas"/>
              </a:rPr>
              <a:t>Fixed and Demand-Oblivious Topology</a:t>
            </a:r>
          </a:p>
        </p:txBody>
      </p:sp>
      <p:sp>
        <p:nvSpPr>
          <p:cNvPr id="10" name="Google Shape;1297;g60be7dcf1c_0_212">
            <a:extLst>
              <a:ext uri="{FF2B5EF4-FFF2-40B4-BE49-F238E27FC236}">
                <a16:creationId xmlns:a16="http://schemas.microsoft.com/office/drawing/2014/main" id="{0F6C5CD7-BF24-4FBF-A904-58F2E2228289}"/>
              </a:ext>
            </a:extLst>
          </p:cNvPr>
          <p:cNvSpPr/>
          <p:nvPr/>
        </p:nvSpPr>
        <p:spPr>
          <a:xfrm flipH="1">
            <a:off x="5971028" y="3538728"/>
            <a:ext cx="3076718" cy="866467"/>
          </a:xfrm>
          <a:prstGeom prst="homePlate">
            <a:avLst>
              <a:gd name="adj" fmla="val 50000"/>
            </a:avLst>
          </a:prstGeom>
          <a:solidFill>
            <a:schemeClr val="bg1"/>
          </a:solidFill>
          <a:ln w="1905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14" name="Google Shape;1302;g60be7dcf1c_0_212">
            <a:extLst>
              <a:ext uri="{FF2B5EF4-FFF2-40B4-BE49-F238E27FC236}">
                <a16:creationId xmlns:a16="http://schemas.microsoft.com/office/drawing/2014/main" id="{F6BAC969-9602-4D62-9E20-D9DDFAB135F6}"/>
              </a:ext>
            </a:extLst>
          </p:cNvPr>
          <p:cNvSpPr txBox="1"/>
          <p:nvPr/>
        </p:nvSpPr>
        <p:spPr>
          <a:xfrm>
            <a:off x="6345936" y="3566684"/>
            <a:ext cx="2971801" cy="866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5000"/>
              </a:lnSpc>
            </a:pPr>
            <a:r>
              <a:rPr lang="en-GB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Many </a:t>
            </a:r>
            <a:r>
              <a:rPr lang="en-GB" sz="12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flavors</a:t>
            </a:r>
            <a:r>
              <a:rPr lang="en-GB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but in </a:t>
            </a:r>
          </a:p>
          <a:p>
            <a:pPr>
              <a:lnSpc>
                <a:spcPct val="115000"/>
              </a:lnSpc>
            </a:pPr>
            <a:r>
              <a:rPr lang="en-GB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common: fixed and </a:t>
            </a:r>
            <a:r>
              <a:rPr lang="en-GB" sz="1200" b="1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oblivious </a:t>
            </a:r>
            <a:r>
              <a:rPr lang="en-GB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(“ignorant”) to actual demand.</a:t>
            </a:r>
            <a:endParaRPr lang="en-GB" sz="1200" dirty="0"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7249414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273;g60be7dcf1c_0_190">
            <a:extLst>
              <a:ext uri="{FF2B5EF4-FFF2-40B4-BE49-F238E27FC236}">
                <a16:creationId xmlns:a16="http://schemas.microsoft.com/office/drawing/2014/main" id="{F135B9F5-AD9A-4F3A-E61A-2DDDE41E9446}"/>
              </a:ext>
            </a:extLst>
          </p:cNvPr>
          <p:cNvSpPr txBox="1"/>
          <p:nvPr/>
        </p:nvSpPr>
        <p:spPr>
          <a:xfrm>
            <a:off x="0" y="540000"/>
            <a:ext cx="8211000" cy="988354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1321" name="Google Shape;1321;g60be7dcf1c_0_234"/>
          <p:cNvSpPr txBox="1">
            <a:spLocks noGrp="1"/>
          </p:cNvSpPr>
          <p:nvPr>
            <p:ph type="title"/>
          </p:nvPr>
        </p:nvSpPr>
        <p:spPr>
          <a:xfrm>
            <a:off x="973075" y="149350"/>
            <a:ext cx="8171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 Vision</a:t>
            </a:r>
            <a:br>
              <a:rPr lang="en-GB" sz="32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2000" dirty="0">
                <a:solidFill>
                  <a:schemeClr val="tx1"/>
                </a:solidFill>
                <a:latin typeface="Consolas"/>
                <a:ea typeface="Consolas"/>
                <a:cs typeface="Consolas"/>
                <a:sym typeface="Consolas"/>
              </a:rPr>
              <a:t>Flexible and Demand-Aware Topologies</a:t>
            </a:r>
          </a:p>
        </p:txBody>
      </p:sp>
      <p:pic>
        <p:nvPicPr>
          <p:cNvPr id="1324" name="Google Shape;1324;g60be7dcf1c_0_234"/>
          <p:cNvPicPr preferRelativeResize="0"/>
          <p:nvPr/>
        </p:nvPicPr>
        <p:blipFill rotWithShape="1">
          <a:blip r:embed="rId3">
            <a:alphaModFix/>
          </a:blip>
          <a:srcRect t="55376" b="19271"/>
          <a:stretch/>
        </p:blipFill>
        <p:spPr>
          <a:xfrm>
            <a:off x="731800" y="4828100"/>
            <a:ext cx="7134774" cy="1356377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3A3489C-20E6-43E9-B888-5D16A6AC7041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5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273;g60be7dcf1c_0_190">
            <a:extLst>
              <a:ext uri="{FF2B5EF4-FFF2-40B4-BE49-F238E27FC236}">
                <a16:creationId xmlns:a16="http://schemas.microsoft.com/office/drawing/2014/main" id="{9BE6B1D7-48FA-7340-FC1A-D84304B6405F}"/>
              </a:ext>
            </a:extLst>
          </p:cNvPr>
          <p:cNvSpPr txBox="1"/>
          <p:nvPr/>
        </p:nvSpPr>
        <p:spPr>
          <a:xfrm>
            <a:off x="0" y="540000"/>
            <a:ext cx="8211000" cy="988354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1330" name="Google Shape;1330;g60be7dcf1c_0_242"/>
          <p:cNvSpPr txBox="1">
            <a:spLocks noGrp="1"/>
          </p:cNvSpPr>
          <p:nvPr>
            <p:ph type="title"/>
          </p:nvPr>
        </p:nvSpPr>
        <p:spPr>
          <a:xfrm>
            <a:off x="973075" y="149350"/>
            <a:ext cx="8171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 Vision</a:t>
            </a:r>
            <a:br>
              <a:rPr lang="en-GB" sz="32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2000" dirty="0">
                <a:solidFill>
                  <a:schemeClr val="tx1"/>
                </a:solidFill>
                <a:latin typeface="Consolas"/>
                <a:ea typeface="Consolas"/>
                <a:cs typeface="Consolas"/>
                <a:sym typeface="Consolas"/>
              </a:rPr>
              <a:t>Flexible and Demand-Aware </a:t>
            </a:r>
            <a:r>
              <a:rPr lang="en-GB" sz="2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Topologies</a:t>
            </a:r>
          </a:p>
        </p:txBody>
      </p:sp>
      <p:pic>
        <p:nvPicPr>
          <p:cNvPr id="1333" name="Google Shape;1333;g60be7dcf1c_0_242"/>
          <p:cNvPicPr preferRelativeResize="0"/>
          <p:nvPr/>
        </p:nvPicPr>
        <p:blipFill rotWithShape="1">
          <a:blip r:embed="rId3">
            <a:alphaModFix/>
          </a:blip>
          <a:srcRect t="55376" b="19271"/>
          <a:stretch/>
        </p:blipFill>
        <p:spPr>
          <a:xfrm>
            <a:off x="731800" y="4828100"/>
            <a:ext cx="7134774" cy="1356377"/>
          </a:xfrm>
          <a:prstGeom prst="rect">
            <a:avLst/>
          </a:prstGeom>
          <a:noFill/>
          <a:ln>
            <a:noFill/>
          </a:ln>
        </p:spPr>
      </p:pic>
      <p:sp>
        <p:nvSpPr>
          <p:cNvPr id="1334" name="Google Shape;1334;g60be7dcf1c_0_242"/>
          <p:cNvSpPr txBox="1"/>
          <p:nvPr/>
        </p:nvSpPr>
        <p:spPr>
          <a:xfrm>
            <a:off x="1080000" y="6138800"/>
            <a:ext cx="5892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35" name="Google Shape;1335;g60be7dcf1c_0_242"/>
          <p:cNvSpPr txBox="1"/>
          <p:nvPr/>
        </p:nvSpPr>
        <p:spPr>
          <a:xfrm>
            <a:off x="1924175" y="6138800"/>
            <a:ext cx="5892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36" name="Google Shape;1336;g60be7dcf1c_0_242"/>
          <p:cNvSpPr txBox="1"/>
          <p:nvPr/>
        </p:nvSpPr>
        <p:spPr>
          <a:xfrm>
            <a:off x="2768350" y="6138800"/>
            <a:ext cx="5892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37" name="Google Shape;1337;g60be7dcf1c_0_242"/>
          <p:cNvSpPr txBox="1"/>
          <p:nvPr/>
        </p:nvSpPr>
        <p:spPr>
          <a:xfrm>
            <a:off x="3585325" y="6138800"/>
            <a:ext cx="6279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38" name="Google Shape;1338;g60be7dcf1c_0_242"/>
          <p:cNvSpPr txBox="1"/>
          <p:nvPr/>
        </p:nvSpPr>
        <p:spPr>
          <a:xfrm>
            <a:off x="4441000" y="6138800"/>
            <a:ext cx="5892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39" name="Google Shape;1339;g60be7dcf1c_0_242"/>
          <p:cNvSpPr txBox="1"/>
          <p:nvPr/>
        </p:nvSpPr>
        <p:spPr>
          <a:xfrm>
            <a:off x="5257975" y="6138800"/>
            <a:ext cx="5892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6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40" name="Google Shape;1340;g60be7dcf1c_0_242"/>
          <p:cNvSpPr txBox="1"/>
          <p:nvPr/>
        </p:nvSpPr>
        <p:spPr>
          <a:xfrm>
            <a:off x="6113650" y="6138800"/>
            <a:ext cx="5505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7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41" name="Google Shape;1341;g60be7dcf1c_0_242"/>
          <p:cNvSpPr txBox="1"/>
          <p:nvPr/>
        </p:nvSpPr>
        <p:spPr>
          <a:xfrm>
            <a:off x="6930625" y="6116275"/>
            <a:ext cx="5892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342" name="Google Shape;1342;g60be7dcf1c_0_242"/>
          <p:cNvPicPr preferRelativeResize="0"/>
          <p:nvPr/>
        </p:nvPicPr>
        <p:blipFill rotWithShape="1">
          <a:blip r:embed="rId3">
            <a:alphaModFix/>
          </a:blip>
          <a:srcRect t="37880" b="54789"/>
          <a:stretch/>
        </p:blipFill>
        <p:spPr>
          <a:xfrm>
            <a:off x="731800" y="3886300"/>
            <a:ext cx="7134774" cy="392199"/>
          </a:xfrm>
          <a:prstGeom prst="rect">
            <a:avLst/>
          </a:prstGeom>
          <a:noFill/>
          <a:ln>
            <a:noFill/>
          </a:ln>
        </p:spPr>
      </p:pic>
      <p:sp>
        <p:nvSpPr>
          <p:cNvPr id="1343" name="Google Shape;1343;g60be7dcf1c_0_242"/>
          <p:cNvSpPr/>
          <p:nvPr/>
        </p:nvSpPr>
        <p:spPr>
          <a:xfrm flipH="1">
            <a:off x="7623625" y="3714800"/>
            <a:ext cx="930900" cy="614400"/>
          </a:xfrm>
          <a:prstGeom prst="homePlate">
            <a:avLst>
              <a:gd name="adj" fmla="val 50000"/>
            </a:avLst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1344" name="Google Shape;1344;g60be7dcf1c_0_242"/>
          <p:cNvSpPr txBox="1"/>
          <p:nvPr/>
        </p:nvSpPr>
        <p:spPr>
          <a:xfrm>
            <a:off x="7853275" y="3751538"/>
            <a:ext cx="820200" cy="6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e.g., 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mirrors</a:t>
            </a:r>
            <a:endParaRPr lang="en-GB" sz="1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45" name="Google Shape;1345;g60be7dcf1c_0_242"/>
          <p:cNvSpPr/>
          <p:nvPr/>
        </p:nvSpPr>
        <p:spPr>
          <a:xfrm flipH="1">
            <a:off x="7623775" y="4395650"/>
            <a:ext cx="1328400" cy="614400"/>
          </a:xfrm>
          <a:prstGeom prst="homePlate">
            <a:avLst>
              <a:gd name="adj" fmla="val 50000"/>
            </a:avLst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1346" name="Google Shape;1346;g60be7dcf1c_0_242"/>
          <p:cNvSpPr txBox="1"/>
          <p:nvPr/>
        </p:nvSpPr>
        <p:spPr>
          <a:xfrm>
            <a:off x="7853275" y="4432400"/>
            <a:ext cx="1142400" cy="6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new flexible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interconnect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FD25723-F452-43C5-9E04-E707CA65972D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5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273;g60be7dcf1c_0_190">
            <a:extLst>
              <a:ext uri="{FF2B5EF4-FFF2-40B4-BE49-F238E27FC236}">
                <a16:creationId xmlns:a16="http://schemas.microsoft.com/office/drawing/2014/main" id="{290E4452-4E98-E902-0DCE-457857976E4A}"/>
              </a:ext>
            </a:extLst>
          </p:cNvPr>
          <p:cNvSpPr txBox="1"/>
          <p:nvPr/>
        </p:nvSpPr>
        <p:spPr>
          <a:xfrm>
            <a:off x="0" y="540000"/>
            <a:ext cx="8211000" cy="988354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1352" name="Google Shape;1352;g60be7dcf1c_0_263"/>
          <p:cNvSpPr txBox="1">
            <a:spLocks noGrp="1"/>
          </p:cNvSpPr>
          <p:nvPr>
            <p:ph type="title"/>
          </p:nvPr>
        </p:nvSpPr>
        <p:spPr>
          <a:xfrm>
            <a:off x="973075" y="149350"/>
            <a:ext cx="8171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 Vision</a:t>
            </a:r>
            <a:br>
              <a:rPr lang="en-GB" sz="32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2000" dirty="0">
                <a:solidFill>
                  <a:schemeClr val="tx1"/>
                </a:solidFill>
                <a:latin typeface="Consolas"/>
                <a:ea typeface="Consolas"/>
                <a:cs typeface="Consolas"/>
                <a:sym typeface="Consolas"/>
              </a:rPr>
              <a:t>Flexible and Demand-Aware Topologies</a:t>
            </a:r>
          </a:p>
        </p:txBody>
      </p:sp>
      <p:pic>
        <p:nvPicPr>
          <p:cNvPr id="1355" name="Google Shape;1355;g60be7dcf1c_0_263"/>
          <p:cNvPicPr preferRelativeResize="0"/>
          <p:nvPr/>
        </p:nvPicPr>
        <p:blipFill rotWithShape="1">
          <a:blip r:embed="rId3">
            <a:alphaModFix/>
          </a:blip>
          <a:srcRect t="55376" b="19271"/>
          <a:stretch/>
        </p:blipFill>
        <p:spPr>
          <a:xfrm>
            <a:off x="731800" y="4828100"/>
            <a:ext cx="7134774" cy="1356377"/>
          </a:xfrm>
          <a:prstGeom prst="rect">
            <a:avLst/>
          </a:prstGeom>
          <a:noFill/>
          <a:ln>
            <a:noFill/>
          </a:ln>
        </p:spPr>
      </p:pic>
      <p:sp>
        <p:nvSpPr>
          <p:cNvPr id="1356" name="Google Shape;1356;g60be7dcf1c_0_263"/>
          <p:cNvSpPr txBox="1"/>
          <p:nvPr/>
        </p:nvSpPr>
        <p:spPr>
          <a:xfrm>
            <a:off x="1080000" y="6138800"/>
            <a:ext cx="5892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57" name="Google Shape;1357;g60be7dcf1c_0_263"/>
          <p:cNvSpPr txBox="1"/>
          <p:nvPr/>
        </p:nvSpPr>
        <p:spPr>
          <a:xfrm>
            <a:off x="1924175" y="6138800"/>
            <a:ext cx="5892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58" name="Google Shape;1358;g60be7dcf1c_0_263"/>
          <p:cNvSpPr txBox="1"/>
          <p:nvPr/>
        </p:nvSpPr>
        <p:spPr>
          <a:xfrm>
            <a:off x="2768350" y="6138800"/>
            <a:ext cx="5892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59" name="Google Shape;1359;g60be7dcf1c_0_263"/>
          <p:cNvSpPr txBox="1"/>
          <p:nvPr/>
        </p:nvSpPr>
        <p:spPr>
          <a:xfrm>
            <a:off x="3585325" y="6138800"/>
            <a:ext cx="6279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60" name="Google Shape;1360;g60be7dcf1c_0_263"/>
          <p:cNvSpPr txBox="1"/>
          <p:nvPr/>
        </p:nvSpPr>
        <p:spPr>
          <a:xfrm>
            <a:off x="4441000" y="6138800"/>
            <a:ext cx="5892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61" name="Google Shape;1361;g60be7dcf1c_0_263"/>
          <p:cNvSpPr txBox="1"/>
          <p:nvPr/>
        </p:nvSpPr>
        <p:spPr>
          <a:xfrm>
            <a:off x="5257975" y="6138800"/>
            <a:ext cx="5892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6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62" name="Google Shape;1362;g60be7dcf1c_0_263"/>
          <p:cNvSpPr txBox="1"/>
          <p:nvPr/>
        </p:nvSpPr>
        <p:spPr>
          <a:xfrm>
            <a:off x="6113650" y="6138800"/>
            <a:ext cx="5505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7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63" name="Google Shape;1363;g60be7dcf1c_0_263"/>
          <p:cNvSpPr txBox="1"/>
          <p:nvPr/>
        </p:nvSpPr>
        <p:spPr>
          <a:xfrm>
            <a:off x="6930625" y="6116275"/>
            <a:ext cx="5892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364" name="Google Shape;1364;g60be7dcf1c_0_263"/>
          <p:cNvPicPr preferRelativeResize="0"/>
          <p:nvPr/>
        </p:nvPicPr>
        <p:blipFill rotWithShape="1">
          <a:blip r:embed="rId3">
            <a:alphaModFix/>
          </a:blip>
          <a:srcRect t="37880" b="54789"/>
          <a:stretch/>
        </p:blipFill>
        <p:spPr>
          <a:xfrm>
            <a:off x="731800" y="3886300"/>
            <a:ext cx="7134774" cy="392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9" name="Google Shape;1369;g60be7dcf1c_0_263"/>
          <p:cNvPicPr preferRelativeResize="0"/>
          <p:nvPr/>
        </p:nvPicPr>
        <p:blipFill rotWithShape="1">
          <a:blip r:embed="rId4">
            <a:alphaModFix/>
          </a:blip>
          <a:srcRect l="12266" t="11492" r="15148" b="13981"/>
          <a:stretch/>
        </p:blipFill>
        <p:spPr>
          <a:xfrm>
            <a:off x="6113650" y="2240025"/>
            <a:ext cx="1474748" cy="151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1343;g60be7dcf1c_0_242"/>
          <p:cNvSpPr/>
          <p:nvPr/>
        </p:nvSpPr>
        <p:spPr>
          <a:xfrm flipH="1">
            <a:off x="7623625" y="3714800"/>
            <a:ext cx="930900" cy="614400"/>
          </a:xfrm>
          <a:prstGeom prst="homePlate">
            <a:avLst>
              <a:gd name="adj" fmla="val 50000"/>
            </a:avLst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23" name="Google Shape;1344;g60be7dcf1c_0_242"/>
          <p:cNvSpPr txBox="1"/>
          <p:nvPr/>
        </p:nvSpPr>
        <p:spPr>
          <a:xfrm>
            <a:off x="7853275" y="3751538"/>
            <a:ext cx="820200" cy="6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e.g., 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mirrors</a:t>
            </a:r>
            <a:endParaRPr lang="en-GB" sz="1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" name="Google Shape;1345;g60be7dcf1c_0_242"/>
          <p:cNvSpPr/>
          <p:nvPr/>
        </p:nvSpPr>
        <p:spPr>
          <a:xfrm flipH="1">
            <a:off x="7623775" y="4395650"/>
            <a:ext cx="1328400" cy="614400"/>
          </a:xfrm>
          <a:prstGeom prst="homePlate">
            <a:avLst>
              <a:gd name="adj" fmla="val 50000"/>
            </a:avLst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25" name="Google Shape;1346;g60be7dcf1c_0_242"/>
          <p:cNvSpPr txBox="1"/>
          <p:nvPr/>
        </p:nvSpPr>
        <p:spPr>
          <a:xfrm>
            <a:off x="7853275" y="4432400"/>
            <a:ext cx="1142400" cy="6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new flexible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interconnect</a:t>
            </a:r>
          </a:p>
        </p:txBody>
      </p:sp>
      <p:sp>
        <p:nvSpPr>
          <p:cNvPr id="26" name="Google Shape;1396;g60be7dcf1c_0_286"/>
          <p:cNvSpPr txBox="1"/>
          <p:nvPr/>
        </p:nvSpPr>
        <p:spPr>
          <a:xfrm>
            <a:off x="5181775" y="2240025"/>
            <a:ext cx="1181400" cy="6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demand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matrix:</a:t>
            </a:r>
            <a:endParaRPr lang="en-GB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34403C5-078B-4E87-9ABC-B7239FEA157C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5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273;g60be7dcf1c_0_190">
            <a:extLst>
              <a:ext uri="{FF2B5EF4-FFF2-40B4-BE49-F238E27FC236}">
                <a16:creationId xmlns:a16="http://schemas.microsoft.com/office/drawing/2014/main" id="{88F38F02-3646-18DA-7AED-7F2E313A20CF}"/>
              </a:ext>
            </a:extLst>
          </p:cNvPr>
          <p:cNvSpPr txBox="1"/>
          <p:nvPr/>
        </p:nvSpPr>
        <p:spPr>
          <a:xfrm>
            <a:off x="0" y="540000"/>
            <a:ext cx="8211000" cy="988354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1376" name="Google Shape;1376;g60be7dcf1c_0_286"/>
          <p:cNvSpPr txBox="1">
            <a:spLocks noGrp="1"/>
          </p:cNvSpPr>
          <p:nvPr>
            <p:ph type="title"/>
          </p:nvPr>
        </p:nvSpPr>
        <p:spPr>
          <a:xfrm>
            <a:off x="973075" y="149350"/>
            <a:ext cx="8171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 Vision</a:t>
            </a:r>
            <a:br>
              <a:rPr lang="en-GB" sz="32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2000" dirty="0">
                <a:solidFill>
                  <a:schemeClr val="tx1"/>
                </a:solidFill>
                <a:latin typeface="Consolas"/>
                <a:ea typeface="Consolas"/>
                <a:cs typeface="Consolas"/>
                <a:sym typeface="Consolas"/>
              </a:rPr>
              <a:t>Flexible and Demand-Aware Topologies</a:t>
            </a:r>
          </a:p>
        </p:txBody>
      </p:sp>
      <p:pic>
        <p:nvPicPr>
          <p:cNvPr id="1379" name="Google Shape;1379;g60be7dcf1c_0_286"/>
          <p:cNvPicPr preferRelativeResize="0"/>
          <p:nvPr/>
        </p:nvPicPr>
        <p:blipFill rotWithShape="1">
          <a:blip r:embed="rId3">
            <a:alphaModFix/>
          </a:blip>
          <a:srcRect t="55376" b="19271"/>
          <a:stretch/>
        </p:blipFill>
        <p:spPr>
          <a:xfrm>
            <a:off x="731800" y="4828100"/>
            <a:ext cx="7134774" cy="1356377"/>
          </a:xfrm>
          <a:prstGeom prst="rect">
            <a:avLst/>
          </a:prstGeom>
          <a:noFill/>
          <a:ln>
            <a:noFill/>
          </a:ln>
        </p:spPr>
      </p:pic>
      <p:sp>
        <p:nvSpPr>
          <p:cNvPr id="1380" name="Google Shape;1380;g60be7dcf1c_0_286"/>
          <p:cNvSpPr txBox="1"/>
          <p:nvPr/>
        </p:nvSpPr>
        <p:spPr>
          <a:xfrm>
            <a:off x="1080000" y="6138800"/>
            <a:ext cx="5892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81" name="Google Shape;1381;g60be7dcf1c_0_286"/>
          <p:cNvSpPr txBox="1"/>
          <p:nvPr/>
        </p:nvSpPr>
        <p:spPr>
          <a:xfrm>
            <a:off x="1924175" y="6138800"/>
            <a:ext cx="5892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82" name="Google Shape;1382;g60be7dcf1c_0_286"/>
          <p:cNvSpPr txBox="1"/>
          <p:nvPr/>
        </p:nvSpPr>
        <p:spPr>
          <a:xfrm>
            <a:off x="2768350" y="6138800"/>
            <a:ext cx="5892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83" name="Google Shape;1383;g60be7dcf1c_0_286"/>
          <p:cNvSpPr txBox="1"/>
          <p:nvPr/>
        </p:nvSpPr>
        <p:spPr>
          <a:xfrm>
            <a:off x="3585325" y="6138800"/>
            <a:ext cx="6279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84" name="Google Shape;1384;g60be7dcf1c_0_286"/>
          <p:cNvSpPr txBox="1"/>
          <p:nvPr/>
        </p:nvSpPr>
        <p:spPr>
          <a:xfrm>
            <a:off x="4441000" y="6138800"/>
            <a:ext cx="5892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85" name="Google Shape;1385;g60be7dcf1c_0_286"/>
          <p:cNvSpPr txBox="1"/>
          <p:nvPr/>
        </p:nvSpPr>
        <p:spPr>
          <a:xfrm>
            <a:off x="5257975" y="6138800"/>
            <a:ext cx="5892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6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86" name="Google Shape;1386;g60be7dcf1c_0_286"/>
          <p:cNvSpPr txBox="1"/>
          <p:nvPr/>
        </p:nvSpPr>
        <p:spPr>
          <a:xfrm>
            <a:off x="6113650" y="6138800"/>
            <a:ext cx="5505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7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87" name="Google Shape;1387;g60be7dcf1c_0_286"/>
          <p:cNvSpPr txBox="1"/>
          <p:nvPr/>
        </p:nvSpPr>
        <p:spPr>
          <a:xfrm>
            <a:off x="6930625" y="6116275"/>
            <a:ext cx="5892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388" name="Google Shape;1388;g60be7dcf1c_0_286"/>
          <p:cNvPicPr preferRelativeResize="0"/>
          <p:nvPr/>
        </p:nvPicPr>
        <p:blipFill rotWithShape="1">
          <a:blip r:embed="rId3">
            <a:alphaModFix/>
          </a:blip>
          <a:srcRect t="37881" b="44516"/>
          <a:stretch/>
        </p:blipFill>
        <p:spPr>
          <a:xfrm>
            <a:off x="731800" y="3886300"/>
            <a:ext cx="7134774" cy="941802"/>
          </a:xfrm>
          <a:prstGeom prst="rect">
            <a:avLst/>
          </a:prstGeom>
          <a:noFill/>
          <a:ln>
            <a:noFill/>
          </a:ln>
        </p:spPr>
      </p:pic>
      <p:sp>
        <p:nvSpPr>
          <p:cNvPr id="1393" name="Google Shape;1393;g60be7dcf1c_0_286"/>
          <p:cNvSpPr txBox="1"/>
          <p:nvPr/>
        </p:nvSpPr>
        <p:spPr>
          <a:xfrm>
            <a:off x="1080000" y="2759325"/>
            <a:ext cx="2828100" cy="531374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1394" name="Google Shape;1394;g60be7dcf1c_0_286"/>
          <p:cNvSpPr txBox="1"/>
          <p:nvPr/>
        </p:nvSpPr>
        <p:spPr>
          <a:xfrm>
            <a:off x="1344775" y="2759325"/>
            <a:ext cx="2400000" cy="9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Matches demand</a:t>
            </a:r>
            <a:endParaRPr lang="en-GB" sz="2000" dirty="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395" name="Google Shape;1395;g60be7dcf1c_0_286"/>
          <p:cNvPicPr preferRelativeResize="0"/>
          <p:nvPr/>
        </p:nvPicPr>
        <p:blipFill rotWithShape="1">
          <a:blip r:embed="rId4">
            <a:alphaModFix/>
          </a:blip>
          <a:srcRect l="10990" t="10410" r="15148" b="13986"/>
          <a:stretch/>
        </p:blipFill>
        <p:spPr>
          <a:xfrm>
            <a:off x="6087675" y="2218125"/>
            <a:ext cx="1500726" cy="153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396" name="Google Shape;1396;g60be7dcf1c_0_286"/>
          <p:cNvSpPr txBox="1"/>
          <p:nvPr/>
        </p:nvSpPr>
        <p:spPr>
          <a:xfrm>
            <a:off x="5181775" y="2240025"/>
            <a:ext cx="1181400" cy="6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demand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matrix:</a:t>
            </a:r>
            <a:endParaRPr lang="en-GB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" name="Google Shape;1343;g60be7dcf1c_0_242"/>
          <p:cNvSpPr/>
          <p:nvPr/>
        </p:nvSpPr>
        <p:spPr>
          <a:xfrm flipH="1">
            <a:off x="7623625" y="3714800"/>
            <a:ext cx="930900" cy="614400"/>
          </a:xfrm>
          <a:prstGeom prst="homePlate">
            <a:avLst>
              <a:gd name="adj" fmla="val 50000"/>
            </a:avLst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25" name="Google Shape;1344;g60be7dcf1c_0_242"/>
          <p:cNvSpPr txBox="1"/>
          <p:nvPr/>
        </p:nvSpPr>
        <p:spPr>
          <a:xfrm>
            <a:off x="7853275" y="3751538"/>
            <a:ext cx="820200" cy="6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e.g., 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mirrors</a:t>
            </a:r>
            <a:endParaRPr lang="en-GB" sz="1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" name="Google Shape;1345;g60be7dcf1c_0_242"/>
          <p:cNvSpPr/>
          <p:nvPr/>
        </p:nvSpPr>
        <p:spPr>
          <a:xfrm flipH="1">
            <a:off x="7623775" y="4395650"/>
            <a:ext cx="1328400" cy="614400"/>
          </a:xfrm>
          <a:prstGeom prst="homePlate">
            <a:avLst>
              <a:gd name="adj" fmla="val 50000"/>
            </a:avLst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27" name="Google Shape;1346;g60be7dcf1c_0_242"/>
          <p:cNvSpPr txBox="1"/>
          <p:nvPr/>
        </p:nvSpPr>
        <p:spPr>
          <a:xfrm>
            <a:off x="7853275" y="4432400"/>
            <a:ext cx="1142400" cy="6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new flexible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interconnect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81B2E5A-F628-4581-B03B-362A45427A6F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5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CFF81A8F-1110-4510-9CE5-371590F4C4A7}"/>
              </a:ext>
            </a:extLst>
          </p:cNvPr>
          <p:cNvCxnSpPr>
            <a:cxnSpLocks/>
          </p:cNvCxnSpPr>
          <p:nvPr/>
        </p:nvCxnSpPr>
        <p:spPr>
          <a:xfrm flipV="1">
            <a:off x="2232542" y="4305672"/>
            <a:ext cx="0" cy="479394"/>
          </a:xfrm>
          <a:prstGeom prst="straightConnector1">
            <a:avLst/>
          </a:prstGeom>
          <a:ln>
            <a:solidFill>
              <a:srgbClr val="ED131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273;g60be7dcf1c_0_190">
            <a:extLst>
              <a:ext uri="{FF2B5EF4-FFF2-40B4-BE49-F238E27FC236}">
                <a16:creationId xmlns:a16="http://schemas.microsoft.com/office/drawing/2014/main" id="{2B8D05B4-8782-D507-13C9-4A6A8D5EDD76}"/>
              </a:ext>
            </a:extLst>
          </p:cNvPr>
          <p:cNvSpPr txBox="1"/>
          <p:nvPr/>
        </p:nvSpPr>
        <p:spPr>
          <a:xfrm>
            <a:off x="0" y="540000"/>
            <a:ext cx="8211000" cy="988354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1402" name="Google Shape;1402;g60be7dcf1c_0_311"/>
          <p:cNvSpPr txBox="1">
            <a:spLocks noGrp="1"/>
          </p:cNvSpPr>
          <p:nvPr>
            <p:ph type="title"/>
          </p:nvPr>
        </p:nvSpPr>
        <p:spPr>
          <a:xfrm>
            <a:off x="973075" y="149350"/>
            <a:ext cx="8171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 Vision</a:t>
            </a:r>
            <a:br>
              <a:rPr lang="en-GB" sz="32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2000" dirty="0">
                <a:solidFill>
                  <a:schemeClr val="tx1"/>
                </a:solidFill>
                <a:latin typeface="Consolas"/>
                <a:ea typeface="Consolas"/>
                <a:cs typeface="Consolas"/>
                <a:sym typeface="Consolas"/>
              </a:rPr>
              <a:t>Flexible and Demand-Aware Topologies</a:t>
            </a:r>
          </a:p>
        </p:txBody>
      </p:sp>
      <p:pic>
        <p:nvPicPr>
          <p:cNvPr id="1405" name="Google Shape;1405;g60be7dcf1c_0_311"/>
          <p:cNvPicPr preferRelativeResize="0"/>
          <p:nvPr/>
        </p:nvPicPr>
        <p:blipFill rotWithShape="1">
          <a:blip r:embed="rId3">
            <a:alphaModFix/>
          </a:blip>
          <a:srcRect t="55376" b="19271"/>
          <a:stretch/>
        </p:blipFill>
        <p:spPr>
          <a:xfrm>
            <a:off x="731800" y="4828100"/>
            <a:ext cx="7134774" cy="1356377"/>
          </a:xfrm>
          <a:prstGeom prst="rect">
            <a:avLst/>
          </a:prstGeom>
          <a:noFill/>
          <a:ln>
            <a:noFill/>
          </a:ln>
        </p:spPr>
      </p:pic>
      <p:sp>
        <p:nvSpPr>
          <p:cNvPr id="1406" name="Google Shape;1406;g60be7dcf1c_0_311"/>
          <p:cNvSpPr txBox="1"/>
          <p:nvPr/>
        </p:nvSpPr>
        <p:spPr>
          <a:xfrm>
            <a:off x="1080000" y="6138800"/>
            <a:ext cx="5892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07" name="Google Shape;1407;g60be7dcf1c_0_311"/>
          <p:cNvSpPr txBox="1"/>
          <p:nvPr/>
        </p:nvSpPr>
        <p:spPr>
          <a:xfrm>
            <a:off x="1924175" y="6138800"/>
            <a:ext cx="5892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08" name="Google Shape;1408;g60be7dcf1c_0_311"/>
          <p:cNvSpPr txBox="1"/>
          <p:nvPr/>
        </p:nvSpPr>
        <p:spPr>
          <a:xfrm>
            <a:off x="2768350" y="6138800"/>
            <a:ext cx="5892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09" name="Google Shape;1409;g60be7dcf1c_0_311"/>
          <p:cNvSpPr txBox="1"/>
          <p:nvPr/>
        </p:nvSpPr>
        <p:spPr>
          <a:xfrm>
            <a:off x="3585325" y="6138800"/>
            <a:ext cx="6279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10" name="Google Shape;1410;g60be7dcf1c_0_311"/>
          <p:cNvSpPr txBox="1"/>
          <p:nvPr/>
        </p:nvSpPr>
        <p:spPr>
          <a:xfrm>
            <a:off x="4441000" y="6138800"/>
            <a:ext cx="5892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11" name="Google Shape;1411;g60be7dcf1c_0_311"/>
          <p:cNvSpPr txBox="1"/>
          <p:nvPr/>
        </p:nvSpPr>
        <p:spPr>
          <a:xfrm>
            <a:off x="5257975" y="6138800"/>
            <a:ext cx="5892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6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12" name="Google Shape;1412;g60be7dcf1c_0_311"/>
          <p:cNvSpPr txBox="1"/>
          <p:nvPr/>
        </p:nvSpPr>
        <p:spPr>
          <a:xfrm>
            <a:off x="6113650" y="6138800"/>
            <a:ext cx="5505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7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13" name="Google Shape;1413;g60be7dcf1c_0_311"/>
          <p:cNvSpPr txBox="1"/>
          <p:nvPr/>
        </p:nvSpPr>
        <p:spPr>
          <a:xfrm>
            <a:off x="6930625" y="6116275"/>
            <a:ext cx="5892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414" name="Google Shape;1414;g60be7dcf1c_0_311"/>
          <p:cNvPicPr preferRelativeResize="0"/>
          <p:nvPr/>
        </p:nvPicPr>
        <p:blipFill rotWithShape="1">
          <a:blip r:embed="rId3">
            <a:alphaModFix/>
          </a:blip>
          <a:srcRect t="37880" b="54789"/>
          <a:stretch/>
        </p:blipFill>
        <p:spPr>
          <a:xfrm>
            <a:off x="731800" y="3886300"/>
            <a:ext cx="7134774" cy="392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9" name="Google Shape;1419;g60be7dcf1c_0_311"/>
          <p:cNvPicPr preferRelativeResize="0"/>
          <p:nvPr/>
        </p:nvPicPr>
        <p:blipFill rotWithShape="1">
          <a:blip r:embed="rId4">
            <a:alphaModFix/>
          </a:blip>
          <a:srcRect l="10785" t="9640" r="15641" b="16257"/>
          <a:stretch/>
        </p:blipFill>
        <p:spPr>
          <a:xfrm>
            <a:off x="6087675" y="2213375"/>
            <a:ext cx="1490648" cy="1501425"/>
          </a:xfrm>
          <a:prstGeom prst="rect">
            <a:avLst/>
          </a:prstGeom>
          <a:noFill/>
          <a:ln>
            <a:noFill/>
          </a:ln>
        </p:spPr>
      </p:pic>
      <p:sp>
        <p:nvSpPr>
          <p:cNvPr id="1420" name="Google Shape;1420;g60be7dcf1c_0_311"/>
          <p:cNvSpPr txBox="1"/>
          <p:nvPr/>
        </p:nvSpPr>
        <p:spPr>
          <a:xfrm>
            <a:off x="5181775" y="2240025"/>
            <a:ext cx="1181400" cy="6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new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demand:</a:t>
            </a:r>
            <a:endParaRPr lang="en-GB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" name="Google Shape;1343;g60be7dcf1c_0_242"/>
          <p:cNvSpPr/>
          <p:nvPr/>
        </p:nvSpPr>
        <p:spPr>
          <a:xfrm flipH="1">
            <a:off x="7623625" y="3714800"/>
            <a:ext cx="930900" cy="614400"/>
          </a:xfrm>
          <a:prstGeom prst="homePlate">
            <a:avLst>
              <a:gd name="adj" fmla="val 50000"/>
            </a:avLst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23" name="Google Shape;1344;g60be7dcf1c_0_242"/>
          <p:cNvSpPr txBox="1"/>
          <p:nvPr/>
        </p:nvSpPr>
        <p:spPr>
          <a:xfrm>
            <a:off x="7853275" y="3751538"/>
            <a:ext cx="820200" cy="6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e.g., 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mirrors</a:t>
            </a:r>
            <a:endParaRPr lang="en-GB" sz="1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" name="Google Shape;1345;g60be7dcf1c_0_242"/>
          <p:cNvSpPr/>
          <p:nvPr/>
        </p:nvSpPr>
        <p:spPr>
          <a:xfrm flipH="1">
            <a:off x="7623775" y="4395650"/>
            <a:ext cx="1328400" cy="614400"/>
          </a:xfrm>
          <a:prstGeom prst="homePlate">
            <a:avLst>
              <a:gd name="adj" fmla="val 50000"/>
            </a:avLst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25" name="Google Shape;1346;g60be7dcf1c_0_242"/>
          <p:cNvSpPr txBox="1"/>
          <p:nvPr/>
        </p:nvSpPr>
        <p:spPr>
          <a:xfrm>
            <a:off x="7853275" y="4432400"/>
            <a:ext cx="1142400" cy="6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new flexible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interconnect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20CBAD3-9340-478A-B71C-DFA609A3D014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5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273;g60be7dcf1c_0_190">
            <a:extLst>
              <a:ext uri="{FF2B5EF4-FFF2-40B4-BE49-F238E27FC236}">
                <a16:creationId xmlns:a16="http://schemas.microsoft.com/office/drawing/2014/main" id="{E846DBBD-3ACA-E42F-A936-F02340DCAFBF}"/>
              </a:ext>
            </a:extLst>
          </p:cNvPr>
          <p:cNvSpPr txBox="1"/>
          <p:nvPr/>
        </p:nvSpPr>
        <p:spPr>
          <a:xfrm>
            <a:off x="0" y="540000"/>
            <a:ext cx="8211000" cy="988354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1426" name="Google Shape;1426;g60be7dcf1c_0_334"/>
          <p:cNvSpPr txBox="1">
            <a:spLocks noGrp="1"/>
          </p:cNvSpPr>
          <p:nvPr>
            <p:ph type="title"/>
          </p:nvPr>
        </p:nvSpPr>
        <p:spPr>
          <a:xfrm>
            <a:off x="973075" y="149350"/>
            <a:ext cx="8171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 Vision</a:t>
            </a:r>
            <a:br>
              <a:rPr lang="en-GB" sz="32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2000" dirty="0">
                <a:solidFill>
                  <a:schemeClr val="tx1"/>
                </a:solidFill>
                <a:latin typeface="Consolas"/>
                <a:ea typeface="Consolas"/>
                <a:cs typeface="Consolas"/>
                <a:sym typeface="Consolas"/>
              </a:rPr>
              <a:t>Flexible and Demand-Aware Topologies</a:t>
            </a:r>
          </a:p>
        </p:txBody>
      </p:sp>
      <p:pic>
        <p:nvPicPr>
          <p:cNvPr id="1429" name="Google Shape;1429;g60be7dcf1c_0_334"/>
          <p:cNvPicPr preferRelativeResize="0"/>
          <p:nvPr/>
        </p:nvPicPr>
        <p:blipFill rotWithShape="1">
          <a:blip r:embed="rId3">
            <a:alphaModFix/>
          </a:blip>
          <a:srcRect t="55376" b="19271"/>
          <a:stretch/>
        </p:blipFill>
        <p:spPr>
          <a:xfrm>
            <a:off x="731800" y="4828100"/>
            <a:ext cx="7134774" cy="1356377"/>
          </a:xfrm>
          <a:prstGeom prst="rect">
            <a:avLst/>
          </a:prstGeom>
          <a:noFill/>
          <a:ln>
            <a:noFill/>
          </a:ln>
        </p:spPr>
      </p:pic>
      <p:sp>
        <p:nvSpPr>
          <p:cNvPr id="1430" name="Google Shape;1430;g60be7dcf1c_0_334"/>
          <p:cNvSpPr txBox="1"/>
          <p:nvPr/>
        </p:nvSpPr>
        <p:spPr>
          <a:xfrm>
            <a:off x="1080000" y="6138800"/>
            <a:ext cx="5892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31" name="Google Shape;1431;g60be7dcf1c_0_334"/>
          <p:cNvSpPr txBox="1"/>
          <p:nvPr/>
        </p:nvSpPr>
        <p:spPr>
          <a:xfrm>
            <a:off x="1924175" y="6138800"/>
            <a:ext cx="5892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32" name="Google Shape;1432;g60be7dcf1c_0_334"/>
          <p:cNvSpPr txBox="1"/>
          <p:nvPr/>
        </p:nvSpPr>
        <p:spPr>
          <a:xfrm>
            <a:off x="2768350" y="6138800"/>
            <a:ext cx="5892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33" name="Google Shape;1433;g60be7dcf1c_0_334"/>
          <p:cNvSpPr txBox="1"/>
          <p:nvPr/>
        </p:nvSpPr>
        <p:spPr>
          <a:xfrm>
            <a:off x="3585325" y="6138800"/>
            <a:ext cx="6279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34" name="Google Shape;1434;g60be7dcf1c_0_334"/>
          <p:cNvSpPr txBox="1"/>
          <p:nvPr/>
        </p:nvSpPr>
        <p:spPr>
          <a:xfrm>
            <a:off x="4441000" y="6138800"/>
            <a:ext cx="5892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35" name="Google Shape;1435;g60be7dcf1c_0_334"/>
          <p:cNvSpPr txBox="1"/>
          <p:nvPr/>
        </p:nvSpPr>
        <p:spPr>
          <a:xfrm>
            <a:off x="5257975" y="6138800"/>
            <a:ext cx="5892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6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36" name="Google Shape;1436;g60be7dcf1c_0_334"/>
          <p:cNvSpPr txBox="1"/>
          <p:nvPr/>
        </p:nvSpPr>
        <p:spPr>
          <a:xfrm>
            <a:off x="6113650" y="6138800"/>
            <a:ext cx="5505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7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37" name="Google Shape;1437;g60be7dcf1c_0_334"/>
          <p:cNvSpPr txBox="1"/>
          <p:nvPr/>
        </p:nvSpPr>
        <p:spPr>
          <a:xfrm>
            <a:off x="6930625" y="6116275"/>
            <a:ext cx="5892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438" name="Google Shape;1438;g60be7dcf1c_0_334"/>
          <p:cNvPicPr preferRelativeResize="0"/>
          <p:nvPr/>
        </p:nvPicPr>
        <p:blipFill rotWithShape="1">
          <a:blip r:embed="rId3">
            <a:alphaModFix/>
          </a:blip>
          <a:srcRect t="37880" b="54789"/>
          <a:stretch/>
        </p:blipFill>
        <p:spPr>
          <a:xfrm>
            <a:off x="731800" y="3886300"/>
            <a:ext cx="7134774" cy="392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3" name="Google Shape;1443;g60be7dcf1c_0_334"/>
          <p:cNvPicPr preferRelativeResize="0"/>
          <p:nvPr/>
        </p:nvPicPr>
        <p:blipFill rotWithShape="1">
          <a:blip r:embed="rId4">
            <a:alphaModFix/>
          </a:blip>
          <a:srcRect l="4698" t="45379" r="5984" b="44921"/>
          <a:stretch/>
        </p:blipFill>
        <p:spPr>
          <a:xfrm>
            <a:off x="1033625" y="4278500"/>
            <a:ext cx="6450802" cy="525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4" name="Google Shape;1444;g60be7dcf1c_0_334"/>
          <p:cNvPicPr preferRelativeResize="0"/>
          <p:nvPr/>
        </p:nvPicPr>
        <p:blipFill rotWithShape="1">
          <a:blip r:embed="rId5">
            <a:alphaModFix/>
          </a:blip>
          <a:srcRect l="12059" t="9875" r="14942" b="16257"/>
          <a:stretch/>
        </p:blipFill>
        <p:spPr>
          <a:xfrm>
            <a:off x="6113650" y="2218125"/>
            <a:ext cx="1478977" cy="1496677"/>
          </a:xfrm>
          <a:prstGeom prst="rect">
            <a:avLst/>
          </a:prstGeom>
          <a:noFill/>
          <a:ln>
            <a:noFill/>
          </a:ln>
        </p:spPr>
      </p:pic>
      <p:sp>
        <p:nvSpPr>
          <p:cNvPr id="1447" name="Google Shape;1447;g60be7dcf1c_0_334"/>
          <p:cNvSpPr txBox="1"/>
          <p:nvPr/>
        </p:nvSpPr>
        <p:spPr>
          <a:xfrm>
            <a:off x="5181775" y="2240025"/>
            <a:ext cx="1181400" cy="6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new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demand:</a:t>
            </a:r>
            <a:endParaRPr lang="en-GB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" name="Google Shape;1393;g60be7dcf1c_0_286"/>
          <p:cNvSpPr txBox="1"/>
          <p:nvPr/>
        </p:nvSpPr>
        <p:spPr>
          <a:xfrm>
            <a:off x="1080000" y="2759325"/>
            <a:ext cx="2828100" cy="531374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26" name="Google Shape;1394;g60be7dcf1c_0_286"/>
          <p:cNvSpPr txBox="1"/>
          <p:nvPr/>
        </p:nvSpPr>
        <p:spPr>
          <a:xfrm>
            <a:off x="1344775" y="2759325"/>
            <a:ext cx="2400000" cy="9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Matches demand</a:t>
            </a:r>
            <a:endParaRPr lang="en-GB" sz="2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" name="Google Shape;1343;g60be7dcf1c_0_242"/>
          <p:cNvSpPr/>
          <p:nvPr/>
        </p:nvSpPr>
        <p:spPr>
          <a:xfrm flipH="1">
            <a:off x="7623625" y="3714800"/>
            <a:ext cx="930900" cy="614400"/>
          </a:xfrm>
          <a:prstGeom prst="homePlate">
            <a:avLst>
              <a:gd name="adj" fmla="val 50000"/>
            </a:avLst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28" name="Google Shape;1344;g60be7dcf1c_0_242"/>
          <p:cNvSpPr txBox="1"/>
          <p:nvPr/>
        </p:nvSpPr>
        <p:spPr>
          <a:xfrm>
            <a:off x="7853275" y="3751538"/>
            <a:ext cx="820200" cy="6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e.g., 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mirrors</a:t>
            </a:r>
            <a:endParaRPr lang="en-GB" sz="1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" name="Google Shape;1345;g60be7dcf1c_0_242"/>
          <p:cNvSpPr/>
          <p:nvPr/>
        </p:nvSpPr>
        <p:spPr>
          <a:xfrm flipH="1">
            <a:off x="7623775" y="4395650"/>
            <a:ext cx="1328400" cy="614400"/>
          </a:xfrm>
          <a:prstGeom prst="homePlate">
            <a:avLst>
              <a:gd name="adj" fmla="val 50000"/>
            </a:avLst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30" name="Google Shape;1346;g60be7dcf1c_0_242"/>
          <p:cNvSpPr txBox="1"/>
          <p:nvPr/>
        </p:nvSpPr>
        <p:spPr>
          <a:xfrm>
            <a:off x="7853275" y="4432400"/>
            <a:ext cx="1142400" cy="6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new flexible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interconnect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0BFAED8-56EE-430B-9E1D-BA08E7B54B00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5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1">
          <a:extLst>
            <a:ext uri="{FF2B5EF4-FFF2-40B4-BE49-F238E27FC236}">
              <a16:creationId xmlns:a16="http://schemas.microsoft.com/office/drawing/2014/main" id="{73CD627A-89D1-9D94-475E-FC2E31E54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273;g60be7dcf1c_0_190">
            <a:extLst>
              <a:ext uri="{FF2B5EF4-FFF2-40B4-BE49-F238E27FC236}">
                <a16:creationId xmlns:a16="http://schemas.microsoft.com/office/drawing/2014/main" id="{33088B6E-9C53-68E4-A6C6-05E3869C0587}"/>
              </a:ext>
            </a:extLst>
          </p:cNvPr>
          <p:cNvSpPr txBox="1"/>
          <p:nvPr/>
        </p:nvSpPr>
        <p:spPr>
          <a:xfrm>
            <a:off x="0" y="540000"/>
            <a:ext cx="8211000" cy="988354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1453" name="Google Shape;1453;g60be7dcf1c_0_360">
            <a:extLst>
              <a:ext uri="{FF2B5EF4-FFF2-40B4-BE49-F238E27FC236}">
                <a16:creationId xmlns:a16="http://schemas.microsoft.com/office/drawing/2014/main" id="{4ACDFCB8-3217-5FDA-855F-C1C1C76C791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3075" y="149350"/>
            <a:ext cx="8171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 Vision</a:t>
            </a:r>
            <a:br>
              <a:rPr lang="en-GB" sz="32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2000" dirty="0">
                <a:solidFill>
                  <a:schemeClr val="tx1"/>
                </a:solidFill>
                <a:latin typeface="Consolas"/>
                <a:ea typeface="Consolas"/>
                <a:cs typeface="Consolas"/>
                <a:sym typeface="Consolas"/>
              </a:rPr>
              <a:t>Flexible and Demand-Aware Topologies</a:t>
            </a:r>
          </a:p>
        </p:txBody>
      </p:sp>
      <p:pic>
        <p:nvPicPr>
          <p:cNvPr id="1456" name="Google Shape;1456;g60be7dcf1c_0_360">
            <a:extLst>
              <a:ext uri="{FF2B5EF4-FFF2-40B4-BE49-F238E27FC236}">
                <a16:creationId xmlns:a16="http://schemas.microsoft.com/office/drawing/2014/main" id="{736935F2-9155-7768-C781-E45149B06FC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55376" b="19271"/>
          <a:stretch/>
        </p:blipFill>
        <p:spPr>
          <a:xfrm>
            <a:off x="731800" y="4828100"/>
            <a:ext cx="7134774" cy="1356377"/>
          </a:xfrm>
          <a:prstGeom prst="rect">
            <a:avLst/>
          </a:prstGeom>
          <a:noFill/>
          <a:ln>
            <a:noFill/>
          </a:ln>
        </p:spPr>
      </p:pic>
      <p:sp>
        <p:nvSpPr>
          <p:cNvPr id="1457" name="Google Shape;1457;g60be7dcf1c_0_360">
            <a:extLst>
              <a:ext uri="{FF2B5EF4-FFF2-40B4-BE49-F238E27FC236}">
                <a16:creationId xmlns:a16="http://schemas.microsoft.com/office/drawing/2014/main" id="{8112A909-106D-5195-7DE4-7719A0D775BA}"/>
              </a:ext>
            </a:extLst>
          </p:cNvPr>
          <p:cNvSpPr txBox="1"/>
          <p:nvPr/>
        </p:nvSpPr>
        <p:spPr>
          <a:xfrm>
            <a:off x="1080000" y="6138800"/>
            <a:ext cx="5892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58" name="Google Shape;1458;g60be7dcf1c_0_360">
            <a:extLst>
              <a:ext uri="{FF2B5EF4-FFF2-40B4-BE49-F238E27FC236}">
                <a16:creationId xmlns:a16="http://schemas.microsoft.com/office/drawing/2014/main" id="{FEF83050-B2A2-D4A8-487C-CC63A06DDB29}"/>
              </a:ext>
            </a:extLst>
          </p:cNvPr>
          <p:cNvSpPr txBox="1"/>
          <p:nvPr/>
        </p:nvSpPr>
        <p:spPr>
          <a:xfrm>
            <a:off x="1924175" y="6138800"/>
            <a:ext cx="5892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59" name="Google Shape;1459;g60be7dcf1c_0_360">
            <a:extLst>
              <a:ext uri="{FF2B5EF4-FFF2-40B4-BE49-F238E27FC236}">
                <a16:creationId xmlns:a16="http://schemas.microsoft.com/office/drawing/2014/main" id="{CAAB525F-AB9D-2EF7-28A9-C2608A69D38B}"/>
              </a:ext>
            </a:extLst>
          </p:cNvPr>
          <p:cNvSpPr txBox="1"/>
          <p:nvPr/>
        </p:nvSpPr>
        <p:spPr>
          <a:xfrm>
            <a:off x="2768350" y="6138800"/>
            <a:ext cx="5892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60" name="Google Shape;1460;g60be7dcf1c_0_360">
            <a:extLst>
              <a:ext uri="{FF2B5EF4-FFF2-40B4-BE49-F238E27FC236}">
                <a16:creationId xmlns:a16="http://schemas.microsoft.com/office/drawing/2014/main" id="{777BACF7-9FEA-19D4-2ABD-235006CF9CE8}"/>
              </a:ext>
            </a:extLst>
          </p:cNvPr>
          <p:cNvSpPr txBox="1"/>
          <p:nvPr/>
        </p:nvSpPr>
        <p:spPr>
          <a:xfrm>
            <a:off x="3585325" y="6138800"/>
            <a:ext cx="6279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61" name="Google Shape;1461;g60be7dcf1c_0_360">
            <a:extLst>
              <a:ext uri="{FF2B5EF4-FFF2-40B4-BE49-F238E27FC236}">
                <a16:creationId xmlns:a16="http://schemas.microsoft.com/office/drawing/2014/main" id="{156A7F0B-1A6D-C842-C303-11522524BD95}"/>
              </a:ext>
            </a:extLst>
          </p:cNvPr>
          <p:cNvSpPr txBox="1"/>
          <p:nvPr/>
        </p:nvSpPr>
        <p:spPr>
          <a:xfrm>
            <a:off x="4441000" y="6138800"/>
            <a:ext cx="5892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62" name="Google Shape;1462;g60be7dcf1c_0_360">
            <a:extLst>
              <a:ext uri="{FF2B5EF4-FFF2-40B4-BE49-F238E27FC236}">
                <a16:creationId xmlns:a16="http://schemas.microsoft.com/office/drawing/2014/main" id="{36CBE0F2-1E1C-C8C6-7782-C9B4FC196E66}"/>
              </a:ext>
            </a:extLst>
          </p:cNvPr>
          <p:cNvSpPr txBox="1"/>
          <p:nvPr/>
        </p:nvSpPr>
        <p:spPr>
          <a:xfrm>
            <a:off x="5257975" y="6138800"/>
            <a:ext cx="5892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6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63" name="Google Shape;1463;g60be7dcf1c_0_360">
            <a:extLst>
              <a:ext uri="{FF2B5EF4-FFF2-40B4-BE49-F238E27FC236}">
                <a16:creationId xmlns:a16="http://schemas.microsoft.com/office/drawing/2014/main" id="{FFF34B68-24E3-33EA-8AA4-939714EAC0DB}"/>
              </a:ext>
            </a:extLst>
          </p:cNvPr>
          <p:cNvSpPr txBox="1"/>
          <p:nvPr/>
        </p:nvSpPr>
        <p:spPr>
          <a:xfrm>
            <a:off x="6113650" y="6138800"/>
            <a:ext cx="5505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7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64" name="Google Shape;1464;g60be7dcf1c_0_360">
            <a:extLst>
              <a:ext uri="{FF2B5EF4-FFF2-40B4-BE49-F238E27FC236}">
                <a16:creationId xmlns:a16="http://schemas.microsoft.com/office/drawing/2014/main" id="{334F37EA-CD4A-CA9A-A566-9177296B3D95}"/>
              </a:ext>
            </a:extLst>
          </p:cNvPr>
          <p:cNvSpPr txBox="1"/>
          <p:nvPr/>
        </p:nvSpPr>
        <p:spPr>
          <a:xfrm>
            <a:off x="6930625" y="6116275"/>
            <a:ext cx="5892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465" name="Google Shape;1465;g60be7dcf1c_0_360">
            <a:extLst>
              <a:ext uri="{FF2B5EF4-FFF2-40B4-BE49-F238E27FC236}">
                <a16:creationId xmlns:a16="http://schemas.microsoft.com/office/drawing/2014/main" id="{8DF9A995-ADE0-A361-0EB3-2FEBC8CA6DB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37880" b="54789"/>
          <a:stretch/>
        </p:blipFill>
        <p:spPr>
          <a:xfrm>
            <a:off x="731800" y="3886300"/>
            <a:ext cx="7134774" cy="392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0" name="Google Shape;1470;g60be7dcf1c_0_360">
            <a:extLst>
              <a:ext uri="{FF2B5EF4-FFF2-40B4-BE49-F238E27FC236}">
                <a16:creationId xmlns:a16="http://schemas.microsoft.com/office/drawing/2014/main" id="{60B19EFD-3528-13F3-F161-951ABA555BC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4698" t="45379" r="5984" b="44921"/>
          <a:stretch/>
        </p:blipFill>
        <p:spPr>
          <a:xfrm>
            <a:off x="1033625" y="4278500"/>
            <a:ext cx="6450802" cy="525351"/>
          </a:xfrm>
          <a:prstGeom prst="rect">
            <a:avLst/>
          </a:prstGeom>
          <a:noFill/>
          <a:ln>
            <a:noFill/>
          </a:ln>
        </p:spPr>
      </p:pic>
      <p:sp>
        <p:nvSpPr>
          <p:cNvPr id="1471" name="Google Shape;1471;g60be7dcf1c_0_360">
            <a:extLst>
              <a:ext uri="{FF2B5EF4-FFF2-40B4-BE49-F238E27FC236}">
                <a16:creationId xmlns:a16="http://schemas.microsoft.com/office/drawing/2014/main" id="{78C2CD16-E785-2ED7-6AD5-40DEBEF18987}"/>
              </a:ext>
            </a:extLst>
          </p:cNvPr>
          <p:cNvSpPr txBox="1"/>
          <p:nvPr/>
        </p:nvSpPr>
        <p:spPr>
          <a:xfrm>
            <a:off x="2735275" y="2395275"/>
            <a:ext cx="2429100" cy="12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latin typeface="Consolas"/>
                <a:ea typeface="Consolas"/>
                <a:cs typeface="Consolas"/>
                <a:sym typeface="Consolas"/>
              </a:rPr>
              <a:t>Self-Adjusting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latin typeface="Consolas"/>
                <a:ea typeface="Consolas"/>
                <a:cs typeface="Consolas"/>
                <a:sym typeface="Consolas"/>
              </a:rPr>
              <a:t>Networks</a:t>
            </a:r>
          </a:p>
        </p:txBody>
      </p:sp>
      <p:pic>
        <p:nvPicPr>
          <p:cNvPr id="1472" name="Google Shape;1472;g60be7dcf1c_0_360">
            <a:extLst>
              <a:ext uri="{FF2B5EF4-FFF2-40B4-BE49-F238E27FC236}">
                <a16:creationId xmlns:a16="http://schemas.microsoft.com/office/drawing/2014/main" id="{FD238C7E-D656-F499-2B7B-2078F36EF1B6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43725" y="2240025"/>
            <a:ext cx="1647401" cy="1585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3" name="Google Shape;1473;g60be7dcf1c_0_360">
            <a:extLst>
              <a:ext uri="{FF2B5EF4-FFF2-40B4-BE49-F238E27FC236}">
                <a16:creationId xmlns:a16="http://schemas.microsoft.com/office/drawing/2014/main" id="{2CFCDBB7-B7DE-AE72-59BB-CE8643BCE7C9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l="11018" t="10959" r="13406" b="14435"/>
          <a:stretch/>
        </p:blipFill>
        <p:spPr>
          <a:xfrm>
            <a:off x="6092425" y="2240025"/>
            <a:ext cx="1531349" cy="1511523"/>
          </a:xfrm>
          <a:prstGeom prst="rect">
            <a:avLst/>
          </a:prstGeom>
          <a:noFill/>
          <a:ln>
            <a:noFill/>
          </a:ln>
        </p:spPr>
      </p:pic>
      <p:sp>
        <p:nvSpPr>
          <p:cNvPr id="1474" name="Google Shape;1474;g60be7dcf1c_0_360">
            <a:extLst>
              <a:ext uri="{FF2B5EF4-FFF2-40B4-BE49-F238E27FC236}">
                <a16:creationId xmlns:a16="http://schemas.microsoft.com/office/drawing/2014/main" id="{C902B83A-0AA1-042D-75AF-8C6BAF9BCA63}"/>
              </a:ext>
            </a:extLst>
          </p:cNvPr>
          <p:cNvSpPr txBox="1"/>
          <p:nvPr/>
        </p:nvSpPr>
        <p:spPr>
          <a:xfrm>
            <a:off x="5181775" y="2240025"/>
            <a:ext cx="1181400" cy="6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new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demand:</a:t>
            </a:r>
            <a:endParaRPr lang="en-GB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" name="Google Shape;1343;g60be7dcf1c_0_242">
            <a:extLst>
              <a:ext uri="{FF2B5EF4-FFF2-40B4-BE49-F238E27FC236}">
                <a16:creationId xmlns:a16="http://schemas.microsoft.com/office/drawing/2014/main" id="{1C27B863-D7B1-91D9-9A88-3E815949717D}"/>
              </a:ext>
            </a:extLst>
          </p:cNvPr>
          <p:cNvSpPr/>
          <p:nvPr/>
        </p:nvSpPr>
        <p:spPr>
          <a:xfrm flipH="1">
            <a:off x="7623625" y="3714800"/>
            <a:ext cx="930900" cy="614400"/>
          </a:xfrm>
          <a:prstGeom prst="homePlate">
            <a:avLst>
              <a:gd name="adj" fmla="val 50000"/>
            </a:avLst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26" name="Google Shape;1344;g60be7dcf1c_0_242">
            <a:extLst>
              <a:ext uri="{FF2B5EF4-FFF2-40B4-BE49-F238E27FC236}">
                <a16:creationId xmlns:a16="http://schemas.microsoft.com/office/drawing/2014/main" id="{D2365618-E7A7-F480-F308-901F6ED67554}"/>
              </a:ext>
            </a:extLst>
          </p:cNvPr>
          <p:cNvSpPr txBox="1"/>
          <p:nvPr/>
        </p:nvSpPr>
        <p:spPr>
          <a:xfrm>
            <a:off x="7853275" y="3751538"/>
            <a:ext cx="820200" cy="6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e.g., 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mirrors</a:t>
            </a:r>
            <a:endParaRPr lang="en-GB" sz="1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" name="Google Shape;1345;g60be7dcf1c_0_242">
            <a:extLst>
              <a:ext uri="{FF2B5EF4-FFF2-40B4-BE49-F238E27FC236}">
                <a16:creationId xmlns:a16="http://schemas.microsoft.com/office/drawing/2014/main" id="{408D896D-4333-2624-1E37-F644799E8B76}"/>
              </a:ext>
            </a:extLst>
          </p:cNvPr>
          <p:cNvSpPr/>
          <p:nvPr/>
        </p:nvSpPr>
        <p:spPr>
          <a:xfrm flipH="1">
            <a:off x="7623775" y="4395650"/>
            <a:ext cx="1328400" cy="614400"/>
          </a:xfrm>
          <a:prstGeom prst="homePlate">
            <a:avLst>
              <a:gd name="adj" fmla="val 50000"/>
            </a:avLst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28" name="Google Shape;1346;g60be7dcf1c_0_242">
            <a:extLst>
              <a:ext uri="{FF2B5EF4-FFF2-40B4-BE49-F238E27FC236}">
                <a16:creationId xmlns:a16="http://schemas.microsoft.com/office/drawing/2014/main" id="{C559B024-5939-886C-20A8-4D7E6AC55E27}"/>
              </a:ext>
            </a:extLst>
          </p:cNvPr>
          <p:cNvSpPr txBox="1"/>
          <p:nvPr/>
        </p:nvSpPr>
        <p:spPr>
          <a:xfrm>
            <a:off x="7853275" y="4432400"/>
            <a:ext cx="1142400" cy="6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new flexible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interconnect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954FDE5-812C-BF14-288C-10510B324979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5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8515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1580;g60be7dcf1c_0_473"/>
          <p:cNvSpPr txBox="1"/>
          <p:nvPr/>
        </p:nvSpPr>
        <p:spPr>
          <a:xfrm>
            <a:off x="0" y="540000"/>
            <a:ext cx="8211000" cy="419005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24" name="Google Shape;1581;g60be7dcf1c_0_473"/>
          <p:cNvSpPr txBox="1">
            <a:spLocks noGrp="1"/>
          </p:cNvSpPr>
          <p:nvPr>
            <p:ph type="title"/>
          </p:nvPr>
        </p:nvSpPr>
        <p:spPr>
          <a:xfrm>
            <a:off x="973075" y="149350"/>
            <a:ext cx="8171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Analogy</a:t>
            </a:r>
            <a:endParaRPr lang="en-GB" sz="2000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" name="Google Shape;1534;g60be7dcf1c_0_434"/>
          <p:cNvSpPr txBox="1"/>
          <p:nvPr/>
        </p:nvSpPr>
        <p:spPr>
          <a:xfrm>
            <a:off x="5283391" y="5318370"/>
            <a:ext cx="1882044" cy="348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US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Golden Gate Zipper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27170F7-CF4C-4327-8146-D9E88C3A9B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1683000"/>
            <a:ext cx="5331546" cy="3244720"/>
          </a:xfrm>
          <a:prstGeom prst="rect">
            <a:avLst/>
          </a:prstGeom>
        </p:spPr>
      </p:pic>
      <p:sp>
        <p:nvSpPr>
          <p:cNvPr id="2" name="Rectangle 30">
            <a:extLst>
              <a:ext uri="{FF2B5EF4-FFF2-40B4-BE49-F238E27FC236}">
                <a16:creationId xmlns:a16="http://schemas.microsoft.com/office/drawing/2014/main" id="{24B8D88A-71AF-7410-F8CF-B8E119BE7750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6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80045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0" name="Google Shape;1500;g60be7dcf1c_0_386"/>
          <p:cNvSpPr txBox="1"/>
          <p:nvPr/>
        </p:nvSpPr>
        <p:spPr>
          <a:xfrm>
            <a:off x="5527925" y="5673679"/>
            <a:ext cx="2667300" cy="766945"/>
          </a:xfrm>
          <a:prstGeom prst="rect">
            <a:avLst/>
          </a:prstGeom>
          <a:solidFill>
            <a:srgbClr val="93C47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1501" name="Google Shape;1501;g60be7dcf1c_0_386"/>
          <p:cNvSpPr txBox="1"/>
          <p:nvPr/>
        </p:nvSpPr>
        <p:spPr>
          <a:xfrm>
            <a:off x="5694237" y="5716812"/>
            <a:ext cx="2300100" cy="651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GB" b="1" dirty="0">
                <a:latin typeface="Consolas"/>
                <a:ea typeface="Consolas"/>
                <a:cs typeface="Consolas"/>
                <a:sym typeface="Consolas"/>
              </a:rPr>
              <a:t>The </a:t>
            </a:r>
            <a:r>
              <a:rPr lang="en-GB" b="1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hypothesis</a:t>
            </a:r>
            <a:r>
              <a:rPr lang="en-GB" b="1" dirty="0">
                <a:latin typeface="Consolas"/>
                <a:ea typeface="Consolas"/>
                <a:cs typeface="Consolas"/>
                <a:sym typeface="Consolas"/>
              </a:rPr>
              <a:t>: can be exploited.</a:t>
            </a:r>
          </a:p>
        </p:txBody>
      </p:sp>
      <p:sp>
        <p:nvSpPr>
          <p:cNvPr id="35" name="Google Shape;1483;g60be7dcf1c_0_386"/>
          <p:cNvSpPr txBox="1"/>
          <p:nvPr/>
        </p:nvSpPr>
        <p:spPr>
          <a:xfrm>
            <a:off x="973075" y="2016485"/>
            <a:ext cx="7557300" cy="5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GB" sz="1700" dirty="0">
                <a:latin typeface="Consolas"/>
                <a:ea typeface="Consolas"/>
                <a:cs typeface="Consolas"/>
                <a:sym typeface="Consolas"/>
              </a:rPr>
              <a:t>Empirical studies: </a:t>
            </a:r>
          </a:p>
          <a:p>
            <a:pPr lvl="0">
              <a:lnSpc>
                <a:spcPct val="115000"/>
              </a:lnSpc>
            </a:pPr>
            <a:endParaRPr lang="en-GB" sz="1700" dirty="0"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en-GB" sz="1700" dirty="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36" name="Google Shape;1485;g60be7dcf1c_0_386"/>
          <p:cNvPicPr preferRelativeResize="0"/>
          <p:nvPr/>
        </p:nvPicPr>
        <p:blipFill rotWithShape="1">
          <a:blip r:embed="rId3">
            <a:alphaModFix/>
          </a:blip>
          <a:srcRect l="1933" t="3382" r="2828" b="2135"/>
          <a:stretch/>
        </p:blipFill>
        <p:spPr>
          <a:xfrm>
            <a:off x="1086119" y="3104094"/>
            <a:ext cx="1657457" cy="162799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7" name="Google Shape;1486;g60be7dcf1c_0_386"/>
          <p:cNvSpPr txBox="1"/>
          <p:nvPr/>
        </p:nvSpPr>
        <p:spPr>
          <a:xfrm rot="-5400000">
            <a:off x="149825" y="3795784"/>
            <a:ext cx="1623600" cy="24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sources</a:t>
            </a:r>
            <a:endParaRPr lang="en-GB" sz="8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" name="Google Shape;1487;g60be7dcf1c_0_386"/>
          <p:cNvSpPr txBox="1"/>
          <p:nvPr/>
        </p:nvSpPr>
        <p:spPr>
          <a:xfrm>
            <a:off x="1086050" y="4698426"/>
            <a:ext cx="1657200" cy="2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destinations</a:t>
            </a:r>
            <a:endParaRPr lang="en-GB" sz="8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" name="Google Shape;1488;g60be7dcf1c_0_386"/>
          <p:cNvSpPr txBox="1"/>
          <p:nvPr/>
        </p:nvSpPr>
        <p:spPr>
          <a:xfrm>
            <a:off x="988917" y="2872941"/>
            <a:ext cx="1657200" cy="2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9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Facebook</a:t>
            </a:r>
            <a:endParaRPr lang="en-GB" sz="900" b="1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0" name="Google Shape;1489;g60be7dcf1c_0_386"/>
          <p:cNvPicPr preferRelativeResize="0"/>
          <p:nvPr/>
        </p:nvPicPr>
        <p:blipFill rotWithShape="1">
          <a:blip r:embed="rId4">
            <a:alphaModFix/>
          </a:blip>
          <a:srcRect l="2831" t="2329" r="3085" b="1802"/>
          <a:stretch/>
        </p:blipFill>
        <p:spPr>
          <a:xfrm>
            <a:off x="3132247" y="3108321"/>
            <a:ext cx="1963381" cy="1615218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41" name="Google Shape;1490;g60be7dcf1c_0_386"/>
          <p:cNvSpPr txBox="1"/>
          <p:nvPr/>
        </p:nvSpPr>
        <p:spPr>
          <a:xfrm rot="-5400000">
            <a:off x="2195942" y="3791375"/>
            <a:ext cx="1623600" cy="24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sources</a:t>
            </a:r>
            <a:endParaRPr lang="en-GB" sz="8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2" name="Google Shape;1491;g60be7dcf1c_0_386"/>
          <p:cNvSpPr txBox="1"/>
          <p:nvPr/>
        </p:nvSpPr>
        <p:spPr>
          <a:xfrm>
            <a:off x="3132168" y="4694017"/>
            <a:ext cx="1657200" cy="2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destinations</a:t>
            </a:r>
            <a:endParaRPr lang="en-GB" sz="8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3" name="Google Shape;1492;g60be7dcf1c_0_386"/>
          <p:cNvSpPr txBox="1"/>
          <p:nvPr/>
        </p:nvSpPr>
        <p:spPr>
          <a:xfrm>
            <a:off x="3035034" y="2868532"/>
            <a:ext cx="1657200" cy="2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9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Microsoft</a:t>
            </a:r>
            <a:endParaRPr lang="en-GB" sz="900" b="1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4" name="Google Shape;1493;g60be7dcf1c_0_386"/>
          <p:cNvSpPr txBox="1"/>
          <p:nvPr/>
        </p:nvSpPr>
        <p:spPr>
          <a:xfrm>
            <a:off x="5430938" y="2313507"/>
            <a:ext cx="4547700" cy="5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200" dirty="0">
              <a:latin typeface="Consolas"/>
              <a:ea typeface="Consolas"/>
              <a:cs typeface="Consolas"/>
              <a:sym typeface="Consolas"/>
            </a:endParaRPr>
          </a:p>
          <a:p>
            <a:pPr lvl="0"/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traffic </a:t>
            </a:r>
            <a:r>
              <a:rPr lang="en-GB" dirty="0" err="1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bursty</a:t>
            </a:r>
            <a:r>
              <a:rPr lang="en-GB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over time</a:t>
            </a:r>
            <a:endParaRPr lang="en-GB" dirty="0">
              <a:solidFill>
                <a:srgbClr val="CC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5" name="Oval 44"/>
          <p:cNvSpPr/>
          <p:nvPr/>
        </p:nvSpPr>
        <p:spPr>
          <a:xfrm>
            <a:off x="2987288" y="3530798"/>
            <a:ext cx="2221608" cy="210590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6" name="Oval 45"/>
          <p:cNvSpPr/>
          <p:nvPr/>
        </p:nvSpPr>
        <p:spPr>
          <a:xfrm rot="5400000">
            <a:off x="3504899" y="3831285"/>
            <a:ext cx="1880329" cy="190181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47" name="Picture 4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7237" y="3104075"/>
            <a:ext cx="2996341" cy="180000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5430939" y="4715885"/>
            <a:ext cx="2597326" cy="1881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9" name="Rectangle 48"/>
          <p:cNvSpPr/>
          <p:nvPr/>
        </p:nvSpPr>
        <p:spPr>
          <a:xfrm>
            <a:off x="5203867" y="3104075"/>
            <a:ext cx="306260" cy="159095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0" name="Google Shape;1495;g60be7dcf1c_0_386"/>
          <p:cNvSpPr txBox="1"/>
          <p:nvPr/>
        </p:nvSpPr>
        <p:spPr>
          <a:xfrm rot="-5400000">
            <a:off x="4591846" y="3795784"/>
            <a:ext cx="1623600" cy="24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Mbps</a:t>
            </a:r>
            <a:endParaRPr lang="en-GB" sz="8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1" name="Google Shape;1497;g60be7dcf1c_0_386"/>
          <p:cNvSpPr txBox="1"/>
          <p:nvPr/>
        </p:nvSpPr>
        <p:spPr>
          <a:xfrm>
            <a:off x="5430938" y="2872941"/>
            <a:ext cx="1657200" cy="2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9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Facebook</a:t>
            </a:r>
            <a:endParaRPr lang="en-GB" sz="900" b="1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2" name="Google Shape;1496;g60be7dcf1c_0_386"/>
          <p:cNvSpPr txBox="1"/>
          <p:nvPr/>
        </p:nvSpPr>
        <p:spPr>
          <a:xfrm>
            <a:off x="5528071" y="4698426"/>
            <a:ext cx="2667300" cy="2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Time (seconds)</a:t>
            </a:r>
            <a:endParaRPr lang="en-GB" sz="8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5579755" y="3198463"/>
            <a:ext cx="881146" cy="47685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4" name="Google Shape;1484;g60be7dcf1c_0_386"/>
          <p:cNvSpPr txBox="1"/>
          <p:nvPr/>
        </p:nvSpPr>
        <p:spPr>
          <a:xfrm>
            <a:off x="988916" y="2313507"/>
            <a:ext cx="3551238" cy="5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GB" sz="1200" dirty="0"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buClr>
                <a:schemeClr val="dk1"/>
              </a:buClr>
              <a:buSzPts val="1100"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traffic matrices </a:t>
            </a:r>
            <a:r>
              <a:rPr lang="en-GB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sparse 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and </a:t>
            </a:r>
            <a:r>
              <a:rPr lang="en-GB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skewed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2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" name="Google Shape;1708;g60be7dcf1c_0_603">
            <a:extLst>
              <a:ext uri="{FF2B5EF4-FFF2-40B4-BE49-F238E27FC236}">
                <a16:creationId xmlns:a16="http://schemas.microsoft.com/office/drawing/2014/main" id="{4612ABCE-436E-4D4F-A773-C27D1AD60C27}"/>
              </a:ext>
            </a:extLst>
          </p:cNvPr>
          <p:cNvSpPr txBox="1"/>
          <p:nvPr/>
        </p:nvSpPr>
        <p:spPr>
          <a:xfrm>
            <a:off x="0" y="540000"/>
            <a:ext cx="8211000" cy="968915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30" name="Google Shape;1480;g60be7dcf1c_0_386">
            <a:extLst>
              <a:ext uri="{FF2B5EF4-FFF2-40B4-BE49-F238E27FC236}">
                <a16:creationId xmlns:a16="http://schemas.microsoft.com/office/drawing/2014/main" id="{5B8860BF-6CE4-460B-9653-7D228CE19B9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3075" y="149350"/>
            <a:ext cx="8171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Empirical Motivation</a:t>
            </a:r>
            <a:br>
              <a:rPr lang="en-GB" sz="32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2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Much Structure in the Demand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15650F8-006F-4C75-B102-089321DCFD47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7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6138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1">
          <a:extLst>
            <a:ext uri="{FF2B5EF4-FFF2-40B4-BE49-F238E27FC236}">
              <a16:creationId xmlns:a16="http://schemas.microsoft.com/office/drawing/2014/main" id="{DF36EDAC-B660-25A4-CD26-2B3340EDD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7" name="Google Shape;1687;g60be7dcf1c_0_579">
            <a:extLst>
              <a:ext uri="{FF2B5EF4-FFF2-40B4-BE49-F238E27FC236}">
                <a16:creationId xmlns:a16="http://schemas.microsoft.com/office/drawing/2014/main" id="{92818206-345F-FB6A-9C74-8A35D2B4E920}"/>
              </a:ext>
            </a:extLst>
          </p:cNvPr>
          <p:cNvSpPr txBox="1"/>
          <p:nvPr/>
        </p:nvSpPr>
        <p:spPr>
          <a:xfrm>
            <a:off x="0" y="540000"/>
            <a:ext cx="8211000" cy="795042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24" name="Google Shape;1632;g60be7dcf1c_0_529">
            <a:extLst>
              <a:ext uri="{FF2B5EF4-FFF2-40B4-BE49-F238E27FC236}">
                <a16:creationId xmlns:a16="http://schemas.microsoft.com/office/drawing/2014/main" id="{F2D37B91-8CC5-E22F-1016-25AE496C61F3}"/>
              </a:ext>
            </a:extLst>
          </p:cNvPr>
          <p:cNvSpPr txBox="1">
            <a:spLocks/>
          </p:cNvSpPr>
          <p:nvPr/>
        </p:nvSpPr>
        <p:spPr>
          <a:xfrm>
            <a:off x="973075" y="500579"/>
            <a:ext cx="8171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lnSpc>
                <a:spcPct val="115000"/>
              </a:lnSpc>
              <a:buSzPts val="1100"/>
            </a:pPr>
            <a: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Example: ML Workloads</a:t>
            </a:r>
            <a:br>
              <a:rPr lang="en-GB" sz="32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lang="en-GB" sz="2000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5" name="Grafik 2">
            <a:extLst>
              <a:ext uri="{FF2B5EF4-FFF2-40B4-BE49-F238E27FC236}">
                <a16:creationId xmlns:a16="http://schemas.microsoft.com/office/drawing/2014/main" id="{15EBAF11-A533-62A2-CA9D-5A697B5FF2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0991" y="2901137"/>
            <a:ext cx="2247975" cy="1621285"/>
          </a:xfrm>
          <a:prstGeom prst="rect">
            <a:avLst/>
          </a:prstGeom>
        </p:spPr>
      </p:pic>
      <p:pic>
        <p:nvPicPr>
          <p:cNvPr id="28" name="Grafik 3">
            <a:extLst>
              <a:ext uri="{FF2B5EF4-FFF2-40B4-BE49-F238E27FC236}">
                <a16:creationId xmlns:a16="http://schemas.microsoft.com/office/drawing/2014/main" id="{D9FF49DC-5F19-B8A9-FCB0-4BAA55C600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0197" y="2926796"/>
            <a:ext cx="2261731" cy="1595626"/>
          </a:xfrm>
          <a:prstGeom prst="rect">
            <a:avLst/>
          </a:prstGeom>
        </p:spPr>
      </p:pic>
      <p:sp>
        <p:nvSpPr>
          <p:cNvPr id="29" name="Google Shape;1639;g60be7dcf1c_0_529">
            <a:extLst>
              <a:ext uri="{FF2B5EF4-FFF2-40B4-BE49-F238E27FC236}">
                <a16:creationId xmlns:a16="http://schemas.microsoft.com/office/drawing/2014/main" id="{A0C80E75-C49F-EB66-DC1F-50950BBFD0E3}"/>
              </a:ext>
            </a:extLst>
          </p:cNvPr>
          <p:cNvSpPr txBox="1"/>
          <p:nvPr/>
        </p:nvSpPr>
        <p:spPr>
          <a:xfrm>
            <a:off x="4017678" y="3302610"/>
            <a:ext cx="765300" cy="7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 dirty="0">
                <a:solidFill>
                  <a:schemeClr val="tx1"/>
                </a:solidFill>
                <a:latin typeface="Consolas"/>
                <a:ea typeface="Consolas"/>
                <a:cs typeface="Consolas"/>
                <a:sym typeface="Consolas"/>
              </a:rPr>
              <a:t>vs</a:t>
            </a:r>
          </a:p>
        </p:txBody>
      </p:sp>
      <p:sp>
        <p:nvSpPr>
          <p:cNvPr id="30" name="Google Shape;1534;g60be7dcf1c_0_434">
            <a:extLst>
              <a:ext uri="{FF2B5EF4-FFF2-40B4-BE49-F238E27FC236}">
                <a16:creationId xmlns:a16="http://schemas.microsoft.com/office/drawing/2014/main" id="{2406FCCA-9608-6472-2492-F34D71E89895}"/>
              </a:ext>
            </a:extLst>
          </p:cNvPr>
          <p:cNvSpPr txBox="1"/>
          <p:nvPr/>
        </p:nvSpPr>
        <p:spPr>
          <a:xfrm>
            <a:off x="973075" y="1662159"/>
            <a:ext cx="7237925" cy="882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⇢ 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Traffic matrices of two different distributed ML apps</a:t>
            </a:r>
          </a:p>
          <a:p>
            <a:pPr lvl="0">
              <a:lnSpc>
                <a:spcPct val="115000"/>
              </a:lnSpc>
            </a:pPr>
            <a:r>
              <a:rPr lang="en-GB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⇀ 4 GPUs, </a:t>
            </a:r>
            <a:r>
              <a:rPr lang="en-US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GPU-to-GPU traffic</a:t>
            </a:r>
          </a:p>
          <a:p>
            <a:pPr>
              <a:lnSpc>
                <a:spcPct val="115000"/>
              </a:lnSpc>
            </a:pP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lang="de-DE"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" name="Google Shape;1995;g60be7dcf1c_0_859">
            <a:extLst>
              <a:ext uri="{FF2B5EF4-FFF2-40B4-BE49-F238E27FC236}">
                <a16:creationId xmlns:a16="http://schemas.microsoft.com/office/drawing/2014/main" id="{3498CFF3-C151-B251-700D-95556370216D}"/>
              </a:ext>
            </a:extLst>
          </p:cNvPr>
          <p:cNvSpPr/>
          <p:nvPr/>
        </p:nvSpPr>
        <p:spPr>
          <a:xfrm rot="20178075" flipH="1">
            <a:off x="6421182" y="2396372"/>
            <a:ext cx="1969469" cy="333474"/>
          </a:xfrm>
          <a:prstGeom prst="homePlate">
            <a:avLst>
              <a:gd name="adj" fmla="val 50000"/>
            </a:avLst>
          </a:prstGeom>
          <a:solidFill>
            <a:srgbClr val="FFFFFF"/>
          </a:solidFill>
          <a:ln w="1905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32" name="Google Shape;1996;g60be7dcf1c_0_859">
            <a:extLst>
              <a:ext uri="{FF2B5EF4-FFF2-40B4-BE49-F238E27FC236}">
                <a16:creationId xmlns:a16="http://schemas.microsoft.com/office/drawing/2014/main" id="{406883B5-BA34-B7BB-BACB-B6573B650195}"/>
              </a:ext>
            </a:extLst>
          </p:cNvPr>
          <p:cNvSpPr txBox="1"/>
          <p:nvPr/>
        </p:nvSpPr>
        <p:spPr>
          <a:xfrm rot="20165435">
            <a:off x="6487230" y="2410997"/>
            <a:ext cx="1837374" cy="283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Color</a:t>
            </a:r>
            <a:r>
              <a:rPr lang="en-GB" sz="9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communication pair</a:t>
            </a:r>
          </a:p>
        </p:txBody>
      </p:sp>
      <p:sp>
        <p:nvSpPr>
          <p:cNvPr id="11" name="Google Shape;1639;g60be7dcf1c_0_529">
            <a:extLst>
              <a:ext uri="{FF2B5EF4-FFF2-40B4-BE49-F238E27FC236}">
                <a16:creationId xmlns:a16="http://schemas.microsoft.com/office/drawing/2014/main" id="{512A2A76-1024-EF62-E9E3-277628AB2639}"/>
              </a:ext>
            </a:extLst>
          </p:cNvPr>
          <p:cNvSpPr txBox="1"/>
          <p:nvPr/>
        </p:nvSpPr>
        <p:spPr>
          <a:xfrm>
            <a:off x="1082075" y="4665658"/>
            <a:ext cx="3223184" cy="7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dirty="0">
                <a:solidFill>
                  <a:schemeClr val="tx1"/>
                </a:solidFill>
                <a:latin typeface="Consolas"/>
                <a:ea typeface="Consolas"/>
                <a:cs typeface="Consolas"/>
                <a:sym typeface="Consolas"/>
              </a:rPr>
              <a:t>ML App 1</a:t>
            </a:r>
          </a:p>
        </p:txBody>
      </p:sp>
      <p:sp>
        <p:nvSpPr>
          <p:cNvPr id="12" name="Google Shape;1639;g60be7dcf1c_0_529">
            <a:extLst>
              <a:ext uri="{FF2B5EF4-FFF2-40B4-BE49-F238E27FC236}">
                <a16:creationId xmlns:a16="http://schemas.microsoft.com/office/drawing/2014/main" id="{F0765FC7-DC00-43C0-FC77-6BD2AA06A5A1}"/>
              </a:ext>
            </a:extLst>
          </p:cNvPr>
          <p:cNvSpPr txBox="1"/>
          <p:nvPr/>
        </p:nvSpPr>
        <p:spPr>
          <a:xfrm>
            <a:off x="1440197" y="5697670"/>
            <a:ext cx="6607733" cy="7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b="1" dirty="0">
                <a:solidFill>
                  <a:schemeClr val="tx1"/>
                </a:solidFill>
                <a:latin typeface="Consolas"/>
                <a:ea typeface="Consolas"/>
                <a:cs typeface="Consolas"/>
                <a:sym typeface="Consolas"/>
              </a:rPr>
              <a:t>Can have significant spatial structure!</a:t>
            </a:r>
          </a:p>
        </p:txBody>
      </p:sp>
      <p:sp>
        <p:nvSpPr>
          <p:cNvPr id="13" name="Google Shape;1638;g60be7dcf1c_0_529">
            <a:extLst>
              <a:ext uri="{FF2B5EF4-FFF2-40B4-BE49-F238E27FC236}">
                <a16:creationId xmlns:a16="http://schemas.microsoft.com/office/drawing/2014/main" id="{20139438-ACB7-A759-0BE2-6A657FC276D4}"/>
              </a:ext>
            </a:extLst>
          </p:cNvPr>
          <p:cNvSpPr/>
          <p:nvPr/>
        </p:nvSpPr>
        <p:spPr>
          <a:xfrm>
            <a:off x="3949941" y="3206169"/>
            <a:ext cx="935400" cy="9354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</p:txBody>
      </p:sp>
      <p:sp>
        <p:nvSpPr>
          <p:cNvPr id="14" name="Google Shape;1639;g60be7dcf1c_0_529">
            <a:extLst>
              <a:ext uri="{FF2B5EF4-FFF2-40B4-BE49-F238E27FC236}">
                <a16:creationId xmlns:a16="http://schemas.microsoft.com/office/drawing/2014/main" id="{E4045D17-C6BF-50AE-9938-44605BED0425}"/>
              </a:ext>
            </a:extLst>
          </p:cNvPr>
          <p:cNvSpPr txBox="1"/>
          <p:nvPr/>
        </p:nvSpPr>
        <p:spPr>
          <a:xfrm>
            <a:off x="4033459" y="3302610"/>
            <a:ext cx="765300" cy="7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vs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E6A67F0-7C40-0F71-969C-88606E10BEAA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8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3" name="Google Shape;1639;g60be7dcf1c_0_529">
            <a:extLst>
              <a:ext uri="{FF2B5EF4-FFF2-40B4-BE49-F238E27FC236}">
                <a16:creationId xmlns:a16="http://schemas.microsoft.com/office/drawing/2014/main" id="{88ECF59E-E038-5565-34B7-3011FDAD0DE8}"/>
              </a:ext>
            </a:extLst>
          </p:cNvPr>
          <p:cNvSpPr txBox="1"/>
          <p:nvPr/>
        </p:nvSpPr>
        <p:spPr>
          <a:xfrm>
            <a:off x="4774737" y="4678250"/>
            <a:ext cx="3223184" cy="7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dirty="0">
                <a:solidFill>
                  <a:schemeClr val="tx1"/>
                </a:solidFill>
                <a:latin typeface="Consolas"/>
                <a:ea typeface="Consolas"/>
                <a:cs typeface="Consolas"/>
                <a:sym typeface="Consolas"/>
              </a:rPr>
              <a:t>ML App 2</a:t>
            </a:r>
          </a:p>
        </p:txBody>
      </p:sp>
    </p:spTree>
    <p:extLst>
      <p:ext uri="{BB962C8B-B14F-4D97-AF65-F5344CB8AC3E}">
        <p14:creationId xmlns:p14="http://schemas.microsoft.com/office/powerpoint/2010/main" val="14746120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1">
          <a:extLst>
            <a:ext uri="{FF2B5EF4-FFF2-40B4-BE49-F238E27FC236}">
              <a16:creationId xmlns:a16="http://schemas.microsoft.com/office/drawing/2014/main" id="{AB86099F-6CC6-16CC-F33D-AC04D3BA1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7" name="Google Shape;1687;g60be7dcf1c_0_579">
            <a:extLst>
              <a:ext uri="{FF2B5EF4-FFF2-40B4-BE49-F238E27FC236}">
                <a16:creationId xmlns:a16="http://schemas.microsoft.com/office/drawing/2014/main" id="{3B9A88EE-D918-A65D-2151-D7AB6EC34638}"/>
              </a:ext>
            </a:extLst>
          </p:cNvPr>
          <p:cNvSpPr txBox="1"/>
          <p:nvPr/>
        </p:nvSpPr>
        <p:spPr>
          <a:xfrm>
            <a:off x="0" y="540000"/>
            <a:ext cx="8211000" cy="795042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24" name="Google Shape;1632;g60be7dcf1c_0_529">
            <a:extLst>
              <a:ext uri="{FF2B5EF4-FFF2-40B4-BE49-F238E27FC236}">
                <a16:creationId xmlns:a16="http://schemas.microsoft.com/office/drawing/2014/main" id="{35D2D763-6EFC-CC16-6EB8-5206B1C69471}"/>
              </a:ext>
            </a:extLst>
          </p:cNvPr>
          <p:cNvSpPr txBox="1">
            <a:spLocks/>
          </p:cNvSpPr>
          <p:nvPr/>
        </p:nvSpPr>
        <p:spPr>
          <a:xfrm>
            <a:off x="973075" y="500579"/>
            <a:ext cx="8171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lnSpc>
                <a:spcPct val="115000"/>
              </a:lnSpc>
              <a:buSzPts val="1100"/>
            </a:pPr>
            <a: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Example: ML Workloads</a:t>
            </a:r>
            <a:br>
              <a:rPr lang="en-GB" sz="32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lang="en-GB" sz="2000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" name="Google Shape;1534;g60be7dcf1c_0_434">
            <a:extLst>
              <a:ext uri="{FF2B5EF4-FFF2-40B4-BE49-F238E27FC236}">
                <a16:creationId xmlns:a16="http://schemas.microsoft.com/office/drawing/2014/main" id="{50BC713F-0768-6831-84CA-DB0A30A20948}"/>
              </a:ext>
            </a:extLst>
          </p:cNvPr>
          <p:cNvSpPr txBox="1"/>
          <p:nvPr/>
        </p:nvSpPr>
        <p:spPr>
          <a:xfrm>
            <a:off x="973075" y="1662159"/>
            <a:ext cx="7237925" cy="882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⇢ 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Traffic matrices of two different distributed ML apps</a:t>
            </a:r>
          </a:p>
          <a:p>
            <a:pPr lvl="0">
              <a:lnSpc>
                <a:spcPct val="115000"/>
              </a:lnSpc>
            </a:pPr>
            <a:r>
              <a:rPr lang="en-GB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⇀ 4 GPUs, </a:t>
            </a:r>
            <a:r>
              <a:rPr lang="en-US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GPU-to-GPU traffic</a:t>
            </a:r>
          </a:p>
          <a:p>
            <a:pPr>
              <a:lnSpc>
                <a:spcPct val="115000"/>
              </a:lnSpc>
            </a:pP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lang="de-DE"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" name="Google Shape;1639;g60be7dcf1c_0_529">
            <a:extLst>
              <a:ext uri="{FF2B5EF4-FFF2-40B4-BE49-F238E27FC236}">
                <a16:creationId xmlns:a16="http://schemas.microsoft.com/office/drawing/2014/main" id="{0FBDA070-3E83-E18C-663E-8B10F2CD0150}"/>
              </a:ext>
            </a:extLst>
          </p:cNvPr>
          <p:cNvSpPr txBox="1"/>
          <p:nvPr/>
        </p:nvSpPr>
        <p:spPr>
          <a:xfrm>
            <a:off x="7376654" y="2814252"/>
            <a:ext cx="1339382" cy="5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dirty="0">
                <a:solidFill>
                  <a:schemeClr val="tx1"/>
                </a:solidFill>
                <a:latin typeface="Consolas"/>
                <a:ea typeface="Consolas"/>
                <a:cs typeface="Consolas"/>
                <a:sym typeface="Consolas"/>
              </a:rPr>
              <a:t>ML App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E026B16-1C0C-4835-4891-4837853A7409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8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pic>
        <p:nvPicPr>
          <p:cNvPr id="4" name="Grafik 2">
            <a:extLst>
              <a:ext uri="{FF2B5EF4-FFF2-40B4-BE49-F238E27FC236}">
                <a16:creationId xmlns:a16="http://schemas.microsoft.com/office/drawing/2014/main" id="{1A1D50CE-60B3-96E3-06A3-99719B400F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807" y="3300593"/>
            <a:ext cx="1796407" cy="1295606"/>
          </a:xfrm>
          <a:prstGeom prst="rect">
            <a:avLst/>
          </a:prstGeom>
        </p:spPr>
      </p:pic>
      <p:sp>
        <p:nvSpPr>
          <p:cNvPr id="6" name="Geschweifte Klammer links 1">
            <a:extLst>
              <a:ext uri="{FF2B5EF4-FFF2-40B4-BE49-F238E27FC236}">
                <a16:creationId xmlns:a16="http://schemas.microsoft.com/office/drawing/2014/main" id="{240B00FC-FC79-AD8D-3E30-CD5D662E2B7E}"/>
              </a:ext>
            </a:extLst>
          </p:cNvPr>
          <p:cNvSpPr/>
          <p:nvPr/>
        </p:nvSpPr>
        <p:spPr>
          <a:xfrm>
            <a:off x="2572433" y="2827318"/>
            <a:ext cx="483294" cy="2125919"/>
          </a:xfrm>
          <a:prstGeom prst="lef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Grafik 4">
            <a:extLst>
              <a:ext uri="{FF2B5EF4-FFF2-40B4-BE49-F238E27FC236}">
                <a16:creationId xmlns:a16="http://schemas.microsoft.com/office/drawing/2014/main" id="{F098DAD9-CC51-8460-30FE-2D9705D887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3620" y="2899192"/>
            <a:ext cx="3974131" cy="714130"/>
          </a:xfrm>
          <a:prstGeom prst="rect">
            <a:avLst/>
          </a:prstGeom>
        </p:spPr>
      </p:pic>
      <p:pic>
        <p:nvPicPr>
          <p:cNvPr id="10" name="Grafik 13">
            <a:extLst>
              <a:ext uri="{FF2B5EF4-FFF2-40B4-BE49-F238E27FC236}">
                <a16:creationId xmlns:a16="http://schemas.microsoft.com/office/drawing/2014/main" id="{4697D25D-1546-7404-D458-0D1DC93182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3619" y="4384700"/>
            <a:ext cx="3974132" cy="751652"/>
          </a:xfrm>
          <a:prstGeom prst="rect">
            <a:avLst/>
          </a:prstGeom>
        </p:spPr>
      </p:pic>
      <p:sp>
        <p:nvSpPr>
          <p:cNvPr id="17" name="Google Shape;1639;g60be7dcf1c_0_529">
            <a:extLst>
              <a:ext uri="{FF2B5EF4-FFF2-40B4-BE49-F238E27FC236}">
                <a16:creationId xmlns:a16="http://schemas.microsoft.com/office/drawing/2014/main" id="{AD2D1FB4-43D3-5F82-3B0F-0FD9458B7DD8}"/>
              </a:ext>
            </a:extLst>
          </p:cNvPr>
          <p:cNvSpPr txBox="1"/>
          <p:nvPr/>
        </p:nvSpPr>
        <p:spPr>
          <a:xfrm>
            <a:off x="5084981" y="3642200"/>
            <a:ext cx="765300" cy="7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 dirty="0">
                <a:solidFill>
                  <a:schemeClr val="tx1"/>
                </a:solidFill>
                <a:latin typeface="Consolas"/>
                <a:ea typeface="Consolas"/>
                <a:cs typeface="Consolas"/>
                <a:sym typeface="Consolas"/>
              </a:rPr>
              <a:t>vs</a:t>
            </a:r>
          </a:p>
        </p:txBody>
      </p:sp>
      <p:sp>
        <p:nvSpPr>
          <p:cNvPr id="19" name="Google Shape;1638;g60be7dcf1c_0_529">
            <a:extLst>
              <a:ext uri="{FF2B5EF4-FFF2-40B4-BE49-F238E27FC236}">
                <a16:creationId xmlns:a16="http://schemas.microsoft.com/office/drawing/2014/main" id="{DDDF037E-7E8A-D072-ADB5-747203B421FC}"/>
              </a:ext>
            </a:extLst>
          </p:cNvPr>
          <p:cNvSpPr/>
          <p:nvPr/>
        </p:nvSpPr>
        <p:spPr>
          <a:xfrm>
            <a:off x="5029195" y="3621201"/>
            <a:ext cx="720567" cy="706795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</p:txBody>
      </p:sp>
      <p:sp>
        <p:nvSpPr>
          <p:cNvPr id="21" name="Google Shape;1639;g60be7dcf1c_0_529">
            <a:extLst>
              <a:ext uri="{FF2B5EF4-FFF2-40B4-BE49-F238E27FC236}">
                <a16:creationId xmlns:a16="http://schemas.microsoft.com/office/drawing/2014/main" id="{962E41C7-9ED7-5AB2-6403-6F4BCFEB76E5}"/>
              </a:ext>
            </a:extLst>
          </p:cNvPr>
          <p:cNvSpPr txBox="1"/>
          <p:nvPr/>
        </p:nvSpPr>
        <p:spPr>
          <a:xfrm>
            <a:off x="5033972" y="3562209"/>
            <a:ext cx="715790" cy="589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vs</a:t>
            </a:r>
          </a:p>
        </p:txBody>
      </p:sp>
      <p:sp>
        <p:nvSpPr>
          <p:cNvPr id="23" name="Google Shape;1639;g60be7dcf1c_0_529">
            <a:extLst>
              <a:ext uri="{FF2B5EF4-FFF2-40B4-BE49-F238E27FC236}">
                <a16:creationId xmlns:a16="http://schemas.microsoft.com/office/drawing/2014/main" id="{F9F28242-E473-445B-CA94-D03787CA98F0}"/>
              </a:ext>
            </a:extLst>
          </p:cNvPr>
          <p:cNvSpPr txBox="1"/>
          <p:nvPr/>
        </p:nvSpPr>
        <p:spPr>
          <a:xfrm>
            <a:off x="7358760" y="4376866"/>
            <a:ext cx="1339382" cy="5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dirty="0">
                <a:solidFill>
                  <a:schemeClr val="tx1"/>
                </a:solidFill>
                <a:latin typeface="Consolas"/>
                <a:ea typeface="Consolas"/>
                <a:cs typeface="Consolas"/>
                <a:sym typeface="Consolas"/>
              </a:rPr>
              <a:t>Uniform</a:t>
            </a:r>
          </a:p>
        </p:txBody>
      </p:sp>
      <p:sp>
        <p:nvSpPr>
          <p:cNvPr id="34" name="Google Shape;1639;g60be7dcf1c_0_529">
            <a:extLst>
              <a:ext uri="{FF2B5EF4-FFF2-40B4-BE49-F238E27FC236}">
                <a16:creationId xmlns:a16="http://schemas.microsoft.com/office/drawing/2014/main" id="{42D6645F-5881-CA0C-0223-E8E1AB83F8F5}"/>
              </a:ext>
            </a:extLst>
          </p:cNvPr>
          <p:cNvSpPr txBox="1"/>
          <p:nvPr/>
        </p:nvSpPr>
        <p:spPr>
          <a:xfrm>
            <a:off x="1440197" y="5697670"/>
            <a:ext cx="6607733" cy="7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b="1" dirty="0">
                <a:solidFill>
                  <a:schemeClr val="tx1"/>
                </a:solidFill>
                <a:latin typeface="Consolas"/>
                <a:ea typeface="Consolas"/>
                <a:cs typeface="Consolas"/>
                <a:sym typeface="Consolas"/>
              </a:rPr>
              <a:t>Can have significant temporal structure!</a:t>
            </a:r>
          </a:p>
        </p:txBody>
      </p:sp>
    </p:spTree>
    <p:extLst>
      <p:ext uri="{BB962C8B-B14F-4D97-AF65-F5344CB8AC3E}">
        <p14:creationId xmlns:p14="http://schemas.microsoft.com/office/powerpoint/2010/main" val="23840709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6">
          <a:extLst>
            <a:ext uri="{FF2B5EF4-FFF2-40B4-BE49-F238E27FC236}">
              <a16:creationId xmlns:a16="http://schemas.microsoft.com/office/drawing/2014/main" id="{624D488F-35E8-776C-B2A2-D43792406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7" name="Google Shape;1707;g60be7dcf1c_0_603">
            <a:extLst>
              <a:ext uri="{FF2B5EF4-FFF2-40B4-BE49-F238E27FC236}">
                <a16:creationId xmlns:a16="http://schemas.microsoft.com/office/drawing/2014/main" id="{4039CF96-D830-8314-01E3-D680693A5E3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25950" y="2365225"/>
            <a:ext cx="3428276" cy="3428299"/>
          </a:xfrm>
          <a:prstGeom prst="rect">
            <a:avLst/>
          </a:prstGeom>
          <a:noFill/>
          <a:ln>
            <a:noFill/>
          </a:ln>
        </p:spPr>
      </p:pic>
      <p:sp>
        <p:nvSpPr>
          <p:cNvPr id="1708" name="Google Shape;1708;g60be7dcf1c_0_603">
            <a:extLst>
              <a:ext uri="{FF2B5EF4-FFF2-40B4-BE49-F238E27FC236}">
                <a16:creationId xmlns:a16="http://schemas.microsoft.com/office/drawing/2014/main" id="{89088870-2910-8DBC-BE90-D6D55F70DCA4}"/>
              </a:ext>
            </a:extLst>
          </p:cNvPr>
          <p:cNvSpPr txBox="1"/>
          <p:nvPr/>
        </p:nvSpPr>
        <p:spPr>
          <a:xfrm>
            <a:off x="0" y="540000"/>
            <a:ext cx="8211000" cy="1054211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1714" name="Google Shape;1714;g60be7dcf1c_0_603">
            <a:extLst>
              <a:ext uri="{FF2B5EF4-FFF2-40B4-BE49-F238E27FC236}">
                <a16:creationId xmlns:a16="http://schemas.microsoft.com/office/drawing/2014/main" id="{07F6B320-29D5-B2A4-2FA0-89F16D3165E1}"/>
              </a:ext>
            </a:extLst>
          </p:cNvPr>
          <p:cNvSpPr txBox="1"/>
          <p:nvPr/>
        </p:nvSpPr>
        <p:spPr>
          <a:xfrm rot="-5400000">
            <a:off x="712750" y="4024400"/>
            <a:ext cx="24375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non-temporal complexity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000" dirty="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715" name="Google Shape;1715;g60be7dcf1c_0_603">
            <a:extLst>
              <a:ext uri="{FF2B5EF4-FFF2-40B4-BE49-F238E27FC236}">
                <a16:creationId xmlns:a16="http://schemas.microsoft.com/office/drawing/2014/main" id="{D538E01C-94EA-9556-4A6C-8B464C8412F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80000" y="3847600"/>
            <a:ext cx="574999" cy="568375"/>
          </a:xfrm>
          <a:prstGeom prst="rect">
            <a:avLst/>
          </a:prstGeom>
          <a:noFill/>
          <a:ln>
            <a:noFill/>
          </a:ln>
        </p:spPr>
      </p:pic>
      <p:sp>
        <p:nvSpPr>
          <p:cNvPr id="1716" name="Google Shape;1716;g60be7dcf1c_0_603">
            <a:extLst>
              <a:ext uri="{FF2B5EF4-FFF2-40B4-BE49-F238E27FC236}">
                <a16:creationId xmlns:a16="http://schemas.microsoft.com/office/drawing/2014/main" id="{B9E19909-E2C1-D1B5-A521-C2D78C732182}"/>
              </a:ext>
            </a:extLst>
          </p:cNvPr>
          <p:cNvSpPr txBox="1"/>
          <p:nvPr/>
        </p:nvSpPr>
        <p:spPr>
          <a:xfrm>
            <a:off x="2179075" y="2916850"/>
            <a:ext cx="11670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pF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17" name="Google Shape;1717;g60be7dcf1c_0_603">
            <a:extLst>
              <a:ext uri="{FF2B5EF4-FFF2-40B4-BE49-F238E27FC236}">
                <a16:creationId xmlns:a16="http://schemas.microsoft.com/office/drawing/2014/main" id="{9BA13889-8CDD-C181-69C2-5B04E82DFA44}"/>
              </a:ext>
            </a:extLst>
          </p:cNvPr>
          <p:cNvSpPr txBox="1"/>
          <p:nvPr/>
        </p:nvSpPr>
        <p:spPr>
          <a:xfrm>
            <a:off x="2854875" y="3179125"/>
            <a:ext cx="4938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CNS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18" name="Google Shape;1718;g60be7dcf1c_0_603">
            <a:extLst>
              <a:ext uri="{FF2B5EF4-FFF2-40B4-BE49-F238E27FC236}">
                <a16:creationId xmlns:a16="http://schemas.microsoft.com/office/drawing/2014/main" id="{6DBD9814-12B4-4953-6E05-5677AD752C02}"/>
              </a:ext>
            </a:extLst>
          </p:cNvPr>
          <p:cNvSpPr txBox="1"/>
          <p:nvPr/>
        </p:nvSpPr>
        <p:spPr>
          <a:xfrm>
            <a:off x="3899613" y="3179125"/>
            <a:ext cx="4938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ML</a:t>
            </a:r>
          </a:p>
        </p:txBody>
      </p:sp>
      <p:sp>
        <p:nvSpPr>
          <p:cNvPr id="1719" name="Google Shape;1719;g60be7dcf1c_0_603">
            <a:extLst>
              <a:ext uri="{FF2B5EF4-FFF2-40B4-BE49-F238E27FC236}">
                <a16:creationId xmlns:a16="http://schemas.microsoft.com/office/drawing/2014/main" id="{25B2281E-01C0-D7ED-8196-D05EDA7EE491}"/>
              </a:ext>
            </a:extLst>
          </p:cNvPr>
          <p:cNvSpPr txBox="1"/>
          <p:nvPr/>
        </p:nvSpPr>
        <p:spPr>
          <a:xfrm>
            <a:off x="4530563" y="3455300"/>
            <a:ext cx="4938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DB</a:t>
            </a:r>
          </a:p>
        </p:txBody>
      </p:sp>
      <p:sp>
        <p:nvSpPr>
          <p:cNvPr id="1720" name="Google Shape;1720;g60be7dcf1c_0_603">
            <a:extLst>
              <a:ext uri="{FF2B5EF4-FFF2-40B4-BE49-F238E27FC236}">
                <a16:creationId xmlns:a16="http://schemas.microsoft.com/office/drawing/2014/main" id="{C2BB04AB-F049-FC47-C2F3-7A7D2FF667D3}"/>
              </a:ext>
            </a:extLst>
          </p:cNvPr>
          <p:cNvSpPr txBox="1"/>
          <p:nvPr/>
        </p:nvSpPr>
        <p:spPr>
          <a:xfrm>
            <a:off x="4530575" y="3883425"/>
            <a:ext cx="4938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Web</a:t>
            </a:r>
          </a:p>
        </p:txBody>
      </p:sp>
      <p:sp>
        <p:nvSpPr>
          <p:cNvPr id="1721" name="Google Shape;1721;g60be7dcf1c_0_603">
            <a:extLst>
              <a:ext uri="{FF2B5EF4-FFF2-40B4-BE49-F238E27FC236}">
                <a16:creationId xmlns:a16="http://schemas.microsoft.com/office/drawing/2014/main" id="{2FC9FFC7-E630-BC43-14C8-7F1397DD5F76}"/>
              </a:ext>
            </a:extLst>
          </p:cNvPr>
          <p:cNvSpPr txBox="1"/>
          <p:nvPr/>
        </p:nvSpPr>
        <p:spPr>
          <a:xfrm>
            <a:off x="4460100" y="4224525"/>
            <a:ext cx="4938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Had</a:t>
            </a:r>
          </a:p>
        </p:txBody>
      </p:sp>
      <p:sp>
        <p:nvSpPr>
          <p:cNvPr id="1722" name="Google Shape;1722;g60be7dcf1c_0_603">
            <a:extLst>
              <a:ext uri="{FF2B5EF4-FFF2-40B4-BE49-F238E27FC236}">
                <a16:creationId xmlns:a16="http://schemas.microsoft.com/office/drawing/2014/main" id="{1C1AAB4C-01D8-E17D-582A-8237206D94F4}"/>
              </a:ext>
            </a:extLst>
          </p:cNvPr>
          <p:cNvSpPr txBox="1"/>
          <p:nvPr/>
        </p:nvSpPr>
        <p:spPr>
          <a:xfrm>
            <a:off x="2781113" y="4194800"/>
            <a:ext cx="9999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Multi 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Grid</a:t>
            </a:r>
          </a:p>
        </p:txBody>
      </p:sp>
      <p:sp>
        <p:nvSpPr>
          <p:cNvPr id="1725" name="Google Shape;1725;g60be7dcf1c_0_603">
            <a:extLst>
              <a:ext uri="{FF2B5EF4-FFF2-40B4-BE49-F238E27FC236}">
                <a16:creationId xmlns:a16="http://schemas.microsoft.com/office/drawing/2014/main" id="{75E1EA71-C158-8407-69CF-25A73D4311EE}"/>
              </a:ext>
            </a:extLst>
          </p:cNvPr>
          <p:cNvSpPr txBox="1"/>
          <p:nvPr/>
        </p:nvSpPr>
        <p:spPr>
          <a:xfrm>
            <a:off x="2506238" y="5616875"/>
            <a:ext cx="22677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temporal complexity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" name="Google Shape;1683;g60be7dcf1c_0_579">
            <a:extLst>
              <a:ext uri="{FF2B5EF4-FFF2-40B4-BE49-F238E27FC236}">
                <a16:creationId xmlns:a16="http://schemas.microsoft.com/office/drawing/2014/main" id="{BEDEBDB4-A64B-C7E5-E52D-6706E989A285}"/>
              </a:ext>
            </a:extLst>
          </p:cNvPr>
          <p:cNvSpPr txBox="1"/>
          <p:nvPr/>
        </p:nvSpPr>
        <p:spPr>
          <a:xfrm>
            <a:off x="1947925" y="2095575"/>
            <a:ext cx="11670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 err="1">
                <a:latin typeface="Consolas"/>
                <a:ea typeface="Consolas"/>
                <a:cs typeface="Consolas"/>
                <a:sym typeface="Consolas"/>
              </a:rPr>
              <a:t>bursty</a:t>
            </a:r>
            <a:endParaRPr lang="en-GB" sz="10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" name="Google Shape;1684;g60be7dcf1c_0_579">
            <a:extLst>
              <a:ext uri="{FF2B5EF4-FFF2-40B4-BE49-F238E27FC236}">
                <a16:creationId xmlns:a16="http://schemas.microsoft.com/office/drawing/2014/main" id="{0DD6B333-DCAF-6D0F-3469-9B48494F08FF}"/>
              </a:ext>
            </a:extLst>
          </p:cNvPr>
          <p:cNvSpPr txBox="1"/>
          <p:nvPr/>
        </p:nvSpPr>
        <p:spPr>
          <a:xfrm>
            <a:off x="4187225" y="2095575"/>
            <a:ext cx="11670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uniform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" name="Google Shape;1698;g60be7dcf1c_0_579">
            <a:extLst>
              <a:ext uri="{FF2B5EF4-FFF2-40B4-BE49-F238E27FC236}">
                <a16:creationId xmlns:a16="http://schemas.microsoft.com/office/drawing/2014/main" id="{D5E434D6-1D3C-2784-5D7A-A21D658DCA5A}"/>
              </a:ext>
            </a:extLst>
          </p:cNvPr>
          <p:cNvSpPr txBox="1"/>
          <p:nvPr/>
        </p:nvSpPr>
        <p:spPr>
          <a:xfrm>
            <a:off x="1924686" y="5139950"/>
            <a:ext cx="17154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 err="1">
                <a:latin typeface="Consolas"/>
                <a:ea typeface="Consolas"/>
                <a:cs typeface="Consolas"/>
                <a:sym typeface="Consolas"/>
              </a:rPr>
              <a:t>bursty</a:t>
            </a: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 &amp; skewed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" name="Google Shape;1699;g60be7dcf1c_0_579">
            <a:extLst>
              <a:ext uri="{FF2B5EF4-FFF2-40B4-BE49-F238E27FC236}">
                <a16:creationId xmlns:a16="http://schemas.microsoft.com/office/drawing/2014/main" id="{AF3AD367-EFAB-8951-6545-6183403FA6DB}"/>
              </a:ext>
            </a:extLst>
          </p:cNvPr>
          <p:cNvSpPr txBox="1"/>
          <p:nvPr/>
        </p:nvSpPr>
        <p:spPr>
          <a:xfrm>
            <a:off x="4294601" y="5279616"/>
            <a:ext cx="8889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skewed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DEDAD0C2-FEEF-22E5-4AD5-E718BB779D1E}"/>
              </a:ext>
            </a:extLst>
          </p:cNvPr>
          <p:cNvSpPr/>
          <p:nvPr/>
        </p:nvSpPr>
        <p:spPr>
          <a:xfrm>
            <a:off x="2615821" y="4971954"/>
            <a:ext cx="109182" cy="100084"/>
          </a:xfrm>
          <a:prstGeom prst="ellipse">
            <a:avLst/>
          </a:prstGeom>
          <a:solidFill>
            <a:srgbClr val="4610E0"/>
          </a:solidFill>
          <a:ln>
            <a:solidFill>
              <a:srgbClr val="4610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1" name="Google Shape;1718;g60be7dcf1c_0_603">
            <a:extLst>
              <a:ext uri="{FF2B5EF4-FFF2-40B4-BE49-F238E27FC236}">
                <a16:creationId xmlns:a16="http://schemas.microsoft.com/office/drawing/2014/main" id="{61BD24B8-7E7B-215D-7B6D-773B8AE5648C}"/>
              </a:ext>
            </a:extLst>
          </p:cNvPr>
          <p:cNvSpPr txBox="1"/>
          <p:nvPr/>
        </p:nvSpPr>
        <p:spPr>
          <a:xfrm>
            <a:off x="2615821" y="4864274"/>
            <a:ext cx="4938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NN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A0BE9369-B616-FDBD-8396-B231CD0CD9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55745" y="5975483"/>
            <a:ext cx="898902" cy="540000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9FF913AB-0135-4F4E-AED0-4CF0F977D575}"/>
              </a:ext>
            </a:extLst>
          </p:cNvPr>
          <p:cNvSpPr/>
          <p:nvPr/>
        </p:nvSpPr>
        <p:spPr>
          <a:xfrm>
            <a:off x="3293464" y="6007055"/>
            <a:ext cx="267663" cy="1716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Google Shape;1692;g60be7dcf1c_0_579">
            <a:extLst>
              <a:ext uri="{FF2B5EF4-FFF2-40B4-BE49-F238E27FC236}">
                <a16:creationId xmlns:a16="http://schemas.microsoft.com/office/drawing/2014/main" id="{EE2054E1-E9A6-F667-C0BA-5A2748409FE1}"/>
              </a:ext>
            </a:extLst>
          </p:cNvPr>
          <p:cNvSpPr/>
          <p:nvPr/>
        </p:nvSpPr>
        <p:spPr>
          <a:xfrm flipH="1">
            <a:off x="5242275" y="2255429"/>
            <a:ext cx="1328400" cy="607200"/>
          </a:xfrm>
          <a:prstGeom prst="homePlate">
            <a:avLst>
              <a:gd name="adj" fmla="val 50000"/>
            </a:avLst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33" name="Google Shape;1693;g60be7dcf1c_0_579">
            <a:extLst>
              <a:ext uri="{FF2B5EF4-FFF2-40B4-BE49-F238E27FC236}">
                <a16:creationId xmlns:a16="http://schemas.microsoft.com/office/drawing/2014/main" id="{FEBFA471-FE47-F0E4-02CB-916D903139DB}"/>
              </a:ext>
            </a:extLst>
          </p:cNvPr>
          <p:cNvSpPr txBox="1"/>
          <p:nvPr/>
        </p:nvSpPr>
        <p:spPr>
          <a:xfrm>
            <a:off x="5471775" y="2365213"/>
            <a:ext cx="1142400" cy="6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No structure</a:t>
            </a:r>
          </a:p>
        </p:txBody>
      </p:sp>
      <p:sp>
        <p:nvSpPr>
          <p:cNvPr id="36" name="Google Shape;1688;g60be7dcf1c_0_579">
            <a:extLst>
              <a:ext uri="{FF2B5EF4-FFF2-40B4-BE49-F238E27FC236}">
                <a16:creationId xmlns:a16="http://schemas.microsoft.com/office/drawing/2014/main" id="{614D3301-286D-6864-0CD5-424C5819210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3075" y="324175"/>
            <a:ext cx="8171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Visualizing Workload Structure</a:t>
            </a:r>
            <a:br>
              <a:rPr lang="en-GB" sz="32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Complexity Map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75CA612-C587-074E-A828-13AFD76FC21D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9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55CD238-2C4C-8456-5E67-1B8F741C4DD5}"/>
              </a:ext>
            </a:extLst>
          </p:cNvPr>
          <p:cNvSpPr/>
          <p:nvPr/>
        </p:nvSpPr>
        <p:spPr>
          <a:xfrm>
            <a:off x="2188449" y="2916850"/>
            <a:ext cx="2892223" cy="26119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919C0A-8A82-6BE3-4046-E581A3940D36}"/>
              </a:ext>
            </a:extLst>
          </p:cNvPr>
          <p:cNvSpPr/>
          <p:nvPr/>
        </p:nvSpPr>
        <p:spPr>
          <a:xfrm>
            <a:off x="2333626" y="2767514"/>
            <a:ext cx="2126474" cy="3411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BA92103-477C-F288-C39B-A4023C6BAE6A}"/>
              </a:ext>
            </a:extLst>
          </p:cNvPr>
          <p:cNvSpPr/>
          <p:nvPr/>
        </p:nvSpPr>
        <p:spPr>
          <a:xfrm>
            <a:off x="2762575" y="2612745"/>
            <a:ext cx="1638550" cy="319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694734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6">
          <a:extLst>
            <a:ext uri="{FF2B5EF4-FFF2-40B4-BE49-F238E27FC236}">
              <a16:creationId xmlns:a16="http://schemas.microsoft.com/office/drawing/2014/main" id="{EAA24ACB-C8D6-7E28-9E5A-5D8AD010D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7" name="Google Shape;1707;g60be7dcf1c_0_603">
            <a:extLst>
              <a:ext uri="{FF2B5EF4-FFF2-40B4-BE49-F238E27FC236}">
                <a16:creationId xmlns:a16="http://schemas.microsoft.com/office/drawing/2014/main" id="{A3DADBBE-9C3C-1796-9896-ABA6A5FDCF8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25950" y="2365225"/>
            <a:ext cx="3428276" cy="3428299"/>
          </a:xfrm>
          <a:prstGeom prst="rect">
            <a:avLst/>
          </a:prstGeom>
          <a:noFill/>
          <a:ln>
            <a:noFill/>
          </a:ln>
        </p:spPr>
      </p:pic>
      <p:sp>
        <p:nvSpPr>
          <p:cNvPr id="1708" name="Google Shape;1708;g60be7dcf1c_0_603">
            <a:extLst>
              <a:ext uri="{FF2B5EF4-FFF2-40B4-BE49-F238E27FC236}">
                <a16:creationId xmlns:a16="http://schemas.microsoft.com/office/drawing/2014/main" id="{530CF154-4BDE-EC20-B8D5-711C2C6A2154}"/>
              </a:ext>
            </a:extLst>
          </p:cNvPr>
          <p:cNvSpPr txBox="1"/>
          <p:nvPr/>
        </p:nvSpPr>
        <p:spPr>
          <a:xfrm>
            <a:off x="0" y="540000"/>
            <a:ext cx="8211000" cy="1054211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1714" name="Google Shape;1714;g60be7dcf1c_0_603">
            <a:extLst>
              <a:ext uri="{FF2B5EF4-FFF2-40B4-BE49-F238E27FC236}">
                <a16:creationId xmlns:a16="http://schemas.microsoft.com/office/drawing/2014/main" id="{D7C7BECC-E7E8-61A7-1311-F05800D0A0D1}"/>
              </a:ext>
            </a:extLst>
          </p:cNvPr>
          <p:cNvSpPr txBox="1"/>
          <p:nvPr/>
        </p:nvSpPr>
        <p:spPr>
          <a:xfrm rot="-5400000">
            <a:off x="712750" y="4024400"/>
            <a:ext cx="24375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non-temporal complexity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000" dirty="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715" name="Google Shape;1715;g60be7dcf1c_0_603">
            <a:extLst>
              <a:ext uri="{FF2B5EF4-FFF2-40B4-BE49-F238E27FC236}">
                <a16:creationId xmlns:a16="http://schemas.microsoft.com/office/drawing/2014/main" id="{1952F423-CF5E-1D93-4520-9DA7B0E8343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80000" y="3847600"/>
            <a:ext cx="574999" cy="568375"/>
          </a:xfrm>
          <a:prstGeom prst="rect">
            <a:avLst/>
          </a:prstGeom>
          <a:noFill/>
          <a:ln>
            <a:noFill/>
          </a:ln>
        </p:spPr>
      </p:pic>
      <p:sp>
        <p:nvSpPr>
          <p:cNvPr id="1716" name="Google Shape;1716;g60be7dcf1c_0_603">
            <a:extLst>
              <a:ext uri="{FF2B5EF4-FFF2-40B4-BE49-F238E27FC236}">
                <a16:creationId xmlns:a16="http://schemas.microsoft.com/office/drawing/2014/main" id="{760399F8-876F-D07B-BB8B-41FBDFAA7F5C}"/>
              </a:ext>
            </a:extLst>
          </p:cNvPr>
          <p:cNvSpPr txBox="1"/>
          <p:nvPr/>
        </p:nvSpPr>
        <p:spPr>
          <a:xfrm>
            <a:off x="2179075" y="2916850"/>
            <a:ext cx="11670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pF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17" name="Google Shape;1717;g60be7dcf1c_0_603">
            <a:extLst>
              <a:ext uri="{FF2B5EF4-FFF2-40B4-BE49-F238E27FC236}">
                <a16:creationId xmlns:a16="http://schemas.microsoft.com/office/drawing/2014/main" id="{C8C81000-ADE9-3D21-71AE-98ED891BC641}"/>
              </a:ext>
            </a:extLst>
          </p:cNvPr>
          <p:cNvSpPr txBox="1"/>
          <p:nvPr/>
        </p:nvSpPr>
        <p:spPr>
          <a:xfrm>
            <a:off x="2854875" y="3179125"/>
            <a:ext cx="4938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CNS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18" name="Google Shape;1718;g60be7dcf1c_0_603">
            <a:extLst>
              <a:ext uri="{FF2B5EF4-FFF2-40B4-BE49-F238E27FC236}">
                <a16:creationId xmlns:a16="http://schemas.microsoft.com/office/drawing/2014/main" id="{147CC48D-6F42-4A78-50A0-A4D949EDA96F}"/>
              </a:ext>
            </a:extLst>
          </p:cNvPr>
          <p:cNvSpPr txBox="1"/>
          <p:nvPr/>
        </p:nvSpPr>
        <p:spPr>
          <a:xfrm>
            <a:off x="3899613" y="3179125"/>
            <a:ext cx="4938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ML</a:t>
            </a:r>
          </a:p>
        </p:txBody>
      </p:sp>
      <p:sp>
        <p:nvSpPr>
          <p:cNvPr id="1719" name="Google Shape;1719;g60be7dcf1c_0_603">
            <a:extLst>
              <a:ext uri="{FF2B5EF4-FFF2-40B4-BE49-F238E27FC236}">
                <a16:creationId xmlns:a16="http://schemas.microsoft.com/office/drawing/2014/main" id="{29B90C02-50B8-0F9A-E877-74179D429F12}"/>
              </a:ext>
            </a:extLst>
          </p:cNvPr>
          <p:cNvSpPr txBox="1"/>
          <p:nvPr/>
        </p:nvSpPr>
        <p:spPr>
          <a:xfrm>
            <a:off x="4530563" y="3455300"/>
            <a:ext cx="4938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DB</a:t>
            </a:r>
          </a:p>
        </p:txBody>
      </p:sp>
      <p:sp>
        <p:nvSpPr>
          <p:cNvPr id="1720" name="Google Shape;1720;g60be7dcf1c_0_603">
            <a:extLst>
              <a:ext uri="{FF2B5EF4-FFF2-40B4-BE49-F238E27FC236}">
                <a16:creationId xmlns:a16="http://schemas.microsoft.com/office/drawing/2014/main" id="{502212AA-B3CC-02DC-D532-95853A815E3B}"/>
              </a:ext>
            </a:extLst>
          </p:cNvPr>
          <p:cNvSpPr txBox="1"/>
          <p:nvPr/>
        </p:nvSpPr>
        <p:spPr>
          <a:xfrm>
            <a:off x="4530575" y="3883425"/>
            <a:ext cx="4938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Web</a:t>
            </a:r>
          </a:p>
        </p:txBody>
      </p:sp>
      <p:sp>
        <p:nvSpPr>
          <p:cNvPr id="1721" name="Google Shape;1721;g60be7dcf1c_0_603">
            <a:extLst>
              <a:ext uri="{FF2B5EF4-FFF2-40B4-BE49-F238E27FC236}">
                <a16:creationId xmlns:a16="http://schemas.microsoft.com/office/drawing/2014/main" id="{306A92A1-8761-3F20-F08C-948127887A67}"/>
              </a:ext>
            </a:extLst>
          </p:cNvPr>
          <p:cNvSpPr txBox="1"/>
          <p:nvPr/>
        </p:nvSpPr>
        <p:spPr>
          <a:xfrm>
            <a:off x="4460100" y="4224525"/>
            <a:ext cx="4938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Had</a:t>
            </a:r>
          </a:p>
        </p:txBody>
      </p:sp>
      <p:sp>
        <p:nvSpPr>
          <p:cNvPr id="1722" name="Google Shape;1722;g60be7dcf1c_0_603">
            <a:extLst>
              <a:ext uri="{FF2B5EF4-FFF2-40B4-BE49-F238E27FC236}">
                <a16:creationId xmlns:a16="http://schemas.microsoft.com/office/drawing/2014/main" id="{B956B389-EEEC-D72F-AC40-20C3CE9A6C97}"/>
              </a:ext>
            </a:extLst>
          </p:cNvPr>
          <p:cNvSpPr txBox="1"/>
          <p:nvPr/>
        </p:nvSpPr>
        <p:spPr>
          <a:xfrm>
            <a:off x="2781113" y="4194800"/>
            <a:ext cx="9999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Multi 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Grid</a:t>
            </a:r>
          </a:p>
        </p:txBody>
      </p:sp>
      <p:sp>
        <p:nvSpPr>
          <p:cNvPr id="1725" name="Google Shape;1725;g60be7dcf1c_0_603">
            <a:extLst>
              <a:ext uri="{FF2B5EF4-FFF2-40B4-BE49-F238E27FC236}">
                <a16:creationId xmlns:a16="http://schemas.microsoft.com/office/drawing/2014/main" id="{0935DEFF-1B66-4768-55DD-7C8C56568987}"/>
              </a:ext>
            </a:extLst>
          </p:cNvPr>
          <p:cNvSpPr txBox="1"/>
          <p:nvPr/>
        </p:nvSpPr>
        <p:spPr>
          <a:xfrm>
            <a:off x="2506238" y="5616875"/>
            <a:ext cx="22677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temporal complexity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29" name="Google Shape;1729;g60be7dcf1c_0_603">
            <a:extLst>
              <a:ext uri="{FF2B5EF4-FFF2-40B4-BE49-F238E27FC236}">
                <a16:creationId xmlns:a16="http://schemas.microsoft.com/office/drawing/2014/main" id="{0F66B30B-AA66-F6F0-18B9-2ACBF9A727D7}"/>
              </a:ext>
            </a:extLst>
          </p:cNvPr>
          <p:cNvSpPr/>
          <p:nvPr/>
        </p:nvSpPr>
        <p:spPr>
          <a:xfrm>
            <a:off x="5887676" y="3350866"/>
            <a:ext cx="1557000" cy="1557000"/>
          </a:xfrm>
          <a:prstGeom prst="ellipse">
            <a:avLst/>
          </a:prstGeom>
          <a:solidFill>
            <a:srgbClr val="93C47D"/>
          </a:solidFill>
          <a:ln w="952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</p:txBody>
      </p:sp>
      <p:sp>
        <p:nvSpPr>
          <p:cNvPr id="1730" name="Google Shape;1730;g60be7dcf1c_0_603">
            <a:extLst>
              <a:ext uri="{FF2B5EF4-FFF2-40B4-BE49-F238E27FC236}">
                <a16:creationId xmlns:a16="http://schemas.microsoft.com/office/drawing/2014/main" id="{872C4A5E-E7CE-F5A4-FD98-FCEA155FBA56}"/>
              </a:ext>
            </a:extLst>
          </p:cNvPr>
          <p:cNvSpPr txBox="1"/>
          <p:nvPr/>
        </p:nvSpPr>
        <p:spPr>
          <a:xfrm>
            <a:off x="5821313" y="3747241"/>
            <a:ext cx="1623363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Different structures!</a:t>
            </a:r>
          </a:p>
        </p:txBody>
      </p:sp>
      <p:sp>
        <p:nvSpPr>
          <p:cNvPr id="26" name="Google Shape;1683;g60be7dcf1c_0_579">
            <a:extLst>
              <a:ext uri="{FF2B5EF4-FFF2-40B4-BE49-F238E27FC236}">
                <a16:creationId xmlns:a16="http://schemas.microsoft.com/office/drawing/2014/main" id="{49D1D904-7155-BD28-D7E3-6564AD51BEC3}"/>
              </a:ext>
            </a:extLst>
          </p:cNvPr>
          <p:cNvSpPr txBox="1"/>
          <p:nvPr/>
        </p:nvSpPr>
        <p:spPr>
          <a:xfrm>
            <a:off x="1947925" y="2095575"/>
            <a:ext cx="11670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 err="1">
                <a:latin typeface="Consolas"/>
                <a:ea typeface="Consolas"/>
                <a:cs typeface="Consolas"/>
                <a:sym typeface="Consolas"/>
              </a:rPr>
              <a:t>bursty</a:t>
            </a:r>
            <a:endParaRPr lang="en-GB" sz="10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" name="Google Shape;1684;g60be7dcf1c_0_579">
            <a:extLst>
              <a:ext uri="{FF2B5EF4-FFF2-40B4-BE49-F238E27FC236}">
                <a16:creationId xmlns:a16="http://schemas.microsoft.com/office/drawing/2014/main" id="{E3272576-CFED-3351-4B53-3B2504FE0E64}"/>
              </a:ext>
            </a:extLst>
          </p:cNvPr>
          <p:cNvSpPr txBox="1"/>
          <p:nvPr/>
        </p:nvSpPr>
        <p:spPr>
          <a:xfrm>
            <a:off x="4187225" y="2095575"/>
            <a:ext cx="11670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uniform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" name="Google Shape;1698;g60be7dcf1c_0_579">
            <a:extLst>
              <a:ext uri="{FF2B5EF4-FFF2-40B4-BE49-F238E27FC236}">
                <a16:creationId xmlns:a16="http://schemas.microsoft.com/office/drawing/2014/main" id="{AF9819E9-0194-7251-C374-6266AFC81051}"/>
              </a:ext>
            </a:extLst>
          </p:cNvPr>
          <p:cNvSpPr txBox="1"/>
          <p:nvPr/>
        </p:nvSpPr>
        <p:spPr>
          <a:xfrm>
            <a:off x="1924686" y="5139950"/>
            <a:ext cx="17154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 err="1">
                <a:latin typeface="Consolas"/>
                <a:ea typeface="Consolas"/>
                <a:cs typeface="Consolas"/>
                <a:sym typeface="Consolas"/>
              </a:rPr>
              <a:t>bursty</a:t>
            </a: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 &amp; skewed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" name="Google Shape;1699;g60be7dcf1c_0_579">
            <a:extLst>
              <a:ext uri="{FF2B5EF4-FFF2-40B4-BE49-F238E27FC236}">
                <a16:creationId xmlns:a16="http://schemas.microsoft.com/office/drawing/2014/main" id="{963082CB-FBC9-1C79-FABC-5A3FEC1798E2}"/>
              </a:ext>
            </a:extLst>
          </p:cNvPr>
          <p:cNvSpPr txBox="1"/>
          <p:nvPr/>
        </p:nvSpPr>
        <p:spPr>
          <a:xfrm>
            <a:off x="4294601" y="5279616"/>
            <a:ext cx="8889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skewed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AFB3F98D-E758-69A5-CE78-FA108FAF5FD0}"/>
              </a:ext>
            </a:extLst>
          </p:cNvPr>
          <p:cNvSpPr/>
          <p:nvPr/>
        </p:nvSpPr>
        <p:spPr>
          <a:xfrm>
            <a:off x="2615821" y="4971954"/>
            <a:ext cx="109182" cy="100084"/>
          </a:xfrm>
          <a:prstGeom prst="ellipse">
            <a:avLst/>
          </a:prstGeom>
          <a:solidFill>
            <a:srgbClr val="4610E0"/>
          </a:solidFill>
          <a:ln>
            <a:solidFill>
              <a:srgbClr val="4610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1" name="Google Shape;1718;g60be7dcf1c_0_603">
            <a:extLst>
              <a:ext uri="{FF2B5EF4-FFF2-40B4-BE49-F238E27FC236}">
                <a16:creationId xmlns:a16="http://schemas.microsoft.com/office/drawing/2014/main" id="{B4FE30D2-0FC5-EF09-5AA2-022F0EEE872F}"/>
              </a:ext>
            </a:extLst>
          </p:cNvPr>
          <p:cNvSpPr txBox="1"/>
          <p:nvPr/>
        </p:nvSpPr>
        <p:spPr>
          <a:xfrm>
            <a:off x="2615821" y="4864274"/>
            <a:ext cx="4938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NN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743341F1-D3E6-A9AC-228F-1A5BBC3AB9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55745" y="5975483"/>
            <a:ext cx="898902" cy="540000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8C28A767-9CB0-1CD6-D9DB-7E57D29570EE}"/>
              </a:ext>
            </a:extLst>
          </p:cNvPr>
          <p:cNvSpPr/>
          <p:nvPr/>
        </p:nvSpPr>
        <p:spPr>
          <a:xfrm>
            <a:off x="3293464" y="6007055"/>
            <a:ext cx="267663" cy="1716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Google Shape;1692;g60be7dcf1c_0_579">
            <a:extLst>
              <a:ext uri="{FF2B5EF4-FFF2-40B4-BE49-F238E27FC236}">
                <a16:creationId xmlns:a16="http://schemas.microsoft.com/office/drawing/2014/main" id="{E26A87B6-4B40-BC6E-3E27-A36486ED56EF}"/>
              </a:ext>
            </a:extLst>
          </p:cNvPr>
          <p:cNvSpPr/>
          <p:nvPr/>
        </p:nvSpPr>
        <p:spPr>
          <a:xfrm flipH="1">
            <a:off x="5242275" y="2255429"/>
            <a:ext cx="1328400" cy="607200"/>
          </a:xfrm>
          <a:prstGeom prst="homePlate">
            <a:avLst>
              <a:gd name="adj" fmla="val 50000"/>
            </a:avLst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33" name="Google Shape;1693;g60be7dcf1c_0_579">
            <a:extLst>
              <a:ext uri="{FF2B5EF4-FFF2-40B4-BE49-F238E27FC236}">
                <a16:creationId xmlns:a16="http://schemas.microsoft.com/office/drawing/2014/main" id="{98B379EB-2F95-F0EF-2D67-DFF97331FF2C}"/>
              </a:ext>
            </a:extLst>
          </p:cNvPr>
          <p:cNvSpPr txBox="1"/>
          <p:nvPr/>
        </p:nvSpPr>
        <p:spPr>
          <a:xfrm>
            <a:off x="5471775" y="2365213"/>
            <a:ext cx="1142400" cy="6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No structure</a:t>
            </a:r>
          </a:p>
        </p:txBody>
      </p:sp>
      <p:sp>
        <p:nvSpPr>
          <p:cNvPr id="36" name="Google Shape;1688;g60be7dcf1c_0_579">
            <a:extLst>
              <a:ext uri="{FF2B5EF4-FFF2-40B4-BE49-F238E27FC236}">
                <a16:creationId xmlns:a16="http://schemas.microsoft.com/office/drawing/2014/main" id="{C4A5A217-61E9-4EE1-61BE-7C32654027D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3075" y="324175"/>
            <a:ext cx="8171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Visualizing Workload Structure</a:t>
            </a:r>
            <a:br>
              <a:rPr lang="en-GB" sz="32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Complexity Map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97B8FF9-A1E1-43BD-BDB7-D18DC813FABE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9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73438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4">
          <a:extLst>
            <a:ext uri="{FF2B5EF4-FFF2-40B4-BE49-F238E27FC236}">
              <a16:creationId xmlns:a16="http://schemas.microsoft.com/office/drawing/2014/main" id="{4867A3E2-63E3-1F99-1227-D8FBC197B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708;g60be7dcf1c_0_603">
            <a:extLst>
              <a:ext uri="{FF2B5EF4-FFF2-40B4-BE49-F238E27FC236}">
                <a16:creationId xmlns:a16="http://schemas.microsoft.com/office/drawing/2014/main" id="{49B8FBBE-A520-0ECF-CB9F-FFECFDC2B3A5}"/>
              </a:ext>
            </a:extLst>
          </p:cNvPr>
          <p:cNvSpPr txBox="1"/>
          <p:nvPr/>
        </p:nvSpPr>
        <p:spPr>
          <a:xfrm>
            <a:off x="0" y="540000"/>
            <a:ext cx="8211000" cy="1054211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pic>
        <p:nvPicPr>
          <p:cNvPr id="1767" name="Google Shape;1767;g60be7dcf1c_0_659">
            <a:extLst>
              <a:ext uri="{FF2B5EF4-FFF2-40B4-BE49-F238E27FC236}">
                <a16:creationId xmlns:a16="http://schemas.microsoft.com/office/drawing/2014/main" id="{8F93B195-A134-E949-AC64-2534EB39873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25950" y="2365225"/>
            <a:ext cx="3428276" cy="3428299"/>
          </a:xfrm>
          <a:prstGeom prst="rect">
            <a:avLst/>
          </a:prstGeom>
          <a:noFill/>
          <a:ln>
            <a:noFill/>
          </a:ln>
        </p:spPr>
      </p:pic>
      <p:sp>
        <p:nvSpPr>
          <p:cNvPr id="1768" name="Google Shape;1768;g60be7dcf1c_0_659">
            <a:extLst>
              <a:ext uri="{FF2B5EF4-FFF2-40B4-BE49-F238E27FC236}">
                <a16:creationId xmlns:a16="http://schemas.microsoft.com/office/drawing/2014/main" id="{2C392A4F-5158-0B7F-FC47-6AF5BCB0007F}"/>
              </a:ext>
            </a:extLst>
          </p:cNvPr>
          <p:cNvSpPr txBox="1"/>
          <p:nvPr/>
        </p:nvSpPr>
        <p:spPr>
          <a:xfrm rot="-5400000">
            <a:off x="712750" y="4024400"/>
            <a:ext cx="24375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non-temporal complexity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69" name="Google Shape;1769;g60be7dcf1c_0_659">
            <a:extLst>
              <a:ext uri="{FF2B5EF4-FFF2-40B4-BE49-F238E27FC236}">
                <a16:creationId xmlns:a16="http://schemas.microsoft.com/office/drawing/2014/main" id="{5AB3BB10-9975-CE35-8DCB-40A3D6A1EF09}"/>
              </a:ext>
            </a:extLst>
          </p:cNvPr>
          <p:cNvSpPr txBox="1"/>
          <p:nvPr/>
        </p:nvSpPr>
        <p:spPr>
          <a:xfrm>
            <a:off x="2179075" y="2916850"/>
            <a:ext cx="11670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pF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70" name="Google Shape;1770;g60be7dcf1c_0_659">
            <a:extLst>
              <a:ext uri="{FF2B5EF4-FFF2-40B4-BE49-F238E27FC236}">
                <a16:creationId xmlns:a16="http://schemas.microsoft.com/office/drawing/2014/main" id="{C985ACBD-1CBD-1BA7-B270-FBC97530AEE6}"/>
              </a:ext>
            </a:extLst>
          </p:cNvPr>
          <p:cNvSpPr txBox="1"/>
          <p:nvPr/>
        </p:nvSpPr>
        <p:spPr>
          <a:xfrm>
            <a:off x="2854875" y="3179125"/>
            <a:ext cx="4938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CNS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71" name="Google Shape;1771;g60be7dcf1c_0_659">
            <a:extLst>
              <a:ext uri="{FF2B5EF4-FFF2-40B4-BE49-F238E27FC236}">
                <a16:creationId xmlns:a16="http://schemas.microsoft.com/office/drawing/2014/main" id="{DD9B73BB-2049-3C04-03D3-82C733C7F1B7}"/>
              </a:ext>
            </a:extLst>
          </p:cNvPr>
          <p:cNvSpPr txBox="1"/>
          <p:nvPr/>
        </p:nvSpPr>
        <p:spPr>
          <a:xfrm>
            <a:off x="3899613" y="3179125"/>
            <a:ext cx="4938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ML</a:t>
            </a:r>
          </a:p>
        </p:txBody>
      </p:sp>
      <p:sp>
        <p:nvSpPr>
          <p:cNvPr id="1772" name="Google Shape;1772;g60be7dcf1c_0_659">
            <a:extLst>
              <a:ext uri="{FF2B5EF4-FFF2-40B4-BE49-F238E27FC236}">
                <a16:creationId xmlns:a16="http://schemas.microsoft.com/office/drawing/2014/main" id="{5C7B9222-89B9-1B7C-142C-EE6C15EB606A}"/>
              </a:ext>
            </a:extLst>
          </p:cNvPr>
          <p:cNvSpPr txBox="1"/>
          <p:nvPr/>
        </p:nvSpPr>
        <p:spPr>
          <a:xfrm>
            <a:off x="4530563" y="3455300"/>
            <a:ext cx="4938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DB</a:t>
            </a:r>
          </a:p>
        </p:txBody>
      </p:sp>
      <p:sp>
        <p:nvSpPr>
          <p:cNvPr id="1773" name="Google Shape;1773;g60be7dcf1c_0_659">
            <a:extLst>
              <a:ext uri="{FF2B5EF4-FFF2-40B4-BE49-F238E27FC236}">
                <a16:creationId xmlns:a16="http://schemas.microsoft.com/office/drawing/2014/main" id="{3EE21E5E-A5C8-5FFF-11C6-41889A89395A}"/>
              </a:ext>
            </a:extLst>
          </p:cNvPr>
          <p:cNvSpPr txBox="1"/>
          <p:nvPr/>
        </p:nvSpPr>
        <p:spPr>
          <a:xfrm>
            <a:off x="4530575" y="3883425"/>
            <a:ext cx="4938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Web</a:t>
            </a:r>
          </a:p>
        </p:txBody>
      </p:sp>
      <p:sp>
        <p:nvSpPr>
          <p:cNvPr id="1774" name="Google Shape;1774;g60be7dcf1c_0_659">
            <a:extLst>
              <a:ext uri="{FF2B5EF4-FFF2-40B4-BE49-F238E27FC236}">
                <a16:creationId xmlns:a16="http://schemas.microsoft.com/office/drawing/2014/main" id="{20B686CF-1EAA-9F3B-B003-72A8E67C479D}"/>
              </a:ext>
            </a:extLst>
          </p:cNvPr>
          <p:cNvSpPr txBox="1"/>
          <p:nvPr/>
        </p:nvSpPr>
        <p:spPr>
          <a:xfrm>
            <a:off x="4460100" y="4224525"/>
            <a:ext cx="4938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Had</a:t>
            </a:r>
          </a:p>
        </p:txBody>
      </p:sp>
      <p:sp>
        <p:nvSpPr>
          <p:cNvPr id="1775" name="Google Shape;1775;g60be7dcf1c_0_659">
            <a:extLst>
              <a:ext uri="{FF2B5EF4-FFF2-40B4-BE49-F238E27FC236}">
                <a16:creationId xmlns:a16="http://schemas.microsoft.com/office/drawing/2014/main" id="{D146D31C-2D89-00D9-A389-BA7C257E694B}"/>
              </a:ext>
            </a:extLst>
          </p:cNvPr>
          <p:cNvSpPr txBox="1"/>
          <p:nvPr/>
        </p:nvSpPr>
        <p:spPr>
          <a:xfrm>
            <a:off x="2781113" y="4194800"/>
            <a:ext cx="9999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Multi 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Grid</a:t>
            </a:r>
          </a:p>
        </p:txBody>
      </p:sp>
      <p:sp>
        <p:nvSpPr>
          <p:cNvPr id="1778" name="Google Shape;1778;g60be7dcf1c_0_659">
            <a:extLst>
              <a:ext uri="{FF2B5EF4-FFF2-40B4-BE49-F238E27FC236}">
                <a16:creationId xmlns:a16="http://schemas.microsoft.com/office/drawing/2014/main" id="{378D9643-8830-A994-3886-B00B00B7F3F0}"/>
              </a:ext>
            </a:extLst>
          </p:cNvPr>
          <p:cNvSpPr txBox="1"/>
          <p:nvPr/>
        </p:nvSpPr>
        <p:spPr>
          <a:xfrm>
            <a:off x="2506238" y="5616875"/>
            <a:ext cx="22677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temporal complexity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000" dirty="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785" name="Google Shape;1785;g60be7dcf1c_0_659">
            <a:extLst>
              <a:ext uri="{FF2B5EF4-FFF2-40B4-BE49-F238E27FC236}">
                <a16:creationId xmlns:a16="http://schemas.microsoft.com/office/drawing/2014/main" id="{A8AAE663-5490-E0D0-FABE-FE41915EC07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80000" y="3847600"/>
            <a:ext cx="574999" cy="56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7" name="Google Shape;1787;g60be7dcf1c_0_659">
            <a:extLst>
              <a:ext uri="{FF2B5EF4-FFF2-40B4-BE49-F238E27FC236}">
                <a16:creationId xmlns:a16="http://schemas.microsoft.com/office/drawing/2014/main" id="{6E12681D-B0D9-34E2-DFD5-B3E10729F94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2082" t="23315" r="2397" b="4476"/>
          <a:stretch/>
        </p:blipFill>
        <p:spPr>
          <a:xfrm>
            <a:off x="1080000" y="5472750"/>
            <a:ext cx="1593603" cy="924799"/>
          </a:xfrm>
          <a:prstGeom prst="rect">
            <a:avLst/>
          </a:prstGeom>
          <a:noFill/>
          <a:ln w="952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788" name="Google Shape;1788;g60be7dcf1c_0_659">
            <a:extLst>
              <a:ext uri="{FF2B5EF4-FFF2-40B4-BE49-F238E27FC236}">
                <a16:creationId xmlns:a16="http://schemas.microsoft.com/office/drawing/2014/main" id="{A6580FB1-E875-D9D9-7C32-785E32689F2E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b="11520"/>
          <a:stretch/>
        </p:blipFill>
        <p:spPr>
          <a:xfrm>
            <a:off x="5271850" y="2197875"/>
            <a:ext cx="1448572" cy="961175"/>
          </a:xfrm>
          <a:prstGeom prst="rect">
            <a:avLst/>
          </a:prstGeom>
          <a:noFill/>
          <a:ln w="952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791" name="Google Shape;1791;g60be7dcf1c_0_659">
            <a:extLst>
              <a:ext uri="{FF2B5EF4-FFF2-40B4-BE49-F238E27FC236}">
                <a16:creationId xmlns:a16="http://schemas.microsoft.com/office/drawing/2014/main" id="{B371F4CB-DCC8-3CD6-DC31-021A2610FB6A}"/>
              </a:ext>
            </a:extLst>
          </p:cNvPr>
          <p:cNvSpPr/>
          <p:nvPr/>
        </p:nvSpPr>
        <p:spPr>
          <a:xfrm rot="2431833">
            <a:off x="3535857" y="2503885"/>
            <a:ext cx="258956" cy="2777831"/>
          </a:xfrm>
          <a:prstGeom prst="upDownArrow">
            <a:avLst>
              <a:gd name="adj1" fmla="val 50000"/>
              <a:gd name="adj2" fmla="val 50000"/>
            </a:avLst>
          </a:prstGeom>
          <a:solidFill>
            <a:srgbClr val="93C47D"/>
          </a:solidFill>
          <a:ln w="952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</p:txBody>
      </p:sp>
      <p:sp>
        <p:nvSpPr>
          <p:cNvPr id="1792" name="Google Shape;1792;g60be7dcf1c_0_659">
            <a:extLst>
              <a:ext uri="{FF2B5EF4-FFF2-40B4-BE49-F238E27FC236}">
                <a16:creationId xmlns:a16="http://schemas.microsoft.com/office/drawing/2014/main" id="{C338ECC4-D91E-5C2A-6983-8411539C73E1}"/>
              </a:ext>
            </a:extLst>
          </p:cNvPr>
          <p:cNvSpPr/>
          <p:nvPr/>
        </p:nvSpPr>
        <p:spPr>
          <a:xfrm>
            <a:off x="2095496" y="3519125"/>
            <a:ext cx="1148700" cy="1148700"/>
          </a:xfrm>
          <a:prstGeom prst="ellipse">
            <a:avLst/>
          </a:prstGeom>
          <a:solidFill>
            <a:srgbClr val="93C47D"/>
          </a:solidFill>
          <a:ln w="952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</p:txBody>
      </p:sp>
      <p:sp>
        <p:nvSpPr>
          <p:cNvPr id="1793" name="Google Shape;1793;g60be7dcf1c_0_659">
            <a:extLst>
              <a:ext uri="{FF2B5EF4-FFF2-40B4-BE49-F238E27FC236}">
                <a16:creationId xmlns:a16="http://schemas.microsoft.com/office/drawing/2014/main" id="{1648B607-3CFF-717E-FDFC-8C9D314FCC3E}"/>
              </a:ext>
            </a:extLst>
          </p:cNvPr>
          <p:cNvSpPr txBox="1"/>
          <p:nvPr/>
        </p:nvSpPr>
        <p:spPr>
          <a:xfrm>
            <a:off x="1964825" y="3765086"/>
            <a:ext cx="1435200" cy="5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Potential gain!</a:t>
            </a:r>
          </a:p>
        </p:txBody>
      </p:sp>
      <p:sp>
        <p:nvSpPr>
          <p:cNvPr id="31" name="Google Shape;1698;g60be7dcf1c_0_579">
            <a:extLst>
              <a:ext uri="{FF2B5EF4-FFF2-40B4-BE49-F238E27FC236}">
                <a16:creationId xmlns:a16="http://schemas.microsoft.com/office/drawing/2014/main" id="{122290A3-5383-F959-376F-1DE98D39EBEE}"/>
              </a:ext>
            </a:extLst>
          </p:cNvPr>
          <p:cNvSpPr txBox="1"/>
          <p:nvPr/>
        </p:nvSpPr>
        <p:spPr>
          <a:xfrm>
            <a:off x="1924686" y="5139950"/>
            <a:ext cx="17154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 err="1">
                <a:latin typeface="Consolas"/>
                <a:ea typeface="Consolas"/>
                <a:cs typeface="Consolas"/>
                <a:sym typeface="Consolas"/>
              </a:rPr>
              <a:t>bursty</a:t>
            </a: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 &amp; skewed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" name="Google Shape;1699;g60be7dcf1c_0_579">
            <a:extLst>
              <a:ext uri="{FF2B5EF4-FFF2-40B4-BE49-F238E27FC236}">
                <a16:creationId xmlns:a16="http://schemas.microsoft.com/office/drawing/2014/main" id="{E4B552BC-355A-8739-F5DF-3B4E0B233F36}"/>
              </a:ext>
            </a:extLst>
          </p:cNvPr>
          <p:cNvSpPr txBox="1"/>
          <p:nvPr/>
        </p:nvSpPr>
        <p:spPr>
          <a:xfrm>
            <a:off x="4294601" y="5279616"/>
            <a:ext cx="8889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skewed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" name="Google Shape;1683;g60be7dcf1c_0_579">
            <a:extLst>
              <a:ext uri="{FF2B5EF4-FFF2-40B4-BE49-F238E27FC236}">
                <a16:creationId xmlns:a16="http://schemas.microsoft.com/office/drawing/2014/main" id="{638ED082-2E4B-8703-5E9D-E0819C57C288}"/>
              </a:ext>
            </a:extLst>
          </p:cNvPr>
          <p:cNvSpPr txBox="1"/>
          <p:nvPr/>
        </p:nvSpPr>
        <p:spPr>
          <a:xfrm>
            <a:off x="1947925" y="2095575"/>
            <a:ext cx="11670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 err="1">
                <a:latin typeface="Consolas"/>
                <a:ea typeface="Consolas"/>
                <a:cs typeface="Consolas"/>
                <a:sym typeface="Consolas"/>
              </a:rPr>
              <a:t>bursty</a:t>
            </a:r>
            <a:endParaRPr lang="en-GB" sz="10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" name="Google Shape;1684;g60be7dcf1c_0_579">
            <a:extLst>
              <a:ext uri="{FF2B5EF4-FFF2-40B4-BE49-F238E27FC236}">
                <a16:creationId xmlns:a16="http://schemas.microsoft.com/office/drawing/2014/main" id="{C0775AC7-A335-CB01-D153-618F469EFC05}"/>
              </a:ext>
            </a:extLst>
          </p:cNvPr>
          <p:cNvSpPr txBox="1"/>
          <p:nvPr/>
        </p:nvSpPr>
        <p:spPr>
          <a:xfrm>
            <a:off x="4187225" y="2095575"/>
            <a:ext cx="11670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uniform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620EF948-515D-8DC4-0BD8-8528EC7BDE8B}"/>
              </a:ext>
            </a:extLst>
          </p:cNvPr>
          <p:cNvSpPr/>
          <p:nvPr/>
        </p:nvSpPr>
        <p:spPr>
          <a:xfrm>
            <a:off x="2615821" y="4971954"/>
            <a:ext cx="109182" cy="100084"/>
          </a:xfrm>
          <a:prstGeom prst="ellipse">
            <a:avLst/>
          </a:prstGeom>
          <a:solidFill>
            <a:srgbClr val="4610E0"/>
          </a:solidFill>
          <a:ln>
            <a:solidFill>
              <a:srgbClr val="4610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6" name="Google Shape;1718;g60be7dcf1c_0_603">
            <a:extLst>
              <a:ext uri="{FF2B5EF4-FFF2-40B4-BE49-F238E27FC236}">
                <a16:creationId xmlns:a16="http://schemas.microsoft.com/office/drawing/2014/main" id="{D2365441-2F60-5707-36E1-B421A0933CE3}"/>
              </a:ext>
            </a:extLst>
          </p:cNvPr>
          <p:cNvSpPr txBox="1"/>
          <p:nvPr/>
        </p:nvSpPr>
        <p:spPr>
          <a:xfrm>
            <a:off x="2615821" y="4864274"/>
            <a:ext cx="4938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NN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D1A577C4-E179-B23E-66E0-1D98187B365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55745" y="5975483"/>
            <a:ext cx="898902" cy="540000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8CEEB62B-D7D0-7A0E-E736-8EF7B9A7508B}"/>
              </a:ext>
            </a:extLst>
          </p:cNvPr>
          <p:cNvSpPr/>
          <p:nvPr/>
        </p:nvSpPr>
        <p:spPr>
          <a:xfrm>
            <a:off x="3293464" y="6007055"/>
            <a:ext cx="267663" cy="1716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2D533C7-264A-B858-E71D-488F526D63CE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9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4" name="Google Shape;1688;g60be7dcf1c_0_579">
            <a:extLst>
              <a:ext uri="{FF2B5EF4-FFF2-40B4-BE49-F238E27FC236}">
                <a16:creationId xmlns:a16="http://schemas.microsoft.com/office/drawing/2014/main" id="{924D3244-AFC3-EBB6-8F85-676C9388615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3075" y="324175"/>
            <a:ext cx="8171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Visualizing Workload Structure</a:t>
            </a:r>
            <a:br>
              <a:rPr lang="en-GB" sz="32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Complexity Map</a:t>
            </a:r>
          </a:p>
        </p:txBody>
      </p:sp>
    </p:spTree>
    <p:extLst>
      <p:ext uri="{BB962C8B-B14F-4D97-AF65-F5344CB8AC3E}">
        <p14:creationId xmlns:p14="http://schemas.microsoft.com/office/powerpoint/2010/main" val="35658113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4">
          <a:extLst>
            <a:ext uri="{FF2B5EF4-FFF2-40B4-BE49-F238E27FC236}">
              <a16:creationId xmlns:a16="http://schemas.microsoft.com/office/drawing/2014/main" id="{ECCE18BD-0DB8-FD0C-3341-5632C8462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708;g60be7dcf1c_0_603">
            <a:extLst>
              <a:ext uri="{FF2B5EF4-FFF2-40B4-BE49-F238E27FC236}">
                <a16:creationId xmlns:a16="http://schemas.microsoft.com/office/drawing/2014/main" id="{28D5958B-AA74-CB57-DC4C-AD0FE7BA2BB2}"/>
              </a:ext>
            </a:extLst>
          </p:cNvPr>
          <p:cNvSpPr txBox="1"/>
          <p:nvPr/>
        </p:nvSpPr>
        <p:spPr>
          <a:xfrm>
            <a:off x="0" y="540000"/>
            <a:ext cx="8211000" cy="1054211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pic>
        <p:nvPicPr>
          <p:cNvPr id="1767" name="Google Shape;1767;g60be7dcf1c_0_659">
            <a:extLst>
              <a:ext uri="{FF2B5EF4-FFF2-40B4-BE49-F238E27FC236}">
                <a16:creationId xmlns:a16="http://schemas.microsoft.com/office/drawing/2014/main" id="{BE0084BB-3912-C2D2-FDFD-2ED6F09D5E2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25950" y="2365225"/>
            <a:ext cx="3428276" cy="3428299"/>
          </a:xfrm>
          <a:prstGeom prst="rect">
            <a:avLst/>
          </a:prstGeom>
          <a:noFill/>
          <a:ln>
            <a:noFill/>
          </a:ln>
        </p:spPr>
      </p:pic>
      <p:sp>
        <p:nvSpPr>
          <p:cNvPr id="1768" name="Google Shape;1768;g60be7dcf1c_0_659">
            <a:extLst>
              <a:ext uri="{FF2B5EF4-FFF2-40B4-BE49-F238E27FC236}">
                <a16:creationId xmlns:a16="http://schemas.microsoft.com/office/drawing/2014/main" id="{0B0A07AB-EB85-4FBA-6D28-BA43094BD03C}"/>
              </a:ext>
            </a:extLst>
          </p:cNvPr>
          <p:cNvSpPr txBox="1"/>
          <p:nvPr/>
        </p:nvSpPr>
        <p:spPr>
          <a:xfrm rot="-5400000">
            <a:off x="712750" y="4024400"/>
            <a:ext cx="24375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non-temporal complexity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69" name="Google Shape;1769;g60be7dcf1c_0_659">
            <a:extLst>
              <a:ext uri="{FF2B5EF4-FFF2-40B4-BE49-F238E27FC236}">
                <a16:creationId xmlns:a16="http://schemas.microsoft.com/office/drawing/2014/main" id="{0CC512E3-9E07-8D64-97D2-88D62B447975}"/>
              </a:ext>
            </a:extLst>
          </p:cNvPr>
          <p:cNvSpPr txBox="1"/>
          <p:nvPr/>
        </p:nvSpPr>
        <p:spPr>
          <a:xfrm>
            <a:off x="2179075" y="2916850"/>
            <a:ext cx="11670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pF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70" name="Google Shape;1770;g60be7dcf1c_0_659">
            <a:extLst>
              <a:ext uri="{FF2B5EF4-FFF2-40B4-BE49-F238E27FC236}">
                <a16:creationId xmlns:a16="http://schemas.microsoft.com/office/drawing/2014/main" id="{6FCCAD51-F9C5-373F-A24D-289FFC6D4DA1}"/>
              </a:ext>
            </a:extLst>
          </p:cNvPr>
          <p:cNvSpPr txBox="1"/>
          <p:nvPr/>
        </p:nvSpPr>
        <p:spPr>
          <a:xfrm>
            <a:off x="2854875" y="3179125"/>
            <a:ext cx="4938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CNS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71" name="Google Shape;1771;g60be7dcf1c_0_659">
            <a:extLst>
              <a:ext uri="{FF2B5EF4-FFF2-40B4-BE49-F238E27FC236}">
                <a16:creationId xmlns:a16="http://schemas.microsoft.com/office/drawing/2014/main" id="{E5FBF7C2-4B20-2C5E-A4A9-F490E5AA3DE1}"/>
              </a:ext>
            </a:extLst>
          </p:cNvPr>
          <p:cNvSpPr txBox="1"/>
          <p:nvPr/>
        </p:nvSpPr>
        <p:spPr>
          <a:xfrm>
            <a:off x="3899613" y="3179125"/>
            <a:ext cx="4938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ML</a:t>
            </a:r>
          </a:p>
        </p:txBody>
      </p:sp>
      <p:sp>
        <p:nvSpPr>
          <p:cNvPr id="1772" name="Google Shape;1772;g60be7dcf1c_0_659">
            <a:extLst>
              <a:ext uri="{FF2B5EF4-FFF2-40B4-BE49-F238E27FC236}">
                <a16:creationId xmlns:a16="http://schemas.microsoft.com/office/drawing/2014/main" id="{0849876D-D437-3CBB-DF88-AF42EA536D71}"/>
              </a:ext>
            </a:extLst>
          </p:cNvPr>
          <p:cNvSpPr txBox="1"/>
          <p:nvPr/>
        </p:nvSpPr>
        <p:spPr>
          <a:xfrm>
            <a:off x="4530563" y="3455300"/>
            <a:ext cx="4938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DB</a:t>
            </a:r>
          </a:p>
        </p:txBody>
      </p:sp>
      <p:sp>
        <p:nvSpPr>
          <p:cNvPr id="1773" name="Google Shape;1773;g60be7dcf1c_0_659">
            <a:extLst>
              <a:ext uri="{FF2B5EF4-FFF2-40B4-BE49-F238E27FC236}">
                <a16:creationId xmlns:a16="http://schemas.microsoft.com/office/drawing/2014/main" id="{27B01D92-2C13-9637-8560-6BAD36275CC5}"/>
              </a:ext>
            </a:extLst>
          </p:cNvPr>
          <p:cNvSpPr txBox="1"/>
          <p:nvPr/>
        </p:nvSpPr>
        <p:spPr>
          <a:xfrm>
            <a:off x="4530575" y="3883425"/>
            <a:ext cx="4938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Web</a:t>
            </a:r>
          </a:p>
        </p:txBody>
      </p:sp>
      <p:sp>
        <p:nvSpPr>
          <p:cNvPr id="1774" name="Google Shape;1774;g60be7dcf1c_0_659">
            <a:extLst>
              <a:ext uri="{FF2B5EF4-FFF2-40B4-BE49-F238E27FC236}">
                <a16:creationId xmlns:a16="http://schemas.microsoft.com/office/drawing/2014/main" id="{6E7FDF1A-4DD3-9577-4CB4-08BD34CBCAFF}"/>
              </a:ext>
            </a:extLst>
          </p:cNvPr>
          <p:cNvSpPr txBox="1"/>
          <p:nvPr/>
        </p:nvSpPr>
        <p:spPr>
          <a:xfrm>
            <a:off x="4460100" y="4224525"/>
            <a:ext cx="4938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Had</a:t>
            </a:r>
          </a:p>
        </p:txBody>
      </p:sp>
      <p:sp>
        <p:nvSpPr>
          <p:cNvPr id="1775" name="Google Shape;1775;g60be7dcf1c_0_659">
            <a:extLst>
              <a:ext uri="{FF2B5EF4-FFF2-40B4-BE49-F238E27FC236}">
                <a16:creationId xmlns:a16="http://schemas.microsoft.com/office/drawing/2014/main" id="{969A82C3-A488-363D-DC21-24C7FDE0B05E}"/>
              </a:ext>
            </a:extLst>
          </p:cNvPr>
          <p:cNvSpPr txBox="1"/>
          <p:nvPr/>
        </p:nvSpPr>
        <p:spPr>
          <a:xfrm>
            <a:off x="2781113" y="4194800"/>
            <a:ext cx="9999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Multi 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Grid</a:t>
            </a:r>
          </a:p>
        </p:txBody>
      </p:sp>
      <p:sp>
        <p:nvSpPr>
          <p:cNvPr id="1778" name="Google Shape;1778;g60be7dcf1c_0_659">
            <a:extLst>
              <a:ext uri="{FF2B5EF4-FFF2-40B4-BE49-F238E27FC236}">
                <a16:creationId xmlns:a16="http://schemas.microsoft.com/office/drawing/2014/main" id="{4D8837FF-03F9-9A3E-D32C-DD9FF8EA08E4}"/>
              </a:ext>
            </a:extLst>
          </p:cNvPr>
          <p:cNvSpPr txBox="1"/>
          <p:nvPr/>
        </p:nvSpPr>
        <p:spPr>
          <a:xfrm>
            <a:off x="2506238" y="5616875"/>
            <a:ext cx="22677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temporal complexity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000" dirty="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785" name="Google Shape;1785;g60be7dcf1c_0_659">
            <a:extLst>
              <a:ext uri="{FF2B5EF4-FFF2-40B4-BE49-F238E27FC236}">
                <a16:creationId xmlns:a16="http://schemas.microsoft.com/office/drawing/2014/main" id="{F48CFFE3-CD23-A9BC-5644-1D6A2AD9D22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80000" y="3847600"/>
            <a:ext cx="574999" cy="56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7" name="Google Shape;1787;g60be7dcf1c_0_659">
            <a:extLst>
              <a:ext uri="{FF2B5EF4-FFF2-40B4-BE49-F238E27FC236}">
                <a16:creationId xmlns:a16="http://schemas.microsoft.com/office/drawing/2014/main" id="{28F2A56F-D7BC-4741-2777-0EA619375CEE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2082" t="23315" r="2397" b="4476"/>
          <a:stretch/>
        </p:blipFill>
        <p:spPr>
          <a:xfrm>
            <a:off x="1080000" y="5472750"/>
            <a:ext cx="1593603" cy="924799"/>
          </a:xfrm>
          <a:prstGeom prst="rect">
            <a:avLst/>
          </a:prstGeom>
          <a:noFill/>
          <a:ln w="952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788" name="Google Shape;1788;g60be7dcf1c_0_659">
            <a:extLst>
              <a:ext uri="{FF2B5EF4-FFF2-40B4-BE49-F238E27FC236}">
                <a16:creationId xmlns:a16="http://schemas.microsoft.com/office/drawing/2014/main" id="{390103B9-4470-D241-BEA9-65A84D897E01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b="11520"/>
          <a:stretch/>
        </p:blipFill>
        <p:spPr>
          <a:xfrm>
            <a:off x="5271850" y="2197875"/>
            <a:ext cx="1448572" cy="961175"/>
          </a:xfrm>
          <a:prstGeom prst="rect">
            <a:avLst/>
          </a:prstGeom>
          <a:noFill/>
          <a:ln w="952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791" name="Google Shape;1791;g60be7dcf1c_0_659">
            <a:extLst>
              <a:ext uri="{FF2B5EF4-FFF2-40B4-BE49-F238E27FC236}">
                <a16:creationId xmlns:a16="http://schemas.microsoft.com/office/drawing/2014/main" id="{F255A9D4-F38D-86DE-3CBE-977C15B72102}"/>
              </a:ext>
            </a:extLst>
          </p:cNvPr>
          <p:cNvSpPr/>
          <p:nvPr/>
        </p:nvSpPr>
        <p:spPr>
          <a:xfrm rot="2431833">
            <a:off x="3535857" y="2503885"/>
            <a:ext cx="258956" cy="2777831"/>
          </a:xfrm>
          <a:prstGeom prst="upDownArrow">
            <a:avLst>
              <a:gd name="adj1" fmla="val 50000"/>
              <a:gd name="adj2" fmla="val 50000"/>
            </a:avLst>
          </a:prstGeom>
          <a:solidFill>
            <a:srgbClr val="93C47D"/>
          </a:solidFill>
          <a:ln w="952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</p:txBody>
      </p:sp>
      <p:sp>
        <p:nvSpPr>
          <p:cNvPr id="1792" name="Google Shape;1792;g60be7dcf1c_0_659">
            <a:extLst>
              <a:ext uri="{FF2B5EF4-FFF2-40B4-BE49-F238E27FC236}">
                <a16:creationId xmlns:a16="http://schemas.microsoft.com/office/drawing/2014/main" id="{9ECC537D-811F-C00B-C7D9-5D960F13C2C1}"/>
              </a:ext>
            </a:extLst>
          </p:cNvPr>
          <p:cNvSpPr/>
          <p:nvPr/>
        </p:nvSpPr>
        <p:spPr>
          <a:xfrm>
            <a:off x="2095496" y="3519125"/>
            <a:ext cx="1148700" cy="1148700"/>
          </a:xfrm>
          <a:prstGeom prst="ellipse">
            <a:avLst/>
          </a:prstGeom>
          <a:solidFill>
            <a:srgbClr val="93C47D"/>
          </a:solidFill>
          <a:ln w="952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</p:txBody>
      </p:sp>
      <p:sp>
        <p:nvSpPr>
          <p:cNvPr id="1793" name="Google Shape;1793;g60be7dcf1c_0_659">
            <a:extLst>
              <a:ext uri="{FF2B5EF4-FFF2-40B4-BE49-F238E27FC236}">
                <a16:creationId xmlns:a16="http://schemas.microsoft.com/office/drawing/2014/main" id="{ABBB9B38-B587-9533-68E8-762EB4689526}"/>
              </a:ext>
            </a:extLst>
          </p:cNvPr>
          <p:cNvSpPr txBox="1"/>
          <p:nvPr/>
        </p:nvSpPr>
        <p:spPr>
          <a:xfrm>
            <a:off x="1964825" y="3765086"/>
            <a:ext cx="1435200" cy="5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Potential gain!</a:t>
            </a:r>
          </a:p>
        </p:txBody>
      </p:sp>
      <p:sp>
        <p:nvSpPr>
          <p:cNvPr id="31" name="Google Shape;1698;g60be7dcf1c_0_579">
            <a:extLst>
              <a:ext uri="{FF2B5EF4-FFF2-40B4-BE49-F238E27FC236}">
                <a16:creationId xmlns:a16="http://schemas.microsoft.com/office/drawing/2014/main" id="{3D172ED4-FAAD-8951-1FCB-E8EF90374AAE}"/>
              </a:ext>
            </a:extLst>
          </p:cNvPr>
          <p:cNvSpPr txBox="1"/>
          <p:nvPr/>
        </p:nvSpPr>
        <p:spPr>
          <a:xfrm>
            <a:off x="1924686" y="5139950"/>
            <a:ext cx="17154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 err="1">
                <a:latin typeface="Consolas"/>
                <a:ea typeface="Consolas"/>
                <a:cs typeface="Consolas"/>
                <a:sym typeface="Consolas"/>
              </a:rPr>
              <a:t>bursty</a:t>
            </a: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 &amp; skewed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" name="Google Shape;1699;g60be7dcf1c_0_579">
            <a:extLst>
              <a:ext uri="{FF2B5EF4-FFF2-40B4-BE49-F238E27FC236}">
                <a16:creationId xmlns:a16="http://schemas.microsoft.com/office/drawing/2014/main" id="{748E0AAC-17F3-446F-A7E6-F36D7E259338}"/>
              </a:ext>
            </a:extLst>
          </p:cNvPr>
          <p:cNvSpPr txBox="1"/>
          <p:nvPr/>
        </p:nvSpPr>
        <p:spPr>
          <a:xfrm>
            <a:off x="4294601" y="5279616"/>
            <a:ext cx="8889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skewed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" name="Google Shape;1683;g60be7dcf1c_0_579">
            <a:extLst>
              <a:ext uri="{FF2B5EF4-FFF2-40B4-BE49-F238E27FC236}">
                <a16:creationId xmlns:a16="http://schemas.microsoft.com/office/drawing/2014/main" id="{990FD9ED-4657-1591-9532-02EE94211AC1}"/>
              </a:ext>
            </a:extLst>
          </p:cNvPr>
          <p:cNvSpPr txBox="1"/>
          <p:nvPr/>
        </p:nvSpPr>
        <p:spPr>
          <a:xfrm>
            <a:off x="1947925" y="2095575"/>
            <a:ext cx="11670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 err="1">
                <a:latin typeface="Consolas"/>
                <a:ea typeface="Consolas"/>
                <a:cs typeface="Consolas"/>
                <a:sym typeface="Consolas"/>
              </a:rPr>
              <a:t>bursty</a:t>
            </a:r>
            <a:endParaRPr lang="en-GB" sz="10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" name="Google Shape;1684;g60be7dcf1c_0_579">
            <a:extLst>
              <a:ext uri="{FF2B5EF4-FFF2-40B4-BE49-F238E27FC236}">
                <a16:creationId xmlns:a16="http://schemas.microsoft.com/office/drawing/2014/main" id="{E8DBB555-2778-4FB2-5200-9921219690CF}"/>
              </a:ext>
            </a:extLst>
          </p:cNvPr>
          <p:cNvSpPr txBox="1"/>
          <p:nvPr/>
        </p:nvSpPr>
        <p:spPr>
          <a:xfrm>
            <a:off x="4187225" y="2095575"/>
            <a:ext cx="11670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uniform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7B670542-F489-44A2-89F6-022CB9A5ACC4}"/>
              </a:ext>
            </a:extLst>
          </p:cNvPr>
          <p:cNvSpPr/>
          <p:nvPr/>
        </p:nvSpPr>
        <p:spPr>
          <a:xfrm>
            <a:off x="2615821" y="4971954"/>
            <a:ext cx="109182" cy="100084"/>
          </a:xfrm>
          <a:prstGeom prst="ellipse">
            <a:avLst/>
          </a:prstGeom>
          <a:solidFill>
            <a:srgbClr val="4610E0"/>
          </a:solidFill>
          <a:ln>
            <a:solidFill>
              <a:srgbClr val="4610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6" name="Google Shape;1718;g60be7dcf1c_0_603">
            <a:extLst>
              <a:ext uri="{FF2B5EF4-FFF2-40B4-BE49-F238E27FC236}">
                <a16:creationId xmlns:a16="http://schemas.microsoft.com/office/drawing/2014/main" id="{6AF17206-F507-F9F0-3C23-A5BEBE00926C}"/>
              </a:ext>
            </a:extLst>
          </p:cNvPr>
          <p:cNvSpPr txBox="1"/>
          <p:nvPr/>
        </p:nvSpPr>
        <p:spPr>
          <a:xfrm>
            <a:off x="2615821" y="4864274"/>
            <a:ext cx="4938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NN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8017034B-D6C2-6E96-E957-54DB5C84750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55745" y="5975483"/>
            <a:ext cx="898902" cy="540000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3FE7EAC0-46AF-64F8-5E3D-1B9BF073FA20}"/>
              </a:ext>
            </a:extLst>
          </p:cNvPr>
          <p:cNvSpPr/>
          <p:nvPr/>
        </p:nvSpPr>
        <p:spPr>
          <a:xfrm>
            <a:off x="3293464" y="6007055"/>
            <a:ext cx="267663" cy="1716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4" name="Google Shape;1765;g60be7dcf1c_0_659">
            <a:extLst>
              <a:ext uri="{FF2B5EF4-FFF2-40B4-BE49-F238E27FC236}">
                <a16:creationId xmlns:a16="http://schemas.microsoft.com/office/drawing/2014/main" id="{8B51C048-B008-255B-2FD5-6B7CA01165FF}"/>
              </a:ext>
            </a:extLst>
          </p:cNvPr>
          <p:cNvSpPr txBox="1"/>
          <p:nvPr/>
        </p:nvSpPr>
        <p:spPr>
          <a:xfrm>
            <a:off x="5662727" y="3763028"/>
            <a:ext cx="2675442" cy="1340721"/>
          </a:xfrm>
          <a:prstGeom prst="rect">
            <a:avLst/>
          </a:prstGeom>
          <a:solidFill>
            <a:srgbClr val="93C47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46" name="Google Shape;1766;g60be7dcf1c_0_659">
            <a:extLst>
              <a:ext uri="{FF2B5EF4-FFF2-40B4-BE49-F238E27FC236}">
                <a16:creationId xmlns:a16="http://schemas.microsoft.com/office/drawing/2014/main" id="{F701F977-6D30-8B23-B0C2-7C34E0C0C748}"/>
              </a:ext>
            </a:extLst>
          </p:cNvPr>
          <p:cNvSpPr txBox="1"/>
          <p:nvPr/>
        </p:nvSpPr>
        <p:spPr>
          <a:xfrm>
            <a:off x="5713653" y="3771496"/>
            <a:ext cx="2574877" cy="12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GB"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Systematic </a:t>
            </a:r>
            <a:r>
              <a:rPr lang="en-GB" sz="13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approach</a:t>
            </a:r>
            <a:r>
              <a:rPr lang="en-GB"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: iterative </a:t>
            </a:r>
            <a:r>
              <a:rPr lang="en-GB" sz="1300" b="1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randomization and compression </a:t>
            </a:r>
            <a:r>
              <a:rPr lang="en-GB"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of trace to identify dimensions of structure.</a:t>
            </a:r>
            <a:endParaRPr lang="en-GB" sz="1300" dirty="0">
              <a:solidFill>
                <a:srgbClr val="CC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" name="Google Shape;1688;g60be7dcf1c_0_579">
            <a:extLst>
              <a:ext uri="{FF2B5EF4-FFF2-40B4-BE49-F238E27FC236}">
                <a16:creationId xmlns:a16="http://schemas.microsoft.com/office/drawing/2014/main" id="{4408CA7A-F347-E920-2E84-A9205AA5C6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3075" y="324175"/>
            <a:ext cx="8171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Visualizing Workload Structure</a:t>
            </a:r>
            <a:br>
              <a:rPr lang="en-GB" sz="32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Complexity Map</a:t>
            </a:r>
          </a:p>
        </p:txBody>
      </p:sp>
      <p:sp>
        <p:nvSpPr>
          <p:cNvPr id="3" name="Google Shape;1725;g60be7dcf1c_0_603">
            <a:extLst>
              <a:ext uri="{FF2B5EF4-FFF2-40B4-BE49-F238E27FC236}">
                <a16:creationId xmlns:a16="http://schemas.microsoft.com/office/drawing/2014/main" id="{ECF5B5A1-C032-A24D-E9C6-14BB7173DC95}"/>
              </a:ext>
            </a:extLst>
          </p:cNvPr>
          <p:cNvSpPr txBox="1"/>
          <p:nvPr/>
        </p:nvSpPr>
        <p:spPr>
          <a:xfrm>
            <a:off x="4099841" y="5871223"/>
            <a:ext cx="3833213" cy="647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endParaRPr lang="en-GB" sz="1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03BAB3-F48D-3956-E185-6C0113E3E8B3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9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5406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4">
          <a:extLst>
            <a:ext uri="{FF2B5EF4-FFF2-40B4-BE49-F238E27FC236}">
              <a16:creationId xmlns:a16="http://schemas.microsoft.com/office/drawing/2014/main" id="{4993F54D-EB7A-9BF3-1BF6-86C641B3A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708;g60be7dcf1c_0_603">
            <a:extLst>
              <a:ext uri="{FF2B5EF4-FFF2-40B4-BE49-F238E27FC236}">
                <a16:creationId xmlns:a16="http://schemas.microsoft.com/office/drawing/2014/main" id="{0324F494-C07A-99DD-6B38-ECA622F43831}"/>
              </a:ext>
            </a:extLst>
          </p:cNvPr>
          <p:cNvSpPr txBox="1"/>
          <p:nvPr/>
        </p:nvSpPr>
        <p:spPr>
          <a:xfrm>
            <a:off x="0" y="540000"/>
            <a:ext cx="8211000" cy="1054211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pic>
        <p:nvPicPr>
          <p:cNvPr id="1767" name="Google Shape;1767;g60be7dcf1c_0_659">
            <a:extLst>
              <a:ext uri="{FF2B5EF4-FFF2-40B4-BE49-F238E27FC236}">
                <a16:creationId xmlns:a16="http://schemas.microsoft.com/office/drawing/2014/main" id="{2C7F5ABD-AF5D-090E-4DDA-96E0F3D936D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25950" y="2365225"/>
            <a:ext cx="3428276" cy="3428299"/>
          </a:xfrm>
          <a:prstGeom prst="rect">
            <a:avLst/>
          </a:prstGeom>
          <a:noFill/>
          <a:ln>
            <a:noFill/>
          </a:ln>
        </p:spPr>
      </p:pic>
      <p:sp>
        <p:nvSpPr>
          <p:cNvPr id="1768" name="Google Shape;1768;g60be7dcf1c_0_659">
            <a:extLst>
              <a:ext uri="{FF2B5EF4-FFF2-40B4-BE49-F238E27FC236}">
                <a16:creationId xmlns:a16="http://schemas.microsoft.com/office/drawing/2014/main" id="{D9484205-DD38-D94B-4C78-D574EC2FF3F3}"/>
              </a:ext>
            </a:extLst>
          </p:cNvPr>
          <p:cNvSpPr txBox="1"/>
          <p:nvPr/>
        </p:nvSpPr>
        <p:spPr>
          <a:xfrm rot="-5400000">
            <a:off x="712750" y="4024400"/>
            <a:ext cx="24375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non-temporal complexity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69" name="Google Shape;1769;g60be7dcf1c_0_659">
            <a:extLst>
              <a:ext uri="{FF2B5EF4-FFF2-40B4-BE49-F238E27FC236}">
                <a16:creationId xmlns:a16="http://schemas.microsoft.com/office/drawing/2014/main" id="{048862D5-1BFB-7876-A675-ED2E4FD5E0EA}"/>
              </a:ext>
            </a:extLst>
          </p:cNvPr>
          <p:cNvSpPr txBox="1"/>
          <p:nvPr/>
        </p:nvSpPr>
        <p:spPr>
          <a:xfrm>
            <a:off x="2179075" y="2916850"/>
            <a:ext cx="11670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pF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70" name="Google Shape;1770;g60be7dcf1c_0_659">
            <a:extLst>
              <a:ext uri="{FF2B5EF4-FFF2-40B4-BE49-F238E27FC236}">
                <a16:creationId xmlns:a16="http://schemas.microsoft.com/office/drawing/2014/main" id="{A746B712-CF30-2ED9-C383-52C45443C4CC}"/>
              </a:ext>
            </a:extLst>
          </p:cNvPr>
          <p:cNvSpPr txBox="1"/>
          <p:nvPr/>
        </p:nvSpPr>
        <p:spPr>
          <a:xfrm>
            <a:off x="2854875" y="3179125"/>
            <a:ext cx="4938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CNS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71" name="Google Shape;1771;g60be7dcf1c_0_659">
            <a:extLst>
              <a:ext uri="{FF2B5EF4-FFF2-40B4-BE49-F238E27FC236}">
                <a16:creationId xmlns:a16="http://schemas.microsoft.com/office/drawing/2014/main" id="{3A25B7FF-675A-C8D9-2FF2-57545ACC0AB4}"/>
              </a:ext>
            </a:extLst>
          </p:cNvPr>
          <p:cNvSpPr txBox="1"/>
          <p:nvPr/>
        </p:nvSpPr>
        <p:spPr>
          <a:xfrm>
            <a:off x="3899613" y="3179125"/>
            <a:ext cx="4938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ML</a:t>
            </a:r>
          </a:p>
        </p:txBody>
      </p:sp>
      <p:sp>
        <p:nvSpPr>
          <p:cNvPr id="1772" name="Google Shape;1772;g60be7dcf1c_0_659">
            <a:extLst>
              <a:ext uri="{FF2B5EF4-FFF2-40B4-BE49-F238E27FC236}">
                <a16:creationId xmlns:a16="http://schemas.microsoft.com/office/drawing/2014/main" id="{5F675EB7-2B27-A830-68CD-FC56685C75A6}"/>
              </a:ext>
            </a:extLst>
          </p:cNvPr>
          <p:cNvSpPr txBox="1"/>
          <p:nvPr/>
        </p:nvSpPr>
        <p:spPr>
          <a:xfrm>
            <a:off x="4530563" y="3455300"/>
            <a:ext cx="4938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DB</a:t>
            </a:r>
          </a:p>
        </p:txBody>
      </p:sp>
      <p:sp>
        <p:nvSpPr>
          <p:cNvPr id="1773" name="Google Shape;1773;g60be7dcf1c_0_659">
            <a:extLst>
              <a:ext uri="{FF2B5EF4-FFF2-40B4-BE49-F238E27FC236}">
                <a16:creationId xmlns:a16="http://schemas.microsoft.com/office/drawing/2014/main" id="{56F1F660-8760-8C23-E429-AD791BE19267}"/>
              </a:ext>
            </a:extLst>
          </p:cNvPr>
          <p:cNvSpPr txBox="1"/>
          <p:nvPr/>
        </p:nvSpPr>
        <p:spPr>
          <a:xfrm>
            <a:off x="4530575" y="3883425"/>
            <a:ext cx="4938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Web</a:t>
            </a:r>
          </a:p>
        </p:txBody>
      </p:sp>
      <p:sp>
        <p:nvSpPr>
          <p:cNvPr id="1774" name="Google Shape;1774;g60be7dcf1c_0_659">
            <a:extLst>
              <a:ext uri="{FF2B5EF4-FFF2-40B4-BE49-F238E27FC236}">
                <a16:creationId xmlns:a16="http://schemas.microsoft.com/office/drawing/2014/main" id="{EE1AE6EF-007C-F479-CE3E-A51A195C4A59}"/>
              </a:ext>
            </a:extLst>
          </p:cNvPr>
          <p:cNvSpPr txBox="1"/>
          <p:nvPr/>
        </p:nvSpPr>
        <p:spPr>
          <a:xfrm>
            <a:off x="4460100" y="4224525"/>
            <a:ext cx="4938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Had</a:t>
            </a:r>
          </a:p>
        </p:txBody>
      </p:sp>
      <p:sp>
        <p:nvSpPr>
          <p:cNvPr id="1775" name="Google Shape;1775;g60be7dcf1c_0_659">
            <a:extLst>
              <a:ext uri="{FF2B5EF4-FFF2-40B4-BE49-F238E27FC236}">
                <a16:creationId xmlns:a16="http://schemas.microsoft.com/office/drawing/2014/main" id="{6C0F80E4-2266-76E6-B2A8-16268FFCBBCD}"/>
              </a:ext>
            </a:extLst>
          </p:cNvPr>
          <p:cNvSpPr txBox="1"/>
          <p:nvPr/>
        </p:nvSpPr>
        <p:spPr>
          <a:xfrm>
            <a:off x="2781113" y="4194800"/>
            <a:ext cx="9999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Multi 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Grid</a:t>
            </a:r>
          </a:p>
        </p:txBody>
      </p:sp>
      <p:sp>
        <p:nvSpPr>
          <p:cNvPr id="1778" name="Google Shape;1778;g60be7dcf1c_0_659">
            <a:extLst>
              <a:ext uri="{FF2B5EF4-FFF2-40B4-BE49-F238E27FC236}">
                <a16:creationId xmlns:a16="http://schemas.microsoft.com/office/drawing/2014/main" id="{66BD2067-FD23-19C0-A678-B1DC142E3BF4}"/>
              </a:ext>
            </a:extLst>
          </p:cNvPr>
          <p:cNvSpPr txBox="1"/>
          <p:nvPr/>
        </p:nvSpPr>
        <p:spPr>
          <a:xfrm>
            <a:off x="2506238" y="5616875"/>
            <a:ext cx="22677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temporal complexity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000" dirty="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785" name="Google Shape;1785;g60be7dcf1c_0_659">
            <a:extLst>
              <a:ext uri="{FF2B5EF4-FFF2-40B4-BE49-F238E27FC236}">
                <a16:creationId xmlns:a16="http://schemas.microsoft.com/office/drawing/2014/main" id="{1A974022-4295-1C64-B2BB-445580885F4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80000" y="3847600"/>
            <a:ext cx="574999" cy="56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7" name="Google Shape;1787;g60be7dcf1c_0_659">
            <a:extLst>
              <a:ext uri="{FF2B5EF4-FFF2-40B4-BE49-F238E27FC236}">
                <a16:creationId xmlns:a16="http://schemas.microsoft.com/office/drawing/2014/main" id="{705FDC27-DDE6-C536-4008-7556E2F89400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2082" t="23315" r="2397" b="4476"/>
          <a:stretch/>
        </p:blipFill>
        <p:spPr>
          <a:xfrm>
            <a:off x="1080000" y="5472750"/>
            <a:ext cx="1593603" cy="924799"/>
          </a:xfrm>
          <a:prstGeom prst="rect">
            <a:avLst/>
          </a:prstGeom>
          <a:noFill/>
          <a:ln w="952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788" name="Google Shape;1788;g60be7dcf1c_0_659">
            <a:extLst>
              <a:ext uri="{FF2B5EF4-FFF2-40B4-BE49-F238E27FC236}">
                <a16:creationId xmlns:a16="http://schemas.microsoft.com/office/drawing/2014/main" id="{1C83F02A-0EC2-9EB7-7343-DF92696ED195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b="11520"/>
          <a:stretch/>
        </p:blipFill>
        <p:spPr>
          <a:xfrm>
            <a:off x="5271850" y="2197875"/>
            <a:ext cx="1448572" cy="961175"/>
          </a:xfrm>
          <a:prstGeom prst="rect">
            <a:avLst/>
          </a:prstGeom>
          <a:noFill/>
          <a:ln w="952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791" name="Google Shape;1791;g60be7dcf1c_0_659">
            <a:extLst>
              <a:ext uri="{FF2B5EF4-FFF2-40B4-BE49-F238E27FC236}">
                <a16:creationId xmlns:a16="http://schemas.microsoft.com/office/drawing/2014/main" id="{5806CA49-CA18-366E-134B-0165C1B645AA}"/>
              </a:ext>
            </a:extLst>
          </p:cNvPr>
          <p:cNvSpPr/>
          <p:nvPr/>
        </p:nvSpPr>
        <p:spPr>
          <a:xfrm rot="2431833">
            <a:off x="3535857" y="2503885"/>
            <a:ext cx="258956" cy="2777831"/>
          </a:xfrm>
          <a:prstGeom prst="upDownArrow">
            <a:avLst>
              <a:gd name="adj1" fmla="val 50000"/>
              <a:gd name="adj2" fmla="val 50000"/>
            </a:avLst>
          </a:prstGeom>
          <a:solidFill>
            <a:srgbClr val="93C47D"/>
          </a:solidFill>
          <a:ln w="952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</p:txBody>
      </p:sp>
      <p:sp>
        <p:nvSpPr>
          <p:cNvPr id="1792" name="Google Shape;1792;g60be7dcf1c_0_659">
            <a:extLst>
              <a:ext uri="{FF2B5EF4-FFF2-40B4-BE49-F238E27FC236}">
                <a16:creationId xmlns:a16="http://schemas.microsoft.com/office/drawing/2014/main" id="{8621A210-1072-A2C2-41AC-E77FE2F1C4B8}"/>
              </a:ext>
            </a:extLst>
          </p:cNvPr>
          <p:cNvSpPr/>
          <p:nvPr/>
        </p:nvSpPr>
        <p:spPr>
          <a:xfrm>
            <a:off x="2095496" y="3519125"/>
            <a:ext cx="1148700" cy="1148700"/>
          </a:xfrm>
          <a:prstGeom prst="ellipse">
            <a:avLst/>
          </a:prstGeom>
          <a:solidFill>
            <a:srgbClr val="93C47D"/>
          </a:solidFill>
          <a:ln w="952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</p:txBody>
      </p:sp>
      <p:sp>
        <p:nvSpPr>
          <p:cNvPr id="1793" name="Google Shape;1793;g60be7dcf1c_0_659">
            <a:extLst>
              <a:ext uri="{FF2B5EF4-FFF2-40B4-BE49-F238E27FC236}">
                <a16:creationId xmlns:a16="http://schemas.microsoft.com/office/drawing/2014/main" id="{78EF0489-ED6A-670D-EC79-082802795ABD}"/>
              </a:ext>
            </a:extLst>
          </p:cNvPr>
          <p:cNvSpPr txBox="1"/>
          <p:nvPr/>
        </p:nvSpPr>
        <p:spPr>
          <a:xfrm>
            <a:off x="1964825" y="3765086"/>
            <a:ext cx="1435200" cy="5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Potential gain!</a:t>
            </a:r>
          </a:p>
        </p:txBody>
      </p:sp>
      <p:sp>
        <p:nvSpPr>
          <p:cNvPr id="31" name="Google Shape;1698;g60be7dcf1c_0_579">
            <a:extLst>
              <a:ext uri="{FF2B5EF4-FFF2-40B4-BE49-F238E27FC236}">
                <a16:creationId xmlns:a16="http://schemas.microsoft.com/office/drawing/2014/main" id="{8395AF48-C09A-9E8C-1A56-23879948583E}"/>
              </a:ext>
            </a:extLst>
          </p:cNvPr>
          <p:cNvSpPr txBox="1"/>
          <p:nvPr/>
        </p:nvSpPr>
        <p:spPr>
          <a:xfrm>
            <a:off x="1924686" y="5139950"/>
            <a:ext cx="17154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 err="1">
                <a:latin typeface="Consolas"/>
                <a:ea typeface="Consolas"/>
                <a:cs typeface="Consolas"/>
                <a:sym typeface="Consolas"/>
              </a:rPr>
              <a:t>bursty</a:t>
            </a: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 &amp; skewed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" name="Google Shape;1699;g60be7dcf1c_0_579">
            <a:extLst>
              <a:ext uri="{FF2B5EF4-FFF2-40B4-BE49-F238E27FC236}">
                <a16:creationId xmlns:a16="http://schemas.microsoft.com/office/drawing/2014/main" id="{1D77E5C7-84D4-3596-3BB2-CE93C56E028C}"/>
              </a:ext>
            </a:extLst>
          </p:cNvPr>
          <p:cNvSpPr txBox="1"/>
          <p:nvPr/>
        </p:nvSpPr>
        <p:spPr>
          <a:xfrm>
            <a:off x="4294601" y="5279616"/>
            <a:ext cx="8889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skewed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" name="Google Shape;1683;g60be7dcf1c_0_579">
            <a:extLst>
              <a:ext uri="{FF2B5EF4-FFF2-40B4-BE49-F238E27FC236}">
                <a16:creationId xmlns:a16="http://schemas.microsoft.com/office/drawing/2014/main" id="{9D476DFC-C2E7-8F2F-5B76-282C99368D71}"/>
              </a:ext>
            </a:extLst>
          </p:cNvPr>
          <p:cNvSpPr txBox="1"/>
          <p:nvPr/>
        </p:nvSpPr>
        <p:spPr>
          <a:xfrm>
            <a:off x="1947925" y="2095575"/>
            <a:ext cx="11670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 err="1">
                <a:latin typeface="Consolas"/>
                <a:ea typeface="Consolas"/>
                <a:cs typeface="Consolas"/>
                <a:sym typeface="Consolas"/>
              </a:rPr>
              <a:t>bursty</a:t>
            </a:r>
            <a:endParaRPr lang="en-GB" sz="10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" name="Google Shape;1684;g60be7dcf1c_0_579">
            <a:extLst>
              <a:ext uri="{FF2B5EF4-FFF2-40B4-BE49-F238E27FC236}">
                <a16:creationId xmlns:a16="http://schemas.microsoft.com/office/drawing/2014/main" id="{E8DBF068-2438-674D-605A-5FAE683AD03F}"/>
              </a:ext>
            </a:extLst>
          </p:cNvPr>
          <p:cNvSpPr txBox="1"/>
          <p:nvPr/>
        </p:nvSpPr>
        <p:spPr>
          <a:xfrm>
            <a:off x="4187225" y="2095575"/>
            <a:ext cx="11670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uniform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B7DE5EC9-3686-4CDB-1E78-9C80C0F178B0}"/>
              </a:ext>
            </a:extLst>
          </p:cNvPr>
          <p:cNvSpPr/>
          <p:nvPr/>
        </p:nvSpPr>
        <p:spPr>
          <a:xfrm>
            <a:off x="2615821" y="4971954"/>
            <a:ext cx="109182" cy="100084"/>
          </a:xfrm>
          <a:prstGeom prst="ellipse">
            <a:avLst/>
          </a:prstGeom>
          <a:solidFill>
            <a:srgbClr val="4610E0"/>
          </a:solidFill>
          <a:ln>
            <a:solidFill>
              <a:srgbClr val="4610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6" name="Google Shape;1718;g60be7dcf1c_0_603">
            <a:extLst>
              <a:ext uri="{FF2B5EF4-FFF2-40B4-BE49-F238E27FC236}">
                <a16:creationId xmlns:a16="http://schemas.microsoft.com/office/drawing/2014/main" id="{571BA76B-C50E-4E8D-BDB9-C849BD75BC12}"/>
              </a:ext>
            </a:extLst>
          </p:cNvPr>
          <p:cNvSpPr txBox="1"/>
          <p:nvPr/>
        </p:nvSpPr>
        <p:spPr>
          <a:xfrm>
            <a:off x="2615821" y="4864274"/>
            <a:ext cx="4938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NN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5480D101-2FCA-1E76-0B13-6630D338C42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55745" y="5975483"/>
            <a:ext cx="898902" cy="540000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1BD9F43E-B595-95EB-9048-DE18864DE2B6}"/>
              </a:ext>
            </a:extLst>
          </p:cNvPr>
          <p:cNvSpPr/>
          <p:nvPr/>
        </p:nvSpPr>
        <p:spPr>
          <a:xfrm>
            <a:off x="3293464" y="6007055"/>
            <a:ext cx="267663" cy="1716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Google Shape;1688;g60be7dcf1c_0_579">
            <a:extLst>
              <a:ext uri="{FF2B5EF4-FFF2-40B4-BE49-F238E27FC236}">
                <a16:creationId xmlns:a16="http://schemas.microsoft.com/office/drawing/2014/main" id="{0CEC8818-F81C-FBA5-48B4-306E8D01C1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3075" y="324175"/>
            <a:ext cx="8171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Visualizing Workload Structure</a:t>
            </a:r>
            <a:br>
              <a:rPr lang="en-GB" sz="32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Complexity Map</a:t>
            </a:r>
          </a:p>
        </p:txBody>
      </p:sp>
      <p:sp>
        <p:nvSpPr>
          <p:cNvPr id="3" name="Google Shape;1725;g60be7dcf1c_0_603">
            <a:extLst>
              <a:ext uri="{FF2B5EF4-FFF2-40B4-BE49-F238E27FC236}">
                <a16:creationId xmlns:a16="http://schemas.microsoft.com/office/drawing/2014/main" id="{67D0C75D-9E48-0BBE-BEFA-B863A0AC99EE}"/>
              </a:ext>
            </a:extLst>
          </p:cNvPr>
          <p:cNvSpPr txBox="1"/>
          <p:nvPr/>
        </p:nvSpPr>
        <p:spPr>
          <a:xfrm>
            <a:off x="4099841" y="5871223"/>
            <a:ext cx="3833213" cy="647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endParaRPr lang="en-GB" sz="1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4F19C7-95FC-1AE7-ED82-0F64BFD6742F}"/>
              </a:ext>
            </a:extLst>
          </p:cNvPr>
          <p:cNvSpPr txBox="1"/>
          <p:nvPr/>
        </p:nvSpPr>
        <p:spPr>
          <a:xfrm>
            <a:off x="5354225" y="6194854"/>
            <a:ext cx="390803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GB" sz="1000" b="1" dirty="0">
                <a:latin typeface="Consolas"/>
                <a:ea typeface="Consolas"/>
                <a:cs typeface="Consolas"/>
                <a:sym typeface="Consolas"/>
              </a:rPr>
              <a:t>Further reading:</a:t>
            </a:r>
          </a:p>
          <a:p>
            <a:pPr lvl="0"/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On the Complexity of Traffic Traces and Implications</a:t>
            </a:r>
          </a:p>
          <a:p>
            <a:pPr lvl="0"/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Chen Avin et al. ACM </a:t>
            </a:r>
            <a:r>
              <a:rPr lang="en-GB" sz="1000" b="1" dirty="0" err="1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Sigmetrics</a:t>
            </a:r>
            <a:r>
              <a:rPr lang="en-GB" sz="1000" b="1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 2020</a:t>
            </a: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.</a:t>
            </a:r>
          </a:p>
        </p:txBody>
      </p:sp>
      <p:sp>
        <p:nvSpPr>
          <p:cNvPr id="5" name="Google Shape;1765;g60be7dcf1c_0_659">
            <a:extLst>
              <a:ext uri="{FF2B5EF4-FFF2-40B4-BE49-F238E27FC236}">
                <a16:creationId xmlns:a16="http://schemas.microsoft.com/office/drawing/2014/main" id="{130ACD95-C35D-290F-3379-3CA5E644EF8A}"/>
              </a:ext>
            </a:extLst>
          </p:cNvPr>
          <p:cNvSpPr txBox="1"/>
          <p:nvPr/>
        </p:nvSpPr>
        <p:spPr>
          <a:xfrm>
            <a:off x="5662727" y="3763028"/>
            <a:ext cx="2675442" cy="1340721"/>
          </a:xfrm>
          <a:prstGeom prst="rect">
            <a:avLst/>
          </a:prstGeom>
          <a:solidFill>
            <a:srgbClr val="93C47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9" name="Google Shape;1766;g60be7dcf1c_0_659">
            <a:extLst>
              <a:ext uri="{FF2B5EF4-FFF2-40B4-BE49-F238E27FC236}">
                <a16:creationId xmlns:a16="http://schemas.microsoft.com/office/drawing/2014/main" id="{312B4598-4462-DC8F-EBA5-C86E71540960}"/>
              </a:ext>
            </a:extLst>
          </p:cNvPr>
          <p:cNvSpPr txBox="1"/>
          <p:nvPr/>
        </p:nvSpPr>
        <p:spPr>
          <a:xfrm>
            <a:off x="5713653" y="3771496"/>
            <a:ext cx="2574877" cy="12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GB"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Systematic </a:t>
            </a:r>
            <a:r>
              <a:rPr lang="en-GB" sz="13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approach</a:t>
            </a:r>
            <a:r>
              <a:rPr lang="en-GB"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: iterative </a:t>
            </a:r>
            <a:r>
              <a:rPr lang="en-GB" sz="1300" b="1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randomization and compression </a:t>
            </a:r>
            <a:r>
              <a:rPr lang="en-GB"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of trace to identify dimensions of structure.</a:t>
            </a:r>
            <a:endParaRPr lang="en-GB" sz="1300" dirty="0">
              <a:solidFill>
                <a:srgbClr val="CC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6639245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1708;g60be7dcf1c_0_603">
            <a:extLst>
              <a:ext uri="{FF2B5EF4-FFF2-40B4-BE49-F238E27FC236}">
                <a16:creationId xmlns:a16="http://schemas.microsoft.com/office/drawing/2014/main" id="{8AED616F-752F-4375-8CF9-6E68520CB7E4}"/>
              </a:ext>
            </a:extLst>
          </p:cNvPr>
          <p:cNvSpPr txBox="1"/>
          <p:nvPr/>
        </p:nvSpPr>
        <p:spPr>
          <a:xfrm>
            <a:off x="0" y="540000"/>
            <a:ext cx="8211000" cy="968915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37" name="Google Shape;1688;g60be7dcf1c_0_579">
            <a:extLst>
              <a:ext uri="{FF2B5EF4-FFF2-40B4-BE49-F238E27FC236}">
                <a16:creationId xmlns:a16="http://schemas.microsoft.com/office/drawing/2014/main" id="{FD170CCF-25CC-4C07-AE74-19406B3AFE3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3075" y="324175"/>
            <a:ext cx="8171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l">
              <a:lnSpc>
                <a:spcPct val="115000"/>
              </a:lnSpc>
              <a:buSzPts val="1100"/>
            </a:pPr>
            <a:r>
              <a:rPr lang="en-GB" sz="2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Traffic is also clustered: bi-clustering results</a:t>
            </a:r>
            <a:br>
              <a:rPr lang="en-GB" sz="32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Small Stable Clusters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264335A-65DA-4531-8598-6F3B7A1B81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022" y="2432649"/>
            <a:ext cx="2341119" cy="231547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28776EF-8D0F-4570-B45C-8A592067A9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4412" y="2410707"/>
            <a:ext cx="2341119" cy="2337415"/>
          </a:xfrm>
          <a:prstGeom prst="rect">
            <a:avLst/>
          </a:prstGeom>
        </p:spPr>
      </p:pic>
      <p:sp>
        <p:nvSpPr>
          <p:cNvPr id="6" name="Google Shape;1343;g60be7dcf1c_0_242">
            <a:extLst>
              <a:ext uri="{FF2B5EF4-FFF2-40B4-BE49-F238E27FC236}">
                <a16:creationId xmlns:a16="http://schemas.microsoft.com/office/drawing/2014/main" id="{1A36263F-B8EC-48F4-958C-090DFE63984D}"/>
              </a:ext>
            </a:extLst>
          </p:cNvPr>
          <p:cNvSpPr/>
          <p:nvPr/>
        </p:nvSpPr>
        <p:spPr>
          <a:xfrm>
            <a:off x="3449589" y="3359988"/>
            <a:ext cx="2123075" cy="614400"/>
          </a:xfrm>
          <a:prstGeom prst="homePlate">
            <a:avLst>
              <a:gd name="adj" fmla="val 50000"/>
            </a:avLst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26E68A1-FC74-4EC1-B356-C880BF984306}"/>
              </a:ext>
            </a:extLst>
          </p:cNvPr>
          <p:cNvSpPr/>
          <p:nvPr/>
        </p:nvSpPr>
        <p:spPr>
          <a:xfrm>
            <a:off x="3515861" y="3405578"/>
            <a:ext cx="18238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200" dirty="0">
                <a:latin typeface="Consolas" panose="020B0609020204030204" pitchFamily="49" charset="0"/>
              </a:rPr>
              <a:t>r</a:t>
            </a:r>
            <a:r>
              <a:rPr lang="en-AT" sz="1200" dirty="0" err="1">
                <a:latin typeface="Consolas" panose="020B0609020204030204" pitchFamily="49" charset="0"/>
              </a:rPr>
              <a:t>eordering</a:t>
            </a:r>
            <a:r>
              <a:rPr lang="de-DE" sz="1200" dirty="0">
                <a:latin typeface="Consolas" panose="020B0609020204030204" pitchFamily="49" charset="0"/>
              </a:rPr>
              <a:t> </a:t>
            </a:r>
            <a:r>
              <a:rPr lang="de-DE" sz="1200" dirty="0" err="1">
                <a:latin typeface="Consolas" panose="020B0609020204030204" pitchFamily="49" charset="0"/>
              </a:rPr>
              <a:t>based</a:t>
            </a:r>
            <a:r>
              <a:rPr lang="de-DE" sz="1200" dirty="0">
                <a:latin typeface="Consolas" panose="020B0609020204030204" pitchFamily="49" charset="0"/>
              </a:rPr>
              <a:t> on</a:t>
            </a:r>
            <a:endParaRPr lang="en-AT" sz="1200" dirty="0">
              <a:latin typeface="Consolas" panose="020B0609020204030204" pitchFamily="49" charset="0"/>
            </a:endParaRPr>
          </a:p>
          <a:p>
            <a:r>
              <a:rPr lang="en-GB" sz="1200" dirty="0" err="1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bicluster</a:t>
            </a:r>
            <a:r>
              <a:rPr lang="en-AT" sz="1200" dirty="0">
                <a:latin typeface="Consolas" panose="020B0609020204030204" pitchFamily="49" charset="0"/>
              </a:rPr>
              <a:t> structure</a:t>
            </a:r>
          </a:p>
        </p:txBody>
      </p:sp>
      <p:sp>
        <p:nvSpPr>
          <p:cNvPr id="9" name="Google Shape;1725;g60be7dcf1c_0_603">
            <a:extLst>
              <a:ext uri="{FF2B5EF4-FFF2-40B4-BE49-F238E27FC236}">
                <a16:creationId xmlns:a16="http://schemas.microsoft.com/office/drawing/2014/main" id="{DEA3564D-22C3-41B4-96F7-B165674F77EC}"/>
              </a:ext>
            </a:extLst>
          </p:cNvPr>
          <p:cNvSpPr txBox="1"/>
          <p:nvPr/>
        </p:nvSpPr>
        <p:spPr>
          <a:xfrm>
            <a:off x="3884841" y="6363275"/>
            <a:ext cx="3885888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" name="Google Shape;1483;g60be7dcf1c_0_386">
            <a:extLst>
              <a:ext uri="{FF2B5EF4-FFF2-40B4-BE49-F238E27FC236}">
                <a16:creationId xmlns:a16="http://schemas.microsoft.com/office/drawing/2014/main" id="{FF808620-127E-45CD-A881-5ECD5E5FA78E}"/>
              </a:ext>
            </a:extLst>
          </p:cNvPr>
          <p:cNvSpPr txBox="1"/>
          <p:nvPr/>
        </p:nvSpPr>
        <p:spPr>
          <a:xfrm>
            <a:off x="1001022" y="5248861"/>
            <a:ext cx="7557300" cy="5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GB" sz="1700" dirty="0">
                <a:latin typeface="Consolas"/>
                <a:ea typeface="Consolas"/>
                <a:cs typeface="Consolas"/>
                <a:sym typeface="Consolas"/>
              </a:rPr>
              <a:t>Opportunity: </a:t>
            </a:r>
            <a:r>
              <a:rPr lang="en-GB" sz="1700" i="1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exploit</a:t>
            </a:r>
            <a:r>
              <a:rPr lang="en-GB" sz="1700" dirty="0">
                <a:latin typeface="Consolas"/>
                <a:ea typeface="Consolas"/>
                <a:cs typeface="Consolas"/>
                <a:sym typeface="Consolas"/>
              </a:rPr>
              <a:t> with little reconfigurations!</a:t>
            </a:r>
          </a:p>
          <a:p>
            <a:pPr lvl="0">
              <a:lnSpc>
                <a:spcPct val="115000"/>
              </a:lnSpc>
            </a:pPr>
            <a:endParaRPr lang="en-GB" sz="17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614A5F-0669-4C3D-53E2-5A99D2A2A755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10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04602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6">
          <a:extLst>
            <a:ext uri="{FF2B5EF4-FFF2-40B4-BE49-F238E27FC236}">
              <a16:creationId xmlns:a16="http://schemas.microsoft.com/office/drawing/2014/main" id="{F0436F22-A34B-D77B-F8DC-9A700F574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1708;g60be7dcf1c_0_603">
            <a:extLst>
              <a:ext uri="{FF2B5EF4-FFF2-40B4-BE49-F238E27FC236}">
                <a16:creationId xmlns:a16="http://schemas.microsoft.com/office/drawing/2014/main" id="{613B4608-3A92-440A-5393-ED9485450B52}"/>
              </a:ext>
            </a:extLst>
          </p:cNvPr>
          <p:cNvSpPr txBox="1"/>
          <p:nvPr/>
        </p:nvSpPr>
        <p:spPr>
          <a:xfrm>
            <a:off x="0" y="540000"/>
            <a:ext cx="8211000" cy="968915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37" name="Google Shape;1688;g60be7dcf1c_0_579">
            <a:extLst>
              <a:ext uri="{FF2B5EF4-FFF2-40B4-BE49-F238E27FC236}">
                <a16:creationId xmlns:a16="http://schemas.microsoft.com/office/drawing/2014/main" id="{F7F28F7D-8D61-7159-9A8A-6A0854B156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3075" y="324175"/>
            <a:ext cx="8171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l">
              <a:lnSpc>
                <a:spcPct val="115000"/>
              </a:lnSpc>
              <a:buSzPts val="1100"/>
            </a:pPr>
            <a:r>
              <a:rPr lang="en-GB" sz="2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Traffic is also clustered: bi-clustering results</a:t>
            </a:r>
            <a:br>
              <a:rPr lang="en-GB" sz="32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Small Stable Clusters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43E6915-3ADE-29B5-425C-086105BA92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022" y="2432649"/>
            <a:ext cx="2341119" cy="231547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A47F18A-7B1D-F139-1CE6-0AB7864581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4412" y="2410707"/>
            <a:ext cx="2341119" cy="2337415"/>
          </a:xfrm>
          <a:prstGeom prst="rect">
            <a:avLst/>
          </a:prstGeom>
        </p:spPr>
      </p:pic>
      <p:sp>
        <p:nvSpPr>
          <p:cNvPr id="6" name="Google Shape;1343;g60be7dcf1c_0_242">
            <a:extLst>
              <a:ext uri="{FF2B5EF4-FFF2-40B4-BE49-F238E27FC236}">
                <a16:creationId xmlns:a16="http://schemas.microsoft.com/office/drawing/2014/main" id="{599CA7AD-5DB7-61C3-A9E8-74A4F979B46B}"/>
              </a:ext>
            </a:extLst>
          </p:cNvPr>
          <p:cNvSpPr/>
          <p:nvPr/>
        </p:nvSpPr>
        <p:spPr>
          <a:xfrm>
            <a:off x="3449589" y="3359988"/>
            <a:ext cx="2123075" cy="614400"/>
          </a:xfrm>
          <a:prstGeom prst="homePlate">
            <a:avLst>
              <a:gd name="adj" fmla="val 50000"/>
            </a:avLst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9FF04B3-EE23-60E6-9A35-BAC2DB46641E}"/>
              </a:ext>
            </a:extLst>
          </p:cNvPr>
          <p:cNvSpPr/>
          <p:nvPr/>
        </p:nvSpPr>
        <p:spPr>
          <a:xfrm>
            <a:off x="3515861" y="3405578"/>
            <a:ext cx="18238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200" dirty="0">
                <a:latin typeface="Consolas" panose="020B0609020204030204" pitchFamily="49" charset="0"/>
              </a:rPr>
              <a:t>r</a:t>
            </a:r>
            <a:r>
              <a:rPr lang="en-AT" sz="1200" dirty="0" err="1">
                <a:latin typeface="Consolas" panose="020B0609020204030204" pitchFamily="49" charset="0"/>
              </a:rPr>
              <a:t>eordering</a:t>
            </a:r>
            <a:r>
              <a:rPr lang="de-DE" sz="1200" dirty="0">
                <a:latin typeface="Consolas" panose="020B0609020204030204" pitchFamily="49" charset="0"/>
              </a:rPr>
              <a:t> </a:t>
            </a:r>
            <a:r>
              <a:rPr lang="de-DE" sz="1200" dirty="0" err="1">
                <a:latin typeface="Consolas" panose="020B0609020204030204" pitchFamily="49" charset="0"/>
              </a:rPr>
              <a:t>based</a:t>
            </a:r>
            <a:r>
              <a:rPr lang="de-DE" sz="1200" dirty="0">
                <a:latin typeface="Consolas" panose="020B0609020204030204" pitchFamily="49" charset="0"/>
              </a:rPr>
              <a:t> on</a:t>
            </a:r>
            <a:endParaRPr lang="en-AT" sz="1200" dirty="0">
              <a:latin typeface="Consolas" panose="020B0609020204030204" pitchFamily="49" charset="0"/>
            </a:endParaRPr>
          </a:p>
          <a:p>
            <a:r>
              <a:rPr lang="en-GB" sz="1200" dirty="0" err="1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bicluster</a:t>
            </a:r>
            <a:r>
              <a:rPr lang="en-AT" sz="1200" dirty="0">
                <a:latin typeface="Consolas" panose="020B0609020204030204" pitchFamily="49" charset="0"/>
              </a:rPr>
              <a:t> structure</a:t>
            </a:r>
          </a:p>
        </p:txBody>
      </p:sp>
      <p:sp>
        <p:nvSpPr>
          <p:cNvPr id="9" name="Google Shape;1725;g60be7dcf1c_0_603">
            <a:extLst>
              <a:ext uri="{FF2B5EF4-FFF2-40B4-BE49-F238E27FC236}">
                <a16:creationId xmlns:a16="http://schemas.microsoft.com/office/drawing/2014/main" id="{22120328-3332-06E5-8B48-F07F246AA9DE}"/>
              </a:ext>
            </a:extLst>
          </p:cNvPr>
          <p:cNvSpPr txBox="1"/>
          <p:nvPr/>
        </p:nvSpPr>
        <p:spPr>
          <a:xfrm>
            <a:off x="3884841" y="6363275"/>
            <a:ext cx="3885888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" name="Google Shape;1483;g60be7dcf1c_0_386">
            <a:extLst>
              <a:ext uri="{FF2B5EF4-FFF2-40B4-BE49-F238E27FC236}">
                <a16:creationId xmlns:a16="http://schemas.microsoft.com/office/drawing/2014/main" id="{2CB7778E-6A14-89E2-0110-FB6AE81E64DE}"/>
              </a:ext>
            </a:extLst>
          </p:cNvPr>
          <p:cNvSpPr txBox="1"/>
          <p:nvPr/>
        </p:nvSpPr>
        <p:spPr>
          <a:xfrm>
            <a:off x="1001022" y="5248861"/>
            <a:ext cx="7557300" cy="5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GB" sz="1700" dirty="0">
                <a:latin typeface="Consolas"/>
                <a:ea typeface="Consolas"/>
                <a:cs typeface="Consolas"/>
                <a:sym typeface="Consolas"/>
              </a:rPr>
              <a:t>Opportunity: </a:t>
            </a:r>
            <a:r>
              <a:rPr lang="en-GB" sz="1700" i="1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exploit</a:t>
            </a:r>
            <a:r>
              <a:rPr lang="en-GB" sz="1700" dirty="0">
                <a:latin typeface="Consolas"/>
                <a:ea typeface="Consolas"/>
                <a:cs typeface="Consolas"/>
                <a:sym typeface="Consolas"/>
              </a:rPr>
              <a:t> with little reconfigurations!</a:t>
            </a:r>
          </a:p>
          <a:p>
            <a:pPr lvl="0">
              <a:lnSpc>
                <a:spcPct val="115000"/>
              </a:lnSpc>
            </a:pPr>
            <a:endParaRPr lang="en-GB" sz="17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3CC07E-D241-C3CC-A4CB-880BFB8C2DCB}"/>
              </a:ext>
            </a:extLst>
          </p:cNvPr>
          <p:cNvSpPr txBox="1"/>
          <p:nvPr/>
        </p:nvSpPr>
        <p:spPr>
          <a:xfrm>
            <a:off x="5934831" y="6150377"/>
            <a:ext cx="297503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GB" sz="1000" b="1" dirty="0">
                <a:latin typeface="Consolas"/>
                <a:ea typeface="Consolas"/>
                <a:cs typeface="Consolas"/>
                <a:sym typeface="Consolas"/>
              </a:rPr>
              <a:t>Further reading:</a:t>
            </a:r>
          </a:p>
          <a:p>
            <a:pPr lvl="0"/>
            <a:r>
              <a:rPr lang="en-US" sz="1000" dirty="0">
                <a:latin typeface="Consolas"/>
                <a:ea typeface="Consolas"/>
                <a:cs typeface="Consolas"/>
                <a:sym typeface="Consolas"/>
              </a:rPr>
              <a:t>Analyzing the Communication Clusters in Datacenters. </a:t>
            </a: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Förster et al.,</a:t>
            </a:r>
            <a:r>
              <a:rPr lang="en-US" sz="1000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000" b="1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WWW 2023</a:t>
            </a: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786022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6" name="Google Shape;1516;g60be7dcf1c_0_421"/>
          <p:cNvSpPr txBox="1"/>
          <p:nvPr/>
        </p:nvSpPr>
        <p:spPr>
          <a:xfrm>
            <a:off x="0" y="540000"/>
            <a:ext cx="8211000" cy="1739469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de-DE"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7" name="Google Shape;1517;g60be7dcf1c_0_421"/>
          <p:cNvSpPr txBox="1">
            <a:spLocks noGrp="1"/>
          </p:cNvSpPr>
          <p:nvPr>
            <p:ph type="title"/>
          </p:nvPr>
        </p:nvSpPr>
        <p:spPr>
          <a:xfrm>
            <a:off x="973075" y="149350"/>
            <a:ext cx="8171100" cy="229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-DE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Sounds Crazy? </a:t>
            </a:r>
            <a:endParaRPr sz="4000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-DE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Emerging </a:t>
            </a:r>
            <a:r>
              <a:rPr lang="de-DE" sz="4000" dirty="0" err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Enabling</a:t>
            </a:r>
            <a:r>
              <a:rPr lang="de-DE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Technology.</a:t>
            </a:r>
            <a:endParaRPr sz="2000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520" name="Google Shape;1520;g60be7dcf1c_0_421"/>
          <p:cNvPicPr preferRelativeResize="0"/>
          <p:nvPr/>
        </p:nvPicPr>
        <p:blipFill rotWithShape="1">
          <a:blip r:embed="rId3">
            <a:alphaModFix/>
          </a:blip>
          <a:srcRect t="16521" b="18357"/>
          <a:stretch/>
        </p:blipFill>
        <p:spPr>
          <a:xfrm>
            <a:off x="535775" y="3170300"/>
            <a:ext cx="4242100" cy="2762651"/>
          </a:xfrm>
          <a:prstGeom prst="rect">
            <a:avLst/>
          </a:prstGeom>
          <a:noFill/>
          <a:ln>
            <a:noFill/>
          </a:ln>
        </p:spPr>
      </p:pic>
      <p:sp>
        <p:nvSpPr>
          <p:cNvPr id="1521" name="Google Shape;1521;g60be7dcf1c_0_421"/>
          <p:cNvSpPr txBox="1"/>
          <p:nvPr/>
        </p:nvSpPr>
        <p:spPr>
          <a:xfrm>
            <a:off x="4869875" y="3325100"/>
            <a:ext cx="3341100" cy="1365000"/>
          </a:xfrm>
          <a:prstGeom prst="rect">
            <a:avLst/>
          </a:prstGeom>
          <a:solidFill>
            <a:srgbClr val="93C47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de-DE"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2" name="Google Shape;1522;g60be7dcf1c_0_421"/>
          <p:cNvSpPr txBox="1"/>
          <p:nvPr/>
        </p:nvSpPr>
        <p:spPr>
          <a:xfrm>
            <a:off x="5045700" y="3478725"/>
            <a:ext cx="3392100" cy="11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 dirty="0">
                <a:latin typeface="Consolas"/>
                <a:ea typeface="Consolas"/>
                <a:cs typeface="Consolas"/>
                <a:sym typeface="Consolas"/>
              </a:rPr>
              <a:t>H2020: </a:t>
            </a:r>
            <a:endParaRPr sz="1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b="1" dirty="0">
                <a:latin typeface="Consolas"/>
                <a:ea typeface="Consolas"/>
                <a:cs typeface="Consolas"/>
                <a:sym typeface="Consolas"/>
              </a:rPr>
              <a:t>“</a:t>
            </a:r>
            <a:r>
              <a:rPr lang="de-DE" b="1" dirty="0" err="1">
                <a:latin typeface="Consolas"/>
                <a:ea typeface="Consolas"/>
                <a:cs typeface="Consolas"/>
                <a:sym typeface="Consolas"/>
              </a:rPr>
              <a:t>Photonics</a:t>
            </a:r>
            <a:r>
              <a:rPr lang="de-DE" b="1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de-DE" b="1" dirty="0" err="1">
                <a:latin typeface="Consolas"/>
                <a:ea typeface="Consolas"/>
                <a:cs typeface="Consolas"/>
                <a:sym typeface="Consolas"/>
              </a:rPr>
              <a:t>one</a:t>
            </a:r>
            <a:r>
              <a:rPr lang="de-DE" b="1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de-DE" b="1" dirty="0" err="1">
                <a:latin typeface="Consolas"/>
                <a:ea typeface="Consolas"/>
                <a:cs typeface="Consolas"/>
                <a:sym typeface="Consolas"/>
              </a:rPr>
              <a:t>of</a:t>
            </a:r>
            <a:r>
              <a:rPr lang="de-DE" b="1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de-DE" b="1" dirty="0" err="1">
                <a:latin typeface="Consolas"/>
                <a:ea typeface="Consolas"/>
                <a:cs typeface="Consolas"/>
                <a:sym typeface="Consolas"/>
              </a:rPr>
              <a:t>only</a:t>
            </a:r>
            <a:r>
              <a:rPr lang="de-DE" b="1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de-DE" b="1" dirty="0" err="1">
                <a:latin typeface="Consolas"/>
                <a:ea typeface="Consolas"/>
                <a:cs typeface="Consolas"/>
                <a:sym typeface="Consolas"/>
              </a:rPr>
              <a:t>five</a:t>
            </a:r>
            <a:r>
              <a:rPr lang="de-DE" b="1" dirty="0"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1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-DE" b="1" dirty="0" err="1">
                <a:latin typeface="Consolas"/>
                <a:ea typeface="Consolas"/>
                <a:cs typeface="Consolas"/>
                <a:sym typeface="Consolas"/>
              </a:rPr>
              <a:t>key</a:t>
            </a:r>
            <a:r>
              <a:rPr lang="de-DE" b="1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de-DE" b="1" dirty="0" err="1">
                <a:latin typeface="Consolas"/>
                <a:ea typeface="Consolas"/>
                <a:cs typeface="Consolas"/>
                <a:sym typeface="Consolas"/>
              </a:rPr>
              <a:t>enabling</a:t>
            </a:r>
            <a:r>
              <a:rPr lang="de-DE" b="1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de-DE" b="1" dirty="0" err="1">
                <a:latin typeface="Consolas"/>
                <a:ea typeface="Consolas"/>
                <a:cs typeface="Consolas"/>
                <a:sym typeface="Consolas"/>
              </a:rPr>
              <a:t>technologies</a:t>
            </a:r>
            <a:r>
              <a:rPr lang="de-DE" b="1" dirty="0">
                <a:latin typeface="Consolas"/>
                <a:ea typeface="Consolas"/>
                <a:cs typeface="Consolas"/>
                <a:sym typeface="Consolas"/>
              </a:rPr>
              <a:t> </a:t>
            </a:r>
            <a:br>
              <a:rPr lang="de-DE" b="1" dirty="0">
                <a:latin typeface="Consolas"/>
                <a:ea typeface="Consolas"/>
                <a:cs typeface="Consolas"/>
                <a:sym typeface="Consolas"/>
              </a:rPr>
            </a:br>
            <a:r>
              <a:rPr lang="de-DE" b="1" dirty="0" err="1"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de-DE" b="1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de-DE" b="1" dirty="0" err="1">
                <a:latin typeface="Consolas"/>
                <a:ea typeface="Consolas"/>
                <a:cs typeface="Consolas"/>
                <a:sym typeface="Consolas"/>
              </a:rPr>
              <a:t>future</a:t>
            </a:r>
            <a:r>
              <a:rPr lang="de-DE" b="1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de-DE" b="1" dirty="0" err="1">
                <a:latin typeface="Consolas"/>
                <a:ea typeface="Consolas"/>
                <a:cs typeface="Consolas"/>
                <a:sym typeface="Consolas"/>
              </a:rPr>
              <a:t>prosperity</a:t>
            </a:r>
            <a:r>
              <a:rPr lang="de-DE" b="1" dirty="0">
                <a:latin typeface="Consolas"/>
                <a:ea typeface="Consolas"/>
                <a:cs typeface="Consolas"/>
                <a:sym typeface="Consolas"/>
              </a:rPr>
              <a:t>.”</a:t>
            </a:r>
            <a:endParaRPr b="1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24" name="Google Shape;1524;g60be7dcf1c_0_421"/>
          <p:cNvSpPr txBox="1"/>
          <p:nvPr/>
        </p:nvSpPr>
        <p:spPr>
          <a:xfrm>
            <a:off x="4869875" y="4751300"/>
            <a:ext cx="3341100" cy="1365000"/>
          </a:xfrm>
          <a:prstGeom prst="rect">
            <a:avLst/>
          </a:prstGeom>
          <a:solidFill>
            <a:srgbClr val="93C47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de-DE"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5" name="Google Shape;1525;g60be7dcf1c_0_421"/>
          <p:cNvSpPr txBox="1"/>
          <p:nvPr/>
        </p:nvSpPr>
        <p:spPr>
          <a:xfrm>
            <a:off x="5045700" y="4904925"/>
            <a:ext cx="3392100" cy="12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 dirty="0">
                <a:latin typeface="Consolas"/>
                <a:ea typeface="Consolas"/>
                <a:cs typeface="Consolas"/>
                <a:sym typeface="Consolas"/>
              </a:rPr>
              <a:t>US National Research Council: </a:t>
            </a:r>
            <a:endParaRPr sz="1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b="1" dirty="0">
                <a:latin typeface="Consolas"/>
                <a:ea typeface="Consolas"/>
                <a:cs typeface="Consolas"/>
                <a:sym typeface="Consolas"/>
              </a:rPr>
              <a:t>“Photons </a:t>
            </a:r>
            <a:r>
              <a:rPr lang="de-DE" b="1" dirty="0" err="1">
                <a:latin typeface="Consolas"/>
                <a:ea typeface="Consolas"/>
                <a:cs typeface="Consolas"/>
                <a:sym typeface="Consolas"/>
              </a:rPr>
              <a:t>are</a:t>
            </a:r>
            <a:r>
              <a:rPr lang="de-DE" b="1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de-DE" b="1" dirty="0" err="1">
                <a:latin typeface="Consolas"/>
                <a:ea typeface="Consolas"/>
                <a:cs typeface="Consolas"/>
                <a:sym typeface="Consolas"/>
              </a:rPr>
              <a:t>the</a:t>
            </a:r>
            <a:r>
              <a:rPr lang="de-DE" b="1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de-DE" b="1" dirty="0" err="1"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de-DE" b="1" dirty="0"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1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b="1" dirty="0" err="1">
                <a:latin typeface="Consolas"/>
                <a:ea typeface="Consolas"/>
                <a:cs typeface="Consolas"/>
                <a:sym typeface="Consolas"/>
              </a:rPr>
              <a:t>Electrons</a:t>
            </a:r>
            <a:r>
              <a:rPr lang="de-DE" b="1" dirty="0">
                <a:latin typeface="Consolas"/>
                <a:ea typeface="Consolas"/>
                <a:cs typeface="Consolas"/>
                <a:sym typeface="Consolas"/>
              </a:rPr>
              <a:t>.”</a:t>
            </a:r>
            <a:endParaRPr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" name="Google Shape;1511;g60be7dcf1c_0_412"/>
          <p:cNvSpPr txBox="1"/>
          <p:nvPr/>
        </p:nvSpPr>
        <p:spPr>
          <a:xfrm>
            <a:off x="886639" y="5624925"/>
            <a:ext cx="31167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de-DE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Photonics</a:t>
            </a:r>
            <a:endParaRPr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AF9ED28-9833-4BC3-B378-5470A19E43AB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11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Google Shape;1530;g60be7dcf1c_0_434"/>
          <p:cNvSpPr txBox="1"/>
          <p:nvPr/>
        </p:nvSpPr>
        <p:spPr>
          <a:xfrm>
            <a:off x="0" y="540000"/>
            <a:ext cx="8211000" cy="937889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1531" name="Google Shape;1531;g60be7dcf1c_0_434"/>
          <p:cNvSpPr txBox="1">
            <a:spLocks noGrp="1"/>
          </p:cNvSpPr>
          <p:nvPr>
            <p:ph type="title"/>
          </p:nvPr>
        </p:nvSpPr>
        <p:spPr>
          <a:xfrm>
            <a:off x="973075" y="149350"/>
            <a:ext cx="8171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Enabler</a:t>
            </a:r>
            <a:br>
              <a:rPr lang="en-GB" sz="32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2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Novel Reconfigurable Optical Switches</a:t>
            </a:r>
          </a:p>
        </p:txBody>
      </p:sp>
      <p:sp>
        <p:nvSpPr>
          <p:cNvPr id="1534" name="Google Shape;1534;g60be7dcf1c_0_434"/>
          <p:cNvSpPr txBox="1"/>
          <p:nvPr/>
        </p:nvSpPr>
        <p:spPr>
          <a:xfrm>
            <a:off x="973075" y="1925563"/>
            <a:ext cx="7557300" cy="9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⇢  </a:t>
            </a:r>
            <a:r>
              <a:rPr lang="en-GB" sz="1600" b="1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Spectrum</a:t>
            </a: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of prototypes</a:t>
            </a:r>
          </a:p>
          <a:p>
            <a:pPr lvl="0" indent="457200">
              <a:lnSpc>
                <a:spcPct val="115000"/>
              </a:lnSpc>
            </a:pPr>
            <a:r>
              <a:rPr lang="en-GB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⇀ Different sizes, different reconfiguration times </a:t>
            </a:r>
          </a:p>
          <a:p>
            <a:pPr lvl="0" indent="457200">
              <a:lnSpc>
                <a:spcPct val="115000"/>
              </a:lnSpc>
            </a:pPr>
            <a:r>
              <a:rPr lang="en-GB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⇀ From ACM </a:t>
            </a:r>
            <a:r>
              <a:rPr lang="en-GB" sz="1200" b="1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SIGCOMM</a:t>
            </a:r>
            <a:r>
              <a:rPr lang="en-GB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workshop </a:t>
            </a:r>
            <a:r>
              <a:rPr lang="en-GB" sz="12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OptSys</a:t>
            </a:r>
            <a:r>
              <a:rPr lang="en-GB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resp. </a:t>
            </a:r>
            <a:r>
              <a:rPr lang="en-GB" sz="12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HotOptics</a:t>
            </a:r>
            <a:endParaRPr lang="en-GB"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35" name="Google Shape;1535;g60be7dcf1c_0_434"/>
          <p:cNvSpPr txBox="1"/>
          <p:nvPr/>
        </p:nvSpPr>
        <p:spPr>
          <a:xfrm>
            <a:off x="6234412" y="3171910"/>
            <a:ext cx="1865792" cy="6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Prototype 1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000" dirty="0">
              <a:latin typeface="Consolas"/>
              <a:ea typeface="Consolas"/>
              <a:cs typeface="Consolas"/>
              <a:sym typeface="Consolas"/>
            </a:endParaRPr>
          </a:p>
          <a:p>
            <a:r>
              <a:rPr lang="en-GB" sz="1200" b="1" dirty="0">
                <a:latin typeface="Consolas"/>
                <a:ea typeface="Consolas"/>
                <a:cs typeface="Consolas"/>
                <a:sym typeface="Consolas"/>
              </a:rPr>
              <a:t>Moving antenna (</a:t>
            </a:r>
            <a:r>
              <a:rPr lang="en-GB" sz="1200" b="1" dirty="0" err="1">
                <a:latin typeface="Consolas"/>
                <a:ea typeface="Consolas"/>
                <a:cs typeface="Consolas"/>
                <a:sym typeface="Consolas"/>
              </a:rPr>
              <a:t>ms</a:t>
            </a:r>
            <a:r>
              <a:rPr lang="en-GB" sz="1200" b="1" dirty="0">
                <a:latin typeface="Consolas"/>
                <a:ea typeface="Consolas"/>
                <a:cs typeface="Consolas"/>
                <a:sym typeface="Consolas"/>
              </a:rPr>
              <a:t>)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0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000" dirty="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536" name="Google Shape;1536;g60be7dcf1c_0_434"/>
          <p:cNvPicPr preferRelativeResize="0"/>
          <p:nvPr/>
        </p:nvPicPr>
        <p:blipFill rotWithShape="1">
          <a:blip r:embed="rId3">
            <a:alphaModFix/>
          </a:blip>
          <a:srcRect t="19841" b="24407"/>
          <a:stretch/>
        </p:blipFill>
        <p:spPr>
          <a:xfrm>
            <a:off x="349513" y="3495450"/>
            <a:ext cx="4235173" cy="236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7" name="Google Shape;1537;g60be7dcf1c_0_434"/>
          <p:cNvPicPr preferRelativeResize="0"/>
          <p:nvPr/>
        </p:nvPicPr>
        <p:blipFill rotWithShape="1">
          <a:blip r:embed="rId4">
            <a:alphaModFix/>
          </a:blip>
          <a:srcRect l="12757" r="12765"/>
          <a:stretch/>
        </p:blipFill>
        <p:spPr>
          <a:xfrm>
            <a:off x="5221088" y="4226561"/>
            <a:ext cx="915075" cy="898825"/>
          </a:xfrm>
          <a:prstGeom prst="rect">
            <a:avLst/>
          </a:prstGeom>
          <a:noFill/>
          <a:ln w="952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538" name="Google Shape;1538;g60be7dcf1c_0_434"/>
          <p:cNvSpPr txBox="1"/>
          <p:nvPr/>
        </p:nvSpPr>
        <p:spPr>
          <a:xfrm>
            <a:off x="6234412" y="4163126"/>
            <a:ext cx="2755800" cy="6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Prototype 2</a:t>
            </a:r>
          </a:p>
          <a:p>
            <a:pPr lvl="0"/>
            <a:endParaRPr lang="en-GB" sz="1000" dirty="0">
              <a:latin typeface="Consolas"/>
              <a:ea typeface="Consolas"/>
              <a:cs typeface="Consolas"/>
              <a:sym typeface="Consolas"/>
            </a:endParaRPr>
          </a:p>
          <a:p>
            <a:r>
              <a:rPr lang="en-GB" sz="1200" b="1" dirty="0">
                <a:latin typeface="Consolas"/>
                <a:ea typeface="Consolas"/>
                <a:cs typeface="Consolas"/>
                <a:sym typeface="Consolas"/>
              </a:rPr>
              <a:t>Moving mirrors (</a:t>
            </a:r>
            <a:r>
              <a:rPr lang="en-GB" sz="1200" b="1" dirty="0" err="1">
                <a:latin typeface="Consolas"/>
                <a:ea typeface="Consolas"/>
                <a:cs typeface="Consolas"/>
                <a:sym typeface="Consolas"/>
              </a:rPr>
              <a:t>mus</a:t>
            </a:r>
            <a:r>
              <a:rPr lang="en-GB" sz="1200" b="1" dirty="0">
                <a:latin typeface="Consolas"/>
                <a:ea typeface="Consolas"/>
                <a:cs typeface="Consolas"/>
                <a:sym typeface="Consolas"/>
              </a:rPr>
              <a:t>)</a:t>
            </a:r>
          </a:p>
          <a:p>
            <a:pPr lvl="0"/>
            <a:endParaRPr lang="en-GB" sz="1000" dirty="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539" name="Google Shape;1539;g60be7dcf1c_0_434"/>
          <p:cNvPicPr preferRelativeResize="0"/>
          <p:nvPr/>
        </p:nvPicPr>
        <p:blipFill rotWithShape="1">
          <a:blip r:embed="rId5">
            <a:alphaModFix/>
          </a:blip>
          <a:srcRect l="6286" r="6286"/>
          <a:stretch/>
        </p:blipFill>
        <p:spPr>
          <a:xfrm>
            <a:off x="5221087" y="3276187"/>
            <a:ext cx="915075" cy="898825"/>
          </a:xfrm>
          <a:prstGeom prst="rect">
            <a:avLst/>
          </a:prstGeom>
          <a:noFill/>
          <a:ln w="952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540" name="Google Shape;1540;g60be7dcf1c_0_434"/>
          <p:cNvSpPr txBox="1"/>
          <p:nvPr/>
        </p:nvSpPr>
        <p:spPr>
          <a:xfrm>
            <a:off x="6258944" y="5098033"/>
            <a:ext cx="2755800" cy="6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Prototype 3</a:t>
            </a:r>
          </a:p>
          <a:p>
            <a:pPr lvl="0"/>
            <a:endParaRPr lang="en-GB" sz="1000" dirty="0">
              <a:latin typeface="Consolas"/>
              <a:ea typeface="Consolas"/>
              <a:cs typeface="Consolas"/>
              <a:sym typeface="Consolas"/>
            </a:endParaRPr>
          </a:p>
          <a:p>
            <a:r>
              <a:rPr lang="en-GB" sz="1200" b="1" dirty="0">
                <a:latin typeface="Consolas"/>
                <a:ea typeface="Consolas"/>
                <a:cs typeface="Consolas"/>
                <a:sym typeface="Consolas"/>
              </a:rPr>
              <a:t>Changing lambdas (ns)</a:t>
            </a:r>
          </a:p>
          <a:p>
            <a:pPr lvl="0"/>
            <a:endParaRPr lang="en-GB" sz="1000" dirty="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541" name="Google Shape;1541;g60be7dcf1c_0_434"/>
          <p:cNvPicPr preferRelativeResize="0"/>
          <p:nvPr/>
        </p:nvPicPr>
        <p:blipFill rotWithShape="1">
          <a:blip r:embed="rId6">
            <a:alphaModFix/>
          </a:blip>
          <a:srcRect l="9547" r="9539"/>
          <a:stretch/>
        </p:blipFill>
        <p:spPr>
          <a:xfrm>
            <a:off x="5221088" y="5164550"/>
            <a:ext cx="915075" cy="898825"/>
          </a:xfrm>
          <a:prstGeom prst="rect">
            <a:avLst/>
          </a:prstGeom>
          <a:noFill/>
          <a:ln w="952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</p:pic>
      <p:cxnSp>
        <p:nvCxnSpPr>
          <p:cNvPr id="1542" name="Google Shape;1542;g60be7dcf1c_0_434"/>
          <p:cNvCxnSpPr>
            <a:cxnSpLocks/>
          </p:cNvCxnSpPr>
          <p:nvPr/>
        </p:nvCxnSpPr>
        <p:spPr>
          <a:xfrm>
            <a:off x="3864775" y="3921150"/>
            <a:ext cx="1104040" cy="0"/>
          </a:xfrm>
          <a:prstGeom prst="straightConnector1">
            <a:avLst/>
          </a:prstGeom>
          <a:noFill/>
          <a:ln w="9525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43" name="Google Shape;1543;g60be7dcf1c_0_434"/>
          <p:cNvCxnSpPr>
            <a:cxnSpLocks/>
          </p:cNvCxnSpPr>
          <p:nvPr/>
        </p:nvCxnSpPr>
        <p:spPr>
          <a:xfrm>
            <a:off x="3864775" y="4703050"/>
            <a:ext cx="1104040" cy="0"/>
          </a:xfrm>
          <a:prstGeom prst="straightConnector1">
            <a:avLst/>
          </a:prstGeom>
          <a:noFill/>
          <a:ln w="9525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44" name="Google Shape;1544;g60be7dcf1c_0_434"/>
          <p:cNvCxnSpPr>
            <a:cxnSpLocks/>
          </p:cNvCxnSpPr>
          <p:nvPr/>
        </p:nvCxnSpPr>
        <p:spPr>
          <a:xfrm>
            <a:off x="3876163" y="5526850"/>
            <a:ext cx="1092652" cy="0"/>
          </a:xfrm>
          <a:prstGeom prst="straightConnector1">
            <a:avLst/>
          </a:prstGeom>
          <a:noFill/>
          <a:ln w="9525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3D71E6C7-9B8B-4122-A964-0C6A6AF2494B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11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48196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0;g60be7dcf1c_0_434">
            <a:extLst>
              <a:ext uri="{FF2B5EF4-FFF2-40B4-BE49-F238E27FC236}">
                <a16:creationId xmlns:a16="http://schemas.microsoft.com/office/drawing/2014/main" id="{A47C44C8-5658-A7C4-5C78-7436158BC5BF}"/>
              </a:ext>
            </a:extLst>
          </p:cNvPr>
          <p:cNvSpPr txBox="1"/>
          <p:nvPr/>
        </p:nvSpPr>
        <p:spPr>
          <a:xfrm>
            <a:off x="0" y="540000"/>
            <a:ext cx="8211000" cy="937889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1531" name="Google Shape;1531;g60be7dcf1c_0_434"/>
          <p:cNvSpPr txBox="1">
            <a:spLocks noGrp="1"/>
          </p:cNvSpPr>
          <p:nvPr>
            <p:ph type="title"/>
          </p:nvPr>
        </p:nvSpPr>
        <p:spPr>
          <a:xfrm>
            <a:off x="973075" y="149350"/>
            <a:ext cx="8171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Example</a:t>
            </a:r>
            <a:br>
              <a:rPr lang="en-GB" sz="32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2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Optical Circuit Switch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484CAFA-3D6B-46B2-B286-B38C2D7BB7F1}"/>
              </a:ext>
            </a:extLst>
          </p:cNvPr>
          <p:cNvSpPr/>
          <p:nvPr/>
        </p:nvSpPr>
        <p:spPr>
          <a:xfrm>
            <a:off x="1591125" y="6013073"/>
            <a:ext cx="6096000" cy="58477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2000" dirty="0">
                <a:latin typeface="Consolas" panose="020B0609020204030204" pitchFamily="49" charset="0"/>
              </a:rPr>
              <a:t>Optical Circuit Switch (OCS)</a:t>
            </a:r>
            <a:br>
              <a:rPr lang="en-US" sz="2000" dirty="0">
                <a:latin typeface="Consolas" panose="020B0609020204030204" pitchFamily="49" charset="0"/>
              </a:rPr>
            </a:br>
            <a:r>
              <a:rPr lang="en-US" sz="1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By Nathan Farrington, SIGCOMM 2010</a:t>
            </a:r>
            <a:endParaRPr lang="en-US" sz="2000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6" name="Snip Same Side Corner Rectangle 66">
            <a:extLst>
              <a:ext uri="{FF2B5EF4-FFF2-40B4-BE49-F238E27FC236}">
                <a16:creationId xmlns:a16="http://schemas.microsoft.com/office/drawing/2014/main" id="{5162D987-ECC8-4CDC-8286-AA01411AB340}"/>
              </a:ext>
            </a:extLst>
          </p:cNvPr>
          <p:cNvSpPr/>
          <p:nvPr/>
        </p:nvSpPr>
        <p:spPr>
          <a:xfrm>
            <a:off x="2815710" y="3077901"/>
            <a:ext cx="3387924" cy="2842464"/>
          </a:xfrm>
          <a:prstGeom prst="snip2SameRect">
            <a:avLst>
              <a:gd name="adj1" fmla="val 43274"/>
              <a:gd name="adj2" fmla="val 0"/>
            </a:avLst>
          </a:prstGeom>
          <a:gradFill flip="none" rotWithShape="1">
            <a:gsLst>
              <a:gs pos="0">
                <a:schemeClr val="accent1">
                  <a:tint val="100000"/>
                  <a:shade val="100000"/>
                  <a:satMod val="130000"/>
                  <a:alpha val="50000"/>
                </a:schemeClr>
              </a:gs>
              <a:gs pos="100000">
                <a:schemeClr val="accent1">
                  <a:tint val="50000"/>
                  <a:shade val="100000"/>
                  <a:satMod val="350000"/>
                  <a:alpha val="50000"/>
                </a:schemeClr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14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8BBF093-A139-44AA-80C5-536C43D22640}"/>
              </a:ext>
            </a:extLst>
          </p:cNvPr>
          <p:cNvSpPr/>
          <p:nvPr/>
        </p:nvSpPr>
        <p:spPr>
          <a:xfrm rot="2629415">
            <a:off x="4941945" y="3860277"/>
            <a:ext cx="1151890" cy="57595"/>
          </a:xfrm>
          <a:prstGeom prst="rect">
            <a:avLst/>
          </a:prstGeom>
          <a:solidFill>
            <a:srgbClr val="BFBFB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14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1D1265-E5BE-451D-AE09-684DB4CB508F}"/>
              </a:ext>
            </a:extLst>
          </p:cNvPr>
          <p:cNvSpPr/>
          <p:nvPr/>
        </p:nvSpPr>
        <p:spPr>
          <a:xfrm>
            <a:off x="3787663" y="5466209"/>
            <a:ext cx="1999809" cy="14398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14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E5DF832-B851-4044-9EA6-13EFBBDDA2AE}"/>
              </a:ext>
            </a:extLst>
          </p:cNvPr>
          <p:cNvSpPr/>
          <p:nvPr/>
        </p:nvSpPr>
        <p:spPr>
          <a:xfrm rot="8100000">
            <a:off x="2893518" y="4371717"/>
            <a:ext cx="393271" cy="10875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14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3F7DC3B-069C-4361-9B82-9317376C6955}"/>
              </a:ext>
            </a:extLst>
          </p:cNvPr>
          <p:cNvSpPr/>
          <p:nvPr/>
        </p:nvSpPr>
        <p:spPr>
          <a:xfrm rot="8100000">
            <a:off x="3248507" y="4016727"/>
            <a:ext cx="393271" cy="10875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14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2E9BAF2-8F55-43AA-91F4-B379AF95FA19}"/>
              </a:ext>
            </a:extLst>
          </p:cNvPr>
          <p:cNvSpPr/>
          <p:nvPr/>
        </p:nvSpPr>
        <p:spPr>
          <a:xfrm rot="8100000">
            <a:off x="3603497" y="3666272"/>
            <a:ext cx="393271" cy="10875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14"/>
          </a:p>
        </p:txBody>
      </p:sp>
      <p:sp>
        <p:nvSpPr>
          <p:cNvPr id="22" name="Right Arrow 12">
            <a:extLst>
              <a:ext uri="{FF2B5EF4-FFF2-40B4-BE49-F238E27FC236}">
                <a16:creationId xmlns:a16="http://schemas.microsoft.com/office/drawing/2014/main" id="{9A30996E-5EC5-4C97-9E49-65ADA7FBFFE7}"/>
              </a:ext>
            </a:extLst>
          </p:cNvPr>
          <p:cNvSpPr/>
          <p:nvPr/>
        </p:nvSpPr>
        <p:spPr>
          <a:xfrm rot="2700000">
            <a:off x="3014081" y="4838634"/>
            <a:ext cx="1240277" cy="143986"/>
          </a:xfrm>
          <a:prstGeom prst="rightArrow">
            <a:avLst/>
          </a:prstGeom>
          <a:gradFill>
            <a:gsLst>
              <a:gs pos="0">
                <a:srgbClr val="FF0000"/>
              </a:gs>
              <a:gs pos="100000">
                <a:srgbClr val="000090"/>
              </a:gs>
              <a:gs pos="13000">
                <a:srgbClr val="FF6600"/>
              </a:gs>
              <a:gs pos="26000">
                <a:srgbClr val="FFFF00"/>
              </a:gs>
              <a:gs pos="40000">
                <a:srgbClr val="CCFFCC"/>
              </a:gs>
              <a:gs pos="55000">
                <a:srgbClr val="008000"/>
              </a:gs>
              <a:gs pos="72000">
                <a:srgbClr val="3366FF"/>
              </a:gs>
              <a:gs pos="87000">
                <a:srgbClr val="0000FF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60C22C8-2235-4E12-8B43-1F5A95AD27DC}"/>
              </a:ext>
            </a:extLst>
          </p:cNvPr>
          <p:cNvSpPr/>
          <p:nvPr/>
        </p:nvSpPr>
        <p:spPr>
          <a:xfrm>
            <a:off x="3977627" y="5416866"/>
            <a:ext cx="287973" cy="5759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14"/>
          </a:p>
        </p:txBody>
      </p:sp>
      <p:sp>
        <p:nvSpPr>
          <p:cNvPr id="24" name="Right Arrow 20">
            <a:extLst>
              <a:ext uri="{FF2B5EF4-FFF2-40B4-BE49-F238E27FC236}">
                <a16:creationId xmlns:a16="http://schemas.microsoft.com/office/drawing/2014/main" id="{01424C85-72FE-4E0B-BD81-1C2E1DE99E88}"/>
              </a:ext>
            </a:extLst>
          </p:cNvPr>
          <p:cNvSpPr/>
          <p:nvPr/>
        </p:nvSpPr>
        <p:spPr>
          <a:xfrm rot="19199083">
            <a:off x="3939228" y="4642887"/>
            <a:ext cx="1937355" cy="143986"/>
          </a:xfrm>
          <a:prstGeom prst="rightArrow">
            <a:avLst/>
          </a:prstGeom>
          <a:gradFill>
            <a:gsLst>
              <a:gs pos="0">
                <a:srgbClr val="FF0000"/>
              </a:gs>
              <a:gs pos="100000">
                <a:srgbClr val="000090"/>
              </a:gs>
              <a:gs pos="13000">
                <a:srgbClr val="FF6600"/>
              </a:gs>
              <a:gs pos="26000">
                <a:srgbClr val="FFFF00"/>
              </a:gs>
              <a:gs pos="40000">
                <a:srgbClr val="CCFFCC"/>
              </a:gs>
              <a:gs pos="55000">
                <a:srgbClr val="008000"/>
              </a:gs>
              <a:gs pos="72000">
                <a:srgbClr val="3366FF"/>
              </a:gs>
              <a:gs pos="87000">
                <a:srgbClr val="0000FF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25" name="Right Arrow 22">
            <a:extLst>
              <a:ext uri="{FF2B5EF4-FFF2-40B4-BE49-F238E27FC236}">
                <a16:creationId xmlns:a16="http://schemas.microsoft.com/office/drawing/2014/main" id="{5E79E757-9ED9-4821-A12E-2212E555653B}"/>
              </a:ext>
            </a:extLst>
          </p:cNvPr>
          <p:cNvSpPr/>
          <p:nvPr/>
        </p:nvSpPr>
        <p:spPr>
          <a:xfrm rot="13500000">
            <a:off x="3557059" y="4502605"/>
            <a:ext cx="2195389" cy="143986"/>
          </a:xfrm>
          <a:prstGeom prst="rightArrow">
            <a:avLst/>
          </a:prstGeom>
          <a:gradFill>
            <a:gsLst>
              <a:gs pos="0">
                <a:srgbClr val="FF0000"/>
              </a:gs>
              <a:gs pos="100000">
                <a:srgbClr val="000090"/>
              </a:gs>
              <a:gs pos="13000">
                <a:srgbClr val="FF6600"/>
              </a:gs>
              <a:gs pos="26000">
                <a:srgbClr val="FFFF00"/>
              </a:gs>
              <a:gs pos="40000">
                <a:srgbClr val="CCFFCC"/>
              </a:gs>
              <a:gs pos="55000">
                <a:srgbClr val="008000"/>
              </a:gs>
              <a:gs pos="72000">
                <a:srgbClr val="3366FF"/>
              </a:gs>
              <a:gs pos="87000">
                <a:srgbClr val="0000FF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CFD2120-90C5-4E0A-AB1F-4C8D5805C9B6}"/>
              </a:ext>
            </a:extLst>
          </p:cNvPr>
          <p:cNvSpPr/>
          <p:nvPr/>
        </p:nvSpPr>
        <p:spPr>
          <a:xfrm>
            <a:off x="4639125" y="5416867"/>
            <a:ext cx="287973" cy="5759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14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E929F00-9738-4674-88CF-6FF3A52743FA}"/>
              </a:ext>
            </a:extLst>
          </p:cNvPr>
          <p:cNvSpPr/>
          <p:nvPr/>
        </p:nvSpPr>
        <p:spPr>
          <a:xfrm>
            <a:off x="5376487" y="5425690"/>
            <a:ext cx="287973" cy="5759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14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1E974E4-0D01-432C-8DAC-8503D61E2DF2}"/>
              </a:ext>
            </a:extLst>
          </p:cNvPr>
          <p:cNvSpPr txBox="1"/>
          <p:nvPr/>
        </p:nvSpPr>
        <p:spPr>
          <a:xfrm>
            <a:off x="3977628" y="3351238"/>
            <a:ext cx="877163" cy="3443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38" b="1" dirty="0">
                <a:latin typeface="Consolas" panose="020B0609020204030204" pitchFamily="49" charset="0"/>
              </a:rPr>
              <a:t>Lenses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1ADC91E-CCFE-4CBF-87A8-CB8E80E7D17A}"/>
              </a:ext>
            </a:extLst>
          </p:cNvPr>
          <p:cNvSpPr txBox="1"/>
          <p:nvPr/>
        </p:nvSpPr>
        <p:spPr>
          <a:xfrm>
            <a:off x="5568751" y="3225231"/>
            <a:ext cx="877164" cy="5964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38" b="1" dirty="0">
                <a:latin typeface="Consolas" panose="020B0609020204030204" pitchFamily="49" charset="0"/>
              </a:rPr>
              <a:t>Fixed</a:t>
            </a:r>
          </a:p>
          <a:p>
            <a:pPr algn="ctr"/>
            <a:r>
              <a:rPr lang="en-US" sz="1638" b="1" dirty="0">
                <a:latin typeface="Consolas" panose="020B0609020204030204" pitchFamily="49" charset="0"/>
              </a:rPr>
              <a:t>Mirror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03D14DE-5AA9-461F-AA1F-B795AFF10DFB}"/>
              </a:ext>
            </a:extLst>
          </p:cNvPr>
          <p:cNvSpPr txBox="1"/>
          <p:nvPr/>
        </p:nvSpPr>
        <p:spPr>
          <a:xfrm>
            <a:off x="3708908" y="5601750"/>
            <a:ext cx="2146742" cy="3443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38" b="1" dirty="0">
                <a:latin typeface="Consolas" panose="020B0609020204030204" pitchFamily="49" charset="0"/>
              </a:rPr>
              <a:t>Mirrors on Motors</a:t>
            </a:r>
          </a:p>
        </p:txBody>
      </p:sp>
      <p:sp>
        <p:nvSpPr>
          <p:cNvPr id="31" name="Right Arrow 28">
            <a:extLst>
              <a:ext uri="{FF2B5EF4-FFF2-40B4-BE49-F238E27FC236}">
                <a16:creationId xmlns:a16="http://schemas.microsoft.com/office/drawing/2014/main" id="{C5F59479-3B74-4AA4-BAB0-79F1B58CA11B}"/>
              </a:ext>
            </a:extLst>
          </p:cNvPr>
          <p:cNvSpPr/>
          <p:nvPr/>
        </p:nvSpPr>
        <p:spPr>
          <a:xfrm rot="5746469">
            <a:off x="5024901" y="4694884"/>
            <a:ext cx="1255560" cy="143986"/>
          </a:xfrm>
          <a:prstGeom prst="rightArrow">
            <a:avLst/>
          </a:prstGeom>
          <a:gradFill>
            <a:gsLst>
              <a:gs pos="0">
                <a:srgbClr val="FF0000"/>
              </a:gs>
              <a:gs pos="100000">
                <a:srgbClr val="000090"/>
              </a:gs>
              <a:gs pos="13000">
                <a:srgbClr val="FF6600"/>
              </a:gs>
              <a:gs pos="26000">
                <a:srgbClr val="FFFF00"/>
              </a:gs>
              <a:gs pos="40000">
                <a:srgbClr val="CCFFCC"/>
              </a:gs>
              <a:gs pos="55000">
                <a:srgbClr val="008000"/>
              </a:gs>
              <a:gs pos="72000">
                <a:srgbClr val="3366FF"/>
              </a:gs>
              <a:gs pos="87000">
                <a:srgbClr val="0000FF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32" name="Right Arrow 29">
            <a:extLst>
              <a:ext uri="{FF2B5EF4-FFF2-40B4-BE49-F238E27FC236}">
                <a16:creationId xmlns:a16="http://schemas.microsoft.com/office/drawing/2014/main" id="{28F95633-A438-417F-8ADE-F09F72A29C89}"/>
              </a:ext>
            </a:extLst>
          </p:cNvPr>
          <p:cNvSpPr/>
          <p:nvPr/>
        </p:nvSpPr>
        <p:spPr>
          <a:xfrm rot="18042258">
            <a:off x="3707567" y="4422226"/>
            <a:ext cx="1937355" cy="143986"/>
          </a:xfrm>
          <a:prstGeom prst="rightArrow">
            <a:avLst/>
          </a:prstGeom>
          <a:gradFill>
            <a:gsLst>
              <a:gs pos="0">
                <a:srgbClr val="FF0000"/>
              </a:gs>
              <a:gs pos="100000">
                <a:srgbClr val="000090"/>
              </a:gs>
              <a:gs pos="13000">
                <a:srgbClr val="FF6600"/>
              </a:gs>
              <a:gs pos="26000">
                <a:srgbClr val="FFFF00"/>
              </a:gs>
              <a:gs pos="40000">
                <a:srgbClr val="CCFFCC"/>
              </a:gs>
              <a:gs pos="55000">
                <a:srgbClr val="008000"/>
              </a:gs>
              <a:gs pos="72000">
                <a:srgbClr val="3366FF"/>
              </a:gs>
              <a:gs pos="87000">
                <a:srgbClr val="0000FF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33" name="Right Arrow 30">
            <a:extLst>
              <a:ext uri="{FF2B5EF4-FFF2-40B4-BE49-F238E27FC236}">
                <a16:creationId xmlns:a16="http://schemas.microsoft.com/office/drawing/2014/main" id="{1DB60ABD-20F8-4E89-8237-695BFDF64F80}"/>
              </a:ext>
            </a:extLst>
          </p:cNvPr>
          <p:cNvSpPr/>
          <p:nvPr/>
        </p:nvSpPr>
        <p:spPr>
          <a:xfrm rot="6212916">
            <a:off x="4190742" y="4472957"/>
            <a:ext cx="1727835" cy="143986"/>
          </a:xfrm>
          <a:prstGeom prst="rightArrow">
            <a:avLst/>
          </a:prstGeom>
          <a:gradFill>
            <a:gsLst>
              <a:gs pos="0">
                <a:srgbClr val="FF0000"/>
              </a:gs>
              <a:gs pos="100000">
                <a:srgbClr val="000090"/>
              </a:gs>
              <a:gs pos="13000">
                <a:srgbClr val="FF6600"/>
              </a:gs>
              <a:gs pos="26000">
                <a:srgbClr val="FFFF00"/>
              </a:gs>
              <a:gs pos="40000">
                <a:srgbClr val="CCFFCC"/>
              </a:gs>
              <a:gs pos="55000">
                <a:srgbClr val="008000"/>
              </a:gs>
              <a:gs pos="72000">
                <a:srgbClr val="3366FF"/>
              </a:gs>
              <a:gs pos="87000">
                <a:srgbClr val="0000FF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EE9A7C8-73CF-445D-B3C4-43AF9317FFCE}"/>
              </a:ext>
            </a:extLst>
          </p:cNvPr>
          <p:cNvSpPr/>
          <p:nvPr/>
        </p:nvSpPr>
        <p:spPr>
          <a:xfrm rot="20079108">
            <a:off x="3975287" y="5388068"/>
            <a:ext cx="287973" cy="5759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14"/>
          </a:p>
        </p:txBody>
      </p:sp>
      <p:cxnSp>
        <p:nvCxnSpPr>
          <p:cNvPr id="35" name="Curved Connector 36">
            <a:extLst>
              <a:ext uri="{FF2B5EF4-FFF2-40B4-BE49-F238E27FC236}">
                <a16:creationId xmlns:a16="http://schemas.microsoft.com/office/drawing/2014/main" id="{C0DE27E5-0D4C-435F-9BB6-482C684417E5}"/>
              </a:ext>
            </a:extLst>
          </p:cNvPr>
          <p:cNvCxnSpPr>
            <a:cxnSpLocks/>
            <a:endCxn id="19" idx="2"/>
          </p:cNvCxnSpPr>
          <p:nvPr/>
        </p:nvCxnSpPr>
        <p:spPr>
          <a:xfrm>
            <a:off x="2150421" y="3641686"/>
            <a:ext cx="901280" cy="745959"/>
          </a:xfrm>
          <a:prstGeom prst="curvedConnector2">
            <a:avLst/>
          </a:prstGeom>
          <a:ln w="57150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urved Connector 39">
            <a:extLst>
              <a:ext uri="{FF2B5EF4-FFF2-40B4-BE49-F238E27FC236}">
                <a16:creationId xmlns:a16="http://schemas.microsoft.com/office/drawing/2014/main" id="{528DACFD-18D9-4478-9FCB-9F99E77563EA}"/>
              </a:ext>
            </a:extLst>
          </p:cNvPr>
          <p:cNvCxnSpPr>
            <a:cxnSpLocks/>
            <a:endCxn id="20" idx="2"/>
          </p:cNvCxnSpPr>
          <p:nvPr/>
        </p:nvCxnSpPr>
        <p:spPr>
          <a:xfrm>
            <a:off x="2235580" y="3368347"/>
            <a:ext cx="1171110" cy="664308"/>
          </a:xfrm>
          <a:prstGeom prst="curvedConnector2">
            <a:avLst/>
          </a:prstGeom>
          <a:ln w="57150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urved Connector 41">
            <a:extLst>
              <a:ext uri="{FF2B5EF4-FFF2-40B4-BE49-F238E27FC236}">
                <a16:creationId xmlns:a16="http://schemas.microsoft.com/office/drawing/2014/main" id="{0C51E8F9-069E-45C0-B6B9-A62E340B2EEB}"/>
              </a:ext>
            </a:extLst>
          </p:cNvPr>
          <p:cNvCxnSpPr>
            <a:cxnSpLocks/>
            <a:endCxn id="21" idx="2"/>
          </p:cNvCxnSpPr>
          <p:nvPr/>
        </p:nvCxnSpPr>
        <p:spPr>
          <a:xfrm>
            <a:off x="2235580" y="3095010"/>
            <a:ext cx="1526100" cy="587190"/>
          </a:xfrm>
          <a:prstGeom prst="curvedConnector2">
            <a:avLst/>
          </a:prstGeom>
          <a:ln w="57150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ight Arrow 21">
            <a:extLst>
              <a:ext uri="{FF2B5EF4-FFF2-40B4-BE49-F238E27FC236}">
                <a16:creationId xmlns:a16="http://schemas.microsoft.com/office/drawing/2014/main" id="{0E57B53E-B202-4284-B9E7-24354C7FF514}"/>
              </a:ext>
            </a:extLst>
          </p:cNvPr>
          <p:cNvSpPr/>
          <p:nvPr/>
        </p:nvSpPr>
        <p:spPr>
          <a:xfrm rot="13500000">
            <a:off x="3296651" y="4675688"/>
            <a:ext cx="1680881" cy="143986"/>
          </a:xfrm>
          <a:prstGeom prst="rightArrow">
            <a:avLst/>
          </a:prstGeom>
          <a:gradFill>
            <a:gsLst>
              <a:gs pos="0">
                <a:srgbClr val="FF0000"/>
              </a:gs>
              <a:gs pos="100000">
                <a:srgbClr val="000090"/>
              </a:gs>
              <a:gs pos="13000">
                <a:srgbClr val="FF6600"/>
              </a:gs>
              <a:gs pos="26000">
                <a:srgbClr val="FFFF00"/>
              </a:gs>
              <a:gs pos="40000">
                <a:srgbClr val="CCFFCC"/>
              </a:gs>
              <a:gs pos="55000">
                <a:srgbClr val="008000"/>
              </a:gs>
              <a:gs pos="72000">
                <a:srgbClr val="3366FF"/>
              </a:gs>
              <a:gs pos="87000">
                <a:srgbClr val="0000FF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27719EB-8ADD-4AAC-873F-FFD56BFEB6B3}"/>
              </a:ext>
            </a:extLst>
          </p:cNvPr>
          <p:cNvSpPr txBox="1"/>
          <p:nvPr/>
        </p:nvSpPr>
        <p:spPr>
          <a:xfrm>
            <a:off x="3262128" y="4789802"/>
            <a:ext cx="1685078" cy="34439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sz="1638" b="1" dirty="0">
                <a:latin typeface="Consolas" panose="020B0609020204030204" pitchFamily="49" charset="0"/>
              </a:rPr>
              <a:t>Rotate Mirror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4B1281E-5DF9-4139-A014-E2F42D667A9C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12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5" name="Google Shape;1534;g60be7dcf1c_0_434">
            <a:extLst>
              <a:ext uri="{FF2B5EF4-FFF2-40B4-BE49-F238E27FC236}">
                <a16:creationId xmlns:a16="http://schemas.microsoft.com/office/drawing/2014/main" id="{0F0F42B8-87E3-57F6-DBF5-7A9953A5EFC6}"/>
              </a:ext>
            </a:extLst>
          </p:cNvPr>
          <p:cNvSpPr txBox="1"/>
          <p:nvPr/>
        </p:nvSpPr>
        <p:spPr>
          <a:xfrm>
            <a:off x="973075" y="1827588"/>
            <a:ext cx="7557300" cy="9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⇢ Optical Circuit Switch (OCS) rapid adaption of physical layer</a:t>
            </a:r>
          </a:p>
          <a:p>
            <a:pPr lvl="0" indent="457200">
              <a:lnSpc>
                <a:spcPct val="115000"/>
              </a:lnSpc>
            </a:pPr>
            <a:r>
              <a:rPr lang="en-GB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⇀ Based on rotating mirrors</a:t>
            </a:r>
          </a:p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3126322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34" grpId="0" animBg="1"/>
      <p:bldP spid="39" grpId="0" animBg="1"/>
      <p:bldP spid="39" grpId="1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9">
          <a:extLst>
            <a:ext uri="{FF2B5EF4-FFF2-40B4-BE49-F238E27FC236}">
              <a16:creationId xmlns:a16="http://schemas.microsoft.com/office/drawing/2014/main" id="{BA04D8E1-D149-4BBB-0D0D-19E8DB557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4" name="Google Shape;1534;g60be7dcf1c_0_434">
            <a:extLst>
              <a:ext uri="{FF2B5EF4-FFF2-40B4-BE49-F238E27FC236}">
                <a16:creationId xmlns:a16="http://schemas.microsoft.com/office/drawing/2014/main" id="{CB3F8392-1BC0-51B2-8EC2-181DBC56BA25}"/>
              </a:ext>
            </a:extLst>
          </p:cNvPr>
          <p:cNvSpPr txBox="1"/>
          <p:nvPr/>
        </p:nvSpPr>
        <p:spPr>
          <a:xfrm>
            <a:off x="973075" y="1827588"/>
            <a:ext cx="7557300" cy="9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⇢ Optical Circuit Switch (OCS) rapid adaption of physical layer</a:t>
            </a:r>
          </a:p>
          <a:p>
            <a:pPr lvl="0" indent="457200">
              <a:lnSpc>
                <a:spcPct val="115000"/>
              </a:lnSpc>
            </a:pPr>
            <a:r>
              <a:rPr lang="en-GB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⇀ Based on rotating mirrors</a:t>
            </a:r>
          </a:p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64452EF-D2FA-264A-F7A3-4D88689683D0}"/>
              </a:ext>
            </a:extLst>
          </p:cNvPr>
          <p:cNvSpPr/>
          <p:nvPr/>
        </p:nvSpPr>
        <p:spPr>
          <a:xfrm>
            <a:off x="1591125" y="6013073"/>
            <a:ext cx="6096000" cy="58477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2000" dirty="0">
                <a:latin typeface="Consolas" panose="020B0609020204030204" pitchFamily="49" charset="0"/>
              </a:rPr>
              <a:t>Optical Circuit Switch (OCS)</a:t>
            </a:r>
            <a:br>
              <a:rPr lang="en-US" sz="2000" dirty="0">
                <a:latin typeface="Consolas" panose="020B0609020204030204" pitchFamily="49" charset="0"/>
              </a:rPr>
            </a:br>
            <a:r>
              <a:rPr lang="en-US" sz="1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By Nathan Farrington, SIGCOMM 2010</a:t>
            </a:r>
            <a:endParaRPr lang="en-US" sz="2000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6" name="Snip Same Side Corner Rectangle 66">
            <a:extLst>
              <a:ext uri="{FF2B5EF4-FFF2-40B4-BE49-F238E27FC236}">
                <a16:creationId xmlns:a16="http://schemas.microsoft.com/office/drawing/2014/main" id="{B5FCAF6A-A706-3594-0AC4-8795F4F83D22}"/>
              </a:ext>
            </a:extLst>
          </p:cNvPr>
          <p:cNvSpPr/>
          <p:nvPr/>
        </p:nvSpPr>
        <p:spPr>
          <a:xfrm>
            <a:off x="2815710" y="3077901"/>
            <a:ext cx="3387924" cy="2842464"/>
          </a:xfrm>
          <a:prstGeom prst="snip2SameRect">
            <a:avLst>
              <a:gd name="adj1" fmla="val 43274"/>
              <a:gd name="adj2" fmla="val 0"/>
            </a:avLst>
          </a:prstGeom>
          <a:gradFill flip="none" rotWithShape="1">
            <a:gsLst>
              <a:gs pos="0">
                <a:schemeClr val="accent1">
                  <a:tint val="100000"/>
                  <a:shade val="100000"/>
                  <a:satMod val="130000"/>
                  <a:alpha val="50000"/>
                </a:schemeClr>
              </a:gs>
              <a:gs pos="100000">
                <a:schemeClr val="accent1">
                  <a:tint val="50000"/>
                  <a:shade val="100000"/>
                  <a:satMod val="350000"/>
                  <a:alpha val="50000"/>
                </a:schemeClr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14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268EDBF-A467-2266-A645-5B6DFFAFE98B}"/>
              </a:ext>
            </a:extLst>
          </p:cNvPr>
          <p:cNvSpPr/>
          <p:nvPr/>
        </p:nvSpPr>
        <p:spPr>
          <a:xfrm rot="2629415">
            <a:off x="4941945" y="3860277"/>
            <a:ext cx="1151890" cy="57595"/>
          </a:xfrm>
          <a:prstGeom prst="rect">
            <a:avLst/>
          </a:prstGeom>
          <a:solidFill>
            <a:srgbClr val="BFBFB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14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ED208B1-A9EA-6496-CDFC-DD9BD7BD47C2}"/>
              </a:ext>
            </a:extLst>
          </p:cNvPr>
          <p:cNvSpPr/>
          <p:nvPr/>
        </p:nvSpPr>
        <p:spPr>
          <a:xfrm>
            <a:off x="3787663" y="5466209"/>
            <a:ext cx="1999809" cy="14398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14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CCF04D6-5357-6CD0-28D2-A83CC76E348D}"/>
              </a:ext>
            </a:extLst>
          </p:cNvPr>
          <p:cNvSpPr/>
          <p:nvPr/>
        </p:nvSpPr>
        <p:spPr>
          <a:xfrm rot="8100000">
            <a:off x="2893518" y="4371717"/>
            <a:ext cx="393271" cy="10875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14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8DFAAFC-128C-90F4-9CB5-54D5DCEB8E86}"/>
              </a:ext>
            </a:extLst>
          </p:cNvPr>
          <p:cNvSpPr/>
          <p:nvPr/>
        </p:nvSpPr>
        <p:spPr>
          <a:xfrm rot="8100000">
            <a:off x="3248507" y="4016727"/>
            <a:ext cx="393271" cy="10875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14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D5BB293-3543-3E85-21F7-055C315A6409}"/>
              </a:ext>
            </a:extLst>
          </p:cNvPr>
          <p:cNvSpPr/>
          <p:nvPr/>
        </p:nvSpPr>
        <p:spPr>
          <a:xfrm rot="8100000">
            <a:off x="3603497" y="3666272"/>
            <a:ext cx="393271" cy="10875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14"/>
          </a:p>
        </p:txBody>
      </p:sp>
      <p:sp>
        <p:nvSpPr>
          <p:cNvPr id="22" name="Right Arrow 12">
            <a:extLst>
              <a:ext uri="{FF2B5EF4-FFF2-40B4-BE49-F238E27FC236}">
                <a16:creationId xmlns:a16="http://schemas.microsoft.com/office/drawing/2014/main" id="{412A5E62-4277-DA18-ABBE-E1A1CFC5EB81}"/>
              </a:ext>
            </a:extLst>
          </p:cNvPr>
          <p:cNvSpPr/>
          <p:nvPr/>
        </p:nvSpPr>
        <p:spPr>
          <a:xfrm rot="2700000">
            <a:off x="3014081" y="4838634"/>
            <a:ext cx="1240277" cy="143986"/>
          </a:xfrm>
          <a:prstGeom prst="rightArrow">
            <a:avLst/>
          </a:prstGeom>
          <a:gradFill>
            <a:gsLst>
              <a:gs pos="0">
                <a:srgbClr val="FF0000"/>
              </a:gs>
              <a:gs pos="100000">
                <a:srgbClr val="000090"/>
              </a:gs>
              <a:gs pos="13000">
                <a:srgbClr val="FF6600"/>
              </a:gs>
              <a:gs pos="26000">
                <a:srgbClr val="FFFF00"/>
              </a:gs>
              <a:gs pos="40000">
                <a:srgbClr val="CCFFCC"/>
              </a:gs>
              <a:gs pos="55000">
                <a:srgbClr val="008000"/>
              </a:gs>
              <a:gs pos="72000">
                <a:srgbClr val="3366FF"/>
              </a:gs>
              <a:gs pos="87000">
                <a:srgbClr val="0000FF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A80F807-C117-E309-B55E-B5C3C2EC0535}"/>
              </a:ext>
            </a:extLst>
          </p:cNvPr>
          <p:cNvSpPr/>
          <p:nvPr/>
        </p:nvSpPr>
        <p:spPr>
          <a:xfrm>
            <a:off x="3977627" y="5416866"/>
            <a:ext cx="287973" cy="5759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14"/>
          </a:p>
        </p:txBody>
      </p:sp>
      <p:sp>
        <p:nvSpPr>
          <p:cNvPr id="24" name="Right Arrow 20">
            <a:extLst>
              <a:ext uri="{FF2B5EF4-FFF2-40B4-BE49-F238E27FC236}">
                <a16:creationId xmlns:a16="http://schemas.microsoft.com/office/drawing/2014/main" id="{81D877DD-6385-528E-8E44-D3E768EA8B24}"/>
              </a:ext>
            </a:extLst>
          </p:cNvPr>
          <p:cNvSpPr/>
          <p:nvPr/>
        </p:nvSpPr>
        <p:spPr>
          <a:xfrm rot="19199083">
            <a:off x="3939228" y="4642887"/>
            <a:ext cx="1937355" cy="143986"/>
          </a:xfrm>
          <a:prstGeom prst="rightArrow">
            <a:avLst/>
          </a:prstGeom>
          <a:gradFill>
            <a:gsLst>
              <a:gs pos="0">
                <a:srgbClr val="FF0000"/>
              </a:gs>
              <a:gs pos="100000">
                <a:srgbClr val="000090"/>
              </a:gs>
              <a:gs pos="13000">
                <a:srgbClr val="FF6600"/>
              </a:gs>
              <a:gs pos="26000">
                <a:srgbClr val="FFFF00"/>
              </a:gs>
              <a:gs pos="40000">
                <a:srgbClr val="CCFFCC"/>
              </a:gs>
              <a:gs pos="55000">
                <a:srgbClr val="008000"/>
              </a:gs>
              <a:gs pos="72000">
                <a:srgbClr val="3366FF"/>
              </a:gs>
              <a:gs pos="87000">
                <a:srgbClr val="0000FF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25" name="Right Arrow 22">
            <a:extLst>
              <a:ext uri="{FF2B5EF4-FFF2-40B4-BE49-F238E27FC236}">
                <a16:creationId xmlns:a16="http://schemas.microsoft.com/office/drawing/2014/main" id="{B92E76EF-9802-F5A6-3A78-2C891A8C6038}"/>
              </a:ext>
            </a:extLst>
          </p:cNvPr>
          <p:cNvSpPr/>
          <p:nvPr/>
        </p:nvSpPr>
        <p:spPr>
          <a:xfrm rot="13500000">
            <a:off x="3557059" y="4502605"/>
            <a:ext cx="2195389" cy="143986"/>
          </a:xfrm>
          <a:prstGeom prst="rightArrow">
            <a:avLst/>
          </a:prstGeom>
          <a:gradFill>
            <a:gsLst>
              <a:gs pos="0">
                <a:srgbClr val="FF0000"/>
              </a:gs>
              <a:gs pos="100000">
                <a:srgbClr val="000090"/>
              </a:gs>
              <a:gs pos="13000">
                <a:srgbClr val="FF6600"/>
              </a:gs>
              <a:gs pos="26000">
                <a:srgbClr val="FFFF00"/>
              </a:gs>
              <a:gs pos="40000">
                <a:srgbClr val="CCFFCC"/>
              </a:gs>
              <a:gs pos="55000">
                <a:srgbClr val="008000"/>
              </a:gs>
              <a:gs pos="72000">
                <a:srgbClr val="3366FF"/>
              </a:gs>
              <a:gs pos="87000">
                <a:srgbClr val="0000FF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3EBB62C-1BDF-53EF-2FEA-0A4224BDC861}"/>
              </a:ext>
            </a:extLst>
          </p:cNvPr>
          <p:cNvSpPr/>
          <p:nvPr/>
        </p:nvSpPr>
        <p:spPr>
          <a:xfrm>
            <a:off x="4639125" y="5416867"/>
            <a:ext cx="287973" cy="5759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14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8306D9B-D6FC-604D-9CEE-2E3F3D2C1994}"/>
              </a:ext>
            </a:extLst>
          </p:cNvPr>
          <p:cNvSpPr/>
          <p:nvPr/>
        </p:nvSpPr>
        <p:spPr>
          <a:xfrm>
            <a:off x="5376487" y="5425690"/>
            <a:ext cx="287973" cy="5759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14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A07310A-6D6D-4A60-01E7-A90CA06FE798}"/>
              </a:ext>
            </a:extLst>
          </p:cNvPr>
          <p:cNvSpPr txBox="1"/>
          <p:nvPr/>
        </p:nvSpPr>
        <p:spPr>
          <a:xfrm>
            <a:off x="3977628" y="3351238"/>
            <a:ext cx="877163" cy="3443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38" b="1" dirty="0">
                <a:latin typeface="Consolas" panose="020B0609020204030204" pitchFamily="49" charset="0"/>
              </a:rPr>
              <a:t>Lenses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54B6DC0-7C9B-1402-0B0F-8F7B2BB04F03}"/>
              </a:ext>
            </a:extLst>
          </p:cNvPr>
          <p:cNvSpPr txBox="1"/>
          <p:nvPr/>
        </p:nvSpPr>
        <p:spPr>
          <a:xfrm>
            <a:off x="5568751" y="3225231"/>
            <a:ext cx="877164" cy="5964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38" b="1" dirty="0">
                <a:latin typeface="Consolas" panose="020B0609020204030204" pitchFamily="49" charset="0"/>
              </a:rPr>
              <a:t>Fixed</a:t>
            </a:r>
          </a:p>
          <a:p>
            <a:pPr algn="ctr"/>
            <a:r>
              <a:rPr lang="en-US" sz="1638" b="1" dirty="0">
                <a:latin typeface="Consolas" panose="020B0609020204030204" pitchFamily="49" charset="0"/>
              </a:rPr>
              <a:t>Mirror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5A0E3F7-67B2-DD57-8781-D7A5FDD0D5A1}"/>
              </a:ext>
            </a:extLst>
          </p:cNvPr>
          <p:cNvSpPr txBox="1"/>
          <p:nvPr/>
        </p:nvSpPr>
        <p:spPr>
          <a:xfrm>
            <a:off x="3708908" y="5601750"/>
            <a:ext cx="2146742" cy="3443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38" b="1" dirty="0">
                <a:latin typeface="Consolas" panose="020B0609020204030204" pitchFamily="49" charset="0"/>
              </a:rPr>
              <a:t>Mirrors on Motors</a:t>
            </a:r>
          </a:p>
        </p:txBody>
      </p:sp>
      <p:sp>
        <p:nvSpPr>
          <p:cNvPr id="31" name="Right Arrow 28">
            <a:extLst>
              <a:ext uri="{FF2B5EF4-FFF2-40B4-BE49-F238E27FC236}">
                <a16:creationId xmlns:a16="http://schemas.microsoft.com/office/drawing/2014/main" id="{9BEE603E-F187-1AD3-AF06-7D6711E65ABD}"/>
              </a:ext>
            </a:extLst>
          </p:cNvPr>
          <p:cNvSpPr/>
          <p:nvPr/>
        </p:nvSpPr>
        <p:spPr>
          <a:xfrm rot="5746469">
            <a:off x="5024901" y="4694884"/>
            <a:ext cx="1255560" cy="143986"/>
          </a:xfrm>
          <a:prstGeom prst="rightArrow">
            <a:avLst/>
          </a:prstGeom>
          <a:gradFill>
            <a:gsLst>
              <a:gs pos="0">
                <a:srgbClr val="FF0000"/>
              </a:gs>
              <a:gs pos="100000">
                <a:srgbClr val="000090"/>
              </a:gs>
              <a:gs pos="13000">
                <a:srgbClr val="FF6600"/>
              </a:gs>
              <a:gs pos="26000">
                <a:srgbClr val="FFFF00"/>
              </a:gs>
              <a:gs pos="40000">
                <a:srgbClr val="CCFFCC"/>
              </a:gs>
              <a:gs pos="55000">
                <a:srgbClr val="008000"/>
              </a:gs>
              <a:gs pos="72000">
                <a:srgbClr val="3366FF"/>
              </a:gs>
              <a:gs pos="87000">
                <a:srgbClr val="0000FF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32" name="Right Arrow 29">
            <a:extLst>
              <a:ext uri="{FF2B5EF4-FFF2-40B4-BE49-F238E27FC236}">
                <a16:creationId xmlns:a16="http://schemas.microsoft.com/office/drawing/2014/main" id="{83AFB868-A160-3E09-2F1E-981604518078}"/>
              </a:ext>
            </a:extLst>
          </p:cNvPr>
          <p:cNvSpPr/>
          <p:nvPr/>
        </p:nvSpPr>
        <p:spPr>
          <a:xfrm rot="18042258">
            <a:off x="3707567" y="4422226"/>
            <a:ext cx="1937355" cy="143986"/>
          </a:xfrm>
          <a:prstGeom prst="rightArrow">
            <a:avLst/>
          </a:prstGeom>
          <a:gradFill>
            <a:gsLst>
              <a:gs pos="0">
                <a:srgbClr val="FF0000"/>
              </a:gs>
              <a:gs pos="100000">
                <a:srgbClr val="000090"/>
              </a:gs>
              <a:gs pos="13000">
                <a:srgbClr val="FF6600"/>
              </a:gs>
              <a:gs pos="26000">
                <a:srgbClr val="FFFF00"/>
              </a:gs>
              <a:gs pos="40000">
                <a:srgbClr val="CCFFCC"/>
              </a:gs>
              <a:gs pos="55000">
                <a:srgbClr val="008000"/>
              </a:gs>
              <a:gs pos="72000">
                <a:srgbClr val="3366FF"/>
              </a:gs>
              <a:gs pos="87000">
                <a:srgbClr val="0000FF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33" name="Right Arrow 30">
            <a:extLst>
              <a:ext uri="{FF2B5EF4-FFF2-40B4-BE49-F238E27FC236}">
                <a16:creationId xmlns:a16="http://schemas.microsoft.com/office/drawing/2014/main" id="{5CC7DD18-D604-7A41-229B-4D8E23099BC8}"/>
              </a:ext>
            </a:extLst>
          </p:cNvPr>
          <p:cNvSpPr/>
          <p:nvPr/>
        </p:nvSpPr>
        <p:spPr>
          <a:xfrm rot="6212916">
            <a:off x="4190742" y="4472957"/>
            <a:ext cx="1727835" cy="143986"/>
          </a:xfrm>
          <a:prstGeom prst="rightArrow">
            <a:avLst/>
          </a:prstGeom>
          <a:gradFill>
            <a:gsLst>
              <a:gs pos="0">
                <a:srgbClr val="FF0000"/>
              </a:gs>
              <a:gs pos="100000">
                <a:srgbClr val="000090"/>
              </a:gs>
              <a:gs pos="13000">
                <a:srgbClr val="FF6600"/>
              </a:gs>
              <a:gs pos="26000">
                <a:srgbClr val="FFFF00"/>
              </a:gs>
              <a:gs pos="40000">
                <a:srgbClr val="CCFFCC"/>
              </a:gs>
              <a:gs pos="55000">
                <a:srgbClr val="008000"/>
              </a:gs>
              <a:gs pos="72000">
                <a:srgbClr val="3366FF"/>
              </a:gs>
              <a:gs pos="87000">
                <a:srgbClr val="0000FF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C043771-B16F-90F6-1B0D-311E6F15E9C5}"/>
              </a:ext>
            </a:extLst>
          </p:cNvPr>
          <p:cNvSpPr/>
          <p:nvPr/>
        </p:nvSpPr>
        <p:spPr>
          <a:xfrm rot="20079108">
            <a:off x="3975287" y="5388068"/>
            <a:ext cx="287973" cy="5759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14"/>
          </a:p>
        </p:txBody>
      </p:sp>
      <p:cxnSp>
        <p:nvCxnSpPr>
          <p:cNvPr id="35" name="Curved Connector 36">
            <a:extLst>
              <a:ext uri="{FF2B5EF4-FFF2-40B4-BE49-F238E27FC236}">
                <a16:creationId xmlns:a16="http://schemas.microsoft.com/office/drawing/2014/main" id="{585FB163-5B60-B336-262D-805885628ECE}"/>
              </a:ext>
            </a:extLst>
          </p:cNvPr>
          <p:cNvCxnSpPr>
            <a:cxnSpLocks/>
            <a:endCxn id="19" idx="2"/>
          </p:cNvCxnSpPr>
          <p:nvPr/>
        </p:nvCxnSpPr>
        <p:spPr>
          <a:xfrm>
            <a:off x="2150421" y="3641686"/>
            <a:ext cx="901280" cy="745959"/>
          </a:xfrm>
          <a:prstGeom prst="curvedConnector2">
            <a:avLst/>
          </a:prstGeom>
          <a:ln w="57150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urved Connector 39">
            <a:extLst>
              <a:ext uri="{FF2B5EF4-FFF2-40B4-BE49-F238E27FC236}">
                <a16:creationId xmlns:a16="http://schemas.microsoft.com/office/drawing/2014/main" id="{75EBFFCB-FE1D-5D66-D34F-92B90C350961}"/>
              </a:ext>
            </a:extLst>
          </p:cNvPr>
          <p:cNvCxnSpPr>
            <a:cxnSpLocks/>
            <a:endCxn id="20" idx="2"/>
          </p:cNvCxnSpPr>
          <p:nvPr/>
        </p:nvCxnSpPr>
        <p:spPr>
          <a:xfrm>
            <a:off x="2235580" y="3368347"/>
            <a:ext cx="1171110" cy="664308"/>
          </a:xfrm>
          <a:prstGeom prst="curvedConnector2">
            <a:avLst/>
          </a:prstGeom>
          <a:ln w="57150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urved Connector 41">
            <a:extLst>
              <a:ext uri="{FF2B5EF4-FFF2-40B4-BE49-F238E27FC236}">
                <a16:creationId xmlns:a16="http://schemas.microsoft.com/office/drawing/2014/main" id="{FB2A9554-6354-9577-92B3-272D8A35D7D6}"/>
              </a:ext>
            </a:extLst>
          </p:cNvPr>
          <p:cNvCxnSpPr>
            <a:cxnSpLocks/>
            <a:endCxn id="21" idx="2"/>
          </p:cNvCxnSpPr>
          <p:nvPr/>
        </p:nvCxnSpPr>
        <p:spPr>
          <a:xfrm>
            <a:off x="2235580" y="3095010"/>
            <a:ext cx="1526100" cy="587190"/>
          </a:xfrm>
          <a:prstGeom prst="curvedConnector2">
            <a:avLst/>
          </a:prstGeom>
          <a:ln w="57150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ight Arrow 21">
            <a:extLst>
              <a:ext uri="{FF2B5EF4-FFF2-40B4-BE49-F238E27FC236}">
                <a16:creationId xmlns:a16="http://schemas.microsoft.com/office/drawing/2014/main" id="{10332C9E-9067-275C-784C-D4E0F5C1D774}"/>
              </a:ext>
            </a:extLst>
          </p:cNvPr>
          <p:cNvSpPr/>
          <p:nvPr/>
        </p:nvSpPr>
        <p:spPr>
          <a:xfrm rot="13500000">
            <a:off x="3296651" y="4675688"/>
            <a:ext cx="1680881" cy="143986"/>
          </a:xfrm>
          <a:prstGeom prst="rightArrow">
            <a:avLst/>
          </a:prstGeom>
          <a:gradFill>
            <a:gsLst>
              <a:gs pos="0">
                <a:srgbClr val="FF0000"/>
              </a:gs>
              <a:gs pos="100000">
                <a:srgbClr val="000090"/>
              </a:gs>
              <a:gs pos="13000">
                <a:srgbClr val="FF6600"/>
              </a:gs>
              <a:gs pos="26000">
                <a:srgbClr val="FFFF00"/>
              </a:gs>
              <a:gs pos="40000">
                <a:srgbClr val="CCFFCC"/>
              </a:gs>
              <a:gs pos="55000">
                <a:srgbClr val="008000"/>
              </a:gs>
              <a:gs pos="72000">
                <a:srgbClr val="3366FF"/>
              </a:gs>
              <a:gs pos="87000">
                <a:srgbClr val="0000FF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CA4AA7B-A5FD-E483-D126-15F49BBCFC3E}"/>
              </a:ext>
            </a:extLst>
          </p:cNvPr>
          <p:cNvSpPr txBox="1"/>
          <p:nvPr/>
        </p:nvSpPr>
        <p:spPr>
          <a:xfrm>
            <a:off x="3262128" y="4789802"/>
            <a:ext cx="1685078" cy="34439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sz="1638" b="1" dirty="0">
                <a:latin typeface="Consolas" panose="020B0609020204030204" pitchFamily="49" charset="0"/>
              </a:rPr>
              <a:t>Rotate Mirror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0762736-1AAB-52B6-C899-53654E471532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12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3" name="Google Shape;1639;g60be7dcf1c_0_529">
            <a:extLst>
              <a:ext uri="{FF2B5EF4-FFF2-40B4-BE49-F238E27FC236}">
                <a16:creationId xmlns:a16="http://schemas.microsoft.com/office/drawing/2014/main" id="{DFD9091E-0047-DDE9-D7D9-1ECE0049FEDE}"/>
              </a:ext>
            </a:extLst>
          </p:cNvPr>
          <p:cNvSpPr txBox="1"/>
          <p:nvPr/>
        </p:nvSpPr>
        <p:spPr>
          <a:xfrm>
            <a:off x="7104721" y="3893700"/>
            <a:ext cx="765300" cy="7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 dirty="0">
                <a:solidFill>
                  <a:schemeClr val="tx1"/>
                </a:solidFill>
                <a:latin typeface="Consolas"/>
                <a:ea typeface="Consolas"/>
                <a:cs typeface="Consolas"/>
                <a:sym typeface="Consolas"/>
              </a:rPr>
              <a:t>vs</a:t>
            </a:r>
          </a:p>
        </p:txBody>
      </p:sp>
      <p:sp>
        <p:nvSpPr>
          <p:cNvPr id="5" name="Google Shape;1638;g60be7dcf1c_0_529">
            <a:extLst>
              <a:ext uri="{FF2B5EF4-FFF2-40B4-BE49-F238E27FC236}">
                <a16:creationId xmlns:a16="http://schemas.microsoft.com/office/drawing/2014/main" id="{B3535132-3CBD-DA2C-A5EC-99C821DA6E5E}"/>
              </a:ext>
            </a:extLst>
          </p:cNvPr>
          <p:cNvSpPr/>
          <p:nvPr/>
        </p:nvSpPr>
        <p:spPr>
          <a:xfrm>
            <a:off x="6578611" y="3508489"/>
            <a:ext cx="2323164" cy="2280692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</p:txBody>
      </p:sp>
      <p:sp>
        <p:nvSpPr>
          <p:cNvPr id="7" name="Google Shape;1639;g60be7dcf1c_0_529">
            <a:extLst>
              <a:ext uri="{FF2B5EF4-FFF2-40B4-BE49-F238E27FC236}">
                <a16:creationId xmlns:a16="http://schemas.microsoft.com/office/drawing/2014/main" id="{FC52954E-9391-944A-6C70-6E2C8E2C526E}"/>
              </a:ext>
            </a:extLst>
          </p:cNvPr>
          <p:cNvSpPr txBox="1"/>
          <p:nvPr/>
        </p:nvSpPr>
        <p:spPr>
          <a:xfrm>
            <a:off x="6715405" y="3960633"/>
            <a:ext cx="2110648" cy="7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A Matching!</a:t>
            </a:r>
          </a:p>
        </p:txBody>
      </p:sp>
      <p:sp>
        <p:nvSpPr>
          <p:cNvPr id="10" name="Google Shape;1530;g60be7dcf1c_0_434">
            <a:extLst>
              <a:ext uri="{FF2B5EF4-FFF2-40B4-BE49-F238E27FC236}">
                <a16:creationId xmlns:a16="http://schemas.microsoft.com/office/drawing/2014/main" id="{138F4611-0B8B-3C25-7673-46D0DF50A031}"/>
              </a:ext>
            </a:extLst>
          </p:cNvPr>
          <p:cNvSpPr txBox="1"/>
          <p:nvPr/>
        </p:nvSpPr>
        <p:spPr>
          <a:xfrm>
            <a:off x="0" y="540000"/>
            <a:ext cx="8211000" cy="937889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11" name="Google Shape;1531;g60be7dcf1c_0_434">
            <a:extLst>
              <a:ext uri="{FF2B5EF4-FFF2-40B4-BE49-F238E27FC236}">
                <a16:creationId xmlns:a16="http://schemas.microsoft.com/office/drawing/2014/main" id="{E7250752-4C90-D822-F77F-62A11EDEC4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3075" y="149350"/>
            <a:ext cx="8171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Example</a:t>
            </a:r>
            <a:br>
              <a:rPr lang="en-GB" sz="32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2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Optical Circuit Switch</a:t>
            </a:r>
          </a:p>
        </p:txBody>
      </p:sp>
    </p:spTree>
    <p:extLst>
      <p:ext uri="{BB962C8B-B14F-4D97-AF65-F5344CB8AC3E}">
        <p14:creationId xmlns:p14="http://schemas.microsoft.com/office/powerpoint/2010/main" val="26036044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0;g60be7dcf1c_0_434">
            <a:extLst>
              <a:ext uri="{FF2B5EF4-FFF2-40B4-BE49-F238E27FC236}">
                <a16:creationId xmlns:a16="http://schemas.microsoft.com/office/drawing/2014/main" id="{A2003FA7-40D0-AC13-7F37-5ED8F7837FE2}"/>
              </a:ext>
            </a:extLst>
          </p:cNvPr>
          <p:cNvSpPr txBox="1"/>
          <p:nvPr/>
        </p:nvSpPr>
        <p:spPr>
          <a:xfrm>
            <a:off x="0" y="540000"/>
            <a:ext cx="8211000" cy="937889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7" name="Google Shape;1531;g60be7dcf1c_0_434">
            <a:extLst>
              <a:ext uri="{FF2B5EF4-FFF2-40B4-BE49-F238E27FC236}">
                <a16:creationId xmlns:a16="http://schemas.microsoft.com/office/drawing/2014/main" id="{C3F2964D-C033-4CAE-8A03-0AFC35872EC6}"/>
              </a:ext>
            </a:extLst>
          </p:cNvPr>
          <p:cNvSpPr txBox="1">
            <a:spLocks/>
          </p:cNvSpPr>
          <p:nvPr/>
        </p:nvSpPr>
        <p:spPr>
          <a:xfrm>
            <a:off x="973075" y="149350"/>
            <a:ext cx="8171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lnSpc>
                <a:spcPct val="115000"/>
              </a:lnSpc>
              <a:buSzPts val="1100"/>
            </a:pPr>
            <a: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Another Example</a:t>
            </a:r>
            <a:br>
              <a:rPr lang="en-GB" sz="32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2000" dirty="0" err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Tunable</a:t>
            </a:r>
            <a:r>
              <a:rPr lang="en-GB" sz="2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Lasers 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50A66C3-22B9-40F0-A9F9-F995EA1CEC49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>
            <a:off x="2139038" y="4257078"/>
            <a:ext cx="891522" cy="0"/>
          </a:xfrm>
          <a:prstGeom prst="straightConnector1">
            <a:avLst/>
          </a:prstGeom>
          <a:noFill/>
          <a:ln w="47625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58A8A35B-C710-49A7-9FA3-42FF5A5B024F}"/>
              </a:ext>
            </a:extLst>
          </p:cNvPr>
          <p:cNvSpPr/>
          <p:nvPr/>
        </p:nvSpPr>
        <p:spPr bwMode="auto">
          <a:xfrm>
            <a:off x="544945" y="3483171"/>
            <a:ext cx="1594093" cy="1547813"/>
          </a:xfrm>
          <a:prstGeom prst="rect">
            <a:avLst/>
          </a:prstGeom>
          <a:gradFill flip="none" rotWithShape="1">
            <a:gsLst>
              <a:gs pos="0">
                <a:srgbClr val="FF0000"/>
              </a:gs>
              <a:gs pos="35000">
                <a:srgbClr val="FFFF00"/>
              </a:gs>
              <a:gs pos="66000">
                <a:srgbClr val="00B050"/>
              </a:gs>
              <a:gs pos="100000">
                <a:srgbClr val="0070C0"/>
              </a:gs>
            </a:gsLst>
            <a:lin ang="0" scaled="1"/>
            <a:tileRect/>
          </a:gra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/>
            <a:r>
              <a:rPr lang="en-US" kern="0" dirty="0">
                <a:latin typeface="Consolas" panose="020B0609020204030204" pitchFamily="49" charset="0"/>
                <a:ea typeface="ＭＳ Ｐゴシック" pitchFamily="34" charset="-128"/>
                <a:cs typeface="Segoe UI Light" panose="020B0502040204020203" pitchFamily="34" charset="0"/>
              </a:rPr>
              <a:t>Multi-wavelength </a:t>
            </a:r>
            <a:br>
              <a:rPr lang="en-US" kern="0" dirty="0">
                <a:latin typeface="Consolas" panose="020B0609020204030204" pitchFamily="49" charset="0"/>
                <a:ea typeface="ＭＳ Ｐゴシック" pitchFamily="34" charset="-128"/>
                <a:cs typeface="Segoe UI Light" panose="020B0502040204020203" pitchFamily="34" charset="0"/>
              </a:rPr>
            </a:br>
            <a:r>
              <a:rPr lang="en-US" kern="0" dirty="0">
                <a:latin typeface="Consolas" panose="020B0609020204030204" pitchFamily="49" charset="0"/>
                <a:ea typeface="ＭＳ Ｐゴシック" pitchFamily="34" charset="-128"/>
                <a:cs typeface="Segoe UI Light" panose="020B0502040204020203" pitchFamily="34" charset="0"/>
              </a:rPr>
              <a:t>source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72B67D-733F-4C9D-8D60-9B73E2A22BD6}"/>
              </a:ext>
            </a:extLst>
          </p:cNvPr>
          <p:cNvSpPr/>
          <p:nvPr/>
        </p:nvSpPr>
        <p:spPr bwMode="auto">
          <a:xfrm>
            <a:off x="3030560" y="3483171"/>
            <a:ext cx="1273584" cy="1547813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/>
            <a:r>
              <a:rPr lang="en-GB" b="1" kern="0" dirty="0">
                <a:solidFill>
                  <a:schemeClr val="bg1"/>
                </a:solidFill>
                <a:latin typeface="Consolas" panose="020B0609020204030204" pitchFamily="49" charset="0"/>
                <a:ea typeface="ＭＳ Ｐゴシック" pitchFamily="34" charset="-128"/>
                <a:cs typeface="Segoe UI Light" panose="020B0502040204020203" pitchFamily="34" charset="0"/>
              </a:rPr>
              <a:t>Wavelength</a:t>
            </a:r>
          </a:p>
          <a:p>
            <a:pPr algn="ctr" defTabSz="685800"/>
            <a:r>
              <a:rPr lang="en-GB" b="1" dirty="0">
                <a:solidFill>
                  <a:schemeClr val="bg1"/>
                </a:solidFill>
                <a:latin typeface="Consolas" panose="020B0609020204030204" pitchFamily="49" charset="0"/>
                <a:ea typeface="ＭＳ Ｐゴシック" pitchFamily="34" charset="-128"/>
                <a:cs typeface="Segoe UI Light" panose="020B0502040204020203" pitchFamily="34" charset="0"/>
              </a:rPr>
              <a:t>s</a:t>
            </a:r>
            <a:r>
              <a:rPr lang="en-GB" b="1" kern="0" dirty="0">
                <a:solidFill>
                  <a:schemeClr val="bg1"/>
                </a:solidFill>
                <a:latin typeface="Consolas" panose="020B0609020204030204" pitchFamily="49" charset="0"/>
                <a:ea typeface="ＭＳ Ｐゴシック" pitchFamily="34" charset="-128"/>
                <a:cs typeface="Segoe UI Light" panose="020B0502040204020203" pitchFamily="34" charset="0"/>
              </a:rPr>
              <a:t>elector</a:t>
            </a:r>
            <a:endParaRPr lang="en-US" b="1" kern="0" dirty="0">
              <a:solidFill>
                <a:schemeClr val="bg1"/>
              </a:solidFill>
              <a:latin typeface="Consolas" panose="020B0609020204030204" pitchFamily="49" charset="0"/>
              <a:ea typeface="ＭＳ Ｐゴシック" pitchFamily="34" charset="-128"/>
              <a:cs typeface="Segoe UI Light" panose="020B0502040204020203" pitchFamily="34" charset="0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FB165E9E-2E3B-4FFC-BB8F-5F324ACE60BA}"/>
              </a:ext>
            </a:extLst>
          </p:cNvPr>
          <p:cNvSpPr/>
          <p:nvPr/>
        </p:nvSpPr>
        <p:spPr>
          <a:xfrm>
            <a:off x="2226605" y="3412867"/>
            <a:ext cx="235207" cy="722441"/>
          </a:xfrm>
          <a:custGeom>
            <a:avLst/>
            <a:gdLst>
              <a:gd name="connsiteX0" fmla="*/ 0 w 235207"/>
              <a:gd name="connsiteY0" fmla="*/ 619878 h 722441"/>
              <a:gd name="connsiteX1" fmla="*/ 55232 w 235207"/>
              <a:gd name="connsiteY1" fmla="*/ 650563 h 722441"/>
              <a:gd name="connsiteX2" fmla="*/ 122738 w 235207"/>
              <a:gd name="connsiteY2" fmla="*/ 50 h 722441"/>
              <a:gd name="connsiteX3" fmla="*/ 196381 w 235207"/>
              <a:gd name="connsiteY3" fmla="*/ 687384 h 722441"/>
              <a:gd name="connsiteX4" fmla="*/ 233202 w 235207"/>
              <a:gd name="connsiteY4" fmla="*/ 619878 h 722441"/>
              <a:gd name="connsiteX5" fmla="*/ 227065 w 235207"/>
              <a:gd name="connsiteY5" fmla="*/ 601468 h 7224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5207" h="722441">
                <a:moveTo>
                  <a:pt x="0" y="619878"/>
                </a:moveTo>
                <a:cubicBezTo>
                  <a:pt x="17388" y="686873"/>
                  <a:pt x="34776" y="753868"/>
                  <a:pt x="55232" y="650563"/>
                </a:cubicBezTo>
                <a:cubicBezTo>
                  <a:pt x="75688" y="547258"/>
                  <a:pt x="99213" y="-6087"/>
                  <a:pt x="122738" y="50"/>
                </a:cubicBezTo>
                <a:cubicBezTo>
                  <a:pt x="146263" y="6187"/>
                  <a:pt x="177970" y="584080"/>
                  <a:pt x="196381" y="687384"/>
                </a:cubicBezTo>
                <a:cubicBezTo>
                  <a:pt x="214792" y="790688"/>
                  <a:pt x="228088" y="634197"/>
                  <a:pt x="233202" y="619878"/>
                </a:cubicBezTo>
                <a:cubicBezTo>
                  <a:pt x="238316" y="605559"/>
                  <a:pt x="232690" y="603513"/>
                  <a:pt x="227065" y="601468"/>
                </a:cubicBezTo>
              </a:path>
            </a:pathLst>
          </a:cu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806AE5F5-DA8E-4352-816C-BA06E2B850A8}"/>
              </a:ext>
            </a:extLst>
          </p:cNvPr>
          <p:cNvSpPr/>
          <p:nvPr/>
        </p:nvSpPr>
        <p:spPr>
          <a:xfrm>
            <a:off x="2217752" y="4340042"/>
            <a:ext cx="235207" cy="722441"/>
          </a:xfrm>
          <a:custGeom>
            <a:avLst/>
            <a:gdLst>
              <a:gd name="connsiteX0" fmla="*/ 0 w 235207"/>
              <a:gd name="connsiteY0" fmla="*/ 619878 h 722441"/>
              <a:gd name="connsiteX1" fmla="*/ 55232 w 235207"/>
              <a:gd name="connsiteY1" fmla="*/ 650563 h 722441"/>
              <a:gd name="connsiteX2" fmla="*/ 122738 w 235207"/>
              <a:gd name="connsiteY2" fmla="*/ 50 h 722441"/>
              <a:gd name="connsiteX3" fmla="*/ 196381 w 235207"/>
              <a:gd name="connsiteY3" fmla="*/ 687384 h 722441"/>
              <a:gd name="connsiteX4" fmla="*/ 233202 w 235207"/>
              <a:gd name="connsiteY4" fmla="*/ 619878 h 722441"/>
              <a:gd name="connsiteX5" fmla="*/ 227065 w 235207"/>
              <a:gd name="connsiteY5" fmla="*/ 601468 h 7224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5207" h="722441">
                <a:moveTo>
                  <a:pt x="0" y="619878"/>
                </a:moveTo>
                <a:cubicBezTo>
                  <a:pt x="17388" y="686873"/>
                  <a:pt x="34776" y="753868"/>
                  <a:pt x="55232" y="650563"/>
                </a:cubicBezTo>
                <a:cubicBezTo>
                  <a:pt x="75688" y="547258"/>
                  <a:pt x="99213" y="-6087"/>
                  <a:pt x="122738" y="50"/>
                </a:cubicBezTo>
                <a:cubicBezTo>
                  <a:pt x="146263" y="6187"/>
                  <a:pt x="177970" y="584080"/>
                  <a:pt x="196381" y="687384"/>
                </a:cubicBezTo>
                <a:cubicBezTo>
                  <a:pt x="214792" y="790688"/>
                  <a:pt x="228088" y="634197"/>
                  <a:pt x="233202" y="619878"/>
                </a:cubicBezTo>
                <a:cubicBezTo>
                  <a:pt x="238316" y="605559"/>
                  <a:pt x="232690" y="603513"/>
                  <a:pt x="227065" y="601468"/>
                </a:cubicBezTo>
              </a:path>
            </a:pathLst>
          </a:custGeom>
          <a:noFill/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1BEC0E84-DCC9-4F78-AB02-02DC027F4F75}"/>
              </a:ext>
            </a:extLst>
          </p:cNvPr>
          <p:cNvSpPr/>
          <p:nvPr/>
        </p:nvSpPr>
        <p:spPr>
          <a:xfrm>
            <a:off x="2569613" y="4340042"/>
            <a:ext cx="235207" cy="722441"/>
          </a:xfrm>
          <a:custGeom>
            <a:avLst/>
            <a:gdLst>
              <a:gd name="connsiteX0" fmla="*/ 0 w 235207"/>
              <a:gd name="connsiteY0" fmla="*/ 619878 h 722441"/>
              <a:gd name="connsiteX1" fmla="*/ 55232 w 235207"/>
              <a:gd name="connsiteY1" fmla="*/ 650563 h 722441"/>
              <a:gd name="connsiteX2" fmla="*/ 122738 w 235207"/>
              <a:gd name="connsiteY2" fmla="*/ 50 h 722441"/>
              <a:gd name="connsiteX3" fmla="*/ 196381 w 235207"/>
              <a:gd name="connsiteY3" fmla="*/ 687384 h 722441"/>
              <a:gd name="connsiteX4" fmla="*/ 233202 w 235207"/>
              <a:gd name="connsiteY4" fmla="*/ 619878 h 722441"/>
              <a:gd name="connsiteX5" fmla="*/ 227065 w 235207"/>
              <a:gd name="connsiteY5" fmla="*/ 601468 h 7224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5207" h="722441">
                <a:moveTo>
                  <a:pt x="0" y="619878"/>
                </a:moveTo>
                <a:cubicBezTo>
                  <a:pt x="17388" y="686873"/>
                  <a:pt x="34776" y="753868"/>
                  <a:pt x="55232" y="650563"/>
                </a:cubicBezTo>
                <a:cubicBezTo>
                  <a:pt x="75688" y="547258"/>
                  <a:pt x="99213" y="-6087"/>
                  <a:pt x="122738" y="50"/>
                </a:cubicBezTo>
                <a:cubicBezTo>
                  <a:pt x="146263" y="6187"/>
                  <a:pt x="177970" y="584080"/>
                  <a:pt x="196381" y="687384"/>
                </a:cubicBezTo>
                <a:cubicBezTo>
                  <a:pt x="214792" y="790688"/>
                  <a:pt x="228088" y="634197"/>
                  <a:pt x="233202" y="619878"/>
                </a:cubicBezTo>
                <a:cubicBezTo>
                  <a:pt x="238316" y="605559"/>
                  <a:pt x="232690" y="603513"/>
                  <a:pt x="227065" y="601468"/>
                </a:cubicBezTo>
              </a:path>
            </a:pathLst>
          </a:custGeom>
          <a:noFill/>
          <a:ln w="19050">
            <a:solidFill>
              <a:srgbClr val="F1C40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26" name="Picture 2" descr="Was ist ein Glasprisma? Lernen Sie Lichtbrechung">
            <a:extLst>
              <a:ext uri="{FF2B5EF4-FFF2-40B4-BE49-F238E27FC236}">
                <a16:creationId xmlns:a16="http://schemas.microsoft.com/office/drawing/2014/main" id="{0F1D1526-D5D6-499E-BA6A-F9BD914B59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1918" y="3399440"/>
            <a:ext cx="2260632" cy="1644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012CC70A-BD9E-4452-BD22-B49FCBCC9B21}"/>
              </a:ext>
            </a:extLst>
          </p:cNvPr>
          <p:cNvSpPr/>
          <p:nvPr/>
        </p:nvSpPr>
        <p:spPr>
          <a:xfrm>
            <a:off x="2599035" y="3437005"/>
            <a:ext cx="235207" cy="722441"/>
          </a:xfrm>
          <a:custGeom>
            <a:avLst/>
            <a:gdLst>
              <a:gd name="connsiteX0" fmla="*/ 0 w 235207"/>
              <a:gd name="connsiteY0" fmla="*/ 619878 h 722441"/>
              <a:gd name="connsiteX1" fmla="*/ 55232 w 235207"/>
              <a:gd name="connsiteY1" fmla="*/ 650563 h 722441"/>
              <a:gd name="connsiteX2" fmla="*/ 122738 w 235207"/>
              <a:gd name="connsiteY2" fmla="*/ 50 h 722441"/>
              <a:gd name="connsiteX3" fmla="*/ 196381 w 235207"/>
              <a:gd name="connsiteY3" fmla="*/ 687384 h 722441"/>
              <a:gd name="connsiteX4" fmla="*/ 233202 w 235207"/>
              <a:gd name="connsiteY4" fmla="*/ 619878 h 722441"/>
              <a:gd name="connsiteX5" fmla="*/ 227065 w 235207"/>
              <a:gd name="connsiteY5" fmla="*/ 601468 h 7224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5207" h="722441">
                <a:moveTo>
                  <a:pt x="0" y="619878"/>
                </a:moveTo>
                <a:cubicBezTo>
                  <a:pt x="17388" y="686873"/>
                  <a:pt x="34776" y="753868"/>
                  <a:pt x="55232" y="650563"/>
                </a:cubicBezTo>
                <a:cubicBezTo>
                  <a:pt x="75688" y="547258"/>
                  <a:pt x="99213" y="-6087"/>
                  <a:pt x="122738" y="50"/>
                </a:cubicBezTo>
                <a:cubicBezTo>
                  <a:pt x="146263" y="6187"/>
                  <a:pt x="177970" y="584080"/>
                  <a:pt x="196381" y="687384"/>
                </a:cubicBezTo>
                <a:cubicBezTo>
                  <a:pt x="214792" y="790688"/>
                  <a:pt x="228088" y="634197"/>
                  <a:pt x="233202" y="619878"/>
                </a:cubicBezTo>
                <a:cubicBezTo>
                  <a:pt x="238316" y="605559"/>
                  <a:pt x="232690" y="603513"/>
                  <a:pt x="227065" y="601468"/>
                </a:cubicBezTo>
              </a:path>
            </a:pathLst>
          </a:cu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Google Shape;1725;g60be7dcf1c_0_603">
            <a:extLst>
              <a:ext uri="{FF2B5EF4-FFF2-40B4-BE49-F238E27FC236}">
                <a16:creationId xmlns:a16="http://schemas.microsoft.com/office/drawing/2014/main" id="{F6FCFCFC-2523-43F6-9AD1-ECCEF03B2BED}"/>
              </a:ext>
            </a:extLst>
          </p:cNvPr>
          <p:cNvSpPr txBox="1"/>
          <p:nvPr/>
        </p:nvSpPr>
        <p:spPr>
          <a:xfrm>
            <a:off x="4436074" y="6538100"/>
            <a:ext cx="3885888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GB" sz="1000" dirty="0" err="1">
                <a:latin typeface="Consolas"/>
                <a:ea typeface="Consolas"/>
                <a:cs typeface="Consolas"/>
                <a:sym typeface="Consolas"/>
              </a:rPr>
              <a:t>Ballani</a:t>
            </a: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 et al., </a:t>
            </a:r>
            <a:r>
              <a:rPr lang="en-US" sz="1000" dirty="0">
                <a:latin typeface="Consolas"/>
                <a:ea typeface="Consolas"/>
                <a:cs typeface="Consolas"/>
                <a:sym typeface="Consolas"/>
              </a:rPr>
              <a:t>Sirius, ACM SIGCOMM </a:t>
            </a:r>
            <a:r>
              <a:rPr lang="de-DE" sz="1000" dirty="0">
                <a:latin typeface="Consolas"/>
                <a:ea typeface="Consolas"/>
                <a:cs typeface="Consolas"/>
                <a:sym typeface="Consolas"/>
              </a:rPr>
              <a:t>2020.</a:t>
            </a:r>
            <a:endParaRPr lang="en-GB" sz="10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1DF05FB-108E-4554-B3C4-25DD4EB75BCE}"/>
              </a:ext>
            </a:extLst>
          </p:cNvPr>
          <p:cNvSpPr/>
          <p:nvPr/>
        </p:nvSpPr>
        <p:spPr>
          <a:xfrm rot="16200000">
            <a:off x="7770630" y="4529897"/>
            <a:ext cx="232925" cy="7902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14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AA300DB-057F-480E-B1ED-0C398D05B6B1}"/>
              </a:ext>
            </a:extLst>
          </p:cNvPr>
          <p:cNvSpPr/>
          <p:nvPr/>
        </p:nvSpPr>
        <p:spPr>
          <a:xfrm>
            <a:off x="279896" y="3181458"/>
            <a:ext cx="4476831" cy="2067319"/>
          </a:xfrm>
          <a:prstGeom prst="rect">
            <a:avLst/>
          </a:prstGeom>
          <a:noFill/>
          <a:ln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1C02ADA-4311-4640-93DB-98DC28647A8A}"/>
              </a:ext>
            </a:extLst>
          </p:cNvPr>
          <p:cNvSpPr/>
          <p:nvPr/>
        </p:nvSpPr>
        <p:spPr>
          <a:xfrm>
            <a:off x="5130746" y="3122760"/>
            <a:ext cx="2745597" cy="2126017"/>
          </a:xfrm>
          <a:prstGeom prst="rect">
            <a:avLst/>
          </a:prstGeom>
          <a:noFill/>
          <a:ln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A02AF43-6335-4580-81DB-606D568844BA}"/>
              </a:ext>
            </a:extLst>
          </p:cNvPr>
          <p:cNvSpPr/>
          <p:nvPr/>
        </p:nvSpPr>
        <p:spPr>
          <a:xfrm rot="16200000">
            <a:off x="7784490" y="4072698"/>
            <a:ext cx="232925" cy="7902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14"/>
          </a:p>
        </p:txBody>
      </p:sp>
      <p:cxnSp>
        <p:nvCxnSpPr>
          <p:cNvPr id="37" name="Curved Connector 36">
            <a:extLst>
              <a:ext uri="{FF2B5EF4-FFF2-40B4-BE49-F238E27FC236}">
                <a16:creationId xmlns:a16="http://schemas.microsoft.com/office/drawing/2014/main" id="{2CCEFCF8-EF1C-4C5F-BCD7-A4882D9BEF0C}"/>
              </a:ext>
            </a:extLst>
          </p:cNvPr>
          <p:cNvCxnSpPr>
            <a:cxnSpLocks/>
          </p:cNvCxnSpPr>
          <p:nvPr/>
        </p:nvCxnSpPr>
        <p:spPr>
          <a:xfrm>
            <a:off x="7962823" y="4550951"/>
            <a:ext cx="901280" cy="745959"/>
          </a:xfrm>
          <a:prstGeom prst="curvedConnector2">
            <a:avLst/>
          </a:prstGeom>
          <a:ln w="57150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urved Connector 36">
            <a:extLst>
              <a:ext uri="{FF2B5EF4-FFF2-40B4-BE49-F238E27FC236}">
                <a16:creationId xmlns:a16="http://schemas.microsoft.com/office/drawing/2014/main" id="{055F802D-D415-41EA-9123-52FBC424647A}"/>
              </a:ext>
            </a:extLst>
          </p:cNvPr>
          <p:cNvCxnSpPr>
            <a:cxnSpLocks/>
          </p:cNvCxnSpPr>
          <p:nvPr/>
        </p:nvCxnSpPr>
        <p:spPr>
          <a:xfrm>
            <a:off x="7962823" y="4112209"/>
            <a:ext cx="901280" cy="745959"/>
          </a:xfrm>
          <a:prstGeom prst="curvedConnector2">
            <a:avLst/>
          </a:prstGeom>
          <a:ln w="57150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600B359-324F-41FC-AE5D-6C21159B75B2}"/>
              </a:ext>
            </a:extLst>
          </p:cNvPr>
          <p:cNvCxnSpPr>
            <a:cxnSpLocks/>
            <a:stCxn id="10" idx="3"/>
          </p:cNvCxnSpPr>
          <p:nvPr/>
        </p:nvCxnSpPr>
        <p:spPr>
          <a:xfrm flipV="1">
            <a:off x="4304144" y="4257077"/>
            <a:ext cx="882018" cy="1"/>
          </a:xfrm>
          <a:prstGeom prst="straightConnector1">
            <a:avLst/>
          </a:prstGeom>
          <a:noFill/>
          <a:ln w="47625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40" name="Google Shape;1534;g60be7dcf1c_0_434">
            <a:extLst>
              <a:ext uri="{FF2B5EF4-FFF2-40B4-BE49-F238E27FC236}">
                <a16:creationId xmlns:a16="http://schemas.microsoft.com/office/drawing/2014/main" id="{23FB5A3D-ED65-4936-8C86-E094159A8385}"/>
              </a:ext>
            </a:extLst>
          </p:cNvPr>
          <p:cNvSpPr txBox="1"/>
          <p:nvPr/>
        </p:nvSpPr>
        <p:spPr>
          <a:xfrm>
            <a:off x="1562440" y="5364537"/>
            <a:ext cx="2450815" cy="443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Electrical switch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with </a:t>
            </a:r>
            <a:r>
              <a:rPr lang="en-GB" sz="1600" b="1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tunable</a:t>
            </a:r>
            <a:r>
              <a:rPr lang="en-GB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laser</a:t>
            </a:r>
            <a:endParaRPr lang="en-GB" sz="1200" b="1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" name="Google Shape;1534;g60be7dcf1c_0_434">
            <a:extLst>
              <a:ext uri="{FF2B5EF4-FFF2-40B4-BE49-F238E27FC236}">
                <a16:creationId xmlns:a16="http://schemas.microsoft.com/office/drawing/2014/main" id="{3F546213-A96D-49FA-93FF-EA63F150152F}"/>
              </a:ext>
            </a:extLst>
          </p:cNvPr>
          <p:cNvSpPr txBox="1"/>
          <p:nvPr/>
        </p:nvSpPr>
        <p:spPr>
          <a:xfrm>
            <a:off x="5317936" y="5395340"/>
            <a:ext cx="2450815" cy="443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Optical switch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i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Passive</a:t>
            </a:r>
            <a:endParaRPr lang="en-GB" sz="1200" b="1" i="1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A9A2642-4C6B-48FD-A158-766A1FCF62CE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13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5" name="Google Shape;1534;g60be7dcf1c_0_434">
            <a:extLst>
              <a:ext uri="{FF2B5EF4-FFF2-40B4-BE49-F238E27FC236}">
                <a16:creationId xmlns:a16="http://schemas.microsoft.com/office/drawing/2014/main" id="{1085A6BC-B409-6B36-435F-23BF3F3DF553}"/>
              </a:ext>
            </a:extLst>
          </p:cNvPr>
          <p:cNvSpPr txBox="1"/>
          <p:nvPr/>
        </p:nvSpPr>
        <p:spPr>
          <a:xfrm>
            <a:off x="973075" y="1946076"/>
            <a:ext cx="7557300" cy="9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⇢ Depending on wavelength, forwarded differently</a:t>
            </a:r>
          </a:p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⇢ Optical switch is passive</a:t>
            </a:r>
          </a:p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405153300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50A66C3-22B9-40F0-A9F9-F995EA1CEC49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>
            <a:off x="2139038" y="4257078"/>
            <a:ext cx="891522" cy="0"/>
          </a:xfrm>
          <a:prstGeom prst="straightConnector1">
            <a:avLst/>
          </a:prstGeom>
          <a:noFill/>
          <a:ln w="47625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58A8A35B-C710-49A7-9FA3-42FF5A5B024F}"/>
              </a:ext>
            </a:extLst>
          </p:cNvPr>
          <p:cNvSpPr/>
          <p:nvPr/>
        </p:nvSpPr>
        <p:spPr bwMode="auto">
          <a:xfrm>
            <a:off x="544945" y="3483171"/>
            <a:ext cx="1594093" cy="1547813"/>
          </a:xfrm>
          <a:prstGeom prst="rect">
            <a:avLst/>
          </a:prstGeom>
          <a:gradFill flip="none" rotWithShape="1">
            <a:gsLst>
              <a:gs pos="0">
                <a:srgbClr val="FF0000"/>
              </a:gs>
              <a:gs pos="35000">
                <a:srgbClr val="FFFF00"/>
              </a:gs>
              <a:gs pos="66000">
                <a:srgbClr val="00B050"/>
              </a:gs>
              <a:gs pos="100000">
                <a:srgbClr val="0070C0"/>
              </a:gs>
            </a:gsLst>
            <a:lin ang="0" scaled="1"/>
            <a:tileRect/>
          </a:gra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/>
            <a:r>
              <a:rPr lang="en-US" kern="0" dirty="0">
                <a:latin typeface="Consolas" panose="020B0609020204030204" pitchFamily="49" charset="0"/>
                <a:ea typeface="ＭＳ Ｐゴシック" pitchFamily="34" charset="-128"/>
                <a:cs typeface="Segoe UI Light" panose="020B0502040204020203" pitchFamily="34" charset="0"/>
              </a:rPr>
              <a:t>Multi-wavelength </a:t>
            </a:r>
            <a:br>
              <a:rPr lang="en-US" kern="0" dirty="0">
                <a:latin typeface="Consolas" panose="020B0609020204030204" pitchFamily="49" charset="0"/>
                <a:ea typeface="ＭＳ Ｐゴシック" pitchFamily="34" charset="-128"/>
                <a:cs typeface="Segoe UI Light" panose="020B0502040204020203" pitchFamily="34" charset="0"/>
              </a:rPr>
            </a:br>
            <a:r>
              <a:rPr lang="en-US" kern="0" dirty="0">
                <a:latin typeface="Consolas" panose="020B0609020204030204" pitchFamily="49" charset="0"/>
                <a:ea typeface="ＭＳ Ｐゴシック" pitchFamily="34" charset="-128"/>
                <a:cs typeface="Segoe UI Light" panose="020B0502040204020203" pitchFamily="34" charset="0"/>
              </a:rPr>
              <a:t>source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72B67D-733F-4C9D-8D60-9B73E2A22BD6}"/>
              </a:ext>
            </a:extLst>
          </p:cNvPr>
          <p:cNvSpPr/>
          <p:nvPr/>
        </p:nvSpPr>
        <p:spPr bwMode="auto">
          <a:xfrm>
            <a:off x="3030560" y="3483171"/>
            <a:ext cx="1273584" cy="1547813"/>
          </a:xfrm>
          <a:prstGeom prst="rect">
            <a:avLst/>
          </a:prstGeom>
          <a:solidFill>
            <a:srgbClr val="FF0000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/>
            <a:r>
              <a:rPr lang="en-GB" b="1" kern="0" dirty="0">
                <a:solidFill>
                  <a:schemeClr val="bg1"/>
                </a:solidFill>
                <a:latin typeface="Consolas" panose="020B0609020204030204" pitchFamily="49" charset="0"/>
                <a:ea typeface="ＭＳ Ｐゴシック" pitchFamily="34" charset="-128"/>
                <a:cs typeface="Segoe UI Light" panose="020B0502040204020203" pitchFamily="34" charset="0"/>
              </a:rPr>
              <a:t>Wavelength</a:t>
            </a:r>
          </a:p>
          <a:p>
            <a:pPr algn="ctr" defTabSz="685800"/>
            <a:r>
              <a:rPr lang="en-GB" b="1" dirty="0">
                <a:solidFill>
                  <a:schemeClr val="bg1"/>
                </a:solidFill>
                <a:latin typeface="Consolas" panose="020B0609020204030204" pitchFamily="49" charset="0"/>
                <a:ea typeface="ＭＳ Ｐゴシック" pitchFamily="34" charset="-128"/>
                <a:cs typeface="Segoe UI Light" panose="020B0502040204020203" pitchFamily="34" charset="0"/>
              </a:rPr>
              <a:t>s</a:t>
            </a:r>
            <a:r>
              <a:rPr lang="en-GB" b="1" kern="0" dirty="0">
                <a:solidFill>
                  <a:schemeClr val="bg1"/>
                </a:solidFill>
                <a:latin typeface="Consolas" panose="020B0609020204030204" pitchFamily="49" charset="0"/>
                <a:ea typeface="ＭＳ Ｐゴシック" pitchFamily="34" charset="-128"/>
                <a:cs typeface="Segoe UI Light" panose="020B0502040204020203" pitchFamily="34" charset="0"/>
              </a:rPr>
              <a:t>elector</a:t>
            </a:r>
            <a:endParaRPr lang="en-US" b="1" kern="0" dirty="0">
              <a:solidFill>
                <a:schemeClr val="bg1"/>
              </a:solidFill>
              <a:latin typeface="Consolas" panose="020B0609020204030204" pitchFamily="49" charset="0"/>
              <a:ea typeface="ＭＳ Ｐゴシック" pitchFamily="34" charset="-128"/>
              <a:cs typeface="Segoe UI Light" panose="020B0502040204020203" pitchFamily="34" charset="0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FB165E9E-2E3B-4FFC-BB8F-5F324ACE60BA}"/>
              </a:ext>
            </a:extLst>
          </p:cNvPr>
          <p:cNvSpPr/>
          <p:nvPr/>
        </p:nvSpPr>
        <p:spPr>
          <a:xfrm>
            <a:off x="2226605" y="3412867"/>
            <a:ext cx="235207" cy="722441"/>
          </a:xfrm>
          <a:custGeom>
            <a:avLst/>
            <a:gdLst>
              <a:gd name="connsiteX0" fmla="*/ 0 w 235207"/>
              <a:gd name="connsiteY0" fmla="*/ 619878 h 722441"/>
              <a:gd name="connsiteX1" fmla="*/ 55232 w 235207"/>
              <a:gd name="connsiteY1" fmla="*/ 650563 h 722441"/>
              <a:gd name="connsiteX2" fmla="*/ 122738 w 235207"/>
              <a:gd name="connsiteY2" fmla="*/ 50 h 722441"/>
              <a:gd name="connsiteX3" fmla="*/ 196381 w 235207"/>
              <a:gd name="connsiteY3" fmla="*/ 687384 h 722441"/>
              <a:gd name="connsiteX4" fmla="*/ 233202 w 235207"/>
              <a:gd name="connsiteY4" fmla="*/ 619878 h 722441"/>
              <a:gd name="connsiteX5" fmla="*/ 227065 w 235207"/>
              <a:gd name="connsiteY5" fmla="*/ 601468 h 7224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5207" h="722441">
                <a:moveTo>
                  <a:pt x="0" y="619878"/>
                </a:moveTo>
                <a:cubicBezTo>
                  <a:pt x="17388" y="686873"/>
                  <a:pt x="34776" y="753868"/>
                  <a:pt x="55232" y="650563"/>
                </a:cubicBezTo>
                <a:cubicBezTo>
                  <a:pt x="75688" y="547258"/>
                  <a:pt x="99213" y="-6087"/>
                  <a:pt x="122738" y="50"/>
                </a:cubicBezTo>
                <a:cubicBezTo>
                  <a:pt x="146263" y="6187"/>
                  <a:pt x="177970" y="584080"/>
                  <a:pt x="196381" y="687384"/>
                </a:cubicBezTo>
                <a:cubicBezTo>
                  <a:pt x="214792" y="790688"/>
                  <a:pt x="228088" y="634197"/>
                  <a:pt x="233202" y="619878"/>
                </a:cubicBezTo>
                <a:cubicBezTo>
                  <a:pt x="238316" y="605559"/>
                  <a:pt x="232690" y="603513"/>
                  <a:pt x="227065" y="601468"/>
                </a:cubicBezTo>
              </a:path>
            </a:pathLst>
          </a:cu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806AE5F5-DA8E-4352-816C-BA06E2B850A8}"/>
              </a:ext>
            </a:extLst>
          </p:cNvPr>
          <p:cNvSpPr/>
          <p:nvPr/>
        </p:nvSpPr>
        <p:spPr>
          <a:xfrm>
            <a:off x="2217752" y="4340042"/>
            <a:ext cx="235207" cy="722441"/>
          </a:xfrm>
          <a:custGeom>
            <a:avLst/>
            <a:gdLst>
              <a:gd name="connsiteX0" fmla="*/ 0 w 235207"/>
              <a:gd name="connsiteY0" fmla="*/ 619878 h 722441"/>
              <a:gd name="connsiteX1" fmla="*/ 55232 w 235207"/>
              <a:gd name="connsiteY1" fmla="*/ 650563 h 722441"/>
              <a:gd name="connsiteX2" fmla="*/ 122738 w 235207"/>
              <a:gd name="connsiteY2" fmla="*/ 50 h 722441"/>
              <a:gd name="connsiteX3" fmla="*/ 196381 w 235207"/>
              <a:gd name="connsiteY3" fmla="*/ 687384 h 722441"/>
              <a:gd name="connsiteX4" fmla="*/ 233202 w 235207"/>
              <a:gd name="connsiteY4" fmla="*/ 619878 h 722441"/>
              <a:gd name="connsiteX5" fmla="*/ 227065 w 235207"/>
              <a:gd name="connsiteY5" fmla="*/ 601468 h 7224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5207" h="722441">
                <a:moveTo>
                  <a:pt x="0" y="619878"/>
                </a:moveTo>
                <a:cubicBezTo>
                  <a:pt x="17388" y="686873"/>
                  <a:pt x="34776" y="753868"/>
                  <a:pt x="55232" y="650563"/>
                </a:cubicBezTo>
                <a:cubicBezTo>
                  <a:pt x="75688" y="547258"/>
                  <a:pt x="99213" y="-6087"/>
                  <a:pt x="122738" y="50"/>
                </a:cubicBezTo>
                <a:cubicBezTo>
                  <a:pt x="146263" y="6187"/>
                  <a:pt x="177970" y="584080"/>
                  <a:pt x="196381" y="687384"/>
                </a:cubicBezTo>
                <a:cubicBezTo>
                  <a:pt x="214792" y="790688"/>
                  <a:pt x="228088" y="634197"/>
                  <a:pt x="233202" y="619878"/>
                </a:cubicBezTo>
                <a:cubicBezTo>
                  <a:pt x="238316" y="605559"/>
                  <a:pt x="232690" y="603513"/>
                  <a:pt x="227065" y="601468"/>
                </a:cubicBezTo>
              </a:path>
            </a:pathLst>
          </a:custGeom>
          <a:noFill/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1BEC0E84-DCC9-4F78-AB02-02DC027F4F75}"/>
              </a:ext>
            </a:extLst>
          </p:cNvPr>
          <p:cNvSpPr/>
          <p:nvPr/>
        </p:nvSpPr>
        <p:spPr>
          <a:xfrm>
            <a:off x="2569613" y="4340042"/>
            <a:ext cx="235207" cy="722441"/>
          </a:xfrm>
          <a:custGeom>
            <a:avLst/>
            <a:gdLst>
              <a:gd name="connsiteX0" fmla="*/ 0 w 235207"/>
              <a:gd name="connsiteY0" fmla="*/ 619878 h 722441"/>
              <a:gd name="connsiteX1" fmla="*/ 55232 w 235207"/>
              <a:gd name="connsiteY1" fmla="*/ 650563 h 722441"/>
              <a:gd name="connsiteX2" fmla="*/ 122738 w 235207"/>
              <a:gd name="connsiteY2" fmla="*/ 50 h 722441"/>
              <a:gd name="connsiteX3" fmla="*/ 196381 w 235207"/>
              <a:gd name="connsiteY3" fmla="*/ 687384 h 722441"/>
              <a:gd name="connsiteX4" fmla="*/ 233202 w 235207"/>
              <a:gd name="connsiteY4" fmla="*/ 619878 h 722441"/>
              <a:gd name="connsiteX5" fmla="*/ 227065 w 235207"/>
              <a:gd name="connsiteY5" fmla="*/ 601468 h 7224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5207" h="722441">
                <a:moveTo>
                  <a:pt x="0" y="619878"/>
                </a:moveTo>
                <a:cubicBezTo>
                  <a:pt x="17388" y="686873"/>
                  <a:pt x="34776" y="753868"/>
                  <a:pt x="55232" y="650563"/>
                </a:cubicBezTo>
                <a:cubicBezTo>
                  <a:pt x="75688" y="547258"/>
                  <a:pt x="99213" y="-6087"/>
                  <a:pt x="122738" y="50"/>
                </a:cubicBezTo>
                <a:cubicBezTo>
                  <a:pt x="146263" y="6187"/>
                  <a:pt x="177970" y="584080"/>
                  <a:pt x="196381" y="687384"/>
                </a:cubicBezTo>
                <a:cubicBezTo>
                  <a:pt x="214792" y="790688"/>
                  <a:pt x="228088" y="634197"/>
                  <a:pt x="233202" y="619878"/>
                </a:cubicBezTo>
                <a:cubicBezTo>
                  <a:pt x="238316" y="605559"/>
                  <a:pt x="232690" y="603513"/>
                  <a:pt x="227065" y="601468"/>
                </a:cubicBezTo>
              </a:path>
            </a:pathLst>
          </a:custGeom>
          <a:noFill/>
          <a:ln w="19050">
            <a:solidFill>
              <a:srgbClr val="F1C40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A000B2F4-225A-40DE-9310-251A440F64E3}"/>
              </a:ext>
            </a:extLst>
          </p:cNvPr>
          <p:cNvSpPr/>
          <p:nvPr/>
        </p:nvSpPr>
        <p:spPr>
          <a:xfrm>
            <a:off x="4435918" y="3445044"/>
            <a:ext cx="235207" cy="722441"/>
          </a:xfrm>
          <a:custGeom>
            <a:avLst/>
            <a:gdLst>
              <a:gd name="connsiteX0" fmla="*/ 0 w 235207"/>
              <a:gd name="connsiteY0" fmla="*/ 619878 h 722441"/>
              <a:gd name="connsiteX1" fmla="*/ 55232 w 235207"/>
              <a:gd name="connsiteY1" fmla="*/ 650563 h 722441"/>
              <a:gd name="connsiteX2" fmla="*/ 122738 w 235207"/>
              <a:gd name="connsiteY2" fmla="*/ 50 h 722441"/>
              <a:gd name="connsiteX3" fmla="*/ 196381 w 235207"/>
              <a:gd name="connsiteY3" fmla="*/ 687384 h 722441"/>
              <a:gd name="connsiteX4" fmla="*/ 233202 w 235207"/>
              <a:gd name="connsiteY4" fmla="*/ 619878 h 722441"/>
              <a:gd name="connsiteX5" fmla="*/ 227065 w 235207"/>
              <a:gd name="connsiteY5" fmla="*/ 601468 h 7224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5207" h="722441">
                <a:moveTo>
                  <a:pt x="0" y="619878"/>
                </a:moveTo>
                <a:cubicBezTo>
                  <a:pt x="17388" y="686873"/>
                  <a:pt x="34776" y="753868"/>
                  <a:pt x="55232" y="650563"/>
                </a:cubicBezTo>
                <a:cubicBezTo>
                  <a:pt x="75688" y="547258"/>
                  <a:pt x="99213" y="-6087"/>
                  <a:pt x="122738" y="50"/>
                </a:cubicBezTo>
                <a:cubicBezTo>
                  <a:pt x="146263" y="6187"/>
                  <a:pt x="177970" y="584080"/>
                  <a:pt x="196381" y="687384"/>
                </a:cubicBezTo>
                <a:cubicBezTo>
                  <a:pt x="214792" y="790688"/>
                  <a:pt x="228088" y="634197"/>
                  <a:pt x="233202" y="619878"/>
                </a:cubicBezTo>
                <a:cubicBezTo>
                  <a:pt x="238316" y="605559"/>
                  <a:pt x="232690" y="603513"/>
                  <a:pt x="227065" y="601468"/>
                </a:cubicBezTo>
              </a:path>
            </a:pathLst>
          </a:cu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26" name="Picture 2" descr="Was ist ein Glasprisma? Lernen Sie Lichtbrechung">
            <a:extLst>
              <a:ext uri="{FF2B5EF4-FFF2-40B4-BE49-F238E27FC236}">
                <a16:creationId xmlns:a16="http://schemas.microsoft.com/office/drawing/2014/main" id="{0F1D1526-D5D6-499E-BA6A-F9BD914B59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1918" y="3399440"/>
            <a:ext cx="2260632" cy="1644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012CC70A-BD9E-4452-BD22-B49FCBCC9B21}"/>
              </a:ext>
            </a:extLst>
          </p:cNvPr>
          <p:cNvSpPr/>
          <p:nvPr/>
        </p:nvSpPr>
        <p:spPr>
          <a:xfrm>
            <a:off x="2599035" y="3437005"/>
            <a:ext cx="235207" cy="722441"/>
          </a:xfrm>
          <a:custGeom>
            <a:avLst/>
            <a:gdLst>
              <a:gd name="connsiteX0" fmla="*/ 0 w 235207"/>
              <a:gd name="connsiteY0" fmla="*/ 619878 h 722441"/>
              <a:gd name="connsiteX1" fmla="*/ 55232 w 235207"/>
              <a:gd name="connsiteY1" fmla="*/ 650563 h 722441"/>
              <a:gd name="connsiteX2" fmla="*/ 122738 w 235207"/>
              <a:gd name="connsiteY2" fmla="*/ 50 h 722441"/>
              <a:gd name="connsiteX3" fmla="*/ 196381 w 235207"/>
              <a:gd name="connsiteY3" fmla="*/ 687384 h 722441"/>
              <a:gd name="connsiteX4" fmla="*/ 233202 w 235207"/>
              <a:gd name="connsiteY4" fmla="*/ 619878 h 722441"/>
              <a:gd name="connsiteX5" fmla="*/ 227065 w 235207"/>
              <a:gd name="connsiteY5" fmla="*/ 601468 h 7224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5207" h="722441">
                <a:moveTo>
                  <a:pt x="0" y="619878"/>
                </a:moveTo>
                <a:cubicBezTo>
                  <a:pt x="17388" y="686873"/>
                  <a:pt x="34776" y="753868"/>
                  <a:pt x="55232" y="650563"/>
                </a:cubicBezTo>
                <a:cubicBezTo>
                  <a:pt x="75688" y="547258"/>
                  <a:pt x="99213" y="-6087"/>
                  <a:pt x="122738" y="50"/>
                </a:cubicBezTo>
                <a:cubicBezTo>
                  <a:pt x="146263" y="6187"/>
                  <a:pt x="177970" y="584080"/>
                  <a:pt x="196381" y="687384"/>
                </a:cubicBezTo>
                <a:cubicBezTo>
                  <a:pt x="214792" y="790688"/>
                  <a:pt x="228088" y="634197"/>
                  <a:pt x="233202" y="619878"/>
                </a:cubicBezTo>
                <a:cubicBezTo>
                  <a:pt x="238316" y="605559"/>
                  <a:pt x="232690" y="603513"/>
                  <a:pt x="227065" y="601468"/>
                </a:cubicBezTo>
              </a:path>
            </a:pathLst>
          </a:cu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Google Shape;1534;g60be7dcf1c_0_434">
            <a:extLst>
              <a:ext uri="{FF2B5EF4-FFF2-40B4-BE49-F238E27FC236}">
                <a16:creationId xmlns:a16="http://schemas.microsoft.com/office/drawing/2014/main" id="{F4EFA1F6-9D86-4CCB-8276-B40E66759C5F}"/>
              </a:ext>
            </a:extLst>
          </p:cNvPr>
          <p:cNvSpPr txBox="1"/>
          <p:nvPr/>
        </p:nvSpPr>
        <p:spPr>
          <a:xfrm>
            <a:off x="973075" y="1946076"/>
            <a:ext cx="7557300" cy="9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⇢ Depending on wavelength, forwarded differently</a:t>
            </a:r>
          </a:p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⇢ Optical switch is passive</a:t>
            </a:r>
          </a:p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1DF05FB-108E-4554-B3C4-25DD4EB75BCE}"/>
              </a:ext>
            </a:extLst>
          </p:cNvPr>
          <p:cNvSpPr/>
          <p:nvPr/>
        </p:nvSpPr>
        <p:spPr>
          <a:xfrm rot="16200000">
            <a:off x="7770630" y="4529897"/>
            <a:ext cx="232925" cy="7902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14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AA300DB-057F-480E-B1ED-0C398D05B6B1}"/>
              </a:ext>
            </a:extLst>
          </p:cNvPr>
          <p:cNvSpPr/>
          <p:nvPr/>
        </p:nvSpPr>
        <p:spPr>
          <a:xfrm>
            <a:off x="279896" y="3181458"/>
            <a:ext cx="4476831" cy="2067319"/>
          </a:xfrm>
          <a:prstGeom prst="rect">
            <a:avLst/>
          </a:prstGeom>
          <a:noFill/>
          <a:ln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1C02ADA-4311-4640-93DB-98DC28647A8A}"/>
              </a:ext>
            </a:extLst>
          </p:cNvPr>
          <p:cNvSpPr/>
          <p:nvPr/>
        </p:nvSpPr>
        <p:spPr>
          <a:xfrm>
            <a:off x="5130746" y="3122760"/>
            <a:ext cx="2745597" cy="2126017"/>
          </a:xfrm>
          <a:prstGeom prst="rect">
            <a:avLst/>
          </a:prstGeom>
          <a:noFill/>
          <a:ln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A02AF43-6335-4580-81DB-606D568844BA}"/>
              </a:ext>
            </a:extLst>
          </p:cNvPr>
          <p:cNvSpPr/>
          <p:nvPr/>
        </p:nvSpPr>
        <p:spPr>
          <a:xfrm rot="16200000">
            <a:off x="7784490" y="4072698"/>
            <a:ext cx="232925" cy="7902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14"/>
          </a:p>
        </p:txBody>
      </p:sp>
      <p:cxnSp>
        <p:nvCxnSpPr>
          <p:cNvPr id="37" name="Curved Connector 36">
            <a:extLst>
              <a:ext uri="{FF2B5EF4-FFF2-40B4-BE49-F238E27FC236}">
                <a16:creationId xmlns:a16="http://schemas.microsoft.com/office/drawing/2014/main" id="{2CCEFCF8-EF1C-4C5F-BCD7-A4882D9BEF0C}"/>
              </a:ext>
            </a:extLst>
          </p:cNvPr>
          <p:cNvCxnSpPr>
            <a:cxnSpLocks/>
          </p:cNvCxnSpPr>
          <p:nvPr/>
        </p:nvCxnSpPr>
        <p:spPr>
          <a:xfrm>
            <a:off x="7962823" y="4550951"/>
            <a:ext cx="901280" cy="745959"/>
          </a:xfrm>
          <a:prstGeom prst="curvedConnector2">
            <a:avLst/>
          </a:prstGeom>
          <a:ln w="57150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urved Connector 36">
            <a:extLst>
              <a:ext uri="{FF2B5EF4-FFF2-40B4-BE49-F238E27FC236}">
                <a16:creationId xmlns:a16="http://schemas.microsoft.com/office/drawing/2014/main" id="{055F802D-D415-41EA-9123-52FBC424647A}"/>
              </a:ext>
            </a:extLst>
          </p:cNvPr>
          <p:cNvCxnSpPr>
            <a:cxnSpLocks/>
          </p:cNvCxnSpPr>
          <p:nvPr/>
        </p:nvCxnSpPr>
        <p:spPr>
          <a:xfrm>
            <a:off x="7962823" y="4112209"/>
            <a:ext cx="901280" cy="745959"/>
          </a:xfrm>
          <a:prstGeom prst="curvedConnector2">
            <a:avLst/>
          </a:prstGeom>
          <a:ln w="57150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600B359-324F-41FC-AE5D-6C21159B75B2}"/>
              </a:ext>
            </a:extLst>
          </p:cNvPr>
          <p:cNvCxnSpPr>
            <a:cxnSpLocks/>
            <a:stCxn id="10" idx="3"/>
          </p:cNvCxnSpPr>
          <p:nvPr/>
        </p:nvCxnSpPr>
        <p:spPr>
          <a:xfrm flipV="1">
            <a:off x="4304144" y="4257077"/>
            <a:ext cx="882018" cy="1"/>
          </a:xfrm>
          <a:prstGeom prst="straightConnector1">
            <a:avLst/>
          </a:prstGeom>
          <a:noFill/>
          <a:ln w="47625" cap="flat" cmpd="sng" algn="ctr">
            <a:solidFill>
              <a:srgbClr val="FF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40" name="Google Shape;1534;g60be7dcf1c_0_434">
            <a:extLst>
              <a:ext uri="{FF2B5EF4-FFF2-40B4-BE49-F238E27FC236}">
                <a16:creationId xmlns:a16="http://schemas.microsoft.com/office/drawing/2014/main" id="{23FB5A3D-ED65-4936-8C86-E094159A8385}"/>
              </a:ext>
            </a:extLst>
          </p:cNvPr>
          <p:cNvSpPr txBox="1"/>
          <p:nvPr/>
        </p:nvSpPr>
        <p:spPr>
          <a:xfrm>
            <a:off x="1562440" y="5364537"/>
            <a:ext cx="2450815" cy="443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Electrical switch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with </a:t>
            </a:r>
            <a:r>
              <a:rPr lang="en-GB" sz="1600" b="1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tunable</a:t>
            </a:r>
            <a:r>
              <a:rPr lang="en-GB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laser</a:t>
            </a:r>
            <a:endParaRPr lang="en-GB" sz="1200" b="1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" name="Google Shape;1534;g60be7dcf1c_0_434">
            <a:extLst>
              <a:ext uri="{FF2B5EF4-FFF2-40B4-BE49-F238E27FC236}">
                <a16:creationId xmlns:a16="http://schemas.microsoft.com/office/drawing/2014/main" id="{3F546213-A96D-49FA-93FF-EA63F150152F}"/>
              </a:ext>
            </a:extLst>
          </p:cNvPr>
          <p:cNvSpPr txBox="1"/>
          <p:nvPr/>
        </p:nvSpPr>
        <p:spPr>
          <a:xfrm>
            <a:off x="5317936" y="5395340"/>
            <a:ext cx="2450815" cy="443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Optical switch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i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Passive</a:t>
            </a:r>
            <a:endParaRPr lang="en-GB" sz="1200" b="1" i="1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6AB2CA4-8F2A-43C6-B572-DA98F6331543}"/>
              </a:ext>
            </a:extLst>
          </p:cNvPr>
          <p:cNvCxnSpPr>
            <a:cxnSpLocks/>
          </p:cNvCxnSpPr>
          <p:nvPr/>
        </p:nvCxnSpPr>
        <p:spPr>
          <a:xfrm>
            <a:off x="7504042" y="4052708"/>
            <a:ext cx="389975" cy="78135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Google Shape;1725;g60be7dcf1c_0_603">
            <a:extLst>
              <a:ext uri="{FF2B5EF4-FFF2-40B4-BE49-F238E27FC236}">
                <a16:creationId xmlns:a16="http://schemas.microsoft.com/office/drawing/2014/main" id="{465440D0-B24C-437B-98B2-5A7FFD08D0A8}"/>
              </a:ext>
            </a:extLst>
          </p:cNvPr>
          <p:cNvSpPr txBox="1"/>
          <p:nvPr/>
        </p:nvSpPr>
        <p:spPr>
          <a:xfrm>
            <a:off x="4436074" y="6538100"/>
            <a:ext cx="3885888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GB" sz="1000" dirty="0" err="1">
                <a:latin typeface="Consolas"/>
                <a:ea typeface="Consolas"/>
                <a:cs typeface="Consolas"/>
                <a:sym typeface="Consolas"/>
              </a:rPr>
              <a:t>Ballani</a:t>
            </a: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 et al., </a:t>
            </a:r>
            <a:r>
              <a:rPr lang="en-US" sz="1000" dirty="0">
                <a:latin typeface="Consolas"/>
                <a:ea typeface="Consolas"/>
                <a:cs typeface="Consolas"/>
                <a:sym typeface="Consolas"/>
              </a:rPr>
              <a:t>Sirius, ACM SIGCOMM </a:t>
            </a:r>
            <a:r>
              <a:rPr lang="de-DE" sz="1000" dirty="0">
                <a:latin typeface="Consolas"/>
                <a:ea typeface="Consolas"/>
                <a:cs typeface="Consolas"/>
                <a:sym typeface="Consolas"/>
              </a:rPr>
              <a:t>2020.</a:t>
            </a:r>
            <a:endParaRPr lang="en-GB" sz="10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E4EB53C-6347-4AF6-AA1E-06A27F0495C7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13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3" name="Google Shape;1530;g60be7dcf1c_0_434">
            <a:extLst>
              <a:ext uri="{FF2B5EF4-FFF2-40B4-BE49-F238E27FC236}">
                <a16:creationId xmlns:a16="http://schemas.microsoft.com/office/drawing/2014/main" id="{6DA8838C-5426-0051-B71A-BF25A0093E07}"/>
              </a:ext>
            </a:extLst>
          </p:cNvPr>
          <p:cNvSpPr txBox="1"/>
          <p:nvPr/>
        </p:nvSpPr>
        <p:spPr>
          <a:xfrm>
            <a:off x="0" y="540000"/>
            <a:ext cx="8211000" cy="937889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5" name="Google Shape;1531;g60be7dcf1c_0_434">
            <a:extLst>
              <a:ext uri="{FF2B5EF4-FFF2-40B4-BE49-F238E27FC236}">
                <a16:creationId xmlns:a16="http://schemas.microsoft.com/office/drawing/2014/main" id="{C70D196A-CE87-B150-306C-AFA0B91CF7D7}"/>
              </a:ext>
            </a:extLst>
          </p:cNvPr>
          <p:cNvSpPr txBox="1">
            <a:spLocks/>
          </p:cNvSpPr>
          <p:nvPr/>
        </p:nvSpPr>
        <p:spPr>
          <a:xfrm>
            <a:off x="973075" y="149350"/>
            <a:ext cx="8171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lnSpc>
                <a:spcPct val="115000"/>
              </a:lnSpc>
              <a:buSzPts val="1100"/>
            </a:pPr>
            <a: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Another Example</a:t>
            </a:r>
            <a:br>
              <a:rPr lang="en-GB" sz="32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2000" dirty="0" err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Tunable</a:t>
            </a:r>
            <a:r>
              <a:rPr lang="en-GB" sz="2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Lasers </a:t>
            </a:r>
          </a:p>
        </p:txBody>
      </p:sp>
    </p:spTree>
    <p:extLst>
      <p:ext uri="{BB962C8B-B14F-4D97-AF65-F5344CB8AC3E}">
        <p14:creationId xmlns:p14="http://schemas.microsoft.com/office/powerpoint/2010/main" val="268030915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50A66C3-22B9-40F0-A9F9-F995EA1CEC49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>
            <a:off x="2139038" y="4257078"/>
            <a:ext cx="891522" cy="0"/>
          </a:xfrm>
          <a:prstGeom prst="straightConnector1">
            <a:avLst/>
          </a:prstGeom>
          <a:noFill/>
          <a:ln w="47625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58A8A35B-C710-49A7-9FA3-42FF5A5B024F}"/>
              </a:ext>
            </a:extLst>
          </p:cNvPr>
          <p:cNvSpPr/>
          <p:nvPr/>
        </p:nvSpPr>
        <p:spPr bwMode="auto">
          <a:xfrm>
            <a:off x="544945" y="3483171"/>
            <a:ext cx="1594093" cy="1547813"/>
          </a:xfrm>
          <a:prstGeom prst="rect">
            <a:avLst/>
          </a:prstGeom>
          <a:gradFill flip="none" rotWithShape="1">
            <a:gsLst>
              <a:gs pos="0">
                <a:srgbClr val="FF0000"/>
              </a:gs>
              <a:gs pos="35000">
                <a:srgbClr val="FFFF00"/>
              </a:gs>
              <a:gs pos="66000">
                <a:srgbClr val="00B050"/>
              </a:gs>
              <a:gs pos="100000">
                <a:srgbClr val="0070C0"/>
              </a:gs>
            </a:gsLst>
            <a:lin ang="0" scaled="1"/>
            <a:tileRect/>
          </a:gra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/>
            <a:r>
              <a:rPr lang="en-US" kern="0" dirty="0">
                <a:latin typeface="Consolas" panose="020B0609020204030204" pitchFamily="49" charset="0"/>
                <a:ea typeface="ＭＳ Ｐゴシック" pitchFamily="34" charset="-128"/>
                <a:cs typeface="Segoe UI Light" panose="020B0502040204020203" pitchFamily="34" charset="0"/>
              </a:rPr>
              <a:t>Multi-wavelength </a:t>
            </a:r>
            <a:br>
              <a:rPr lang="en-US" kern="0" dirty="0">
                <a:latin typeface="Consolas" panose="020B0609020204030204" pitchFamily="49" charset="0"/>
                <a:ea typeface="ＭＳ Ｐゴシック" pitchFamily="34" charset="-128"/>
                <a:cs typeface="Segoe UI Light" panose="020B0502040204020203" pitchFamily="34" charset="0"/>
              </a:rPr>
            </a:br>
            <a:r>
              <a:rPr lang="en-US" kern="0" dirty="0">
                <a:latin typeface="Consolas" panose="020B0609020204030204" pitchFamily="49" charset="0"/>
                <a:ea typeface="ＭＳ Ｐゴシック" pitchFamily="34" charset="-128"/>
                <a:cs typeface="Segoe UI Light" panose="020B0502040204020203" pitchFamily="34" charset="0"/>
              </a:rPr>
              <a:t>source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72B67D-733F-4C9D-8D60-9B73E2A22BD6}"/>
              </a:ext>
            </a:extLst>
          </p:cNvPr>
          <p:cNvSpPr/>
          <p:nvPr/>
        </p:nvSpPr>
        <p:spPr bwMode="auto">
          <a:xfrm>
            <a:off x="3030560" y="3483171"/>
            <a:ext cx="1273584" cy="1547813"/>
          </a:xfrm>
          <a:prstGeom prst="rect">
            <a:avLst/>
          </a:prstGeom>
          <a:solidFill>
            <a:srgbClr val="4610E0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/>
            <a:r>
              <a:rPr lang="en-GB" b="1" kern="0" dirty="0">
                <a:solidFill>
                  <a:schemeClr val="bg1"/>
                </a:solidFill>
                <a:latin typeface="Consolas" panose="020B0609020204030204" pitchFamily="49" charset="0"/>
                <a:ea typeface="ＭＳ Ｐゴシック" pitchFamily="34" charset="-128"/>
                <a:cs typeface="Segoe UI Light" panose="020B0502040204020203" pitchFamily="34" charset="0"/>
              </a:rPr>
              <a:t>Wavelength</a:t>
            </a:r>
          </a:p>
          <a:p>
            <a:pPr algn="ctr" defTabSz="685800"/>
            <a:r>
              <a:rPr lang="en-GB" b="1" dirty="0">
                <a:solidFill>
                  <a:schemeClr val="bg1"/>
                </a:solidFill>
                <a:latin typeface="Consolas" panose="020B0609020204030204" pitchFamily="49" charset="0"/>
                <a:ea typeface="ＭＳ Ｐゴシック" pitchFamily="34" charset="-128"/>
                <a:cs typeface="Segoe UI Light" panose="020B0502040204020203" pitchFamily="34" charset="0"/>
              </a:rPr>
              <a:t>s</a:t>
            </a:r>
            <a:r>
              <a:rPr lang="en-GB" b="1" kern="0" dirty="0">
                <a:solidFill>
                  <a:schemeClr val="bg1"/>
                </a:solidFill>
                <a:latin typeface="Consolas" panose="020B0609020204030204" pitchFamily="49" charset="0"/>
                <a:ea typeface="ＭＳ Ｐゴシック" pitchFamily="34" charset="-128"/>
                <a:cs typeface="Segoe UI Light" panose="020B0502040204020203" pitchFamily="34" charset="0"/>
              </a:rPr>
              <a:t>elector</a:t>
            </a:r>
            <a:endParaRPr lang="en-US" b="1" kern="0" dirty="0">
              <a:solidFill>
                <a:schemeClr val="bg1"/>
              </a:solidFill>
              <a:latin typeface="Consolas" panose="020B0609020204030204" pitchFamily="49" charset="0"/>
              <a:ea typeface="ＭＳ Ｐゴシック" pitchFamily="34" charset="-128"/>
              <a:cs typeface="Segoe UI Light" panose="020B0502040204020203" pitchFamily="34" charset="0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FB165E9E-2E3B-4FFC-BB8F-5F324ACE60BA}"/>
              </a:ext>
            </a:extLst>
          </p:cNvPr>
          <p:cNvSpPr/>
          <p:nvPr/>
        </p:nvSpPr>
        <p:spPr>
          <a:xfrm>
            <a:off x="2226605" y="3412867"/>
            <a:ext cx="235207" cy="722441"/>
          </a:xfrm>
          <a:custGeom>
            <a:avLst/>
            <a:gdLst>
              <a:gd name="connsiteX0" fmla="*/ 0 w 235207"/>
              <a:gd name="connsiteY0" fmla="*/ 619878 h 722441"/>
              <a:gd name="connsiteX1" fmla="*/ 55232 w 235207"/>
              <a:gd name="connsiteY1" fmla="*/ 650563 h 722441"/>
              <a:gd name="connsiteX2" fmla="*/ 122738 w 235207"/>
              <a:gd name="connsiteY2" fmla="*/ 50 h 722441"/>
              <a:gd name="connsiteX3" fmla="*/ 196381 w 235207"/>
              <a:gd name="connsiteY3" fmla="*/ 687384 h 722441"/>
              <a:gd name="connsiteX4" fmla="*/ 233202 w 235207"/>
              <a:gd name="connsiteY4" fmla="*/ 619878 h 722441"/>
              <a:gd name="connsiteX5" fmla="*/ 227065 w 235207"/>
              <a:gd name="connsiteY5" fmla="*/ 601468 h 7224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5207" h="722441">
                <a:moveTo>
                  <a:pt x="0" y="619878"/>
                </a:moveTo>
                <a:cubicBezTo>
                  <a:pt x="17388" y="686873"/>
                  <a:pt x="34776" y="753868"/>
                  <a:pt x="55232" y="650563"/>
                </a:cubicBezTo>
                <a:cubicBezTo>
                  <a:pt x="75688" y="547258"/>
                  <a:pt x="99213" y="-6087"/>
                  <a:pt x="122738" y="50"/>
                </a:cubicBezTo>
                <a:cubicBezTo>
                  <a:pt x="146263" y="6187"/>
                  <a:pt x="177970" y="584080"/>
                  <a:pt x="196381" y="687384"/>
                </a:cubicBezTo>
                <a:cubicBezTo>
                  <a:pt x="214792" y="790688"/>
                  <a:pt x="228088" y="634197"/>
                  <a:pt x="233202" y="619878"/>
                </a:cubicBezTo>
                <a:cubicBezTo>
                  <a:pt x="238316" y="605559"/>
                  <a:pt x="232690" y="603513"/>
                  <a:pt x="227065" y="601468"/>
                </a:cubicBezTo>
              </a:path>
            </a:pathLst>
          </a:cu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806AE5F5-DA8E-4352-816C-BA06E2B850A8}"/>
              </a:ext>
            </a:extLst>
          </p:cNvPr>
          <p:cNvSpPr/>
          <p:nvPr/>
        </p:nvSpPr>
        <p:spPr>
          <a:xfrm>
            <a:off x="2217752" y="4340042"/>
            <a:ext cx="235207" cy="722441"/>
          </a:xfrm>
          <a:custGeom>
            <a:avLst/>
            <a:gdLst>
              <a:gd name="connsiteX0" fmla="*/ 0 w 235207"/>
              <a:gd name="connsiteY0" fmla="*/ 619878 h 722441"/>
              <a:gd name="connsiteX1" fmla="*/ 55232 w 235207"/>
              <a:gd name="connsiteY1" fmla="*/ 650563 h 722441"/>
              <a:gd name="connsiteX2" fmla="*/ 122738 w 235207"/>
              <a:gd name="connsiteY2" fmla="*/ 50 h 722441"/>
              <a:gd name="connsiteX3" fmla="*/ 196381 w 235207"/>
              <a:gd name="connsiteY3" fmla="*/ 687384 h 722441"/>
              <a:gd name="connsiteX4" fmla="*/ 233202 w 235207"/>
              <a:gd name="connsiteY4" fmla="*/ 619878 h 722441"/>
              <a:gd name="connsiteX5" fmla="*/ 227065 w 235207"/>
              <a:gd name="connsiteY5" fmla="*/ 601468 h 7224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5207" h="722441">
                <a:moveTo>
                  <a:pt x="0" y="619878"/>
                </a:moveTo>
                <a:cubicBezTo>
                  <a:pt x="17388" y="686873"/>
                  <a:pt x="34776" y="753868"/>
                  <a:pt x="55232" y="650563"/>
                </a:cubicBezTo>
                <a:cubicBezTo>
                  <a:pt x="75688" y="547258"/>
                  <a:pt x="99213" y="-6087"/>
                  <a:pt x="122738" y="50"/>
                </a:cubicBezTo>
                <a:cubicBezTo>
                  <a:pt x="146263" y="6187"/>
                  <a:pt x="177970" y="584080"/>
                  <a:pt x="196381" y="687384"/>
                </a:cubicBezTo>
                <a:cubicBezTo>
                  <a:pt x="214792" y="790688"/>
                  <a:pt x="228088" y="634197"/>
                  <a:pt x="233202" y="619878"/>
                </a:cubicBezTo>
                <a:cubicBezTo>
                  <a:pt x="238316" y="605559"/>
                  <a:pt x="232690" y="603513"/>
                  <a:pt x="227065" y="601468"/>
                </a:cubicBezTo>
              </a:path>
            </a:pathLst>
          </a:custGeom>
          <a:noFill/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1BEC0E84-DCC9-4F78-AB02-02DC027F4F75}"/>
              </a:ext>
            </a:extLst>
          </p:cNvPr>
          <p:cNvSpPr/>
          <p:nvPr/>
        </p:nvSpPr>
        <p:spPr>
          <a:xfrm>
            <a:off x="2569613" y="4340042"/>
            <a:ext cx="235207" cy="722441"/>
          </a:xfrm>
          <a:custGeom>
            <a:avLst/>
            <a:gdLst>
              <a:gd name="connsiteX0" fmla="*/ 0 w 235207"/>
              <a:gd name="connsiteY0" fmla="*/ 619878 h 722441"/>
              <a:gd name="connsiteX1" fmla="*/ 55232 w 235207"/>
              <a:gd name="connsiteY1" fmla="*/ 650563 h 722441"/>
              <a:gd name="connsiteX2" fmla="*/ 122738 w 235207"/>
              <a:gd name="connsiteY2" fmla="*/ 50 h 722441"/>
              <a:gd name="connsiteX3" fmla="*/ 196381 w 235207"/>
              <a:gd name="connsiteY3" fmla="*/ 687384 h 722441"/>
              <a:gd name="connsiteX4" fmla="*/ 233202 w 235207"/>
              <a:gd name="connsiteY4" fmla="*/ 619878 h 722441"/>
              <a:gd name="connsiteX5" fmla="*/ 227065 w 235207"/>
              <a:gd name="connsiteY5" fmla="*/ 601468 h 7224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5207" h="722441">
                <a:moveTo>
                  <a:pt x="0" y="619878"/>
                </a:moveTo>
                <a:cubicBezTo>
                  <a:pt x="17388" y="686873"/>
                  <a:pt x="34776" y="753868"/>
                  <a:pt x="55232" y="650563"/>
                </a:cubicBezTo>
                <a:cubicBezTo>
                  <a:pt x="75688" y="547258"/>
                  <a:pt x="99213" y="-6087"/>
                  <a:pt x="122738" y="50"/>
                </a:cubicBezTo>
                <a:cubicBezTo>
                  <a:pt x="146263" y="6187"/>
                  <a:pt x="177970" y="584080"/>
                  <a:pt x="196381" y="687384"/>
                </a:cubicBezTo>
                <a:cubicBezTo>
                  <a:pt x="214792" y="790688"/>
                  <a:pt x="228088" y="634197"/>
                  <a:pt x="233202" y="619878"/>
                </a:cubicBezTo>
                <a:cubicBezTo>
                  <a:pt x="238316" y="605559"/>
                  <a:pt x="232690" y="603513"/>
                  <a:pt x="227065" y="601468"/>
                </a:cubicBezTo>
              </a:path>
            </a:pathLst>
          </a:custGeom>
          <a:noFill/>
          <a:ln w="19050">
            <a:solidFill>
              <a:srgbClr val="F1C40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26" name="Picture 2" descr="Was ist ein Glasprisma? Lernen Sie Lichtbrechung">
            <a:extLst>
              <a:ext uri="{FF2B5EF4-FFF2-40B4-BE49-F238E27FC236}">
                <a16:creationId xmlns:a16="http://schemas.microsoft.com/office/drawing/2014/main" id="{0F1D1526-D5D6-499E-BA6A-F9BD914B59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1918" y="3399440"/>
            <a:ext cx="2260632" cy="1644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012CC70A-BD9E-4452-BD22-B49FCBCC9B21}"/>
              </a:ext>
            </a:extLst>
          </p:cNvPr>
          <p:cNvSpPr/>
          <p:nvPr/>
        </p:nvSpPr>
        <p:spPr>
          <a:xfrm>
            <a:off x="2599035" y="3437005"/>
            <a:ext cx="235207" cy="722441"/>
          </a:xfrm>
          <a:custGeom>
            <a:avLst/>
            <a:gdLst>
              <a:gd name="connsiteX0" fmla="*/ 0 w 235207"/>
              <a:gd name="connsiteY0" fmla="*/ 619878 h 722441"/>
              <a:gd name="connsiteX1" fmla="*/ 55232 w 235207"/>
              <a:gd name="connsiteY1" fmla="*/ 650563 h 722441"/>
              <a:gd name="connsiteX2" fmla="*/ 122738 w 235207"/>
              <a:gd name="connsiteY2" fmla="*/ 50 h 722441"/>
              <a:gd name="connsiteX3" fmla="*/ 196381 w 235207"/>
              <a:gd name="connsiteY3" fmla="*/ 687384 h 722441"/>
              <a:gd name="connsiteX4" fmla="*/ 233202 w 235207"/>
              <a:gd name="connsiteY4" fmla="*/ 619878 h 722441"/>
              <a:gd name="connsiteX5" fmla="*/ 227065 w 235207"/>
              <a:gd name="connsiteY5" fmla="*/ 601468 h 7224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5207" h="722441">
                <a:moveTo>
                  <a:pt x="0" y="619878"/>
                </a:moveTo>
                <a:cubicBezTo>
                  <a:pt x="17388" y="686873"/>
                  <a:pt x="34776" y="753868"/>
                  <a:pt x="55232" y="650563"/>
                </a:cubicBezTo>
                <a:cubicBezTo>
                  <a:pt x="75688" y="547258"/>
                  <a:pt x="99213" y="-6087"/>
                  <a:pt x="122738" y="50"/>
                </a:cubicBezTo>
                <a:cubicBezTo>
                  <a:pt x="146263" y="6187"/>
                  <a:pt x="177970" y="584080"/>
                  <a:pt x="196381" y="687384"/>
                </a:cubicBezTo>
                <a:cubicBezTo>
                  <a:pt x="214792" y="790688"/>
                  <a:pt x="228088" y="634197"/>
                  <a:pt x="233202" y="619878"/>
                </a:cubicBezTo>
                <a:cubicBezTo>
                  <a:pt x="238316" y="605559"/>
                  <a:pt x="232690" y="603513"/>
                  <a:pt x="227065" y="601468"/>
                </a:cubicBezTo>
              </a:path>
            </a:pathLst>
          </a:cu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1DF05FB-108E-4554-B3C4-25DD4EB75BCE}"/>
              </a:ext>
            </a:extLst>
          </p:cNvPr>
          <p:cNvSpPr/>
          <p:nvPr/>
        </p:nvSpPr>
        <p:spPr>
          <a:xfrm rot="16200000">
            <a:off x="7770630" y="4529897"/>
            <a:ext cx="232925" cy="7902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14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AA300DB-057F-480E-B1ED-0C398D05B6B1}"/>
              </a:ext>
            </a:extLst>
          </p:cNvPr>
          <p:cNvSpPr/>
          <p:nvPr/>
        </p:nvSpPr>
        <p:spPr>
          <a:xfrm>
            <a:off x="279896" y="3181458"/>
            <a:ext cx="4476831" cy="2067319"/>
          </a:xfrm>
          <a:prstGeom prst="rect">
            <a:avLst/>
          </a:prstGeom>
          <a:noFill/>
          <a:ln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1C02ADA-4311-4640-93DB-98DC28647A8A}"/>
              </a:ext>
            </a:extLst>
          </p:cNvPr>
          <p:cNvSpPr/>
          <p:nvPr/>
        </p:nvSpPr>
        <p:spPr>
          <a:xfrm>
            <a:off x="5130746" y="3122760"/>
            <a:ext cx="2745597" cy="2126017"/>
          </a:xfrm>
          <a:prstGeom prst="rect">
            <a:avLst/>
          </a:prstGeom>
          <a:noFill/>
          <a:ln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A02AF43-6335-4580-81DB-606D568844BA}"/>
              </a:ext>
            </a:extLst>
          </p:cNvPr>
          <p:cNvSpPr/>
          <p:nvPr/>
        </p:nvSpPr>
        <p:spPr>
          <a:xfrm rot="16200000">
            <a:off x="7784490" y="4072698"/>
            <a:ext cx="232925" cy="7902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14"/>
          </a:p>
        </p:txBody>
      </p:sp>
      <p:cxnSp>
        <p:nvCxnSpPr>
          <p:cNvPr id="37" name="Curved Connector 36">
            <a:extLst>
              <a:ext uri="{FF2B5EF4-FFF2-40B4-BE49-F238E27FC236}">
                <a16:creationId xmlns:a16="http://schemas.microsoft.com/office/drawing/2014/main" id="{2CCEFCF8-EF1C-4C5F-BCD7-A4882D9BEF0C}"/>
              </a:ext>
            </a:extLst>
          </p:cNvPr>
          <p:cNvCxnSpPr>
            <a:cxnSpLocks/>
          </p:cNvCxnSpPr>
          <p:nvPr/>
        </p:nvCxnSpPr>
        <p:spPr>
          <a:xfrm>
            <a:off x="7962823" y="4550951"/>
            <a:ext cx="901280" cy="745959"/>
          </a:xfrm>
          <a:prstGeom prst="curvedConnector2">
            <a:avLst/>
          </a:prstGeom>
          <a:ln w="57150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urved Connector 36">
            <a:extLst>
              <a:ext uri="{FF2B5EF4-FFF2-40B4-BE49-F238E27FC236}">
                <a16:creationId xmlns:a16="http://schemas.microsoft.com/office/drawing/2014/main" id="{055F802D-D415-41EA-9123-52FBC424647A}"/>
              </a:ext>
            </a:extLst>
          </p:cNvPr>
          <p:cNvCxnSpPr>
            <a:cxnSpLocks/>
          </p:cNvCxnSpPr>
          <p:nvPr/>
        </p:nvCxnSpPr>
        <p:spPr>
          <a:xfrm>
            <a:off x="7962823" y="4112209"/>
            <a:ext cx="901280" cy="745959"/>
          </a:xfrm>
          <a:prstGeom prst="curvedConnector2">
            <a:avLst/>
          </a:prstGeom>
          <a:ln w="57150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600B359-324F-41FC-AE5D-6C21159B75B2}"/>
              </a:ext>
            </a:extLst>
          </p:cNvPr>
          <p:cNvCxnSpPr>
            <a:cxnSpLocks/>
            <a:stCxn id="10" idx="3"/>
          </p:cNvCxnSpPr>
          <p:nvPr/>
        </p:nvCxnSpPr>
        <p:spPr>
          <a:xfrm flipV="1">
            <a:off x="4304144" y="4257077"/>
            <a:ext cx="882018" cy="1"/>
          </a:xfrm>
          <a:prstGeom prst="straightConnector1">
            <a:avLst/>
          </a:prstGeom>
          <a:noFill/>
          <a:ln w="47625" cap="flat" cmpd="sng" algn="ctr">
            <a:solidFill>
              <a:srgbClr val="4610E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40" name="Google Shape;1534;g60be7dcf1c_0_434">
            <a:extLst>
              <a:ext uri="{FF2B5EF4-FFF2-40B4-BE49-F238E27FC236}">
                <a16:creationId xmlns:a16="http://schemas.microsoft.com/office/drawing/2014/main" id="{23FB5A3D-ED65-4936-8C86-E094159A8385}"/>
              </a:ext>
            </a:extLst>
          </p:cNvPr>
          <p:cNvSpPr txBox="1"/>
          <p:nvPr/>
        </p:nvSpPr>
        <p:spPr>
          <a:xfrm>
            <a:off x="1562440" y="5364537"/>
            <a:ext cx="2450815" cy="443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Electrical switch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with </a:t>
            </a:r>
            <a:r>
              <a:rPr lang="en-GB" sz="1600" b="1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tunable</a:t>
            </a:r>
            <a:r>
              <a:rPr lang="en-GB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laser</a:t>
            </a:r>
            <a:endParaRPr lang="en-GB" sz="1200" b="1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" name="Google Shape;1534;g60be7dcf1c_0_434">
            <a:extLst>
              <a:ext uri="{FF2B5EF4-FFF2-40B4-BE49-F238E27FC236}">
                <a16:creationId xmlns:a16="http://schemas.microsoft.com/office/drawing/2014/main" id="{3F546213-A96D-49FA-93FF-EA63F150152F}"/>
              </a:ext>
            </a:extLst>
          </p:cNvPr>
          <p:cNvSpPr txBox="1"/>
          <p:nvPr/>
        </p:nvSpPr>
        <p:spPr>
          <a:xfrm>
            <a:off x="5317936" y="5395340"/>
            <a:ext cx="2450815" cy="443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Optical switch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i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Passive</a:t>
            </a:r>
            <a:endParaRPr lang="en-GB" sz="1200" b="1" i="1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011D9C40-453D-48F7-B465-A168CC88C123}"/>
              </a:ext>
            </a:extLst>
          </p:cNvPr>
          <p:cNvSpPr/>
          <p:nvPr/>
        </p:nvSpPr>
        <p:spPr>
          <a:xfrm>
            <a:off x="4445160" y="3442642"/>
            <a:ext cx="235207" cy="722441"/>
          </a:xfrm>
          <a:custGeom>
            <a:avLst/>
            <a:gdLst>
              <a:gd name="connsiteX0" fmla="*/ 0 w 235207"/>
              <a:gd name="connsiteY0" fmla="*/ 619878 h 722441"/>
              <a:gd name="connsiteX1" fmla="*/ 55232 w 235207"/>
              <a:gd name="connsiteY1" fmla="*/ 650563 h 722441"/>
              <a:gd name="connsiteX2" fmla="*/ 122738 w 235207"/>
              <a:gd name="connsiteY2" fmla="*/ 50 h 722441"/>
              <a:gd name="connsiteX3" fmla="*/ 196381 w 235207"/>
              <a:gd name="connsiteY3" fmla="*/ 687384 h 722441"/>
              <a:gd name="connsiteX4" fmla="*/ 233202 w 235207"/>
              <a:gd name="connsiteY4" fmla="*/ 619878 h 722441"/>
              <a:gd name="connsiteX5" fmla="*/ 227065 w 235207"/>
              <a:gd name="connsiteY5" fmla="*/ 601468 h 7224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5207" h="722441">
                <a:moveTo>
                  <a:pt x="0" y="619878"/>
                </a:moveTo>
                <a:cubicBezTo>
                  <a:pt x="17388" y="686873"/>
                  <a:pt x="34776" y="753868"/>
                  <a:pt x="55232" y="650563"/>
                </a:cubicBezTo>
                <a:cubicBezTo>
                  <a:pt x="75688" y="547258"/>
                  <a:pt x="99213" y="-6087"/>
                  <a:pt x="122738" y="50"/>
                </a:cubicBezTo>
                <a:cubicBezTo>
                  <a:pt x="146263" y="6187"/>
                  <a:pt x="177970" y="584080"/>
                  <a:pt x="196381" y="687384"/>
                </a:cubicBezTo>
                <a:cubicBezTo>
                  <a:pt x="214792" y="790688"/>
                  <a:pt x="228088" y="634197"/>
                  <a:pt x="233202" y="619878"/>
                </a:cubicBezTo>
                <a:cubicBezTo>
                  <a:pt x="238316" y="605559"/>
                  <a:pt x="232690" y="603513"/>
                  <a:pt x="227065" y="601468"/>
                </a:cubicBezTo>
              </a:path>
            </a:pathLst>
          </a:custGeom>
          <a:noFill/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1BEB102-CABE-407F-9DF2-67A8E1073D40}"/>
              </a:ext>
            </a:extLst>
          </p:cNvPr>
          <p:cNvCxnSpPr>
            <a:cxnSpLocks/>
          </p:cNvCxnSpPr>
          <p:nvPr/>
        </p:nvCxnSpPr>
        <p:spPr>
          <a:xfrm>
            <a:off x="7554574" y="4309495"/>
            <a:ext cx="306867" cy="259913"/>
          </a:xfrm>
          <a:prstGeom prst="straightConnector1">
            <a:avLst/>
          </a:prstGeom>
          <a:ln w="57150">
            <a:solidFill>
              <a:srgbClr val="4610E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Google Shape;1725;g60be7dcf1c_0_603">
            <a:extLst>
              <a:ext uri="{FF2B5EF4-FFF2-40B4-BE49-F238E27FC236}">
                <a16:creationId xmlns:a16="http://schemas.microsoft.com/office/drawing/2014/main" id="{A4AE2210-62DD-4559-B3D1-E82B08EE235C}"/>
              </a:ext>
            </a:extLst>
          </p:cNvPr>
          <p:cNvSpPr txBox="1"/>
          <p:nvPr/>
        </p:nvSpPr>
        <p:spPr>
          <a:xfrm>
            <a:off x="4436074" y="6538100"/>
            <a:ext cx="3885888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GB" sz="1000" dirty="0" err="1">
                <a:latin typeface="Consolas"/>
                <a:ea typeface="Consolas"/>
                <a:cs typeface="Consolas"/>
                <a:sym typeface="Consolas"/>
              </a:rPr>
              <a:t>Ballani</a:t>
            </a: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 et al., </a:t>
            </a:r>
            <a:r>
              <a:rPr lang="en-US" sz="1000" dirty="0">
                <a:latin typeface="Consolas"/>
                <a:ea typeface="Consolas"/>
                <a:cs typeface="Consolas"/>
                <a:sym typeface="Consolas"/>
              </a:rPr>
              <a:t>Sirius, ACM SIGCOMM </a:t>
            </a:r>
            <a:r>
              <a:rPr lang="de-DE" sz="1000" dirty="0">
                <a:latin typeface="Consolas"/>
                <a:ea typeface="Consolas"/>
                <a:cs typeface="Consolas"/>
                <a:sym typeface="Consolas"/>
              </a:rPr>
              <a:t>2020.</a:t>
            </a:r>
            <a:endParaRPr lang="en-GB" sz="10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B6E31CD-98C4-4A81-918C-9193D3DC3EF7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13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3" name="Google Shape;1530;g60be7dcf1c_0_434">
            <a:extLst>
              <a:ext uri="{FF2B5EF4-FFF2-40B4-BE49-F238E27FC236}">
                <a16:creationId xmlns:a16="http://schemas.microsoft.com/office/drawing/2014/main" id="{945E841B-D35A-D04D-CA79-195ECDF0816E}"/>
              </a:ext>
            </a:extLst>
          </p:cNvPr>
          <p:cNvSpPr txBox="1"/>
          <p:nvPr/>
        </p:nvSpPr>
        <p:spPr>
          <a:xfrm>
            <a:off x="0" y="540000"/>
            <a:ext cx="8211000" cy="937889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5" name="Google Shape;1531;g60be7dcf1c_0_434">
            <a:extLst>
              <a:ext uri="{FF2B5EF4-FFF2-40B4-BE49-F238E27FC236}">
                <a16:creationId xmlns:a16="http://schemas.microsoft.com/office/drawing/2014/main" id="{01A2DC75-9A92-BF4F-A5BA-D37B87430887}"/>
              </a:ext>
            </a:extLst>
          </p:cNvPr>
          <p:cNvSpPr txBox="1">
            <a:spLocks/>
          </p:cNvSpPr>
          <p:nvPr/>
        </p:nvSpPr>
        <p:spPr>
          <a:xfrm>
            <a:off x="973075" y="149350"/>
            <a:ext cx="8171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lnSpc>
                <a:spcPct val="115000"/>
              </a:lnSpc>
              <a:buSzPts val="1100"/>
            </a:pPr>
            <a: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Another Example</a:t>
            </a:r>
            <a:br>
              <a:rPr lang="en-GB" sz="32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2000" dirty="0" err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Tunable</a:t>
            </a:r>
            <a:r>
              <a:rPr lang="en-GB" sz="2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Lasers </a:t>
            </a:r>
          </a:p>
        </p:txBody>
      </p:sp>
      <p:sp>
        <p:nvSpPr>
          <p:cNvPr id="13" name="Google Shape;1534;g60be7dcf1c_0_434">
            <a:extLst>
              <a:ext uri="{FF2B5EF4-FFF2-40B4-BE49-F238E27FC236}">
                <a16:creationId xmlns:a16="http://schemas.microsoft.com/office/drawing/2014/main" id="{8A657E62-B9BC-6C51-D4F2-80931DFBBB20}"/>
              </a:ext>
            </a:extLst>
          </p:cNvPr>
          <p:cNvSpPr txBox="1"/>
          <p:nvPr/>
        </p:nvSpPr>
        <p:spPr>
          <a:xfrm>
            <a:off x="973075" y="1946076"/>
            <a:ext cx="7557300" cy="9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⇢ Depending on wavelength, forwarded differently</a:t>
            </a:r>
          </a:p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⇢ Optical switch is passive</a:t>
            </a:r>
          </a:p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51318387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Google Shape;1530;g60be7dcf1c_0_434"/>
          <p:cNvSpPr txBox="1"/>
          <p:nvPr/>
        </p:nvSpPr>
        <p:spPr>
          <a:xfrm>
            <a:off x="0" y="540000"/>
            <a:ext cx="8211000" cy="994886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1531" name="Google Shape;1531;g60be7dcf1c_0_434"/>
          <p:cNvSpPr txBox="1">
            <a:spLocks noGrp="1"/>
          </p:cNvSpPr>
          <p:nvPr>
            <p:ph type="title"/>
          </p:nvPr>
        </p:nvSpPr>
        <p:spPr>
          <a:xfrm>
            <a:off x="973075" y="149350"/>
            <a:ext cx="8171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First Deployments</a:t>
            </a:r>
            <a:br>
              <a:rPr lang="en-GB" sz="32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2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E.g., Google’s </a:t>
            </a:r>
            <a:r>
              <a:rPr lang="en-GB" sz="2000" dirty="0" err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Datacenter</a:t>
            </a:r>
            <a:r>
              <a:rPr lang="en-GB" sz="2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Jupiter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EC2715E-08AB-422D-BBE7-A91C8970AF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4040" y="2370650"/>
            <a:ext cx="3639663" cy="4070952"/>
          </a:xfrm>
          <a:prstGeom prst="rect">
            <a:avLst/>
          </a:prstGeom>
          <a:ln>
            <a:solidFill>
              <a:schemeClr val="bg2"/>
            </a:solidFill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9986027-B1C2-407F-8B55-B02E96DAE0BF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14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39510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71" name="Google Shape;1571;g60be7dcf1c_0_473"/>
          <p:cNvCxnSpPr/>
          <p:nvPr/>
        </p:nvCxnSpPr>
        <p:spPr>
          <a:xfrm>
            <a:off x="3364375" y="3948857"/>
            <a:ext cx="424500" cy="8700"/>
          </a:xfrm>
          <a:prstGeom prst="straightConnector1">
            <a:avLst/>
          </a:prstGeom>
          <a:noFill/>
          <a:ln w="9525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72" name="Google Shape;1572;g60be7dcf1c_0_473"/>
          <p:cNvCxnSpPr/>
          <p:nvPr/>
        </p:nvCxnSpPr>
        <p:spPr>
          <a:xfrm>
            <a:off x="3364375" y="3036894"/>
            <a:ext cx="424500" cy="8700"/>
          </a:xfrm>
          <a:prstGeom prst="straightConnector1">
            <a:avLst/>
          </a:prstGeom>
          <a:noFill/>
          <a:ln w="9525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1573" name="Google Shape;1573;g60be7dcf1c_0_47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70624" y="4138217"/>
            <a:ext cx="864301" cy="854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4" name="Google Shape;1574;g60be7dcf1c_0_47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70626" y="2520843"/>
            <a:ext cx="1188776" cy="87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5" name="Google Shape;1575;g60be7dcf1c_0_473"/>
          <p:cNvPicPr preferRelativeResize="0"/>
          <p:nvPr/>
        </p:nvPicPr>
        <p:blipFill rotWithShape="1">
          <a:blip r:embed="rId5">
            <a:alphaModFix/>
          </a:blip>
          <a:srcRect l="16026" r="16033"/>
          <a:stretch/>
        </p:blipFill>
        <p:spPr>
          <a:xfrm>
            <a:off x="6475801" y="3251018"/>
            <a:ext cx="1188776" cy="871525"/>
          </a:xfrm>
          <a:prstGeom prst="rect">
            <a:avLst/>
          </a:prstGeom>
          <a:noFill/>
          <a:ln>
            <a:noFill/>
          </a:ln>
        </p:spPr>
      </p:pic>
      <p:sp>
        <p:nvSpPr>
          <p:cNvPr id="1576" name="Google Shape;1576;g60be7dcf1c_0_473"/>
          <p:cNvSpPr txBox="1"/>
          <p:nvPr/>
        </p:nvSpPr>
        <p:spPr>
          <a:xfrm>
            <a:off x="1540000" y="3645719"/>
            <a:ext cx="1831800" cy="1380000"/>
          </a:xfrm>
          <a:prstGeom prst="rect">
            <a:avLst/>
          </a:prstGeom>
          <a:noFill/>
          <a:ln w="9525" cap="flat" cmpd="sng">
            <a:solidFill>
              <a:srgbClr val="93C4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1577" name="Google Shape;1577;g60be7dcf1c_0_473"/>
          <p:cNvSpPr txBox="1"/>
          <p:nvPr/>
        </p:nvSpPr>
        <p:spPr>
          <a:xfrm>
            <a:off x="1532575" y="2028044"/>
            <a:ext cx="1831800" cy="1380000"/>
          </a:xfrm>
          <a:prstGeom prst="rect">
            <a:avLst/>
          </a:prstGeom>
          <a:noFill/>
          <a:ln w="9525" cap="flat" cmpd="sng">
            <a:solidFill>
              <a:srgbClr val="93C4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cxnSp>
        <p:nvCxnSpPr>
          <p:cNvPr id="1578" name="Google Shape;1578;g60be7dcf1c_0_473"/>
          <p:cNvCxnSpPr/>
          <p:nvPr/>
        </p:nvCxnSpPr>
        <p:spPr>
          <a:xfrm>
            <a:off x="5778875" y="3522532"/>
            <a:ext cx="424500" cy="8700"/>
          </a:xfrm>
          <a:prstGeom prst="straightConnector1">
            <a:avLst/>
          </a:prstGeom>
          <a:noFill/>
          <a:ln w="9525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79" name="Google Shape;1579;g60be7dcf1c_0_473"/>
          <p:cNvSpPr txBox="1"/>
          <p:nvPr/>
        </p:nvSpPr>
        <p:spPr>
          <a:xfrm>
            <a:off x="3947075" y="2028044"/>
            <a:ext cx="1831800" cy="2997600"/>
          </a:xfrm>
          <a:prstGeom prst="rect">
            <a:avLst/>
          </a:prstGeom>
          <a:noFill/>
          <a:ln w="9525" cap="flat" cmpd="sng">
            <a:solidFill>
              <a:srgbClr val="93C4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1580" name="Google Shape;1580;g60be7dcf1c_0_473"/>
          <p:cNvSpPr txBox="1"/>
          <p:nvPr/>
        </p:nvSpPr>
        <p:spPr>
          <a:xfrm>
            <a:off x="0" y="540000"/>
            <a:ext cx="8211000" cy="536974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1581" name="Google Shape;1581;g60be7dcf1c_0_473"/>
          <p:cNvSpPr txBox="1">
            <a:spLocks noGrp="1"/>
          </p:cNvSpPr>
          <p:nvPr>
            <p:ph type="title"/>
          </p:nvPr>
        </p:nvSpPr>
        <p:spPr>
          <a:xfrm>
            <a:off x="973075" y="149350"/>
            <a:ext cx="8171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The Big Picture</a:t>
            </a:r>
            <a:endParaRPr lang="en-GB" sz="2000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84" name="Google Shape;1584;g60be7dcf1c_0_473"/>
          <p:cNvSpPr txBox="1"/>
          <p:nvPr/>
        </p:nvSpPr>
        <p:spPr>
          <a:xfrm>
            <a:off x="1547425" y="2091194"/>
            <a:ext cx="26430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>
                <a:latin typeface="Consolas"/>
                <a:ea typeface="Consolas"/>
                <a:cs typeface="Consolas"/>
                <a:sym typeface="Consolas"/>
              </a:rPr>
              <a:t>Flexibility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85" name="Google Shape;1585;g60be7dcf1c_0_473"/>
          <p:cNvSpPr txBox="1"/>
          <p:nvPr/>
        </p:nvSpPr>
        <p:spPr>
          <a:xfrm>
            <a:off x="1554850" y="3708869"/>
            <a:ext cx="1745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>
                <a:latin typeface="Consolas"/>
                <a:ea typeface="Consolas"/>
                <a:cs typeface="Consolas"/>
                <a:sym typeface="Consolas"/>
              </a:rPr>
              <a:t>Structure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586" name="Google Shape;1586;g60be7dcf1c_0_47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05375" y="3056119"/>
            <a:ext cx="1664140" cy="160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7" name="Google Shape;1587;g60be7dcf1c_0_473"/>
          <p:cNvSpPr txBox="1"/>
          <p:nvPr/>
        </p:nvSpPr>
        <p:spPr>
          <a:xfrm>
            <a:off x="6337750" y="2758219"/>
            <a:ext cx="1831800" cy="1380000"/>
          </a:xfrm>
          <a:prstGeom prst="rect">
            <a:avLst/>
          </a:prstGeom>
          <a:noFill/>
          <a:ln w="9525" cap="flat" cmpd="sng">
            <a:solidFill>
              <a:srgbClr val="93C4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1588" name="Google Shape;1588;g60be7dcf1c_0_473"/>
          <p:cNvSpPr txBox="1"/>
          <p:nvPr/>
        </p:nvSpPr>
        <p:spPr>
          <a:xfrm>
            <a:off x="6352600" y="3285100"/>
            <a:ext cx="26430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>
                <a:latin typeface="Consolas"/>
                <a:ea typeface="Consolas"/>
                <a:cs typeface="Consolas"/>
                <a:sym typeface="Consolas"/>
              </a:rPr>
              <a:t>Efficiency</a:t>
            </a:r>
            <a:endParaRPr lang="en-GB"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89" name="Google Shape;1589;g60be7dcf1c_0_473"/>
          <p:cNvSpPr/>
          <p:nvPr/>
        </p:nvSpPr>
        <p:spPr>
          <a:xfrm>
            <a:off x="864050" y="2434144"/>
            <a:ext cx="864300" cy="8643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</p:txBody>
      </p:sp>
      <p:sp>
        <p:nvSpPr>
          <p:cNvPr id="1590" name="Google Shape;1590;g60be7dcf1c_0_473"/>
          <p:cNvSpPr txBox="1"/>
          <p:nvPr/>
        </p:nvSpPr>
        <p:spPr>
          <a:xfrm>
            <a:off x="942650" y="2651444"/>
            <a:ext cx="7071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New!</a:t>
            </a:r>
            <a:endParaRPr lang="en-GB" sz="1200" b="1" dirty="0">
              <a:solidFill>
                <a:srgbClr val="CC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91" name="Google Shape;1591;g60be7dcf1c_0_473"/>
          <p:cNvSpPr/>
          <p:nvPr/>
        </p:nvSpPr>
        <p:spPr>
          <a:xfrm>
            <a:off x="864050" y="4129769"/>
            <a:ext cx="864300" cy="8643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</p:txBody>
      </p:sp>
      <p:sp>
        <p:nvSpPr>
          <p:cNvPr id="1592" name="Google Shape;1592;g60be7dcf1c_0_473"/>
          <p:cNvSpPr txBox="1"/>
          <p:nvPr/>
        </p:nvSpPr>
        <p:spPr>
          <a:xfrm>
            <a:off x="864050" y="4347069"/>
            <a:ext cx="8643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More!</a:t>
            </a:r>
            <a:endParaRPr lang="en-GB" sz="1200" b="1" dirty="0">
              <a:solidFill>
                <a:srgbClr val="CC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93" name="Google Shape;1593;g60be7dcf1c_0_473"/>
          <p:cNvSpPr txBox="1"/>
          <p:nvPr/>
        </p:nvSpPr>
        <p:spPr>
          <a:xfrm>
            <a:off x="4076000" y="2091194"/>
            <a:ext cx="2643000" cy="7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>
                <a:latin typeface="Consolas"/>
                <a:ea typeface="Consolas"/>
                <a:cs typeface="Consolas"/>
                <a:sym typeface="Consolas"/>
              </a:rPr>
              <a:t>Self-Adjusting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>
                <a:latin typeface="Consolas"/>
                <a:ea typeface="Consolas"/>
                <a:cs typeface="Consolas"/>
                <a:sym typeface="Consolas"/>
              </a:rPr>
              <a:t>Networks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94" name="Google Shape;1594;g60be7dcf1c_0_473"/>
          <p:cNvSpPr txBox="1"/>
          <p:nvPr/>
        </p:nvSpPr>
        <p:spPr>
          <a:xfrm>
            <a:off x="4076000" y="5166900"/>
            <a:ext cx="1831800" cy="514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Now is the time!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47E309F-05E5-440A-AE65-D51DD4B675B8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15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3" name="Google Shape;1585;g60be7dcf1c_0_473">
            <a:extLst>
              <a:ext uri="{FF2B5EF4-FFF2-40B4-BE49-F238E27FC236}">
                <a16:creationId xmlns:a16="http://schemas.microsoft.com/office/drawing/2014/main" id="{7F42BD9D-F42A-29DE-D155-225F02D0EB32}"/>
              </a:ext>
            </a:extLst>
          </p:cNvPr>
          <p:cNvSpPr txBox="1"/>
          <p:nvPr/>
        </p:nvSpPr>
        <p:spPr>
          <a:xfrm>
            <a:off x="6361575" y="2803575"/>
            <a:ext cx="1745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>
                <a:latin typeface="Consolas"/>
                <a:ea typeface="Consolas"/>
                <a:cs typeface="Consolas"/>
                <a:sym typeface="Consolas"/>
              </a:rPr>
              <a:t>Efficiency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80;g60be7dcf1c_0_473">
            <a:extLst>
              <a:ext uri="{FF2B5EF4-FFF2-40B4-BE49-F238E27FC236}">
                <a16:creationId xmlns:a16="http://schemas.microsoft.com/office/drawing/2014/main" id="{DBA219AC-B07B-1783-8A5C-9114857F4A0D}"/>
              </a:ext>
            </a:extLst>
          </p:cNvPr>
          <p:cNvSpPr txBox="1"/>
          <p:nvPr/>
        </p:nvSpPr>
        <p:spPr>
          <a:xfrm>
            <a:off x="0" y="540000"/>
            <a:ext cx="8211000" cy="536974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1581" name="Google Shape;1581;g60be7dcf1c_0_473"/>
          <p:cNvSpPr txBox="1">
            <a:spLocks noGrp="1"/>
          </p:cNvSpPr>
          <p:nvPr>
            <p:ph type="title"/>
          </p:nvPr>
        </p:nvSpPr>
        <p:spPr>
          <a:xfrm>
            <a:off x="973075" y="149350"/>
            <a:ext cx="8171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The Big Picture</a:t>
            </a:r>
            <a:endParaRPr lang="en-GB" sz="2000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" name="Google Shape;1599;g60be7dcf1c_0_500"/>
          <p:cNvSpPr txBox="1"/>
          <p:nvPr/>
        </p:nvSpPr>
        <p:spPr>
          <a:xfrm>
            <a:off x="6303100" y="5296775"/>
            <a:ext cx="2841000" cy="1256422"/>
          </a:xfrm>
          <a:prstGeom prst="rect">
            <a:avLst/>
          </a:prstGeom>
          <a:solidFill>
            <a:srgbClr val="93C47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27" name="Google Shape;1623;g60be7dcf1c_0_500"/>
          <p:cNvSpPr txBox="1"/>
          <p:nvPr/>
        </p:nvSpPr>
        <p:spPr>
          <a:xfrm>
            <a:off x="6404494" y="5456297"/>
            <a:ext cx="2633781" cy="1096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GB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Missing: </a:t>
            </a:r>
            <a:r>
              <a:rPr lang="en-GB" b="1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Foundations</a:t>
            </a:r>
            <a:r>
              <a:rPr lang="en-GB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of demand-aware, self-adjusting networks.</a:t>
            </a:r>
            <a:endParaRPr lang="en-GB" b="1" dirty="0">
              <a:solidFill>
                <a:srgbClr val="CC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BB6EE61-DA36-4459-B027-66A07EC08DF9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15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cxnSp>
        <p:nvCxnSpPr>
          <p:cNvPr id="4" name="Google Shape;1571;g60be7dcf1c_0_473">
            <a:extLst>
              <a:ext uri="{FF2B5EF4-FFF2-40B4-BE49-F238E27FC236}">
                <a16:creationId xmlns:a16="http://schemas.microsoft.com/office/drawing/2014/main" id="{F2B70F6E-156F-8BA3-BACA-9A34BBAE93AC}"/>
              </a:ext>
            </a:extLst>
          </p:cNvPr>
          <p:cNvCxnSpPr/>
          <p:nvPr/>
        </p:nvCxnSpPr>
        <p:spPr>
          <a:xfrm>
            <a:off x="3364375" y="3948857"/>
            <a:ext cx="424500" cy="8700"/>
          </a:xfrm>
          <a:prstGeom prst="straightConnector1">
            <a:avLst/>
          </a:prstGeom>
          <a:noFill/>
          <a:ln w="9525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" name="Google Shape;1572;g60be7dcf1c_0_473">
            <a:extLst>
              <a:ext uri="{FF2B5EF4-FFF2-40B4-BE49-F238E27FC236}">
                <a16:creationId xmlns:a16="http://schemas.microsoft.com/office/drawing/2014/main" id="{1285421F-6843-0151-FD15-C4F86260911F}"/>
              </a:ext>
            </a:extLst>
          </p:cNvPr>
          <p:cNvCxnSpPr/>
          <p:nvPr/>
        </p:nvCxnSpPr>
        <p:spPr>
          <a:xfrm>
            <a:off x="3364375" y="3036894"/>
            <a:ext cx="424500" cy="8700"/>
          </a:xfrm>
          <a:prstGeom prst="straightConnector1">
            <a:avLst/>
          </a:prstGeom>
          <a:noFill/>
          <a:ln w="9525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6" name="Google Shape;1573;g60be7dcf1c_0_473">
            <a:extLst>
              <a:ext uri="{FF2B5EF4-FFF2-40B4-BE49-F238E27FC236}">
                <a16:creationId xmlns:a16="http://schemas.microsoft.com/office/drawing/2014/main" id="{D3CBE837-575E-6309-342F-018256D2D9B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70624" y="4138217"/>
            <a:ext cx="864301" cy="854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574;g60be7dcf1c_0_473">
            <a:extLst>
              <a:ext uri="{FF2B5EF4-FFF2-40B4-BE49-F238E27FC236}">
                <a16:creationId xmlns:a16="http://schemas.microsoft.com/office/drawing/2014/main" id="{F2A24F77-E035-01D7-05B3-CAB2884D892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70626" y="2520843"/>
            <a:ext cx="1188776" cy="87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575;g60be7dcf1c_0_473">
            <a:extLst>
              <a:ext uri="{FF2B5EF4-FFF2-40B4-BE49-F238E27FC236}">
                <a16:creationId xmlns:a16="http://schemas.microsoft.com/office/drawing/2014/main" id="{E85B9EA4-13BC-7A2F-0EE8-BC4453DB6E84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16026" r="16033"/>
          <a:stretch/>
        </p:blipFill>
        <p:spPr>
          <a:xfrm>
            <a:off x="6475801" y="3251018"/>
            <a:ext cx="1188776" cy="87152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576;g60be7dcf1c_0_473">
            <a:extLst>
              <a:ext uri="{FF2B5EF4-FFF2-40B4-BE49-F238E27FC236}">
                <a16:creationId xmlns:a16="http://schemas.microsoft.com/office/drawing/2014/main" id="{30338852-FE6A-175D-3AF6-B49E8665335A}"/>
              </a:ext>
            </a:extLst>
          </p:cNvPr>
          <p:cNvSpPr txBox="1"/>
          <p:nvPr/>
        </p:nvSpPr>
        <p:spPr>
          <a:xfrm>
            <a:off x="1540000" y="3645719"/>
            <a:ext cx="1831800" cy="1380000"/>
          </a:xfrm>
          <a:prstGeom prst="rect">
            <a:avLst/>
          </a:prstGeom>
          <a:noFill/>
          <a:ln w="9525" cap="flat" cmpd="sng">
            <a:solidFill>
              <a:srgbClr val="93C4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10" name="Google Shape;1577;g60be7dcf1c_0_473">
            <a:extLst>
              <a:ext uri="{FF2B5EF4-FFF2-40B4-BE49-F238E27FC236}">
                <a16:creationId xmlns:a16="http://schemas.microsoft.com/office/drawing/2014/main" id="{331EA158-9DB4-46BD-382C-EB5D4C10C357}"/>
              </a:ext>
            </a:extLst>
          </p:cNvPr>
          <p:cNvSpPr txBox="1"/>
          <p:nvPr/>
        </p:nvSpPr>
        <p:spPr>
          <a:xfrm>
            <a:off x="1532575" y="2028044"/>
            <a:ext cx="1831800" cy="1380000"/>
          </a:xfrm>
          <a:prstGeom prst="rect">
            <a:avLst/>
          </a:prstGeom>
          <a:noFill/>
          <a:ln w="9525" cap="flat" cmpd="sng">
            <a:solidFill>
              <a:srgbClr val="93C4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cxnSp>
        <p:nvCxnSpPr>
          <p:cNvPr id="11" name="Google Shape;1578;g60be7dcf1c_0_473">
            <a:extLst>
              <a:ext uri="{FF2B5EF4-FFF2-40B4-BE49-F238E27FC236}">
                <a16:creationId xmlns:a16="http://schemas.microsoft.com/office/drawing/2014/main" id="{D2849488-7F84-8735-4897-13D051D5BADB}"/>
              </a:ext>
            </a:extLst>
          </p:cNvPr>
          <p:cNvCxnSpPr/>
          <p:nvPr/>
        </p:nvCxnSpPr>
        <p:spPr>
          <a:xfrm>
            <a:off x="5778875" y="3522532"/>
            <a:ext cx="424500" cy="8700"/>
          </a:xfrm>
          <a:prstGeom prst="straightConnector1">
            <a:avLst/>
          </a:prstGeom>
          <a:noFill/>
          <a:ln w="9525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" name="Google Shape;1579;g60be7dcf1c_0_473">
            <a:extLst>
              <a:ext uri="{FF2B5EF4-FFF2-40B4-BE49-F238E27FC236}">
                <a16:creationId xmlns:a16="http://schemas.microsoft.com/office/drawing/2014/main" id="{73213442-4A83-68DC-D657-F24D42B21801}"/>
              </a:ext>
            </a:extLst>
          </p:cNvPr>
          <p:cNvSpPr txBox="1"/>
          <p:nvPr/>
        </p:nvSpPr>
        <p:spPr>
          <a:xfrm>
            <a:off x="3947075" y="2028044"/>
            <a:ext cx="1831800" cy="2997600"/>
          </a:xfrm>
          <a:prstGeom prst="rect">
            <a:avLst/>
          </a:prstGeom>
          <a:noFill/>
          <a:ln w="9525" cap="flat" cmpd="sng">
            <a:solidFill>
              <a:srgbClr val="93C4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13" name="Google Shape;1584;g60be7dcf1c_0_473">
            <a:extLst>
              <a:ext uri="{FF2B5EF4-FFF2-40B4-BE49-F238E27FC236}">
                <a16:creationId xmlns:a16="http://schemas.microsoft.com/office/drawing/2014/main" id="{452858F5-2AC7-9201-A21C-7C1DA18199AD}"/>
              </a:ext>
            </a:extLst>
          </p:cNvPr>
          <p:cNvSpPr txBox="1"/>
          <p:nvPr/>
        </p:nvSpPr>
        <p:spPr>
          <a:xfrm>
            <a:off x="1547425" y="2091194"/>
            <a:ext cx="26430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>
                <a:latin typeface="Consolas"/>
                <a:ea typeface="Consolas"/>
                <a:cs typeface="Consolas"/>
                <a:sym typeface="Consolas"/>
              </a:rPr>
              <a:t>Flexibility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" name="Google Shape;1585;g60be7dcf1c_0_473">
            <a:extLst>
              <a:ext uri="{FF2B5EF4-FFF2-40B4-BE49-F238E27FC236}">
                <a16:creationId xmlns:a16="http://schemas.microsoft.com/office/drawing/2014/main" id="{79F98371-3C03-1A3A-1AEB-2423764A5D11}"/>
              </a:ext>
            </a:extLst>
          </p:cNvPr>
          <p:cNvSpPr txBox="1"/>
          <p:nvPr/>
        </p:nvSpPr>
        <p:spPr>
          <a:xfrm>
            <a:off x="1554850" y="3708869"/>
            <a:ext cx="1745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>
                <a:latin typeface="Consolas"/>
                <a:ea typeface="Consolas"/>
                <a:cs typeface="Consolas"/>
                <a:sym typeface="Consolas"/>
              </a:rPr>
              <a:t>Structure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5" name="Google Shape;1586;g60be7dcf1c_0_473">
            <a:extLst>
              <a:ext uri="{FF2B5EF4-FFF2-40B4-BE49-F238E27FC236}">
                <a16:creationId xmlns:a16="http://schemas.microsoft.com/office/drawing/2014/main" id="{1CFE6F9B-E6C6-AC55-F7EC-6C3F3AC62D79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05375" y="3056119"/>
            <a:ext cx="1664140" cy="160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587;g60be7dcf1c_0_473">
            <a:extLst>
              <a:ext uri="{FF2B5EF4-FFF2-40B4-BE49-F238E27FC236}">
                <a16:creationId xmlns:a16="http://schemas.microsoft.com/office/drawing/2014/main" id="{C5B5CB9C-96ED-3104-472A-005F8A0F3257}"/>
              </a:ext>
            </a:extLst>
          </p:cNvPr>
          <p:cNvSpPr txBox="1"/>
          <p:nvPr/>
        </p:nvSpPr>
        <p:spPr>
          <a:xfrm>
            <a:off x="6337750" y="2758219"/>
            <a:ext cx="1831800" cy="1380000"/>
          </a:xfrm>
          <a:prstGeom prst="rect">
            <a:avLst/>
          </a:prstGeom>
          <a:noFill/>
          <a:ln w="9525" cap="flat" cmpd="sng">
            <a:solidFill>
              <a:srgbClr val="93C4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17" name="Google Shape;1589;g60be7dcf1c_0_473">
            <a:extLst>
              <a:ext uri="{FF2B5EF4-FFF2-40B4-BE49-F238E27FC236}">
                <a16:creationId xmlns:a16="http://schemas.microsoft.com/office/drawing/2014/main" id="{E7EB8EC4-243E-78CF-84F6-328F57972C9B}"/>
              </a:ext>
            </a:extLst>
          </p:cNvPr>
          <p:cNvSpPr/>
          <p:nvPr/>
        </p:nvSpPr>
        <p:spPr>
          <a:xfrm>
            <a:off x="864050" y="2434144"/>
            <a:ext cx="864300" cy="8643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</p:txBody>
      </p:sp>
      <p:sp>
        <p:nvSpPr>
          <p:cNvPr id="18" name="Google Shape;1590;g60be7dcf1c_0_473">
            <a:extLst>
              <a:ext uri="{FF2B5EF4-FFF2-40B4-BE49-F238E27FC236}">
                <a16:creationId xmlns:a16="http://schemas.microsoft.com/office/drawing/2014/main" id="{F0CF63EC-B250-D578-0060-4CFD239510AC}"/>
              </a:ext>
            </a:extLst>
          </p:cNvPr>
          <p:cNvSpPr txBox="1"/>
          <p:nvPr/>
        </p:nvSpPr>
        <p:spPr>
          <a:xfrm>
            <a:off x="942650" y="2651444"/>
            <a:ext cx="7071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New!</a:t>
            </a:r>
            <a:endParaRPr lang="en-GB" sz="1200" b="1" dirty="0">
              <a:solidFill>
                <a:srgbClr val="CC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" name="Google Shape;1591;g60be7dcf1c_0_473">
            <a:extLst>
              <a:ext uri="{FF2B5EF4-FFF2-40B4-BE49-F238E27FC236}">
                <a16:creationId xmlns:a16="http://schemas.microsoft.com/office/drawing/2014/main" id="{4CF62F65-A2EC-BE38-6EC3-9592BAD3E48D}"/>
              </a:ext>
            </a:extLst>
          </p:cNvPr>
          <p:cNvSpPr/>
          <p:nvPr/>
        </p:nvSpPr>
        <p:spPr>
          <a:xfrm>
            <a:off x="864050" y="4129769"/>
            <a:ext cx="864300" cy="8643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</p:txBody>
      </p:sp>
      <p:sp>
        <p:nvSpPr>
          <p:cNvPr id="20" name="Google Shape;1592;g60be7dcf1c_0_473">
            <a:extLst>
              <a:ext uri="{FF2B5EF4-FFF2-40B4-BE49-F238E27FC236}">
                <a16:creationId xmlns:a16="http://schemas.microsoft.com/office/drawing/2014/main" id="{37C3EE42-7F64-A6CA-7245-69E5B4EEADAA}"/>
              </a:ext>
            </a:extLst>
          </p:cNvPr>
          <p:cNvSpPr txBox="1"/>
          <p:nvPr/>
        </p:nvSpPr>
        <p:spPr>
          <a:xfrm>
            <a:off x="864050" y="4347069"/>
            <a:ext cx="8643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More!</a:t>
            </a:r>
            <a:endParaRPr lang="en-GB" sz="1200" b="1" dirty="0">
              <a:solidFill>
                <a:srgbClr val="CC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" name="Google Shape;1593;g60be7dcf1c_0_473">
            <a:extLst>
              <a:ext uri="{FF2B5EF4-FFF2-40B4-BE49-F238E27FC236}">
                <a16:creationId xmlns:a16="http://schemas.microsoft.com/office/drawing/2014/main" id="{1644A6A2-B702-7C6E-E593-932D509B8F94}"/>
              </a:ext>
            </a:extLst>
          </p:cNvPr>
          <p:cNvSpPr txBox="1"/>
          <p:nvPr/>
        </p:nvSpPr>
        <p:spPr>
          <a:xfrm>
            <a:off x="4076000" y="2091194"/>
            <a:ext cx="2643000" cy="7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>
                <a:latin typeface="Consolas"/>
                <a:ea typeface="Consolas"/>
                <a:cs typeface="Consolas"/>
                <a:sym typeface="Consolas"/>
              </a:rPr>
              <a:t>Self-Adjusting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>
                <a:latin typeface="Consolas"/>
                <a:ea typeface="Consolas"/>
                <a:cs typeface="Consolas"/>
                <a:sym typeface="Consolas"/>
              </a:rPr>
              <a:t>Networks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" name="Google Shape;1594;g60be7dcf1c_0_473">
            <a:extLst>
              <a:ext uri="{FF2B5EF4-FFF2-40B4-BE49-F238E27FC236}">
                <a16:creationId xmlns:a16="http://schemas.microsoft.com/office/drawing/2014/main" id="{C77EBACB-D5BF-54A5-49FB-2933B185E249}"/>
              </a:ext>
            </a:extLst>
          </p:cNvPr>
          <p:cNvSpPr txBox="1"/>
          <p:nvPr/>
        </p:nvSpPr>
        <p:spPr>
          <a:xfrm>
            <a:off x="4076000" y="5166900"/>
            <a:ext cx="1831800" cy="514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Now is the time!</a:t>
            </a:r>
          </a:p>
        </p:txBody>
      </p:sp>
      <p:sp>
        <p:nvSpPr>
          <p:cNvPr id="24" name="Google Shape;1585;g60be7dcf1c_0_473">
            <a:extLst>
              <a:ext uri="{FF2B5EF4-FFF2-40B4-BE49-F238E27FC236}">
                <a16:creationId xmlns:a16="http://schemas.microsoft.com/office/drawing/2014/main" id="{F84A4467-78BC-59B1-8006-8C890BFBA930}"/>
              </a:ext>
            </a:extLst>
          </p:cNvPr>
          <p:cNvSpPr txBox="1"/>
          <p:nvPr/>
        </p:nvSpPr>
        <p:spPr>
          <a:xfrm>
            <a:off x="6361575" y="2803575"/>
            <a:ext cx="1745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>
                <a:latin typeface="Consolas"/>
                <a:ea typeface="Consolas"/>
                <a:cs typeface="Consolas"/>
                <a:sym typeface="Consolas"/>
              </a:rPr>
              <a:t>Efficiency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325554035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7">
          <a:extLst>
            <a:ext uri="{FF2B5EF4-FFF2-40B4-BE49-F238E27FC236}">
              <a16:creationId xmlns:a16="http://schemas.microsoft.com/office/drawing/2014/main" id="{D5CA2F78-29C1-38E8-A3F6-E4EBC0268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8" name="Google Shape;1798;g60be7dcf1c_0_691">
            <a:extLst>
              <a:ext uri="{FF2B5EF4-FFF2-40B4-BE49-F238E27FC236}">
                <a16:creationId xmlns:a16="http://schemas.microsoft.com/office/drawing/2014/main" id="{AB2A8205-F851-1835-4135-2AEB04157C89}"/>
              </a:ext>
            </a:extLst>
          </p:cNvPr>
          <p:cNvSpPr txBox="1"/>
          <p:nvPr/>
        </p:nvSpPr>
        <p:spPr>
          <a:xfrm>
            <a:off x="0" y="1625600"/>
            <a:ext cx="8641080" cy="1515737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1799" name="Google Shape;1799;g60be7dcf1c_0_691">
            <a:extLst>
              <a:ext uri="{FF2B5EF4-FFF2-40B4-BE49-F238E27FC236}">
                <a16:creationId xmlns:a16="http://schemas.microsoft.com/office/drawing/2014/main" id="{271AFADF-0A23-1D08-6DED-D86505C43FE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3075" y="1718087"/>
            <a:ext cx="8171100" cy="272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Self-Adjusting Networks:</a:t>
            </a:r>
            <a:b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Mental Model and Taxonomy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D09A8C78-BB50-5582-F9DF-B13B5A6A59D8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16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5777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6">
          <a:extLst>
            <a:ext uri="{FF2B5EF4-FFF2-40B4-BE49-F238E27FC236}">
              <a16:creationId xmlns:a16="http://schemas.microsoft.com/office/drawing/2014/main" id="{7C202186-56A9-E841-0014-28F581AE8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333;g60be7dcf1c_0_242">
            <a:extLst>
              <a:ext uri="{FF2B5EF4-FFF2-40B4-BE49-F238E27FC236}">
                <a16:creationId xmlns:a16="http://schemas.microsoft.com/office/drawing/2014/main" id="{1F72BBCA-EFD3-D770-A5A7-A27B9AEE126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55376" b="19271"/>
          <a:stretch/>
        </p:blipFill>
        <p:spPr>
          <a:xfrm>
            <a:off x="709497" y="4164110"/>
            <a:ext cx="7134774" cy="1356377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1334;g60be7dcf1c_0_242">
            <a:extLst>
              <a:ext uri="{FF2B5EF4-FFF2-40B4-BE49-F238E27FC236}">
                <a16:creationId xmlns:a16="http://schemas.microsoft.com/office/drawing/2014/main" id="{2A175831-EEC4-2BED-9B5E-629373DB24A7}"/>
              </a:ext>
            </a:extLst>
          </p:cNvPr>
          <p:cNvSpPr txBox="1"/>
          <p:nvPr/>
        </p:nvSpPr>
        <p:spPr>
          <a:xfrm>
            <a:off x="1057697" y="5474810"/>
            <a:ext cx="5892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" name="Google Shape;1335;g60be7dcf1c_0_242">
            <a:extLst>
              <a:ext uri="{FF2B5EF4-FFF2-40B4-BE49-F238E27FC236}">
                <a16:creationId xmlns:a16="http://schemas.microsoft.com/office/drawing/2014/main" id="{574CA5B5-46F8-06DC-17A6-4EE98A3F5CDD}"/>
              </a:ext>
            </a:extLst>
          </p:cNvPr>
          <p:cNvSpPr txBox="1"/>
          <p:nvPr/>
        </p:nvSpPr>
        <p:spPr>
          <a:xfrm>
            <a:off x="1901872" y="5474810"/>
            <a:ext cx="5892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" name="Google Shape;1336;g60be7dcf1c_0_242">
            <a:extLst>
              <a:ext uri="{FF2B5EF4-FFF2-40B4-BE49-F238E27FC236}">
                <a16:creationId xmlns:a16="http://schemas.microsoft.com/office/drawing/2014/main" id="{12C480B7-A0CF-82ED-528E-D8FC8BB88FA1}"/>
              </a:ext>
            </a:extLst>
          </p:cNvPr>
          <p:cNvSpPr txBox="1"/>
          <p:nvPr/>
        </p:nvSpPr>
        <p:spPr>
          <a:xfrm>
            <a:off x="2746047" y="5474810"/>
            <a:ext cx="5892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" name="Google Shape;1337;g60be7dcf1c_0_242">
            <a:extLst>
              <a:ext uri="{FF2B5EF4-FFF2-40B4-BE49-F238E27FC236}">
                <a16:creationId xmlns:a16="http://schemas.microsoft.com/office/drawing/2014/main" id="{5045942D-4D0B-6315-84FC-2AD1E6328B15}"/>
              </a:ext>
            </a:extLst>
          </p:cNvPr>
          <p:cNvSpPr txBox="1"/>
          <p:nvPr/>
        </p:nvSpPr>
        <p:spPr>
          <a:xfrm>
            <a:off x="3563022" y="5474810"/>
            <a:ext cx="6279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" name="Google Shape;1338;g60be7dcf1c_0_242">
            <a:extLst>
              <a:ext uri="{FF2B5EF4-FFF2-40B4-BE49-F238E27FC236}">
                <a16:creationId xmlns:a16="http://schemas.microsoft.com/office/drawing/2014/main" id="{D275D684-CB2F-6A79-F23B-836AE077B262}"/>
              </a:ext>
            </a:extLst>
          </p:cNvPr>
          <p:cNvSpPr txBox="1"/>
          <p:nvPr/>
        </p:nvSpPr>
        <p:spPr>
          <a:xfrm>
            <a:off x="4418697" y="5474810"/>
            <a:ext cx="5892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" name="Google Shape;1339;g60be7dcf1c_0_242">
            <a:extLst>
              <a:ext uri="{FF2B5EF4-FFF2-40B4-BE49-F238E27FC236}">
                <a16:creationId xmlns:a16="http://schemas.microsoft.com/office/drawing/2014/main" id="{239A6F45-3A55-0456-B068-A0AA1EFD1D3F}"/>
              </a:ext>
            </a:extLst>
          </p:cNvPr>
          <p:cNvSpPr txBox="1"/>
          <p:nvPr/>
        </p:nvSpPr>
        <p:spPr>
          <a:xfrm>
            <a:off x="5235672" y="5474810"/>
            <a:ext cx="5892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6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" name="Google Shape;1340;g60be7dcf1c_0_242">
            <a:extLst>
              <a:ext uri="{FF2B5EF4-FFF2-40B4-BE49-F238E27FC236}">
                <a16:creationId xmlns:a16="http://schemas.microsoft.com/office/drawing/2014/main" id="{3D6E8067-B5A2-C1CD-19C4-6FE421427FF0}"/>
              </a:ext>
            </a:extLst>
          </p:cNvPr>
          <p:cNvSpPr txBox="1"/>
          <p:nvPr/>
        </p:nvSpPr>
        <p:spPr>
          <a:xfrm>
            <a:off x="6091347" y="5474810"/>
            <a:ext cx="5505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7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" name="Google Shape;1341;g60be7dcf1c_0_242">
            <a:extLst>
              <a:ext uri="{FF2B5EF4-FFF2-40B4-BE49-F238E27FC236}">
                <a16:creationId xmlns:a16="http://schemas.microsoft.com/office/drawing/2014/main" id="{B2A8B849-FBEE-CAC0-6B27-E8363AD28A1F}"/>
              </a:ext>
            </a:extLst>
          </p:cNvPr>
          <p:cNvSpPr txBox="1"/>
          <p:nvPr/>
        </p:nvSpPr>
        <p:spPr>
          <a:xfrm>
            <a:off x="6908322" y="5452285"/>
            <a:ext cx="5892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" name="Google Shape;1534;g60be7dcf1c_0_434">
            <a:extLst>
              <a:ext uri="{FF2B5EF4-FFF2-40B4-BE49-F238E27FC236}">
                <a16:creationId xmlns:a16="http://schemas.microsoft.com/office/drawing/2014/main" id="{AC1EABF1-3CCB-CA01-62F1-54F9DF1F7D36}"/>
              </a:ext>
            </a:extLst>
          </p:cNvPr>
          <p:cNvSpPr txBox="1"/>
          <p:nvPr/>
        </p:nvSpPr>
        <p:spPr>
          <a:xfrm>
            <a:off x="1074006" y="6080785"/>
            <a:ext cx="6529388" cy="598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endParaRPr lang="de-DE"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" name="Freeform 8">
            <a:extLst>
              <a:ext uri="{FF2B5EF4-FFF2-40B4-BE49-F238E27FC236}">
                <a16:creationId xmlns:a16="http://schemas.microsoft.com/office/drawing/2014/main" id="{7847AE9B-9253-A8F7-B5B2-3B0C1AE02216}"/>
              </a:ext>
            </a:extLst>
          </p:cNvPr>
          <p:cNvSpPr/>
          <p:nvPr/>
        </p:nvSpPr>
        <p:spPr>
          <a:xfrm>
            <a:off x="1681604" y="1949856"/>
            <a:ext cx="5468558" cy="1207677"/>
          </a:xfrm>
          <a:custGeom>
            <a:avLst/>
            <a:gdLst>
              <a:gd name="connsiteX0" fmla="*/ 0 w 2651765"/>
              <a:gd name="connsiteY0" fmla="*/ 368262 h 2209528"/>
              <a:gd name="connsiteX1" fmla="*/ 368262 w 2651765"/>
              <a:gd name="connsiteY1" fmla="*/ 0 h 2209528"/>
              <a:gd name="connsiteX2" fmla="*/ 2283503 w 2651765"/>
              <a:gd name="connsiteY2" fmla="*/ 0 h 2209528"/>
              <a:gd name="connsiteX3" fmla="*/ 2651765 w 2651765"/>
              <a:gd name="connsiteY3" fmla="*/ 368262 h 2209528"/>
              <a:gd name="connsiteX4" fmla="*/ 2651765 w 2651765"/>
              <a:gd name="connsiteY4" fmla="*/ 1841266 h 2209528"/>
              <a:gd name="connsiteX5" fmla="*/ 2283503 w 2651765"/>
              <a:gd name="connsiteY5" fmla="*/ 2209528 h 2209528"/>
              <a:gd name="connsiteX6" fmla="*/ 368262 w 2651765"/>
              <a:gd name="connsiteY6" fmla="*/ 2209528 h 2209528"/>
              <a:gd name="connsiteX7" fmla="*/ 0 w 2651765"/>
              <a:gd name="connsiteY7" fmla="*/ 1841266 h 2209528"/>
              <a:gd name="connsiteX8" fmla="*/ 0 w 2651765"/>
              <a:gd name="connsiteY8" fmla="*/ 368262 h 2209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51765" h="2209528">
                <a:moveTo>
                  <a:pt x="0" y="368262"/>
                </a:moveTo>
                <a:cubicBezTo>
                  <a:pt x="0" y="164877"/>
                  <a:pt x="164877" y="0"/>
                  <a:pt x="368262" y="0"/>
                </a:cubicBezTo>
                <a:lnTo>
                  <a:pt x="2283503" y="0"/>
                </a:lnTo>
                <a:cubicBezTo>
                  <a:pt x="2486888" y="0"/>
                  <a:pt x="2651765" y="164877"/>
                  <a:pt x="2651765" y="368262"/>
                </a:cubicBezTo>
                <a:lnTo>
                  <a:pt x="2651765" y="1841266"/>
                </a:lnTo>
                <a:cubicBezTo>
                  <a:pt x="2651765" y="2044651"/>
                  <a:pt x="2486888" y="2209528"/>
                  <a:pt x="2283503" y="2209528"/>
                </a:cubicBezTo>
                <a:lnTo>
                  <a:pt x="368262" y="2209528"/>
                </a:lnTo>
                <a:cubicBezTo>
                  <a:pt x="164877" y="2209528"/>
                  <a:pt x="0" y="2044651"/>
                  <a:pt x="0" y="1841266"/>
                </a:cubicBezTo>
                <a:lnTo>
                  <a:pt x="0" y="368262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48830" tIns="248830" rIns="248830" bIns="248830" numCol="1" spcCol="1270" anchor="ctr" anchorCtr="0">
            <a:noAutofit/>
          </a:bodyPr>
          <a:lstStyle/>
          <a:p>
            <a:pPr algn="ctr"/>
            <a:r>
              <a:rPr lang="de-DE" sz="1800" b="1" dirty="0">
                <a:solidFill>
                  <a:schemeClr val="tx1"/>
                </a:solidFill>
                <a:latin typeface="Consolas" panose="020B0609020204030204" pitchFamily="49" charset="0"/>
              </a:rPr>
              <a:t>Optical Switches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0F6AFBB-4667-E2BA-F778-369F5871034E}"/>
              </a:ext>
            </a:extLst>
          </p:cNvPr>
          <p:cNvCxnSpPr/>
          <p:nvPr/>
        </p:nvCxnSpPr>
        <p:spPr>
          <a:xfrm flipV="1">
            <a:off x="1391672" y="3194332"/>
            <a:ext cx="825190" cy="9697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8A3D7A2-E372-A4CB-36FE-25ED94F7266D}"/>
              </a:ext>
            </a:extLst>
          </p:cNvPr>
          <p:cNvCxnSpPr>
            <a:cxnSpLocks/>
          </p:cNvCxnSpPr>
          <p:nvPr/>
        </p:nvCxnSpPr>
        <p:spPr>
          <a:xfrm flipV="1">
            <a:off x="2216862" y="3194332"/>
            <a:ext cx="347918" cy="9697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BDB26A0-DB1B-AAC9-1221-111215DA11D1}"/>
              </a:ext>
            </a:extLst>
          </p:cNvPr>
          <p:cNvCxnSpPr>
            <a:cxnSpLocks/>
          </p:cNvCxnSpPr>
          <p:nvPr/>
        </p:nvCxnSpPr>
        <p:spPr>
          <a:xfrm flipV="1">
            <a:off x="3042052" y="3194332"/>
            <a:ext cx="138276" cy="9697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F808A9F-425F-190B-EC17-E78AD441904C}"/>
              </a:ext>
            </a:extLst>
          </p:cNvPr>
          <p:cNvCxnSpPr>
            <a:cxnSpLocks/>
          </p:cNvCxnSpPr>
          <p:nvPr/>
        </p:nvCxnSpPr>
        <p:spPr>
          <a:xfrm flipV="1">
            <a:off x="3827099" y="3157533"/>
            <a:ext cx="55142" cy="10065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E970DE4-1D84-62FC-4963-A38CBCBAE532}"/>
              </a:ext>
            </a:extLst>
          </p:cNvPr>
          <p:cNvCxnSpPr>
            <a:cxnSpLocks/>
          </p:cNvCxnSpPr>
          <p:nvPr/>
        </p:nvCxnSpPr>
        <p:spPr>
          <a:xfrm flipH="1" flipV="1">
            <a:off x="4634447" y="3157533"/>
            <a:ext cx="75828" cy="10065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E7F5FE7F-4FD0-9A2D-29B6-C07AE1072242}"/>
              </a:ext>
            </a:extLst>
          </p:cNvPr>
          <p:cNvCxnSpPr>
            <a:cxnSpLocks/>
          </p:cNvCxnSpPr>
          <p:nvPr/>
        </p:nvCxnSpPr>
        <p:spPr>
          <a:xfrm flipH="1" flipV="1">
            <a:off x="5249995" y="3157533"/>
            <a:ext cx="346440" cy="10433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E14520C4-097B-E3F8-1679-31708A415D1D}"/>
              </a:ext>
            </a:extLst>
          </p:cNvPr>
          <p:cNvCxnSpPr>
            <a:cxnSpLocks/>
          </p:cNvCxnSpPr>
          <p:nvPr/>
        </p:nvCxnSpPr>
        <p:spPr>
          <a:xfrm flipH="1" flipV="1">
            <a:off x="6040241" y="3150648"/>
            <a:ext cx="346440" cy="10433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0EF5137C-E260-2E0D-E4B7-65394B327C77}"/>
              </a:ext>
            </a:extLst>
          </p:cNvPr>
          <p:cNvCxnSpPr>
            <a:cxnSpLocks/>
          </p:cNvCxnSpPr>
          <p:nvPr/>
        </p:nvCxnSpPr>
        <p:spPr>
          <a:xfrm flipH="1" flipV="1">
            <a:off x="6548750" y="3157534"/>
            <a:ext cx="666828" cy="103649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50CC9F-8E43-DC40-A63D-D34B21C6F71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40</a:t>
            </a:fld>
            <a:endParaRPr lang="de-DE" dirty="0"/>
          </a:p>
        </p:txBody>
      </p:sp>
      <p:sp>
        <p:nvSpPr>
          <p:cNvPr id="2" name="Google Shape;1580;g60be7dcf1c_0_473">
            <a:extLst>
              <a:ext uri="{FF2B5EF4-FFF2-40B4-BE49-F238E27FC236}">
                <a16:creationId xmlns:a16="http://schemas.microsoft.com/office/drawing/2014/main" id="{7244218E-5806-53E3-769E-027880B0212F}"/>
              </a:ext>
            </a:extLst>
          </p:cNvPr>
          <p:cNvSpPr txBox="1"/>
          <p:nvPr/>
        </p:nvSpPr>
        <p:spPr>
          <a:xfrm>
            <a:off x="-1" y="539999"/>
            <a:ext cx="8677835" cy="919873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5" name="Google Shape;1810;g60be7dcf1c_0_698">
            <a:extLst>
              <a:ext uri="{FF2B5EF4-FFF2-40B4-BE49-F238E27FC236}">
                <a16:creationId xmlns:a16="http://schemas.microsoft.com/office/drawing/2014/main" id="{83E715EC-AF35-5199-C95E-D60DD38D35E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3074" y="342104"/>
            <a:ext cx="7237925" cy="1080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l">
              <a:buSzPts val="1100"/>
            </a:pPr>
            <a:r>
              <a:rPr lang="en-GB" sz="2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Reconfigurable </a:t>
            </a:r>
            <a:r>
              <a:rPr lang="en-GB" sz="2000" dirty="0" err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Datacenters</a:t>
            </a:r>
            <a:r>
              <a:rPr lang="en-GB" sz="2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Based on OCSs: </a:t>
            </a:r>
            <a:br>
              <a:rPr lang="en-GB" sz="2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36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It’s about Dynamic Matchings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7FFEF7F3-554E-35CD-7999-4A7F8BDD308D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17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8" name="Google Shape;1534;g60be7dcf1c_0_434">
            <a:extLst>
              <a:ext uri="{FF2B5EF4-FFF2-40B4-BE49-F238E27FC236}">
                <a16:creationId xmlns:a16="http://schemas.microsoft.com/office/drawing/2014/main" id="{35474533-C661-D33D-E751-073DDA47D050}"/>
              </a:ext>
            </a:extLst>
          </p:cNvPr>
          <p:cNvSpPr txBox="1"/>
          <p:nvPr/>
        </p:nvSpPr>
        <p:spPr>
          <a:xfrm>
            <a:off x="1229247" y="5935370"/>
            <a:ext cx="7557300" cy="4784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⇢ Racks connected to </a:t>
            </a:r>
            <a:r>
              <a:rPr lang="en-GB" sz="1600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optical fabric</a:t>
            </a:r>
            <a:endParaRPr lang="en-GB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(often in addition to an electrical fabric: </a:t>
            </a:r>
            <a:r>
              <a:rPr lang="en-GB" sz="1600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hybrid</a:t>
            </a: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</a:p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08185341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6">
          <a:extLst>
            <a:ext uri="{FF2B5EF4-FFF2-40B4-BE49-F238E27FC236}">
              <a16:creationId xmlns:a16="http://schemas.microsoft.com/office/drawing/2014/main" id="{74526081-B1F7-284B-A372-FDA4364A4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1534;g60be7dcf1c_0_434">
            <a:extLst>
              <a:ext uri="{FF2B5EF4-FFF2-40B4-BE49-F238E27FC236}">
                <a16:creationId xmlns:a16="http://schemas.microsoft.com/office/drawing/2014/main" id="{3AD4079C-DFC0-4C28-2BA8-E67764052ED9}"/>
              </a:ext>
            </a:extLst>
          </p:cNvPr>
          <p:cNvSpPr txBox="1"/>
          <p:nvPr/>
        </p:nvSpPr>
        <p:spPr>
          <a:xfrm>
            <a:off x="1074006" y="6080785"/>
            <a:ext cx="6529388" cy="598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endParaRPr lang="de-DE"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121DB3-C53D-93CA-5489-468EA72D381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41</a:t>
            </a:fld>
            <a:endParaRPr lang="de-DE" dirty="0"/>
          </a:p>
        </p:txBody>
      </p:sp>
      <p:sp>
        <p:nvSpPr>
          <p:cNvPr id="2" name="Google Shape;1580;g60be7dcf1c_0_473">
            <a:extLst>
              <a:ext uri="{FF2B5EF4-FFF2-40B4-BE49-F238E27FC236}">
                <a16:creationId xmlns:a16="http://schemas.microsoft.com/office/drawing/2014/main" id="{898F185B-66AC-0448-CF60-26721920A5DC}"/>
              </a:ext>
            </a:extLst>
          </p:cNvPr>
          <p:cNvSpPr txBox="1"/>
          <p:nvPr/>
        </p:nvSpPr>
        <p:spPr>
          <a:xfrm>
            <a:off x="-1" y="539999"/>
            <a:ext cx="8677835" cy="919873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5" name="Google Shape;1810;g60be7dcf1c_0_698">
            <a:extLst>
              <a:ext uri="{FF2B5EF4-FFF2-40B4-BE49-F238E27FC236}">
                <a16:creationId xmlns:a16="http://schemas.microsoft.com/office/drawing/2014/main" id="{EA01DB79-80F9-C19C-F20C-AA2DFD4D81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3074" y="342104"/>
            <a:ext cx="7237925" cy="1080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l">
              <a:buSzPts val="1100"/>
            </a:pPr>
            <a:r>
              <a:rPr lang="en-GB" sz="2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Reconfigurable </a:t>
            </a:r>
            <a:r>
              <a:rPr lang="en-GB" sz="2000" dirty="0" err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Datacenters</a:t>
            </a:r>
            <a:r>
              <a:rPr lang="en-GB" sz="2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Based on OCSs: </a:t>
            </a:r>
            <a:br>
              <a:rPr lang="en-GB" sz="2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36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It’s about Dynamic Matchings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95443C48-5933-94FF-C01A-F286C021369A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17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8" name="Google Shape;1534;g60be7dcf1c_0_434">
            <a:extLst>
              <a:ext uri="{FF2B5EF4-FFF2-40B4-BE49-F238E27FC236}">
                <a16:creationId xmlns:a16="http://schemas.microsoft.com/office/drawing/2014/main" id="{C1E4D454-4156-B4DF-C6C1-9EEAF037E8C3}"/>
              </a:ext>
            </a:extLst>
          </p:cNvPr>
          <p:cNvSpPr txBox="1"/>
          <p:nvPr/>
        </p:nvSpPr>
        <p:spPr>
          <a:xfrm>
            <a:off x="1229247" y="5935370"/>
            <a:ext cx="7557300" cy="4784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⇢ Specifically: </a:t>
            </a:r>
            <a:r>
              <a:rPr lang="en-GB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ToR</a:t>
            </a: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switches connected to </a:t>
            </a:r>
            <a:r>
              <a:rPr lang="en-GB" sz="1600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set of k OCSs</a:t>
            </a: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</a:p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(often in addition to an electrical switches if </a:t>
            </a:r>
            <a:r>
              <a:rPr lang="en-GB" sz="1600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hybrid</a:t>
            </a: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</a:p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7" name="Google Shape;1333;g60be7dcf1c_0_242">
            <a:extLst>
              <a:ext uri="{FF2B5EF4-FFF2-40B4-BE49-F238E27FC236}">
                <a16:creationId xmlns:a16="http://schemas.microsoft.com/office/drawing/2014/main" id="{61D6AA11-7CC9-4861-6816-0A0609E51F8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55376" b="19271"/>
          <a:stretch/>
        </p:blipFill>
        <p:spPr>
          <a:xfrm>
            <a:off x="709497" y="4164110"/>
            <a:ext cx="7134774" cy="1356377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334;g60be7dcf1c_0_242">
            <a:extLst>
              <a:ext uri="{FF2B5EF4-FFF2-40B4-BE49-F238E27FC236}">
                <a16:creationId xmlns:a16="http://schemas.microsoft.com/office/drawing/2014/main" id="{90862B0F-6E7C-2B0E-686B-335DD26CA58B}"/>
              </a:ext>
            </a:extLst>
          </p:cNvPr>
          <p:cNvSpPr txBox="1"/>
          <p:nvPr/>
        </p:nvSpPr>
        <p:spPr>
          <a:xfrm>
            <a:off x="1057697" y="5474810"/>
            <a:ext cx="5892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" name="Google Shape;1335;g60be7dcf1c_0_242">
            <a:extLst>
              <a:ext uri="{FF2B5EF4-FFF2-40B4-BE49-F238E27FC236}">
                <a16:creationId xmlns:a16="http://schemas.microsoft.com/office/drawing/2014/main" id="{81921405-29B5-0E25-95BE-7AA0C8A59AAE}"/>
              </a:ext>
            </a:extLst>
          </p:cNvPr>
          <p:cNvSpPr txBox="1"/>
          <p:nvPr/>
        </p:nvSpPr>
        <p:spPr>
          <a:xfrm>
            <a:off x="1901872" y="5474810"/>
            <a:ext cx="5892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" name="Google Shape;1336;g60be7dcf1c_0_242">
            <a:extLst>
              <a:ext uri="{FF2B5EF4-FFF2-40B4-BE49-F238E27FC236}">
                <a16:creationId xmlns:a16="http://schemas.microsoft.com/office/drawing/2014/main" id="{E3F2CE3D-0195-8E3B-FDF6-E95E89E7AE56}"/>
              </a:ext>
            </a:extLst>
          </p:cNvPr>
          <p:cNvSpPr txBox="1"/>
          <p:nvPr/>
        </p:nvSpPr>
        <p:spPr>
          <a:xfrm>
            <a:off x="2746047" y="5474810"/>
            <a:ext cx="5892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" name="Google Shape;1337;g60be7dcf1c_0_242">
            <a:extLst>
              <a:ext uri="{FF2B5EF4-FFF2-40B4-BE49-F238E27FC236}">
                <a16:creationId xmlns:a16="http://schemas.microsoft.com/office/drawing/2014/main" id="{A3790205-50F7-9EAC-8078-D1BF3A8061CF}"/>
              </a:ext>
            </a:extLst>
          </p:cNvPr>
          <p:cNvSpPr txBox="1"/>
          <p:nvPr/>
        </p:nvSpPr>
        <p:spPr>
          <a:xfrm>
            <a:off x="3563022" y="5474810"/>
            <a:ext cx="6279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" name="Google Shape;1338;g60be7dcf1c_0_242">
            <a:extLst>
              <a:ext uri="{FF2B5EF4-FFF2-40B4-BE49-F238E27FC236}">
                <a16:creationId xmlns:a16="http://schemas.microsoft.com/office/drawing/2014/main" id="{922DD718-9201-976B-A8E1-60D8AF614D42}"/>
              </a:ext>
            </a:extLst>
          </p:cNvPr>
          <p:cNvSpPr txBox="1"/>
          <p:nvPr/>
        </p:nvSpPr>
        <p:spPr>
          <a:xfrm>
            <a:off x="4418697" y="5474810"/>
            <a:ext cx="5892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" name="Google Shape;1339;g60be7dcf1c_0_242">
            <a:extLst>
              <a:ext uri="{FF2B5EF4-FFF2-40B4-BE49-F238E27FC236}">
                <a16:creationId xmlns:a16="http://schemas.microsoft.com/office/drawing/2014/main" id="{1C81B86A-58C7-5925-0FD7-97FA4746BEF6}"/>
              </a:ext>
            </a:extLst>
          </p:cNvPr>
          <p:cNvSpPr txBox="1"/>
          <p:nvPr/>
        </p:nvSpPr>
        <p:spPr>
          <a:xfrm>
            <a:off x="5235672" y="5474810"/>
            <a:ext cx="5892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6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" name="Google Shape;1340;g60be7dcf1c_0_242">
            <a:extLst>
              <a:ext uri="{FF2B5EF4-FFF2-40B4-BE49-F238E27FC236}">
                <a16:creationId xmlns:a16="http://schemas.microsoft.com/office/drawing/2014/main" id="{BFE49262-727A-3EB5-EA63-CD647DECD7BC}"/>
              </a:ext>
            </a:extLst>
          </p:cNvPr>
          <p:cNvSpPr txBox="1"/>
          <p:nvPr/>
        </p:nvSpPr>
        <p:spPr>
          <a:xfrm>
            <a:off x="6091347" y="5474810"/>
            <a:ext cx="5505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7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" name="Google Shape;1341;g60be7dcf1c_0_242">
            <a:extLst>
              <a:ext uri="{FF2B5EF4-FFF2-40B4-BE49-F238E27FC236}">
                <a16:creationId xmlns:a16="http://schemas.microsoft.com/office/drawing/2014/main" id="{BF59A28F-BFFC-1250-6452-88250A90CA94}"/>
              </a:ext>
            </a:extLst>
          </p:cNvPr>
          <p:cNvSpPr txBox="1"/>
          <p:nvPr/>
        </p:nvSpPr>
        <p:spPr>
          <a:xfrm>
            <a:off x="6908322" y="5452285"/>
            <a:ext cx="5892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" name="Freeform 8">
            <a:extLst>
              <a:ext uri="{FF2B5EF4-FFF2-40B4-BE49-F238E27FC236}">
                <a16:creationId xmlns:a16="http://schemas.microsoft.com/office/drawing/2014/main" id="{46BD698D-DF0E-3B99-1563-9778D231F114}"/>
              </a:ext>
            </a:extLst>
          </p:cNvPr>
          <p:cNvSpPr/>
          <p:nvPr/>
        </p:nvSpPr>
        <p:spPr>
          <a:xfrm>
            <a:off x="1681604" y="1949856"/>
            <a:ext cx="5468558" cy="1207677"/>
          </a:xfrm>
          <a:custGeom>
            <a:avLst/>
            <a:gdLst>
              <a:gd name="connsiteX0" fmla="*/ 0 w 2651765"/>
              <a:gd name="connsiteY0" fmla="*/ 368262 h 2209528"/>
              <a:gd name="connsiteX1" fmla="*/ 368262 w 2651765"/>
              <a:gd name="connsiteY1" fmla="*/ 0 h 2209528"/>
              <a:gd name="connsiteX2" fmla="*/ 2283503 w 2651765"/>
              <a:gd name="connsiteY2" fmla="*/ 0 h 2209528"/>
              <a:gd name="connsiteX3" fmla="*/ 2651765 w 2651765"/>
              <a:gd name="connsiteY3" fmla="*/ 368262 h 2209528"/>
              <a:gd name="connsiteX4" fmla="*/ 2651765 w 2651765"/>
              <a:gd name="connsiteY4" fmla="*/ 1841266 h 2209528"/>
              <a:gd name="connsiteX5" fmla="*/ 2283503 w 2651765"/>
              <a:gd name="connsiteY5" fmla="*/ 2209528 h 2209528"/>
              <a:gd name="connsiteX6" fmla="*/ 368262 w 2651765"/>
              <a:gd name="connsiteY6" fmla="*/ 2209528 h 2209528"/>
              <a:gd name="connsiteX7" fmla="*/ 0 w 2651765"/>
              <a:gd name="connsiteY7" fmla="*/ 1841266 h 2209528"/>
              <a:gd name="connsiteX8" fmla="*/ 0 w 2651765"/>
              <a:gd name="connsiteY8" fmla="*/ 368262 h 2209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51765" h="2209528">
                <a:moveTo>
                  <a:pt x="0" y="368262"/>
                </a:moveTo>
                <a:cubicBezTo>
                  <a:pt x="0" y="164877"/>
                  <a:pt x="164877" y="0"/>
                  <a:pt x="368262" y="0"/>
                </a:cubicBezTo>
                <a:lnTo>
                  <a:pt x="2283503" y="0"/>
                </a:lnTo>
                <a:cubicBezTo>
                  <a:pt x="2486888" y="0"/>
                  <a:pt x="2651765" y="164877"/>
                  <a:pt x="2651765" y="368262"/>
                </a:cubicBezTo>
                <a:lnTo>
                  <a:pt x="2651765" y="1841266"/>
                </a:lnTo>
                <a:cubicBezTo>
                  <a:pt x="2651765" y="2044651"/>
                  <a:pt x="2486888" y="2209528"/>
                  <a:pt x="2283503" y="2209528"/>
                </a:cubicBezTo>
                <a:lnTo>
                  <a:pt x="368262" y="2209528"/>
                </a:lnTo>
                <a:cubicBezTo>
                  <a:pt x="164877" y="2209528"/>
                  <a:pt x="0" y="2044651"/>
                  <a:pt x="0" y="1841266"/>
                </a:cubicBezTo>
                <a:lnTo>
                  <a:pt x="0" y="368262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48830" tIns="248830" rIns="248830" bIns="248830" numCol="1" spcCol="1270" anchor="ctr" anchorCtr="0">
            <a:noAutofit/>
          </a:bodyPr>
          <a:lstStyle/>
          <a:p>
            <a:pPr algn="ctr"/>
            <a:endParaRPr lang="de-DE" sz="1800" b="1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EE2DF2C-3742-4946-8C1E-946BAA1322AC}"/>
              </a:ext>
            </a:extLst>
          </p:cNvPr>
          <p:cNvCxnSpPr/>
          <p:nvPr/>
        </p:nvCxnSpPr>
        <p:spPr>
          <a:xfrm flipV="1">
            <a:off x="1391672" y="3194332"/>
            <a:ext cx="825190" cy="9697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7CB2924-BD37-78F0-6EF3-270CECB3547C}"/>
              </a:ext>
            </a:extLst>
          </p:cNvPr>
          <p:cNvCxnSpPr>
            <a:cxnSpLocks/>
          </p:cNvCxnSpPr>
          <p:nvPr/>
        </p:nvCxnSpPr>
        <p:spPr>
          <a:xfrm flipV="1">
            <a:off x="2216862" y="3194332"/>
            <a:ext cx="347918" cy="9697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FE0EFF3-4E5E-A123-8826-BB5FB98FCBBB}"/>
              </a:ext>
            </a:extLst>
          </p:cNvPr>
          <p:cNvCxnSpPr>
            <a:cxnSpLocks/>
          </p:cNvCxnSpPr>
          <p:nvPr/>
        </p:nvCxnSpPr>
        <p:spPr>
          <a:xfrm flipV="1">
            <a:off x="3042052" y="3194332"/>
            <a:ext cx="138276" cy="9697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D2E415D-CE31-D88A-430C-D7649711B026}"/>
              </a:ext>
            </a:extLst>
          </p:cNvPr>
          <p:cNvCxnSpPr>
            <a:cxnSpLocks/>
          </p:cNvCxnSpPr>
          <p:nvPr/>
        </p:nvCxnSpPr>
        <p:spPr>
          <a:xfrm flipV="1">
            <a:off x="3827099" y="3157533"/>
            <a:ext cx="55142" cy="10065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D2AA576-623D-1255-F4A4-C21B032057E9}"/>
              </a:ext>
            </a:extLst>
          </p:cNvPr>
          <p:cNvCxnSpPr>
            <a:cxnSpLocks/>
          </p:cNvCxnSpPr>
          <p:nvPr/>
        </p:nvCxnSpPr>
        <p:spPr>
          <a:xfrm flipH="1" flipV="1">
            <a:off x="4634447" y="3157533"/>
            <a:ext cx="75828" cy="10065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5F650B9-CA0B-022C-D782-CDBB672A1424}"/>
              </a:ext>
            </a:extLst>
          </p:cNvPr>
          <p:cNvCxnSpPr>
            <a:cxnSpLocks/>
          </p:cNvCxnSpPr>
          <p:nvPr/>
        </p:nvCxnSpPr>
        <p:spPr>
          <a:xfrm flipH="1" flipV="1">
            <a:off x="5249995" y="3157533"/>
            <a:ext cx="346440" cy="10433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F1D7FB47-B28E-07A3-CADB-60082A950325}"/>
              </a:ext>
            </a:extLst>
          </p:cNvPr>
          <p:cNvCxnSpPr>
            <a:cxnSpLocks/>
          </p:cNvCxnSpPr>
          <p:nvPr/>
        </p:nvCxnSpPr>
        <p:spPr>
          <a:xfrm flipH="1" flipV="1">
            <a:off x="6040241" y="3150648"/>
            <a:ext cx="346440" cy="10433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6E9605F-098E-AF75-FCAD-96CF4344D96A}"/>
              </a:ext>
            </a:extLst>
          </p:cNvPr>
          <p:cNvCxnSpPr>
            <a:cxnSpLocks/>
          </p:cNvCxnSpPr>
          <p:nvPr/>
        </p:nvCxnSpPr>
        <p:spPr>
          <a:xfrm flipH="1" flipV="1">
            <a:off x="6548750" y="3157534"/>
            <a:ext cx="666828" cy="103649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0" name="Picture 39">
            <a:extLst>
              <a:ext uri="{FF2B5EF4-FFF2-40B4-BE49-F238E27FC236}">
                <a16:creationId xmlns:a16="http://schemas.microsoft.com/office/drawing/2014/main" id="{1154FC10-84DB-F240-C8E4-EE269F53BF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4641" y="2293369"/>
            <a:ext cx="523460" cy="681329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A7E759F9-24C2-CF00-FBDB-749A47D12C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7695" y="2298926"/>
            <a:ext cx="523460" cy="681329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453C6200-7284-010A-8C18-678114E615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9731" y="2298926"/>
            <a:ext cx="523460" cy="681329"/>
          </a:xfrm>
          <a:prstGeom prst="rect">
            <a:avLst/>
          </a:prstGeom>
        </p:spPr>
      </p:pic>
      <p:sp>
        <p:nvSpPr>
          <p:cNvPr id="45" name="Google Shape;1534;g60be7dcf1c_0_434">
            <a:extLst>
              <a:ext uri="{FF2B5EF4-FFF2-40B4-BE49-F238E27FC236}">
                <a16:creationId xmlns:a16="http://schemas.microsoft.com/office/drawing/2014/main" id="{17E7CC4B-7683-C4EA-A762-F78BC96135C9}"/>
              </a:ext>
            </a:extLst>
          </p:cNvPr>
          <p:cNvSpPr txBox="1"/>
          <p:nvPr/>
        </p:nvSpPr>
        <p:spPr>
          <a:xfrm>
            <a:off x="4523076" y="2373168"/>
            <a:ext cx="2561934" cy="471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de-DE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…</a:t>
            </a: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de-DE"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6" name="Google Shape;1534;g60be7dcf1c_0_434">
            <a:extLst>
              <a:ext uri="{FF2B5EF4-FFF2-40B4-BE49-F238E27FC236}">
                <a16:creationId xmlns:a16="http://schemas.microsoft.com/office/drawing/2014/main" id="{050C3096-D7A1-081B-3FB5-3AF93C42531F}"/>
              </a:ext>
            </a:extLst>
          </p:cNvPr>
          <p:cNvSpPr txBox="1"/>
          <p:nvPr/>
        </p:nvSpPr>
        <p:spPr>
          <a:xfrm>
            <a:off x="2776778" y="1913570"/>
            <a:ext cx="771665" cy="377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de-DE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S1</a:t>
            </a:r>
            <a:endParaRPr lang="de-DE"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9" name="Google Shape;1534;g60be7dcf1c_0_434">
            <a:extLst>
              <a:ext uri="{FF2B5EF4-FFF2-40B4-BE49-F238E27FC236}">
                <a16:creationId xmlns:a16="http://schemas.microsoft.com/office/drawing/2014/main" id="{1EBA4D9A-880D-E7D1-EB3A-F9720D4AB1BB}"/>
              </a:ext>
            </a:extLst>
          </p:cNvPr>
          <p:cNvSpPr txBox="1"/>
          <p:nvPr/>
        </p:nvSpPr>
        <p:spPr>
          <a:xfrm>
            <a:off x="3408766" y="1905308"/>
            <a:ext cx="771665" cy="377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de-DE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S2</a:t>
            </a:r>
            <a:endParaRPr lang="de-DE"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0" name="Google Shape;1534;g60be7dcf1c_0_434">
            <a:extLst>
              <a:ext uri="{FF2B5EF4-FFF2-40B4-BE49-F238E27FC236}">
                <a16:creationId xmlns:a16="http://schemas.microsoft.com/office/drawing/2014/main" id="{14BBD2F6-3612-E336-3302-8780A825D9AE}"/>
              </a:ext>
            </a:extLst>
          </p:cNvPr>
          <p:cNvSpPr txBox="1"/>
          <p:nvPr/>
        </p:nvSpPr>
        <p:spPr>
          <a:xfrm>
            <a:off x="5756299" y="1898723"/>
            <a:ext cx="771665" cy="377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de-DE" sz="1600" b="1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Sk</a:t>
            </a:r>
            <a:endParaRPr lang="de-DE"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60026986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6">
          <a:extLst>
            <a:ext uri="{FF2B5EF4-FFF2-40B4-BE49-F238E27FC236}">
              <a16:creationId xmlns:a16="http://schemas.microsoft.com/office/drawing/2014/main" id="{165FE210-E330-8D5D-8454-ADD676E0C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333;g60be7dcf1c_0_242">
            <a:extLst>
              <a:ext uri="{FF2B5EF4-FFF2-40B4-BE49-F238E27FC236}">
                <a16:creationId xmlns:a16="http://schemas.microsoft.com/office/drawing/2014/main" id="{69AD7B14-FA69-8E92-831C-79D4AF6A835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55376" b="19271"/>
          <a:stretch/>
        </p:blipFill>
        <p:spPr>
          <a:xfrm>
            <a:off x="709497" y="4164110"/>
            <a:ext cx="7134774" cy="1356377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1334;g60be7dcf1c_0_242">
            <a:extLst>
              <a:ext uri="{FF2B5EF4-FFF2-40B4-BE49-F238E27FC236}">
                <a16:creationId xmlns:a16="http://schemas.microsoft.com/office/drawing/2014/main" id="{F95D7B1A-7D44-0945-1FCE-73FADCCDB70B}"/>
              </a:ext>
            </a:extLst>
          </p:cNvPr>
          <p:cNvSpPr txBox="1"/>
          <p:nvPr/>
        </p:nvSpPr>
        <p:spPr>
          <a:xfrm>
            <a:off x="1057697" y="5474810"/>
            <a:ext cx="5892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" name="Google Shape;1335;g60be7dcf1c_0_242">
            <a:extLst>
              <a:ext uri="{FF2B5EF4-FFF2-40B4-BE49-F238E27FC236}">
                <a16:creationId xmlns:a16="http://schemas.microsoft.com/office/drawing/2014/main" id="{46192159-8A7C-D704-94EA-9B175107C8A9}"/>
              </a:ext>
            </a:extLst>
          </p:cNvPr>
          <p:cNvSpPr txBox="1"/>
          <p:nvPr/>
        </p:nvSpPr>
        <p:spPr>
          <a:xfrm>
            <a:off x="1901872" y="5474810"/>
            <a:ext cx="5892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" name="Google Shape;1336;g60be7dcf1c_0_242">
            <a:extLst>
              <a:ext uri="{FF2B5EF4-FFF2-40B4-BE49-F238E27FC236}">
                <a16:creationId xmlns:a16="http://schemas.microsoft.com/office/drawing/2014/main" id="{A01724A7-2B62-BF4B-9DF1-E20C47117795}"/>
              </a:ext>
            </a:extLst>
          </p:cNvPr>
          <p:cNvSpPr txBox="1"/>
          <p:nvPr/>
        </p:nvSpPr>
        <p:spPr>
          <a:xfrm>
            <a:off x="2746047" y="5474810"/>
            <a:ext cx="5892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" name="Google Shape;1337;g60be7dcf1c_0_242">
            <a:extLst>
              <a:ext uri="{FF2B5EF4-FFF2-40B4-BE49-F238E27FC236}">
                <a16:creationId xmlns:a16="http://schemas.microsoft.com/office/drawing/2014/main" id="{E9060F10-C3FB-D947-F1B7-CFEEC81807B6}"/>
              </a:ext>
            </a:extLst>
          </p:cNvPr>
          <p:cNvSpPr txBox="1"/>
          <p:nvPr/>
        </p:nvSpPr>
        <p:spPr>
          <a:xfrm>
            <a:off x="3563022" y="5474810"/>
            <a:ext cx="6279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" name="Google Shape;1338;g60be7dcf1c_0_242">
            <a:extLst>
              <a:ext uri="{FF2B5EF4-FFF2-40B4-BE49-F238E27FC236}">
                <a16:creationId xmlns:a16="http://schemas.microsoft.com/office/drawing/2014/main" id="{F3C4623D-52A7-3971-18AA-0E154EA8FC0F}"/>
              </a:ext>
            </a:extLst>
          </p:cNvPr>
          <p:cNvSpPr txBox="1"/>
          <p:nvPr/>
        </p:nvSpPr>
        <p:spPr>
          <a:xfrm>
            <a:off x="4418697" y="5474810"/>
            <a:ext cx="5892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" name="Google Shape;1339;g60be7dcf1c_0_242">
            <a:extLst>
              <a:ext uri="{FF2B5EF4-FFF2-40B4-BE49-F238E27FC236}">
                <a16:creationId xmlns:a16="http://schemas.microsoft.com/office/drawing/2014/main" id="{9D93198F-AC3E-CC6B-DF90-5FA6E39C0B39}"/>
              </a:ext>
            </a:extLst>
          </p:cNvPr>
          <p:cNvSpPr txBox="1"/>
          <p:nvPr/>
        </p:nvSpPr>
        <p:spPr>
          <a:xfrm>
            <a:off x="5235672" y="5474810"/>
            <a:ext cx="5892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6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" name="Google Shape;1340;g60be7dcf1c_0_242">
            <a:extLst>
              <a:ext uri="{FF2B5EF4-FFF2-40B4-BE49-F238E27FC236}">
                <a16:creationId xmlns:a16="http://schemas.microsoft.com/office/drawing/2014/main" id="{9FAE8BE4-36D4-F17D-3F43-14E32F2B628C}"/>
              </a:ext>
            </a:extLst>
          </p:cNvPr>
          <p:cNvSpPr txBox="1"/>
          <p:nvPr/>
        </p:nvSpPr>
        <p:spPr>
          <a:xfrm>
            <a:off x="6091347" y="5474810"/>
            <a:ext cx="5505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7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" name="Google Shape;1341;g60be7dcf1c_0_242">
            <a:extLst>
              <a:ext uri="{FF2B5EF4-FFF2-40B4-BE49-F238E27FC236}">
                <a16:creationId xmlns:a16="http://schemas.microsoft.com/office/drawing/2014/main" id="{05C2A439-B10B-5E9C-1F54-A25B65D650E4}"/>
              </a:ext>
            </a:extLst>
          </p:cNvPr>
          <p:cNvSpPr txBox="1"/>
          <p:nvPr/>
        </p:nvSpPr>
        <p:spPr>
          <a:xfrm>
            <a:off x="6908322" y="5452285"/>
            <a:ext cx="5892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" name="Freeform 8">
            <a:extLst>
              <a:ext uri="{FF2B5EF4-FFF2-40B4-BE49-F238E27FC236}">
                <a16:creationId xmlns:a16="http://schemas.microsoft.com/office/drawing/2014/main" id="{327650D5-A192-C2EC-6713-256C19C13D87}"/>
              </a:ext>
            </a:extLst>
          </p:cNvPr>
          <p:cNvSpPr/>
          <p:nvPr/>
        </p:nvSpPr>
        <p:spPr>
          <a:xfrm>
            <a:off x="1681604" y="1949856"/>
            <a:ext cx="5468558" cy="1207677"/>
          </a:xfrm>
          <a:custGeom>
            <a:avLst/>
            <a:gdLst>
              <a:gd name="connsiteX0" fmla="*/ 0 w 2651765"/>
              <a:gd name="connsiteY0" fmla="*/ 368262 h 2209528"/>
              <a:gd name="connsiteX1" fmla="*/ 368262 w 2651765"/>
              <a:gd name="connsiteY1" fmla="*/ 0 h 2209528"/>
              <a:gd name="connsiteX2" fmla="*/ 2283503 w 2651765"/>
              <a:gd name="connsiteY2" fmla="*/ 0 h 2209528"/>
              <a:gd name="connsiteX3" fmla="*/ 2651765 w 2651765"/>
              <a:gd name="connsiteY3" fmla="*/ 368262 h 2209528"/>
              <a:gd name="connsiteX4" fmla="*/ 2651765 w 2651765"/>
              <a:gd name="connsiteY4" fmla="*/ 1841266 h 2209528"/>
              <a:gd name="connsiteX5" fmla="*/ 2283503 w 2651765"/>
              <a:gd name="connsiteY5" fmla="*/ 2209528 h 2209528"/>
              <a:gd name="connsiteX6" fmla="*/ 368262 w 2651765"/>
              <a:gd name="connsiteY6" fmla="*/ 2209528 h 2209528"/>
              <a:gd name="connsiteX7" fmla="*/ 0 w 2651765"/>
              <a:gd name="connsiteY7" fmla="*/ 1841266 h 2209528"/>
              <a:gd name="connsiteX8" fmla="*/ 0 w 2651765"/>
              <a:gd name="connsiteY8" fmla="*/ 368262 h 2209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51765" h="2209528">
                <a:moveTo>
                  <a:pt x="0" y="368262"/>
                </a:moveTo>
                <a:cubicBezTo>
                  <a:pt x="0" y="164877"/>
                  <a:pt x="164877" y="0"/>
                  <a:pt x="368262" y="0"/>
                </a:cubicBezTo>
                <a:lnTo>
                  <a:pt x="2283503" y="0"/>
                </a:lnTo>
                <a:cubicBezTo>
                  <a:pt x="2486888" y="0"/>
                  <a:pt x="2651765" y="164877"/>
                  <a:pt x="2651765" y="368262"/>
                </a:cubicBezTo>
                <a:lnTo>
                  <a:pt x="2651765" y="1841266"/>
                </a:lnTo>
                <a:cubicBezTo>
                  <a:pt x="2651765" y="2044651"/>
                  <a:pt x="2486888" y="2209528"/>
                  <a:pt x="2283503" y="2209528"/>
                </a:cubicBezTo>
                <a:lnTo>
                  <a:pt x="368262" y="2209528"/>
                </a:lnTo>
                <a:cubicBezTo>
                  <a:pt x="164877" y="2209528"/>
                  <a:pt x="0" y="2044651"/>
                  <a:pt x="0" y="1841266"/>
                </a:cubicBezTo>
                <a:lnTo>
                  <a:pt x="0" y="368262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48830" tIns="248830" rIns="248830" bIns="248830" numCol="1" spcCol="1270" anchor="ctr" anchorCtr="0">
            <a:noAutofit/>
          </a:bodyPr>
          <a:lstStyle/>
          <a:p>
            <a:pPr algn="ctr"/>
            <a:endParaRPr lang="de-DE" sz="1800" b="1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225582B-BB52-4698-BE3D-90732B151217}"/>
              </a:ext>
            </a:extLst>
          </p:cNvPr>
          <p:cNvCxnSpPr/>
          <p:nvPr/>
        </p:nvCxnSpPr>
        <p:spPr>
          <a:xfrm flipV="1">
            <a:off x="1391672" y="3194332"/>
            <a:ext cx="825190" cy="9697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800DDEB-BDCA-C79B-8BA4-576B1E4AD91B}"/>
              </a:ext>
            </a:extLst>
          </p:cNvPr>
          <p:cNvCxnSpPr>
            <a:cxnSpLocks/>
          </p:cNvCxnSpPr>
          <p:nvPr/>
        </p:nvCxnSpPr>
        <p:spPr>
          <a:xfrm flipV="1">
            <a:off x="2216862" y="3194332"/>
            <a:ext cx="347918" cy="9697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9A25EFE-038B-3A49-7761-C0AF25AC0D1A}"/>
              </a:ext>
            </a:extLst>
          </p:cNvPr>
          <p:cNvCxnSpPr>
            <a:cxnSpLocks/>
          </p:cNvCxnSpPr>
          <p:nvPr/>
        </p:nvCxnSpPr>
        <p:spPr>
          <a:xfrm flipV="1">
            <a:off x="3042052" y="3194332"/>
            <a:ext cx="138276" cy="9697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52158D5-AD16-462D-9A77-144568273E18}"/>
              </a:ext>
            </a:extLst>
          </p:cNvPr>
          <p:cNvCxnSpPr>
            <a:cxnSpLocks/>
          </p:cNvCxnSpPr>
          <p:nvPr/>
        </p:nvCxnSpPr>
        <p:spPr>
          <a:xfrm flipV="1">
            <a:off x="3827099" y="3157533"/>
            <a:ext cx="55142" cy="10065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1BE3BB7A-EF52-23AB-1543-15DAA9B6A182}"/>
              </a:ext>
            </a:extLst>
          </p:cNvPr>
          <p:cNvCxnSpPr>
            <a:cxnSpLocks/>
          </p:cNvCxnSpPr>
          <p:nvPr/>
        </p:nvCxnSpPr>
        <p:spPr>
          <a:xfrm flipH="1" flipV="1">
            <a:off x="4634447" y="3157533"/>
            <a:ext cx="75828" cy="10065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2CAA393D-7C12-6FA6-872C-CFB83DDC9759}"/>
              </a:ext>
            </a:extLst>
          </p:cNvPr>
          <p:cNvCxnSpPr>
            <a:cxnSpLocks/>
          </p:cNvCxnSpPr>
          <p:nvPr/>
        </p:nvCxnSpPr>
        <p:spPr>
          <a:xfrm flipH="1" flipV="1">
            <a:off x="5249995" y="3157533"/>
            <a:ext cx="346440" cy="10433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00F7914B-1D01-6315-7D35-00BA2A2FB6E7}"/>
              </a:ext>
            </a:extLst>
          </p:cNvPr>
          <p:cNvCxnSpPr>
            <a:cxnSpLocks/>
          </p:cNvCxnSpPr>
          <p:nvPr/>
        </p:nvCxnSpPr>
        <p:spPr>
          <a:xfrm flipH="1" flipV="1">
            <a:off x="6040241" y="3150648"/>
            <a:ext cx="346440" cy="10433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DFDF7357-0452-3D6A-724C-7394DF72C4AE}"/>
              </a:ext>
            </a:extLst>
          </p:cNvPr>
          <p:cNvCxnSpPr>
            <a:cxnSpLocks/>
          </p:cNvCxnSpPr>
          <p:nvPr/>
        </p:nvCxnSpPr>
        <p:spPr>
          <a:xfrm flipH="1" flipV="1">
            <a:off x="6548750" y="3157534"/>
            <a:ext cx="666828" cy="103649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DC187A99-C1F0-57D7-72E9-3EF5440E7C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4641" y="2293369"/>
            <a:ext cx="523460" cy="681329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D5F5083D-7BDE-C687-CCBE-DF3CAF4FDB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7695" y="2298926"/>
            <a:ext cx="523460" cy="681329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1CFF9666-5BBF-94CA-09AE-7FC7B74100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9731" y="2298926"/>
            <a:ext cx="523460" cy="681329"/>
          </a:xfrm>
          <a:prstGeom prst="rect">
            <a:avLst/>
          </a:prstGeom>
        </p:spPr>
      </p:pic>
      <p:sp>
        <p:nvSpPr>
          <p:cNvPr id="53" name="Google Shape;1534;g60be7dcf1c_0_434">
            <a:extLst>
              <a:ext uri="{FF2B5EF4-FFF2-40B4-BE49-F238E27FC236}">
                <a16:creationId xmlns:a16="http://schemas.microsoft.com/office/drawing/2014/main" id="{76A403E2-C005-716E-056B-84A1F90B4F57}"/>
              </a:ext>
            </a:extLst>
          </p:cNvPr>
          <p:cNvSpPr txBox="1"/>
          <p:nvPr/>
        </p:nvSpPr>
        <p:spPr>
          <a:xfrm>
            <a:off x="4523076" y="2373168"/>
            <a:ext cx="2561934" cy="471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de-DE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…</a:t>
            </a: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de-DE"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4" name="Google Shape;1534;g60be7dcf1c_0_434">
            <a:extLst>
              <a:ext uri="{FF2B5EF4-FFF2-40B4-BE49-F238E27FC236}">
                <a16:creationId xmlns:a16="http://schemas.microsoft.com/office/drawing/2014/main" id="{24B66088-A60E-E802-60EB-18678649266B}"/>
              </a:ext>
            </a:extLst>
          </p:cNvPr>
          <p:cNvSpPr txBox="1"/>
          <p:nvPr/>
        </p:nvSpPr>
        <p:spPr>
          <a:xfrm>
            <a:off x="2776778" y="1913570"/>
            <a:ext cx="771665" cy="377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de-DE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S1</a:t>
            </a:r>
            <a:endParaRPr lang="de-DE"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5" name="Google Shape;1534;g60be7dcf1c_0_434">
            <a:extLst>
              <a:ext uri="{FF2B5EF4-FFF2-40B4-BE49-F238E27FC236}">
                <a16:creationId xmlns:a16="http://schemas.microsoft.com/office/drawing/2014/main" id="{65108DF7-9EC3-0B6A-361D-FBA008772D3C}"/>
              </a:ext>
            </a:extLst>
          </p:cNvPr>
          <p:cNvSpPr txBox="1"/>
          <p:nvPr/>
        </p:nvSpPr>
        <p:spPr>
          <a:xfrm>
            <a:off x="3408766" y="1905308"/>
            <a:ext cx="771665" cy="377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de-DE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S2</a:t>
            </a:r>
            <a:endParaRPr lang="de-DE"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6" name="Google Shape;1534;g60be7dcf1c_0_434">
            <a:extLst>
              <a:ext uri="{FF2B5EF4-FFF2-40B4-BE49-F238E27FC236}">
                <a16:creationId xmlns:a16="http://schemas.microsoft.com/office/drawing/2014/main" id="{ADA728A3-D54D-719F-0CC8-6600BCCBF0E5}"/>
              </a:ext>
            </a:extLst>
          </p:cNvPr>
          <p:cNvSpPr txBox="1"/>
          <p:nvPr/>
        </p:nvSpPr>
        <p:spPr>
          <a:xfrm>
            <a:off x="5756299" y="1898723"/>
            <a:ext cx="771665" cy="377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de-DE" sz="1600" b="1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Sk</a:t>
            </a:r>
            <a:endParaRPr lang="de-DE"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8136D0-5993-F895-A733-1507380EBFC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42</a:t>
            </a:fld>
            <a:endParaRPr lang="de-DE"/>
          </a:p>
        </p:txBody>
      </p:sp>
      <p:sp>
        <p:nvSpPr>
          <p:cNvPr id="4" name="Google Shape;1580;g60be7dcf1c_0_473">
            <a:extLst>
              <a:ext uri="{FF2B5EF4-FFF2-40B4-BE49-F238E27FC236}">
                <a16:creationId xmlns:a16="http://schemas.microsoft.com/office/drawing/2014/main" id="{5541C6F6-29F4-DF27-9726-EB17F48DECB4}"/>
              </a:ext>
            </a:extLst>
          </p:cNvPr>
          <p:cNvSpPr txBox="1"/>
          <p:nvPr/>
        </p:nvSpPr>
        <p:spPr>
          <a:xfrm>
            <a:off x="-1" y="539999"/>
            <a:ext cx="8677835" cy="919873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6" name="Google Shape;1810;g60be7dcf1c_0_698">
            <a:extLst>
              <a:ext uri="{FF2B5EF4-FFF2-40B4-BE49-F238E27FC236}">
                <a16:creationId xmlns:a16="http://schemas.microsoft.com/office/drawing/2014/main" id="{8100C019-7C5C-008C-49A2-83A3C688CCB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3074" y="342104"/>
            <a:ext cx="7237925" cy="1080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l">
              <a:buSzPts val="1100"/>
            </a:pPr>
            <a:r>
              <a:rPr lang="en-GB" sz="2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Reconfigurable </a:t>
            </a:r>
            <a:r>
              <a:rPr lang="en-GB" sz="2000" dirty="0" err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Datacenters</a:t>
            </a:r>
            <a:r>
              <a:rPr lang="en-GB" sz="2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Based on OCSs:</a:t>
            </a:r>
            <a:br>
              <a:rPr lang="en-GB" sz="2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36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It’s about Dynamic Matchings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F66243F-C06D-1648-6E81-399F7D483B08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17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9" name="Google Shape;1534;g60be7dcf1c_0_434">
            <a:extLst>
              <a:ext uri="{FF2B5EF4-FFF2-40B4-BE49-F238E27FC236}">
                <a16:creationId xmlns:a16="http://schemas.microsoft.com/office/drawing/2014/main" id="{9F57CECF-ADB8-E876-92A2-CCC689481EAB}"/>
              </a:ext>
            </a:extLst>
          </p:cNvPr>
          <p:cNvSpPr txBox="1"/>
          <p:nvPr/>
        </p:nvSpPr>
        <p:spPr>
          <a:xfrm>
            <a:off x="1229247" y="5935370"/>
            <a:ext cx="7557300" cy="786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⇢ Recall: each OCS provides a </a:t>
            </a:r>
            <a:r>
              <a:rPr lang="en-GB" sz="1600" b="1" i="1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matching</a:t>
            </a:r>
          </a:p>
          <a:p>
            <a:pPr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⇢ aka. </a:t>
            </a:r>
            <a:r>
              <a:rPr lang="en-GB" sz="1600" dirty="0" err="1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ToR</a:t>
            </a:r>
            <a:r>
              <a:rPr lang="en-GB" sz="1600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-Matching-</a:t>
            </a:r>
            <a:r>
              <a:rPr lang="en-GB" sz="1600" dirty="0" err="1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ToR</a:t>
            </a:r>
            <a:r>
              <a:rPr lang="en-GB" sz="1600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 (TMT) model</a:t>
            </a:r>
            <a:endParaRPr lang="en-GB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en-GB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87049442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6">
          <a:extLst>
            <a:ext uri="{FF2B5EF4-FFF2-40B4-BE49-F238E27FC236}">
              <a16:creationId xmlns:a16="http://schemas.microsoft.com/office/drawing/2014/main" id="{9CE7FDDC-C47D-9C2B-6D6A-CAF2DC6CB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333;g60be7dcf1c_0_242">
            <a:extLst>
              <a:ext uri="{FF2B5EF4-FFF2-40B4-BE49-F238E27FC236}">
                <a16:creationId xmlns:a16="http://schemas.microsoft.com/office/drawing/2014/main" id="{3741D351-634A-12F0-241C-D6F9366CA0C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55376" b="19271"/>
          <a:stretch/>
        </p:blipFill>
        <p:spPr>
          <a:xfrm>
            <a:off x="709497" y="4164110"/>
            <a:ext cx="7134774" cy="1356377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1334;g60be7dcf1c_0_242">
            <a:extLst>
              <a:ext uri="{FF2B5EF4-FFF2-40B4-BE49-F238E27FC236}">
                <a16:creationId xmlns:a16="http://schemas.microsoft.com/office/drawing/2014/main" id="{F004A72C-895A-7222-DB3A-80A898DFA499}"/>
              </a:ext>
            </a:extLst>
          </p:cNvPr>
          <p:cNvSpPr txBox="1"/>
          <p:nvPr/>
        </p:nvSpPr>
        <p:spPr>
          <a:xfrm>
            <a:off x="1057697" y="5474810"/>
            <a:ext cx="5892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" name="Google Shape;1335;g60be7dcf1c_0_242">
            <a:extLst>
              <a:ext uri="{FF2B5EF4-FFF2-40B4-BE49-F238E27FC236}">
                <a16:creationId xmlns:a16="http://schemas.microsoft.com/office/drawing/2014/main" id="{DCEA0915-4E75-A6BC-75D5-7E1AB7A3496A}"/>
              </a:ext>
            </a:extLst>
          </p:cNvPr>
          <p:cNvSpPr txBox="1"/>
          <p:nvPr/>
        </p:nvSpPr>
        <p:spPr>
          <a:xfrm>
            <a:off x="1901872" y="5474810"/>
            <a:ext cx="5892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" name="Google Shape;1336;g60be7dcf1c_0_242">
            <a:extLst>
              <a:ext uri="{FF2B5EF4-FFF2-40B4-BE49-F238E27FC236}">
                <a16:creationId xmlns:a16="http://schemas.microsoft.com/office/drawing/2014/main" id="{F88F5B39-3869-71D8-14AB-A1CC3A2AA041}"/>
              </a:ext>
            </a:extLst>
          </p:cNvPr>
          <p:cNvSpPr txBox="1"/>
          <p:nvPr/>
        </p:nvSpPr>
        <p:spPr>
          <a:xfrm>
            <a:off x="2746047" y="5474810"/>
            <a:ext cx="5892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" name="Google Shape;1337;g60be7dcf1c_0_242">
            <a:extLst>
              <a:ext uri="{FF2B5EF4-FFF2-40B4-BE49-F238E27FC236}">
                <a16:creationId xmlns:a16="http://schemas.microsoft.com/office/drawing/2014/main" id="{EA0C3C6A-6FD9-98AD-2DD1-C41846A407C7}"/>
              </a:ext>
            </a:extLst>
          </p:cNvPr>
          <p:cNvSpPr txBox="1"/>
          <p:nvPr/>
        </p:nvSpPr>
        <p:spPr>
          <a:xfrm>
            <a:off x="3563022" y="5474810"/>
            <a:ext cx="6279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" name="Google Shape;1338;g60be7dcf1c_0_242">
            <a:extLst>
              <a:ext uri="{FF2B5EF4-FFF2-40B4-BE49-F238E27FC236}">
                <a16:creationId xmlns:a16="http://schemas.microsoft.com/office/drawing/2014/main" id="{049391B5-57CD-59B4-A6BA-EA18C81C1C48}"/>
              </a:ext>
            </a:extLst>
          </p:cNvPr>
          <p:cNvSpPr txBox="1"/>
          <p:nvPr/>
        </p:nvSpPr>
        <p:spPr>
          <a:xfrm>
            <a:off x="4418697" y="5474810"/>
            <a:ext cx="5892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" name="Google Shape;1339;g60be7dcf1c_0_242">
            <a:extLst>
              <a:ext uri="{FF2B5EF4-FFF2-40B4-BE49-F238E27FC236}">
                <a16:creationId xmlns:a16="http://schemas.microsoft.com/office/drawing/2014/main" id="{E1E4391E-12D2-4DA9-E34F-F2939474719F}"/>
              </a:ext>
            </a:extLst>
          </p:cNvPr>
          <p:cNvSpPr txBox="1"/>
          <p:nvPr/>
        </p:nvSpPr>
        <p:spPr>
          <a:xfrm>
            <a:off x="5235672" y="5474810"/>
            <a:ext cx="5892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6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" name="Google Shape;1340;g60be7dcf1c_0_242">
            <a:extLst>
              <a:ext uri="{FF2B5EF4-FFF2-40B4-BE49-F238E27FC236}">
                <a16:creationId xmlns:a16="http://schemas.microsoft.com/office/drawing/2014/main" id="{E3A01F61-F1C4-18C3-8B0C-B8BCFC9202F2}"/>
              </a:ext>
            </a:extLst>
          </p:cNvPr>
          <p:cNvSpPr txBox="1"/>
          <p:nvPr/>
        </p:nvSpPr>
        <p:spPr>
          <a:xfrm>
            <a:off x="6091347" y="5474810"/>
            <a:ext cx="5505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7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" name="Google Shape;1341;g60be7dcf1c_0_242">
            <a:extLst>
              <a:ext uri="{FF2B5EF4-FFF2-40B4-BE49-F238E27FC236}">
                <a16:creationId xmlns:a16="http://schemas.microsoft.com/office/drawing/2014/main" id="{203461C1-CEB5-03FB-3818-634DF6C5213F}"/>
              </a:ext>
            </a:extLst>
          </p:cNvPr>
          <p:cNvSpPr txBox="1"/>
          <p:nvPr/>
        </p:nvSpPr>
        <p:spPr>
          <a:xfrm>
            <a:off x="6908322" y="5452285"/>
            <a:ext cx="5892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" name="Freeform 8">
            <a:extLst>
              <a:ext uri="{FF2B5EF4-FFF2-40B4-BE49-F238E27FC236}">
                <a16:creationId xmlns:a16="http://schemas.microsoft.com/office/drawing/2014/main" id="{550CD9E1-AECD-9D1E-5AC4-D2B1699F8719}"/>
              </a:ext>
            </a:extLst>
          </p:cNvPr>
          <p:cNvSpPr/>
          <p:nvPr/>
        </p:nvSpPr>
        <p:spPr>
          <a:xfrm>
            <a:off x="1681604" y="1949856"/>
            <a:ext cx="5468558" cy="1207677"/>
          </a:xfrm>
          <a:custGeom>
            <a:avLst/>
            <a:gdLst>
              <a:gd name="connsiteX0" fmla="*/ 0 w 2651765"/>
              <a:gd name="connsiteY0" fmla="*/ 368262 h 2209528"/>
              <a:gd name="connsiteX1" fmla="*/ 368262 w 2651765"/>
              <a:gd name="connsiteY1" fmla="*/ 0 h 2209528"/>
              <a:gd name="connsiteX2" fmla="*/ 2283503 w 2651765"/>
              <a:gd name="connsiteY2" fmla="*/ 0 h 2209528"/>
              <a:gd name="connsiteX3" fmla="*/ 2651765 w 2651765"/>
              <a:gd name="connsiteY3" fmla="*/ 368262 h 2209528"/>
              <a:gd name="connsiteX4" fmla="*/ 2651765 w 2651765"/>
              <a:gd name="connsiteY4" fmla="*/ 1841266 h 2209528"/>
              <a:gd name="connsiteX5" fmla="*/ 2283503 w 2651765"/>
              <a:gd name="connsiteY5" fmla="*/ 2209528 h 2209528"/>
              <a:gd name="connsiteX6" fmla="*/ 368262 w 2651765"/>
              <a:gd name="connsiteY6" fmla="*/ 2209528 h 2209528"/>
              <a:gd name="connsiteX7" fmla="*/ 0 w 2651765"/>
              <a:gd name="connsiteY7" fmla="*/ 1841266 h 2209528"/>
              <a:gd name="connsiteX8" fmla="*/ 0 w 2651765"/>
              <a:gd name="connsiteY8" fmla="*/ 368262 h 2209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51765" h="2209528">
                <a:moveTo>
                  <a:pt x="0" y="368262"/>
                </a:moveTo>
                <a:cubicBezTo>
                  <a:pt x="0" y="164877"/>
                  <a:pt x="164877" y="0"/>
                  <a:pt x="368262" y="0"/>
                </a:cubicBezTo>
                <a:lnTo>
                  <a:pt x="2283503" y="0"/>
                </a:lnTo>
                <a:cubicBezTo>
                  <a:pt x="2486888" y="0"/>
                  <a:pt x="2651765" y="164877"/>
                  <a:pt x="2651765" y="368262"/>
                </a:cubicBezTo>
                <a:lnTo>
                  <a:pt x="2651765" y="1841266"/>
                </a:lnTo>
                <a:cubicBezTo>
                  <a:pt x="2651765" y="2044651"/>
                  <a:pt x="2486888" y="2209528"/>
                  <a:pt x="2283503" y="2209528"/>
                </a:cubicBezTo>
                <a:lnTo>
                  <a:pt x="368262" y="2209528"/>
                </a:lnTo>
                <a:cubicBezTo>
                  <a:pt x="164877" y="2209528"/>
                  <a:pt x="0" y="2044651"/>
                  <a:pt x="0" y="1841266"/>
                </a:cubicBezTo>
                <a:lnTo>
                  <a:pt x="0" y="368262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48830" tIns="248830" rIns="248830" bIns="248830" numCol="1" spcCol="1270" anchor="ctr" anchorCtr="0">
            <a:noAutofit/>
          </a:bodyPr>
          <a:lstStyle/>
          <a:p>
            <a:pPr algn="ctr"/>
            <a:endParaRPr lang="de-DE" sz="1800" b="1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7292A89-B8E7-4C1A-9D5D-292D1FB8597D}"/>
              </a:ext>
            </a:extLst>
          </p:cNvPr>
          <p:cNvCxnSpPr/>
          <p:nvPr/>
        </p:nvCxnSpPr>
        <p:spPr>
          <a:xfrm flipV="1">
            <a:off x="1391672" y="3194332"/>
            <a:ext cx="825190" cy="9697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9445E98-E9F4-51F8-24D0-85AEA0362F15}"/>
              </a:ext>
            </a:extLst>
          </p:cNvPr>
          <p:cNvCxnSpPr>
            <a:cxnSpLocks/>
          </p:cNvCxnSpPr>
          <p:nvPr/>
        </p:nvCxnSpPr>
        <p:spPr>
          <a:xfrm flipV="1">
            <a:off x="2216862" y="3194332"/>
            <a:ext cx="347918" cy="9697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46497DD-3B84-53BB-576D-A0521C155EB3}"/>
              </a:ext>
            </a:extLst>
          </p:cNvPr>
          <p:cNvCxnSpPr>
            <a:cxnSpLocks/>
          </p:cNvCxnSpPr>
          <p:nvPr/>
        </p:nvCxnSpPr>
        <p:spPr>
          <a:xfrm flipV="1">
            <a:off x="3042052" y="3194332"/>
            <a:ext cx="138276" cy="9697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455DC26-CBFB-6E92-0DF4-1B806260FF1D}"/>
              </a:ext>
            </a:extLst>
          </p:cNvPr>
          <p:cNvCxnSpPr>
            <a:cxnSpLocks/>
          </p:cNvCxnSpPr>
          <p:nvPr/>
        </p:nvCxnSpPr>
        <p:spPr>
          <a:xfrm flipV="1">
            <a:off x="3827099" y="3157533"/>
            <a:ext cx="55142" cy="10065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7611684-DBE4-6ABE-9108-68EE90896EC7}"/>
              </a:ext>
            </a:extLst>
          </p:cNvPr>
          <p:cNvCxnSpPr>
            <a:cxnSpLocks/>
          </p:cNvCxnSpPr>
          <p:nvPr/>
        </p:nvCxnSpPr>
        <p:spPr>
          <a:xfrm flipH="1" flipV="1">
            <a:off x="4634447" y="3157533"/>
            <a:ext cx="75828" cy="10065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882E101-D549-A165-F14C-C46FB2E069C8}"/>
              </a:ext>
            </a:extLst>
          </p:cNvPr>
          <p:cNvCxnSpPr>
            <a:cxnSpLocks/>
          </p:cNvCxnSpPr>
          <p:nvPr/>
        </p:nvCxnSpPr>
        <p:spPr>
          <a:xfrm flipH="1" flipV="1">
            <a:off x="5249995" y="3157533"/>
            <a:ext cx="346440" cy="10433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504A22BE-380D-3964-B942-AF5632B31AE7}"/>
              </a:ext>
            </a:extLst>
          </p:cNvPr>
          <p:cNvCxnSpPr>
            <a:cxnSpLocks/>
          </p:cNvCxnSpPr>
          <p:nvPr/>
        </p:nvCxnSpPr>
        <p:spPr>
          <a:xfrm flipH="1" flipV="1">
            <a:off x="6040241" y="3150648"/>
            <a:ext cx="346440" cy="10433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8C059C2B-84CC-CDC5-9DD1-6CEBDDA89010}"/>
              </a:ext>
            </a:extLst>
          </p:cNvPr>
          <p:cNvCxnSpPr>
            <a:cxnSpLocks/>
          </p:cNvCxnSpPr>
          <p:nvPr/>
        </p:nvCxnSpPr>
        <p:spPr>
          <a:xfrm flipH="1" flipV="1">
            <a:off x="6548750" y="3157534"/>
            <a:ext cx="666828" cy="103649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546BE9F7-4EEF-FA8C-4ADD-776202EDF4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4641" y="2293369"/>
            <a:ext cx="523460" cy="681329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F27915FF-227A-F3D2-6450-9D495AF87E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7695" y="2298926"/>
            <a:ext cx="523460" cy="681329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BB93AB35-DCF3-71CB-EF28-C32AC6A430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9731" y="2298926"/>
            <a:ext cx="523460" cy="681329"/>
          </a:xfrm>
          <a:prstGeom prst="rect">
            <a:avLst/>
          </a:prstGeom>
        </p:spPr>
      </p:pic>
      <p:sp>
        <p:nvSpPr>
          <p:cNvPr id="53" name="Google Shape;1534;g60be7dcf1c_0_434">
            <a:extLst>
              <a:ext uri="{FF2B5EF4-FFF2-40B4-BE49-F238E27FC236}">
                <a16:creationId xmlns:a16="http://schemas.microsoft.com/office/drawing/2014/main" id="{D38DFA75-3A9B-F1EA-BCD3-90E619D49D5C}"/>
              </a:ext>
            </a:extLst>
          </p:cNvPr>
          <p:cNvSpPr txBox="1"/>
          <p:nvPr/>
        </p:nvSpPr>
        <p:spPr>
          <a:xfrm>
            <a:off x="4523076" y="2373168"/>
            <a:ext cx="2561934" cy="471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de-DE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…</a:t>
            </a: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de-DE"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4" name="Google Shape;1534;g60be7dcf1c_0_434">
            <a:extLst>
              <a:ext uri="{FF2B5EF4-FFF2-40B4-BE49-F238E27FC236}">
                <a16:creationId xmlns:a16="http://schemas.microsoft.com/office/drawing/2014/main" id="{52560F9C-C8E8-2ADA-9C4E-B56F30ADB1E2}"/>
              </a:ext>
            </a:extLst>
          </p:cNvPr>
          <p:cNvSpPr txBox="1"/>
          <p:nvPr/>
        </p:nvSpPr>
        <p:spPr>
          <a:xfrm>
            <a:off x="2776778" y="1913570"/>
            <a:ext cx="771665" cy="377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de-DE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S1</a:t>
            </a:r>
            <a:endParaRPr lang="de-DE"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5" name="Google Shape;1534;g60be7dcf1c_0_434">
            <a:extLst>
              <a:ext uri="{FF2B5EF4-FFF2-40B4-BE49-F238E27FC236}">
                <a16:creationId xmlns:a16="http://schemas.microsoft.com/office/drawing/2014/main" id="{B0864CF4-26D1-5A87-9C0D-6B40BA245A7A}"/>
              </a:ext>
            </a:extLst>
          </p:cNvPr>
          <p:cNvSpPr txBox="1"/>
          <p:nvPr/>
        </p:nvSpPr>
        <p:spPr>
          <a:xfrm>
            <a:off x="3408766" y="1905308"/>
            <a:ext cx="771665" cy="377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de-DE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S2</a:t>
            </a:r>
            <a:endParaRPr lang="de-DE"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6" name="Google Shape;1534;g60be7dcf1c_0_434">
            <a:extLst>
              <a:ext uri="{FF2B5EF4-FFF2-40B4-BE49-F238E27FC236}">
                <a16:creationId xmlns:a16="http://schemas.microsoft.com/office/drawing/2014/main" id="{6CD8EBEB-5558-60A8-8A81-0084790F4B27}"/>
              </a:ext>
            </a:extLst>
          </p:cNvPr>
          <p:cNvSpPr txBox="1"/>
          <p:nvPr/>
        </p:nvSpPr>
        <p:spPr>
          <a:xfrm>
            <a:off x="5756299" y="1898723"/>
            <a:ext cx="771665" cy="377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de-DE" sz="1600" b="1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Sk</a:t>
            </a:r>
            <a:endParaRPr lang="de-DE"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4C189D-CD36-C6C2-F954-B4210FE3C96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43</a:t>
            </a:fld>
            <a:endParaRPr lang="de-DE"/>
          </a:p>
        </p:txBody>
      </p:sp>
      <p:sp>
        <p:nvSpPr>
          <p:cNvPr id="4" name="Google Shape;1580;g60be7dcf1c_0_473">
            <a:extLst>
              <a:ext uri="{FF2B5EF4-FFF2-40B4-BE49-F238E27FC236}">
                <a16:creationId xmlns:a16="http://schemas.microsoft.com/office/drawing/2014/main" id="{555F4DC5-27ED-1E1B-0826-46F328725BC3}"/>
              </a:ext>
            </a:extLst>
          </p:cNvPr>
          <p:cNvSpPr txBox="1"/>
          <p:nvPr/>
        </p:nvSpPr>
        <p:spPr>
          <a:xfrm>
            <a:off x="-1" y="539999"/>
            <a:ext cx="8677835" cy="919873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6" name="Google Shape;1810;g60be7dcf1c_0_698">
            <a:extLst>
              <a:ext uri="{FF2B5EF4-FFF2-40B4-BE49-F238E27FC236}">
                <a16:creationId xmlns:a16="http://schemas.microsoft.com/office/drawing/2014/main" id="{113DF0D9-30A1-2DBB-12E0-A780D2BA1C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3074" y="342104"/>
            <a:ext cx="7237925" cy="1080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l">
              <a:buSzPts val="1100"/>
            </a:pPr>
            <a:r>
              <a:rPr lang="en-GB" sz="2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Reconfigurable </a:t>
            </a:r>
            <a:r>
              <a:rPr lang="en-GB" sz="2000" dirty="0" err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Datacenters</a:t>
            </a:r>
            <a:r>
              <a:rPr lang="en-GB" sz="2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Based on OCSs:</a:t>
            </a:r>
            <a:br>
              <a:rPr lang="en-GB" sz="2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36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It’s about Dynamic Matchings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4893D4B5-6322-390D-A0B5-ED0945ABB1F0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17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9" name="Google Shape;1534;g60be7dcf1c_0_434">
            <a:extLst>
              <a:ext uri="{FF2B5EF4-FFF2-40B4-BE49-F238E27FC236}">
                <a16:creationId xmlns:a16="http://schemas.microsoft.com/office/drawing/2014/main" id="{89C1BC41-3A7F-220F-AD1D-61DCEB5857B9}"/>
              </a:ext>
            </a:extLst>
          </p:cNvPr>
          <p:cNvSpPr txBox="1"/>
          <p:nvPr/>
        </p:nvSpPr>
        <p:spPr>
          <a:xfrm>
            <a:off x="1229247" y="5935370"/>
            <a:ext cx="7557300" cy="786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⇢ It’s </a:t>
            </a:r>
            <a:r>
              <a:rPr lang="en-GB" sz="1600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dynamic</a:t>
            </a: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: Each OCS Si can </a:t>
            </a:r>
            <a:r>
              <a:rPr lang="en-GB" sz="1600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reconfigure </a:t>
            </a: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over time</a:t>
            </a:r>
            <a:endParaRPr lang="en-GB" sz="1600" dirty="0">
              <a:solidFill>
                <a:srgbClr val="CC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⇢ Two </a:t>
            </a:r>
            <a:r>
              <a:rPr lang="en-GB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flavors</a:t>
            </a: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GB" sz="1600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demand-aware </a:t>
            </a: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vs </a:t>
            </a:r>
            <a:r>
              <a:rPr lang="en-GB" sz="1600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demand-oblivious </a:t>
            </a:r>
            <a:r>
              <a:rPr lang="en-GB" sz="1600" dirty="0">
                <a:solidFill>
                  <a:schemeClr val="tx1"/>
                </a:solidFill>
                <a:latin typeface="Consolas"/>
                <a:ea typeface="Consolas"/>
                <a:cs typeface="Consolas"/>
                <a:sym typeface="Consolas"/>
              </a:rPr>
              <a:t>(periodic)</a:t>
            </a:r>
          </a:p>
          <a:p>
            <a:pPr lvl="0">
              <a:lnSpc>
                <a:spcPct val="115000"/>
              </a:lnSpc>
            </a:pPr>
            <a:endParaRPr lang="en-GB" sz="1600" dirty="0">
              <a:solidFill>
                <a:schemeClr val="tx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96774648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6">
          <a:extLst>
            <a:ext uri="{FF2B5EF4-FFF2-40B4-BE49-F238E27FC236}">
              <a16:creationId xmlns:a16="http://schemas.microsoft.com/office/drawing/2014/main" id="{DB18EA76-89AE-E39A-6F18-DD4AD112B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1534;g60be7dcf1c_0_434">
            <a:extLst>
              <a:ext uri="{FF2B5EF4-FFF2-40B4-BE49-F238E27FC236}">
                <a16:creationId xmlns:a16="http://schemas.microsoft.com/office/drawing/2014/main" id="{6ADFA91B-32BA-16E0-18F6-08133374DE5C}"/>
              </a:ext>
            </a:extLst>
          </p:cNvPr>
          <p:cNvSpPr txBox="1"/>
          <p:nvPr/>
        </p:nvSpPr>
        <p:spPr>
          <a:xfrm>
            <a:off x="1170293" y="1700718"/>
            <a:ext cx="6281669" cy="598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de-DE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Demand-oblivious: OCS provides </a:t>
            </a:r>
            <a:r>
              <a:rPr lang="en-GB" sz="1600" b="1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periodic</a:t>
            </a:r>
            <a:r>
              <a:rPr lang="de-DE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matchings</a:t>
            </a: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de-DE"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441BA7B-2110-698D-5D87-1DA85EC85A3C}"/>
              </a:ext>
            </a:extLst>
          </p:cNvPr>
          <p:cNvCxnSpPr/>
          <p:nvPr/>
        </p:nvCxnSpPr>
        <p:spPr>
          <a:xfrm>
            <a:off x="1520205" y="3936357"/>
            <a:ext cx="52863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Google Shape;1534;g60be7dcf1c_0_434">
            <a:extLst>
              <a:ext uri="{FF2B5EF4-FFF2-40B4-BE49-F238E27FC236}">
                <a16:creationId xmlns:a16="http://schemas.microsoft.com/office/drawing/2014/main" id="{81CE466E-F4F4-B6A8-5DDA-22CF4CE4E9CF}"/>
              </a:ext>
            </a:extLst>
          </p:cNvPr>
          <p:cNvSpPr txBox="1"/>
          <p:nvPr/>
        </p:nvSpPr>
        <p:spPr>
          <a:xfrm>
            <a:off x="6952721" y="3709069"/>
            <a:ext cx="749210" cy="598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time</a:t>
            </a: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de-DE"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" name="Google Shape;1534;g60be7dcf1c_0_434">
            <a:extLst>
              <a:ext uri="{FF2B5EF4-FFF2-40B4-BE49-F238E27FC236}">
                <a16:creationId xmlns:a16="http://schemas.microsoft.com/office/drawing/2014/main" id="{024D8F60-8CE9-6787-96B5-57EFC51155F8}"/>
              </a:ext>
            </a:extLst>
          </p:cNvPr>
          <p:cNvSpPr txBox="1"/>
          <p:nvPr/>
        </p:nvSpPr>
        <p:spPr>
          <a:xfrm>
            <a:off x="1809224" y="2501807"/>
            <a:ext cx="482510" cy="363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M1</a:t>
            </a: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de-DE"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28CC667-7840-DD17-9258-A12A3CEC3990}"/>
              </a:ext>
            </a:extLst>
          </p:cNvPr>
          <p:cNvGrpSpPr/>
          <p:nvPr/>
        </p:nvGrpSpPr>
        <p:grpSpPr>
          <a:xfrm>
            <a:off x="1646415" y="2868120"/>
            <a:ext cx="747712" cy="969811"/>
            <a:chOff x="1646415" y="3352613"/>
            <a:chExt cx="747712" cy="96981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41B6D0A-D0B0-F36F-FCCF-8F5F12DAAD7F}"/>
                </a:ext>
              </a:extLst>
            </p:cNvPr>
            <p:cNvCxnSpPr>
              <a:cxnSpLocks/>
              <a:endCxn id="45" idx="2"/>
            </p:cNvCxnSpPr>
            <p:nvPr/>
          </p:nvCxnSpPr>
          <p:spPr>
            <a:xfrm>
              <a:off x="1696816" y="3483048"/>
              <a:ext cx="540149" cy="248268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41736E13-7535-78AF-BF5F-4D9D2283566A}"/>
                </a:ext>
              </a:extLst>
            </p:cNvPr>
            <p:cNvCxnSpPr>
              <a:cxnSpLocks/>
            </p:cNvCxnSpPr>
            <p:nvPr/>
          </p:nvCxnSpPr>
          <p:spPr>
            <a:xfrm>
              <a:off x="1738290" y="3721812"/>
              <a:ext cx="540149" cy="24826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C20B720-FDC2-497A-DF36-81C752C57015}"/>
                </a:ext>
              </a:extLst>
            </p:cNvPr>
            <p:cNvCxnSpPr>
              <a:cxnSpLocks/>
            </p:cNvCxnSpPr>
            <p:nvPr/>
          </p:nvCxnSpPr>
          <p:spPr>
            <a:xfrm>
              <a:off x="1750197" y="3965703"/>
              <a:ext cx="540149" cy="24826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3B5A99D9-620E-BD91-3FBD-B0B6DA9B999C}"/>
                </a:ext>
              </a:extLst>
            </p:cNvPr>
            <p:cNvCxnSpPr>
              <a:cxnSpLocks/>
              <a:stCxn id="42" idx="3"/>
              <a:endCxn id="43" idx="7"/>
            </p:cNvCxnSpPr>
            <p:nvPr/>
          </p:nvCxnSpPr>
          <p:spPr>
            <a:xfrm flipV="1">
              <a:off x="1669431" y="3448393"/>
              <a:ext cx="701680" cy="80418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64CA056-3456-8876-5953-B33BB0FE26F5}"/>
                </a:ext>
              </a:extLst>
            </p:cNvPr>
            <p:cNvSpPr/>
            <p:nvPr/>
          </p:nvSpPr>
          <p:spPr>
            <a:xfrm>
              <a:off x="1724996" y="3352613"/>
              <a:ext cx="566738" cy="96981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3F01AE30-9687-303A-C85C-8D31B0B37820}"/>
                </a:ext>
              </a:extLst>
            </p:cNvPr>
            <p:cNvSpPr/>
            <p:nvPr/>
          </p:nvSpPr>
          <p:spPr>
            <a:xfrm>
              <a:off x="1646415" y="3423161"/>
              <a:ext cx="157162" cy="1722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BF27084C-AC47-0B5C-348C-0A4B235E0EFC}"/>
                </a:ext>
              </a:extLst>
            </p:cNvPr>
            <p:cNvSpPr/>
            <p:nvPr/>
          </p:nvSpPr>
          <p:spPr>
            <a:xfrm>
              <a:off x="1646415" y="3645168"/>
              <a:ext cx="157162" cy="1722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75CBFD4F-F18C-B794-E174-13F43D2DEEB6}"/>
                </a:ext>
              </a:extLst>
            </p:cNvPr>
            <p:cNvSpPr/>
            <p:nvPr/>
          </p:nvSpPr>
          <p:spPr>
            <a:xfrm>
              <a:off x="1646415" y="3883511"/>
              <a:ext cx="157162" cy="1722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86CE4374-2BF1-E088-92EB-AC5D995E301B}"/>
                </a:ext>
              </a:extLst>
            </p:cNvPr>
            <p:cNvSpPr/>
            <p:nvPr/>
          </p:nvSpPr>
          <p:spPr>
            <a:xfrm>
              <a:off x="1646415" y="4105518"/>
              <a:ext cx="157162" cy="1722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07E154B8-DA91-C9AD-BCB6-2943B1ACEF97}"/>
                </a:ext>
              </a:extLst>
            </p:cNvPr>
            <p:cNvSpPr/>
            <p:nvPr/>
          </p:nvSpPr>
          <p:spPr>
            <a:xfrm>
              <a:off x="2236965" y="3423161"/>
              <a:ext cx="157162" cy="1722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E99F6BDE-4AF1-9B87-1633-345A8228568D}"/>
                </a:ext>
              </a:extLst>
            </p:cNvPr>
            <p:cNvSpPr/>
            <p:nvPr/>
          </p:nvSpPr>
          <p:spPr>
            <a:xfrm>
              <a:off x="2236965" y="3645168"/>
              <a:ext cx="157162" cy="1722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90A2E0B1-0E7E-20E4-53EF-06A08DE8D8A7}"/>
                </a:ext>
              </a:extLst>
            </p:cNvPr>
            <p:cNvSpPr/>
            <p:nvPr/>
          </p:nvSpPr>
          <p:spPr>
            <a:xfrm>
              <a:off x="2236965" y="3883511"/>
              <a:ext cx="157162" cy="1722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1AB0B895-3A0E-47D8-2725-DA732BF7B4C6}"/>
                </a:ext>
              </a:extLst>
            </p:cNvPr>
            <p:cNvSpPr/>
            <p:nvPr/>
          </p:nvSpPr>
          <p:spPr>
            <a:xfrm>
              <a:off x="2236965" y="4105518"/>
              <a:ext cx="157162" cy="1722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</p:grp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EAA6DCC7-96E6-E33A-53DA-D59A384ABCE8}"/>
              </a:ext>
            </a:extLst>
          </p:cNvPr>
          <p:cNvCxnSpPr>
            <a:cxnSpLocks/>
            <a:endCxn id="79" idx="1"/>
          </p:cNvCxnSpPr>
          <p:nvPr/>
        </p:nvCxnSpPr>
        <p:spPr>
          <a:xfrm>
            <a:off x="2554801" y="3228175"/>
            <a:ext cx="598548" cy="41659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A99342C7-AFC6-8B51-A24E-C123580E96E9}"/>
              </a:ext>
            </a:extLst>
          </p:cNvPr>
          <p:cNvCxnSpPr>
            <a:cxnSpLocks/>
          </p:cNvCxnSpPr>
          <p:nvPr/>
        </p:nvCxnSpPr>
        <p:spPr>
          <a:xfrm flipV="1">
            <a:off x="2572676" y="2962410"/>
            <a:ext cx="701680" cy="58218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E20AC9E9-745B-DDE3-33DA-159139DEFA11}"/>
              </a:ext>
            </a:extLst>
          </p:cNvPr>
          <p:cNvCxnSpPr>
            <a:cxnSpLocks/>
            <a:stCxn id="75" idx="3"/>
            <a:endCxn id="77" idx="7"/>
          </p:cNvCxnSpPr>
          <p:nvPr/>
        </p:nvCxnSpPr>
        <p:spPr>
          <a:xfrm flipV="1">
            <a:off x="2562799" y="3184417"/>
            <a:ext cx="701680" cy="58218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A4CD5BF2-1A07-19FC-3DA0-3A6B94A85F0A}"/>
              </a:ext>
            </a:extLst>
          </p:cNvPr>
          <p:cNvCxnSpPr>
            <a:cxnSpLocks/>
          </p:cNvCxnSpPr>
          <p:nvPr/>
        </p:nvCxnSpPr>
        <p:spPr>
          <a:xfrm>
            <a:off x="2531663" y="2990563"/>
            <a:ext cx="725081" cy="515822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" name="Rectangle 69">
            <a:extLst>
              <a:ext uri="{FF2B5EF4-FFF2-40B4-BE49-F238E27FC236}">
                <a16:creationId xmlns:a16="http://schemas.microsoft.com/office/drawing/2014/main" id="{A037DF7B-F9D1-D1D8-9B6A-064E4D7718CB}"/>
              </a:ext>
            </a:extLst>
          </p:cNvPr>
          <p:cNvSpPr/>
          <p:nvPr/>
        </p:nvSpPr>
        <p:spPr>
          <a:xfrm>
            <a:off x="2618364" y="2866630"/>
            <a:ext cx="566738" cy="9698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71" name="Google Shape;1534;g60be7dcf1c_0_434">
            <a:extLst>
              <a:ext uri="{FF2B5EF4-FFF2-40B4-BE49-F238E27FC236}">
                <a16:creationId xmlns:a16="http://schemas.microsoft.com/office/drawing/2014/main" id="{4B6AAABC-9726-1C56-F63A-F408A597EF14}"/>
              </a:ext>
            </a:extLst>
          </p:cNvPr>
          <p:cNvSpPr txBox="1"/>
          <p:nvPr/>
        </p:nvSpPr>
        <p:spPr>
          <a:xfrm>
            <a:off x="2702592" y="2501807"/>
            <a:ext cx="482510" cy="363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M2</a:t>
            </a: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de-DE"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C7CCE4F7-928D-98CC-8450-05BC5FE09443}"/>
              </a:ext>
            </a:extLst>
          </p:cNvPr>
          <p:cNvSpPr/>
          <p:nvPr/>
        </p:nvSpPr>
        <p:spPr>
          <a:xfrm>
            <a:off x="2539783" y="2937178"/>
            <a:ext cx="157162" cy="1722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BF1313D9-19CB-4C03-170D-33C203565F54}"/>
              </a:ext>
            </a:extLst>
          </p:cNvPr>
          <p:cNvSpPr/>
          <p:nvPr/>
        </p:nvSpPr>
        <p:spPr>
          <a:xfrm>
            <a:off x="2539783" y="3159185"/>
            <a:ext cx="157162" cy="1722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262B47B8-5ACC-44D4-BFA9-FDEC00682586}"/>
              </a:ext>
            </a:extLst>
          </p:cNvPr>
          <p:cNvSpPr/>
          <p:nvPr/>
        </p:nvSpPr>
        <p:spPr>
          <a:xfrm>
            <a:off x="2539783" y="3397528"/>
            <a:ext cx="157162" cy="1722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70E640A7-AEAD-B2D0-7E7E-4EA4F283D3CB}"/>
              </a:ext>
            </a:extLst>
          </p:cNvPr>
          <p:cNvSpPr/>
          <p:nvPr/>
        </p:nvSpPr>
        <p:spPr>
          <a:xfrm>
            <a:off x="2539783" y="3619535"/>
            <a:ext cx="157162" cy="1722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A4D7D1C6-FF7B-6126-6B8E-C6DCF3499D57}"/>
              </a:ext>
            </a:extLst>
          </p:cNvPr>
          <p:cNvSpPr/>
          <p:nvPr/>
        </p:nvSpPr>
        <p:spPr>
          <a:xfrm>
            <a:off x="3130333" y="2937178"/>
            <a:ext cx="157162" cy="1722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0A8CBB3C-C40D-223C-161D-183ACC442926}"/>
              </a:ext>
            </a:extLst>
          </p:cNvPr>
          <p:cNvSpPr/>
          <p:nvPr/>
        </p:nvSpPr>
        <p:spPr>
          <a:xfrm>
            <a:off x="3130333" y="3159185"/>
            <a:ext cx="157162" cy="1722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C1C0E24F-BB64-6457-E33A-CBA4F08C49CA}"/>
              </a:ext>
            </a:extLst>
          </p:cNvPr>
          <p:cNvSpPr/>
          <p:nvPr/>
        </p:nvSpPr>
        <p:spPr>
          <a:xfrm>
            <a:off x="3130333" y="3397528"/>
            <a:ext cx="157162" cy="1722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BB60FE03-AB8D-76CB-A38C-8D6E2444EE91}"/>
              </a:ext>
            </a:extLst>
          </p:cNvPr>
          <p:cNvSpPr/>
          <p:nvPr/>
        </p:nvSpPr>
        <p:spPr>
          <a:xfrm>
            <a:off x="3130333" y="3619535"/>
            <a:ext cx="157162" cy="1722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85" name="Google Shape;1534;g60be7dcf1c_0_434">
            <a:extLst>
              <a:ext uri="{FF2B5EF4-FFF2-40B4-BE49-F238E27FC236}">
                <a16:creationId xmlns:a16="http://schemas.microsoft.com/office/drawing/2014/main" id="{67F34B12-088E-5CE8-C8E2-A1821D88DB40}"/>
              </a:ext>
            </a:extLst>
          </p:cNvPr>
          <p:cNvSpPr txBox="1"/>
          <p:nvPr/>
        </p:nvSpPr>
        <p:spPr>
          <a:xfrm>
            <a:off x="3577699" y="2501807"/>
            <a:ext cx="482510" cy="363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M3</a:t>
            </a: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de-DE"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6DA2844-7B36-72CB-A95E-69ACEA393546}"/>
              </a:ext>
            </a:extLst>
          </p:cNvPr>
          <p:cNvGrpSpPr/>
          <p:nvPr/>
        </p:nvGrpSpPr>
        <p:grpSpPr>
          <a:xfrm>
            <a:off x="3402264" y="2868120"/>
            <a:ext cx="760338" cy="969811"/>
            <a:chOff x="3402264" y="3352613"/>
            <a:chExt cx="760338" cy="969811"/>
          </a:xfrm>
        </p:grpSpPr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953B87F7-A57C-40EC-07F1-FDE677DEBF01}"/>
                </a:ext>
              </a:extLst>
            </p:cNvPr>
            <p:cNvCxnSpPr>
              <a:cxnSpLocks/>
              <a:endCxn id="93" idx="5"/>
            </p:cNvCxnSpPr>
            <p:nvPr/>
          </p:nvCxnSpPr>
          <p:spPr>
            <a:xfrm>
              <a:off x="3456413" y="3491270"/>
              <a:ext cx="683173" cy="761312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id="{D02EE7E5-27DA-2C36-E0D6-EC2E1AEEDF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14890" y="3470720"/>
              <a:ext cx="724696" cy="28292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874B5F5D-D616-B258-F0DE-8894C08C77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11346" y="3724460"/>
              <a:ext cx="724696" cy="28292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0CC1ECB8-CE18-DCDC-E658-3E7C097E0C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02264" y="3929950"/>
              <a:ext cx="724696" cy="28292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6A7664D3-9D3B-1F51-3191-3860D16A3E9D}"/>
                </a:ext>
              </a:extLst>
            </p:cNvPr>
            <p:cNvSpPr/>
            <p:nvPr/>
          </p:nvSpPr>
          <p:spPr>
            <a:xfrm>
              <a:off x="3493471" y="3352613"/>
              <a:ext cx="566738" cy="96981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D0CBC8F4-DB88-ED52-4E97-598EA7B17485}"/>
                </a:ext>
              </a:extLst>
            </p:cNvPr>
            <p:cNvSpPr/>
            <p:nvPr/>
          </p:nvSpPr>
          <p:spPr>
            <a:xfrm>
              <a:off x="3414890" y="3423161"/>
              <a:ext cx="157162" cy="1722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8FA9A88D-9C7F-C938-980B-270715B360D3}"/>
                </a:ext>
              </a:extLst>
            </p:cNvPr>
            <p:cNvSpPr/>
            <p:nvPr/>
          </p:nvSpPr>
          <p:spPr>
            <a:xfrm>
              <a:off x="3414890" y="3645168"/>
              <a:ext cx="157162" cy="1722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F4C3D7AB-D6D2-C60D-98F1-7F7E87D9B034}"/>
                </a:ext>
              </a:extLst>
            </p:cNvPr>
            <p:cNvSpPr/>
            <p:nvPr/>
          </p:nvSpPr>
          <p:spPr>
            <a:xfrm>
              <a:off x="3414890" y="3883511"/>
              <a:ext cx="157162" cy="1722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BC3184AD-E879-BE6C-961A-D4D01545A089}"/>
                </a:ext>
              </a:extLst>
            </p:cNvPr>
            <p:cNvSpPr/>
            <p:nvPr/>
          </p:nvSpPr>
          <p:spPr>
            <a:xfrm>
              <a:off x="3414890" y="4105518"/>
              <a:ext cx="157162" cy="1722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5EBD19DE-0101-3B5F-3D91-97BA8101741F}"/>
                </a:ext>
              </a:extLst>
            </p:cNvPr>
            <p:cNvSpPr/>
            <p:nvPr/>
          </p:nvSpPr>
          <p:spPr>
            <a:xfrm>
              <a:off x="4005440" y="3423161"/>
              <a:ext cx="157162" cy="1722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F921CC5B-40A0-080E-232F-73C0C692D52A}"/>
                </a:ext>
              </a:extLst>
            </p:cNvPr>
            <p:cNvSpPr/>
            <p:nvPr/>
          </p:nvSpPr>
          <p:spPr>
            <a:xfrm>
              <a:off x="4005440" y="3645168"/>
              <a:ext cx="157162" cy="1722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D37C441A-166E-75B9-0C41-85B42FEAAB6F}"/>
                </a:ext>
              </a:extLst>
            </p:cNvPr>
            <p:cNvSpPr/>
            <p:nvPr/>
          </p:nvSpPr>
          <p:spPr>
            <a:xfrm>
              <a:off x="4005440" y="3883511"/>
              <a:ext cx="157162" cy="1722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F5EC3051-874D-9629-AA07-FAF9ECB37831}"/>
                </a:ext>
              </a:extLst>
            </p:cNvPr>
            <p:cNvSpPr/>
            <p:nvPr/>
          </p:nvSpPr>
          <p:spPr>
            <a:xfrm>
              <a:off x="4005440" y="4105518"/>
              <a:ext cx="157162" cy="1722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</p:grpSp>
      <p:sp>
        <p:nvSpPr>
          <p:cNvPr id="178" name="Google Shape;1534;g60be7dcf1c_0_434">
            <a:extLst>
              <a:ext uri="{FF2B5EF4-FFF2-40B4-BE49-F238E27FC236}">
                <a16:creationId xmlns:a16="http://schemas.microsoft.com/office/drawing/2014/main" id="{5738E793-6456-8AC9-3E0E-333A4A1787E5}"/>
              </a:ext>
            </a:extLst>
          </p:cNvPr>
          <p:cNvSpPr txBox="1"/>
          <p:nvPr/>
        </p:nvSpPr>
        <p:spPr>
          <a:xfrm>
            <a:off x="4450921" y="2501807"/>
            <a:ext cx="482510" cy="363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M1</a:t>
            </a: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de-DE"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517EF26-0746-9ED0-1D04-1FDBF80C2FDA}"/>
              </a:ext>
            </a:extLst>
          </p:cNvPr>
          <p:cNvGrpSpPr/>
          <p:nvPr/>
        </p:nvGrpSpPr>
        <p:grpSpPr>
          <a:xfrm>
            <a:off x="4288112" y="2868120"/>
            <a:ext cx="747712" cy="969811"/>
            <a:chOff x="4288112" y="3341714"/>
            <a:chExt cx="747712" cy="969811"/>
          </a:xfrm>
        </p:grpSpPr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ADDDF6F6-76A7-A26C-F45B-42C902D8113D}"/>
                </a:ext>
              </a:extLst>
            </p:cNvPr>
            <p:cNvCxnSpPr>
              <a:cxnSpLocks/>
              <a:endCxn id="184" idx="2"/>
            </p:cNvCxnSpPr>
            <p:nvPr/>
          </p:nvCxnSpPr>
          <p:spPr>
            <a:xfrm>
              <a:off x="4338513" y="3472149"/>
              <a:ext cx="540149" cy="248268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ED5F648F-A3C0-6F12-EECD-B02985FEE503}"/>
                </a:ext>
              </a:extLst>
            </p:cNvPr>
            <p:cNvCxnSpPr>
              <a:cxnSpLocks/>
            </p:cNvCxnSpPr>
            <p:nvPr/>
          </p:nvCxnSpPr>
          <p:spPr>
            <a:xfrm>
              <a:off x="4379987" y="3710913"/>
              <a:ext cx="540149" cy="24826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158FC2E2-57B0-9161-710A-A36892E03B0F}"/>
                </a:ext>
              </a:extLst>
            </p:cNvPr>
            <p:cNvCxnSpPr>
              <a:cxnSpLocks/>
            </p:cNvCxnSpPr>
            <p:nvPr/>
          </p:nvCxnSpPr>
          <p:spPr>
            <a:xfrm>
              <a:off x="4391894" y="3954804"/>
              <a:ext cx="540149" cy="24826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E2299AF6-6B96-1106-BE64-FFBCE2BD0899}"/>
                </a:ext>
              </a:extLst>
            </p:cNvPr>
            <p:cNvCxnSpPr>
              <a:cxnSpLocks/>
              <a:stCxn id="182" idx="3"/>
              <a:endCxn id="183" idx="7"/>
            </p:cNvCxnSpPr>
            <p:nvPr/>
          </p:nvCxnSpPr>
          <p:spPr>
            <a:xfrm flipV="1">
              <a:off x="4311128" y="3437494"/>
              <a:ext cx="701680" cy="80418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77" name="Rectangle 176">
              <a:extLst>
                <a:ext uri="{FF2B5EF4-FFF2-40B4-BE49-F238E27FC236}">
                  <a16:creationId xmlns:a16="http://schemas.microsoft.com/office/drawing/2014/main" id="{D28044CE-35CE-2A37-D132-A94BB26E9F44}"/>
                </a:ext>
              </a:extLst>
            </p:cNvPr>
            <p:cNvSpPr/>
            <p:nvPr/>
          </p:nvSpPr>
          <p:spPr>
            <a:xfrm>
              <a:off x="4366693" y="3341714"/>
              <a:ext cx="566738" cy="96981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179" name="Oval 178">
              <a:extLst>
                <a:ext uri="{FF2B5EF4-FFF2-40B4-BE49-F238E27FC236}">
                  <a16:creationId xmlns:a16="http://schemas.microsoft.com/office/drawing/2014/main" id="{4C4F3EE0-72F8-7AC1-C947-A9EDECFCFE6F}"/>
                </a:ext>
              </a:extLst>
            </p:cNvPr>
            <p:cNvSpPr/>
            <p:nvPr/>
          </p:nvSpPr>
          <p:spPr>
            <a:xfrm>
              <a:off x="4288112" y="3412262"/>
              <a:ext cx="157162" cy="1722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180" name="Oval 179">
              <a:extLst>
                <a:ext uri="{FF2B5EF4-FFF2-40B4-BE49-F238E27FC236}">
                  <a16:creationId xmlns:a16="http://schemas.microsoft.com/office/drawing/2014/main" id="{9E2F2C40-2BC1-A4F3-E6EA-FC27926E6FB5}"/>
                </a:ext>
              </a:extLst>
            </p:cNvPr>
            <p:cNvSpPr/>
            <p:nvPr/>
          </p:nvSpPr>
          <p:spPr>
            <a:xfrm>
              <a:off x="4288112" y="3634269"/>
              <a:ext cx="157162" cy="1722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181" name="Oval 180">
              <a:extLst>
                <a:ext uri="{FF2B5EF4-FFF2-40B4-BE49-F238E27FC236}">
                  <a16:creationId xmlns:a16="http://schemas.microsoft.com/office/drawing/2014/main" id="{B98F3A63-2206-CFE0-3399-6C01A2078454}"/>
                </a:ext>
              </a:extLst>
            </p:cNvPr>
            <p:cNvSpPr/>
            <p:nvPr/>
          </p:nvSpPr>
          <p:spPr>
            <a:xfrm>
              <a:off x="4288112" y="3872612"/>
              <a:ext cx="157162" cy="1722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182" name="Oval 181">
              <a:extLst>
                <a:ext uri="{FF2B5EF4-FFF2-40B4-BE49-F238E27FC236}">
                  <a16:creationId xmlns:a16="http://schemas.microsoft.com/office/drawing/2014/main" id="{9942C0FE-40B1-7586-4D0E-4592EB79F144}"/>
                </a:ext>
              </a:extLst>
            </p:cNvPr>
            <p:cNvSpPr/>
            <p:nvPr/>
          </p:nvSpPr>
          <p:spPr>
            <a:xfrm>
              <a:off x="4288112" y="4094619"/>
              <a:ext cx="157162" cy="1722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183" name="Oval 182">
              <a:extLst>
                <a:ext uri="{FF2B5EF4-FFF2-40B4-BE49-F238E27FC236}">
                  <a16:creationId xmlns:a16="http://schemas.microsoft.com/office/drawing/2014/main" id="{B57E5899-51D0-722F-55AF-A1ABC8DF482B}"/>
                </a:ext>
              </a:extLst>
            </p:cNvPr>
            <p:cNvSpPr/>
            <p:nvPr/>
          </p:nvSpPr>
          <p:spPr>
            <a:xfrm>
              <a:off x="4878662" y="3412262"/>
              <a:ext cx="157162" cy="1722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184" name="Oval 183">
              <a:extLst>
                <a:ext uri="{FF2B5EF4-FFF2-40B4-BE49-F238E27FC236}">
                  <a16:creationId xmlns:a16="http://schemas.microsoft.com/office/drawing/2014/main" id="{82E4865B-C2CE-F9BB-EA03-7AE638B81E54}"/>
                </a:ext>
              </a:extLst>
            </p:cNvPr>
            <p:cNvSpPr/>
            <p:nvPr/>
          </p:nvSpPr>
          <p:spPr>
            <a:xfrm>
              <a:off x="4878662" y="3634269"/>
              <a:ext cx="157162" cy="1722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185" name="Oval 184">
              <a:extLst>
                <a:ext uri="{FF2B5EF4-FFF2-40B4-BE49-F238E27FC236}">
                  <a16:creationId xmlns:a16="http://schemas.microsoft.com/office/drawing/2014/main" id="{F09AE623-59B3-C172-4AC4-4126E5FD22E6}"/>
                </a:ext>
              </a:extLst>
            </p:cNvPr>
            <p:cNvSpPr/>
            <p:nvPr/>
          </p:nvSpPr>
          <p:spPr>
            <a:xfrm>
              <a:off x="4878662" y="3872612"/>
              <a:ext cx="157162" cy="1722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186" name="Oval 185">
              <a:extLst>
                <a:ext uri="{FF2B5EF4-FFF2-40B4-BE49-F238E27FC236}">
                  <a16:creationId xmlns:a16="http://schemas.microsoft.com/office/drawing/2014/main" id="{76484254-309E-7BD6-D1E3-511B06F09F9A}"/>
                </a:ext>
              </a:extLst>
            </p:cNvPr>
            <p:cNvSpPr/>
            <p:nvPr/>
          </p:nvSpPr>
          <p:spPr>
            <a:xfrm>
              <a:off x="4878662" y="4094619"/>
              <a:ext cx="157162" cy="1722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</p:grpSp>
      <p:sp>
        <p:nvSpPr>
          <p:cNvPr id="188" name="Google Shape;1534;g60be7dcf1c_0_434">
            <a:extLst>
              <a:ext uri="{FF2B5EF4-FFF2-40B4-BE49-F238E27FC236}">
                <a16:creationId xmlns:a16="http://schemas.microsoft.com/office/drawing/2014/main" id="{6E2C5B73-407D-823C-3A21-7BCDEBD923F8}"/>
              </a:ext>
            </a:extLst>
          </p:cNvPr>
          <p:cNvSpPr txBox="1"/>
          <p:nvPr/>
        </p:nvSpPr>
        <p:spPr>
          <a:xfrm>
            <a:off x="5344289" y="2501807"/>
            <a:ext cx="482510" cy="363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M2</a:t>
            </a: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de-DE"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2AA8650-CE7B-F189-8B41-EC236FF4AAB2}"/>
              </a:ext>
            </a:extLst>
          </p:cNvPr>
          <p:cNvGrpSpPr/>
          <p:nvPr/>
        </p:nvGrpSpPr>
        <p:grpSpPr>
          <a:xfrm>
            <a:off x="5173360" y="2868120"/>
            <a:ext cx="755832" cy="969811"/>
            <a:chOff x="5173360" y="3349368"/>
            <a:chExt cx="755832" cy="969811"/>
          </a:xfrm>
        </p:grpSpPr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20E7FDA0-183A-2E4F-6162-6251F42092F0}"/>
                </a:ext>
              </a:extLst>
            </p:cNvPr>
            <p:cNvCxnSpPr>
              <a:cxnSpLocks/>
              <a:endCxn id="196" idx="1"/>
            </p:cNvCxnSpPr>
            <p:nvPr/>
          </p:nvCxnSpPr>
          <p:spPr>
            <a:xfrm>
              <a:off x="5196498" y="3710913"/>
              <a:ext cx="598548" cy="41659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30130F45-6087-C32A-269F-02A2045CDA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14373" y="3445148"/>
              <a:ext cx="701680" cy="58218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A8C7161A-5528-79D8-BE68-47846B406B3A}"/>
                </a:ext>
              </a:extLst>
            </p:cNvPr>
            <p:cNvCxnSpPr>
              <a:cxnSpLocks/>
              <a:stCxn id="192" idx="3"/>
              <a:endCxn id="194" idx="7"/>
            </p:cNvCxnSpPr>
            <p:nvPr/>
          </p:nvCxnSpPr>
          <p:spPr>
            <a:xfrm flipV="1">
              <a:off x="5204496" y="3667155"/>
              <a:ext cx="701680" cy="58218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154FCBC2-2B9C-C8C6-68B0-BC8D6B0C59CD}"/>
                </a:ext>
              </a:extLst>
            </p:cNvPr>
            <p:cNvCxnSpPr>
              <a:cxnSpLocks/>
            </p:cNvCxnSpPr>
            <p:nvPr/>
          </p:nvCxnSpPr>
          <p:spPr>
            <a:xfrm>
              <a:off x="5173360" y="3473301"/>
              <a:ext cx="725081" cy="515822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1B069EBD-FE36-6596-31A4-35A45AE7549D}"/>
                </a:ext>
              </a:extLst>
            </p:cNvPr>
            <p:cNvSpPr/>
            <p:nvPr/>
          </p:nvSpPr>
          <p:spPr>
            <a:xfrm>
              <a:off x="5260061" y="3349368"/>
              <a:ext cx="566738" cy="96981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189" name="Oval 188">
              <a:extLst>
                <a:ext uri="{FF2B5EF4-FFF2-40B4-BE49-F238E27FC236}">
                  <a16:creationId xmlns:a16="http://schemas.microsoft.com/office/drawing/2014/main" id="{CB1DA39A-0EEE-A1E7-340D-1861DEA5EC9F}"/>
                </a:ext>
              </a:extLst>
            </p:cNvPr>
            <p:cNvSpPr/>
            <p:nvPr/>
          </p:nvSpPr>
          <p:spPr>
            <a:xfrm>
              <a:off x="5181480" y="3419916"/>
              <a:ext cx="157162" cy="1722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190" name="Oval 189">
              <a:extLst>
                <a:ext uri="{FF2B5EF4-FFF2-40B4-BE49-F238E27FC236}">
                  <a16:creationId xmlns:a16="http://schemas.microsoft.com/office/drawing/2014/main" id="{9D0AFE36-A10E-04A6-6D48-DB462C1D7E92}"/>
                </a:ext>
              </a:extLst>
            </p:cNvPr>
            <p:cNvSpPr/>
            <p:nvPr/>
          </p:nvSpPr>
          <p:spPr>
            <a:xfrm>
              <a:off x="5181480" y="3641923"/>
              <a:ext cx="157162" cy="1722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191" name="Oval 190">
              <a:extLst>
                <a:ext uri="{FF2B5EF4-FFF2-40B4-BE49-F238E27FC236}">
                  <a16:creationId xmlns:a16="http://schemas.microsoft.com/office/drawing/2014/main" id="{A66F91D5-623E-9359-EF45-47B1C045FA7D}"/>
                </a:ext>
              </a:extLst>
            </p:cNvPr>
            <p:cNvSpPr/>
            <p:nvPr/>
          </p:nvSpPr>
          <p:spPr>
            <a:xfrm>
              <a:off x="5181480" y="3880266"/>
              <a:ext cx="157162" cy="1722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192" name="Oval 191">
              <a:extLst>
                <a:ext uri="{FF2B5EF4-FFF2-40B4-BE49-F238E27FC236}">
                  <a16:creationId xmlns:a16="http://schemas.microsoft.com/office/drawing/2014/main" id="{F281F805-E088-F14A-8E03-DB7CFF7073DC}"/>
                </a:ext>
              </a:extLst>
            </p:cNvPr>
            <p:cNvSpPr/>
            <p:nvPr/>
          </p:nvSpPr>
          <p:spPr>
            <a:xfrm>
              <a:off x="5181480" y="4102273"/>
              <a:ext cx="157162" cy="1722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193" name="Oval 192">
              <a:extLst>
                <a:ext uri="{FF2B5EF4-FFF2-40B4-BE49-F238E27FC236}">
                  <a16:creationId xmlns:a16="http://schemas.microsoft.com/office/drawing/2014/main" id="{2A84AAC0-357D-A010-30F0-249C3E873939}"/>
                </a:ext>
              </a:extLst>
            </p:cNvPr>
            <p:cNvSpPr/>
            <p:nvPr/>
          </p:nvSpPr>
          <p:spPr>
            <a:xfrm>
              <a:off x="5772030" y="3419916"/>
              <a:ext cx="157162" cy="1722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194" name="Oval 193">
              <a:extLst>
                <a:ext uri="{FF2B5EF4-FFF2-40B4-BE49-F238E27FC236}">
                  <a16:creationId xmlns:a16="http://schemas.microsoft.com/office/drawing/2014/main" id="{65257991-FF29-13F4-5C61-6539B1E4C10D}"/>
                </a:ext>
              </a:extLst>
            </p:cNvPr>
            <p:cNvSpPr/>
            <p:nvPr/>
          </p:nvSpPr>
          <p:spPr>
            <a:xfrm>
              <a:off x="5772030" y="3641923"/>
              <a:ext cx="157162" cy="1722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195" name="Oval 194">
              <a:extLst>
                <a:ext uri="{FF2B5EF4-FFF2-40B4-BE49-F238E27FC236}">
                  <a16:creationId xmlns:a16="http://schemas.microsoft.com/office/drawing/2014/main" id="{A384BBF0-4A08-53B5-C0C6-3BF335821F1F}"/>
                </a:ext>
              </a:extLst>
            </p:cNvPr>
            <p:cNvSpPr/>
            <p:nvPr/>
          </p:nvSpPr>
          <p:spPr>
            <a:xfrm>
              <a:off x="5772030" y="3880266"/>
              <a:ext cx="157162" cy="1722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196" name="Oval 195">
              <a:extLst>
                <a:ext uri="{FF2B5EF4-FFF2-40B4-BE49-F238E27FC236}">
                  <a16:creationId xmlns:a16="http://schemas.microsoft.com/office/drawing/2014/main" id="{DB97D211-B770-C9A4-6D5C-C82BB866EE7B}"/>
                </a:ext>
              </a:extLst>
            </p:cNvPr>
            <p:cNvSpPr/>
            <p:nvPr/>
          </p:nvSpPr>
          <p:spPr>
            <a:xfrm>
              <a:off x="5772030" y="4102273"/>
              <a:ext cx="157162" cy="1722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</p:grpSp>
      <p:sp>
        <p:nvSpPr>
          <p:cNvPr id="198" name="Google Shape;1534;g60be7dcf1c_0_434">
            <a:extLst>
              <a:ext uri="{FF2B5EF4-FFF2-40B4-BE49-F238E27FC236}">
                <a16:creationId xmlns:a16="http://schemas.microsoft.com/office/drawing/2014/main" id="{C340473F-93C5-91FB-93E9-929EAF101265}"/>
              </a:ext>
            </a:extLst>
          </p:cNvPr>
          <p:cNvSpPr txBox="1"/>
          <p:nvPr/>
        </p:nvSpPr>
        <p:spPr>
          <a:xfrm>
            <a:off x="6219396" y="2501807"/>
            <a:ext cx="482510" cy="363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M3</a:t>
            </a: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de-DE"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F5A1687-416B-FB9F-1AF2-A8A94C1E3D74}"/>
              </a:ext>
            </a:extLst>
          </p:cNvPr>
          <p:cNvGrpSpPr/>
          <p:nvPr/>
        </p:nvGrpSpPr>
        <p:grpSpPr>
          <a:xfrm>
            <a:off x="6043961" y="2868120"/>
            <a:ext cx="760338" cy="969811"/>
            <a:chOff x="6043961" y="3341714"/>
            <a:chExt cx="760338" cy="969811"/>
          </a:xfrm>
        </p:grpSpPr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15A38601-49A6-4A22-61F5-5EE6B7084988}"/>
                </a:ext>
              </a:extLst>
            </p:cNvPr>
            <p:cNvCxnSpPr>
              <a:cxnSpLocks/>
              <a:endCxn id="206" idx="5"/>
            </p:cNvCxnSpPr>
            <p:nvPr/>
          </p:nvCxnSpPr>
          <p:spPr>
            <a:xfrm>
              <a:off x="6098110" y="3480371"/>
              <a:ext cx="683173" cy="761312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19DE3CA9-36EE-DA39-EA6C-E745244F4F3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56587" y="3459821"/>
              <a:ext cx="724696" cy="28292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C4E95EE9-7230-FF3E-182C-D0D9D73E19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53043" y="3713561"/>
              <a:ext cx="724696" cy="28292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A6B0E906-9B63-169B-9C94-B4F2ECA6E8F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43961" y="3919051"/>
              <a:ext cx="724696" cy="28292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F4EA5A02-6CC2-76EE-44FD-286683FB69C8}"/>
                </a:ext>
              </a:extLst>
            </p:cNvPr>
            <p:cNvSpPr/>
            <p:nvPr/>
          </p:nvSpPr>
          <p:spPr>
            <a:xfrm>
              <a:off x="6135168" y="3341714"/>
              <a:ext cx="566738" cy="96981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199" name="Oval 198">
              <a:extLst>
                <a:ext uri="{FF2B5EF4-FFF2-40B4-BE49-F238E27FC236}">
                  <a16:creationId xmlns:a16="http://schemas.microsoft.com/office/drawing/2014/main" id="{32A493B5-5E1B-4AA9-7545-7680E2C8F6D8}"/>
                </a:ext>
              </a:extLst>
            </p:cNvPr>
            <p:cNvSpPr/>
            <p:nvPr/>
          </p:nvSpPr>
          <p:spPr>
            <a:xfrm>
              <a:off x="6056587" y="3412262"/>
              <a:ext cx="157162" cy="1722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200" name="Oval 199">
              <a:extLst>
                <a:ext uri="{FF2B5EF4-FFF2-40B4-BE49-F238E27FC236}">
                  <a16:creationId xmlns:a16="http://schemas.microsoft.com/office/drawing/2014/main" id="{B3547875-FC5F-99F2-C729-583D0BBC2270}"/>
                </a:ext>
              </a:extLst>
            </p:cNvPr>
            <p:cNvSpPr/>
            <p:nvPr/>
          </p:nvSpPr>
          <p:spPr>
            <a:xfrm>
              <a:off x="6056587" y="3634269"/>
              <a:ext cx="157162" cy="1722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201" name="Oval 200">
              <a:extLst>
                <a:ext uri="{FF2B5EF4-FFF2-40B4-BE49-F238E27FC236}">
                  <a16:creationId xmlns:a16="http://schemas.microsoft.com/office/drawing/2014/main" id="{31FEC147-0FC3-B0BC-506A-783D0E9516CA}"/>
                </a:ext>
              </a:extLst>
            </p:cNvPr>
            <p:cNvSpPr/>
            <p:nvPr/>
          </p:nvSpPr>
          <p:spPr>
            <a:xfrm>
              <a:off x="6056587" y="3872612"/>
              <a:ext cx="157162" cy="1722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202" name="Oval 201">
              <a:extLst>
                <a:ext uri="{FF2B5EF4-FFF2-40B4-BE49-F238E27FC236}">
                  <a16:creationId xmlns:a16="http://schemas.microsoft.com/office/drawing/2014/main" id="{A3649B30-ECC2-7F3B-F93D-36CDC3588E46}"/>
                </a:ext>
              </a:extLst>
            </p:cNvPr>
            <p:cNvSpPr/>
            <p:nvPr/>
          </p:nvSpPr>
          <p:spPr>
            <a:xfrm>
              <a:off x="6056587" y="4094619"/>
              <a:ext cx="157162" cy="1722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203" name="Oval 202">
              <a:extLst>
                <a:ext uri="{FF2B5EF4-FFF2-40B4-BE49-F238E27FC236}">
                  <a16:creationId xmlns:a16="http://schemas.microsoft.com/office/drawing/2014/main" id="{8DCB81A6-CCDC-25FD-521A-2724CA14AA8C}"/>
                </a:ext>
              </a:extLst>
            </p:cNvPr>
            <p:cNvSpPr/>
            <p:nvPr/>
          </p:nvSpPr>
          <p:spPr>
            <a:xfrm>
              <a:off x="6647137" y="3412262"/>
              <a:ext cx="157162" cy="1722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204" name="Oval 203">
              <a:extLst>
                <a:ext uri="{FF2B5EF4-FFF2-40B4-BE49-F238E27FC236}">
                  <a16:creationId xmlns:a16="http://schemas.microsoft.com/office/drawing/2014/main" id="{56425442-9B40-01DD-F8B8-82A54B1BC6C9}"/>
                </a:ext>
              </a:extLst>
            </p:cNvPr>
            <p:cNvSpPr/>
            <p:nvPr/>
          </p:nvSpPr>
          <p:spPr>
            <a:xfrm>
              <a:off x="6647137" y="3634269"/>
              <a:ext cx="157162" cy="1722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205" name="Oval 204">
              <a:extLst>
                <a:ext uri="{FF2B5EF4-FFF2-40B4-BE49-F238E27FC236}">
                  <a16:creationId xmlns:a16="http://schemas.microsoft.com/office/drawing/2014/main" id="{5426A9CC-CE43-AA45-5C13-57A9BF3D793F}"/>
                </a:ext>
              </a:extLst>
            </p:cNvPr>
            <p:cNvSpPr/>
            <p:nvPr/>
          </p:nvSpPr>
          <p:spPr>
            <a:xfrm>
              <a:off x="6647137" y="3872612"/>
              <a:ext cx="157162" cy="1722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206" name="Oval 205">
              <a:extLst>
                <a:ext uri="{FF2B5EF4-FFF2-40B4-BE49-F238E27FC236}">
                  <a16:creationId xmlns:a16="http://schemas.microsoft.com/office/drawing/2014/main" id="{3B7884D0-CE59-2A8D-2D54-394653F01DF1}"/>
                </a:ext>
              </a:extLst>
            </p:cNvPr>
            <p:cNvSpPr/>
            <p:nvPr/>
          </p:nvSpPr>
          <p:spPr>
            <a:xfrm>
              <a:off x="6647137" y="4094619"/>
              <a:ext cx="157162" cy="1722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</p:grpSp>
      <p:sp>
        <p:nvSpPr>
          <p:cNvPr id="395" name="Google Shape;1534;g60be7dcf1c_0_434">
            <a:extLst>
              <a:ext uri="{FF2B5EF4-FFF2-40B4-BE49-F238E27FC236}">
                <a16:creationId xmlns:a16="http://schemas.microsoft.com/office/drawing/2014/main" id="{0163E43A-AE7F-F934-008B-0C1F430BFDA3}"/>
              </a:ext>
            </a:extLst>
          </p:cNvPr>
          <p:cNvSpPr txBox="1"/>
          <p:nvPr/>
        </p:nvSpPr>
        <p:spPr>
          <a:xfrm>
            <a:off x="805496" y="3091078"/>
            <a:ext cx="937192" cy="598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de-DE" sz="20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Si:</a:t>
            </a:r>
            <a:endParaRPr lang="en-US" sz="20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de-DE"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36B16FB-92EA-72CA-0AB2-E50115FE273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44</a:t>
            </a:fld>
            <a:endParaRPr lang="de-DE"/>
          </a:p>
        </p:txBody>
      </p:sp>
      <p:sp>
        <p:nvSpPr>
          <p:cNvPr id="11" name="Google Shape;1580;g60be7dcf1c_0_473">
            <a:extLst>
              <a:ext uri="{FF2B5EF4-FFF2-40B4-BE49-F238E27FC236}">
                <a16:creationId xmlns:a16="http://schemas.microsoft.com/office/drawing/2014/main" id="{2C2666C8-E96F-2185-ECCD-E4DAC99A093B}"/>
              </a:ext>
            </a:extLst>
          </p:cNvPr>
          <p:cNvSpPr txBox="1"/>
          <p:nvPr/>
        </p:nvSpPr>
        <p:spPr>
          <a:xfrm>
            <a:off x="-1" y="539999"/>
            <a:ext cx="8677835" cy="919873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13" name="Google Shape;1810;g60be7dcf1c_0_698">
            <a:extLst>
              <a:ext uri="{FF2B5EF4-FFF2-40B4-BE49-F238E27FC236}">
                <a16:creationId xmlns:a16="http://schemas.microsoft.com/office/drawing/2014/main" id="{67D7361D-F25B-F8FD-F6EA-92CD7C7F44D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3074" y="342104"/>
            <a:ext cx="7704760" cy="1080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l">
              <a:buSzPts val="1100"/>
            </a:pPr>
            <a:r>
              <a:rPr lang="en-GB" sz="2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Two Types of Reconfigurable Optical Switches</a:t>
            </a:r>
            <a:br>
              <a:rPr lang="en-GB" sz="2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36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Demand-Aware Demand-Oblivious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00405FCA-7189-17BD-AE59-B06E360CA8D4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18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9" name="Google Shape;1534;g60be7dcf1c_0_434">
            <a:extLst>
              <a:ext uri="{FF2B5EF4-FFF2-40B4-BE49-F238E27FC236}">
                <a16:creationId xmlns:a16="http://schemas.microsoft.com/office/drawing/2014/main" id="{BF115621-C761-997F-8B21-9BBE87DCDF2B}"/>
              </a:ext>
            </a:extLst>
          </p:cNvPr>
          <p:cNvSpPr txBox="1"/>
          <p:nvPr/>
        </p:nvSpPr>
        <p:spPr>
          <a:xfrm>
            <a:off x="1186782" y="4333778"/>
            <a:ext cx="6281669" cy="598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de-DE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Demand-aware switch: </a:t>
            </a:r>
            <a:r>
              <a:rPr lang="en-GB" sz="1600" b="1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arbitrary/optimized</a:t>
            </a:r>
            <a:r>
              <a:rPr lang="de-DE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matchings   </a:t>
            </a: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de-DE"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" name="Google Shape;1534;g60be7dcf1c_0_434">
            <a:extLst>
              <a:ext uri="{FF2B5EF4-FFF2-40B4-BE49-F238E27FC236}">
                <a16:creationId xmlns:a16="http://schemas.microsoft.com/office/drawing/2014/main" id="{B1BE8394-C874-1054-8B56-C1567A35317B}"/>
              </a:ext>
            </a:extLst>
          </p:cNvPr>
          <p:cNvSpPr txBox="1"/>
          <p:nvPr/>
        </p:nvSpPr>
        <p:spPr>
          <a:xfrm>
            <a:off x="821985" y="5519418"/>
            <a:ext cx="937192" cy="598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de-DE" sz="20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Si:</a:t>
            </a:r>
            <a:endParaRPr lang="en-US" sz="20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de-DE"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9DD2281-6B55-BF93-BD11-1959023A301B}"/>
              </a:ext>
            </a:extLst>
          </p:cNvPr>
          <p:cNvCxnSpPr/>
          <p:nvPr/>
        </p:nvCxnSpPr>
        <p:spPr>
          <a:xfrm>
            <a:off x="1536694" y="6357043"/>
            <a:ext cx="52863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Google Shape;1534;g60be7dcf1c_0_434">
            <a:extLst>
              <a:ext uri="{FF2B5EF4-FFF2-40B4-BE49-F238E27FC236}">
                <a16:creationId xmlns:a16="http://schemas.microsoft.com/office/drawing/2014/main" id="{632695DA-F3D7-07DC-4810-A836B4B66104}"/>
              </a:ext>
            </a:extLst>
          </p:cNvPr>
          <p:cNvSpPr txBox="1"/>
          <p:nvPr/>
        </p:nvSpPr>
        <p:spPr>
          <a:xfrm>
            <a:off x="6969210" y="6081987"/>
            <a:ext cx="749210" cy="598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time</a:t>
            </a: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de-DE"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" name="Google Shape;1534;g60be7dcf1c_0_434">
            <a:extLst>
              <a:ext uri="{FF2B5EF4-FFF2-40B4-BE49-F238E27FC236}">
                <a16:creationId xmlns:a16="http://schemas.microsoft.com/office/drawing/2014/main" id="{827A1942-2E42-1A07-DD76-36D1C127AA11}"/>
              </a:ext>
            </a:extLst>
          </p:cNvPr>
          <p:cNvSpPr txBox="1"/>
          <p:nvPr/>
        </p:nvSpPr>
        <p:spPr>
          <a:xfrm>
            <a:off x="1825713" y="4930147"/>
            <a:ext cx="482510" cy="363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M1</a:t>
            </a: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de-DE"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C1020E9-EB97-A9A4-58F6-5D6571179169}"/>
              </a:ext>
            </a:extLst>
          </p:cNvPr>
          <p:cNvGrpSpPr/>
          <p:nvPr/>
        </p:nvGrpSpPr>
        <p:grpSpPr>
          <a:xfrm>
            <a:off x="1662904" y="5300999"/>
            <a:ext cx="747712" cy="969811"/>
            <a:chOff x="1646415" y="3344959"/>
            <a:chExt cx="747712" cy="969811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ED69CD3-F2D4-477E-FB12-DCFCCBDF9054}"/>
                </a:ext>
              </a:extLst>
            </p:cNvPr>
            <p:cNvCxnSpPr>
              <a:cxnSpLocks/>
              <a:endCxn id="31" idx="2"/>
            </p:cNvCxnSpPr>
            <p:nvPr/>
          </p:nvCxnSpPr>
          <p:spPr>
            <a:xfrm>
              <a:off x="1696816" y="3475394"/>
              <a:ext cx="540149" cy="248268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87DC539-54CB-86D1-1D3B-BB3D7A0045F7}"/>
                </a:ext>
              </a:extLst>
            </p:cNvPr>
            <p:cNvCxnSpPr>
              <a:cxnSpLocks/>
            </p:cNvCxnSpPr>
            <p:nvPr/>
          </p:nvCxnSpPr>
          <p:spPr>
            <a:xfrm>
              <a:off x="1738290" y="3714158"/>
              <a:ext cx="540149" cy="24826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E06F4E4-402D-2325-B599-02C702BBC406}"/>
                </a:ext>
              </a:extLst>
            </p:cNvPr>
            <p:cNvCxnSpPr>
              <a:cxnSpLocks/>
            </p:cNvCxnSpPr>
            <p:nvPr/>
          </p:nvCxnSpPr>
          <p:spPr>
            <a:xfrm>
              <a:off x="1750197" y="3958049"/>
              <a:ext cx="540149" cy="24826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F628FD56-9CC4-D78A-FE27-2B3C45C6A3D6}"/>
                </a:ext>
              </a:extLst>
            </p:cNvPr>
            <p:cNvCxnSpPr>
              <a:cxnSpLocks/>
              <a:stCxn id="29" idx="3"/>
              <a:endCxn id="30" idx="7"/>
            </p:cNvCxnSpPr>
            <p:nvPr/>
          </p:nvCxnSpPr>
          <p:spPr>
            <a:xfrm flipV="1">
              <a:off x="1669431" y="3440739"/>
              <a:ext cx="701680" cy="80418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07B8DEF-0992-4ABC-8E05-074B7CF3E0AA}"/>
                </a:ext>
              </a:extLst>
            </p:cNvPr>
            <p:cNvSpPr/>
            <p:nvPr/>
          </p:nvSpPr>
          <p:spPr>
            <a:xfrm>
              <a:off x="1724996" y="3344959"/>
              <a:ext cx="566738" cy="96981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93D74770-E1E2-8427-5B94-4865E5035A1F}"/>
                </a:ext>
              </a:extLst>
            </p:cNvPr>
            <p:cNvSpPr/>
            <p:nvPr/>
          </p:nvSpPr>
          <p:spPr>
            <a:xfrm>
              <a:off x="1646415" y="3415507"/>
              <a:ext cx="157162" cy="1722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7CBC40D0-004D-C36A-AFC1-33F748F82B82}"/>
                </a:ext>
              </a:extLst>
            </p:cNvPr>
            <p:cNvSpPr/>
            <p:nvPr/>
          </p:nvSpPr>
          <p:spPr>
            <a:xfrm>
              <a:off x="1646415" y="3637514"/>
              <a:ext cx="157162" cy="1722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DA137175-325F-3CDA-0DFA-8E360AF40A77}"/>
                </a:ext>
              </a:extLst>
            </p:cNvPr>
            <p:cNvSpPr/>
            <p:nvPr/>
          </p:nvSpPr>
          <p:spPr>
            <a:xfrm>
              <a:off x="1646415" y="3875857"/>
              <a:ext cx="157162" cy="1722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AF120BE1-F17B-6FEE-350B-F3A5653E56E2}"/>
                </a:ext>
              </a:extLst>
            </p:cNvPr>
            <p:cNvSpPr/>
            <p:nvPr/>
          </p:nvSpPr>
          <p:spPr>
            <a:xfrm>
              <a:off x="1646415" y="4097864"/>
              <a:ext cx="157162" cy="1722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A5D2BDB4-9253-E05B-DE60-99E64872BBB9}"/>
                </a:ext>
              </a:extLst>
            </p:cNvPr>
            <p:cNvSpPr/>
            <p:nvPr/>
          </p:nvSpPr>
          <p:spPr>
            <a:xfrm>
              <a:off x="2236965" y="3415507"/>
              <a:ext cx="157162" cy="1722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05FF2DA1-9E7A-CF37-74F3-3013D70AC34A}"/>
                </a:ext>
              </a:extLst>
            </p:cNvPr>
            <p:cNvSpPr/>
            <p:nvPr/>
          </p:nvSpPr>
          <p:spPr>
            <a:xfrm>
              <a:off x="2236965" y="3637514"/>
              <a:ext cx="157162" cy="1722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0FD00BDF-F5A9-F347-A34A-A290A5BE4827}"/>
                </a:ext>
              </a:extLst>
            </p:cNvPr>
            <p:cNvSpPr/>
            <p:nvPr/>
          </p:nvSpPr>
          <p:spPr>
            <a:xfrm>
              <a:off x="2236965" y="3875857"/>
              <a:ext cx="157162" cy="1722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E8BEFEC9-C1CF-BC7D-831F-6159FC7143AA}"/>
                </a:ext>
              </a:extLst>
            </p:cNvPr>
            <p:cNvSpPr/>
            <p:nvPr/>
          </p:nvSpPr>
          <p:spPr>
            <a:xfrm>
              <a:off x="2236965" y="4097864"/>
              <a:ext cx="157162" cy="1722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</p:grpSp>
      <p:sp>
        <p:nvSpPr>
          <p:cNvPr id="36" name="Google Shape;1534;g60be7dcf1c_0_434">
            <a:extLst>
              <a:ext uri="{FF2B5EF4-FFF2-40B4-BE49-F238E27FC236}">
                <a16:creationId xmlns:a16="http://schemas.microsoft.com/office/drawing/2014/main" id="{912D0A58-4675-C270-B504-EC4A98BBE70E}"/>
              </a:ext>
            </a:extLst>
          </p:cNvPr>
          <p:cNvSpPr txBox="1"/>
          <p:nvPr/>
        </p:nvSpPr>
        <p:spPr>
          <a:xfrm>
            <a:off x="3594188" y="4930147"/>
            <a:ext cx="482510" cy="363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M3</a:t>
            </a: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de-DE"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E86D3C9A-FD0A-3398-C98C-9C73C497ED2F}"/>
              </a:ext>
            </a:extLst>
          </p:cNvPr>
          <p:cNvGrpSpPr/>
          <p:nvPr/>
        </p:nvGrpSpPr>
        <p:grpSpPr>
          <a:xfrm>
            <a:off x="3418753" y="5300999"/>
            <a:ext cx="760338" cy="969811"/>
            <a:chOff x="3402264" y="3344959"/>
            <a:chExt cx="760338" cy="969811"/>
          </a:xfrm>
        </p:grpSpPr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E6B58591-C9C8-FD28-84C4-A5F2CC9B71C9}"/>
                </a:ext>
              </a:extLst>
            </p:cNvPr>
            <p:cNvCxnSpPr>
              <a:cxnSpLocks/>
              <a:endCxn id="61" idx="5"/>
            </p:cNvCxnSpPr>
            <p:nvPr/>
          </p:nvCxnSpPr>
          <p:spPr>
            <a:xfrm>
              <a:off x="3456413" y="3483616"/>
              <a:ext cx="683173" cy="761312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6FE22418-8D27-F202-E6A0-57C4CFE253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14890" y="3463066"/>
              <a:ext cx="724696" cy="28292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BF056653-0D4A-C90C-26A0-7A69047842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11346" y="3716806"/>
              <a:ext cx="724696" cy="28292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D56A5844-5258-9026-3D37-0CFA057F53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02264" y="3922296"/>
              <a:ext cx="724696" cy="28292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D2F4FE11-D106-1B81-938D-CFAAAEEF0C64}"/>
                </a:ext>
              </a:extLst>
            </p:cNvPr>
            <p:cNvSpPr/>
            <p:nvPr/>
          </p:nvSpPr>
          <p:spPr>
            <a:xfrm>
              <a:off x="3493471" y="3344959"/>
              <a:ext cx="566738" cy="96981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5570A3D9-DC0B-4609-3248-242EE180BBC1}"/>
                </a:ext>
              </a:extLst>
            </p:cNvPr>
            <p:cNvSpPr/>
            <p:nvPr/>
          </p:nvSpPr>
          <p:spPr>
            <a:xfrm>
              <a:off x="3414890" y="3415507"/>
              <a:ext cx="157162" cy="1722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BA8E0F61-035B-C9B6-0F91-FF9B12448F63}"/>
                </a:ext>
              </a:extLst>
            </p:cNvPr>
            <p:cNvSpPr/>
            <p:nvPr/>
          </p:nvSpPr>
          <p:spPr>
            <a:xfrm>
              <a:off x="3414890" y="3637514"/>
              <a:ext cx="157162" cy="1722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C81E2A46-DE1E-695B-D0AD-670D5637DBA4}"/>
                </a:ext>
              </a:extLst>
            </p:cNvPr>
            <p:cNvSpPr/>
            <p:nvPr/>
          </p:nvSpPr>
          <p:spPr>
            <a:xfrm>
              <a:off x="3414890" y="3875857"/>
              <a:ext cx="157162" cy="1722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97483F03-CA9E-F592-B1EF-500A3E97F9D7}"/>
                </a:ext>
              </a:extLst>
            </p:cNvPr>
            <p:cNvSpPr/>
            <p:nvPr/>
          </p:nvSpPr>
          <p:spPr>
            <a:xfrm>
              <a:off x="3414890" y="4097864"/>
              <a:ext cx="157162" cy="1722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7A7F1869-F702-9057-00DA-CEFEA74CD292}"/>
                </a:ext>
              </a:extLst>
            </p:cNvPr>
            <p:cNvSpPr/>
            <p:nvPr/>
          </p:nvSpPr>
          <p:spPr>
            <a:xfrm>
              <a:off x="4005440" y="3415507"/>
              <a:ext cx="157162" cy="1722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BA913470-9722-F5B5-4A16-7FA41FD1E9F5}"/>
                </a:ext>
              </a:extLst>
            </p:cNvPr>
            <p:cNvSpPr/>
            <p:nvPr/>
          </p:nvSpPr>
          <p:spPr>
            <a:xfrm>
              <a:off x="4005440" y="3637514"/>
              <a:ext cx="157162" cy="1722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9C6835E0-77F5-C39E-876F-39499950AD74}"/>
                </a:ext>
              </a:extLst>
            </p:cNvPr>
            <p:cNvSpPr/>
            <p:nvPr/>
          </p:nvSpPr>
          <p:spPr>
            <a:xfrm>
              <a:off x="4005440" y="3875857"/>
              <a:ext cx="157162" cy="1722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32A401A7-B9BB-C446-753D-C68F88DF622B}"/>
                </a:ext>
              </a:extLst>
            </p:cNvPr>
            <p:cNvSpPr/>
            <p:nvPr/>
          </p:nvSpPr>
          <p:spPr>
            <a:xfrm>
              <a:off x="4005440" y="4097864"/>
              <a:ext cx="157162" cy="1722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</p:grpSp>
      <p:sp>
        <p:nvSpPr>
          <p:cNvPr id="62" name="Google Shape;1534;g60be7dcf1c_0_434">
            <a:extLst>
              <a:ext uri="{FF2B5EF4-FFF2-40B4-BE49-F238E27FC236}">
                <a16:creationId xmlns:a16="http://schemas.microsoft.com/office/drawing/2014/main" id="{C6E9F13B-C3BB-A908-F592-7A6862E87BB8}"/>
              </a:ext>
            </a:extLst>
          </p:cNvPr>
          <p:cNvSpPr txBox="1"/>
          <p:nvPr/>
        </p:nvSpPr>
        <p:spPr>
          <a:xfrm>
            <a:off x="5360778" y="4930147"/>
            <a:ext cx="482510" cy="363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M2</a:t>
            </a: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de-DE"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D5F1034F-EE9C-BA36-4A22-37E24B26D1EB}"/>
              </a:ext>
            </a:extLst>
          </p:cNvPr>
          <p:cNvGrpSpPr/>
          <p:nvPr/>
        </p:nvGrpSpPr>
        <p:grpSpPr>
          <a:xfrm>
            <a:off x="5189849" y="5300999"/>
            <a:ext cx="755832" cy="969811"/>
            <a:chOff x="5173360" y="3341714"/>
            <a:chExt cx="755832" cy="969811"/>
          </a:xfrm>
        </p:grpSpPr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F2524972-5B5D-AC37-DD07-3C14FE86D198}"/>
                </a:ext>
              </a:extLst>
            </p:cNvPr>
            <p:cNvCxnSpPr>
              <a:cxnSpLocks/>
              <a:endCxn id="97" idx="1"/>
            </p:cNvCxnSpPr>
            <p:nvPr/>
          </p:nvCxnSpPr>
          <p:spPr>
            <a:xfrm>
              <a:off x="5196498" y="3703259"/>
              <a:ext cx="598548" cy="41659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C974BDE9-2A8F-6EC2-E022-72003976C4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14373" y="3437494"/>
              <a:ext cx="701680" cy="58218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E05EA08B-E439-E35D-AF2A-08E72FC1512F}"/>
                </a:ext>
              </a:extLst>
            </p:cNvPr>
            <p:cNvCxnSpPr>
              <a:cxnSpLocks/>
              <a:stCxn id="83" idx="3"/>
              <a:endCxn id="95" idx="7"/>
            </p:cNvCxnSpPr>
            <p:nvPr/>
          </p:nvCxnSpPr>
          <p:spPr>
            <a:xfrm flipV="1">
              <a:off x="5204496" y="3659501"/>
              <a:ext cx="701680" cy="58218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33DD26FA-ACA2-260D-BD6E-1394FBC08512}"/>
                </a:ext>
              </a:extLst>
            </p:cNvPr>
            <p:cNvCxnSpPr>
              <a:cxnSpLocks/>
            </p:cNvCxnSpPr>
            <p:nvPr/>
          </p:nvCxnSpPr>
          <p:spPr>
            <a:xfrm>
              <a:off x="5173360" y="3465647"/>
              <a:ext cx="725081" cy="515822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2CB3A1C9-B877-4CFE-285B-73A1E331F89F}"/>
                </a:ext>
              </a:extLst>
            </p:cNvPr>
            <p:cNvSpPr/>
            <p:nvPr/>
          </p:nvSpPr>
          <p:spPr>
            <a:xfrm>
              <a:off x="5260061" y="3341714"/>
              <a:ext cx="566738" cy="96981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A4CD6844-F0EA-1EB6-7BA9-E527BB3F2EAA}"/>
                </a:ext>
              </a:extLst>
            </p:cNvPr>
            <p:cNvSpPr/>
            <p:nvPr/>
          </p:nvSpPr>
          <p:spPr>
            <a:xfrm>
              <a:off x="5181480" y="3412262"/>
              <a:ext cx="157162" cy="1722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16461572-6BBA-37C7-877D-E3486581D6F9}"/>
                </a:ext>
              </a:extLst>
            </p:cNvPr>
            <p:cNvSpPr/>
            <p:nvPr/>
          </p:nvSpPr>
          <p:spPr>
            <a:xfrm>
              <a:off x="5181480" y="3634269"/>
              <a:ext cx="157162" cy="1722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317472C5-FBA8-DB2F-90C6-99F3D656A7DF}"/>
                </a:ext>
              </a:extLst>
            </p:cNvPr>
            <p:cNvSpPr/>
            <p:nvPr/>
          </p:nvSpPr>
          <p:spPr>
            <a:xfrm>
              <a:off x="5181480" y="3872612"/>
              <a:ext cx="157162" cy="1722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A944E789-EC8F-D4D1-2881-1E614CE0DFD5}"/>
                </a:ext>
              </a:extLst>
            </p:cNvPr>
            <p:cNvSpPr/>
            <p:nvPr/>
          </p:nvSpPr>
          <p:spPr>
            <a:xfrm>
              <a:off x="5181480" y="4094619"/>
              <a:ext cx="157162" cy="1722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C4F3F45A-B160-87A3-EC62-822CADB0D2E6}"/>
                </a:ext>
              </a:extLst>
            </p:cNvPr>
            <p:cNvSpPr/>
            <p:nvPr/>
          </p:nvSpPr>
          <p:spPr>
            <a:xfrm>
              <a:off x="5772030" y="3412262"/>
              <a:ext cx="157162" cy="1722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100DA65D-4D51-435E-D111-FA2CDBF19921}"/>
                </a:ext>
              </a:extLst>
            </p:cNvPr>
            <p:cNvSpPr/>
            <p:nvPr/>
          </p:nvSpPr>
          <p:spPr>
            <a:xfrm>
              <a:off x="5772030" y="3634269"/>
              <a:ext cx="157162" cy="1722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6D3BCDE4-FA5A-D7DA-45A5-82A6E17485FF}"/>
                </a:ext>
              </a:extLst>
            </p:cNvPr>
            <p:cNvSpPr/>
            <p:nvPr/>
          </p:nvSpPr>
          <p:spPr>
            <a:xfrm>
              <a:off x="5772030" y="3872612"/>
              <a:ext cx="157162" cy="1722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A541A2C7-3EB8-1433-65A0-5AF986A9CED9}"/>
                </a:ext>
              </a:extLst>
            </p:cNvPr>
            <p:cNvSpPr/>
            <p:nvPr/>
          </p:nvSpPr>
          <p:spPr>
            <a:xfrm>
              <a:off x="5772030" y="4094619"/>
              <a:ext cx="157162" cy="1722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</p:grpSp>
      <p:sp>
        <p:nvSpPr>
          <p:cNvPr id="98" name="Google Shape;1534;g60be7dcf1c_0_434">
            <a:extLst>
              <a:ext uri="{FF2B5EF4-FFF2-40B4-BE49-F238E27FC236}">
                <a16:creationId xmlns:a16="http://schemas.microsoft.com/office/drawing/2014/main" id="{3289D58D-BAD7-3340-30B4-D1F1F956517E}"/>
              </a:ext>
            </a:extLst>
          </p:cNvPr>
          <p:cNvSpPr txBox="1"/>
          <p:nvPr/>
        </p:nvSpPr>
        <p:spPr>
          <a:xfrm>
            <a:off x="4486662" y="4930147"/>
            <a:ext cx="482510" cy="363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M2</a:t>
            </a: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de-DE"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99" name="Group 98">
            <a:extLst>
              <a:ext uri="{FF2B5EF4-FFF2-40B4-BE49-F238E27FC236}">
                <a16:creationId xmlns:a16="http://schemas.microsoft.com/office/drawing/2014/main" id="{5FC8CC02-25D3-0F9A-BB39-8A79D9DB230A}"/>
              </a:ext>
            </a:extLst>
          </p:cNvPr>
          <p:cNvGrpSpPr/>
          <p:nvPr/>
        </p:nvGrpSpPr>
        <p:grpSpPr>
          <a:xfrm>
            <a:off x="4315733" y="5300999"/>
            <a:ext cx="755832" cy="969811"/>
            <a:chOff x="4299244" y="3357152"/>
            <a:chExt cx="755832" cy="969811"/>
          </a:xfrm>
        </p:grpSpPr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DAB02219-BF65-7004-AA80-F84F33E5268C}"/>
                </a:ext>
              </a:extLst>
            </p:cNvPr>
            <p:cNvCxnSpPr>
              <a:cxnSpLocks/>
              <a:endCxn id="112" idx="1"/>
            </p:cNvCxnSpPr>
            <p:nvPr/>
          </p:nvCxnSpPr>
          <p:spPr>
            <a:xfrm>
              <a:off x="4322382" y="3718697"/>
              <a:ext cx="598548" cy="41659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D43333C-BBE9-8D2F-9CDD-E70B727B07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40257" y="3452932"/>
              <a:ext cx="701680" cy="58218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4447F039-F8D9-53FB-B4E7-C0A907B3A820}"/>
                </a:ext>
              </a:extLst>
            </p:cNvPr>
            <p:cNvCxnSpPr>
              <a:cxnSpLocks/>
              <a:stCxn id="108" idx="3"/>
              <a:endCxn id="110" idx="7"/>
            </p:cNvCxnSpPr>
            <p:nvPr/>
          </p:nvCxnSpPr>
          <p:spPr>
            <a:xfrm flipV="1">
              <a:off x="4330380" y="3674939"/>
              <a:ext cx="701680" cy="58218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E8A8FA23-D249-57EA-B343-481625BABAEA}"/>
                </a:ext>
              </a:extLst>
            </p:cNvPr>
            <p:cNvCxnSpPr>
              <a:cxnSpLocks/>
            </p:cNvCxnSpPr>
            <p:nvPr/>
          </p:nvCxnSpPr>
          <p:spPr>
            <a:xfrm>
              <a:off x="4299244" y="3481085"/>
              <a:ext cx="725081" cy="515822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0CAC1A29-ADDC-CD2F-6355-91A00842E460}"/>
                </a:ext>
              </a:extLst>
            </p:cNvPr>
            <p:cNvSpPr/>
            <p:nvPr/>
          </p:nvSpPr>
          <p:spPr>
            <a:xfrm>
              <a:off x="4385945" y="3357152"/>
              <a:ext cx="566738" cy="96981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18285DA3-2F01-3334-C896-474FA9883E60}"/>
                </a:ext>
              </a:extLst>
            </p:cNvPr>
            <p:cNvSpPr/>
            <p:nvPr/>
          </p:nvSpPr>
          <p:spPr>
            <a:xfrm>
              <a:off x="4307364" y="3427700"/>
              <a:ext cx="157162" cy="1722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B029304A-E2C8-F839-1415-88EA667C1205}"/>
                </a:ext>
              </a:extLst>
            </p:cNvPr>
            <p:cNvSpPr/>
            <p:nvPr/>
          </p:nvSpPr>
          <p:spPr>
            <a:xfrm>
              <a:off x="4307364" y="3649707"/>
              <a:ext cx="157162" cy="1722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EB746CA6-3947-AAD8-5533-5FAFF910C14D}"/>
                </a:ext>
              </a:extLst>
            </p:cNvPr>
            <p:cNvSpPr/>
            <p:nvPr/>
          </p:nvSpPr>
          <p:spPr>
            <a:xfrm>
              <a:off x="4307364" y="3888050"/>
              <a:ext cx="157162" cy="1722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CD34FDE1-8FFF-FF69-0FB0-BEB9146D2BF6}"/>
                </a:ext>
              </a:extLst>
            </p:cNvPr>
            <p:cNvSpPr/>
            <p:nvPr/>
          </p:nvSpPr>
          <p:spPr>
            <a:xfrm>
              <a:off x="4307364" y="4110057"/>
              <a:ext cx="157162" cy="1722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4E0819CF-0DF8-2121-219E-20FA2ECA9F88}"/>
                </a:ext>
              </a:extLst>
            </p:cNvPr>
            <p:cNvSpPr/>
            <p:nvPr/>
          </p:nvSpPr>
          <p:spPr>
            <a:xfrm>
              <a:off x="4897914" y="3427700"/>
              <a:ext cx="157162" cy="1722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F8B2CDC9-4414-E66A-AFE3-C62F0348B873}"/>
                </a:ext>
              </a:extLst>
            </p:cNvPr>
            <p:cNvSpPr/>
            <p:nvPr/>
          </p:nvSpPr>
          <p:spPr>
            <a:xfrm>
              <a:off x="4897914" y="3649707"/>
              <a:ext cx="157162" cy="1722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D717DCF6-23AC-5E24-C0EF-3D164937550E}"/>
                </a:ext>
              </a:extLst>
            </p:cNvPr>
            <p:cNvSpPr/>
            <p:nvPr/>
          </p:nvSpPr>
          <p:spPr>
            <a:xfrm>
              <a:off x="4897914" y="3888050"/>
              <a:ext cx="157162" cy="1722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DF90066D-3672-B877-F28D-22FA6A6E120A}"/>
                </a:ext>
              </a:extLst>
            </p:cNvPr>
            <p:cNvSpPr/>
            <p:nvPr/>
          </p:nvSpPr>
          <p:spPr>
            <a:xfrm>
              <a:off x="4897914" y="4110057"/>
              <a:ext cx="157162" cy="1722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</p:grpSp>
      <p:sp>
        <p:nvSpPr>
          <p:cNvPr id="113" name="Google Shape;1534;g60be7dcf1c_0_434">
            <a:extLst>
              <a:ext uri="{FF2B5EF4-FFF2-40B4-BE49-F238E27FC236}">
                <a16:creationId xmlns:a16="http://schemas.microsoft.com/office/drawing/2014/main" id="{5DEEBA80-7959-F951-387C-5DB70365008E}"/>
              </a:ext>
            </a:extLst>
          </p:cNvPr>
          <p:cNvSpPr txBox="1"/>
          <p:nvPr/>
        </p:nvSpPr>
        <p:spPr>
          <a:xfrm>
            <a:off x="2735103" y="4930147"/>
            <a:ext cx="482510" cy="363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M1</a:t>
            </a: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de-DE"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78C16346-F881-CFF5-7B19-15C31CA80F20}"/>
              </a:ext>
            </a:extLst>
          </p:cNvPr>
          <p:cNvGrpSpPr/>
          <p:nvPr/>
        </p:nvGrpSpPr>
        <p:grpSpPr>
          <a:xfrm>
            <a:off x="2572294" y="5300999"/>
            <a:ext cx="747712" cy="969811"/>
            <a:chOff x="2555805" y="3349368"/>
            <a:chExt cx="747712" cy="969811"/>
          </a:xfrm>
        </p:grpSpPr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7CF6A9C6-42A9-4973-C880-8A179EE9D6A4}"/>
                </a:ext>
              </a:extLst>
            </p:cNvPr>
            <p:cNvCxnSpPr>
              <a:cxnSpLocks/>
              <a:endCxn id="125" idx="2"/>
            </p:cNvCxnSpPr>
            <p:nvPr/>
          </p:nvCxnSpPr>
          <p:spPr>
            <a:xfrm>
              <a:off x="2606206" y="3479803"/>
              <a:ext cx="540149" cy="248268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24E2929A-6B8C-D172-AC14-F3CEB81436AD}"/>
                </a:ext>
              </a:extLst>
            </p:cNvPr>
            <p:cNvCxnSpPr>
              <a:cxnSpLocks/>
            </p:cNvCxnSpPr>
            <p:nvPr/>
          </p:nvCxnSpPr>
          <p:spPr>
            <a:xfrm>
              <a:off x="2647680" y="3718567"/>
              <a:ext cx="540149" cy="24826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BDF33E66-D09D-54B3-363B-5C700A9253A1}"/>
                </a:ext>
              </a:extLst>
            </p:cNvPr>
            <p:cNvCxnSpPr>
              <a:cxnSpLocks/>
            </p:cNvCxnSpPr>
            <p:nvPr/>
          </p:nvCxnSpPr>
          <p:spPr>
            <a:xfrm>
              <a:off x="2659587" y="3962458"/>
              <a:ext cx="540149" cy="24826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F280BB36-0626-5D20-DD97-DAB09CCF67A3}"/>
                </a:ext>
              </a:extLst>
            </p:cNvPr>
            <p:cNvCxnSpPr>
              <a:cxnSpLocks/>
              <a:stCxn id="123" idx="3"/>
              <a:endCxn id="124" idx="7"/>
            </p:cNvCxnSpPr>
            <p:nvPr/>
          </p:nvCxnSpPr>
          <p:spPr>
            <a:xfrm flipV="1">
              <a:off x="2578821" y="3445148"/>
              <a:ext cx="701680" cy="80418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5C19E650-A548-F7D4-E337-4508CBF80B96}"/>
                </a:ext>
              </a:extLst>
            </p:cNvPr>
            <p:cNvSpPr/>
            <p:nvPr/>
          </p:nvSpPr>
          <p:spPr>
            <a:xfrm>
              <a:off x="2634386" y="3349368"/>
              <a:ext cx="566738" cy="96981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31E747D0-7EA4-6531-16EE-10BCCCBC5C94}"/>
                </a:ext>
              </a:extLst>
            </p:cNvPr>
            <p:cNvSpPr/>
            <p:nvPr/>
          </p:nvSpPr>
          <p:spPr>
            <a:xfrm>
              <a:off x="2555805" y="3419916"/>
              <a:ext cx="157162" cy="1722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121" name="Oval 120">
              <a:extLst>
                <a:ext uri="{FF2B5EF4-FFF2-40B4-BE49-F238E27FC236}">
                  <a16:creationId xmlns:a16="http://schemas.microsoft.com/office/drawing/2014/main" id="{9A43A43D-F960-5471-8130-AAFBFD02C058}"/>
                </a:ext>
              </a:extLst>
            </p:cNvPr>
            <p:cNvSpPr/>
            <p:nvPr/>
          </p:nvSpPr>
          <p:spPr>
            <a:xfrm>
              <a:off x="2555805" y="3641923"/>
              <a:ext cx="157162" cy="1722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122" name="Oval 121">
              <a:extLst>
                <a:ext uri="{FF2B5EF4-FFF2-40B4-BE49-F238E27FC236}">
                  <a16:creationId xmlns:a16="http://schemas.microsoft.com/office/drawing/2014/main" id="{CC2DAD1E-47E4-908F-ED5D-F9B50E49985B}"/>
                </a:ext>
              </a:extLst>
            </p:cNvPr>
            <p:cNvSpPr/>
            <p:nvPr/>
          </p:nvSpPr>
          <p:spPr>
            <a:xfrm>
              <a:off x="2555805" y="3880266"/>
              <a:ext cx="157162" cy="1722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B401182D-A72A-7473-22F3-0894E784BDD0}"/>
                </a:ext>
              </a:extLst>
            </p:cNvPr>
            <p:cNvSpPr/>
            <p:nvPr/>
          </p:nvSpPr>
          <p:spPr>
            <a:xfrm>
              <a:off x="2555805" y="4102273"/>
              <a:ext cx="157162" cy="1722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9103DB78-7BF9-E7D7-CD6E-21608B24BBC3}"/>
                </a:ext>
              </a:extLst>
            </p:cNvPr>
            <p:cNvSpPr/>
            <p:nvPr/>
          </p:nvSpPr>
          <p:spPr>
            <a:xfrm>
              <a:off x="3146355" y="3419916"/>
              <a:ext cx="157162" cy="1722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125" name="Oval 124">
              <a:extLst>
                <a:ext uri="{FF2B5EF4-FFF2-40B4-BE49-F238E27FC236}">
                  <a16:creationId xmlns:a16="http://schemas.microsoft.com/office/drawing/2014/main" id="{FBDB8550-60E9-653B-5EF5-3B9E20BE9084}"/>
                </a:ext>
              </a:extLst>
            </p:cNvPr>
            <p:cNvSpPr/>
            <p:nvPr/>
          </p:nvSpPr>
          <p:spPr>
            <a:xfrm>
              <a:off x="3146355" y="3641923"/>
              <a:ext cx="157162" cy="1722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126" name="Oval 125">
              <a:extLst>
                <a:ext uri="{FF2B5EF4-FFF2-40B4-BE49-F238E27FC236}">
                  <a16:creationId xmlns:a16="http://schemas.microsoft.com/office/drawing/2014/main" id="{B28C070D-BAB8-A0EF-F353-6E99880172BD}"/>
                </a:ext>
              </a:extLst>
            </p:cNvPr>
            <p:cNvSpPr/>
            <p:nvPr/>
          </p:nvSpPr>
          <p:spPr>
            <a:xfrm>
              <a:off x="3146355" y="3880266"/>
              <a:ext cx="157162" cy="1722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F9C8180D-52CE-06F0-FB94-12CA1A2D34AC}"/>
                </a:ext>
              </a:extLst>
            </p:cNvPr>
            <p:cNvSpPr/>
            <p:nvPr/>
          </p:nvSpPr>
          <p:spPr>
            <a:xfrm>
              <a:off x="3146355" y="4102273"/>
              <a:ext cx="157162" cy="1722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</p:grpSp>
      <p:sp>
        <p:nvSpPr>
          <p:cNvPr id="128" name="Google Shape;1534;g60be7dcf1c_0_434">
            <a:extLst>
              <a:ext uri="{FF2B5EF4-FFF2-40B4-BE49-F238E27FC236}">
                <a16:creationId xmlns:a16="http://schemas.microsoft.com/office/drawing/2014/main" id="{60CE3E83-B86E-BBB4-2FE9-AA47B4DC9E64}"/>
              </a:ext>
            </a:extLst>
          </p:cNvPr>
          <p:cNvSpPr txBox="1"/>
          <p:nvPr/>
        </p:nvSpPr>
        <p:spPr>
          <a:xfrm>
            <a:off x="6201729" y="4930147"/>
            <a:ext cx="482510" cy="363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M1</a:t>
            </a: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de-DE"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97FDA56E-1308-6650-763B-F783FF7BE6B6}"/>
              </a:ext>
            </a:extLst>
          </p:cNvPr>
          <p:cNvGrpSpPr/>
          <p:nvPr/>
        </p:nvGrpSpPr>
        <p:grpSpPr>
          <a:xfrm>
            <a:off x="6038920" y="5300999"/>
            <a:ext cx="747712" cy="969811"/>
            <a:chOff x="6022431" y="3356240"/>
            <a:chExt cx="747712" cy="969811"/>
          </a:xfrm>
        </p:grpSpPr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54D80BFD-349B-918C-2569-4072556B3C0C}"/>
                </a:ext>
              </a:extLst>
            </p:cNvPr>
            <p:cNvCxnSpPr>
              <a:cxnSpLocks/>
              <a:endCxn id="140" idx="2"/>
            </p:cNvCxnSpPr>
            <p:nvPr/>
          </p:nvCxnSpPr>
          <p:spPr>
            <a:xfrm>
              <a:off x="6072832" y="3486675"/>
              <a:ext cx="540149" cy="248268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48472833-554C-BA42-F45F-CF31FAD5B082}"/>
                </a:ext>
              </a:extLst>
            </p:cNvPr>
            <p:cNvCxnSpPr>
              <a:cxnSpLocks/>
            </p:cNvCxnSpPr>
            <p:nvPr/>
          </p:nvCxnSpPr>
          <p:spPr>
            <a:xfrm>
              <a:off x="6114306" y="3725439"/>
              <a:ext cx="540149" cy="24826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45510F46-0899-992D-A3C6-97BAF23BF748}"/>
                </a:ext>
              </a:extLst>
            </p:cNvPr>
            <p:cNvCxnSpPr>
              <a:cxnSpLocks/>
            </p:cNvCxnSpPr>
            <p:nvPr/>
          </p:nvCxnSpPr>
          <p:spPr>
            <a:xfrm>
              <a:off x="6126213" y="3969330"/>
              <a:ext cx="540149" cy="24826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EA0DB10E-1F04-78A4-2A4A-86BC23540E8B}"/>
                </a:ext>
              </a:extLst>
            </p:cNvPr>
            <p:cNvCxnSpPr>
              <a:cxnSpLocks/>
              <a:stCxn id="138" idx="3"/>
              <a:endCxn id="139" idx="7"/>
            </p:cNvCxnSpPr>
            <p:nvPr/>
          </p:nvCxnSpPr>
          <p:spPr>
            <a:xfrm flipV="1">
              <a:off x="6045447" y="3452020"/>
              <a:ext cx="701680" cy="80418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300D7425-C804-17F5-895D-721437BC4271}"/>
                </a:ext>
              </a:extLst>
            </p:cNvPr>
            <p:cNvSpPr/>
            <p:nvPr/>
          </p:nvSpPr>
          <p:spPr>
            <a:xfrm>
              <a:off x="6101012" y="3356240"/>
              <a:ext cx="566738" cy="96981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AD215D39-D6B2-AD73-4801-6C55F8CF8D41}"/>
                </a:ext>
              </a:extLst>
            </p:cNvPr>
            <p:cNvSpPr/>
            <p:nvPr/>
          </p:nvSpPr>
          <p:spPr>
            <a:xfrm>
              <a:off x="6022431" y="3426788"/>
              <a:ext cx="157162" cy="1722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93431203-EAA6-5750-5A0D-1DB9F5371EBC}"/>
                </a:ext>
              </a:extLst>
            </p:cNvPr>
            <p:cNvSpPr/>
            <p:nvPr/>
          </p:nvSpPr>
          <p:spPr>
            <a:xfrm>
              <a:off x="6022431" y="3648795"/>
              <a:ext cx="157162" cy="1722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ECF22B3C-BB0D-6186-FC4A-D7B9497FAEAC}"/>
                </a:ext>
              </a:extLst>
            </p:cNvPr>
            <p:cNvSpPr/>
            <p:nvPr/>
          </p:nvSpPr>
          <p:spPr>
            <a:xfrm>
              <a:off x="6022431" y="3887138"/>
              <a:ext cx="157162" cy="1722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D42D5ABF-F597-DB77-250D-E7354EF78DE1}"/>
                </a:ext>
              </a:extLst>
            </p:cNvPr>
            <p:cNvSpPr/>
            <p:nvPr/>
          </p:nvSpPr>
          <p:spPr>
            <a:xfrm>
              <a:off x="6022431" y="4109145"/>
              <a:ext cx="157162" cy="1722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00736E9D-6129-960A-52F7-52E025D987C9}"/>
                </a:ext>
              </a:extLst>
            </p:cNvPr>
            <p:cNvSpPr/>
            <p:nvPr/>
          </p:nvSpPr>
          <p:spPr>
            <a:xfrm>
              <a:off x="6612981" y="3426788"/>
              <a:ext cx="157162" cy="1722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140" name="Oval 139">
              <a:extLst>
                <a:ext uri="{FF2B5EF4-FFF2-40B4-BE49-F238E27FC236}">
                  <a16:creationId xmlns:a16="http://schemas.microsoft.com/office/drawing/2014/main" id="{D7BEDEBA-DA13-33ED-D3B3-DC43B775100A}"/>
                </a:ext>
              </a:extLst>
            </p:cNvPr>
            <p:cNvSpPr/>
            <p:nvPr/>
          </p:nvSpPr>
          <p:spPr>
            <a:xfrm>
              <a:off x="6612981" y="3648795"/>
              <a:ext cx="157162" cy="1722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0872CBDF-E147-BC5D-9543-069D9FAC1391}"/>
                </a:ext>
              </a:extLst>
            </p:cNvPr>
            <p:cNvSpPr/>
            <p:nvPr/>
          </p:nvSpPr>
          <p:spPr>
            <a:xfrm>
              <a:off x="6612981" y="3887138"/>
              <a:ext cx="157162" cy="1722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D9A3286F-3B63-065C-CFCD-AB500F4BF58C}"/>
                </a:ext>
              </a:extLst>
            </p:cNvPr>
            <p:cNvSpPr/>
            <p:nvPr/>
          </p:nvSpPr>
          <p:spPr>
            <a:xfrm>
              <a:off x="6612981" y="4109145"/>
              <a:ext cx="157162" cy="1722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</p:grp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3B5BA282-30D5-5AA3-33FC-1F94EF96A317}"/>
              </a:ext>
            </a:extLst>
          </p:cNvPr>
          <p:cNvCxnSpPr>
            <a:cxnSpLocks/>
          </p:cNvCxnSpPr>
          <p:nvPr/>
        </p:nvCxnSpPr>
        <p:spPr>
          <a:xfrm>
            <a:off x="1565143" y="2541447"/>
            <a:ext cx="2564129" cy="7521"/>
          </a:xfrm>
          <a:prstGeom prst="straightConnector1">
            <a:avLst/>
          </a:prstGeom>
          <a:ln>
            <a:headEnd type="arrow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1B22A2A0-9990-E423-0851-5D3E0295D87C}"/>
              </a:ext>
            </a:extLst>
          </p:cNvPr>
          <p:cNvCxnSpPr>
            <a:cxnSpLocks/>
          </p:cNvCxnSpPr>
          <p:nvPr/>
        </p:nvCxnSpPr>
        <p:spPr>
          <a:xfrm>
            <a:off x="4290655" y="2537686"/>
            <a:ext cx="2564129" cy="7521"/>
          </a:xfrm>
          <a:prstGeom prst="straightConnector1">
            <a:avLst/>
          </a:prstGeom>
          <a:ln>
            <a:headEnd type="arrow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9" name="Google Shape;1534;g60be7dcf1c_0_434">
            <a:extLst>
              <a:ext uri="{FF2B5EF4-FFF2-40B4-BE49-F238E27FC236}">
                <a16:creationId xmlns:a16="http://schemas.microsoft.com/office/drawing/2014/main" id="{CECF9748-6507-9848-D751-16A067AEB062}"/>
              </a:ext>
            </a:extLst>
          </p:cNvPr>
          <p:cNvSpPr txBox="1"/>
          <p:nvPr/>
        </p:nvSpPr>
        <p:spPr>
          <a:xfrm>
            <a:off x="2410727" y="2164347"/>
            <a:ext cx="1199491" cy="370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Period 1</a:t>
            </a: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de-DE"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3" name="Google Shape;1534;g60be7dcf1c_0_434">
            <a:extLst>
              <a:ext uri="{FF2B5EF4-FFF2-40B4-BE49-F238E27FC236}">
                <a16:creationId xmlns:a16="http://schemas.microsoft.com/office/drawing/2014/main" id="{59ECBFB8-8256-01A6-558D-D3BE73867CA9}"/>
              </a:ext>
            </a:extLst>
          </p:cNvPr>
          <p:cNvSpPr txBox="1"/>
          <p:nvPr/>
        </p:nvSpPr>
        <p:spPr>
          <a:xfrm>
            <a:off x="5019905" y="2164347"/>
            <a:ext cx="1199491" cy="370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Period 2</a:t>
            </a: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de-DE"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412492469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09;g60be7dcf1c_0_222">
            <a:extLst>
              <a:ext uri="{FF2B5EF4-FFF2-40B4-BE49-F238E27FC236}">
                <a16:creationId xmlns:a16="http://schemas.microsoft.com/office/drawing/2014/main" id="{4DE19C73-9916-40CA-87D9-CC4934AE39A5}"/>
              </a:ext>
            </a:extLst>
          </p:cNvPr>
          <p:cNvSpPr txBox="1"/>
          <p:nvPr/>
        </p:nvSpPr>
        <p:spPr>
          <a:xfrm>
            <a:off x="0" y="540000"/>
            <a:ext cx="8170925" cy="75235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14" name="Google Shape;1288;g60be7dcf1c_0_204">
            <a:extLst>
              <a:ext uri="{FF2B5EF4-FFF2-40B4-BE49-F238E27FC236}">
                <a16:creationId xmlns:a16="http://schemas.microsoft.com/office/drawing/2014/main" id="{3A5A658B-C73C-468A-B47B-9E631F9C601D}"/>
              </a:ext>
            </a:extLst>
          </p:cNvPr>
          <p:cNvSpPr txBox="1">
            <a:spLocks/>
          </p:cNvSpPr>
          <p:nvPr/>
        </p:nvSpPr>
        <p:spPr>
          <a:xfrm>
            <a:off x="973075" y="524023"/>
            <a:ext cx="8171100" cy="768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lnSpc>
                <a:spcPct val="115000"/>
              </a:lnSpc>
              <a:buSzPts val="1100"/>
            </a:pPr>
            <a:r>
              <a:rPr lang="en-GB" sz="36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Taxonomy and Opportunity</a:t>
            </a:r>
            <a:br>
              <a:rPr lang="en-GB" sz="32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lang="en-GB" sz="2000" dirty="0">
              <a:solidFill>
                <a:schemeClr val="tx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9" name="Quad Arrow 7">
            <a:extLst>
              <a:ext uri="{FF2B5EF4-FFF2-40B4-BE49-F238E27FC236}">
                <a16:creationId xmlns:a16="http://schemas.microsoft.com/office/drawing/2014/main" id="{385A9012-058F-49BD-9BAF-6B34AA373EE0}"/>
              </a:ext>
            </a:extLst>
          </p:cNvPr>
          <p:cNvSpPr/>
          <p:nvPr/>
        </p:nvSpPr>
        <p:spPr>
          <a:xfrm>
            <a:off x="4032277" y="1636708"/>
            <a:ext cx="4178788" cy="4295751"/>
          </a:xfrm>
          <a:prstGeom prst="quadArrow">
            <a:avLst>
              <a:gd name="adj1" fmla="val 2000"/>
              <a:gd name="adj2" fmla="val 4000"/>
              <a:gd name="adj3" fmla="val 5000"/>
            </a:avLst>
          </a:prstGeom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hemeClr val="accent4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4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de-DE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26B0604-34FB-4C74-8EEF-54D39D90F238}"/>
              </a:ext>
            </a:extLst>
          </p:cNvPr>
          <p:cNvSpPr/>
          <p:nvPr/>
        </p:nvSpPr>
        <p:spPr>
          <a:xfrm>
            <a:off x="2797770" y="3492195"/>
            <a:ext cx="119455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</a:rPr>
              <a:t>Demand-</a:t>
            </a:r>
            <a:br>
              <a:rPr lang="en-US" sz="1600" dirty="0">
                <a:latin typeface="Consolas" panose="020B0609020204030204" pitchFamily="49" charset="0"/>
              </a:rPr>
            </a:br>
            <a:r>
              <a:rPr lang="en-US" sz="1600" dirty="0">
                <a:latin typeface="Consolas" panose="020B0609020204030204" pitchFamily="49" charset="0"/>
              </a:rPr>
              <a:t>oblivious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B59E138-458C-4EA2-AD2F-BFD915E56F2D}"/>
              </a:ext>
            </a:extLst>
          </p:cNvPr>
          <p:cNvSpPr/>
          <p:nvPr/>
        </p:nvSpPr>
        <p:spPr>
          <a:xfrm>
            <a:off x="8170925" y="3492195"/>
            <a:ext cx="97013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</a:rPr>
              <a:t>Demand-</a:t>
            </a:r>
            <a:br>
              <a:rPr lang="en-US" sz="1600" dirty="0">
                <a:latin typeface="Consolas" panose="020B0609020204030204" pitchFamily="49" charset="0"/>
              </a:rPr>
            </a:br>
            <a:r>
              <a:rPr lang="en-US" sz="1600" dirty="0">
                <a:latin typeface="Consolas" panose="020B0609020204030204" pitchFamily="49" charset="0"/>
              </a:rPr>
              <a:t>aware</a:t>
            </a:r>
          </a:p>
        </p:txBody>
      </p:sp>
      <p:sp>
        <p:nvSpPr>
          <p:cNvPr id="17" name="Google Shape;1534;g60be7dcf1c_0_434">
            <a:extLst>
              <a:ext uri="{FF2B5EF4-FFF2-40B4-BE49-F238E27FC236}">
                <a16:creationId xmlns:a16="http://schemas.microsoft.com/office/drawing/2014/main" id="{2A4EBE9C-51A3-4830-BA29-10A3F82F223B}"/>
              </a:ext>
            </a:extLst>
          </p:cNvPr>
          <p:cNvSpPr txBox="1"/>
          <p:nvPr/>
        </p:nvSpPr>
        <p:spPr>
          <a:xfrm>
            <a:off x="555543" y="1639967"/>
            <a:ext cx="3378608" cy="1692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de-DE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Orthogonal topology choices:</a:t>
            </a:r>
            <a:endParaRPr lang="en-US" sz="1600" b="1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⇀ </a:t>
            </a:r>
            <a:r>
              <a:rPr lang="de-DE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demand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lang="en-GB" sz="1600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oblivious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and </a:t>
            </a:r>
          </a:p>
          <a:p>
            <a:pPr lvl="0">
              <a:lnSpc>
                <a:spcPct val="115000"/>
              </a:lnSpc>
            </a:pP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de-DE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demand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lang="en-GB" sz="1600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aware</a:t>
            </a: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>
              <a:lnSpc>
                <a:spcPct val="115000"/>
              </a:lnSpc>
            </a:pPr>
            <a:r>
              <a:rPr lang="en-GB" sz="1600" dirty="0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⇀ static vs dynamic</a:t>
            </a:r>
          </a:p>
          <a:p>
            <a:pPr lvl="0">
              <a:lnSpc>
                <a:spcPct val="115000"/>
              </a:lnSpc>
            </a:pP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de-DE"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95C011B-DD65-432D-9492-559EE2701ABB}"/>
              </a:ext>
            </a:extLst>
          </p:cNvPr>
          <p:cNvSpPr/>
          <p:nvPr/>
        </p:nvSpPr>
        <p:spPr>
          <a:xfrm>
            <a:off x="5905686" y="1564306"/>
            <a:ext cx="390386" cy="21633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BA8B535-0F65-4E5C-AFD7-16BBC2306AC7}"/>
              </a:ext>
            </a:extLst>
          </p:cNvPr>
          <p:cNvSpPr/>
          <p:nvPr/>
        </p:nvSpPr>
        <p:spPr>
          <a:xfrm>
            <a:off x="5951296" y="3841524"/>
            <a:ext cx="390386" cy="21633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A32911F4-6078-F8BC-FA5D-63D0B1F4697B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19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1653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09;g60be7dcf1c_0_222">
            <a:extLst>
              <a:ext uri="{FF2B5EF4-FFF2-40B4-BE49-F238E27FC236}">
                <a16:creationId xmlns:a16="http://schemas.microsoft.com/office/drawing/2014/main" id="{4DE19C73-9916-40CA-87D9-CC4934AE39A5}"/>
              </a:ext>
            </a:extLst>
          </p:cNvPr>
          <p:cNvSpPr txBox="1"/>
          <p:nvPr/>
        </p:nvSpPr>
        <p:spPr>
          <a:xfrm>
            <a:off x="0" y="540000"/>
            <a:ext cx="8170925" cy="75235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49" name="Quad Arrow 7">
            <a:extLst>
              <a:ext uri="{FF2B5EF4-FFF2-40B4-BE49-F238E27FC236}">
                <a16:creationId xmlns:a16="http://schemas.microsoft.com/office/drawing/2014/main" id="{385A9012-058F-49BD-9BAF-6B34AA373EE0}"/>
              </a:ext>
            </a:extLst>
          </p:cNvPr>
          <p:cNvSpPr/>
          <p:nvPr/>
        </p:nvSpPr>
        <p:spPr>
          <a:xfrm>
            <a:off x="4032277" y="1636708"/>
            <a:ext cx="4178788" cy="4295751"/>
          </a:xfrm>
          <a:prstGeom prst="quadArrow">
            <a:avLst>
              <a:gd name="adj1" fmla="val 2000"/>
              <a:gd name="adj2" fmla="val 4000"/>
              <a:gd name="adj3" fmla="val 5000"/>
            </a:avLst>
          </a:prstGeom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hemeClr val="accent4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4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de-DE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14273E40-9B65-40EE-AAF1-2EFA280E4F37}"/>
              </a:ext>
            </a:extLst>
          </p:cNvPr>
          <p:cNvSpPr/>
          <p:nvPr/>
        </p:nvSpPr>
        <p:spPr>
          <a:xfrm>
            <a:off x="5672605" y="6049084"/>
            <a:ext cx="85792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Static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26B0604-34FB-4C74-8EEF-54D39D90F238}"/>
              </a:ext>
            </a:extLst>
          </p:cNvPr>
          <p:cNvSpPr/>
          <p:nvPr/>
        </p:nvSpPr>
        <p:spPr>
          <a:xfrm>
            <a:off x="2797770" y="3492195"/>
            <a:ext cx="119455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</a:rPr>
              <a:t>Demand-</a:t>
            </a:r>
            <a:br>
              <a:rPr lang="en-US" sz="1600" dirty="0">
                <a:latin typeface="Consolas" panose="020B0609020204030204" pitchFamily="49" charset="0"/>
              </a:rPr>
            </a:br>
            <a:r>
              <a:rPr lang="en-US" sz="1600" dirty="0">
                <a:latin typeface="Consolas" panose="020B0609020204030204" pitchFamily="49" charset="0"/>
              </a:rPr>
              <a:t>oblivious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B59E138-458C-4EA2-AD2F-BFD915E56F2D}"/>
              </a:ext>
            </a:extLst>
          </p:cNvPr>
          <p:cNvSpPr/>
          <p:nvPr/>
        </p:nvSpPr>
        <p:spPr>
          <a:xfrm>
            <a:off x="8170925" y="3492195"/>
            <a:ext cx="97013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</a:rPr>
              <a:t>Demand-</a:t>
            </a:r>
            <a:br>
              <a:rPr lang="en-US" sz="1600" dirty="0">
                <a:latin typeface="Consolas" panose="020B0609020204030204" pitchFamily="49" charset="0"/>
              </a:rPr>
            </a:br>
            <a:r>
              <a:rPr lang="en-US" sz="1600" dirty="0">
                <a:latin typeface="Consolas" panose="020B0609020204030204" pitchFamily="49" charset="0"/>
              </a:rPr>
              <a:t>aware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A812149-FAEA-439D-ABBA-8E6F395D1EA6}"/>
              </a:ext>
            </a:extLst>
          </p:cNvPr>
          <p:cNvSpPr/>
          <p:nvPr/>
        </p:nvSpPr>
        <p:spPr>
          <a:xfrm>
            <a:off x="5655141" y="1317392"/>
            <a:ext cx="97013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Dynamic</a:t>
            </a:r>
          </a:p>
        </p:txBody>
      </p:sp>
      <p:sp>
        <p:nvSpPr>
          <p:cNvPr id="17" name="Google Shape;1534;g60be7dcf1c_0_434">
            <a:extLst>
              <a:ext uri="{FF2B5EF4-FFF2-40B4-BE49-F238E27FC236}">
                <a16:creationId xmlns:a16="http://schemas.microsoft.com/office/drawing/2014/main" id="{2A4EBE9C-51A3-4830-BA29-10A3F82F223B}"/>
              </a:ext>
            </a:extLst>
          </p:cNvPr>
          <p:cNvSpPr txBox="1"/>
          <p:nvPr/>
        </p:nvSpPr>
        <p:spPr>
          <a:xfrm>
            <a:off x="555543" y="1639967"/>
            <a:ext cx="3378608" cy="1692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de-DE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Orthogonal topology choices:</a:t>
            </a:r>
            <a:endParaRPr lang="en-US" sz="1600" b="1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⇀ </a:t>
            </a:r>
            <a:r>
              <a:rPr lang="de-DE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demand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lang="en-GB" sz="1600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oblivious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and </a:t>
            </a:r>
          </a:p>
          <a:p>
            <a:pPr lvl="0">
              <a:lnSpc>
                <a:spcPct val="115000"/>
              </a:lnSpc>
            </a:pP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de-DE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demand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lang="en-GB" sz="1600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aware</a:t>
            </a: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⇀ static vs dynamic</a:t>
            </a:r>
          </a:p>
          <a:p>
            <a:pPr lvl="0">
              <a:lnSpc>
                <a:spcPct val="115000"/>
              </a:lnSpc>
            </a:pP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de-DE"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" name="Google Shape;1288;g60be7dcf1c_0_204">
            <a:extLst>
              <a:ext uri="{FF2B5EF4-FFF2-40B4-BE49-F238E27FC236}">
                <a16:creationId xmlns:a16="http://schemas.microsoft.com/office/drawing/2014/main" id="{3DEAA5B4-E55C-4A4B-90D6-0BD21A5EECBE}"/>
              </a:ext>
            </a:extLst>
          </p:cNvPr>
          <p:cNvSpPr txBox="1">
            <a:spLocks/>
          </p:cNvSpPr>
          <p:nvPr/>
        </p:nvSpPr>
        <p:spPr>
          <a:xfrm>
            <a:off x="973075" y="524023"/>
            <a:ext cx="8171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lnSpc>
                <a:spcPct val="115000"/>
              </a:lnSpc>
              <a:buSzPts val="1100"/>
            </a:pPr>
            <a:r>
              <a:rPr lang="en-GB" sz="36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Taxonomy and Opportunity</a:t>
            </a:r>
            <a:br>
              <a:rPr lang="en-GB" sz="32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lang="en-GB" sz="2000" dirty="0">
              <a:solidFill>
                <a:schemeClr val="tx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9F653AB-A6E1-4B8A-A93D-6BAA5E757DC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46</a:t>
            </a:fld>
            <a:endParaRPr lang="de-DE"/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F2FC2C79-CA42-F77A-AFA7-DF672EA2F4C9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19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112663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09;g60be7dcf1c_0_222">
            <a:extLst>
              <a:ext uri="{FF2B5EF4-FFF2-40B4-BE49-F238E27FC236}">
                <a16:creationId xmlns:a16="http://schemas.microsoft.com/office/drawing/2014/main" id="{4DE19C73-9916-40CA-87D9-CC4934AE39A5}"/>
              </a:ext>
            </a:extLst>
          </p:cNvPr>
          <p:cNvSpPr txBox="1"/>
          <p:nvPr/>
        </p:nvSpPr>
        <p:spPr>
          <a:xfrm>
            <a:off x="0" y="540000"/>
            <a:ext cx="8170925" cy="75235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49" name="Quad Arrow 7">
            <a:extLst>
              <a:ext uri="{FF2B5EF4-FFF2-40B4-BE49-F238E27FC236}">
                <a16:creationId xmlns:a16="http://schemas.microsoft.com/office/drawing/2014/main" id="{385A9012-058F-49BD-9BAF-6B34AA373EE0}"/>
              </a:ext>
            </a:extLst>
          </p:cNvPr>
          <p:cNvSpPr/>
          <p:nvPr/>
        </p:nvSpPr>
        <p:spPr>
          <a:xfrm>
            <a:off x="4032277" y="1636708"/>
            <a:ext cx="4178788" cy="4295751"/>
          </a:xfrm>
          <a:prstGeom prst="quadArrow">
            <a:avLst>
              <a:gd name="adj1" fmla="val 2000"/>
              <a:gd name="adj2" fmla="val 4000"/>
              <a:gd name="adj3" fmla="val 5000"/>
            </a:avLst>
          </a:prstGeom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hemeClr val="accent4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4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de-DE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14273E40-9B65-40EE-AAF1-2EFA280E4F37}"/>
              </a:ext>
            </a:extLst>
          </p:cNvPr>
          <p:cNvSpPr/>
          <p:nvPr/>
        </p:nvSpPr>
        <p:spPr>
          <a:xfrm>
            <a:off x="5672605" y="6049084"/>
            <a:ext cx="85792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Static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26B0604-34FB-4C74-8EEF-54D39D90F238}"/>
              </a:ext>
            </a:extLst>
          </p:cNvPr>
          <p:cNvSpPr/>
          <p:nvPr/>
        </p:nvSpPr>
        <p:spPr>
          <a:xfrm>
            <a:off x="2797770" y="3492195"/>
            <a:ext cx="119455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</a:rPr>
              <a:t>Demand-</a:t>
            </a:r>
            <a:br>
              <a:rPr lang="en-US" sz="1600" dirty="0">
                <a:latin typeface="Consolas" panose="020B0609020204030204" pitchFamily="49" charset="0"/>
              </a:rPr>
            </a:br>
            <a:r>
              <a:rPr lang="en-US" sz="1600" dirty="0">
                <a:latin typeface="Consolas" panose="020B0609020204030204" pitchFamily="49" charset="0"/>
              </a:rPr>
              <a:t>oblivious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B59E138-458C-4EA2-AD2F-BFD915E56F2D}"/>
              </a:ext>
            </a:extLst>
          </p:cNvPr>
          <p:cNvSpPr/>
          <p:nvPr/>
        </p:nvSpPr>
        <p:spPr>
          <a:xfrm>
            <a:off x="8170925" y="3492195"/>
            <a:ext cx="97013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</a:rPr>
              <a:t>Demand-</a:t>
            </a:r>
            <a:br>
              <a:rPr lang="en-US" sz="1600" dirty="0">
                <a:latin typeface="Consolas" panose="020B0609020204030204" pitchFamily="49" charset="0"/>
              </a:rPr>
            </a:br>
            <a:r>
              <a:rPr lang="en-US" sz="1600" dirty="0">
                <a:latin typeface="Consolas" panose="020B0609020204030204" pitchFamily="49" charset="0"/>
              </a:rPr>
              <a:t>aware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A812149-FAEA-439D-ABBA-8E6F395D1EA6}"/>
              </a:ext>
            </a:extLst>
          </p:cNvPr>
          <p:cNvSpPr/>
          <p:nvPr/>
        </p:nvSpPr>
        <p:spPr>
          <a:xfrm>
            <a:off x="5655141" y="1317392"/>
            <a:ext cx="97013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Dynamic</a:t>
            </a:r>
          </a:p>
        </p:txBody>
      </p:sp>
      <p:sp>
        <p:nvSpPr>
          <p:cNvPr id="20" name="Freeform 8">
            <a:extLst>
              <a:ext uri="{FF2B5EF4-FFF2-40B4-BE49-F238E27FC236}">
                <a16:creationId xmlns:a16="http://schemas.microsoft.com/office/drawing/2014/main" id="{8A40A37B-C38E-4BC1-B82C-038E7E227D18}"/>
              </a:ext>
            </a:extLst>
          </p:cNvPr>
          <p:cNvSpPr/>
          <p:nvPr/>
        </p:nvSpPr>
        <p:spPr>
          <a:xfrm>
            <a:off x="4103649" y="2221323"/>
            <a:ext cx="1860770" cy="1207677"/>
          </a:xfrm>
          <a:custGeom>
            <a:avLst/>
            <a:gdLst>
              <a:gd name="connsiteX0" fmla="*/ 0 w 2651765"/>
              <a:gd name="connsiteY0" fmla="*/ 368262 h 2209528"/>
              <a:gd name="connsiteX1" fmla="*/ 368262 w 2651765"/>
              <a:gd name="connsiteY1" fmla="*/ 0 h 2209528"/>
              <a:gd name="connsiteX2" fmla="*/ 2283503 w 2651765"/>
              <a:gd name="connsiteY2" fmla="*/ 0 h 2209528"/>
              <a:gd name="connsiteX3" fmla="*/ 2651765 w 2651765"/>
              <a:gd name="connsiteY3" fmla="*/ 368262 h 2209528"/>
              <a:gd name="connsiteX4" fmla="*/ 2651765 w 2651765"/>
              <a:gd name="connsiteY4" fmla="*/ 1841266 h 2209528"/>
              <a:gd name="connsiteX5" fmla="*/ 2283503 w 2651765"/>
              <a:gd name="connsiteY5" fmla="*/ 2209528 h 2209528"/>
              <a:gd name="connsiteX6" fmla="*/ 368262 w 2651765"/>
              <a:gd name="connsiteY6" fmla="*/ 2209528 h 2209528"/>
              <a:gd name="connsiteX7" fmla="*/ 0 w 2651765"/>
              <a:gd name="connsiteY7" fmla="*/ 1841266 h 2209528"/>
              <a:gd name="connsiteX8" fmla="*/ 0 w 2651765"/>
              <a:gd name="connsiteY8" fmla="*/ 368262 h 2209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51765" h="2209528">
                <a:moveTo>
                  <a:pt x="0" y="368262"/>
                </a:moveTo>
                <a:cubicBezTo>
                  <a:pt x="0" y="164877"/>
                  <a:pt x="164877" y="0"/>
                  <a:pt x="368262" y="0"/>
                </a:cubicBezTo>
                <a:lnTo>
                  <a:pt x="2283503" y="0"/>
                </a:lnTo>
                <a:cubicBezTo>
                  <a:pt x="2486888" y="0"/>
                  <a:pt x="2651765" y="164877"/>
                  <a:pt x="2651765" y="368262"/>
                </a:cubicBezTo>
                <a:lnTo>
                  <a:pt x="2651765" y="1841266"/>
                </a:lnTo>
                <a:cubicBezTo>
                  <a:pt x="2651765" y="2044651"/>
                  <a:pt x="2486888" y="2209528"/>
                  <a:pt x="2283503" y="2209528"/>
                </a:cubicBezTo>
                <a:lnTo>
                  <a:pt x="368262" y="2209528"/>
                </a:lnTo>
                <a:cubicBezTo>
                  <a:pt x="164877" y="2209528"/>
                  <a:pt x="0" y="2044651"/>
                  <a:pt x="0" y="1841266"/>
                </a:cubicBezTo>
                <a:lnTo>
                  <a:pt x="0" y="368262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48830" tIns="248830" rIns="248830" bIns="248830" numCol="1" spcCol="1270" anchor="ctr" anchorCtr="0">
            <a:noAutofit/>
          </a:bodyPr>
          <a:lstStyle/>
          <a:p>
            <a:r>
              <a:rPr lang="de-DE" sz="1000" dirty="0">
                <a:solidFill>
                  <a:schemeClr val="tx1"/>
                </a:solidFill>
                <a:latin typeface="Consolas" panose="020B0609020204030204" pitchFamily="49" charset="0"/>
              </a:rPr>
              <a:t>e.g., </a:t>
            </a:r>
            <a:r>
              <a:rPr lang="en-AT" sz="1000" dirty="0" err="1">
                <a:solidFill>
                  <a:schemeClr val="tx1"/>
                </a:solidFill>
                <a:latin typeface="Consolas" panose="020B0609020204030204" pitchFamily="49" charset="0"/>
              </a:rPr>
              <a:t>RotorNet</a:t>
            </a:r>
            <a:r>
              <a:rPr lang="en-AT" sz="1000" dirty="0">
                <a:solidFill>
                  <a:schemeClr val="tx1"/>
                </a:solidFill>
                <a:latin typeface="Consolas" panose="020B0609020204030204" pitchFamily="49" charset="0"/>
              </a:rPr>
              <a:t> (SIGCOMM</a:t>
            </a:r>
            <a:r>
              <a:rPr lang="de-DE" sz="1000" dirty="0">
                <a:solidFill>
                  <a:schemeClr val="tx1"/>
                </a:solidFill>
                <a:latin typeface="Consolas" panose="020B0609020204030204" pitchFamily="49" charset="0"/>
              </a:rPr>
              <a:t>‘</a:t>
            </a:r>
            <a:r>
              <a:rPr lang="en-AT" sz="1000" dirty="0">
                <a:solidFill>
                  <a:schemeClr val="tx1"/>
                </a:solidFill>
                <a:latin typeface="Consolas" panose="020B0609020204030204" pitchFamily="49" charset="0"/>
              </a:rPr>
              <a:t>17),</a:t>
            </a:r>
            <a:r>
              <a:rPr lang="de-DE" sz="1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AT" sz="1000" dirty="0">
                <a:solidFill>
                  <a:schemeClr val="tx1"/>
                </a:solidFill>
                <a:latin typeface="Consolas" panose="020B0609020204030204" pitchFamily="49" charset="0"/>
              </a:rPr>
              <a:t>Sirius(SIGCOMM</a:t>
            </a:r>
            <a:r>
              <a:rPr lang="de-DE" sz="1000" dirty="0">
                <a:solidFill>
                  <a:schemeClr val="tx1"/>
                </a:solidFill>
                <a:latin typeface="Consolas" panose="020B0609020204030204" pitchFamily="49" charset="0"/>
              </a:rPr>
              <a:t>‘</a:t>
            </a:r>
            <a:r>
              <a:rPr lang="en-AT" sz="1000" dirty="0">
                <a:solidFill>
                  <a:schemeClr val="tx1"/>
                </a:solidFill>
                <a:latin typeface="Consolas" panose="020B0609020204030204" pitchFamily="49" charset="0"/>
              </a:rPr>
              <a:t>20)</a:t>
            </a:r>
            <a:r>
              <a:rPr lang="de-DE" sz="1000" dirty="0">
                <a:solidFill>
                  <a:schemeClr val="tx1"/>
                </a:solidFill>
                <a:latin typeface="Consolas" panose="020B0609020204030204" pitchFamily="49" charset="0"/>
              </a:rPr>
              <a:t>, Mars  (SIGMETRICS‘23), </a:t>
            </a:r>
            <a:r>
              <a:rPr lang="de-DE" sz="1000" dirty="0" err="1">
                <a:solidFill>
                  <a:schemeClr val="tx1"/>
                </a:solidFill>
                <a:latin typeface="Consolas" panose="020B0609020204030204" pitchFamily="49" charset="0"/>
              </a:rPr>
              <a:t>Shale</a:t>
            </a:r>
            <a:r>
              <a:rPr lang="de-DE" sz="1000" dirty="0">
                <a:solidFill>
                  <a:schemeClr val="tx1"/>
                </a:solidFill>
                <a:latin typeface="Consolas" panose="020B0609020204030204" pitchFamily="49" charset="0"/>
              </a:rPr>
              <a:t>  (SIGMETRICS‘24) </a:t>
            </a:r>
            <a:endParaRPr lang="en-AT" sz="10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Freeform 8">
            <a:extLst>
              <a:ext uri="{FF2B5EF4-FFF2-40B4-BE49-F238E27FC236}">
                <a16:creationId xmlns:a16="http://schemas.microsoft.com/office/drawing/2014/main" id="{62FF0828-3EA2-4CDF-9A29-119384D4440C}"/>
              </a:ext>
            </a:extLst>
          </p:cNvPr>
          <p:cNvSpPr/>
          <p:nvPr/>
        </p:nvSpPr>
        <p:spPr>
          <a:xfrm>
            <a:off x="6278858" y="2221322"/>
            <a:ext cx="1932142" cy="1207677"/>
          </a:xfrm>
          <a:custGeom>
            <a:avLst/>
            <a:gdLst>
              <a:gd name="connsiteX0" fmla="*/ 0 w 2651765"/>
              <a:gd name="connsiteY0" fmla="*/ 368262 h 2209528"/>
              <a:gd name="connsiteX1" fmla="*/ 368262 w 2651765"/>
              <a:gd name="connsiteY1" fmla="*/ 0 h 2209528"/>
              <a:gd name="connsiteX2" fmla="*/ 2283503 w 2651765"/>
              <a:gd name="connsiteY2" fmla="*/ 0 h 2209528"/>
              <a:gd name="connsiteX3" fmla="*/ 2651765 w 2651765"/>
              <a:gd name="connsiteY3" fmla="*/ 368262 h 2209528"/>
              <a:gd name="connsiteX4" fmla="*/ 2651765 w 2651765"/>
              <a:gd name="connsiteY4" fmla="*/ 1841266 h 2209528"/>
              <a:gd name="connsiteX5" fmla="*/ 2283503 w 2651765"/>
              <a:gd name="connsiteY5" fmla="*/ 2209528 h 2209528"/>
              <a:gd name="connsiteX6" fmla="*/ 368262 w 2651765"/>
              <a:gd name="connsiteY6" fmla="*/ 2209528 h 2209528"/>
              <a:gd name="connsiteX7" fmla="*/ 0 w 2651765"/>
              <a:gd name="connsiteY7" fmla="*/ 1841266 h 2209528"/>
              <a:gd name="connsiteX8" fmla="*/ 0 w 2651765"/>
              <a:gd name="connsiteY8" fmla="*/ 368262 h 2209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51765" h="2209528">
                <a:moveTo>
                  <a:pt x="0" y="368262"/>
                </a:moveTo>
                <a:cubicBezTo>
                  <a:pt x="0" y="164877"/>
                  <a:pt x="164877" y="0"/>
                  <a:pt x="368262" y="0"/>
                </a:cubicBezTo>
                <a:lnTo>
                  <a:pt x="2283503" y="0"/>
                </a:lnTo>
                <a:cubicBezTo>
                  <a:pt x="2486888" y="0"/>
                  <a:pt x="2651765" y="164877"/>
                  <a:pt x="2651765" y="368262"/>
                </a:cubicBezTo>
                <a:lnTo>
                  <a:pt x="2651765" y="1841266"/>
                </a:lnTo>
                <a:cubicBezTo>
                  <a:pt x="2651765" y="2044651"/>
                  <a:pt x="2486888" y="2209528"/>
                  <a:pt x="2283503" y="2209528"/>
                </a:cubicBezTo>
                <a:lnTo>
                  <a:pt x="368262" y="2209528"/>
                </a:lnTo>
                <a:cubicBezTo>
                  <a:pt x="164877" y="2209528"/>
                  <a:pt x="0" y="2044651"/>
                  <a:pt x="0" y="1841266"/>
                </a:cubicBezTo>
                <a:lnTo>
                  <a:pt x="0" y="368262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48830" tIns="248830" rIns="248830" bIns="248830" numCol="1" spcCol="1270" anchor="ctr" anchorCtr="0">
            <a:noAutofit/>
          </a:bodyPr>
          <a:lstStyle/>
          <a:p>
            <a:r>
              <a:rPr lang="de-DE" sz="1000" dirty="0">
                <a:solidFill>
                  <a:schemeClr val="tx1"/>
                </a:solidFill>
                <a:latin typeface="Consolas" panose="020B0609020204030204" pitchFamily="49" charset="0"/>
              </a:rPr>
              <a:t>e.g., Helios (SIGCOMM‘10), </a:t>
            </a:r>
            <a:r>
              <a:rPr lang="de-DE" sz="1000" dirty="0" err="1">
                <a:solidFill>
                  <a:schemeClr val="tx1"/>
                </a:solidFill>
                <a:latin typeface="Consolas" panose="020B0609020204030204" pitchFamily="49" charset="0"/>
              </a:rPr>
              <a:t>ProjecToR</a:t>
            </a:r>
            <a:r>
              <a:rPr lang="de-DE" sz="1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AT" sz="1000" dirty="0">
                <a:solidFill>
                  <a:schemeClr val="tx1"/>
                </a:solidFill>
                <a:latin typeface="Consolas" panose="020B0609020204030204" pitchFamily="49" charset="0"/>
              </a:rPr>
              <a:t> (SIGCOMM</a:t>
            </a:r>
            <a:r>
              <a:rPr lang="de-DE" sz="1000" dirty="0">
                <a:solidFill>
                  <a:schemeClr val="tx1"/>
                </a:solidFill>
                <a:latin typeface="Consolas" panose="020B0609020204030204" pitchFamily="49" charset="0"/>
              </a:rPr>
              <a:t>‘</a:t>
            </a:r>
            <a:r>
              <a:rPr lang="en-AT" sz="1000" dirty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r>
              <a:rPr lang="de-DE" sz="1000" dirty="0">
                <a:solidFill>
                  <a:schemeClr val="tx1"/>
                </a:solidFill>
                <a:latin typeface="Consolas" panose="020B0609020204030204" pitchFamily="49" charset="0"/>
              </a:rPr>
              <a:t>6</a:t>
            </a:r>
            <a:r>
              <a:rPr lang="en-AT" sz="1000" dirty="0">
                <a:solidFill>
                  <a:schemeClr val="tx1"/>
                </a:solidFill>
                <a:latin typeface="Consolas" panose="020B0609020204030204" pitchFamily="49" charset="0"/>
              </a:rPr>
              <a:t>),</a:t>
            </a:r>
            <a:r>
              <a:rPr lang="de-DE" sz="1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de-DE" sz="1000" dirty="0" err="1">
                <a:solidFill>
                  <a:schemeClr val="tx1"/>
                </a:solidFill>
                <a:latin typeface="Consolas" panose="020B0609020204030204" pitchFamily="49" charset="0"/>
              </a:rPr>
              <a:t>SplayNet</a:t>
            </a:r>
            <a:r>
              <a:rPr lang="en-AT" sz="10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de-DE" sz="1000" dirty="0">
                <a:solidFill>
                  <a:schemeClr val="tx1"/>
                </a:solidFill>
                <a:latin typeface="Consolas" panose="020B0609020204030204" pitchFamily="49" charset="0"/>
              </a:rPr>
              <a:t>ToN‘16</a:t>
            </a:r>
            <a:r>
              <a:rPr lang="en-AT" sz="10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  <a:r>
              <a:rPr lang="de-DE" sz="1000" dirty="0">
                <a:solidFill>
                  <a:schemeClr val="tx1"/>
                </a:solidFill>
                <a:latin typeface="Consolas" panose="020B0609020204030204" pitchFamily="49" charset="0"/>
              </a:rPr>
              <a:t>, Duo (SIGMETRICS‘23)</a:t>
            </a:r>
            <a:endParaRPr lang="en-AT" sz="10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Freeform 8">
            <a:extLst>
              <a:ext uri="{FF2B5EF4-FFF2-40B4-BE49-F238E27FC236}">
                <a16:creationId xmlns:a16="http://schemas.microsoft.com/office/drawing/2014/main" id="{39630DBF-E998-49ED-8B39-144AE078F944}"/>
              </a:ext>
            </a:extLst>
          </p:cNvPr>
          <p:cNvSpPr/>
          <p:nvPr/>
        </p:nvSpPr>
        <p:spPr>
          <a:xfrm>
            <a:off x="4103649" y="4076891"/>
            <a:ext cx="1860770" cy="1207677"/>
          </a:xfrm>
          <a:custGeom>
            <a:avLst/>
            <a:gdLst>
              <a:gd name="connsiteX0" fmla="*/ 0 w 2651765"/>
              <a:gd name="connsiteY0" fmla="*/ 368262 h 2209528"/>
              <a:gd name="connsiteX1" fmla="*/ 368262 w 2651765"/>
              <a:gd name="connsiteY1" fmla="*/ 0 h 2209528"/>
              <a:gd name="connsiteX2" fmla="*/ 2283503 w 2651765"/>
              <a:gd name="connsiteY2" fmla="*/ 0 h 2209528"/>
              <a:gd name="connsiteX3" fmla="*/ 2651765 w 2651765"/>
              <a:gd name="connsiteY3" fmla="*/ 368262 h 2209528"/>
              <a:gd name="connsiteX4" fmla="*/ 2651765 w 2651765"/>
              <a:gd name="connsiteY4" fmla="*/ 1841266 h 2209528"/>
              <a:gd name="connsiteX5" fmla="*/ 2283503 w 2651765"/>
              <a:gd name="connsiteY5" fmla="*/ 2209528 h 2209528"/>
              <a:gd name="connsiteX6" fmla="*/ 368262 w 2651765"/>
              <a:gd name="connsiteY6" fmla="*/ 2209528 h 2209528"/>
              <a:gd name="connsiteX7" fmla="*/ 0 w 2651765"/>
              <a:gd name="connsiteY7" fmla="*/ 1841266 h 2209528"/>
              <a:gd name="connsiteX8" fmla="*/ 0 w 2651765"/>
              <a:gd name="connsiteY8" fmla="*/ 368262 h 2209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51765" h="2209528">
                <a:moveTo>
                  <a:pt x="0" y="368262"/>
                </a:moveTo>
                <a:cubicBezTo>
                  <a:pt x="0" y="164877"/>
                  <a:pt x="164877" y="0"/>
                  <a:pt x="368262" y="0"/>
                </a:cubicBezTo>
                <a:lnTo>
                  <a:pt x="2283503" y="0"/>
                </a:lnTo>
                <a:cubicBezTo>
                  <a:pt x="2486888" y="0"/>
                  <a:pt x="2651765" y="164877"/>
                  <a:pt x="2651765" y="368262"/>
                </a:cubicBezTo>
                <a:lnTo>
                  <a:pt x="2651765" y="1841266"/>
                </a:lnTo>
                <a:cubicBezTo>
                  <a:pt x="2651765" y="2044651"/>
                  <a:pt x="2486888" y="2209528"/>
                  <a:pt x="2283503" y="2209528"/>
                </a:cubicBezTo>
                <a:lnTo>
                  <a:pt x="368262" y="2209528"/>
                </a:lnTo>
                <a:cubicBezTo>
                  <a:pt x="164877" y="2209528"/>
                  <a:pt x="0" y="2044651"/>
                  <a:pt x="0" y="1841266"/>
                </a:cubicBezTo>
                <a:lnTo>
                  <a:pt x="0" y="368262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48830" tIns="248830" rIns="248830" bIns="248830" numCol="1" spcCol="1270" anchor="ctr" anchorCtr="0">
            <a:noAutofit/>
          </a:bodyPr>
          <a:lstStyle/>
          <a:p>
            <a:r>
              <a:rPr lang="de-DE" sz="1000" dirty="0">
                <a:solidFill>
                  <a:schemeClr val="tx1"/>
                </a:solidFill>
                <a:latin typeface="Consolas" panose="020B0609020204030204" pitchFamily="49" charset="0"/>
              </a:rPr>
              <a:t>e.g., </a:t>
            </a:r>
            <a:r>
              <a:rPr lang="de-DE" sz="1000" dirty="0" err="1">
                <a:solidFill>
                  <a:schemeClr val="tx1"/>
                </a:solidFill>
                <a:latin typeface="Consolas" panose="020B0609020204030204" pitchFamily="49" charset="0"/>
              </a:rPr>
              <a:t>Clos</a:t>
            </a:r>
            <a:r>
              <a:rPr lang="de-DE" sz="1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AT" sz="1000" dirty="0">
                <a:solidFill>
                  <a:schemeClr val="tx1"/>
                </a:solidFill>
                <a:latin typeface="Consolas" panose="020B0609020204030204" pitchFamily="49" charset="0"/>
              </a:rPr>
              <a:t>(SIGCOMM</a:t>
            </a:r>
            <a:r>
              <a:rPr lang="de-DE" sz="1000" dirty="0">
                <a:solidFill>
                  <a:schemeClr val="tx1"/>
                </a:solidFill>
                <a:latin typeface="Consolas" panose="020B0609020204030204" pitchFamily="49" charset="0"/>
              </a:rPr>
              <a:t>‘08</a:t>
            </a:r>
            <a:r>
              <a:rPr lang="en-AT" sz="1000" dirty="0">
                <a:solidFill>
                  <a:schemeClr val="tx1"/>
                </a:solidFill>
                <a:latin typeface="Consolas" panose="020B0609020204030204" pitchFamily="49" charset="0"/>
              </a:rPr>
              <a:t>),</a:t>
            </a:r>
            <a:r>
              <a:rPr lang="de-DE" sz="1000" dirty="0">
                <a:solidFill>
                  <a:schemeClr val="tx1"/>
                </a:solidFill>
                <a:latin typeface="Consolas" panose="020B0609020204030204" pitchFamily="49" charset="0"/>
              </a:rPr>
              <a:t> Slim Fly</a:t>
            </a:r>
            <a:r>
              <a:rPr lang="en-AT" sz="10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de-DE" sz="1000" dirty="0">
                <a:solidFill>
                  <a:schemeClr val="tx1"/>
                </a:solidFill>
                <a:latin typeface="Consolas" panose="020B0609020204030204" pitchFamily="49" charset="0"/>
              </a:rPr>
              <a:t>SC‘14</a:t>
            </a:r>
            <a:r>
              <a:rPr lang="en-AT" sz="10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  <a:r>
              <a:rPr lang="de-DE" sz="10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de-DE" sz="1000" dirty="0" err="1">
                <a:solidFill>
                  <a:schemeClr val="tx1"/>
                </a:solidFill>
                <a:latin typeface="Consolas" panose="020B0609020204030204" pitchFamily="49" charset="0"/>
              </a:rPr>
              <a:t>Xpander</a:t>
            </a:r>
            <a:r>
              <a:rPr lang="de-DE" sz="1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AT" sz="1000" dirty="0">
                <a:solidFill>
                  <a:schemeClr val="tx1"/>
                </a:solidFill>
                <a:latin typeface="Consolas" panose="020B0609020204030204" pitchFamily="49" charset="0"/>
              </a:rPr>
              <a:t>(SIGCOMM</a:t>
            </a:r>
            <a:r>
              <a:rPr lang="de-DE" sz="1000" dirty="0">
                <a:solidFill>
                  <a:schemeClr val="tx1"/>
                </a:solidFill>
                <a:latin typeface="Consolas" panose="020B0609020204030204" pitchFamily="49" charset="0"/>
              </a:rPr>
              <a:t>‘17</a:t>
            </a:r>
            <a:r>
              <a:rPr lang="en-AT" sz="10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6" name="Google Shape;1534;g60be7dcf1c_0_434">
            <a:extLst>
              <a:ext uri="{FF2B5EF4-FFF2-40B4-BE49-F238E27FC236}">
                <a16:creationId xmlns:a16="http://schemas.microsoft.com/office/drawing/2014/main" id="{BA13C290-2DAE-48B6-BDDA-FE9F937AB1D4}"/>
              </a:ext>
            </a:extLst>
          </p:cNvPr>
          <p:cNvSpPr txBox="1"/>
          <p:nvPr/>
        </p:nvSpPr>
        <p:spPr>
          <a:xfrm>
            <a:off x="555543" y="1639967"/>
            <a:ext cx="3378608" cy="1692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5000"/>
              </a:lnSpc>
            </a:pPr>
            <a:r>
              <a:rPr lang="de-DE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Orthogonal topology choices:</a:t>
            </a:r>
            <a:endParaRPr lang="en-US" sz="1600" b="1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⇀ </a:t>
            </a:r>
            <a:r>
              <a:rPr lang="de-DE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demand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lang="en-GB" sz="1600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oblivious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and </a:t>
            </a:r>
          </a:p>
          <a:p>
            <a:pPr lvl="0">
              <a:lnSpc>
                <a:spcPct val="115000"/>
              </a:lnSpc>
            </a:pP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de-DE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demand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lang="en-GB" sz="1600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aware</a:t>
            </a: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⇀ static vs dynamic</a:t>
            </a:r>
          </a:p>
          <a:p>
            <a:pPr lvl="0">
              <a:lnSpc>
                <a:spcPct val="115000"/>
              </a:lnSpc>
            </a:pP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de-DE"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" name="Google Shape;1288;g60be7dcf1c_0_204">
            <a:extLst>
              <a:ext uri="{FF2B5EF4-FFF2-40B4-BE49-F238E27FC236}">
                <a16:creationId xmlns:a16="http://schemas.microsoft.com/office/drawing/2014/main" id="{02CF738E-4CF6-4A4B-8469-7CB858BC4A0A}"/>
              </a:ext>
            </a:extLst>
          </p:cNvPr>
          <p:cNvSpPr txBox="1">
            <a:spLocks/>
          </p:cNvSpPr>
          <p:nvPr/>
        </p:nvSpPr>
        <p:spPr>
          <a:xfrm>
            <a:off x="973075" y="524023"/>
            <a:ext cx="8171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lnSpc>
                <a:spcPct val="115000"/>
              </a:lnSpc>
              <a:buSzPts val="1100"/>
            </a:pPr>
            <a:r>
              <a:rPr lang="en-GB" sz="36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Taxonomy and Opportunity</a:t>
            </a:r>
            <a:br>
              <a:rPr lang="en-GB" sz="32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lang="en-GB" sz="2000" dirty="0">
              <a:solidFill>
                <a:schemeClr val="tx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AB0EB38-B92B-4585-8F5A-C21D8E97250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47</a:t>
            </a:fld>
            <a:endParaRPr lang="de-DE"/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31CF4FB1-B2B8-76D8-E879-50644470E3BA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19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0147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15" grpId="0" animBg="1"/>
    </p:bldLst>
  </p:timing>
  <p:extLst>
    <p:ext uri="{6950BFC3-D8DA-4A85-94F7-54DA5524770B}">
      <p188:commentRel xmlns:p188="http://schemas.microsoft.com/office/powerpoint/2018/8/main" r:id="rId3"/>
    </p:ext>
  </p:extLs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09;g60be7dcf1c_0_222">
            <a:extLst>
              <a:ext uri="{FF2B5EF4-FFF2-40B4-BE49-F238E27FC236}">
                <a16:creationId xmlns:a16="http://schemas.microsoft.com/office/drawing/2014/main" id="{4DE19C73-9916-40CA-87D9-CC4934AE39A5}"/>
              </a:ext>
            </a:extLst>
          </p:cNvPr>
          <p:cNvSpPr txBox="1"/>
          <p:nvPr/>
        </p:nvSpPr>
        <p:spPr>
          <a:xfrm>
            <a:off x="0" y="540000"/>
            <a:ext cx="8170925" cy="75235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49" name="Quad Arrow 7">
            <a:extLst>
              <a:ext uri="{FF2B5EF4-FFF2-40B4-BE49-F238E27FC236}">
                <a16:creationId xmlns:a16="http://schemas.microsoft.com/office/drawing/2014/main" id="{385A9012-058F-49BD-9BAF-6B34AA373EE0}"/>
              </a:ext>
            </a:extLst>
          </p:cNvPr>
          <p:cNvSpPr/>
          <p:nvPr/>
        </p:nvSpPr>
        <p:spPr>
          <a:xfrm>
            <a:off x="4032277" y="1636708"/>
            <a:ext cx="4178788" cy="4295751"/>
          </a:xfrm>
          <a:prstGeom prst="quadArrow">
            <a:avLst>
              <a:gd name="adj1" fmla="val 2000"/>
              <a:gd name="adj2" fmla="val 4000"/>
              <a:gd name="adj3" fmla="val 5000"/>
            </a:avLst>
          </a:prstGeom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hemeClr val="accent4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4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de-DE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14273E40-9B65-40EE-AAF1-2EFA280E4F37}"/>
              </a:ext>
            </a:extLst>
          </p:cNvPr>
          <p:cNvSpPr/>
          <p:nvPr/>
        </p:nvSpPr>
        <p:spPr>
          <a:xfrm>
            <a:off x="5672605" y="6049084"/>
            <a:ext cx="85792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Static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26B0604-34FB-4C74-8EEF-54D39D90F238}"/>
              </a:ext>
            </a:extLst>
          </p:cNvPr>
          <p:cNvSpPr/>
          <p:nvPr/>
        </p:nvSpPr>
        <p:spPr>
          <a:xfrm>
            <a:off x="2797770" y="3492195"/>
            <a:ext cx="119455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</a:rPr>
              <a:t>Demand-</a:t>
            </a:r>
            <a:br>
              <a:rPr lang="en-US" sz="1600" dirty="0">
                <a:latin typeface="Consolas" panose="020B0609020204030204" pitchFamily="49" charset="0"/>
              </a:rPr>
            </a:br>
            <a:r>
              <a:rPr lang="en-US" sz="1600" dirty="0">
                <a:latin typeface="Consolas" panose="020B0609020204030204" pitchFamily="49" charset="0"/>
              </a:rPr>
              <a:t>oblivious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B59E138-458C-4EA2-AD2F-BFD915E56F2D}"/>
              </a:ext>
            </a:extLst>
          </p:cNvPr>
          <p:cNvSpPr/>
          <p:nvPr/>
        </p:nvSpPr>
        <p:spPr>
          <a:xfrm>
            <a:off x="8170925" y="3492195"/>
            <a:ext cx="97013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</a:rPr>
              <a:t>Demand-</a:t>
            </a:r>
            <a:br>
              <a:rPr lang="en-US" sz="1600" dirty="0">
                <a:latin typeface="Consolas" panose="020B0609020204030204" pitchFamily="49" charset="0"/>
              </a:rPr>
            </a:br>
            <a:r>
              <a:rPr lang="en-US" sz="1600" dirty="0">
                <a:latin typeface="Consolas" panose="020B0609020204030204" pitchFamily="49" charset="0"/>
              </a:rPr>
              <a:t>aware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A812149-FAEA-439D-ABBA-8E6F395D1EA6}"/>
              </a:ext>
            </a:extLst>
          </p:cNvPr>
          <p:cNvSpPr/>
          <p:nvPr/>
        </p:nvSpPr>
        <p:spPr>
          <a:xfrm>
            <a:off x="5655141" y="1317392"/>
            <a:ext cx="97013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Dynamic</a:t>
            </a:r>
          </a:p>
        </p:txBody>
      </p:sp>
      <p:sp>
        <p:nvSpPr>
          <p:cNvPr id="20" name="Freeform 8">
            <a:extLst>
              <a:ext uri="{FF2B5EF4-FFF2-40B4-BE49-F238E27FC236}">
                <a16:creationId xmlns:a16="http://schemas.microsoft.com/office/drawing/2014/main" id="{8A40A37B-C38E-4BC1-B82C-038E7E227D18}"/>
              </a:ext>
            </a:extLst>
          </p:cNvPr>
          <p:cNvSpPr/>
          <p:nvPr/>
        </p:nvSpPr>
        <p:spPr>
          <a:xfrm>
            <a:off x="4103649" y="2221323"/>
            <a:ext cx="1860770" cy="1207677"/>
          </a:xfrm>
          <a:custGeom>
            <a:avLst/>
            <a:gdLst>
              <a:gd name="connsiteX0" fmla="*/ 0 w 2651765"/>
              <a:gd name="connsiteY0" fmla="*/ 368262 h 2209528"/>
              <a:gd name="connsiteX1" fmla="*/ 368262 w 2651765"/>
              <a:gd name="connsiteY1" fmla="*/ 0 h 2209528"/>
              <a:gd name="connsiteX2" fmla="*/ 2283503 w 2651765"/>
              <a:gd name="connsiteY2" fmla="*/ 0 h 2209528"/>
              <a:gd name="connsiteX3" fmla="*/ 2651765 w 2651765"/>
              <a:gd name="connsiteY3" fmla="*/ 368262 h 2209528"/>
              <a:gd name="connsiteX4" fmla="*/ 2651765 w 2651765"/>
              <a:gd name="connsiteY4" fmla="*/ 1841266 h 2209528"/>
              <a:gd name="connsiteX5" fmla="*/ 2283503 w 2651765"/>
              <a:gd name="connsiteY5" fmla="*/ 2209528 h 2209528"/>
              <a:gd name="connsiteX6" fmla="*/ 368262 w 2651765"/>
              <a:gd name="connsiteY6" fmla="*/ 2209528 h 2209528"/>
              <a:gd name="connsiteX7" fmla="*/ 0 w 2651765"/>
              <a:gd name="connsiteY7" fmla="*/ 1841266 h 2209528"/>
              <a:gd name="connsiteX8" fmla="*/ 0 w 2651765"/>
              <a:gd name="connsiteY8" fmla="*/ 368262 h 2209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51765" h="2209528">
                <a:moveTo>
                  <a:pt x="0" y="368262"/>
                </a:moveTo>
                <a:cubicBezTo>
                  <a:pt x="0" y="164877"/>
                  <a:pt x="164877" y="0"/>
                  <a:pt x="368262" y="0"/>
                </a:cubicBezTo>
                <a:lnTo>
                  <a:pt x="2283503" y="0"/>
                </a:lnTo>
                <a:cubicBezTo>
                  <a:pt x="2486888" y="0"/>
                  <a:pt x="2651765" y="164877"/>
                  <a:pt x="2651765" y="368262"/>
                </a:cubicBezTo>
                <a:lnTo>
                  <a:pt x="2651765" y="1841266"/>
                </a:lnTo>
                <a:cubicBezTo>
                  <a:pt x="2651765" y="2044651"/>
                  <a:pt x="2486888" y="2209528"/>
                  <a:pt x="2283503" y="2209528"/>
                </a:cubicBezTo>
                <a:lnTo>
                  <a:pt x="368262" y="2209528"/>
                </a:lnTo>
                <a:cubicBezTo>
                  <a:pt x="164877" y="2209528"/>
                  <a:pt x="0" y="2044651"/>
                  <a:pt x="0" y="1841266"/>
                </a:cubicBezTo>
                <a:lnTo>
                  <a:pt x="0" y="368262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48830" tIns="248830" rIns="248830" bIns="248830" numCol="1" spcCol="1270" anchor="ctr" anchorCtr="0">
            <a:noAutofit/>
          </a:bodyPr>
          <a:lstStyle/>
          <a:p>
            <a:pPr algn="ctr"/>
            <a:r>
              <a:rPr lang="de-DE" sz="1800" b="1" dirty="0">
                <a:solidFill>
                  <a:schemeClr val="tx1"/>
                </a:solidFill>
                <a:latin typeface="Consolas" panose="020B0609020204030204" pitchFamily="49" charset="0"/>
              </a:rPr>
              <a:t>Rotor</a:t>
            </a:r>
            <a:endParaRPr lang="en-AT" sz="1800" b="1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Freeform 8">
            <a:extLst>
              <a:ext uri="{FF2B5EF4-FFF2-40B4-BE49-F238E27FC236}">
                <a16:creationId xmlns:a16="http://schemas.microsoft.com/office/drawing/2014/main" id="{62FF0828-3EA2-4CDF-9A29-119384D4440C}"/>
              </a:ext>
            </a:extLst>
          </p:cNvPr>
          <p:cNvSpPr/>
          <p:nvPr/>
        </p:nvSpPr>
        <p:spPr>
          <a:xfrm>
            <a:off x="6278858" y="2221322"/>
            <a:ext cx="1932142" cy="1207677"/>
          </a:xfrm>
          <a:custGeom>
            <a:avLst/>
            <a:gdLst>
              <a:gd name="connsiteX0" fmla="*/ 0 w 2651765"/>
              <a:gd name="connsiteY0" fmla="*/ 368262 h 2209528"/>
              <a:gd name="connsiteX1" fmla="*/ 368262 w 2651765"/>
              <a:gd name="connsiteY1" fmla="*/ 0 h 2209528"/>
              <a:gd name="connsiteX2" fmla="*/ 2283503 w 2651765"/>
              <a:gd name="connsiteY2" fmla="*/ 0 h 2209528"/>
              <a:gd name="connsiteX3" fmla="*/ 2651765 w 2651765"/>
              <a:gd name="connsiteY3" fmla="*/ 368262 h 2209528"/>
              <a:gd name="connsiteX4" fmla="*/ 2651765 w 2651765"/>
              <a:gd name="connsiteY4" fmla="*/ 1841266 h 2209528"/>
              <a:gd name="connsiteX5" fmla="*/ 2283503 w 2651765"/>
              <a:gd name="connsiteY5" fmla="*/ 2209528 h 2209528"/>
              <a:gd name="connsiteX6" fmla="*/ 368262 w 2651765"/>
              <a:gd name="connsiteY6" fmla="*/ 2209528 h 2209528"/>
              <a:gd name="connsiteX7" fmla="*/ 0 w 2651765"/>
              <a:gd name="connsiteY7" fmla="*/ 1841266 h 2209528"/>
              <a:gd name="connsiteX8" fmla="*/ 0 w 2651765"/>
              <a:gd name="connsiteY8" fmla="*/ 368262 h 2209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51765" h="2209528">
                <a:moveTo>
                  <a:pt x="0" y="368262"/>
                </a:moveTo>
                <a:cubicBezTo>
                  <a:pt x="0" y="164877"/>
                  <a:pt x="164877" y="0"/>
                  <a:pt x="368262" y="0"/>
                </a:cubicBezTo>
                <a:lnTo>
                  <a:pt x="2283503" y="0"/>
                </a:lnTo>
                <a:cubicBezTo>
                  <a:pt x="2486888" y="0"/>
                  <a:pt x="2651765" y="164877"/>
                  <a:pt x="2651765" y="368262"/>
                </a:cubicBezTo>
                <a:lnTo>
                  <a:pt x="2651765" y="1841266"/>
                </a:lnTo>
                <a:cubicBezTo>
                  <a:pt x="2651765" y="2044651"/>
                  <a:pt x="2486888" y="2209528"/>
                  <a:pt x="2283503" y="2209528"/>
                </a:cubicBezTo>
                <a:lnTo>
                  <a:pt x="368262" y="2209528"/>
                </a:lnTo>
                <a:cubicBezTo>
                  <a:pt x="164877" y="2209528"/>
                  <a:pt x="0" y="2044651"/>
                  <a:pt x="0" y="1841266"/>
                </a:cubicBezTo>
                <a:lnTo>
                  <a:pt x="0" y="368262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48830" tIns="248830" rIns="248830" bIns="248830" numCol="1" spcCol="1270" anchor="ctr" anchorCtr="0">
            <a:noAutofit/>
          </a:bodyPr>
          <a:lstStyle/>
          <a:p>
            <a:pPr algn="ctr"/>
            <a:r>
              <a:rPr lang="de-DE" sz="1800" b="1" dirty="0">
                <a:solidFill>
                  <a:schemeClr val="tx1"/>
                </a:solidFill>
                <a:latin typeface="Consolas" panose="020B0609020204030204" pitchFamily="49" charset="0"/>
              </a:rPr>
              <a:t>Demand-Aware</a:t>
            </a:r>
            <a:endParaRPr lang="en-AT" sz="1800" b="1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Freeform 8">
            <a:extLst>
              <a:ext uri="{FF2B5EF4-FFF2-40B4-BE49-F238E27FC236}">
                <a16:creationId xmlns:a16="http://schemas.microsoft.com/office/drawing/2014/main" id="{39630DBF-E998-49ED-8B39-144AE078F944}"/>
              </a:ext>
            </a:extLst>
          </p:cNvPr>
          <p:cNvSpPr/>
          <p:nvPr/>
        </p:nvSpPr>
        <p:spPr>
          <a:xfrm>
            <a:off x="4103649" y="4076891"/>
            <a:ext cx="1860770" cy="1207677"/>
          </a:xfrm>
          <a:custGeom>
            <a:avLst/>
            <a:gdLst>
              <a:gd name="connsiteX0" fmla="*/ 0 w 2651765"/>
              <a:gd name="connsiteY0" fmla="*/ 368262 h 2209528"/>
              <a:gd name="connsiteX1" fmla="*/ 368262 w 2651765"/>
              <a:gd name="connsiteY1" fmla="*/ 0 h 2209528"/>
              <a:gd name="connsiteX2" fmla="*/ 2283503 w 2651765"/>
              <a:gd name="connsiteY2" fmla="*/ 0 h 2209528"/>
              <a:gd name="connsiteX3" fmla="*/ 2651765 w 2651765"/>
              <a:gd name="connsiteY3" fmla="*/ 368262 h 2209528"/>
              <a:gd name="connsiteX4" fmla="*/ 2651765 w 2651765"/>
              <a:gd name="connsiteY4" fmla="*/ 1841266 h 2209528"/>
              <a:gd name="connsiteX5" fmla="*/ 2283503 w 2651765"/>
              <a:gd name="connsiteY5" fmla="*/ 2209528 h 2209528"/>
              <a:gd name="connsiteX6" fmla="*/ 368262 w 2651765"/>
              <a:gd name="connsiteY6" fmla="*/ 2209528 h 2209528"/>
              <a:gd name="connsiteX7" fmla="*/ 0 w 2651765"/>
              <a:gd name="connsiteY7" fmla="*/ 1841266 h 2209528"/>
              <a:gd name="connsiteX8" fmla="*/ 0 w 2651765"/>
              <a:gd name="connsiteY8" fmla="*/ 368262 h 2209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51765" h="2209528">
                <a:moveTo>
                  <a:pt x="0" y="368262"/>
                </a:moveTo>
                <a:cubicBezTo>
                  <a:pt x="0" y="164877"/>
                  <a:pt x="164877" y="0"/>
                  <a:pt x="368262" y="0"/>
                </a:cubicBezTo>
                <a:lnTo>
                  <a:pt x="2283503" y="0"/>
                </a:lnTo>
                <a:cubicBezTo>
                  <a:pt x="2486888" y="0"/>
                  <a:pt x="2651765" y="164877"/>
                  <a:pt x="2651765" y="368262"/>
                </a:cubicBezTo>
                <a:lnTo>
                  <a:pt x="2651765" y="1841266"/>
                </a:lnTo>
                <a:cubicBezTo>
                  <a:pt x="2651765" y="2044651"/>
                  <a:pt x="2486888" y="2209528"/>
                  <a:pt x="2283503" y="2209528"/>
                </a:cubicBezTo>
                <a:lnTo>
                  <a:pt x="368262" y="2209528"/>
                </a:lnTo>
                <a:cubicBezTo>
                  <a:pt x="164877" y="2209528"/>
                  <a:pt x="0" y="2044651"/>
                  <a:pt x="0" y="1841266"/>
                </a:cubicBezTo>
                <a:lnTo>
                  <a:pt x="0" y="368262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48830" tIns="248830" rIns="248830" bIns="248830" numCol="1" spcCol="1270" anchor="ctr" anchorCtr="0">
            <a:noAutofit/>
          </a:bodyPr>
          <a:lstStyle/>
          <a:p>
            <a:pPr algn="ctr"/>
            <a:r>
              <a:rPr lang="de-DE" sz="1800" b="1" dirty="0">
                <a:solidFill>
                  <a:schemeClr val="tx1"/>
                </a:solidFill>
                <a:latin typeface="Consolas" panose="020B0609020204030204" pitchFamily="49" charset="0"/>
              </a:rPr>
              <a:t>Static</a:t>
            </a:r>
            <a:endParaRPr lang="en-AT" sz="1800" b="1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Google Shape;1534;g60be7dcf1c_0_434">
            <a:extLst>
              <a:ext uri="{FF2B5EF4-FFF2-40B4-BE49-F238E27FC236}">
                <a16:creationId xmlns:a16="http://schemas.microsoft.com/office/drawing/2014/main" id="{CB9B6CD4-904A-4ECF-B210-74C3A78FD5DD}"/>
              </a:ext>
            </a:extLst>
          </p:cNvPr>
          <p:cNvSpPr txBox="1"/>
          <p:nvPr/>
        </p:nvSpPr>
        <p:spPr>
          <a:xfrm>
            <a:off x="555543" y="1639967"/>
            <a:ext cx="3378608" cy="1692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de-DE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Orthogonal topology choices:</a:t>
            </a:r>
            <a:endParaRPr lang="en-US" sz="1600" b="1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⇀ </a:t>
            </a:r>
            <a:r>
              <a:rPr lang="de-DE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demand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lang="en-GB" sz="1600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oblivious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and </a:t>
            </a:r>
          </a:p>
          <a:p>
            <a:pPr lvl="0">
              <a:lnSpc>
                <a:spcPct val="115000"/>
              </a:lnSpc>
            </a:pP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de-DE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demand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lang="en-GB" sz="1600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aware</a:t>
            </a: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⇀ static vs dynamic</a:t>
            </a:r>
          </a:p>
          <a:p>
            <a:pPr lvl="0">
              <a:lnSpc>
                <a:spcPct val="115000"/>
              </a:lnSpc>
            </a:pP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de-DE"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" name="Google Shape;1288;g60be7dcf1c_0_204">
            <a:extLst>
              <a:ext uri="{FF2B5EF4-FFF2-40B4-BE49-F238E27FC236}">
                <a16:creationId xmlns:a16="http://schemas.microsoft.com/office/drawing/2014/main" id="{EAF3A14F-8CE2-4092-B497-7921620101C4}"/>
              </a:ext>
            </a:extLst>
          </p:cNvPr>
          <p:cNvSpPr txBox="1">
            <a:spLocks/>
          </p:cNvSpPr>
          <p:nvPr/>
        </p:nvSpPr>
        <p:spPr>
          <a:xfrm>
            <a:off x="973075" y="524023"/>
            <a:ext cx="8171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lnSpc>
                <a:spcPct val="115000"/>
              </a:lnSpc>
              <a:buSzPts val="1100"/>
            </a:pPr>
            <a:r>
              <a:rPr lang="en-GB" sz="36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Taxonomy and Opportunity</a:t>
            </a:r>
            <a:br>
              <a:rPr lang="en-GB" sz="32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lang="en-GB" sz="2000" dirty="0">
              <a:solidFill>
                <a:schemeClr val="tx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D33E9FD-1BF0-4924-88C6-FF8F902F635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48</a:t>
            </a:fld>
            <a:endParaRPr lang="de-DE"/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128CAD17-4B9B-EC3A-0476-6EEF50C4BB4C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19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544514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09;g60be7dcf1c_0_222">
            <a:extLst>
              <a:ext uri="{FF2B5EF4-FFF2-40B4-BE49-F238E27FC236}">
                <a16:creationId xmlns:a16="http://schemas.microsoft.com/office/drawing/2014/main" id="{4DE19C73-9916-40CA-87D9-CC4934AE39A5}"/>
              </a:ext>
            </a:extLst>
          </p:cNvPr>
          <p:cNvSpPr txBox="1"/>
          <p:nvPr/>
        </p:nvSpPr>
        <p:spPr>
          <a:xfrm>
            <a:off x="0" y="540000"/>
            <a:ext cx="8170925" cy="75235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49" name="Quad Arrow 7">
            <a:extLst>
              <a:ext uri="{FF2B5EF4-FFF2-40B4-BE49-F238E27FC236}">
                <a16:creationId xmlns:a16="http://schemas.microsoft.com/office/drawing/2014/main" id="{385A9012-058F-49BD-9BAF-6B34AA373EE0}"/>
              </a:ext>
            </a:extLst>
          </p:cNvPr>
          <p:cNvSpPr/>
          <p:nvPr/>
        </p:nvSpPr>
        <p:spPr>
          <a:xfrm>
            <a:off x="4032277" y="1636708"/>
            <a:ext cx="4178788" cy="4295751"/>
          </a:xfrm>
          <a:prstGeom prst="quadArrow">
            <a:avLst>
              <a:gd name="adj1" fmla="val 2000"/>
              <a:gd name="adj2" fmla="val 4000"/>
              <a:gd name="adj3" fmla="val 5000"/>
            </a:avLst>
          </a:prstGeom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hemeClr val="accent4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4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de-DE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14273E40-9B65-40EE-AAF1-2EFA280E4F37}"/>
              </a:ext>
            </a:extLst>
          </p:cNvPr>
          <p:cNvSpPr/>
          <p:nvPr/>
        </p:nvSpPr>
        <p:spPr>
          <a:xfrm>
            <a:off x="5672605" y="6049084"/>
            <a:ext cx="85792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Static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26B0604-34FB-4C74-8EEF-54D39D90F238}"/>
              </a:ext>
            </a:extLst>
          </p:cNvPr>
          <p:cNvSpPr/>
          <p:nvPr/>
        </p:nvSpPr>
        <p:spPr>
          <a:xfrm>
            <a:off x="2797770" y="3492195"/>
            <a:ext cx="119455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</a:rPr>
              <a:t>Demand-</a:t>
            </a:r>
            <a:br>
              <a:rPr lang="en-US" sz="1600" dirty="0">
                <a:latin typeface="Consolas" panose="020B0609020204030204" pitchFamily="49" charset="0"/>
              </a:rPr>
            </a:br>
            <a:r>
              <a:rPr lang="en-US" sz="1600" dirty="0">
                <a:latin typeface="Consolas" panose="020B0609020204030204" pitchFamily="49" charset="0"/>
              </a:rPr>
              <a:t>oblivious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B59E138-458C-4EA2-AD2F-BFD915E56F2D}"/>
              </a:ext>
            </a:extLst>
          </p:cNvPr>
          <p:cNvSpPr/>
          <p:nvPr/>
        </p:nvSpPr>
        <p:spPr>
          <a:xfrm>
            <a:off x="8170925" y="3492195"/>
            <a:ext cx="97013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</a:rPr>
              <a:t>Demand-</a:t>
            </a:r>
            <a:br>
              <a:rPr lang="en-US" sz="1600" dirty="0">
                <a:latin typeface="Consolas" panose="020B0609020204030204" pitchFamily="49" charset="0"/>
              </a:rPr>
            </a:br>
            <a:r>
              <a:rPr lang="en-US" sz="1600" dirty="0">
                <a:latin typeface="Consolas" panose="020B0609020204030204" pitchFamily="49" charset="0"/>
              </a:rPr>
              <a:t>aware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A812149-FAEA-439D-ABBA-8E6F395D1EA6}"/>
              </a:ext>
            </a:extLst>
          </p:cNvPr>
          <p:cNvSpPr/>
          <p:nvPr/>
        </p:nvSpPr>
        <p:spPr>
          <a:xfrm>
            <a:off x="5655141" y="1317392"/>
            <a:ext cx="97013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Dynamic</a:t>
            </a:r>
          </a:p>
        </p:txBody>
      </p:sp>
      <p:sp>
        <p:nvSpPr>
          <p:cNvPr id="16" name="Google Shape;1729;g60be7dcf1c_0_603">
            <a:extLst>
              <a:ext uri="{FF2B5EF4-FFF2-40B4-BE49-F238E27FC236}">
                <a16:creationId xmlns:a16="http://schemas.microsoft.com/office/drawing/2014/main" id="{C7EFD0E6-57E6-438B-AD55-156AAFF57005}"/>
              </a:ext>
            </a:extLst>
          </p:cNvPr>
          <p:cNvSpPr/>
          <p:nvPr/>
        </p:nvSpPr>
        <p:spPr>
          <a:xfrm>
            <a:off x="757182" y="4021744"/>
            <a:ext cx="1974982" cy="1892276"/>
          </a:xfrm>
          <a:prstGeom prst="ellipse">
            <a:avLst/>
          </a:prstGeom>
          <a:solidFill>
            <a:srgbClr val="93C47D"/>
          </a:solidFill>
          <a:ln w="952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</p:txBody>
      </p:sp>
      <p:sp>
        <p:nvSpPr>
          <p:cNvPr id="22" name="Google Shape;1730;g60be7dcf1c_0_603">
            <a:extLst>
              <a:ext uri="{FF2B5EF4-FFF2-40B4-BE49-F238E27FC236}">
                <a16:creationId xmlns:a16="http://schemas.microsoft.com/office/drawing/2014/main" id="{8EC9F443-9696-4205-AE6C-F9E2496288CA}"/>
              </a:ext>
            </a:extLst>
          </p:cNvPr>
          <p:cNvSpPr txBox="1"/>
          <p:nvPr/>
        </p:nvSpPr>
        <p:spPr>
          <a:xfrm>
            <a:off x="707103" y="4587617"/>
            <a:ext cx="2042876" cy="669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Which approach is best?</a:t>
            </a:r>
          </a:p>
        </p:txBody>
      </p:sp>
      <p:sp>
        <p:nvSpPr>
          <p:cNvPr id="23" name="Freeform 8">
            <a:extLst>
              <a:ext uri="{FF2B5EF4-FFF2-40B4-BE49-F238E27FC236}">
                <a16:creationId xmlns:a16="http://schemas.microsoft.com/office/drawing/2014/main" id="{49626732-A56C-422C-AAA0-C4CA26F4D246}"/>
              </a:ext>
            </a:extLst>
          </p:cNvPr>
          <p:cNvSpPr/>
          <p:nvPr/>
        </p:nvSpPr>
        <p:spPr>
          <a:xfrm>
            <a:off x="4103649" y="2221323"/>
            <a:ext cx="1860770" cy="1207677"/>
          </a:xfrm>
          <a:custGeom>
            <a:avLst/>
            <a:gdLst>
              <a:gd name="connsiteX0" fmla="*/ 0 w 2651765"/>
              <a:gd name="connsiteY0" fmla="*/ 368262 h 2209528"/>
              <a:gd name="connsiteX1" fmla="*/ 368262 w 2651765"/>
              <a:gd name="connsiteY1" fmla="*/ 0 h 2209528"/>
              <a:gd name="connsiteX2" fmla="*/ 2283503 w 2651765"/>
              <a:gd name="connsiteY2" fmla="*/ 0 h 2209528"/>
              <a:gd name="connsiteX3" fmla="*/ 2651765 w 2651765"/>
              <a:gd name="connsiteY3" fmla="*/ 368262 h 2209528"/>
              <a:gd name="connsiteX4" fmla="*/ 2651765 w 2651765"/>
              <a:gd name="connsiteY4" fmla="*/ 1841266 h 2209528"/>
              <a:gd name="connsiteX5" fmla="*/ 2283503 w 2651765"/>
              <a:gd name="connsiteY5" fmla="*/ 2209528 h 2209528"/>
              <a:gd name="connsiteX6" fmla="*/ 368262 w 2651765"/>
              <a:gd name="connsiteY6" fmla="*/ 2209528 h 2209528"/>
              <a:gd name="connsiteX7" fmla="*/ 0 w 2651765"/>
              <a:gd name="connsiteY7" fmla="*/ 1841266 h 2209528"/>
              <a:gd name="connsiteX8" fmla="*/ 0 w 2651765"/>
              <a:gd name="connsiteY8" fmla="*/ 368262 h 2209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51765" h="2209528">
                <a:moveTo>
                  <a:pt x="0" y="368262"/>
                </a:moveTo>
                <a:cubicBezTo>
                  <a:pt x="0" y="164877"/>
                  <a:pt x="164877" y="0"/>
                  <a:pt x="368262" y="0"/>
                </a:cubicBezTo>
                <a:lnTo>
                  <a:pt x="2283503" y="0"/>
                </a:lnTo>
                <a:cubicBezTo>
                  <a:pt x="2486888" y="0"/>
                  <a:pt x="2651765" y="164877"/>
                  <a:pt x="2651765" y="368262"/>
                </a:cubicBezTo>
                <a:lnTo>
                  <a:pt x="2651765" y="1841266"/>
                </a:lnTo>
                <a:cubicBezTo>
                  <a:pt x="2651765" y="2044651"/>
                  <a:pt x="2486888" y="2209528"/>
                  <a:pt x="2283503" y="2209528"/>
                </a:cubicBezTo>
                <a:lnTo>
                  <a:pt x="368262" y="2209528"/>
                </a:lnTo>
                <a:cubicBezTo>
                  <a:pt x="164877" y="2209528"/>
                  <a:pt x="0" y="2044651"/>
                  <a:pt x="0" y="1841266"/>
                </a:cubicBezTo>
                <a:lnTo>
                  <a:pt x="0" y="368262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48830" tIns="248830" rIns="248830" bIns="248830" numCol="1" spcCol="1270" anchor="ctr" anchorCtr="0">
            <a:noAutofit/>
          </a:bodyPr>
          <a:lstStyle/>
          <a:p>
            <a:pPr algn="ctr"/>
            <a:r>
              <a:rPr lang="de-DE" sz="1800" b="1" dirty="0">
                <a:solidFill>
                  <a:schemeClr val="tx1"/>
                </a:solidFill>
                <a:latin typeface="Consolas" panose="020B0609020204030204" pitchFamily="49" charset="0"/>
              </a:rPr>
              <a:t>Rotor</a:t>
            </a:r>
            <a:endParaRPr lang="en-AT" sz="1800" b="1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4" name="Freeform 8">
            <a:extLst>
              <a:ext uri="{FF2B5EF4-FFF2-40B4-BE49-F238E27FC236}">
                <a16:creationId xmlns:a16="http://schemas.microsoft.com/office/drawing/2014/main" id="{1B732A03-B4EC-41A8-B953-B2602C77EEC5}"/>
              </a:ext>
            </a:extLst>
          </p:cNvPr>
          <p:cNvSpPr/>
          <p:nvPr/>
        </p:nvSpPr>
        <p:spPr>
          <a:xfrm>
            <a:off x="6278858" y="2221322"/>
            <a:ext cx="1932142" cy="1207677"/>
          </a:xfrm>
          <a:custGeom>
            <a:avLst/>
            <a:gdLst>
              <a:gd name="connsiteX0" fmla="*/ 0 w 2651765"/>
              <a:gd name="connsiteY0" fmla="*/ 368262 h 2209528"/>
              <a:gd name="connsiteX1" fmla="*/ 368262 w 2651765"/>
              <a:gd name="connsiteY1" fmla="*/ 0 h 2209528"/>
              <a:gd name="connsiteX2" fmla="*/ 2283503 w 2651765"/>
              <a:gd name="connsiteY2" fmla="*/ 0 h 2209528"/>
              <a:gd name="connsiteX3" fmla="*/ 2651765 w 2651765"/>
              <a:gd name="connsiteY3" fmla="*/ 368262 h 2209528"/>
              <a:gd name="connsiteX4" fmla="*/ 2651765 w 2651765"/>
              <a:gd name="connsiteY4" fmla="*/ 1841266 h 2209528"/>
              <a:gd name="connsiteX5" fmla="*/ 2283503 w 2651765"/>
              <a:gd name="connsiteY5" fmla="*/ 2209528 h 2209528"/>
              <a:gd name="connsiteX6" fmla="*/ 368262 w 2651765"/>
              <a:gd name="connsiteY6" fmla="*/ 2209528 h 2209528"/>
              <a:gd name="connsiteX7" fmla="*/ 0 w 2651765"/>
              <a:gd name="connsiteY7" fmla="*/ 1841266 h 2209528"/>
              <a:gd name="connsiteX8" fmla="*/ 0 w 2651765"/>
              <a:gd name="connsiteY8" fmla="*/ 368262 h 2209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51765" h="2209528">
                <a:moveTo>
                  <a:pt x="0" y="368262"/>
                </a:moveTo>
                <a:cubicBezTo>
                  <a:pt x="0" y="164877"/>
                  <a:pt x="164877" y="0"/>
                  <a:pt x="368262" y="0"/>
                </a:cubicBezTo>
                <a:lnTo>
                  <a:pt x="2283503" y="0"/>
                </a:lnTo>
                <a:cubicBezTo>
                  <a:pt x="2486888" y="0"/>
                  <a:pt x="2651765" y="164877"/>
                  <a:pt x="2651765" y="368262"/>
                </a:cubicBezTo>
                <a:lnTo>
                  <a:pt x="2651765" y="1841266"/>
                </a:lnTo>
                <a:cubicBezTo>
                  <a:pt x="2651765" y="2044651"/>
                  <a:pt x="2486888" y="2209528"/>
                  <a:pt x="2283503" y="2209528"/>
                </a:cubicBezTo>
                <a:lnTo>
                  <a:pt x="368262" y="2209528"/>
                </a:lnTo>
                <a:cubicBezTo>
                  <a:pt x="164877" y="2209528"/>
                  <a:pt x="0" y="2044651"/>
                  <a:pt x="0" y="1841266"/>
                </a:cubicBezTo>
                <a:lnTo>
                  <a:pt x="0" y="368262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48830" tIns="248830" rIns="248830" bIns="248830" numCol="1" spcCol="1270" anchor="ctr" anchorCtr="0">
            <a:noAutofit/>
          </a:bodyPr>
          <a:lstStyle/>
          <a:p>
            <a:pPr algn="ctr"/>
            <a:r>
              <a:rPr lang="de-DE" sz="1800" b="1" dirty="0">
                <a:solidFill>
                  <a:schemeClr val="tx1"/>
                </a:solidFill>
                <a:latin typeface="Consolas" panose="020B0609020204030204" pitchFamily="49" charset="0"/>
              </a:rPr>
              <a:t>Demand-Aware</a:t>
            </a:r>
            <a:endParaRPr lang="en-AT" sz="1800" b="1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Freeform 8">
            <a:extLst>
              <a:ext uri="{FF2B5EF4-FFF2-40B4-BE49-F238E27FC236}">
                <a16:creationId xmlns:a16="http://schemas.microsoft.com/office/drawing/2014/main" id="{6917CF51-F207-42FB-8928-69F38874F5FB}"/>
              </a:ext>
            </a:extLst>
          </p:cNvPr>
          <p:cNvSpPr/>
          <p:nvPr/>
        </p:nvSpPr>
        <p:spPr>
          <a:xfrm>
            <a:off x="4103649" y="4076891"/>
            <a:ext cx="1860770" cy="1207677"/>
          </a:xfrm>
          <a:custGeom>
            <a:avLst/>
            <a:gdLst>
              <a:gd name="connsiteX0" fmla="*/ 0 w 2651765"/>
              <a:gd name="connsiteY0" fmla="*/ 368262 h 2209528"/>
              <a:gd name="connsiteX1" fmla="*/ 368262 w 2651765"/>
              <a:gd name="connsiteY1" fmla="*/ 0 h 2209528"/>
              <a:gd name="connsiteX2" fmla="*/ 2283503 w 2651765"/>
              <a:gd name="connsiteY2" fmla="*/ 0 h 2209528"/>
              <a:gd name="connsiteX3" fmla="*/ 2651765 w 2651765"/>
              <a:gd name="connsiteY3" fmla="*/ 368262 h 2209528"/>
              <a:gd name="connsiteX4" fmla="*/ 2651765 w 2651765"/>
              <a:gd name="connsiteY4" fmla="*/ 1841266 h 2209528"/>
              <a:gd name="connsiteX5" fmla="*/ 2283503 w 2651765"/>
              <a:gd name="connsiteY5" fmla="*/ 2209528 h 2209528"/>
              <a:gd name="connsiteX6" fmla="*/ 368262 w 2651765"/>
              <a:gd name="connsiteY6" fmla="*/ 2209528 h 2209528"/>
              <a:gd name="connsiteX7" fmla="*/ 0 w 2651765"/>
              <a:gd name="connsiteY7" fmla="*/ 1841266 h 2209528"/>
              <a:gd name="connsiteX8" fmla="*/ 0 w 2651765"/>
              <a:gd name="connsiteY8" fmla="*/ 368262 h 2209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51765" h="2209528">
                <a:moveTo>
                  <a:pt x="0" y="368262"/>
                </a:moveTo>
                <a:cubicBezTo>
                  <a:pt x="0" y="164877"/>
                  <a:pt x="164877" y="0"/>
                  <a:pt x="368262" y="0"/>
                </a:cubicBezTo>
                <a:lnTo>
                  <a:pt x="2283503" y="0"/>
                </a:lnTo>
                <a:cubicBezTo>
                  <a:pt x="2486888" y="0"/>
                  <a:pt x="2651765" y="164877"/>
                  <a:pt x="2651765" y="368262"/>
                </a:cubicBezTo>
                <a:lnTo>
                  <a:pt x="2651765" y="1841266"/>
                </a:lnTo>
                <a:cubicBezTo>
                  <a:pt x="2651765" y="2044651"/>
                  <a:pt x="2486888" y="2209528"/>
                  <a:pt x="2283503" y="2209528"/>
                </a:cubicBezTo>
                <a:lnTo>
                  <a:pt x="368262" y="2209528"/>
                </a:lnTo>
                <a:cubicBezTo>
                  <a:pt x="164877" y="2209528"/>
                  <a:pt x="0" y="2044651"/>
                  <a:pt x="0" y="1841266"/>
                </a:cubicBezTo>
                <a:lnTo>
                  <a:pt x="0" y="368262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48830" tIns="248830" rIns="248830" bIns="248830" numCol="1" spcCol="1270" anchor="ctr" anchorCtr="0">
            <a:noAutofit/>
          </a:bodyPr>
          <a:lstStyle/>
          <a:p>
            <a:pPr algn="ctr"/>
            <a:r>
              <a:rPr lang="de-DE" sz="1800" b="1" dirty="0">
                <a:solidFill>
                  <a:schemeClr val="tx1"/>
                </a:solidFill>
                <a:latin typeface="Consolas" panose="020B0609020204030204" pitchFamily="49" charset="0"/>
              </a:rPr>
              <a:t>Static</a:t>
            </a:r>
            <a:endParaRPr lang="en-AT" sz="1800" b="1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Google Shape;1534;g60be7dcf1c_0_434">
            <a:extLst>
              <a:ext uri="{FF2B5EF4-FFF2-40B4-BE49-F238E27FC236}">
                <a16:creationId xmlns:a16="http://schemas.microsoft.com/office/drawing/2014/main" id="{7638198D-0D6D-4216-A233-A05C138CCEE5}"/>
              </a:ext>
            </a:extLst>
          </p:cNvPr>
          <p:cNvSpPr txBox="1"/>
          <p:nvPr/>
        </p:nvSpPr>
        <p:spPr>
          <a:xfrm>
            <a:off x="555543" y="1639967"/>
            <a:ext cx="3378608" cy="1692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de-DE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Orthogonal topology choices:</a:t>
            </a:r>
            <a:endParaRPr lang="en-US" sz="1600" b="1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⇀ </a:t>
            </a:r>
            <a:r>
              <a:rPr lang="de-DE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demand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lang="en-GB" sz="1600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oblivious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and </a:t>
            </a:r>
          </a:p>
          <a:p>
            <a:pPr lvl="0">
              <a:lnSpc>
                <a:spcPct val="115000"/>
              </a:lnSpc>
            </a:pP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de-DE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demand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lang="en-GB" sz="1600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aware</a:t>
            </a: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⇀ static vs dynamic</a:t>
            </a:r>
          </a:p>
          <a:p>
            <a:pPr lvl="0">
              <a:lnSpc>
                <a:spcPct val="115000"/>
              </a:lnSpc>
            </a:pP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de-DE"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" name="Google Shape;1288;g60be7dcf1c_0_204">
            <a:extLst>
              <a:ext uri="{FF2B5EF4-FFF2-40B4-BE49-F238E27FC236}">
                <a16:creationId xmlns:a16="http://schemas.microsoft.com/office/drawing/2014/main" id="{4FF70D9D-A8CF-4EC4-B479-A6A05F45B2E8}"/>
              </a:ext>
            </a:extLst>
          </p:cNvPr>
          <p:cNvSpPr txBox="1">
            <a:spLocks/>
          </p:cNvSpPr>
          <p:nvPr/>
        </p:nvSpPr>
        <p:spPr>
          <a:xfrm>
            <a:off x="973075" y="524023"/>
            <a:ext cx="8171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lnSpc>
                <a:spcPct val="115000"/>
              </a:lnSpc>
              <a:buSzPts val="1100"/>
            </a:pPr>
            <a:r>
              <a:rPr lang="en-GB" sz="36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Taxonomy and Opportunity</a:t>
            </a:r>
            <a:br>
              <a:rPr lang="en-GB" sz="32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lang="en-GB" sz="2000" dirty="0">
              <a:solidFill>
                <a:schemeClr val="tx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AE5A963-E306-4B18-AA7E-F13DAE410C2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49</a:t>
            </a:fld>
            <a:endParaRPr lang="de-DE"/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021ED514-52E5-8EBC-13DC-5FCBE8267BAF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19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172665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09;g60be7dcf1c_0_222">
            <a:extLst>
              <a:ext uri="{FF2B5EF4-FFF2-40B4-BE49-F238E27FC236}">
                <a16:creationId xmlns:a16="http://schemas.microsoft.com/office/drawing/2014/main" id="{4DE19C73-9916-40CA-87D9-CC4934AE39A5}"/>
              </a:ext>
            </a:extLst>
          </p:cNvPr>
          <p:cNvSpPr txBox="1"/>
          <p:nvPr/>
        </p:nvSpPr>
        <p:spPr>
          <a:xfrm>
            <a:off x="0" y="540000"/>
            <a:ext cx="8170925" cy="75235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49" name="Quad Arrow 7">
            <a:extLst>
              <a:ext uri="{FF2B5EF4-FFF2-40B4-BE49-F238E27FC236}">
                <a16:creationId xmlns:a16="http://schemas.microsoft.com/office/drawing/2014/main" id="{385A9012-058F-49BD-9BAF-6B34AA373EE0}"/>
              </a:ext>
            </a:extLst>
          </p:cNvPr>
          <p:cNvSpPr/>
          <p:nvPr/>
        </p:nvSpPr>
        <p:spPr>
          <a:xfrm>
            <a:off x="2092443" y="1493016"/>
            <a:ext cx="4178788" cy="4295751"/>
          </a:xfrm>
          <a:prstGeom prst="quadArrow">
            <a:avLst>
              <a:gd name="adj1" fmla="val 2000"/>
              <a:gd name="adj2" fmla="val 4000"/>
              <a:gd name="adj3" fmla="val 5000"/>
            </a:avLst>
          </a:prstGeom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hemeClr val="accent4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4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de-DE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14273E40-9B65-40EE-AAF1-2EFA280E4F37}"/>
              </a:ext>
            </a:extLst>
          </p:cNvPr>
          <p:cNvSpPr/>
          <p:nvPr/>
        </p:nvSpPr>
        <p:spPr>
          <a:xfrm>
            <a:off x="3732771" y="5905392"/>
            <a:ext cx="85792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Static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26B0604-34FB-4C74-8EEF-54D39D90F238}"/>
              </a:ext>
            </a:extLst>
          </p:cNvPr>
          <p:cNvSpPr/>
          <p:nvPr/>
        </p:nvSpPr>
        <p:spPr>
          <a:xfrm>
            <a:off x="857936" y="3348503"/>
            <a:ext cx="119455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</a:rPr>
              <a:t>Demand-</a:t>
            </a:r>
            <a:br>
              <a:rPr lang="en-US" sz="1600" dirty="0">
                <a:latin typeface="Consolas" panose="020B0609020204030204" pitchFamily="49" charset="0"/>
              </a:rPr>
            </a:br>
            <a:r>
              <a:rPr lang="en-US" sz="1600" dirty="0">
                <a:latin typeface="Consolas" panose="020B0609020204030204" pitchFamily="49" charset="0"/>
              </a:rPr>
              <a:t>oblivious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B59E138-458C-4EA2-AD2F-BFD915E56F2D}"/>
              </a:ext>
            </a:extLst>
          </p:cNvPr>
          <p:cNvSpPr/>
          <p:nvPr/>
        </p:nvSpPr>
        <p:spPr>
          <a:xfrm>
            <a:off x="6231091" y="3348503"/>
            <a:ext cx="97013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</a:rPr>
              <a:t>Demand-</a:t>
            </a:r>
            <a:br>
              <a:rPr lang="en-US" sz="1600" dirty="0">
                <a:latin typeface="Consolas" panose="020B0609020204030204" pitchFamily="49" charset="0"/>
              </a:rPr>
            </a:br>
            <a:r>
              <a:rPr lang="en-US" sz="1600" dirty="0">
                <a:latin typeface="Consolas" panose="020B0609020204030204" pitchFamily="49" charset="0"/>
              </a:rPr>
              <a:t>aware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A812149-FAEA-439D-ABBA-8E6F395D1EA6}"/>
              </a:ext>
            </a:extLst>
          </p:cNvPr>
          <p:cNvSpPr/>
          <p:nvPr/>
        </p:nvSpPr>
        <p:spPr>
          <a:xfrm>
            <a:off x="5655141" y="1317392"/>
            <a:ext cx="97013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Dynamic</a:t>
            </a:r>
          </a:p>
        </p:txBody>
      </p:sp>
      <p:sp>
        <p:nvSpPr>
          <p:cNvPr id="22" name="Freeform 8">
            <a:extLst>
              <a:ext uri="{FF2B5EF4-FFF2-40B4-BE49-F238E27FC236}">
                <a16:creationId xmlns:a16="http://schemas.microsoft.com/office/drawing/2014/main" id="{F2C9F300-EB71-4FA5-8637-B7C09DA36891}"/>
              </a:ext>
            </a:extLst>
          </p:cNvPr>
          <p:cNvSpPr/>
          <p:nvPr/>
        </p:nvSpPr>
        <p:spPr>
          <a:xfrm>
            <a:off x="2442755" y="2077631"/>
            <a:ext cx="1581830" cy="1207677"/>
          </a:xfrm>
          <a:custGeom>
            <a:avLst/>
            <a:gdLst>
              <a:gd name="connsiteX0" fmla="*/ 0 w 2651765"/>
              <a:gd name="connsiteY0" fmla="*/ 368262 h 2209528"/>
              <a:gd name="connsiteX1" fmla="*/ 368262 w 2651765"/>
              <a:gd name="connsiteY1" fmla="*/ 0 h 2209528"/>
              <a:gd name="connsiteX2" fmla="*/ 2283503 w 2651765"/>
              <a:gd name="connsiteY2" fmla="*/ 0 h 2209528"/>
              <a:gd name="connsiteX3" fmla="*/ 2651765 w 2651765"/>
              <a:gd name="connsiteY3" fmla="*/ 368262 h 2209528"/>
              <a:gd name="connsiteX4" fmla="*/ 2651765 w 2651765"/>
              <a:gd name="connsiteY4" fmla="*/ 1841266 h 2209528"/>
              <a:gd name="connsiteX5" fmla="*/ 2283503 w 2651765"/>
              <a:gd name="connsiteY5" fmla="*/ 2209528 h 2209528"/>
              <a:gd name="connsiteX6" fmla="*/ 368262 w 2651765"/>
              <a:gd name="connsiteY6" fmla="*/ 2209528 h 2209528"/>
              <a:gd name="connsiteX7" fmla="*/ 0 w 2651765"/>
              <a:gd name="connsiteY7" fmla="*/ 1841266 h 2209528"/>
              <a:gd name="connsiteX8" fmla="*/ 0 w 2651765"/>
              <a:gd name="connsiteY8" fmla="*/ 368262 h 2209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51765" h="2209528">
                <a:moveTo>
                  <a:pt x="0" y="368262"/>
                </a:moveTo>
                <a:cubicBezTo>
                  <a:pt x="0" y="164877"/>
                  <a:pt x="164877" y="0"/>
                  <a:pt x="368262" y="0"/>
                </a:cubicBezTo>
                <a:lnTo>
                  <a:pt x="2283503" y="0"/>
                </a:lnTo>
                <a:cubicBezTo>
                  <a:pt x="2486888" y="0"/>
                  <a:pt x="2651765" y="164877"/>
                  <a:pt x="2651765" y="368262"/>
                </a:cubicBezTo>
                <a:lnTo>
                  <a:pt x="2651765" y="1841266"/>
                </a:lnTo>
                <a:cubicBezTo>
                  <a:pt x="2651765" y="2044651"/>
                  <a:pt x="2486888" y="2209528"/>
                  <a:pt x="2283503" y="2209528"/>
                </a:cubicBezTo>
                <a:lnTo>
                  <a:pt x="368262" y="2209528"/>
                </a:lnTo>
                <a:cubicBezTo>
                  <a:pt x="164877" y="2209528"/>
                  <a:pt x="0" y="2044651"/>
                  <a:pt x="0" y="1841266"/>
                </a:cubicBezTo>
                <a:lnTo>
                  <a:pt x="0" y="368262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48830" tIns="248830" rIns="248830" bIns="248830" numCol="1" spcCol="1270" anchor="ctr" anchorCtr="0">
            <a:noAutofit/>
          </a:bodyPr>
          <a:lstStyle/>
          <a:p>
            <a:pPr algn="ctr"/>
            <a:r>
              <a:rPr lang="de-DE" sz="1800" b="1" dirty="0">
                <a:solidFill>
                  <a:schemeClr val="tx1"/>
                </a:solidFill>
                <a:latin typeface="Consolas" panose="020B0609020204030204" pitchFamily="49" charset="0"/>
              </a:rPr>
              <a:t>Rotor</a:t>
            </a:r>
            <a:endParaRPr lang="en-AT" sz="1800" b="1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Freeform 8">
            <a:extLst>
              <a:ext uri="{FF2B5EF4-FFF2-40B4-BE49-F238E27FC236}">
                <a16:creationId xmlns:a16="http://schemas.microsoft.com/office/drawing/2014/main" id="{434D0822-7CDB-43E5-9C51-92A4B95A279B}"/>
              </a:ext>
            </a:extLst>
          </p:cNvPr>
          <p:cNvSpPr/>
          <p:nvPr/>
        </p:nvSpPr>
        <p:spPr>
          <a:xfrm>
            <a:off x="4339024" y="2077630"/>
            <a:ext cx="1654497" cy="1207678"/>
          </a:xfrm>
          <a:custGeom>
            <a:avLst/>
            <a:gdLst>
              <a:gd name="connsiteX0" fmla="*/ 0 w 2651765"/>
              <a:gd name="connsiteY0" fmla="*/ 368262 h 2209528"/>
              <a:gd name="connsiteX1" fmla="*/ 368262 w 2651765"/>
              <a:gd name="connsiteY1" fmla="*/ 0 h 2209528"/>
              <a:gd name="connsiteX2" fmla="*/ 2283503 w 2651765"/>
              <a:gd name="connsiteY2" fmla="*/ 0 h 2209528"/>
              <a:gd name="connsiteX3" fmla="*/ 2651765 w 2651765"/>
              <a:gd name="connsiteY3" fmla="*/ 368262 h 2209528"/>
              <a:gd name="connsiteX4" fmla="*/ 2651765 w 2651765"/>
              <a:gd name="connsiteY4" fmla="*/ 1841266 h 2209528"/>
              <a:gd name="connsiteX5" fmla="*/ 2283503 w 2651765"/>
              <a:gd name="connsiteY5" fmla="*/ 2209528 h 2209528"/>
              <a:gd name="connsiteX6" fmla="*/ 368262 w 2651765"/>
              <a:gd name="connsiteY6" fmla="*/ 2209528 h 2209528"/>
              <a:gd name="connsiteX7" fmla="*/ 0 w 2651765"/>
              <a:gd name="connsiteY7" fmla="*/ 1841266 h 2209528"/>
              <a:gd name="connsiteX8" fmla="*/ 0 w 2651765"/>
              <a:gd name="connsiteY8" fmla="*/ 368262 h 2209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51765" h="2209528">
                <a:moveTo>
                  <a:pt x="0" y="368262"/>
                </a:moveTo>
                <a:cubicBezTo>
                  <a:pt x="0" y="164877"/>
                  <a:pt x="164877" y="0"/>
                  <a:pt x="368262" y="0"/>
                </a:cubicBezTo>
                <a:lnTo>
                  <a:pt x="2283503" y="0"/>
                </a:lnTo>
                <a:cubicBezTo>
                  <a:pt x="2486888" y="0"/>
                  <a:pt x="2651765" y="164877"/>
                  <a:pt x="2651765" y="368262"/>
                </a:cubicBezTo>
                <a:lnTo>
                  <a:pt x="2651765" y="1841266"/>
                </a:lnTo>
                <a:cubicBezTo>
                  <a:pt x="2651765" y="2044651"/>
                  <a:pt x="2486888" y="2209528"/>
                  <a:pt x="2283503" y="2209528"/>
                </a:cubicBezTo>
                <a:lnTo>
                  <a:pt x="368262" y="2209528"/>
                </a:lnTo>
                <a:cubicBezTo>
                  <a:pt x="164877" y="2209528"/>
                  <a:pt x="0" y="2044651"/>
                  <a:pt x="0" y="1841266"/>
                </a:cubicBezTo>
                <a:lnTo>
                  <a:pt x="0" y="368262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48830" tIns="248830" rIns="248830" bIns="248830" numCol="1" spcCol="1270" anchor="ctr" anchorCtr="0">
            <a:noAutofit/>
          </a:bodyPr>
          <a:lstStyle/>
          <a:p>
            <a:pPr algn="ctr"/>
            <a:r>
              <a:rPr lang="de-DE" sz="1800" b="1" dirty="0">
                <a:solidFill>
                  <a:schemeClr val="tx1"/>
                </a:solidFill>
                <a:latin typeface="Consolas" panose="020B0609020204030204" pitchFamily="49" charset="0"/>
              </a:rPr>
              <a:t>Demand-Aware</a:t>
            </a:r>
            <a:endParaRPr lang="en-AT" sz="1800" b="1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Google Shape;1288;g60be7dcf1c_0_204">
            <a:extLst>
              <a:ext uri="{FF2B5EF4-FFF2-40B4-BE49-F238E27FC236}">
                <a16:creationId xmlns:a16="http://schemas.microsoft.com/office/drawing/2014/main" id="{CF3999AF-9FA8-48F8-90DC-DC8D91210D75}"/>
              </a:ext>
            </a:extLst>
          </p:cNvPr>
          <p:cNvSpPr txBox="1">
            <a:spLocks/>
          </p:cNvSpPr>
          <p:nvPr/>
        </p:nvSpPr>
        <p:spPr>
          <a:xfrm>
            <a:off x="973075" y="524023"/>
            <a:ext cx="8171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lnSpc>
                <a:spcPct val="115000"/>
              </a:lnSpc>
              <a:buSzPts val="1100"/>
            </a:pPr>
            <a:r>
              <a:rPr lang="en-GB" sz="36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 </a:t>
            </a:r>
            <a:r>
              <a:rPr lang="en-GB" sz="3600" dirty="0" err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Tradeoff</a:t>
            </a:r>
            <a:r>
              <a:rPr lang="en-GB" sz="36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?</a:t>
            </a:r>
            <a:br>
              <a:rPr lang="en-GB" sz="32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lang="en-GB" sz="2000" dirty="0">
              <a:solidFill>
                <a:schemeClr val="tx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472FD5E-F52A-09D1-B6C2-25DC23708009}"/>
              </a:ext>
            </a:extLst>
          </p:cNvPr>
          <p:cNvSpPr/>
          <p:nvPr/>
        </p:nvSpPr>
        <p:spPr>
          <a:xfrm>
            <a:off x="3687845" y="3696141"/>
            <a:ext cx="1022882" cy="27302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050828-271D-D45A-8D73-A462EEAC7279}"/>
              </a:ext>
            </a:extLst>
          </p:cNvPr>
          <p:cNvSpPr/>
          <p:nvPr/>
        </p:nvSpPr>
        <p:spPr>
          <a:xfrm>
            <a:off x="4061379" y="1512255"/>
            <a:ext cx="237696" cy="20626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5F3611F-E45A-2146-5D61-0FC9AAA9B3F3}"/>
              </a:ext>
            </a:extLst>
          </p:cNvPr>
          <p:cNvSpPr/>
          <p:nvPr/>
        </p:nvSpPr>
        <p:spPr>
          <a:xfrm>
            <a:off x="5381290" y="1420116"/>
            <a:ext cx="1795136" cy="2963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Google Shape;1534;g60be7dcf1c_0_434">
            <a:extLst>
              <a:ext uri="{FF2B5EF4-FFF2-40B4-BE49-F238E27FC236}">
                <a16:creationId xmlns:a16="http://schemas.microsoft.com/office/drawing/2014/main" id="{8C06C1C7-A25E-0F17-9E50-51B23D5B9652}"/>
              </a:ext>
            </a:extLst>
          </p:cNvPr>
          <p:cNvSpPr txBox="1"/>
          <p:nvPr/>
        </p:nvSpPr>
        <p:spPr>
          <a:xfrm>
            <a:off x="857936" y="4597734"/>
            <a:ext cx="2958885" cy="1106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⇀ </a:t>
            </a:r>
            <a:r>
              <a:rPr lang="en-GB" sz="1600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Faster</a:t>
            </a: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to reconfigure</a:t>
            </a:r>
          </a:p>
          <a:p>
            <a:pPr lvl="0">
              <a:lnSpc>
                <a:spcPct val="115000"/>
              </a:lnSpc>
            </a:pPr>
            <a:endParaRPr lang="en-GB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⇀ 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Not optimized</a:t>
            </a:r>
            <a:endParaRPr lang="de-DE"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" name="Google Shape;1534;g60be7dcf1c_0_434">
            <a:extLst>
              <a:ext uri="{FF2B5EF4-FFF2-40B4-BE49-F238E27FC236}">
                <a16:creationId xmlns:a16="http://schemas.microsoft.com/office/drawing/2014/main" id="{FB9C722F-A803-16C5-E428-D8686C8F370D}"/>
              </a:ext>
            </a:extLst>
          </p:cNvPr>
          <p:cNvSpPr txBox="1"/>
          <p:nvPr/>
        </p:nvSpPr>
        <p:spPr>
          <a:xfrm>
            <a:off x="5397259" y="4258101"/>
            <a:ext cx="3505078" cy="1783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⇀ Slower: optimized</a:t>
            </a:r>
          </a:p>
          <a:p>
            <a:pPr lvl="0">
              <a:lnSpc>
                <a:spcPct val="115000"/>
              </a:lnSpc>
            </a:pPr>
            <a:endParaRPr lang="en-GB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⇀ </a:t>
            </a:r>
            <a:r>
              <a:rPr lang="en-GB" sz="1600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Op</a:t>
            </a:r>
            <a:r>
              <a:rPr lang="de-DE" sz="1600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timized</a:t>
            </a:r>
          </a:p>
          <a:p>
            <a:pPr lvl="0">
              <a:lnSpc>
                <a:spcPct val="115000"/>
              </a:lnSpc>
            </a:pPr>
            <a:endParaRPr lang="de-DE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⇀ Need </a:t>
            </a:r>
            <a:r>
              <a:rPr lang="en-GB" sz="1600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info about demand </a:t>
            </a: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(?)</a:t>
            </a:r>
            <a:endParaRPr lang="de-DE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183352E-2582-0B15-5823-C124087347F8}"/>
              </a:ext>
            </a:extLst>
          </p:cNvPr>
          <p:cNvSpPr/>
          <p:nvPr/>
        </p:nvSpPr>
        <p:spPr>
          <a:xfrm>
            <a:off x="4016382" y="4657098"/>
            <a:ext cx="74892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4000" dirty="0">
                <a:latin typeface="Consolas" panose="020B0609020204030204" pitchFamily="49" charset="0"/>
              </a:rPr>
              <a:t>vs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0842C300-ED0F-E664-345F-D9585C8D5BB0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20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486395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6">
          <a:extLst>
            <a:ext uri="{FF2B5EF4-FFF2-40B4-BE49-F238E27FC236}">
              <a16:creationId xmlns:a16="http://schemas.microsoft.com/office/drawing/2014/main" id="{9D05C246-1D1E-0548-D488-9CDA804D1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09;g60be7dcf1c_0_222">
            <a:extLst>
              <a:ext uri="{FF2B5EF4-FFF2-40B4-BE49-F238E27FC236}">
                <a16:creationId xmlns:a16="http://schemas.microsoft.com/office/drawing/2014/main" id="{AFE7C00C-8CBF-76CB-687E-3DB415B39239}"/>
              </a:ext>
            </a:extLst>
          </p:cNvPr>
          <p:cNvSpPr txBox="1"/>
          <p:nvPr/>
        </p:nvSpPr>
        <p:spPr>
          <a:xfrm>
            <a:off x="0" y="540000"/>
            <a:ext cx="8170925" cy="75235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49" name="Quad Arrow 7">
            <a:extLst>
              <a:ext uri="{FF2B5EF4-FFF2-40B4-BE49-F238E27FC236}">
                <a16:creationId xmlns:a16="http://schemas.microsoft.com/office/drawing/2014/main" id="{F51AA9F8-6703-2A88-B8B6-D70DC791A578}"/>
              </a:ext>
            </a:extLst>
          </p:cNvPr>
          <p:cNvSpPr/>
          <p:nvPr/>
        </p:nvSpPr>
        <p:spPr>
          <a:xfrm>
            <a:off x="2092443" y="1493016"/>
            <a:ext cx="4178788" cy="4295751"/>
          </a:xfrm>
          <a:prstGeom prst="quadArrow">
            <a:avLst>
              <a:gd name="adj1" fmla="val 2000"/>
              <a:gd name="adj2" fmla="val 4000"/>
              <a:gd name="adj3" fmla="val 5000"/>
            </a:avLst>
          </a:prstGeom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hemeClr val="accent4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4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de-DE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623E473-3F80-B335-F889-58863BF37E67}"/>
              </a:ext>
            </a:extLst>
          </p:cNvPr>
          <p:cNvSpPr/>
          <p:nvPr/>
        </p:nvSpPr>
        <p:spPr>
          <a:xfrm>
            <a:off x="3732771" y="5905392"/>
            <a:ext cx="85792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Static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2A4229D-A4CA-DF2F-871D-0D70CC7FED28}"/>
              </a:ext>
            </a:extLst>
          </p:cNvPr>
          <p:cNvSpPr/>
          <p:nvPr/>
        </p:nvSpPr>
        <p:spPr>
          <a:xfrm>
            <a:off x="857936" y="3348503"/>
            <a:ext cx="119455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</a:rPr>
              <a:t>Demand-</a:t>
            </a:r>
            <a:br>
              <a:rPr lang="en-US" sz="1600" dirty="0">
                <a:latin typeface="Consolas" panose="020B0609020204030204" pitchFamily="49" charset="0"/>
              </a:rPr>
            </a:br>
            <a:r>
              <a:rPr lang="en-US" sz="1600" dirty="0">
                <a:latin typeface="Consolas" panose="020B0609020204030204" pitchFamily="49" charset="0"/>
              </a:rPr>
              <a:t>oblivious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37EA334-C597-A920-22C1-31E9CB2453AB}"/>
              </a:ext>
            </a:extLst>
          </p:cNvPr>
          <p:cNvSpPr/>
          <p:nvPr/>
        </p:nvSpPr>
        <p:spPr>
          <a:xfrm>
            <a:off x="6231091" y="3348503"/>
            <a:ext cx="97013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</a:rPr>
              <a:t>Demand-</a:t>
            </a:r>
            <a:br>
              <a:rPr lang="en-US" sz="1600" dirty="0">
                <a:latin typeface="Consolas" panose="020B0609020204030204" pitchFamily="49" charset="0"/>
              </a:rPr>
            </a:br>
            <a:r>
              <a:rPr lang="en-US" sz="1600" dirty="0">
                <a:latin typeface="Consolas" panose="020B0609020204030204" pitchFamily="49" charset="0"/>
              </a:rPr>
              <a:t>aware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90A15E0D-2C5D-F630-A402-7BB27BDAD032}"/>
              </a:ext>
            </a:extLst>
          </p:cNvPr>
          <p:cNvSpPr/>
          <p:nvPr/>
        </p:nvSpPr>
        <p:spPr>
          <a:xfrm>
            <a:off x="5655141" y="1317392"/>
            <a:ext cx="97013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Dynamic</a:t>
            </a:r>
          </a:p>
        </p:txBody>
      </p:sp>
      <p:sp>
        <p:nvSpPr>
          <p:cNvPr id="20" name="Google Shape;1288;g60be7dcf1c_0_204">
            <a:extLst>
              <a:ext uri="{FF2B5EF4-FFF2-40B4-BE49-F238E27FC236}">
                <a16:creationId xmlns:a16="http://schemas.microsoft.com/office/drawing/2014/main" id="{04B54F7D-1343-A123-EE95-14043F7D5974}"/>
              </a:ext>
            </a:extLst>
          </p:cNvPr>
          <p:cNvSpPr txBox="1">
            <a:spLocks/>
          </p:cNvSpPr>
          <p:nvPr/>
        </p:nvSpPr>
        <p:spPr>
          <a:xfrm>
            <a:off x="973075" y="524023"/>
            <a:ext cx="8171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lnSpc>
                <a:spcPct val="115000"/>
              </a:lnSpc>
              <a:buSzPts val="1100"/>
            </a:pPr>
            <a:r>
              <a:rPr lang="en-GB" sz="36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An Opportunity! Hybrid.</a:t>
            </a:r>
            <a:br>
              <a:rPr lang="en-GB" sz="32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lang="en-GB" sz="2000" dirty="0">
              <a:solidFill>
                <a:schemeClr val="tx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B7604C-AEE9-B446-9171-7EB1E938B326}"/>
              </a:ext>
            </a:extLst>
          </p:cNvPr>
          <p:cNvSpPr/>
          <p:nvPr/>
        </p:nvSpPr>
        <p:spPr>
          <a:xfrm>
            <a:off x="3687845" y="3696141"/>
            <a:ext cx="1022882" cy="27302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D2916DC-0717-7D82-67E7-D7240DDA61AF}"/>
              </a:ext>
            </a:extLst>
          </p:cNvPr>
          <p:cNvSpPr/>
          <p:nvPr/>
        </p:nvSpPr>
        <p:spPr>
          <a:xfrm>
            <a:off x="4061379" y="1512255"/>
            <a:ext cx="237696" cy="20626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C33904B-B540-DECF-C157-EDDDEB044C0D}"/>
              </a:ext>
            </a:extLst>
          </p:cNvPr>
          <p:cNvSpPr/>
          <p:nvPr/>
        </p:nvSpPr>
        <p:spPr>
          <a:xfrm>
            <a:off x="5381290" y="1420116"/>
            <a:ext cx="1795136" cy="2963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Freeform 8">
            <a:extLst>
              <a:ext uri="{FF2B5EF4-FFF2-40B4-BE49-F238E27FC236}">
                <a16:creationId xmlns:a16="http://schemas.microsoft.com/office/drawing/2014/main" id="{403F2867-3932-FCB0-B054-FDB590AC085F}"/>
              </a:ext>
            </a:extLst>
          </p:cNvPr>
          <p:cNvSpPr/>
          <p:nvPr/>
        </p:nvSpPr>
        <p:spPr>
          <a:xfrm>
            <a:off x="2442754" y="2077631"/>
            <a:ext cx="3505077" cy="1207677"/>
          </a:xfrm>
          <a:custGeom>
            <a:avLst/>
            <a:gdLst>
              <a:gd name="connsiteX0" fmla="*/ 0 w 2651765"/>
              <a:gd name="connsiteY0" fmla="*/ 368262 h 2209528"/>
              <a:gd name="connsiteX1" fmla="*/ 368262 w 2651765"/>
              <a:gd name="connsiteY1" fmla="*/ 0 h 2209528"/>
              <a:gd name="connsiteX2" fmla="*/ 2283503 w 2651765"/>
              <a:gd name="connsiteY2" fmla="*/ 0 h 2209528"/>
              <a:gd name="connsiteX3" fmla="*/ 2651765 w 2651765"/>
              <a:gd name="connsiteY3" fmla="*/ 368262 h 2209528"/>
              <a:gd name="connsiteX4" fmla="*/ 2651765 w 2651765"/>
              <a:gd name="connsiteY4" fmla="*/ 1841266 h 2209528"/>
              <a:gd name="connsiteX5" fmla="*/ 2283503 w 2651765"/>
              <a:gd name="connsiteY5" fmla="*/ 2209528 h 2209528"/>
              <a:gd name="connsiteX6" fmla="*/ 368262 w 2651765"/>
              <a:gd name="connsiteY6" fmla="*/ 2209528 h 2209528"/>
              <a:gd name="connsiteX7" fmla="*/ 0 w 2651765"/>
              <a:gd name="connsiteY7" fmla="*/ 1841266 h 2209528"/>
              <a:gd name="connsiteX8" fmla="*/ 0 w 2651765"/>
              <a:gd name="connsiteY8" fmla="*/ 368262 h 2209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51765" h="2209528">
                <a:moveTo>
                  <a:pt x="0" y="368262"/>
                </a:moveTo>
                <a:cubicBezTo>
                  <a:pt x="0" y="164877"/>
                  <a:pt x="164877" y="0"/>
                  <a:pt x="368262" y="0"/>
                </a:cubicBezTo>
                <a:lnTo>
                  <a:pt x="2283503" y="0"/>
                </a:lnTo>
                <a:cubicBezTo>
                  <a:pt x="2486888" y="0"/>
                  <a:pt x="2651765" y="164877"/>
                  <a:pt x="2651765" y="368262"/>
                </a:cubicBezTo>
                <a:lnTo>
                  <a:pt x="2651765" y="1841266"/>
                </a:lnTo>
                <a:cubicBezTo>
                  <a:pt x="2651765" y="2044651"/>
                  <a:pt x="2486888" y="2209528"/>
                  <a:pt x="2283503" y="2209528"/>
                </a:cubicBezTo>
                <a:lnTo>
                  <a:pt x="368262" y="2209528"/>
                </a:lnTo>
                <a:cubicBezTo>
                  <a:pt x="164877" y="2209528"/>
                  <a:pt x="0" y="2044651"/>
                  <a:pt x="0" y="1841266"/>
                </a:cubicBezTo>
                <a:lnTo>
                  <a:pt x="0" y="368262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48830" tIns="248830" rIns="248830" bIns="248830" numCol="1" spcCol="1270" anchor="ctr" anchorCtr="0">
            <a:noAutofit/>
          </a:bodyPr>
          <a:lstStyle/>
          <a:p>
            <a:pPr algn="ctr"/>
            <a:r>
              <a:rPr lang="de-DE" sz="1800" b="1" dirty="0">
                <a:solidFill>
                  <a:schemeClr val="tx1"/>
                </a:solidFill>
                <a:latin typeface="Consolas" panose="020B0609020204030204" pitchFamily="49" charset="0"/>
              </a:rPr>
              <a:t>Hybrid designs: </a:t>
            </a:r>
          </a:p>
          <a:p>
            <a:pPr algn="ctr"/>
            <a:r>
              <a:rPr lang="de-DE" sz="1600" dirty="0">
                <a:solidFill>
                  <a:schemeClr val="tx1"/>
                </a:solidFill>
                <a:latin typeface="Consolas" panose="020B0609020204030204" pitchFamily="49" charset="0"/>
              </a:rPr>
              <a:t>Cerberus (Sigmetrics’22), Vermillion (NSDI‘27), etc. </a:t>
            </a:r>
            <a:endParaRPr lang="en-AT" sz="16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Google Shape;1534;g60be7dcf1c_0_434">
            <a:extLst>
              <a:ext uri="{FF2B5EF4-FFF2-40B4-BE49-F238E27FC236}">
                <a16:creationId xmlns:a16="http://schemas.microsoft.com/office/drawing/2014/main" id="{A2750B9C-E063-E950-BEF6-C54AD5098248}"/>
              </a:ext>
            </a:extLst>
          </p:cNvPr>
          <p:cNvSpPr txBox="1"/>
          <p:nvPr/>
        </p:nvSpPr>
        <p:spPr>
          <a:xfrm>
            <a:off x="857936" y="4225436"/>
            <a:ext cx="7077750" cy="1720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⇀ Cerberus: serve </a:t>
            </a:r>
            <a:r>
              <a:rPr lang="en-GB" sz="1600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large flows</a:t>
            </a: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using demand-optimized links</a:t>
            </a:r>
          </a:p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and </a:t>
            </a:r>
            <a:r>
              <a:rPr lang="en-GB" sz="1600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shuffle traffic</a:t>
            </a: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using periodic links</a:t>
            </a:r>
          </a:p>
          <a:p>
            <a:pPr lvl="0">
              <a:lnSpc>
                <a:spcPct val="115000"/>
              </a:lnSpc>
            </a:pPr>
            <a:endParaRPr lang="en-GB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⇀ 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Vermillion: </a:t>
            </a:r>
            <a:r>
              <a:rPr lang="en-GB" sz="1600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less frequent demand-aware reconfigurations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and </a:t>
            </a:r>
          </a:p>
          <a:p>
            <a:pPr lvl="0">
              <a:lnSpc>
                <a:spcPct val="115000"/>
              </a:lnSpc>
            </a:pP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reconfigure periodically but fast meanwhile</a:t>
            </a:r>
            <a:endParaRPr lang="de-DE"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5C19F589-3D98-8474-7325-B49C7E6BF87E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20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455475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6">
          <a:extLst>
            <a:ext uri="{FF2B5EF4-FFF2-40B4-BE49-F238E27FC236}">
              <a16:creationId xmlns:a16="http://schemas.microsoft.com/office/drawing/2014/main" id="{60236D97-AF23-241C-D0FB-0A75FEDED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09;g60be7dcf1c_0_222">
            <a:extLst>
              <a:ext uri="{FF2B5EF4-FFF2-40B4-BE49-F238E27FC236}">
                <a16:creationId xmlns:a16="http://schemas.microsoft.com/office/drawing/2014/main" id="{A3998C30-B546-FF81-7842-47F862ADBC2D}"/>
              </a:ext>
            </a:extLst>
          </p:cNvPr>
          <p:cNvSpPr txBox="1"/>
          <p:nvPr/>
        </p:nvSpPr>
        <p:spPr>
          <a:xfrm>
            <a:off x="0" y="540000"/>
            <a:ext cx="8170925" cy="75235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49" name="Quad Arrow 7">
            <a:extLst>
              <a:ext uri="{FF2B5EF4-FFF2-40B4-BE49-F238E27FC236}">
                <a16:creationId xmlns:a16="http://schemas.microsoft.com/office/drawing/2014/main" id="{18E5A9CF-75B7-F2C5-0720-346E28AB65BD}"/>
              </a:ext>
            </a:extLst>
          </p:cNvPr>
          <p:cNvSpPr/>
          <p:nvPr/>
        </p:nvSpPr>
        <p:spPr>
          <a:xfrm>
            <a:off x="2092443" y="1493016"/>
            <a:ext cx="4178788" cy="4295751"/>
          </a:xfrm>
          <a:prstGeom prst="quadArrow">
            <a:avLst>
              <a:gd name="adj1" fmla="val 2000"/>
              <a:gd name="adj2" fmla="val 4000"/>
              <a:gd name="adj3" fmla="val 5000"/>
            </a:avLst>
          </a:prstGeom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hemeClr val="accent4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4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de-DE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10BD1926-7082-325D-717D-E9671919A724}"/>
              </a:ext>
            </a:extLst>
          </p:cNvPr>
          <p:cNvSpPr/>
          <p:nvPr/>
        </p:nvSpPr>
        <p:spPr>
          <a:xfrm>
            <a:off x="3732771" y="5905392"/>
            <a:ext cx="85792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Static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9DB3E91-E734-F43F-EAA8-E1719CFAC9A5}"/>
              </a:ext>
            </a:extLst>
          </p:cNvPr>
          <p:cNvSpPr/>
          <p:nvPr/>
        </p:nvSpPr>
        <p:spPr>
          <a:xfrm>
            <a:off x="857936" y="3348503"/>
            <a:ext cx="119455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</a:rPr>
              <a:t>Demand-</a:t>
            </a:r>
            <a:br>
              <a:rPr lang="en-US" sz="1600" dirty="0">
                <a:latin typeface="Consolas" panose="020B0609020204030204" pitchFamily="49" charset="0"/>
              </a:rPr>
            </a:br>
            <a:r>
              <a:rPr lang="en-US" sz="1600" dirty="0">
                <a:latin typeface="Consolas" panose="020B0609020204030204" pitchFamily="49" charset="0"/>
              </a:rPr>
              <a:t>oblivious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D72B16A-E8F2-2A1E-F064-C99CC214E2D0}"/>
              </a:ext>
            </a:extLst>
          </p:cNvPr>
          <p:cNvSpPr/>
          <p:nvPr/>
        </p:nvSpPr>
        <p:spPr>
          <a:xfrm>
            <a:off x="6231091" y="3348503"/>
            <a:ext cx="97013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</a:rPr>
              <a:t>Demand-</a:t>
            </a:r>
            <a:br>
              <a:rPr lang="en-US" sz="1600" dirty="0">
                <a:latin typeface="Consolas" panose="020B0609020204030204" pitchFamily="49" charset="0"/>
              </a:rPr>
            </a:br>
            <a:r>
              <a:rPr lang="en-US" sz="1600" dirty="0">
                <a:latin typeface="Consolas" panose="020B0609020204030204" pitchFamily="49" charset="0"/>
              </a:rPr>
              <a:t>aware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27F2FB9-45CA-E25E-603F-FC8DFC0838C1}"/>
              </a:ext>
            </a:extLst>
          </p:cNvPr>
          <p:cNvSpPr/>
          <p:nvPr/>
        </p:nvSpPr>
        <p:spPr>
          <a:xfrm>
            <a:off x="5655141" y="1317392"/>
            <a:ext cx="97013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Dynamic</a:t>
            </a:r>
          </a:p>
        </p:txBody>
      </p:sp>
      <p:sp>
        <p:nvSpPr>
          <p:cNvPr id="20" name="Google Shape;1288;g60be7dcf1c_0_204">
            <a:extLst>
              <a:ext uri="{FF2B5EF4-FFF2-40B4-BE49-F238E27FC236}">
                <a16:creationId xmlns:a16="http://schemas.microsoft.com/office/drawing/2014/main" id="{DF14B4B2-D908-496A-439E-6F21841BBE53}"/>
              </a:ext>
            </a:extLst>
          </p:cNvPr>
          <p:cNvSpPr txBox="1">
            <a:spLocks/>
          </p:cNvSpPr>
          <p:nvPr/>
        </p:nvSpPr>
        <p:spPr>
          <a:xfrm>
            <a:off x="973075" y="524023"/>
            <a:ext cx="8171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lnSpc>
                <a:spcPct val="115000"/>
              </a:lnSpc>
              <a:buSzPts val="1100"/>
            </a:pPr>
            <a:r>
              <a:rPr lang="en-GB" sz="36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An Opportunity! Hybrid.</a:t>
            </a:r>
            <a:br>
              <a:rPr lang="en-GB" sz="32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lang="en-GB" sz="2000" dirty="0">
              <a:solidFill>
                <a:schemeClr val="tx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0EF0AB-6486-1170-1158-031C7C08A44F}"/>
              </a:ext>
            </a:extLst>
          </p:cNvPr>
          <p:cNvSpPr/>
          <p:nvPr/>
        </p:nvSpPr>
        <p:spPr>
          <a:xfrm>
            <a:off x="3687845" y="3696141"/>
            <a:ext cx="1022882" cy="27302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2C4EAC-1364-7D9A-A009-BBCA5D973B1F}"/>
              </a:ext>
            </a:extLst>
          </p:cNvPr>
          <p:cNvSpPr/>
          <p:nvPr/>
        </p:nvSpPr>
        <p:spPr>
          <a:xfrm>
            <a:off x="4061379" y="1512255"/>
            <a:ext cx="237696" cy="20626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58F718A-D6B7-DBDB-2514-75DB2E60C7E9}"/>
              </a:ext>
            </a:extLst>
          </p:cNvPr>
          <p:cNvSpPr/>
          <p:nvPr/>
        </p:nvSpPr>
        <p:spPr>
          <a:xfrm>
            <a:off x="5381290" y="1420116"/>
            <a:ext cx="1795136" cy="2963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Google Shape;1534;g60be7dcf1c_0_434">
            <a:extLst>
              <a:ext uri="{FF2B5EF4-FFF2-40B4-BE49-F238E27FC236}">
                <a16:creationId xmlns:a16="http://schemas.microsoft.com/office/drawing/2014/main" id="{0153B41A-A70D-ED86-9DD6-4933EA2F4EE5}"/>
              </a:ext>
            </a:extLst>
          </p:cNvPr>
          <p:cNvSpPr txBox="1"/>
          <p:nvPr/>
        </p:nvSpPr>
        <p:spPr>
          <a:xfrm>
            <a:off x="857936" y="4225436"/>
            <a:ext cx="7077750" cy="1720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⇀ Cerberus: serve </a:t>
            </a:r>
            <a:r>
              <a:rPr lang="en-GB" sz="1600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large flows</a:t>
            </a: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using demand-optimized links</a:t>
            </a:r>
          </a:p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and </a:t>
            </a:r>
            <a:r>
              <a:rPr lang="en-GB" sz="1600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shuffle traffic</a:t>
            </a: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using periodic links</a:t>
            </a:r>
          </a:p>
          <a:p>
            <a:pPr lvl="0">
              <a:lnSpc>
                <a:spcPct val="115000"/>
              </a:lnSpc>
            </a:pPr>
            <a:endParaRPr lang="en-GB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⇀ 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Vermillion: </a:t>
            </a:r>
            <a:r>
              <a:rPr lang="en-GB" sz="1600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less frequent demand-aware reconfigurations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and </a:t>
            </a:r>
          </a:p>
          <a:p>
            <a:pPr lvl="0">
              <a:lnSpc>
                <a:spcPct val="115000"/>
              </a:lnSpc>
            </a:pP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reconfigure periodically but fast meanwhile</a:t>
            </a:r>
            <a:endParaRPr lang="de-DE"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" name="Freeform 8">
            <a:extLst>
              <a:ext uri="{FF2B5EF4-FFF2-40B4-BE49-F238E27FC236}">
                <a16:creationId xmlns:a16="http://schemas.microsoft.com/office/drawing/2014/main" id="{E9EE5634-89EA-3B88-A095-98A4BEBDF865}"/>
              </a:ext>
            </a:extLst>
          </p:cNvPr>
          <p:cNvSpPr/>
          <p:nvPr/>
        </p:nvSpPr>
        <p:spPr>
          <a:xfrm>
            <a:off x="2442754" y="2077631"/>
            <a:ext cx="3505077" cy="1207677"/>
          </a:xfrm>
          <a:custGeom>
            <a:avLst/>
            <a:gdLst>
              <a:gd name="connsiteX0" fmla="*/ 0 w 2651765"/>
              <a:gd name="connsiteY0" fmla="*/ 368262 h 2209528"/>
              <a:gd name="connsiteX1" fmla="*/ 368262 w 2651765"/>
              <a:gd name="connsiteY1" fmla="*/ 0 h 2209528"/>
              <a:gd name="connsiteX2" fmla="*/ 2283503 w 2651765"/>
              <a:gd name="connsiteY2" fmla="*/ 0 h 2209528"/>
              <a:gd name="connsiteX3" fmla="*/ 2651765 w 2651765"/>
              <a:gd name="connsiteY3" fmla="*/ 368262 h 2209528"/>
              <a:gd name="connsiteX4" fmla="*/ 2651765 w 2651765"/>
              <a:gd name="connsiteY4" fmla="*/ 1841266 h 2209528"/>
              <a:gd name="connsiteX5" fmla="*/ 2283503 w 2651765"/>
              <a:gd name="connsiteY5" fmla="*/ 2209528 h 2209528"/>
              <a:gd name="connsiteX6" fmla="*/ 368262 w 2651765"/>
              <a:gd name="connsiteY6" fmla="*/ 2209528 h 2209528"/>
              <a:gd name="connsiteX7" fmla="*/ 0 w 2651765"/>
              <a:gd name="connsiteY7" fmla="*/ 1841266 h 2209528"/>
              <a:gd name="connsiteX8" fmla="*/ 0 w 2651765"/>
              <a:gd name="connsiteY8" fmla="*/ 368262 h 2209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51765" h="2209528">
                <a:moveTo>
                  <a:pt x="0" y="368262"/>
                </a:moveTo>
                <a:cubicBezTo>
                  <a:pt x="0" y="164877"/>
                  <a:pt x="164877" y="0"/>
                  <a:pt x="368262" y="0"/>
                </a:cubicBezTo>
                <a:lnTo>
                  <a:pt x="2283503" y="0"/>
                </a:lnTo>
                <a:cubicBezTo>
                  <a:pt x="2486888" y="0"/>
                  <a:pt x="2651765" y="164877"/>
                  <a:pt x="2651765" y="368262"/>
                </a:cubicBezTo>
                <a:lnTo>
                  <a:pt x="2651765" y="1841266"/>
                </a:lnTo>
                <a:cubicBezTo>
                  <a:pt x="2651765" y="2044651"/>
                  <a:pt x="2486888" y="2209528"/>
                  <a:pt x="2283503" y="2209528"/>
                </a:cubicBezTo>
                <a:lnTo>
                  <a:pt x="368262" y="2209528"/>
                </a:lnTo>
                <a:cubicBezTo>
                  <a:pt x="164877" y="2209528"/>
                  <a:pt x="0" y="2044651"/>
                  <a:pt x="0" y="1841266"/>
                </a:cubicBezTo>
                <a:lnTo>
                  <a:pt x="0" y="368262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48830" tIns="248830" rIns="248830" bIns="248830" numCol="1" spcCol="1270" anchor="ctr" anchorCtr="0">
            <a:noAutofit/>
          </a:bodyPr>
          <a:lstStyle/>
          <a:p>
            <a:pPr algn="ctr"/>
            <a:r>
              <a:rPr lang="de-DE" sz="1800" b="1" dirty="0">
                <a:solidFill>
                  <a:schemeClr val="tx1"/>
                </a:solidFill>
                <a:latin typeface="Consolas" panose="020B0609020204030204" pitchFamily="49" charset="0"/>
              </a:rPr>
              <a:t>Hybrid designs: </a:t>
            </a:r>
          </a:p>
          <a:p>
            <a:pPr algn="ctr"/>
            <a:r>
              <a:rPr lang="de-DE" sz="1600" dirty="0">
                <a:solidFill>
                  <a:schemeClr val="tx1"/>
                </a:solidFill>
                <a:latin typeface="Consolas" panose="020B0609020204030204" pitchFamily="49" charset="0"/>
              </a:rPr>
              <a:t>Cerberus (Sigmetrics’22), Vermillion (NSDI‘27), etc. </a:t>
            </a:r>
            <a:endParaRPr lang="en-AT" sz="16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232515-186A-38B0-4D86-954DD9C64792}"/>
              </a:ext>
            </a:extLst>
          </p:cNvPr>
          <p:cNvSpPr txBox="1"/>
          <p:nvPr/>
        </p:nvSpPr>
        <p:spPr>
          <a:xfrm>
            <a:off x="1040812" y="6068720"/>
            <a:ext cx="433786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GB" sz="1000" b="1" dirty="0">
                <a:latin typeface="Consolas"/>
                <a:ea typeface="Consolas"/>
                <a:cs typeface="Consolas"/>
                <a:sym typeface="Consolas"/>
              </a:rPr>
              <a:t>Further reading:</a:t>
            </a:r>
          </a:p>
          <a:p>
            <a:pPr lvl="0"/>
            <a:r>
              <a:rPr lang="en-US" sz="1000" dirty="0">
                <a:latin typeface="Consolas"/>
                <a:ea typeface="Consolas"/>
                <a:cs typeface="Consolas"/>
                <a:sym typeface="Consolas"/>
              </a:rPr>
              <a:t>Vermilion: A Traffic-Aware Reconfigurable Optical Interconnect with Formal Throughput Guarantees</a:t>
            </a:r>
          </a:p>
          <a:p>
            <a:pPr lvl="0"/>
            <a:r>
              <a:rPr lang="en-US" sz="1000" dirty="0">
                <a:latin typeface="Consolas"/>
                <a:ea typeface="Consolas"/>
                <a:cs typeface="Consolas"/>
                <a:sym typeface="Consolas"/>
              </a:rPr>
              <a:t>Addanki et al. USENIX </a:t>
            </a:r>
            <a:r>
              <a:rPr lang="en-GB" sz="1000" b="1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NSDI 2027</a:t>
            </a:r>
            <a:r>
              <a:rPr lang="en-US" sz="1000" dirty="0">
                <a:latin typeface="Consolas"/>
                <a:ea typeface="Consolas"/>
                <a:cs typeface="Consolas"/>
                <a:sym typeface="Consolas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37562B-9D07-40D3-1EEE-8D604E5687C1}"/>
              </a:ext>
            </a:extLst>
          </p:cNvPr>
          <p:cNvSpPr txBox="1"/>
          <p:nvPr/>
        </p:nvSpPr>
        <p:spPr>
          <a:xfrm>
            <a:off x="4639222" y="6217295"/>
            <a:ext cx="433786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1000" dirty="0">
                <a:latin typeface="Consolas"/>
                <a:ea typeface="Consolas"/>
                <a:cs typeface="Consolas"/>
                <a:sym typeface="Consolas"/>
              </a:rPr>
              <a:t>Vermilion: A Traffic-Aware Reconfigurable Optical Interconnect with Formal Throughput Guarantees</a:t>
            </a:r>
          </a:p>
          <a:p>
            <a:pPr lvl="0"/>
            <a:r>
              <a:rPr lang="en-US" sz="1000" dirty="0">
                <a:latin typeface="Consolas"/>
                <a:ea typeface="Consolas"/>
                <a:cs typeface="Consolas"/>
                <a:sym typeface="Consolas"/>
              </a:rPr>
              <a:t>Addanki et al. USENIX </a:t>
            </a:r>
            <a:r>
              <a:rPr lang="en-GB" sz="1000" b="1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NSDI 2027</a:t>
            </a:r>
            <a:r>
              <a:rPr lang="en-US" sz="1000" dirty="0">
                <a:latin typeface="Consolas"/>
                <a:ea typeface="Consolas"/>
                <a:cs typeface="Consolas"/>
                <a:sym typeface="Consola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4129189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7">
          <a:extLst>
            <a:ext uri="{FF2B5EF4-FFF2-40B4-BE49-F238E27FC236}">
              <a16:creationId xmlns:a16="http://schemas.microsoft.com/office/drawing/2014/main" id="{CE0C4054-6F8C-A3EE-C426-99A4A07E4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E43E846D-69B1-E66C-CCA1-63BE720C6937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21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3" name="Google Shape;1580;g60be7dcf1c_0_473">
            <a:extLst>
              <a:ext uri="{FF2B5EF4-FFF2-40B4-BE49-F238E27FC236}">
                <a16:creationId xmlns:a16="http://schemas.microsoft.com/office/drawing/2014/main" id="{616E94E5-2006-4BCD-0A53-3E0F4C7FEE84}"/>
              </a:ext>
            </a:extLst>
          </p:cNvPr>
          <p:cNvSpPr txBox="1"/>
          <p:nvPr/>
        </p:nvSpPr>
        <p:spPr>
          <a:xfrm>
            <a:off x="-139279" y="2695799"/>
            <a:ext cx="8629271" cy="1967035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4" name="Google Shape;1810;g60be7dcf1c_0_698">
            <a:extLst>
              <a:ext uri="{FF2B5EF4-FFF2-40B4-BE49-F238E27FC236}">
                <a16:creationId xmlns:a16="http://schemas.microsoft.com/office/drawing/2014/main" id="{40138CA9-19D3-8F00-BAF0-16B66B8B5D1C}"/>
              </a:ext>
            </a:extLst>
          </p:cNvPr>
          <p:cNvSpPr txBox="1">
            <a:spLocks/>
          </p:cNvSpPr>
          <p:nvPr/>
        </p:nvSpPr>
        <p:spPr>
          <a:xfrm>
            <a:off x="973074" y="2497904"/>
            <a:ext cx="7704760" cy="1080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buSzPts val="1100"/>
            </a:pPr>
            <a:r>
              <a:rPr lang="en-GB" sz="2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Why am I telling all this? I believe that </a:t>
            </a:r>
            <a:br>
              <a:rPr lang="en-GB" sz="2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36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Self-Adjusting Networks Are Especially Useful for AI Workloads</a:t>
            </a:r>
          </a:p>
        </p:txBody>
      </p:sp>
    </p:spTree>
    <p:extLst>
      <p:ext uri="{BB962C8B-B14F-4D97-AF65-F5344CB8AC3E}">
        <p14:creationId xmlns:p14="http://schemas.microsoft.com/office/powerpoint/2010/main" val="325507904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4">
          <a:extLst>
            <a:ext uri="{FF2B5EF4-FFF2-40B4-BE49-F238E27FC236}">
              <a16:creationId xmlns:a16="http://schemas.microsoft.com/office/drawing/2014/main" id="{6DF3209B-224A-C491-A2FD-F529781B8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4;g60be7dcf1c_0_434">
            <a:extLst>
              <a:ext uri="{FF2B5EF4-FFF2-40B4-BE49-F238E27FC236}">
                <a16:creationId xmlns:a16="http://schemas.microsoft.com/office/drawing/2014/main" id="{F3502DAB-7EF1-317E-6B92-CF0E7D70AB59}"/>
              </a:ext>
            </a:extLst>
          </p:cNvPr>
          <p:cNvSpPr txBox="1"/>
          <p:nvPr/>
        </p:nvSpPr>
        <p:spPr>
          <a:xfrm>
            <a:off x="917208" y="2040341"/>
            <a:ext cx="7885598" cy="4196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⇀ Distributed 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HPC and ML applications frequently perform very </a:t>
            </a:r>
          </a:p>
          <a:p>
            <a:pPr lvl="0">
              <a:lnSpc>
                <a:spcPct val="115000"/>
              </a:lnSpc>
            </a:pP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de-DE" sz="1600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specific and predictable 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communication operations:</a:t>
            </a:r>
          </a:p>
          <a:p>
            <a:pPr lvl="0">
              <a:lnSpc>
                <a:spcPct val="115000"/>
              </a:lnSpc>
            </a:pP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AllReduce, Broadcast, All-to-All, ... </a:t>
            </a:r>
          </a:p>
          <a:p>
            <a:pPr lvl="0">
              <a:lnSpc>
                <a:spcPct val="115000"/>
              </a:lnSpc>
            </a:pP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⇀ Known as </a:t>
            </a:r>
            <a:r>
              <a:rPr lang="en-GB" sz="1600" b="1" i="1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Collective Communications</a:t>
            </a:r>
          </a:p>
          <a:p>
            <a:pPr>
              <a:lnSpc>
                <a:spcPct val="115000"/>
              </a:lnSpc>
            </a:pPr>
            <a:endParaRPr lang="en-GB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⇀ Examples: </a:t>
            </a:r>
            <a:r>
              <a:rPr lang="en-US" sz="1600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Nvidia’s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600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NCCL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AMD’s RCCL,....</a:t>
            </a:r>
          </a:p>
          <a:p>
            <a:pPr>
              <a:lnSpc>
                <a:spcPct val="115000"/>
              </a:lnSpc>
            </a:pP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⇀ 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Basically reincarnations of MPI</a:t>
            </a:r>
          </a:p>
          <a:p>
            <a:pPr>
              <a:lnSpc>
                <a:spcPct val="115000"/>
              </a:lnSpc>
            </a:pP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⇀ 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“CCL” stands for Collective Communication </a:t>
            </a:r>
            <a:r>
              <a:rPr lang="en-US" sz="1600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Library</a:t>
            </a:r>
          </a:p>
          <a:p>
            <a:pPr>
              <a:lnSpc>
                <a:spcPct val="115000"/>
              </a:lnSpc>
            </a:pPr>
            <a:endParaRPr lang="en-US" sz="1600" dirty="0">
              <a:solidFill>
                <a:srgbClr val="C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>
              <a:lnSpc>
                <a:spcPct val="115000"/>
              </a:lnSpc>
            </a:pPr>
            <a:endParaRPr lang="en-US" sz="1600" b="1" i="1" dirty="0">
              <a:solidFill>
                <a:srgbClr val="C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>
              <a:lnSpc>
                <a:spcPct val="115000"/>
              </a:lnSpc>
            </a:pPr>
            <a:endParaRPr lang="en-GB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>
              <a:lnSpc>
                <a:spcPct val="115000"/>
              </a:lnSpc>
            </a:pPr>
            <a:endParaRPr lang="en-GB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de-DE"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29437B87-15F2-0A80-3BC6-EB11177C2E72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22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6" name="Google Shape;1580;g60be7dcf1c_0_473">
            <a:extLst>
              <a:ext uri="{FF2B5EF4-FFF2-40B4-BE49-F238E27FC236}">
                <a16:creationId xmlns:a16="http://schemas.microsoft.com/office/drawing/2014/main" id="{3C30AF32-F6E7-3D81-8147-8C250EB0CF95}"/>
              </a:ext>
            </a:extLst>
          </p:cNvPr>
          <p:cNvSpPr txBox="1"/>
          <p:nvPr/>
        </p:nvSpPr>
        <p:spPr>
          <a:xfrm>
            <a:off x="-1" y="539999"/>
            <a:ext cx="8677835" cy="919873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7" name="Google Shape;1810;g60be7dcf1c_0_698">
            <a:extLst>
              <a:ext uri="{FF2B5EF4-FFF2-40B4-BE49-F238E27FC236}">
                <a16:creationId xmlns:a16="http://schemas.microsoft.com/office/drawing/2014/main" id="{82C276EB-28FB-53CC-0A44-31FE469F0A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3074" y="342104"/>
            <a:ext cx="7237925" cy="1080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l">
              <a:buSzPts val="1100"/>
            </a:pPr>
            <a:r>
              <a:rPr lang="en-GB" sz="2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Example Workload </a:t>
            </a:r>
            <a:br>
              <a:rPr lang="en-GB" sz="2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36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Collective Communications</a:t>
            </a:r>
          </a:p>
        </p:txBody>
      </p:sp>
    </p:spTree>
    <p:extLst>
      <p:ext uri="{BB962C8B-B14F-4D97-AF65-F5344CB8AC3E}">
        <p14:creationId xmlns:p14="http://schemas.microsoft.com/office/powerpoint/2010/main" val="262102448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4">
          <a:extLst>
            <a:ext uri="{FF2B5EF4-FFF2-40B4-BE49-F238E27FC236}">
              <a16:creationId xmlns:a16="http://schemas.microsoft.com/office/drawing/2014/main" id="{F8B95AC3-0680-5D82-EBF9-931B4E2B1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4;g60be7dcf1c_0_434">
            <a:extLst>
              <a:ext uri="{FF2B5EF4-FFF2-40B4-BE49-F238E27FC236}">
                <a16:creationId xmlns:a16="http://schemas.microsoft.com/office/drawing/2014/main" id="{B308A96F-1DE1-FDE3-706C-BE350DB65BC2}"/>
              </a:ext>
            </a:extLst>
          </p:cNvPr>
          <p:cNvSpPr txBox="1"/>
          <p:nvPr/>
        </p:nvSpPr>
        <p:spPr>
          <a:xfrm>
            <a:off x="917208" y="2040341"/>
            <a:ext cx="7885598" cy="4196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⇀ Distributed 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HPC and ML applications frequently perform very </a:t>
            </a:r>
          </a:p>
          <a:p>
            <a:pPr lvl="0">
              <a:lnSpc>
                <a:spcPct val="115000"/>
              </a:lnSpc>
            </a:pP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de-DE" sz="1600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specific and predictable 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communication operations:</a:t>
            </a:r>
          </a:p>
          <a:p>
            <a:pPr lvl="0">
              <a:lnSpc>
                <a:spcPct val="115000"/>
              </a:lnSpc>
            </a:pP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AllReduce, Broadcast, All-to-All, ... </a:t>
            </a:r>
          </a:p>
          <a:p>
            <a:pPr lvl="0">
              <a:lnSpc>
                <a:spcPct val="115000"/>
              </a:lnSpc>
            </a:pP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⇀ Known as </a:t>
            </a:r>
            <a:r>
              <a:rPr lang="en-GB" sz="1600" b="1" i="1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Collective Communications</a:t>
            </a:r>
          </a:p>
          <a:p>
            <a:pPr>
              <a:lnSpc>
                <a:spcPct val="115000"/>
              </a:lnSpc>
            </a:pPr>
            <a:endParaRPr lang="en-GB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⇀ Examples: </a:t>
            </a:r>
            <a:r>
              <a:rPr lang="en-US" sz="1600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Nvidia’s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600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NCCL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AMD’s RCCL,....</a:t>
            </a:r>
          </a:p>
          <a:p>
            <a:pPr>
              <a:lnSpc>
                <a:spcPct val="115000"/>
              </a:lnSpc>
            </a:pP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⇀ 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Basically reincarnations of MPI</a:t>
            </a:r>
          </a:p>
          <a:p>
            <a:pPr>
              <a:lnSpc>
                <a:spcPct val="115000"/>
              </a:lnSpc>
            </a:pP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⇀ 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“CCL” stands for Collective Communication </a:t>
            </a:r>
            <a:r>
              <a:rPr lang="en-US" sz="1600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Library</a:t>
            </a:r>
          </a:p>
          <a:p>
            <a:pPr>
              <a:lnSpc>
                <a:spcPct val="115000"/>
              </a:lnSpc>
            </a:pPr>
            <a:endParaRPr lang="en-US" sz="1600" dirty="0">
              <a:solidFill>
                <a:srgbClr val="C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>
              <a:lnSpc>
                <a:spcPct val="115000"/>
              </a:lnSpc>
            </a:pPr>
            <a:r>
              <a:rPr lang="en-US" sz="1600" b="1" dirty="0">
                <a:solidFill>
                  <a:schemeClr val="tx1"/>
                </a:solidFill>
                <a:latin typeface="Consolas"/>
                <a:ea typeface="Consolas"/>
                <a:cs typeface="Consolas"/>
                <a:sym typeface="Consolas"/>
              </a:rPr>
              <a:t>Importantly:</a:t>
            </a:r>
          </a:p>
          <a:p>
            <a:pPr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⇀ Collective algorithms realize primitives in </a:t>
            </a:r>
            <a:r>
              <a:rPr lang="en-GB" sz="1600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communication phases</a:t>
            </a:r>
            <a:endParaRPr lang="en-GB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⇀ And communication is </a:t>
            </a:r>
            <a:r>
              <a:rPr lang="en-GB" sz="1600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pair-wise</a:t>
            </a: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(“</a:t>
            </a:r>
            <a:r>
              <a:rPr lang="en-GB" sz="1600" b="1" i="1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matching</a:t>
            </a: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”)</a:t>
            </a:r>
            <a:endParaRPr lang="en-GB" sz="1600" b="1" i="1" dirty="0">
              <a:solidFill>
                <a:srgbClr val="C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>
              <a:lnSpc>
                <a:spcPct val="115000"/>
              </a:lnSpc>
            </a:pPr>
            <a:endParaRPr lang="en-US" sz="1600" dirty="0">
              <a:solidFill>
                <a:srgbClr val="C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>
              <a:lnSpc>
                <a:spcPct val="115000"/>
              </a:lnSpc>
            </a:pPr>
            <a:endParaRPr lang="en-US" sz="1600" b="1" i="1" dirty="0">
              <a:solidFill>
                <a:srgbClr val="C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>
              <a:lnSpc>
                <a:spcPct val="115000"/>
              </a:lnSpc>
            </a:pPr>
            <a:endParaRPr lang="en-GB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>
              <a:lnSpc>
                <a:spcPct val="115000"/>
              </a:lnSpc>
            </a:pPr>
            <a:endParaRPr lang="en-GB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de-DE"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7753FF8B-4FBC-5598-8207-AC0F0F81EF44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22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6" name="Google Shape;1580;g60be7dcf1c_0_473">
            <a:extLst>
              <a:ext uri="{FF2B5EF4-FFF2-40B4-BE49-F238E27FC236}">
                <a16:creationId xmlns:a16="http://schemas.microsoft.com/office/drawing/2014/main" id="{C84423E7-5152-9B8F-9688-F912AB7F4739}"/>
              </a:ext>
            </a:extLst>
          </p:cNvPr>
          <p:cNvSpPr txBox="1"/>
          <p:nvPr/>
        </p:nvSpPr>
        <p:spPr>
          <a:xfrm>
            <a:off x="-1" y="539999"/>
            <a:ext cx="8677835" cy="919873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7" name="Google Shape;1810;g60be7dcf1c_0_698">
            <a:extLst>
              <a:ext uri="{FF2B5EF4-FFF2-40B4-BE49-F238E27FC236}">
                <a16:creationId xmlns:a16="http://schemas.microsoft.com/office/drawing/2014/main" id="{FACBEBD9-6B8B-E6E7-66DE-9C2F5441F29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3074" y="342104"/>
            <a:ext cx="7237925" cy="1080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l">
              <a:buSzPts val="1100"/>
            </a:pPr>
            <a:r>
              <a:rPr lang="en-GB" sz="2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Example Workload </a:t>
            </a:r>
            <a:br>
              <a:rPr lang="en-GB" sz="2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36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Collective Communications</a:t>
            </a:r>
          </a:p>
        </p:txBody>
      </p:sp>
    </p:spTree>
    <p:extLst>
      <p:ext uri="{BB962C8B-B14F-4D97-AF65-F5344CB8AC3E}">
        <p14:creationId xmlns:p14="http://schemas.microsoft.com/office/powerpoint/2010/main" val="388024163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4">
          <a:extLst>
            <a:ext uri="{FF2B5EF4-FFF2-40B4-BE49-F238E27FC236}">
              <a16:creationId xmlns:a16="http://schemas.microsoft.com/office/drawing/2014/main" id="{208511AF-22DC-6BCA-74D1-8916AC3D1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4;g60be7dcf1c_0_434">
            <a:extLst>
              <a:ext uri="{FF2B5EF4-FFF2-40B4-BE49-F238E27FC236}">
                <a16:creationId xmlns:a16="http://schemas.microsoft.com/office/drawing/2014/main" id="{5753E989-FB58-1AB1-8B6E-51EB8F620F04}"/>
              </a:ext>
            </a:extLst>
          </p:cNvPr>
          <p:cNvSpPr txBox="1"/>
          <p:nvPr/>
        </p:nvSpPr>
        <p:spPr>
          <a:xfrm>
            <a:off x="917208" y="2040341"/>
            <a:ext cx="7885598" cy="4196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⇀ Distributed 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HPC and ML applications frequently perform very </a:t>
            </a:r>
          </a:p>
          <a:p>
            <a:pPr lvl="0">
              <a:lnSpc>
                <a:spcPct val="115000"/>
              </a:lnSpc>
            </a:pP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de-DE" sz="1600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specific and predictable 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communication operations:</a:t>
            </a:r>
          </a:p>
          <a:p>
            <a:pPr lvl="0">
              <a:lnSpc>
                <a:spcPct val="115000"/>
              </a:lnSpc>
            </a:pP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AllReduce, Broadcast, All-to-All, ... </a:t>
            </a:r>
          </a:p>
          <a:p>
            <a:pPr lvl="0">
              <a:lnSpc>
                <a:spcPct val="115000"/>
              </a:lnSpc>
            </a:pP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⇀ Known as </a:t>
            </a:r>
            <a:r>
              <a:rPr lang="en-GB" sz="1600" b="1" i="1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Collective Communications</a:t>
            </a:r>
          </a:p>
          <a:p>
            <a:pPr>
              <a:lnSpc>
                <a:spcPct val="115000"/>
              </a:lnSpc>
            </a:pPr>
            <a:endParaRPr lang="en-GB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⇀ Examples: </a:t>
            </a:r>
            <a:r>
              <a:rPr lang="en-US" sz="1600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Nvidia’s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600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NCCL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AMD’s RCCL,....</a:t>
            </a:r>
          </a:p>
          <a:p>
            <a:pPr>
              <a:lnSpc>
                <a:spcPct val="115000"/>
              </a:lnSpc>
            </a:pP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⇀ 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Basically reincarnations of MPI</a:t>
            </a:r>
          </a:p>
          <a:p>
            <a:pPr>
              <a:lnSpc>
                <a:spcPct val="115000"/>
              </a:lnSpc>
            </a:pP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⇀ 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“CCL” stands for Collective Communication </a:t>
            </a:r>
            <a:r>
              <a:rPr lang="en-US" sz="1600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Library</a:t>
            </a:r>
          </a:p>
          <a:p>
            <a:pPr>
              <a:lnSpc>
                <a:spcPct val="115000"/>
              </a:lnSpc>
            </a:pPr>
            <a:endParaRPr lang="en-US" sz="1600" dirty="0">
              <a:solidFill>
                <a:srgbClr val="C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>
              <a:lnSpc>
                <a:spcPct val="115000"/>
              </a:lnSpc>
            </a:pPr>
            <a:r>
              <a:rPr lang="en-US" sz="1600" b="1" dirty="0">
                <a:solidFill>
                  <a:schemeClr val="tx1"/>
                </a:solidFill>
                <a:latin typeface="Consolas"/>
                <a:ea typeface="Consolas"/>
                <a:cs typeface="Consolas"/>
                <a:sym typeface="Consolas"/>
              </a:rPr>
              <a:t>Importantly:</a:t>
            </a:r>
          </a:p>
          <a:p>
            <a:pPr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⇀ Collective algorithms realize primitives in </a:t>
            </a:r>
            <a:r>
              <a:rPr lang="en-GB" sz="1600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communication phases</a:t>
            </a:r>
            <a:endParaRPr lang="en-GB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⇀ And communication is </a:t>
            </a:r>
            <a:r>
              <a:rPr lang="en-GB" sz="1600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pair-wise</a:t>
            </a: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(“</a:t>
            </a:r>
            <a:r>
              <a:rPr lang="en-GB" sz="1600" b="1" i="1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matching</a:t>
            </a: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”)</a:t>
            </a:r>
            <a:endParaRPr lang="en-GB" sz="1600" b="1" i="1" dirty="0">
              <a:solidFill>
                <a:srgbClr val="C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>
              <a:lnSpc>
                <a:spcPct val="115000"/>
              </a:lnSpc>
            </a:pPr>
            <a:endParaRPr lang="en-US" sz="1600" dirty="0">
              <a:solidFill>
                <a:srgbClr val="C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>
              <a:lnSpc>
                <a:spcPct val="115000"/>
              </a:lnSpc>
            </a:pPr>
            <a:endParaRPr lang="en-US" sz="1600" b="1" i="1" dirty="0">
              <a:solidFill>
                <a:srgbClr val="C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>
              <a:lnSpc>
                <a:spcPct val="115000"/>
              </a:lnSpc>
            </a:pPr>
            <a:endParaRPr lang="en-GB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>
              <a:lnSpc>
                <a:spcPct val="115000"/>
              </a:lnSpc>
            </a:pPr>
            <a:endParaRPr lang="en-GB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de-DE"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89A95501-08D4-BD23-F3C0-3B541D377AB1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22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6" name="Google Shape;1580;g60be7dcf1c_0_473">
            <a:extLst>
              <a:ext uri="{FF2B5EF4-FFF2-40B4-BE49-F238E27FC236}">
                <a16:creationId xmlns:a16="http://schemas.microsoft.com/office/drawing/2014/main" id="{15F3B3D9-5CD1-3CB3-A0C3-16C686225250}"/>
              </a:ext>
            </a:extLst>
          </p:cNvPr>
          <p:cNvSpPr txBox="1"/>
          <p:nvPr/>
        </p:nvSpPr>
        <p:spPr>
          <a:xfrm>
            <a:off x="-1" y="539999"/>
            <a:ext cx="8677835" cy="919873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7" name="Google Shape;1810;g60be7dcf1c_0_698">
            <a:extLst>
              <a:ext uri="{FF2B5EF4-FFF2-40B4-BE49-F238E27FC236}">
                <a16:creationId xmlns:a16="http://schemas.microsoft.com/office/drawing/2014/main" id="{40A6E8EB-159F-8A38-F664-0D114792628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3074" y="342104"/>
            <a:ext cx="7237925" cy="1080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l">
              <a:buSzPts val="1100"/>
            </a:pPr>
            <a:r>
              <a:rPr lang="en-GB" sz="2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Example Workload </a:t>
            </a:r>
            <a:br>
              <a:rPr lang="en-GB" sz="2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36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Collective Communications</a:t>
            </a:r>
          </a:p>
        </p:txBody>
      </p:sp>
      <p:sp>
        <p:nvSpPr>
          <p:cNvPr id="5" name="Rechteckige Legende 1">
            <a:extLst>
              <a:ext uri="{FF2B5EF4-FFF2-40B4-BE49-F238E27FC236}">
                <a16:creationId xmlns:a16="http://schemas.microsoft.com/office/drawing/2014/main" id="{0DEAE691-CC18-72A4-C3B2-35B2F71322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0407" y="1579824"/>
            <a:ext cx="4316385" cy="648512"/>
          </a:xfrm>
          <a:prstGeom prst="wedgeRectCallout">
            <a:avLst>
              <a:gd name="adj1" fmla="val -38022"/>
              <a:gd name="adj2" fmla="val 124062"/>
            </a:avLst>
          </a:prstGeom>
          <a:solidFill>
            <a:schemeClr val="accent1">
              <a:lumMod val="20000"/>
              <a:lumOff val="80000"/>
            </a:schemeClr>
          </a:solidFill>
          <a:ln w="25400" algn="ctr">
            <a:solidFill>
              <a:srgbClr val="8FAADC"/>
            </a:solidFill>
            <a:round/>
            <a:headEnd/>
            <a:tailEnd/>
          </a:ln>
        </p:spPr>
        <p:txBody>
          <a:bodyPr wrap="square" lIns="90000" tIns="46800" rIns="90000" bIns="46800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de-DE" altLang="de-DE" sz="1800" dirty="0">
                <a:latin typeface="+mn-lt"/>
              </a:rPr>
              <a:t>especially relevant for MoE parallelism, for training and inference </a:t>
            </a:r>
          </a:p>
        </p:txBody>
      </p:sp>
      <p:sp>
        <p:nvSpPr>
          <p:cNvPr id="9" name="Rechteckige Legende 1">
            <a:extLst>
              <a:ext uri="{FF2B5EF4-FFF2-40B4-BE49-F238E27FC236}">
                <a16:creationId xmlns:a16="http://schemas.microsoft.com/office/drawing/2014/main" id="{A59BB5C9-2B95-3B9D-3068-AEBA77C5F3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2322" y="3380013"/>
            <a:ext cx="2745956" cy="648512"/>
          </a:xfrm>
          <a:prstGeom prst="wedgeRectCallout">
            <a:avLst>
              <a:gd name="adj1" fmla="val -26751"/>
              <a:gd name="adj2" fmla="val -108045"/>
            </a:avLst>
          </a:prstGeom>
          <a:solidFill>
            <a:schemeClr val="accent1">
              <a:lumMod val="20000"/>
              <a:lumOff val="80000"/>
            </a:schemeClr>
          </a:solidFill>
          <a:ln w="25400" algn="ctr">
            <a:solidFill>
              <a:srgbClr val="8FAADC"/>
            </a:solidFill>
            <a:round/>
            <a:headEnd/>
            <a:tailEnd/>
          </a:ln>
        </p:spPr>
        <p:txBody>
          <a:bodyPr wrap="square" lIns="90000" tIns="46800" rIns="90000" bIns="46800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de-DE" altLang="de-DE" sz="1800" dirty="0">
                <a:latin typeface="+mn-lt"/>
              </a:rPr>
              <a:t>More for data parallelism and tensor parallelism</a:t>
            </a:r>
          </a:p>
        </p:txBody>
      </p:sp>
    </p:spTree>
    <p:extLst>
      <p:ext uri="{BB962C8B-B14F-4D97-AF65-F5344CB8AC3E}">
        <p14:creationId xmlns:p14="http://schemas.microsoft.com/office/powerpoint/2010/main" val="380857040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4">
          <a:extLst>
            <a:ext uri="{FF2B5EF4-FFF2-40B4-BE49-F238E27FC236}">
              <a16:creationId xmlns:a16="http://schemas.microsoft.com/office/drawing/2014/main" id="{2EF23DDB-44D4-03ED-AFE2-7E95D6E7A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4;g60be7dcf1c_0_434">
            <a:extLst>
              <a:ext uri="{FF2B5EF4-FFF2-40B4-BE49-F238E27FC236}">
                <a16:creationId xmlns:a16="http://schemas.microsoft.com/office/drawing/2014/main" id="{C58C45A2-90D0-9096-9C4A-D6FBE82DA392}"/>
              </a:ext>
            </a:extLst>
          </p:cNvPr>
          <p:cNvSpPr txBox="1"/>
          <p:nvPr/>
        </p:nvSpPr>
        <p:spPr>
          <a:xfrm>
            <a:off x="917208" y="2247291"/>
            <a:ext cx="7885598" cy="4070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de-DE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Demand-aware self-adjusting networks are good when:</a:t>
            </a:r>
          </a:p>
          <a:p>
            <a:pPr lvl="0">
              <a:lnSpc>
                <a:spcPct val="115000"/>
              </a:lnSpc>
            </a:pPr>
            <a:endParaRPr lang="de-DE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⇀ Demand is </a:t>
            </a:r>
            <a:r>
              <a:rPr lang="en-GB" sz="1600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structured</a:t>
            </a: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(sparse, skewed, large flows, …)</a:t>
            </a:r>
          </a:p>
          <a:p>
            <a:pPr lvl="0">
              <a:lnSpc>
                <a:spcPct val="115000"/>
              </a:lnSpc>
            </a:pPr>
            <a:endParaRPr lang="en-GB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⇀ Demand is repetitive or </a:t>
            </a:r>
            <a:r>
              <a:rPr lang="en-GB" sz="1600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predictable</a:t>
            </a: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(can optimize for it offline)</a:t>
            </a:r>
          </a:p>
          <a:p>
            <a:pPr lvl="0">
              <a:lnSpc>
                <a:spcPct val="115000"/>
              </a:lnSpc>
            </a:pPr>
            <a:endParaRPr lang="en-GB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r>
              <a:rPr lang="en-GB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This is often the case of AI/ML workloads:</a:t>
            </a:r>
          </a:p>
          <a:p>
            <a:pPr lvl="0">
              <a:lnSpc>
                <a:spcPct val="115000"/>
              </a:lnSpc>
            </a:pPr>
            <a:endParaRPr lang="en-GB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⇀ </a:t>
            </a:r>
            <a:r>
              <a:rPr lang="en-GB" sz="1600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Collective communication </a:t>
            </a: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patterns form </a:t>
            </a:r>
            <a:r>
              <a:rPr lang="en-GB" sz="1600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matchings</a:t>
            </a: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! </a:t>
            </a:r>
          </a:p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Fits OCSs which provide such matchings.</a:t>
            </a:r>
          </a:p>
          <a:p>
            <a:pPr lvl="0">
              <a:lnSpc>
                <a:spcPct val="115000"/>
              </a:lnSpc>
            </a:pPr>
            <a:endParaRPr lang="en-GB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⇀ Mixture-of-Expert workloads: skewed</a:t>
            </a:r>
          </a:p>
          <a:p>
            <a:pPr lvl="0">
              <a:lnSpc>
                <a:spcPct val="115000"/>
              </a:lnSpc>
            </a:pPr>
            <a:endParaRPr lang="en-GB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en-GB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en-GB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de-DE"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BA33B1E1-CE90-6432-E05B-657DB0EDF081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23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6" name="Google Shape;1580;g60be7dcf1c_0_473">
            <a:extLst>
              <a:ext uri="{FF2B5EF4-FFF2-40B4-BE49-F238E27FC236}">
                <a16:creationId xmlns:a16="http://schemas.microsoft.com/office/drawing/2014/main" id="{F9FF5F8E-9D19-35F5-13D1-6504F1EB0101}"/>
              </a:ext>
            </a:extLst>
          </p:cNvPr>
          <p:cNvSpPr txBox="1"/>
          <p:nvPr/>
        </p:nvSpPr>
        <p:spPr>
          <a:xfrm>
            <a:off x="-1" y="539999"/>
            <a:ext cx="8677835" cy="919873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7" name="Google Shape;1810;g60be7dcf1c_0_698">
            <a:extLst>
              <a:ext uri="{FF2B5EF4-FFF2-40B4-BE49-F238E27FC236}">
                <a16:creationId xmlns:a16="http://schemas.microsoft.com/office/drawing/2014/main" id="{19BD335E-7A0A-9F52-6DAB-E4D9CB650C8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3074" y="342104"/>
            <a:ext cx="7237925" cy="1080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l">
              <a:buSzPts val="1100"/>
            </a:pPr>
            <a:r>
              <a:rPr lang="en-GB" sz="2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Self-Adjusting Networks and AI: </a:t>
            </a:r>
            <a:br>
              <a:rPr lang="en-GB" sz="2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36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It’s a Match!</a:t>
            </a:r>
          </a:p>
        </p:txBody>
      </p:sp>
    </p:spTree>
    <p:extLst>
      <p:ext uri="{BB962C8B-B14F-4D97-AF65-F5344CB8AC3E}">
        <p14:creationId xmlns:p14="http://schemas.microsoft.com/office/powerpoint/2010/main" val="419216602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656;g60be7dcf1c_0_555">
            <a:extLst>
              <a:ext uri="{FF2B5EF4-FFF2-40B4-BE49-F238E27FC236}">
                <a16:creationId xmlns:a16="http://schemas.microsoft.com/office/drawing/2014/main" id="{D01CC685-95B3-4B32-899B-1B152C35B367}"/>
              </a:ext>
            </a:extLst>
          </p:cNvPr>
          <p:cNvSpPr txBox="1"/>
          <p:nvPr/>
        </p:nvSpPr>
        <p:spPr>
          <a:xfrm>
            <a:off x="0" y="540000"/>
            <a:ext cx="8211000" cy="101893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10" name="Google Shape;1657;g60be7dcf1c_0_555">
            <a:extLst>
              <a:ext uri="{FF2B5EF4-FFF2-40B4-BE49-F238E27FC236}">
                <a16:creationId xmlns:a16="http://schemas.microsoft.com/office/drawing/2014/main" id="{22D0A1FC-66B0-4854-A77C-CF1FC1E7D6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3075" y="26970"/>
            <a:ext cx="8171100" cy="1573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en-GB" sz="2000" dirty="0"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2000" dirty="0">
                <a:latin typeface="Consolas"/>
                <a:ea typeface="Consolas"/>
                <a:cs typeface="Consolas"/>
                <a:sym typeface="Consolas"/>
              </a:rPr>
              <a:t>Example of a Collective Communication</a:t>
            </a:r>
            <a:endParaRPr lang="en-GB" sz="40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4000" dirty="0">
                <a:latin typeface="Consolas"/>
                <a:ea typeface="Consolas"/>
                <a:cs typeface="Consolas"/>
                <a:sym typeface="Consolas"/>
              </a:rPr>
              <a:t>Broadcast</a:t>
            </a:r>
            <a:endParaRPr lang="en-GB" sz="4000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8" name="Google Shape;1534;g60be7dcf1c_0_434">
            <a:extLst>
              <a:ext uri="{FF2B5EF4-FFF2-40B4-BE49-F238E27FC236}">
                <a16:creationId xmlns:a16="http://schemas.microsoft.com/office/drawing/2014/main" id="{2C2CF5EA-F054-F426-49B8-BCB14AD5D3FC}"/>
              </a:ext>
            </a:extLst>
          </p:cNvPr>
          <p:cNvSpPr txBox="1"/>
          <p:nvPr/>
        </p:nvSpPr>
        <p:spPr>
          <a:xfrm>
            <a:off x="898227" y="5859510"/>
            <a:ext cx="7347546" cy="598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US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 single node transmits its entire data </a:t>
            </a:r>
            <a:r>
              <a:rPr lang="en-US" sz="1600" b="1" i="1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to all other nodes</a:t>
            </a:r>
            <a:r>
              <a:rPr lang="en-US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endParaRPr lang="de-DE"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9" name="Google Shape;239;p33">
            <a:extLst>
              <a:ext uri="{FF2B5EF4-FFF2-40B4-BE49-F238E27FC236}">
                <a16:creationId xmlns:a16="http://schemas.microsoft.com/office/drawing/2014/main" id="{8F904142-2FFC-45DD-2512-B898CF063A55}"/>
              </a:ext>
            </a:extLst>
          </p:cNvPr>
          <p:cNvSpPr/>
          <p:nvPr/>
        </p:nvSpPr>
        <p:spPr>
          <a:xfrm>
            <a:off x="1180714" y="2113868"/>
            <a:ext cx="418400" cy="356400"/>
          </a:xfrm>
          <a:prstGeom prst="rect">
            <a:avLst/>
          </a:prstGeom>
          <a:solidFill>
            <a:srgbClr val="C5E0B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400"/>
              <a:t>0</a:t>
            </a:r>
            <a:endParaRPr sz="2400"/>
          </a:p>
        </p:txBody>
      </p:sp>
      <p:sp>
        <p:nvSpPr>
          <p:cNvPr id="130" name="Google Shape;240;p33">
            <a:extLst>
              <a:ext uri="{FF2B5EF4-FFF2-40B4-BE49-F238E27FC236}">
                <a16:creationId xmlns:a16="http://schemas.microsoft.com/office/drawing/2014/main" id="{8D8B07C0-4440-DEF3-6442-04EB361CF37F}"/>
              </a:ext>
            </a:extLst>
          </p:cNvPr>
          <p:cNvSpPr/>
          <p:nvPr/>
        </p:nvSpPr>
        <p:spPr>
          <a:xfrm>
            <a:off x="1594863" y="2113868"/>
            <a:ext cx="418400" cy="356400"/>
          </a:xfrm>
          <a:prstGeom prst="rect">
            <a:avLst/>
          </a:prstGeom>
          <a:solidFill>
            <a:srgbClr val="C5E0B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400" dirty="0"/>
              <a:t>1</a:t>
            </a:r>
            <a:endParaRPr sz="2400" dirty="0"/>
          </a:p>
        </p:txBody>
      </p:sp>
      <p:sp>
        <p:nvSpPr>
          <p:cNvPr id="131" name="Google Shape;241;p33">
            <a:extLst>
              <a:ext uri="{FF2B5EF4-FFF2-40B4-BE49-F238E27FC236}">
                <a16:creationId xmlns:a16="http://schemas.microsoft.com/office/drawing/2014/main" id="{B001BC49-8ECB-97BA-A715-5DB73E059972}"/>
              </a:ext>
            </a:extLst>
          </p:cNvPr>
          <p:cNvSpPr/>
          <p:nvPr/>
        </p:nvSpPr>
        <p:spPr>
          <a:xfrm>
            <a:off x="2009012" y="2113868"/>
            <a:ext cx="418400" cy="356400"/>
          </a:xfrm>
          <a:prstGeom prst="rect">
            <a:avLst/>
          </a:prstGeom>
          <a:solidFill>
            <a:srgbClr val="C5E0B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400" dirty="0"/>
              <a:t>2</a:t>
            </a:r>
            <a:endParaRPr sz="2400" dirty="0"/>
          </a:p>
        </p:txBody>
      </p:sp>
      <p:sp>
        <p:nvSpPr>
          <p:cNvPr id="132" name="Google Shape;242;p33">
            <a:extLst>
              <a:ext uri="{FF2B5EF4-FFF2-40B4-BE49-F238E27FC236}">
                <a16:creationId xmlns:a16="http://schemas.microsoft.com/office/drawing/2014/main" id="{CB2A95DB-B549-34C1-98D9-0149D4AEB5A1}"/>
              </a:ext>
            </a:extLst>
          </p:cNvPr>
          <p:cNvSpPr/>
          <p:nvPr/>
        </p:nvSpPr>
        <p:spPr>
          <a:xfrm>
            <a:off x="2423162" y="2113868"/>
            <a:ext cx="418400" cy="356400"/>
          </a:xfrm>
          <a:prstGeom prst="rect">
            <a:avLst/>
          </a:prstGeom>
          <a:solidFill>
            <a:srgbClr val="C5E0B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400"/>
              <a:t>3</a:t>
            </a:r>
            <a:endParaRPr sz="2400"/>
          </a:p>
        </p:txBody>
      </p:sp>
      <p:sp>
        <p:nvSpPr>
          <p:cNvPr id="133" name="Google Shape;243;p33">
            <a:extLst>
              <a:ext uri="{FF2B5EF4-FFF2-40B4-BE49-F238E27FC236}">
                <a16:creationId xmlns:a16="http://schemas.microsoft.com/office/drawing/2014/main" id="{43212D3D-F65D-8C7B-66FA-DC4D58C56B6E}"/>
              </a:ext>
            </a:extLst>
          </p:cNvPr>
          <p:cNvSpPr/>
          <p:nvPr/>
        </p:nvSpPr>
        <p:spPr>
          <a:xfrm>
            <a:off x="2841547" y="2470268"/>
            <a:ext cx="511600" cy="5116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 cap="flat" cmpd="sng">
            <a:solidFill>
              <a:srgbClr val="8FAA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400"/>
              <a:t>A</a:t>
            </a:r>
            <a:endParaRPr sz="2400"/>
          </a:p>
        </p:txBody>
      </p:sp>
      <p:sp>
        <p:nvSpPr>
          <p:cNvPr id="134" name="Google Shape;244;p33">
            <a:extLst>
              <a:ext uri="{FF2B5EF4-FFF2-40B4-BE49-F238E27FC236}">
                <a16:creationId xmlns:a16="http://schemas.microsoft.com/office/drawing/2014/main" id="{071CFB2B-DD3B-1110-72DE-B16A23564865}"/>
              </a:ext>
            </a:extLst>
          </p:cNvPr>
          <p:cNvSpPr/>
          <p:nvPr/>
        </p:nvSpPr>
        <p:spPr>
          <a:xfrm>
            <a:off x="2826048" y="3348219"/>
            <a:ext cx="511600" cy="5116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 cap="flat" cmpd="sng">
            <a:solidFill>
              <a:srgbClr val="8FAA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400"/>
              <a:t>B</a:t>
            </a:r>
            <a:endParaRPr sz="2400"/>
          </a:p>
        </p:txBody>
      </p:sp>
      <p:sp>
        <p:nvSpPr>
          <p:cNvPr id="135" name="Google Shape;245;p33">
            <a:extLst>
              <a:ext uri="{FF2B5EF4-FFF2-40B4-BE49-F238E27FC236}">
                <a16:creationId xmlns:a16="http://schemas.microsoft.com/office/drawing/2014/main" id="{83F46962-6C41-7437-99E6-555B9370D70D}"/>
              </a:ext>
            </a:extLst>
          </p:cNvPr>
          <p:cNvSpPr/>
          <p:nvPr/>
        </p:nvSpPr>
        <p:spPr>
          <a:xfrm>
            <a:off x="2826048" y="4226168"/>
            <a:ext cx="511600" cy="5116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 cap="flat" cmpd="sng">
            <a:solidFill>
              <a:srgbClr val="8FAA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400"/>
              <a:t>C</a:t>
            </a:r>
            <a:endParaRPr sz="2400"/>
          </a:p>
        </p:txBody>
      </p:sp>
      <p:sp>
        <p:nvSpPr>
          <p:cNvPr id="136" name="Google Shape;246;p33">
            <a:extLst>
              <a:ext uri="{FF2B5EF4-FFF2-40B4-BE49-F238E27FC236}">
                <a16:creationId xmlns:a16="http://schemas.microsoft.com/office/drawing/2014/main" id="{35BC6D84-9424-24F0-C601-891DFAA6D8EA}"/>
              </a:ext>
            </a:extLst>
          </p:cNvPr>
          <p:cNvSpPr/>
          <p:nvPr/>
        </p:nvSpPr>
        <p:spPr>
          <a:xfrm>
            <a:off x="2818299" y="5104119"/>
            <a:ext cx="511600" cy="5116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 cap="flat" cmpd="sng">
            <a:solidFill>
              <a:srgbClr val="8FAA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400"/>
              <a:t>D</a:t>
            </a:r>
            <a:endParaRPr sz="2400"/>
          </a:p>
        </p:txBody>
      </p:sp>
      <p:sp>
        <p:nvSpPr>
          <p:cNvPr id="137" name="Google Shape;247;p33">
            <a:extLst>
              <a:ext uri="{FF2B5EF4-FFF2-40B4-BE49-F238E27FC236}">
                <a16:creationId xmlns:a16="http://schemas.microsoft.com/office/drawing/2014/main" id="{3C832D03-F7FD-9B57-11FE-FDB56DC1D4CC}"/>
              </a:ext>
            </a:extLst>
          </p:cNvPr>
          <p:cNvSpPr/>
          <p:nvPr/>
        </p:nvSpPr>
        <p:spPr>
          <a:xfrm>
            <a:off x="6311446" y="2470268"/>
            <a:ext cx="511600" cy="5116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 cap="flat" cmpd="sng">
            <a:solidFill>
              <a:srgbClr val="8FAA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400"/>
              <a:t>A</a:t>
            </a:r>
            <a:endParaRPr sz="2400"/>
          </a:p>
        </p:txBody>
      </p:sp>
      <p:sp>
        <p:nvSpPr>
          <p:cNvPr id="138" name="Google Shape;248;p33">
            <a:extLst>
              <a:ext uri="{FF2B5EF4-FFF2-40B4-BE49-F238E27FC236}">
                <a16:creationId xmlns:a16="http://schemas.microsoft.com/office/drawing/2014/main" id="{04CDE6AB-15FE-B4AB-A86A-BD8E53760862}"/>
              </a:ext>
            </a:extLst>
          </p:cNvPr>
          <p:cNvSpPr/>
          <p:nvPr/>
        </p:nvSpPr>
        <p:spPr>
          <a:xfrm>
            <a:off x="6295947" y="3348219"/>
            <a:ext cx="511600" cy="5116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 cap="flat" cmpd="sng">
            <a:solidFill>
              <a:srgbClr val="8FAA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400"/>
              <a:t>B</a:t>
            </a:r>
            <a:endParaRPr sz="2400"/>
          </a:p>
        </p:txBody>
      </p:sp>
      <p:sp>
        <p:nvSpPr>
          <p:cNvPr id="139" name="Google Shape;249;p33">
            <a:extLst>
              <a:ext uri="{FF2B5EF4-FFF2-40B4-BE49-F238E27FC236}">
                <a16:creationId xmlns:a16="http://schemas.microsoft.com/office/drawing/2014/main" id="{9E90C3B9-9BE7-15E3-D639-10333B52ECF4}"/>
              </a:ext>
            </a:extLst>
          </p:cNvPr>
          <p:cNvSpPr/>
          <p:nvPr/>
        </p:nvSpPr>
        <p:spPr>
          <a:xfrm>
            <a:off x="6295947" y="4226168"/>
            <a:ext cx="511600" cy="5116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 cap="flat" cmpd="sng">
            <a:solidFill>
              <a:srgbClr val="8FAA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400"/>
              <a:t>C</a:t>
            </a:r>
            <a:endParaRPr sz="2400"/>
          </a:p>
        </p:txBody>
      </p:sp>
      <p:sp>
        <p:nvSpPr>
          <p:cNvPr id="140" name="Google Shape;250;p33">
            <a:extLst>
              <a:ext uri="{FF2B5EF4-FFF2-40B4-BE49-F238E27FC236}">
                <a16:creationId xmlns:a16="http://schemas.microsoft.com/office/drawing/2014/main" id="{8D000523-4D9F-A85A-25C6-5A7610F2235A}"/>
              </a:ext>
            </a:extLst>
          </p:cNvPr>
          <p:cNvSpPr/>
          <p:nvPr/>
        </p:nvSpPr>
        <p:spPr>
          <a:xfrm>
            <a:off x="6288198" y="5104119"/>
            <a:ext cx="511600" cy="5116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 cap="flat" cmpd="sng">
            <a:solidFill>
              <a:srgbClr val="8FAA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400"/>
              <a:t>D</a:t>
            </a:r>
            <a:endParaRPr sz="2400"/>
          </a:p>
        </p:txBody>
      </p:sp>
      <p:sp>
        <p:nvSpPr>
          <p:cNvPr id="141" name="Google Shape;251;p33">
            <a:extLst>
              <a:ext uri="{FF2B5EF4-FFF2-40B4-BE49-F238E27FC236}">
                <a16:creationId xmlns:a16="http://schemas.microsoft.com/office/drawing/2014/main" id="{70912AE7-ED82-E4BB-11D4-52755D4F711B}"/>
              </a:ext>
            </a:extLst>
          </p:cNvPr>
          <p:cNvSpPr/>
          <p:nvPr/>
        </p:nvSpPr>
        <p:spPr>
          <a:xfrm>
            <a:off x="6870314" y="2113868"/>
            <a:ext cx="418400" cy="356400"/>
          </a:xfrm>
          <a:prstGeom prst="rect">
            <a:avLst/>
          </a:prstGeom>
          <a:solidFill>
            <a:srgbClr val="C5E0B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400"/>
              <a:t>0</a:t>
            </a:r>
            <a:endParaRPr sz="2400"/>
          </a:p>
        </p:txBody>
      </p:sp>
      <p:sp>
        <p:nvSpPr>
          <p:cNvPr id="142" name="Google Shape;252;p33">
            <a:extLst>
              <a:ext uri="{FF2B5EF4-FFF2-40B4-BE49-F238E27FC236}">
                <a16:creationId xmlns:a16="http://schemas.microsoft.com/office/drawing/2014/main" id="{B29CF37F-D016-9142-C8A3-4C32CDB20BCA}"/>
              </a:ext>
            </a:extLst>
          </p:cNvPr>
          <p:cNvSpPr/>
          <p:nvPr/>
        </p:nvSpPr>
        <p:spPr>
          <a:xfrm>
            <a:off x="7284463" y="2113868"/>
            <a:ext cx="418400" cy="356400"/>
          </a:xfrm>
          <a:prstGeom prst="rect">
            <a:avLst/>
          </a:prstGeom>
          <a:solidFill>
            <a:srgbClr val="C5E0B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400"/>
              <a:t>1</a:t>
            </a:r>
            <a:endParaRPr sz="2400"/>
          </a:p>
        </p:txBody>
      </p:sp>
      <p:sp>
        <p:nvSpPr>
          <p:cNvPr id="143" name="Google Shape;253;p33">
            <a:extLst>
              <a:ext uri="{FF2B5EF4-FFF2-40B4-BE49-F238E27FC236}">
                <a16:creationId xmlns:a16="http://schemas.microsoft.com/office/drawing/2014/main" id="{208CEECD-C2C7-5585-F05E-6D8359A5086A}"/>
              </a:ext>
            </a:extLst>
          </p:cNvPr>
          <p:cNvSpPr/>
          <p:nvPr/>
        </p:nvSpPr>
        <p:spPr>
          <a:xfrm>
            <a:off x="7698612" y="2113868"/>
            <a:ext cx="418400" cy="356400"/>
          </a:xfrm>
          <a:prstGeom prst="rect">
            <a:avLst/>
          </a:prstGeom>
          <a:solidFill>
            <a:srgbClr val="C5E0B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400"/>
              <a:t>2</a:t>
            </a:r>
            <a:endParaRPr sz="2400"/>
          </a:p>
        </p:txBody>
      </p:sp>
      <p:sp>
        <p:nvSpPr>
          <p:cNvPr id="144" name="Google Shape;254;p33">
            <a:extLst>
              <a:ext uri="{FF2B5EF4-FFF2-40B4-BE49-F238E27FC236}">
                <a16:creationId xmlns:a16="http://schemas.microsoft.com/office/drawing/2014/main" id="{D706C765-A5EB-3E94-DD40-A7853B89DD32}"/>
              </a:ext>
            </a:extLst>
          </p:cNvPr>
          <p:cNvSpPr/>
          <p:nvPr/>
        </p:nvSpPr>
        <p:spPr>
          <a:xfrm>
            <a:off x="8112762" y="2113868"/>
            <a:ext cx="418400" cy="356400"/>
          </a:xfrm>
          <a:prstGeom prst="rect">
            <a:avLst/>
          </a:prstGeom>
          <a:solidFill>
            <a:srgbClr val="C5E0B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400"/>
              <a:t>3</a:t>
            </a:r>
            <a:endParaRPr sz="2400"/>
          </a:p>
        </p:txBody>
      </p:sp>
      <p:sp>
        <p:nvSpPr>
          <p:cNvPr id="145" name="Google Shape;255;p33">
            <a:extLst>
              <a:ext uri="{FF2B5EF4-FFF2-40B4-BE49-F238E27FC236}">
                <a16:creationId xmlns:a16="http://schemas.microsoft.com/office/drawing/2014/main" id="{DE074918-3386-7E76-F40B-BEF0F6439444}"/>
              </a:ext>
            </a:extLst>
          </p:cNvPr>
          <p:cNvSpPr/>
          <p:nvPr/>
        </p:nvSpPr>
        <p:spPr>
          <a:xfrm>
            <a:off x="6870314" y="3028268"/>
            <a:ext cx="418400" cy="356400"/>
          </a:xfrm>
          <a:prstGeom prst="rect">
            <a:avLst/>
          </a:prstGeom>
          <a:solidFill>
            <a:srgbClr val="C5E0B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400"/>
              <a:t>0</a:t>
            </a:r>
            <a:endParaRPr sz="2400"/>
          </a:p>
        </p:txBody>
      </p:sp>
      <p:sp>
        <p:nvSpPr>
          <p:cNvPr id="146" name="Google Shape;256;p33">
            <a:extLst>
              <a:ext uri="{FF2B5EF4-FFF2-40B4-BE49-F238E27FC236}">
                <a16:creationId xmlns:a16="http://schemas.microsoft.com/office/drawing/2014/main" id="{A35A7323-53B2-33D0-D2AE-3DA64BE926C0}"/>
              </a:ext>
            </a:extLst>
          </p:cNvPr>
          <p:cNvSpPr/>
          <p:nvPr/>
        </p:nvSpPr>
        <p:spPr>
          <a:xfrm>
            <a:off x="7284463" y="3028268"/>
            <a:ext cx="418400" cy="356400"/>
          </a:xfrm>
          <a:prstGeom prst="rect">
            <a:avLst/>
          </a:prstGeom>
          <a:solidFill>
            <a:srgbClr val="C5E0B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400"/>
              <a:t>1</a:t>
            </a:r>
            <a:endParaRPr sz="2400"/>
          </a:p>
        </p:txBody>
      </p:sp>
      <p:sp>
        <p:nvSpPr>
          <p:cNvPr id="147" name="Google Shape;257;p33">
            <a:extLst>
              <a:ext uri="{FF2B5EF4-FFF2-40B4-BE49-F238E27FC236}">
                <a16:creationId xmlns:a16="http://schemas.microsoft.com/office/drawing/2014/main" id="{29B0B1CC-2836-D374-F8C6-4E3C68CCB125}"/>
              </a:ext>
            </a:extLst>
          </p:cNvPr>
          <p:cNvSpPr/>
          <p:nvPr/>
        </p:nvSpPr>
        <p:spPr>
          <a:xfrm>
            <a:off x="7698612" y="3028268"/>
            <a:ext cx="418400" cy="356400"/>
          </a:xfrm>
          <a:prstGeom prst="rect">
            <a:avLst/>
          </a:prstGeom>
          <a:solidFill>
            <a:srgbClr val="C5E0B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400"/>
              <a:t>2</a:t>
            </a:r>
            <a:endParaRPr sz="2400"/>
          </a:p>
        </p:txBody>
      </p:sp>
      <p:sp>
        <p:nvSpPr>
          <p:cNvPr id="148" name="Google Shape;258;p33">
            <a:extLst>
              <a:ext uri="{FF2B5EF4-FFF2-40B4-BE49-F238E27FC236}">
                <a16:creationId xmlns:a16="http://schemas.microsoft.com/office/drawing/2014/main" id="{721EF27E-4BC1-CCCC-BA65-4635A58BC02C}"/>
              </a:ext>
            </a:extLst>
          </p:cNvPr>
          <p:cNvSpPr/>
          <p:nvPr/>
        </p:nvSpPr>
        <p:spPr>
          <a:xfrm>
            <a:off x="8112762" y="3028268"/>
            <a:ext cx="418400" cy="356400"/>
          </a:xfrm>
          <a:prstGeom prst="rect">
            <a:avLst/>
          </a:prstGeom>
          <a:solidFill>
            <a:srgbClr val="C5E0B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400"/>
              <a:t>3</a:t>
            </a:r>
            <a:endParaRPr sz="2400"/>
          </a:p>
        </p:txBody>
      </p:sp>
      <p:sp>
        <p:nvSpPr>
          <p:cNvPr id="149" name="Google Shape;259;p33">
            <a:extLst>
              <a:ext uri="{FF2B5EF4-FFF2-40B4-BE49-F238E27FC236}">
                <a16:creationId xmlns:a16="http://schemas.microsoft.com/office/drawing/2014/main" id="{8A2F918C-3EFE-AABA-8A87-DC8A6B98FD76}"/>
              </a:ext>
            </a:extLst>
          </p:cNvPr>
          <p:cNvSpPr/>
          <p:nvPr/>
        </p:nvSpPr>
        <p:spPr>
          <a:xfrm>
            <a:off x="6870314" y="3942668"/>
            <a:ext cx="418400" cy="356400"/>
          </a:xfrm>
          <a:prstGeom prst="rect">
            <a:avLst/>
          </a:prstGeom>
          <a:solidFill>
            <a:srgbClr val="C5E0B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400"/>
              <a:t>0</a:t>
            </a:r>
            <a:endParaRPr sz="2400"/>
          </a:p>
        </p:txBody>
      </p:sp>
      <p:sp>
        <p:nvSpPr>
          <p:cNvPr id="150" name="Google Shape;260;p33">
            <a:extLst>
              <a:ext uri="{FF2B5EF4-FFF2-40B4-BE49-F238E27FC236}">
                <a16:creationId xmlns:a16="http://schemas.microsoft.com/office/drawing/2014/main" id="{99445EE7-68A2-B851-AFEC-C5B4EF09A359}"/>
              </a:ext>
            </a:extLst>
          </p:cNvPr>
          <p:cNvSpPr/>
          <p:nvPr/>
        </p:nvSpPr>
        <p:spPr>
          <a:xfrm>
            <a:off x="7284463" y="3942668"/>
            <a:ext cx="418400" cy="356400"/>
          </a:xfrm>
          <a:prstGeom prst="rect">
            <a:avLst/>
          </a:prstGeom>
          <a:solidFill>
            <a:srgbClr val="C5E0B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400"/>
              <a:t>1</a:t>
            </a:r>
            <a:endParaRPr sz="2400"/>
          </a:p>
        </p:txBody>
      </p:sp>
      <p:sp>
        <p:nvSpPr>
          <p:cNvPr id="151" name="Google Shape;261;p33">
            <a:extLst>
              <a:ext uri="{FF2B5EF4-FFF2-40B4-BE49-F238E27FC236}">
                <a16:creationId xmlns:a16="http://schemas.microsoft.com/office/drawing/2014/main" id="{C499C238-1B26-46E0-62DD-D3293A02897F}"/>
              </a:ext>
            </a:extLst>
          </p:cNvPr>
          <p:cNvSpPr/>
          <p:nvPr/>
        </p:nvSpPr>
        <p:spPr>
          <a:xfrm>
            <a:off x="7698612" y="3942668"/>
            <a:ext cx="418400" cy="356400"/>
          </a:xfrm>
          <a:prstGeom prst="rect">
            <a:avLst/>
          </a:prstGeom>
          <a:solidFill>
            <a:srgbClr val="C5E0B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400"/>
              <a:t>2</a:t>
            </a:r>
            <a:endParaRPr sz="2400"/>
          </a:p>
        </p:txBody>
      </p:sp>
      <p:sp>
        <p:nvSpPr>
          <p:cNvPr id="152" name="Google Shape;262;p33">
            <a:extLst>
              <a:ext uri="{FF2B5EF4-FFF2-40B4-BE49-F238E27FC236}">
                <a16:creationId xmlns:a16="http://schemas.microsoft.com/office/drawing/2014/main" id="{E4A3E5E3-CDE0-5CFC-6B83-F8E15AFBC16A}"/>
              </a:ext>
            </a:extLst>
          </p:cNvPr>
          <p:cNvSpPr/>
          <p:nvPr/>
        </p:nvSpPr>
        <p:spPr>
          <a:xfrm>
            <a:off x="8112762" y="3942668"/>
            <a:ext cx="418400" cy="356400"/>
          </a:xfrm>
          <a:prstGeom prst="rect">
            <a:avLst/>
          </a:prstGeom>
          <a:solidFill>
            <a:srgbClr val="C5E0B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400"/>
              <a:t>3</a:t>
            </a:r>
            <a:endParaRPr sz="2400"/>
          </a:p>
        </p:txBody>
      </p:sp>
      <p:sp>
        <p:nvSpPr>
          <p:cNvPr id="153" name="Google Shape;263;p33">
            <a:extLst>
              <a:ext uri="{FF2B5EF4-FFF2-40B4-BE49-F238E27FC236}">
                <a16:creationId xmlns:a16="http://schemas.microsoft.com/office/drawing/2014/main" id="{19BA9B6F-CF4F-D376-CDC0-710612AA1EFA}"/>
              </a:ext>
            </a:extLst>
          </p:cNvPr>
          <p:cNvSpPr/>
          <p:nvPr/>
        </p:nvSpPr>
        <p:spPr>
          <a:xfrm>
            <a:off x="6870314" y="4857068"/>
            <a:ext cx="418400" cy="356400"/>
          </a:xfrm>
          <a:prstGeom prst="rect">
            <a:avLst/>
          </a:prstGeom>
          <a:solidFill>
            <a:srgbClr val="C5E0B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400"/>
              <a:t>0</a:t>
            </a:r>
            <a:endParaRPr sz="2400"/>
          </a:p>
        </p:txBody>
      </p:sp>
      <p:sp>
        <p:nvSpPr>
          <p:cNvPr id="154" name="Google Shape;264;p33">
            <a:extLst>
              <a:ext uri="{FF2B5EF4-FFF2-40B4-BE49-F238E27FC236}">
                <a16:creationId xmlns:a16="http://schemas.microsoft.com/office/drawing/2014/main" id="{2E3161C3-663B-A6B7-F1A8-ADE8E3DF28B0}"/>
              </a:ext>
            </a:extLst>
          </p:cNvPr>
          <p:cNvSpPr/>
          <p:nvPr/>
        </p:nvSpPr>
        <p:spPr>
          <a:xfrm>
            <a:off x="7284463" y="4857068"/>
            <a:ext cx="418400" cy="356400"/>
          </a:xfrm>
          <a:prstGeom prst="rect">
            <a:avLst/>
          </a:prstGeom>
          <a:solidFill>
            <a:srgbClr val="C5E0B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400"/>
              <a:t>1</a:t>
            </a:r>
            <a:endParaRPr sz="2400"/>
          </a:p>
        </p:txBody>
      </p:sp>
      <p:sp>
        <p:nvSpPr>
          <p:cNvPr id="155" name="Google Shape;265;p33">
            <a:extLst>
              <a:ext uri="{FF2B5EF4-FFF2-40B4-BE49-F238E27FC236}">
                <a16:creationId xmlns:a16="http://schemas.microsoft.com/office/drawing/2014/main" id="{F9E4A21E-84DF-F031-1708-EFCE1AFAC316}"/>
              </a:ext>
            </a:extLst>
          </p:cNvPr>
          <p:cNvSpPr/>
          <p:nvPr/>
        </p:nvSpPr>
        <p:spPr>
          <a:xfrm>
            <a:off x="7698612" y="4857068"/>
            <a:ext cx="418400" cy="356400"/>
          </a:xfrm>
          <a:prstGeom prst="rect">
            <a:avLst/>
          </a:prstGeom>
          <a:solidFill>
            <a:srgbClr val="C5E0B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400"/>
              <a:t>2</a:t>
            </a:r>
            <a:endParaRPr sz="2400"/>
          </a:p>
        </p:txBody>
      </p:sp>
      <p:sp>
        <p:nvSpPr>
          <p:cNvPr id="156" name="Google Shape;266;p33">
            <a:extLst>
              <a:ext uri="{FF2B5EF4-FFF2-40B4-BE49-F238E27FC236}">
                <a16:creationId xmlns:a16="http://schemas.microsoft.com/office/drawing/2014/main" id="{AFE2E283-FBE4-14C4-C900-8262DE5B2D2E}"/>
              </a:ext>
            </a:extLst>
          </p:cNvPr>
          <p:cNvSpPr/>
          <p:nvPr/>
        </p:nvSpPr>
        <p:spPr>
          <a:xfrm>
            <a:off x="8112762" y="4857068"/>
            <a:ext cx="418400" cy="356400"/>
          </a:xfrm>
          <a:prstGeom prst="rect">
            <a:avLst/>
          </a:prstGeom>
          <a:solidFill>
            <a:srgbClr val="C5E0B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400"/>
              <a:t>3</a:t>
            </a:r>
            <a:endParaRPr sz="2400"/>
          </a:p>
        </p:txBody>
      </p:sp>
      <p:sp>
        <p:nvSpPr>
          <p:cNvPr id="157" name="Google Shape;267;p33">
            <a:extLst>
              <a:ext uri="{FF2B5EF4-FFF2-40B4-BE49-F238E27FC236}">
                <a16:creationId xmlns:a16="http://schemas.microsoft.com/office/drawing/2014/main" id="{B06A86D8-6591-B657-D9E8-71EAF55B81EA}"/>
              </a:ext>
            </a:extLst>
          </p:cNvPr>
          <p:cNvSpPr/>
          <p:nvPr/>
        </p:nvSpPr>
        <p:spPr>
          <a:xfrm>
            <a:off x="3598447" y="3632702"/>
            <a:ext cx="2533200" cy="7636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>
              <a:lumMod val="20000"/>
              <a:lumOff val="80000"/>
            </a:schemeClr>
          </a:solidFill>
          <a:ln w="19050" cap="flat" cmpd="sng">
            <a:solidFill>
              <a:srgbClr val="8FAA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400"/>
              <a:t>Broadcast</a:t>
            </a:r>
            <a:endParaRPr sz="2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8" name="Rechteckige Legende 1">
                <a:extLst>
                  <a:ext uri="{FF2B5EF4-FFF2-40B4-BE49-F238E27FC236}">
                    <a16:creationId xmlns:a16="http://schemas.microsoft.com/office/drawing/2014/main" id="{9AFD3F35-12D8-936C-38CF-A6287B2190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5679" y="2796111"/>
                <a:ext cx="1850069" cy="371513"/>
              </a:xfrm>
              <a:prstGeom prst="wedgeRectCallout">
                <a:avLst>
                  <a:gd name="adj1" fmla="val 31537"/>
                  <a:gd name="adj2" fmla="val -82205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 w="25400" algn="ctr">
                <a:solidFill>
                  <a:srgbClr val="8FAADC"/>
                </a:solidFill>
                <a:round/>
                <a:headEnd/>
                <a:tailEnd/>
              </a:ln>
            </p:spPr>
            <p:txBody>
              <a:bodyPr wrap="square" lIns="90000" tIns="46800" rIns="90000" bIns="46800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buFontTx/>
                  <a:buNone/>
                </a:pPr>
                <a:r>
                  <a:rPr lang="de-DE" altLang="de-DE" sz="1800" dirty="0">
                    <a:latin typeface="+mn-lt"/>
                  </a:rPr>
                  <a:t>Vector </a:t>
                </a:r>
                <a:r>
                  <a:rPr lang="de-DE" altLang="de-DE" sz="1800" dirty="0" err="1">
                    <a:latin typeface="+mn-lt"/>
                  </a:rPr>
                  <a:t>of</a:t>
                </a:r>
                <a:r>
                  <a:rPr lang="de-DE" altLang="de-DE" sz="1800" dirty="0">
                    <a:latin typeface="+mn-lt"/>
                  </a:rPr>
                  <a:t> </a:t>
                </a:r>
                <a:r>
                  <a:rPr lang="de-DE" altLang="de-DE" sz="1800" dirty="0" err="1">
                    <a:latin typeface="+mn-lt"/>
                  </a:rPr>
                  <a:t>size</a:t>
                </a:r>
                <a:r>
                  <a:rPr lang="de-DE" altLang="de-DE" sz="1800" dirty="0">
                    <a:latin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de-DE" altLang="de-DE" sz="18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de-DE" altLang="de-DE" sz="1800" i="1" dirty="0">
                  <a:latin typeface="+mn-lt"/>
                </a:endParaRPr>
              </a:p>
            </p:txBody>
          </p:sp>
        </mc:Choice>
        <mc:Fallback xmlns="">
          <p:sp>
            <p:nvSpPr>
              <p:cNvPr id="158" name="Rechteckige Legende 1">
                <a:extLst>
                  <a:ext uri="{FF2B5EF4-FFF2-40B4-BE49-F238E27FC236}">
                    <a16:creationId xmlns:a16="http://schemas.microsoft.com/office/drawing/2014/main" id="{9AFD3F35-12D8-936C-38CF-A6287B2190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5679" y="2796111"/>
                <a:ext cx="1850069" cy="371513"/>
              </a:xfrm>
              <a:prstGeom prst="wedgeRectCallout">
                <a:avLst>
                  <a:gd name="adj1" fmla="val 31537"/>
                  <a:gd name="adj2" fmla="val -82205"/>
                </a:avLst>
              </a:prstGeom>
              <a:blipFill>
                <a:blip r:embed="rId4"/>
                <a:stretch>
                  <a:fillRect l="-2280" b="-15294"/>
                </a:stretch>
              </a:blipFill>
              <a:ln w="25400" algn="ctr">
                <a:solidFill>
                  <a:srgbClr val="8FAADC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4">
            <a:extLst>
              <a:ext uri="{FF2B5EF4-FFF2-40B4-BE49-F238E27FC236}">
                <a16:creationId xmlns:a16="http://schemas.microsoft.com/office/drawing/2014/main" id="{0FC25484-FA1A-CF06-15CF-605D24EDE7E0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24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377116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4">
          <a:extLst>
            <a:ext uri="{FF2B5EF4-FFF2-40B4-BE49-F238E27FC236}">
              <a16:creationId xmlns:a16="http://schemas.microsoft.com/office/drawing/2014/main" id="{272B78D1-E43D-C29C-0CFE-653B475B7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656;g60be7dcf1c_0_555">
            <a:extLst>
              <a:ext uri="{FF2B5EF4-FFF2-40B4-BE49-F238E27FC236}">
                <a16:creationId xmlns:a16="http://schemas.microsoft.com/office/drawing/2014/main" id="{F2C14F70-A1E0-65D7-8DD7-02E5C4805A01}"/>
              </a:ext>
            </a:extLst>
          </p:cNvPr>
          <p:cNvSpPr txBox="1"/>
          <p:nvPr/>
        </p:nvSpPr>
        <p:spPr>
          <a:xfrm>
            <a:off x="0" y="540000"/>
            <a:ext cx="8211000" cy="101893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10" name="Google Shape;1657;g60be7dcf1c_0_555">
            <a:extLst>
              <a:ext uri="{FF2B5EF4-FFF2-40B4-BE49-F238E27FC236}">
                <a16:creationId xmlns:a16="http://schemas.microsoft.com/office/drawing/2014/main" id="{27B8C8EE-5587-D217-0744-22B40AC506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3075" y="26970"/>
            <a:ext cx="8171100" cy="1573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en-GB" sz="2000" dirty="0"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2000" dirty="0">
                <a:latin typeface="Consolas"/>
                <a:ea typeface="Consolas"/>
                <a:cs typeface="Consolas"/>
                <a:sym typeface="Consolas"/>
              </a:rPr>
              <a:t>Example of a Collective Communication</a:t>
            </a:r>
            <a:endParaRPr lang="en-GB" sz="40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4000" dirty="0">
                <a:latin typeface="Consolas"/>
                <a:ea typeface="Consolas"/>
                <a:cs typeface="Consolas"/>
                <a:sym typeface="Consolas"/>
              </a:rPr>
              <a:t>Broadcast Algorithm</a:t>
            </a:r>
            <a:endParaRPr lang="en-GB" sz="4000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8" name="Google Shape;1534;g60be7dcf1c_0_434">
            <a:extLst>
              <a:ext uri="{FF2B5EF4-FFF2-40B4-BE49-F238E27FC236}">
                <a16:creationId xmlns:a16="http://schemas.microsoft.com/office/drawing/2014/main" id="{A6161737-081F-0D70-449B-30E2D7837718}"/>
              </a:ext>
            </a:extLst>
          </p:cNvPr>
          <p:cNvSpPr txBox="1"/>
          <p:nvPr/>
        </p:nvSpPr>
        <p:spPr>
          <a:xfrm>
            <a:off x="884637" y="6103883"/>
            <a:ext cx="7347546" cy="598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US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Realization in </a:t>
            </a:r>
            <a:r>
              <a:rPr lang="en-US" sz="1600" b="1" i="1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collectives algorithm</a:t>
            </a:r>
            <a:r>
              <a:rPr lang="en-US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600" b="1" i="1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pair-wise </a:t>
            </a:r>
            <a:r>
              <a:rPr lang="en-US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matchings! </a:t>
            </a:r>
            <a:endParaRPr lang="de-DE"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D8797C60-051F-9448-00B6-578B4177A058}"/>
              </a:ext>
            </a:extLst>
          </p:cNvPr>
          <p:cNvSpPr/>
          <p:nvPr/>
        </p:nvSpPr>
        <p:spPr>
          <a:xfrm>
            <a:off x="3950633" y="2879065"/>
            <a:ext cx="271305" cy="27130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>
            <a:solidFill>
              <a:srgbClr val="8FAA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lang="en-GB" sz="2400">
              <a:solidFill>
                <a:schemeClr val="tx1"/>
              </a:solidFill>
            </a:endParaRPr>
          </a:p>
        </p:txBody>
      </p:sp>
      <p:sp>
        <p:nvSpPr>
          <p:cNvPr id="3" name="Oval 3">
            <a:extLst>
              <a:ext uri="{FF2B5EF4-FFF2-40B4-BE49-F238E27FC236}">
                <a16:creationId xmlns:a16="http://schemas.microsoft.com/office/drawing/2014/main" id="{8509922A-906C-939C-F4D8-59071A6B42DB}"/>
              </a:ext>
            </a:extLst>
          </p:cNvPr>
          <p:cNvSpPr/>
          <p:nvPr/>
        </p:nvSpPr>
        <p:spPr>
          <a:xfrm>
            <a:off x="3073662" y="3908302"/>
            <a:ext cx="271305" cy="27130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>
            <a:solidFill>
              <a:srgbClr val="8FAA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lang="en-GB" sz="2400">
              <a:solidFill>
                <a:schemeClr val="tx1"/>
              </a:solidFill>
            </a:endParaRPr>
          </a:p>
        </p:txBody>
      </p:sp>
      <p:sp>
        <p:nvSpPr>
          <p:cNvPr id="4" name="Oval 4">
            <a:extLst>
              <a:ext uri="{FF2B5EF4-FFF2-40B4-BE49-F238E27FC236}">
                <a16:creationId xmlns:a16="http://schemas.microsoft.com/office/drawing/2014/main" id="{3E802E06-53CC-9F83-071A-BEE2BF7C8EEC}"/>
              </a:ext>
            </a:extLst>
          </p:cNvPr>
          <p:cNvSpPr/>
          <p:nvPr/>
        </p:nvSpPr>
        <p:spPr>
          <a:xfrm>
            <a:off x="2440031" y="5023681"/>
            <a:ext cx="271305" cy="27130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>
            <a:solidFill>
              <a:srgbClr val="8FAA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lang="en-GB" sz="2400">
              <a:solidFill>
                <a:schemeClr val="tx1"/>
              </a:solidFill>
            </a:endParaRPr>
          </a:p>
        </p:txBody>
      </p:sp>
      <p:sp>
        <p:nvSpPr>
          <p:cNvPr id="5" name="Oval 5">
            <a:extLst>
              <a:ext uri="{FF2B5EF4-FFF2-40B4-BE49-F238E27FC236}">
                <a16:creationId xmlns:a16="http://schemas.microsoft.com/office/drawing/2014/main" id="{1D8BEDA3-FAFE-08AB-6A8A-87B25ADC0D75}"/>
              </a:ext>
            </a:extLst>
          </p:cNvPr>
          <p:cNvSpPr/>
          <p:nvPr/>
        </p:nvSpPr>
        <p:spPr>
          <a:xfrm>
            <a:off x="3679328" y="5012722"/>
            <a:ext cx="271305" cy="27130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>
            <a:solidFill>
              <a:srgbClr val="8FAA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lang="en-GB" sz="2400">
              <a:solidFill>
                <a:schemeClr val="tx1"/>
              </a:solidFill>
            </a:endParaRPr>
          </a:p>
        </p:txBody>
      </p:sp>
      <p:cxnSp>
        <p:nvCxnSpPr>
          <p:cNvPr id="6" name="Straight Arrow Connector 6">
            <a:extLst>
              <a:ext uri="{FF2B5EF4-FFF2-40B4-BE49-F238E27FC236}">
                <a16:creationId xmlns:a16="http://schemas.microsoft.com/office/drawing/2014/main" id="{48F8EBDA-8BF5-3E88-6C9D-EFD650194616}"/>
              </a:ext>
            </a:extLst>
          </p:cNvPr>
          <p:cNvCxnSpPr>
            <a:cxnSpLocks/>
            <a:stCxn id="2" idx="3"/>
          </p:cNvCxnSpPr>
          <p:nvPr/>
        </p:nvCxnSpPr>
        <p:spPr>
          <a:xfrm flipH="1">
            <a:off x="3344967" y="3110638"/>
            <a:ext cx="645398" cy="77084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7">
            <a:extLst>
              <a:ext uri="{FF2B5EF4-FFF2-40B4-BE49-F238E27FC236}">
                <a16:creationId xmlns:a16="http://schemas.microsoft.com/office/drawing/2014/main" id="{DD85B8DB-06E7-223A-FB78-8CF6B0974A14}"/>
              </a:ext>
            </a:extLst>
          </p:cNvPr>
          <p:cNvCxnSpPr>
            <a:cxnSpLocks/>
          </p:cNvCxnSpPr>
          <p:nvPr/>
        </p:nvCxnSpPr>
        <p:spPr>
          <a:xfrm flipH="1">
            <a:off x="2644492" y="4156914"/>
            <a:ext cx="491139" cy="84355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8">
            <a:extLst>
              <a:ext uri="{FF2B5EF4-FFF2-40B4-BE49-F238E27FC236}">
                <a16:creationId xmlns:a16="http://schemas.microsoft.com/office/drawing/2014/main" id="{AB9651D2-811B-8194-8D11-06BEF4E6AC4F}"/>
              </a:ext>
            </a:extLst>
          </p:cNvPr>
          <p:cNvCxnSpPr>
            <a:cxnSpLocks/>
            <a:stCxn id="3" idx="5"/>
            <a:endCxn id="5" idx="0"/>
          </p:cNvCxnSpPr>
          <p:nvPr/>
        </p:nvCxnSpPr>
        <p:spPr>
          <a:xfrm>
            <a:off x="3305235" y="4139875"/>
            <a:ext cx="509746" cy="87284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9">
            <a:extLst>
              <a:ext uri="{FF2B5EF4-FFF2-40B4-BE49-F238E27FC236}">
                <a16:creationId xmlns:a16="http://schemas.microsoft.com/office/drawing/2014/main" id="{8F00C9DA-F4CB-2994-554C-D10AFE6939E6}"/>
              </a:ext>
            </a:extLst>
          </p:cNvPr>
          <p:cNvCxnSpPr>
            <a:cxnSpLocks/>
            <a:stCxn id="2" idx="5"/>
          </p:cNvCxnSpPr>
          <p:nvPr/>
        </p:nvCxnSpPr>
        <p:spPr>
          <a:xfrm>
            <a:off x="4182206" y="3110638"/>
            <a:ext cx="679728" cy="77084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0">
            <a:extLst>
              <a:ext uri="{FF2B5EF4-FFF2-40B4-BE49-F238E27FC236}">
                <a16:creationId xmlns:a16="http://schemas.microsoft.com/office/drawing/2014/main" id="{8F3B6152-79AA-E3E9-8372-FD256FBE3F5A}"/>
              </a:ext>
            </a:extLst>
          </p:cNvPr>
          <p:cNvSpPr/>
          <p:nvPr/>
        </p:nvSpPr>
        <p:spPr>
          <a:xfrm>
            <a:off x="4861934" y="3908302"/>
            <a:ext cx="271305" cy="27130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>
            <a:solidFill>
              <a:srgbClr val="8FAA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lang="en-GB" sz="2400">
              <a:solidFill>
                <a:schemeClr val="tx1"/>
              </a:solidFill>
            </a:endParaRPr>
          </a:p>
        </p:txBody>
      </p:sp>
      <p:sp>
        <p:nvSpPr>
          <p:cNvPr id="14" name="Oval 11">
            <a:extLst>
              <a:ext uri="{FF2B5EF4-FFF2-40B4-BE49-F238E27FC236}">
                <a16:creationId xmlns:a16="http://schemas.microsoft.com/office/drawing/2014/main" id="{2DC2E3BA-F523-5F62-DF2A-0A7F8CE7F62C}"/>
              </a:ext>
            </a:extLst>
          </p:cNvPr>
          <p:cNvSpPr/>
          <p:nvPr/>
        </p:nvSpPr>
        <p:spPr>
          <a:xfrm>
            <a:off x="4228303" y="5023681"/>
            <a:ext cx="271305" cy="27130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>
            <a:solidFill>
              <a:srgbClr val="8FAA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lang="en-GB" sz="2400">
              <a:solidFill>
                <a:schemeClr val="tx1"/>
              </a:solidFill>
            </a:endParaRPr>
          </a:p>
        </p:txBody>
      </p:sp>
      <p:sp>
        <p:nvSpPr>
          <p:cNvPr id="15" name="Oval 12">
            <a:extLst>
              <a:ext uri="{FF2B5EF4-FFF2-40B4-BE49-F238E27FC236}">
                <a16:creationId xmlns:a16="http://schemas.microsoft.com/office/drawing/2014/main" id="{779EF830-5D95-1383-E4E7-64162F9305D1}"/>
              </a:ext>
            </a:extLst>
          </p:cNvPr>
          <p:cNvSpPr/>
          <p:nvPr/>
        </p:nvSpPr>
        <p:spPr>
          <a:xfrm>
            <a:off x="5542293" y="5000470"/>
            <a:ext cx="271305" cy="27130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>
            <a:solidFill>
              <a:srgbClr val="8FAA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lang="en-GB" sz="2400">
              <a:solidFill>
                <a:schemeClr val="tx1"/>
              </a:solidFill>
            </a:endParaRPr>
          </a:p>
        </p:txBody>
      </p:sp>
      <p:cxnSp>
        <p:nvCxnSpPr>
          <p:cNvPr id="16" name="Straight Arrow Connector 13">
            <a:extLst>
              <a:ext uri="{FF2B5EF4-FFF2-40B4-BE49-F238E27FC236}">
                <a16:creationId xmlns:a16="http://schemas.microsoft.com/office/drawing/2014/main" id="{F7E22B12-248D-54DC-2286-299D4A704E06}"/>
              </a:ext>
            </a:extLst>
          </p:cNvPr>
          <p:cNvCxnSpPr>
            <a:cxnSpLocks/>
          </p:cNvCxnSpPr>
          <p:nvPr/>
        </p:nvCxnSpPr>
        <p:spPr>
          <a:xfrm flipH="1">
            <a:off x="4432764" y="4156914"/>
            <a:ext cx="491139" cy="84355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4">
            <a:extLst>
              <a:ext uri="{FF2B5EF4-FFF2-40B4-BE49-F238E27FC236}">
                <a16:creationId xmlns:a16="http://schemas.microsoft.com/office/drawing/2014/main" id="{4A59E8A3-147A-9686-F87C-68D32BD67059}"/>
              </a:ext>
            </a:extLst>
          </p:cNvPr>
          <p:cNvCxnSpPr>
            <a:cxnSpLocks/>
            <a:stCxn id="13" idx="5"/>
          </p:cNvCxnSpPr>
          <p:nvPr/>
        </p:nvCxnSpPr>
        <p:spPr>
          <a:xfrm>
            <a:off x="5093507" y="4139875"/>
            <a:ext cx="478870" cy="83738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6">
            <a:extLst>
              <a:ext uri="{FF2B5EF4-FFF2-40B4-BE49-F238E27FC236}">
                <a16:creationId xmlns:a16="http://schemas.microsoft.com/office/drawing/2014/main" id="{70A59C97-499D-6E02-A5CC-90670E0EF8D2}"/>
              </a:ext>
            </a:extLst>
          </p:cNvPr>
          <p:cNvGrpSpPr/>
          <p:nvPr/>
        </p:nvGrpSpPr>
        <p:grpSpPr>
          <a:xfrm>
            <a:off x="3339186" y="2818875"/>
            <a:ext cx="509746" cy="270151"/>
            <a:chOff x="4893547" y="3959051"/>
            <a:chExt cx="949905" cy="503422"/>
          </a:xfrm>
        </p:grpSpPr>
        <p:sp>
          <p:nvSpPr>
            <p:cNvPr id="20" name="Rectangle 17">
              <a:extLst>
                <a:ext uri="{FF2B5EF4-FFF2-40B4-BE49-F238E27FC236}">
                  <a16:creationId xmlns:a16="http://schemas.microsoft.com/office/drawing/2014/main" id="{CEF8A669-A93C-A043-5B21-B5C9AAC25CE7}"/>
                </a:ext>
              </a:extLst>
            </p:cNvPr>
            <p:cNvSpPr/>
            <p:nvPr/>
          </p:nvSpPr>
          <p:spPr>
            <a:xfrm>
              <a:off x="4893547" y="3959051"/>
              <a:ext cx="949905" cy="50342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21" name="Straight Connector 18">
              <a:extLst>
                <a:ext uri="{FF2B5EF4-FFF2-40B4-BE49-F238E27FC236}">
                  <a16:creationId xmlns:a16="http://schemas.microsoft.com/office/drawing/2014/main" id="{D61D0D97-C71A-2EBD-8127-E6DC65228406}"/>
                </a:ext>
              </a:extLst>
            </p:cNvPr>
            <p:cNvCxnSpPr/>
            <p:nvPr/>
          </p:nvCxnSpPr>
          <p:spPr>
            <a:xfrm>
              <a:off x="4893547" y="3959051"/>
              <a:ext cx="251477" cy="23211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19">
              <a:extLst>
                <a:ext uri="{FF2B5EF4-FFF2-40B4-BE49-F238E27FC236}">
                  <a16:creationId xmlns:a16="http://schemas.microsoft.com/office/drawing/2014/main" id="{D6B423DD-DDC5-479C-E0A7-947735DE1A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27370" y="3959051"/>
              <a:ext cx="216082" cy="22115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0">
              <a:extLst>
                <a:ext uri="{FF2B5EF4-FFF2-40B4-BE49-F238E27FC236}">
                  <a16:creationId xmlns:a16="http://schemas.microsoft.com/office/drawing/2014/main" id="{2B82D016-3E45-A141-D73A-20112B2A0B14}"/>
                </a:ext>
              </a:extLst>
            </p:cNvPr>
            <p:cNvCxnSpPr/>
            <p:nvPr/>
          </p:nvCxnSpPr>
          <p:spPr>
            <a:xfrm>
              <a:off x="5145024" y="4191168"/>
              <a:ext cx="482346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0" name="Rechteckige Legende 1">
            <a:extLst>
              <a:ext uri="{FF2B5EF4-FFF2-40B4-BE49-F238E27FC236}">
                <a16:creationId xmlns:a16="http://schemas.microsoft.com/office/drawing/2014/main" id="{B9425B73-EB18-8EC8-131E-82ABBF4136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7284" y="2062820"/>
            <a:ext cx="3019314" cy="383229"/>
          </a:xfrm>
          <a:prstGeom prst="wedgeRectCallout">
            <a:avLst>
              <a:gd name="adj1" fmla="val -38022"/>
              <a:gd name="adj2" fmla="val 124062"/>
            </a:avLst>
          </a:prstGeom>
          <a:solidFill>
            <a:schemeClr val="accent1">
              <a:lumMod val="20000"/>
              <a:lumOff val="80000"/>
            </a:schemeClr>
          </a:solidFill>
          <a:ln w="25400" algn="ctr">
            <a:solidFill>
              <a:srgbClr val="8FAADC"/>
            </a:solidFill>
            <a:round/>
            <a:headEnd/>
            <a:tailEnd/>
          </a:ln>
        </p:spPr>
        <p:txBody>
          <a:bodyPr wrap="square" lIns="90000" tIns="46800" rIns="90000" bIns="46800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de-DE" altLang="de-DE" sz="1800" dirty="0" err="1">
                <a:latin typeface="+mn-lt"/>
              </a:rPr>
              <a:t>Initially</a:t>
            </a:r>
            <a:r>
              <a:rPr lang="de-DE" altLang="de-DE" sz="1800" dirty="0">
                <a:latin typeface="+mn-lt"/>
              </a:rPr>
              <a:t> </a:t>
            </a:r>
            <a:r>
              <a:rPr lang="de-DE" altLang="de-DE" sz="1800" dirty="0" err="1">
                <a:latin typeface="+mn-lt"/>
              </a:rPr>
              <a:t>has</a:t>
            </a:r>
            <a:r>
              <a:rPr lang="de-DE" altLang="de-DE" sz="1800" dirty="0">
                <a:latin typeface="+mn-lt"/>
              </a:rPr>
              <a:t> </a:t>
            </a:r>
            <a:r>
              <a:rPr lang="de-DE" altLang="de-DE" sz="1800" dirty="0" err="1">
                <a:latin typeface="+mn-lt"/>
              </a:rPr>
              <a:t>the</a:t>
            </a:r>
            <a:r>
              <a:rPr lang="de-DE" altLang="de-DE" sz="1800" dirty="0">
                <a:latin typeface="+mn-lt"/>
              </a:rPr>
              <a:t> </a:t>
            </a:r>
            <a:r>
              <a:rPr lang="de-DE" altLang="de-DE" sz="1800" dirty="0" err="1">
                <a:latin typeface="+mn-lt"/>
              </a:rPr>
              <a:t>message</a:t>
            </a:r>
            <a:endParaRPr lang="de-DE" altLang="de-DE" sz="1800" dirty="0">
              <a:latin typeface="+mn-lt"/>
            </a:endParaRPr>
          </a:p>
        </p:txBody>
      </p:sp>
      <p:sp>
        <p:nvSpPr>
          <p:cNvPr id="24" name="Rectangle 4">
            <a:extLst>
              <a:ext uri="{FF2B5EF4-FFF2-40B4-BE49-F238E27FC236}">
                <a16:creationId xmlns:a16="http://schemas.microsoft.com/office/drawing/2014/main" id="{BF27FCF8-A4B2-6A04-0E71-5A977D0268BA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25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15">
                <a:extLst>
                  <a:ext uri="{FF2B5EF4-FFF2-40B4-BE49-F238E27FC236}">
                    <a16:creationId xmlns:a16="http://schemas.microsoft.com/office/drawing/2014/main" id="{96A61521-DF6E-D2F9-04E4-20B1578C31C1}"/>
                  </a:ext>
                </a:extLst>
              </p:cNvPr>
              <p:cNvSpPr txBox="1"/>
              <p:nvPr/>
            </p:nvSpPr>
            <p:spPr>
              <a:xfrm>
                <a:off x="6489618" y="3572673"/>
                <a:ext cx="1556727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de-DE" sz="440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de-DE" sz="4400" i="1" dirty="0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sz="4400" dirty="0"/>
              </a:p>
            </p:txBody>
          </p:sp>
        </mc:Choice>
        <mc:Fallback xmlns="">
          <p:sp>
            <p:nvSpPr>
              <p:cNvPr id="25" name="TextBox 15">
                <a:extLst>
                  <a:ext uri="{FF2B5EF4-FFF2-40B4-BE49-F238E27FC236}">
                    <a16:creationId xmlns:a16="http://schemas.microsoft.com/office/drawing/2014/main" id="{96A61521-DF6E-D2F9-04E4-20B1578C31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9618" y="3572673"/>
                <a:ext cx="1556727" cy="76944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283723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4">
          <a:extLst>
            <a:ext uri="{FF2B5EF4-FFF2-40B4-BE49-F238E27FC236}">
              <a16:creationId xmlns:a16="http://schemas.microsoft.com/office/drawing/2014/main" id="{35A8B039-0C61-E208-C90A-9483D908A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656;g60be7dcf1c_0_555">
            <a:extLst>
              <a:ext uri="{FF2B5EF4-FFF2-40B4-BE49-F238E27FC236}">
                <a16:creationId xmlns:a16="http://schemas.microsoft.com/office/drawing/2014/main" id="{73433153-591A-3720-82E5-6F1ACD652D73}"/>
              </a:ext>
            </a:extLst>
          </p:cNvPr>
          <p:cNvSpPr txBox="1"/>
          <p:nvPr/>
        </p:nvSpPr>
        <p:spPr>
          <a:xfrm>
            <a:off x="0" y="540000"/>
            <a:ext cx="8211000" cy="101893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10" name="Google Shape;1657;g60be7dcf1c_0_555">
            <a:extLst>
              <a:ext uri="{FF2B5EF4-FFF2-40B4-BE49-F238E27FC236}">
                <a16:creationId xmlns:a16="http://schemas.microsoft.com/office/drawing/2014/main" id="{79B67905-8D88-4974-5A3D-626D33983B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3075" y="26970"/>
            <a:ext cx="8171100" cy="1573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en-GB" sz="2000" dirty="0"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2000" dirty="0">
                <a:latin typeface="Consolas"/>
                <a:ea typeface="Consolas"/>
                <a:cs typeface="Consolas"/>
                <a:sym typeface="Consolas"/>
              </a:rPr>
              <a:t>Example of a Collective Communication</a:t>
            </a:r>
            <a:endParaRPr lang="en-GB" sz="4000" dirty="0">
              <a:latin typeface="Consolas"/>
              <a:ea typeface="Consolas"/>
              <a:cs typeface="Consolas"/>
              <a:sym typeface="Consolas"/>
            </a:endParaRPr>
          </a:p>
          <a:p>
            <a:pPr lvl="0" algn="l">
              <a:buSzPts val="1100"/>
            </a:pPr>
            <a:r>
              <a:rPr lang="en-GB" sz="4000" dirty="0">
                <a:latin typeface="Consolas"/>
                <a:ea typeface="Consolas"/>
                <a:cs typeface="Consolas"/>
                <a:sym typeface="Consolas"/>
              </a:rPr>
              <a:t>Broadcast Algorithm</a:t>
            </a:r>
            <a:endParaRPr lang="en-GB" sz="4000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8" name="Google Shape;1534;g60be7dcf1c_0_434">
            <a:extLst>
              <a:ext uri="{FF2B5EF4-FFF2-40B4-BE49-F238E27FC236}">
                <a16:creationId xmlns:a16="http://schemas.microsoft.com/office/drawing/2014/main" id="{B493C7AC-913C-B5CD-F9A9-83EC89BC147B}"/>
              </a:ext>
            </a:extLst>
          </p:cNvPr>
          <p:cNvSpPr txBox="1"/>
          <p:nvPr/>
        </p:nvSpPr>
        <p:spPr>
          <a:xfrm>
            <a:off x="884637" y="6103883"/>
            <a:ext cx="7347546" cy="598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US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Realization in </a:t>
            </a:r>
            <a:r>
              <a:rPr lang="en-US" sz="1600" b="1" i="1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collectives algorithm</a:t>
            </a:r>
            <a:r>
              <a:rPr lang="en-US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600" b="1" i="1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pair-wise </a:t>
            </a:r>
            <a:r>
              <a:rPr lang="en-US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matchings! </a:t>
            </a:r>
            <a:endParaRPr lang="de-DE"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B7BE663B-B875-DDC4-ACC8-DFD643CEE2C9}"/>
              </a:ext>
            </a:extLst>
          </p:cNvPr>
          <p:cNvSpPr/>
          <p:nvPr/>
        </p:nvSpPr>
        <p:spPr>
          <a:xfrm>
            <a:off x="3950633" y="2879065"/>
            <a:ext cx="271305" cy="27130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>
            <a:solidFill>
              <a:srgbClr val="8FAA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lang="en-GB" sz="2400">
              <a:solidFill>
                <a:schemeClr val="tx1"/>
              </a:solidFill>
            </a:endParaRPr>
          </a:p>
        </p:txBody>
      </p:sp>
      <p:sp>
        <p:nvSpPr>
          <p:cNvPr id="3" name="Oval 3">
            <a:extLst>
              <a:ext uri="{FF2B5EF4-FFF2-40B4-BE49-F238E27FC236}">
                <a16:creationId xmlns:a16="http://schemas.microsoft.com/office/drawing/2014/main" id="{2F737E9C-729F-6A20-3DA8-6FC7BEE194A3}"/>
              </a:ext>
            </a:extLst>
          </p:cNvPr>
          <p:cNvSpPr/>
          <p:nvPr/>
        </p:nvSpPr>
        <p:spPr>
          <a:xfrm>
            <a:off x="3073662" y="3908302"/>
            <a:ext cx="271305" cy="27130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>
            <a:solidFill>
              <a:srgbClr val="8FAA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lang="en-GB" sz="2400">
              <a:solidFill>
                <a:schemeClr val="tx1"/>
              </a:solidFill>
            </a:endParaRPr>
          </a:p>
        </p:txBody>
      </p:sp>
      <p:sp>
        <p:nvSpPr>
          <p:cNvPr id="4" name="Oval 4">
            <a:extLst>
              <a:ext uri="{FF2B5EF4-FFF2-40B4-BE49-F238E27FC236}">
                <a16:creationId xmlns:a16="http://schemas.microsoft.com/office/drawing/2014/main" id="{6963A751-E80B-40CB-FF29-2B683A764A09}"/>
              </a:ext>
            </a:extLst>
          </p:cNvPr>
          <p:cNvSpPr/>
          <p:nvPr/>
        </p:nvSpPr>
        <p:spPr>
          <a:xfrm>
            <a:off x="2440031" y="5023681"/>
            <a:ext cx="271305" cy="27130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>
            <a:solidFill>
              <a:srgbClr val="8FAA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lang="en-GB" sz="2400">
              <a:solidFill>
                <a:schemeClr val="tx1"/>
              </a:solidFill>
            </a:endParaRPr>
          </a:p>
        </p:txBody>
      </p:sp>
      <p:sp>
        <p:nvSpPr>
          <p:cNvPr id="5" name="Oval 5">
            <a:extLst>
              <a:ext uri="{FF2B5EF4-FFF2-40B4-BE49-F238E27FC236}">
                <a16:creationId xmlns:a16="http://schemas.microsoft.com/office/drawing/2014/main" id="{1241998F-C500-D889-47DC-CF1AEF6E7969}"/>
              </a:ext>
            </a:extLst>
          </p:cNvPr>
          <p:cNvSpPr/>
          <p:nvPr/>
        </p:nvSpPr>
        <p:spPr>
          <a:xfrm>
            <a:off x="3679328" y="5012722"/>
            <a:ext cx="271305" cy="27130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>
            <a:solidFill>
              <a:srgbClr val="8FAA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lang="en-GB" sz="2400">
              <a:solidFill>
                <a:schemeClr val="tx1"/>
              </a:solidFill>
            </a:endParaRPr>
          </a:p>
        </p:txBody>
      </p:sp>
      <p:cxnSp>
        <p:nvCxnSpPr>
          <p:cNvPr id="6" name="Straight Arrow Connector 6">
            <a:extLst>
              <a:ext uri="{FF2B5EF4-FFF2-40B4-BE49-F238E27FC236}">
                <a16:creationId xmlns:a16="http://schemas.microsoft.com/office/drawing/2014/main" id="{76FFA102-77FC-C970-03F5-BA3A01D38491}"/>
              </a:ext>
            </a:extLst>
          </p:cNvPr>
          <p:cNvCxnSpPr>
            <a:cxnSpLocks/>
            <a:stCxn id="2" idx="3"/>
          </p:cNvCxnSpPr>
          <p:nvPr/>
        </p:nvCxnSpPr>
        <p:spPr>
          <a:xfrm flipH="1">
            <a:off x="3344967" y="3110638"/>
            <a:ext cx="645398" cy="77084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7">
            <a:extLst>
              <a:ext uri="{FF2B5EF4-FFF2-40B4-BE49-F238E27FC236}">
                <a16:creationId xmlns:a16="http://schemas.microsoft.com/office/drawing/2014/main" id="{06BEFD16-1797-0DD2-EC7D-62F44E29730C}"/>
              </a:ext>
            </a:extLst>
          </p:cNvPr>
          <p:cNvCxnSpPr>
            <a:cxnSpLocks/>
          </p:cNvCxnSpPr>
          <p:nvPr/>
        </p:nvCxnSpPr>
        <p:spPr>
          <a:xfrm flipH="1">
            <a:off x="2644492" y="4156914"/>
            <a:ext cx="491139" cy="84355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8">
            <a:extLst>
              <a:ext uri="{FF2B5EF4-FFF2-40B4-BE49-F238E27FC236}">
                <a16:creationId xmlns:a16="http://schemas.microsoft.com/office/drawing/2014/main" id="{32B963AD-2DDA-838F-BF52-546C97445247}"/>
              </a:ext>
            </a:extLst>
          </p:cNvPr>
          <p:cNvCxnSpPr>
            <a:cxnSpLocks/>
            <a:stCxn id="3" idx="5"/>
            <a:endCxn id="5" idx="0"/>
          </p:cNvCxnSpPr>
          <p:nvPr/>
        </p:nvCxnSpPr>
        <p:spPr>
          <a:xfrm>
            <a:off x="3305235" y="4139875"/>
            <a:ext cx="509746" cy="87284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9">
            <a:extLst>
              <a:ext uri="{FF2B5EF4-FFF2-40B4-BE49-F238E27FC236}">
                <a16:creationId xmlns:a16="http://schemas.microsoft.com/office/drawing/2014/main" id="{94746F3C-B291-2B9C-5A89-FEA82FE73009}"/>
              </a:ext>
            </a:extLst>
          </p:cNvPr>
          <p:cNvCxnSpPr>
            <a:cxnSpLocks/>
            <a:stCxn id="2" idx="5"/>
          </p:cNvCxnSpPr>
          <p:nvPr/>
        </p:nvCxnSpPr>
        <p:spPr>
          <a:xfrm>
            <a:off x="4182206" y="3110638"/>
            <a:ext cx="679728" cy="77084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0">
            <a:extLst>
              <a:ext uri="{FF2B5EF4-FFF2-40B4-BE49-F238E27FC236}">
                <a16:creationId xmlns:a16="http://schemas.microsoft.com/office/drawing/2014/main" id="{E742FFB6-7199-495D-F439-56FC599FC7FF}"/>
              </a:ext>
            </a:extLst>
          </p:cNvPr>
          <p:cNvSpPr/>
          <p:nvPr/>
        </p:nvSpPr>
        <p:spPr>
          <a:xfrm>
            <a:off x="4861934" y="3908302"/>
            <a:ext cx="271305" cy="27130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>
            <a:solidFill>
              <a:srgbClr val="8FAA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lang="en-GB" sz="2400">
              <a:solidFill>
                <a:schemeClr val="tx1"/>
              </a:solidFill>
            </a:endParaRPr>
          </a:p>
        </p:txBody>
      </p:sp>
      <p:sp>
        <p:nvSpPr>
          <p:cNvPr id="14" name="Oval 11">
            <a:extLst>
              <a:ext uri="{FF2B5EF4-FFF2-40B4-BE49-F238E27FC236}">
                <a16:creationId xmlns:a16="http://schemas.microsoft.com/office/drawing/2014/main" id="{57AF50AA-93B2-5D06-8B61-73179E48E8EB}"/>
              </a:ext>
            </a:extLst>
          </p:cNvPr>
          <p:cNvSpPr/>
          <p:nvPr/>
        </p:nvSpPr>
        <p:spPr>
          <a:xfrm>
            <a:off x="4228303" y="5023681"/>
            <a:ext cx="271305" cy="27130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>
            <a:solidFill>
              <a:srgbClr val="8FAA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lang="en-GB" sz="2400">
              <a:solidFill>
                <a:schemeClr val="tx1"/>
              </a:solidFill>
            </a:endParaRPr>
          </a:p>
        </p:txBody>
      </p:sp>
      <p:sp>
        <p:nvSpPr>
          <p:cNvPr id="15" name="Oval 12">
            <a:extLst>
              <a:ext uri="{FF2B5EF4-FFF2-40B4-BE49-F238E27FC236}">
                <a16:creationId xmlns:a16="http://schemas.microsoft.com/office/drawing/2014/main" id="{BD6733DD-2021-2D77-6AC3-619DE6EC6558}"/>
              </a:ext>
            </a:extLst>
          </p:cNvPr>
          <p:cNvSpPr/>
          <p:nvPr/>
        </p:nvSpPr>
        <p:spPr>
          <a:xfrm>
            <a:off x="5542293" y="5000470"/>
            <a:ext cx="271305" cy="27130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>
            <a:solidFill>
              <a:srgbClr val="8FAA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lang="en-GB" sz="2400">
              <a:solidFill>
                <a:schemeClr val="tx1"/>
              </a:solidFill>
            </a:endParaRPr>
          </a:p>
        </p:txBody>
      </p:sp>
      <p:cxnSp>
        <p:nvCxnSpPr>
          <p:cNvPr id="16" name="Straight Arrow Connector 13">
            <a:extLst>
              <a:ext uri="{FF2B5EF4-FFF2-40B4-BE49-F238E27FC236}">
                <a16:creationId xmlns:a16="http://schemas.microsoft.com/office/drawing/2014/main" id="{D0CBE3B0-3CEE-6FB4-6385-3E8DC9E29D48}"/>
              </a:ext>
            </a:extLst>
          </p:cNvPr>
          <p:cNvCxnSpPr>
            <a:cxnSpLocks/>
          </p:cNvCxnSpPr>
          <p:nvPr/>
        </p:nvCxnSpPr>
        <p:spPr>
          <a:xfrm flipH="1">
            <a:off x="4432764" y="4156914"/>
            <a:ext cx="491139" cy="84355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4">
            <a:extLst>
              <a:ext uri="{FF2B5EF4-FFF2-40B4-BE49-F238E27FC236}">
                <a16:creationId xmlns:a16="http://schemas.microsoft.com/office/drawing/2014/main" id="{AEDE8CF6-99F3-A943-4526-4A62FCA04864}"/>
              </a:ext>
            </a:extLst>
          </p:cNvPr>
          <p:cNvCxnSpPr>
            <a:cxnSpLocks/>
            <a:stCxn id="13" idx="5"/>
          </p:cNvCxnSpPr>
          <p:nvPr/>
        </p:nvCxnSpPr>
        <p:spPr>
          <a:xfrm>
            <a:off x="5093507" y="4139875"/>
            <a:ext cx="478870" cy="83738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6">
            <a:extLst>
              <a:ext uri="{FF2B5EF4-FFF2-40B4-BE49-F238E27FC236}">
                <a16:creationId xmlns:a16="http://schemas.microsoft.com/office/drawing/2014/main" id="{D4E87733-6649-05B7-4106-056437F80A71}"/>
              </a:ext>
            </a:extLst>
          </p:cNvPr>
          <p:cNvGrpSpPr/>
          <p:nvPr/>
        </p:nvGrpSpPr>
        <p:grpSpPr>
          <a:xfrm>
            <a:off x="3073662" y="3042295"/>
            <a:ext cx="509746" cy="270151"/>
            <a:chOff x="4893547" y="3959051"/>
            <a:chExt cx="949905" cy="503422"/>
          </a:xfrm>
        </p:grpSpPr>
        <p:sp>
          <p:nvSpPr>
            <p:cNvPr id="20" name="Rectangle 17">
              <a:extLst>
                <a:ext uri="{FF2B5EF4-FFF2-40B4-BE49-F238E27FC236}">
                  <a16:creationId xmlns:a16="http://schemas.microsoft.com/office/drawing/2014/main" id="{438C1BEC-6028-E237-605E-94A4B77AE380}"/>
                </a:ext>
              </a:extLst>
            </p:cNvPr>
            <p:cNvSpPr/>
            <p:nvPr/>
          </p:nvSpPr>
          <p:spPr>
            <a:xfrm>
              <a:off x="4893547" y="3959051"/>
              <a:ext cx="949905" cy="50342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21" name="Straight Connector 18">
              <a:extLst>
                <a:ext uri="{FF2B5EF4-FFF2-40B4-BE49-F238E27FC236}">
                  <a16:creationId xmlns:a16="http://schemas.microsoft.com/office/drawing/2014/main" id="{2D03C2E3-5D46-790C-5F8A-DF41BDB2D470}"/>
                </a:ext>
              </a:extLst>
            </p:cNvPr>
            <p:cNvCxnSpPr/>
            <p:nvPr/>
          </p:nvCxnSpPr>
          <p:spPr>
            <a:xfrm>
              <a:off x="4893547" y="3959051"/>
              <a:ext cx="251477" cy="23211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19">
              <a:extLst>
                <a:ext uri="{FF2B5EF4-FFF2-40B4-BE49-F238E27FC236}">
                  <a16:creationId xmlns:a16="http://schemas.microsoft.com/office/drawing/2014/main" id="{C71CDF90-BF46-BE08-0938-3756FEDCDC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27370" y="3959051"/>
              <a:ext cx="216082" cy="22115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0">
              <a:extLst>
                <a:ext uri="{FF2B5EF4-FFF2-40B4-BE49-F238E27FC236}">
                  <a16:creationId xmlns:a16="http://schemas.microsoft.com/office/drawing/2014/main" id="{36D58633-50F4-34E2-0C53-F5A083F04ED9}"/>
                </a:ext>
              </a:extLst>
            </p:cNvPr>
            <p:cNvCxnSpPr/>
            <p:nvPr/>
          </p:nvCxnSpPr>
          <p:spPr>
            <a:xfrm>
              <a:off x="5145024" y="4191168"/>
              <a:ext cx="482346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Rectangle 4">
            <a:extLst>
              <a:ext uri="{FF2B5EF4-FFF2-40B4-BE49-F238E27FC236}">
                <a16:creationId xmlns:a16="http://schemas.microsoft.com/office/drawing/2014/main" id="{C1F29284-C27C-7561-325C-BAD8B9649FBB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25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15">
                <a:extLst>
                  <a:ext uri="{FF2B5EF4-FFF2-40B4-BE49-F238E27FC236}">
                    <a16:creationId xmlns:a16="http://schemas.microsoft.com/office/drawing/2014/main" id="{8F0C1061-D91C-C511-A076-0AB5113C1DF0}"/>
                  </a:ext>
                </a:extLst>
              </p:cNvPr>
              <p:cNvSpPr txBox="1"/>
              <p:nvPr/>
            </p:nvSpPr>
            <p:spPr>
              <a:xfrm>
                <a:off x="6489618" y="3572673"/>
                <a:ext cx="1556727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de-DE" sz="440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de-DE" sz="4400" i="1" dirty="0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sz="4400" dirty="0"/>
              </a:p>
            </p:txBody>
          </p:sp>
        </mc:Choice>
        <mc:Fallback xmlns="">
          <p:sp>
            <p:nvSpPr>
              <p:cNvPr id="31" name="TextBox 15">
                <a:extLst>
                  <a:ext uri="{FF2B5EF4-FFF2-40B4-BE49-F238E27FC236}">
                    <a16:creationId xmlns:a16="http://schemas.microsoft.com/office/drawing/2014/main" id="{8F0C1061-D91C-C511-A076-0AB5113C1D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9618" y="3572673"/>
                <a:ext cx="1556727" cy="76944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5231265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4">
          <a:extLst>
            <a:ext uri="{FF2B5EF4-FFF2-40B4-BE49-F238E27FC236}">
              <a16:creationId xmlns:a16="http://schemas.microsoft.com/office/drawing/2014/main" id="{FF0F082D-B420-4364-B885-4EC5F1835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656;g60be7dcf1c_0_555">
            <a:extLst>
              <a:ext uri="{FF2B5EF4-FFF2-40B4-BE49-F238E27FC236}">
                <a16:creationId xmlns:a16="http://schemas.microsoft.com/office/drawing/2014/main" id="{9B40B68B-09AE-E46C-984C-F1F6E1978941}"/>
              </a:ext>
            </a:extLst>
          </p:cNvPr>
          <p:cNvSpPr txBox="1"/>
          <p:nvPr/>
        </p:nvSpPr>
        <p:spPr>
          <a:xfrm>
            <a:off x="0" y="540000"/>
            <a:ext cx="8211000" cy="101893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10" name="Google Shape;1657;g60be7dcf1c_0_555">
            <a:extLst>
              <a:ext uri="{FF2B5EF4-FFF2-40B4-BE49-F238E27FC236}">
                <a16:creationId xmlns:a16="http://schemas.microsoft.com/office/drawing/2014/main" id="{B3CE9278-68D8-67FC-1863-350BF1C5C1C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3075" y="26970"/>
            <a:ext cx="8171100" cy="1573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en-GB" sz="2000" dirty="0"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2000" dirty="0">
                <a:latin typeface="Consolas"/>
                <a:ea typeface="Consolas"/>
                <a:cs typeface="Consolas"/>
                <a:sym typeface="Consolas"/>
              </a:rPr>
              <a:t>Example of a Collective Communication</a:t>
            </a:r>
            <a:endParaRPr lang="en-GB" sz="4000" dirty="0">
              <a:latin typeface="Consolas"/>
              <a:ea typeface="Consolas"/>
              <a:cs typeface="Consolas"/>
              <a:sym typeface="Consolas"/>
            </a:endParaRPr>
          </a:p>
          <a:p>
            <a:pPr lvl="0" algn="l">
              <a:buSzPts val="1100"/>
            </a:pPr>
            <a:r>
              <a:rPr lang="en-GB" sz="4000" dirty="0">
                <a:latin typeface="Consolas"/>
                <a:ea typeface="Consolas"/>
                <a:cs typeface="Consolas"/>
                <a:sym typeface="Consolas"/>
              </a:rPr>
              <a:t>Broadcast Algorithm</a:t>
            </a:r>
            <a:endParaRPr lang="en-GB" sz="4000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8" name="Google Shape;1534;g60be7dcf1c_0_434">
            <a:extLst>
              <a:ext uri="{FF2B5EF4-FFF2-40B4-BE49-F238E27FC236}">
                <a16:creationId xmlns:a16="http://schemas.microsoft.com/office/drawing/2014/main" id="{C874E39E-9C3C-2FF1-DA56-F6148D9398ED}"/>
              </a:ext>
            </a:extLst>
          </p:cNvPr>
          <p:cNvSpPr txBox="1"/>
          <p:nvPr/>
        </p:nvSpPr>
        <p:spPr>
          <a:xfrm>
            <a:off x="884637" y="6103883"/>
            <a:ext cx="7347546" cy="598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US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Realization in </a:t>
            </a:r>
            <a:r>
              <a:rPr lang="en-US" sz="1600" b="1" i="1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collectives algorithm</a:t>
            </a:r>
            <a:r>
              <a:rPr lang="en-US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600" b="1" i="1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pair-wise </a:t>
            </a:r>
            <a:r>
              <a:rPr lang="en-US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matchings! </a:t>
            </a:r>
            <a:endParaRPr lang="de-DE"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C9E93CE-8944-997D-DF77-E0CFE1C3564B}"/>
              </a:ext>
            </a:extLst>
          </p:cNvPr>
          <p:cNvSpPr/>
          <p:nvPr/>
        </p:nvSpPr>
        <p:spPr>
          <a:xfrm>
            <a:off x="3950633" y="2879065"/>
            <a:ext cx="271305" cy="27130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>
            <a:solidFill>
              <a:srgbClr val="8FAA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lang="en-GB" sz="2400">
              <a:solidFill>
                <a:schemeClr val="tx1"/>
              </a:solidFill>
            </a:endParaRPr>
          </a:p>
        </p:txBody>
      </p:sp>
      <p:sp>
        <p:nvSpPr>
          <p:cNvPr id="3" name="Oval 3">
            <a:extLst>
              <a:ext uri="{FF2B5EF4-FFF2-40B4-BE49-F238E27FC236}">
                <a16:creationId xmlns:a16="http://schemas.microsoft.com/office/drawing/2014/main" id="{BA620507-5163-274A-079C-8461F52E9080}"/>
              </a:ext>
            </a:extLst>
          </p:cNvPr>
          <p:cNvSpPr/>
          <p:nvPr/>
        </p:nvSpPr>
        <p:spPr>
          <a:xfrm>
            <a:off x="3073662" y="3908302"/>
            <a:ext cx="271305" cy="27130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>
            <a:solidFill>
              <a:srgbClr val="8FAA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lang="en-GB" sz="2400">
              <a:solidFill>
                <a:schemeClr val="tx1"/>
              </a:solidFill>
            </a:endParaRPr>
          </a:p>
        </p:txBody>
      </p:sp>
      <p:sp>
        <p:nvSpPr>
          <p:cNvPr id="4" name="Oval 4">
            <a:extLst>
              <a:ext uri="{FF2B5EF4-FFF2-40B4-BE49-F238E27FC236}">
                <a16:creationId xmlns:a16="http://schemas.microsoft.com/office/drawing/2014/main" id="{0436A6C7-CB1A-B873-6ECD-3883A402E71C}"/>
              </a:ext>
            </a:extLst>
          </p:cNvPr>
          <p:cNvSpPr/>
          <p:nvPr/>
        </p:nvSpPr>
        <p:spPr>
          <a:xfrm>
            <a:off x="2440031" y="5023681"/>
            <a:ext cx="271305" cy="27130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>
            <a:solidFill>
              <a:srgbClr val="8FAA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lang="en-GB" sz="2400">
              <a:solidFill>
                <a:schemeClr val="tx1"/>
              </a:solidFill>
            </a:endParaRPr>
          </a:p>
        </p:txBody>
      </p:sp>
      <p:sp>
        <p:nvSpPr>
          <p:cNvPr id="5" name="Oval 5">
            <a:extLst>
              <a:ext uri="{FF2B5EF4-FFF2-40B4-BE49-F238E27FC236}">
                <a16:creationId xmlns:a16="http://schemas.microsoft.com/office/drawing/2014/main" id="{AC925A27-6CB7-7327-4B8F-A87C0CA18E60}"/>
              </a:ext>
            </a:extLst>
          </p:cNvPr>
          <p:cNvSpPr/>
          <p:nvPr/>
        </p:nvSpPr>
        <p:spPr>
          <a:xfrm>
            <a:off x="3679328" y="5012722"/>
            <a:ext cx="271305" cy="27130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>
            <a:solidFill>
              <a:srgbClr val="8FAA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lang="en-GB" sz="2400">
              <a:solidFill>
                <a:schemeClr val="tx1"/>
              </a:solidFill>
            </a:endParaRPr>
          </a:p>
        </p:txBody>
      </p:sp>
      <p:cxnSp>
        <p:nvCxnSpPr>
          <p:cNvPr id="6" name="Straight Arrow Connector 6">
            <a:extLst>
              <a:ext uri="{FF2B5EF4-FFF2-40B4-BE49-F238E27FC236}">
                <a16:creationId xmlns:a16="http://schemas.microsoft.com/office/drawing/2014/main" id="{200DA668-D1B1-407A-A746-01A3FCAFBEB7}"/>
              </a:ext>
            </a:extLst>
          </p:cNvPr>
          <p:cNvCxnSpPr>
            <a:cxnSpLocks/>
            <a:stCxn id="2" idx="3"/>
          </p:cNvCxnSpPr>
          <p:nvPr/>
        </p:nvCxnSpPr>
        <p:spPr>
          <a:xfrm flipH="1">
            <a:off x="3344967" y="3110638"/>
            <a:ext cx="645398" cy="77084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7">
            <a:extLst>
              <a:ext uri="{FF2B5EF4-FFF2-40B4-BE49-F238E27FC236}">
                <a16:creationId xmlns:a16="http://schemas.microsoft.com/office/drawing/2014/main" id="{CA57153F-D457-F498-83A7-6974E8040FAF}"/>
              </a:ext>
            </a:extLst>
          </p:cNvPr>
          <p:cNvCxnSpPr>
            <a:cxnSpLocks/>
          </p:cNvCxnSpPr>
          <p:nvPr/>
        </p:nvCxnSpPr>
        <p:spPr>
          <a:xfrm flipH="1">
            <a:off x="2644492" y="4156914"/>
            <a:ext cx="491139" cy="84355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8">
            <a:extLst>
              <a:ext uri="{FF2B5EF4-FFF2-40B4-BE49-F238E27FC236}">
                <a16:creationId xmlns:a16="http://schemas.microsoft.com/office/drawing/2014/main" id="{E86FC190-68FB-A0B0-24B0-59331D7FC92A}"/>
              </a:ext>
            </a:extLst>
          </p:cNvPr>
          <p:cNvCxnSpPr>
            <a:cxnSpLocks/>
            <a:stCxn id="3" idx="5"/>
            <a:endCxn id="5" idx="0"/>
          </p:cNvCxnSpPr>
          <p:nvPr/>
        </p:nvCxnSpPr>
        <p:spPr>
          <a:xfrm>
            <a:off x="3305235" y="4139875"/>
            <a:ext cx="509746" cy="87284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9">
            <a:extLst>
              <a:ext uri="{FF2B5EF4-FFF2-40B4-BE49-F238E27FC236}">
                <a16:creationId xmlns:a16="http://schemas.microsoft.com/office/drawing/2014/main" id="{A2C3EF8E-95E8-8D28-FBA4-9D8AD9DC63B6}"/>
              </a:ext>
            </a:extLst>
          </p:cNvPr>
          <p:cNvCxnSpPr>
            <a:cxnSpLocks/>
            <a:stCxn id="2" idx="5"/>
          </p:cNvCxnSpPr>
          <p:nvPr/>
        </p:nvCxnSpPr>
        <p:spPr>
          <a:xfrm>
            <a:off x="4182206" y="3110638"/>
            <a:ext cx="679728" cy="77084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0">
            <a:extLst>
              <a:ext uri="{FF2B5EF4-FFF2-40B4-BE49-F238E27FC236}">
                <a16:creationId xmlns:a16="http://schemas.microsoft.com/office/drawing/2014/main" id="{3F8B1A13-0715-BB60-53BA-D885CF29798C}"/>
              </a:ext>
            </a:extLst>
          </p:cNvPr>
          <p:cNvSpPr/>
          <p:nvPr/>
        </p:nvSpPr>
        <p:spPr>
          <a:xfrm>
            <a:off x="4861934" y="3908302"/>
            <a:ext cx="271305" cy="27130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>
            <a:solidFill>
              <a:srgbClr val="8FAA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lang="en-GB" sz="2400">
              <a:solidFill>
                <a:schemeClr val="tx1"/>
              </a:solidFill>
            </a:endParaRPr>
          </a:p>
        </p:txBody>
      </p:sp>
      <p:sp>
        <p:nvSpPr>
          <p:cNvPr id="14" name="Oval 11">
            <a:extLst>
              <a:ext uri="{FF2B5EF4-FFF2-40B4-BE49-F238E27FC236}">
                <a16:creationId xmlns:a16="http://schemas.microsoft.com/office/drawing/2014/main" id="{65146857-BF8F-94D2-8AEF-60369A7775E4}"/>
              </a:ext>
            </a:extLst>
          </p:cNvPr>
          <p:cNvSpPr/>
          <p:nvPr/>
        </p:nvSpPr>
        <p:spPr>
          <a:xfrm>
            <a:off x="4228303" y="5023681"/>
            <a:ext cx="271305" cy="27130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>
            <a:solidFill>
              <a:srgbClr val="8FAA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lang="en-GB" sz="2400">
              <a:solidFill>
                <a:schemeClr val="tx1"/>
              </a:solidFill>
            </a:endParaRPr>
          </a:p>
        </p:txBody>
      </p:sp>
      <p:sp>
        <p:nvSpPr>
          <p:cNvPr id="15" name="Oval 12">
            <a:extLst>
              <a:ext uri="{FF2B5EF4-FFF2-40B4-BE49-F238E27FC236}">
                <a16:creationId xmlns:a16="http://schemas.microsoft.com/office/drawing/2014/main" id="{7AAF8B7C-B3B8-81F7-4A55-2B8383A69733}"/>
              </a:ext>
            </a:extLst>
          </p:cNvPr>
          <p:cNvSpPr/>
          <p:nvPr/>
        </p:nvSpPr>
        <p:spPr>
          <a:xfrm>
            <a:off x="5542293" y="5000470"/>
            <a:ext cx="271305" cy="27130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>
            <a:solidFill>
              <a:srgbClr val="8FAA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lang="en-GB" sz="2400">
              <a:solidFill>
                <a:schemeClr val="tx1"/>
              </a:solidFill>
            </a:endParaRPr>
          </a:p>
        </p:txBody>
      </p:sp>
      <p:cxnSp>
        <p:nvCxnSpPr>
          <p:cNvPr id="16" name="Straight Arrow Connector 13">
            <a:extLst>
              <a:ext uri="{FF2B5EF4-FFF2-40B4-BE49-F238E27FC236}">
                <a16:creationId xmlns:a16="http://schemas.microsoft.com/office/drawing/2014/main" id="{A797777C-4B8C-9F5A-916A-56A8233D7DCE}"/>
              </a:ext>
            </a:extLst>
          </p:cNvPr>
          <p:cNvCxnSpPr>
            <a:cxnSpLocks/>
          </p:cNvCxnSpPr>
          <p:nvPr/>
        </p:nvCxnSpPr>
        <p:spPr>
          <a:xfrm flipH="1">
            <a:off x="4432764" y="4156914"/>
            <a:ext cx="491139" cy="84355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4">
            <a:extLst>
              <a:ext uri="{FF2B5EF4-FFF2-40B4-BE49-F238E27FC236}">
                <a16:creationId xmlns:a16="http://schemas.microsoft.com/office/drawing/2014/main" id="{B7F5077A-0048-C276-5422-D31F7CA4061E}"/>
              </a:ext>
            </a:extLst>
          </p:cNvPr>
          <p:cNvCxnSpPr>
            <a:cxnSpLocks/>
            <a:stCxn id="13" idx="5"/>
          </p:cNvCxnSpPr>
          <p:nvPr/>
        </p:nvCxnSpPr>
        <p:spPr>
          <a:xfrm>
            <a:off x="5093507" y="4139875"/>
            <a:ext cx="478870" cy="83738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Group 28">
            <a:extLst>
              <a:ext uri="{FF2B5EF4-FFF2-40B4-BE49-F238E27FC236}">
                <a16:creationId xmlns:a16="http://schemas.microsoft.com/office/drawing/2014/main" id="{E18EE781-D892-3201-D49A-779C1F073C3B}"/>
              </a:ext>
            </a:extLst>
          </p:cNvPr>
          <p:cNvGrpSpPr/>
          <p:nvPr/>
        </p:nvGrpSpPr>
        <p:grpSpPr>
          <a:xfrm>
            <a:off x="2080728" y="4179607"/>
            <a:ext cx="509746" cy="270151"/>
            <a:chOff x="4893547" y="3959051"/>
            <a:chExt cx="949905" cy="503422"/>
          </a:xfrm>
        </p:grpSpPr>
        <p:sp>
          <p:nvSpPr>
            <p:cNvPr id="32" name="Rectangle 29">
              <a:extLst>
                <a:ext uri="{FF2B5EF4-FFF2-40B4-BE49-F238E27FC236}">
                  <a16:creationId xmlns:a16="http://schemas.microsoft.com/office/drawing/2014/main" id="{0C397DE6-1F18-E7B2-BEFF-5B6925E8482D}"/>
                </a:ext>
              </a:extLst>
            </p:cNvPr>
            <p:cNvSpPr/>
            <p:nvPr/>
          </p:nvSpPr>
          <p:spPr>
            <a:xfrm>
              <a:off x="4893547" y="3959051"/>
              <a:ext cx="949905" cy="50342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33" name="Straight Connector 30">
              <a:extLst>
                <a:ext uri="{FF2B5EF4-FFF2-40B4-BE49-F238E27FC236}">
                  <a16:creationId xmlns:a16="http://schemas.microsoft.com/office/drawing/2014/main" id="{3C20623F-891F-7BA4-BB40-AA28E5E8926A}"/>
                </a:ext>
              </a:extLst>
            </p:cNvPr>
            <p:cNvCxnSpPr/>
            <p:nvPr/>
          </p:nvCxnSpPr>
          <p:spPr>
            <a:xfrm>
              <a:off x="4893547" y="3959051"/>
              <a:ext cx="251477" cy="23211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1">
              <a:extLst>
                <a:ext uri="{FF2B5EF4-FFF2-40B4-BE49-F238E27FC236}">
                  <a16:creationId xmlns:a16="http://schemas.microsoft.com/office/drawing/2014/main" id="{90544F4A-3671-F3BA-6FCF-BE043C42EE8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27370" y="3959051"/>
              <a:ext cx="216082" cy="22115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2">
              <a:extLst>
                <a:ext uri="{FF2B5EF4-FFF2-40B4-BE49-F238E27FC236}">
                  <a16:creationId xmlns:a16="http://schemas.microsoft.com/office/drawing/2014/main" id="{3E94BD11-FE62-AEC5-2F58-257BA28993F5}"/>
                </a:ext>
              </a:extLst>
            </p:cNvPr>
            <p:cNvCxnSpPr/>
            <p:nvPr/>
          </p:nvCxnSpPr>
          <p:spPr>
            <a:xfrm>
              <a:off x="5145024" y="4191168"/>
              <a:ext cx="482346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2" name="Group 34">
            <a:extLst>
              <a:ext uri="{FF2B5EF4-FFF2-40B4-BE49-F238E27FC236}">
                <a16:creationId xmlns:a16="http://schemas.microsoft.com/office/drawing/2014/main" id="{6ACEA37B-CB75-6550-B4C4-3019940861A2}"/>
              </a:ext>
            </a:extLst>
          </p:cNvPr>
          <p:cNvGrpSpPr/>
          <p:nvPr/>
        </p:nvGrpSpPr>
        <p:grpSpPr>
          <a:xfrm>
            <a:off x="4635474" y="3053501"/>
            <a:ext cx="509746" cy="270151"/>
            <a:chOff x="4893547" y="3959051"/>
            <a:chExt cx="949905" cy="503422"/>
          </a:xfrm>
        </p:grpSpPr>
        <p:sp>
          <p:nvSpPr>
            <p:cNvPr id="63" name="Rectangle 35">
              <a:extLst>
                <a:ext uri="{FF2B5EF4-FFF2-40B4-BE49-F238E27FC236}">
                  <a16:creationId xmlns:a16="http://schemas.microsoft.com/office/drawing/2014/main" id="{A9856007-56F4-D109-035E-4397CF2D0E96}"/>
                </a:ext>
              </a:extLst>
            </p:cNvPr>
            <p:cNvSpPr/>
            <p:nvPr/>
          </p:nvSpPr>
          <p:spPr>
            <a:xfrm>
              <a:off x="4893547" y="3959051"/>
              <a:ext cx="949905" cy="50342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29" name="Straight Connector 36">
              <a:extLst>
                <a:ext uri="{FF2B5EF4-FFF2-40B4-BE49-F238E27FC236}">
                  <a16:creationId xmlns:a16="http://schemas.microsoft.com/office/drawing/2014/main" id="{D6D9300B-B2E8-9AAE-CB22-07005FE1FA08}"/>
                </a:ext>
              </a:extLst>
            </p:cNvPr>
            <p:cNvCxnSpPr/>
            <p:nvPr/>
          </p:nvCxnSpPr>
          <p:spPr>
            <a:xfrm>
              <a:off x="4893547" y="3959051"/>
              <a:ext cx="251477" cy="23211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37">
              <a:extLst>
                <a:ext uri="{FF2B5EF4-FFF2-40B4-BE49-F238E27FC236}">
                  <a16:creationId xmlns:a16="http://schemas.microsoft.com/office/drawing/2014/main" id="{1EC85DD2-BB68-0E05-D864-444AB04528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27370" y="3959051"/>
              <a:ext cx="216082" cy="22115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38">
              <a:extLst>
                <a:ext uri="{FF2B5EF4-FFF2-40B4-BE49-F238E27FC236}">
                  <a16:creationId xmlns:a16="http://schemas.microsoft.com/office/drawing/2014/main" id="{6E37C416-9542-0FCF-AF03-D538081D3CD0}"/>
                </a:ext>
              </a:extLst>
            </p:cNvPr>
            <p:cNvCxnSpPr/>
            <p:nvPr/>
          </p:nvCxnSpPr>
          <p:spPr>
            <a:xfrm>
              <a:off x="5145024" y="4191168"/>
              <a:ext cx="482346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Rectangle 4">
            <a:extLst>
              <a:ext uri="{FF2B5EF4-FFF2-40B4-BE49-F238E27FC236}">
                <a16:creationId xmlns:a16="http://schemas.microsoft.com/office/drawing/2014/main" id="{7C708C5D-F3B4-783F-32E8-B8162D748535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25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15">
                <a:extLst>
                  <a:ext uri="{FF2B5EF4-FFF2-40B4-BE49-F238E27FC236}">
                    <a16:creationId xmlns:a16="http://schemas.microsoft.com/office/drawing/2014/main" id="{3A65DA3E-25A3-A23F-58B9-E6DDAD1F1CE2}"/>
                  </a:ext>
                </a:extLst>
              </p:cNvPr>
              <p:cNvSpPr txBox="1"/>
              <p:nvPr/>
            </p:nvSpPr>
            <p:spPr>
              <a:xfrm>
                <a:off x="6489618" y="3572673"/>
                <a:ext cx="1556727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de-DE" sz="440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de-DE" sz="4400" i="1" dirty="0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sz="4400" dirty="0"/>
              </a:p>
            </p:txBody>
          </p:sp>
        </mc:Choice>
        <mc:Fallback xmlns="">
          <p:sp>
            <p:nvSpPr>
              <p:cNvPr id="36" name="TextBox 15">
                <a:extLst>
                  <a:ext uri="{FF2B5EF4-FFF2-40B4-BE49-F238E27FC236}">
                    <a16:creationId xmlns:a16="http://schemas.microsoft.com/office/drawing/2014/main" id="{3A65DA3E-25A3-A23F-58B9-E6DDAD1F1C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9618" y="3572673"/>
                <a:ext cx="1556727" cy="76944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5035626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4">
          <a:extLst>
            <a:ext uri="{FF2B5EF4-FFF2-40B4-BE49-F238E27FC236}">
              <a16:creationId xmlns:a16="http://schemas.microsoft.com/office/drawing/2014/main" id="{DCA19DB9-2508-AE98-EF02-55560E4A9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656;g60be7dcf1c_0_555">
            <a:extLst>
              <a:ext uri="{FF2B5EF4-FFF2-40B4-BE49-F238E27FC236}">
                <a16:creationId xmlns:a16="http://schemas.microsoft.com/office/drawing/2014/main" id="{1277D734-2654-6BC9-4C70-22A018C6B7EB}"/>
              </a:ext>
            </a:extLst>
          </p:cNvPr>
          <p:cNvSpPr txBox="1"/>
          <p:nvPr/>
        </p:nvSpPr>
        <p:spPr>
          <a:xfrm>
            <a:off x="0" y="540000"/>
            <a:ext cx="8211000" cy="101893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10" name="Google Shape;1657;g60be7dcf1c_0_555">
            <a:extLst>
              <a:ext uri="{FF2B5EF4-FFF2-40B4-BE49-F238E27FC236}">
                <a16:creationId xmlns:a16="http://schemas.microsoft.com/office/drawing/2014/main" id="{8E5AE096-4810-3069-1643-953B898846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3075" y="26970"/>
            <a:ext cx="8171100" cy="1573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en-GB" sz="2000" dirty="0"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2000" dirty="0">
                <a:latin typeface="Consolas"/>
                <a:ea typeface="Consolas"/>
                <a:cs typeface="Consolas"/>
                <a:sym typeface="Consolas"/>
              </a:rPr>
              <a:t>Example of a Collective Communication</a:t>
            </a:r>
            <a:endParaRPr lang="en-GB" sz="4000" dirty="0">
              <a:latin typeface="Consolas"/>
              <a:ea typeface="Consolas"/>
              <a:cs typeface="Consolas"/>
              <a:sym typeface="Consolas"/>
            </a:endParaRPr>
          </a:p>
          <a:p>
            <a:pPr lvl="0" algn="l">
              <a:buSzPts val="1100"/>
            </a:pPr>
            <a:r>
              <a:rPr lang="en-GB" sz="4000" dirty="0">
                <a:latin typeface="Consolas"/>
                <a:ea typeface="Consolas"/>
                <a:cs typeface="Consolas"/>
                <a:sym typeface="Consolas"/>
              </a:rPr>
              <a:t>Broadcast Algorithm</a:t>
            </a:r>
            <a:endParaRPr lang="en-GB" sz="4000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8" name="Google Shape;1534;g60be7dcf1c_0_434">
            <a:extLst>
              <a:ext uri="{FF2B5EF4-FFF2-40B4-BE49-F238E27FC236}">
                <a16:creationId xmlns:a16="http://schemas.microsoft.com/office/drawing/2014/main" id="{CB8C735F-DD8F-BFC6-FB3A-45E0BCDF9471}"/>
              </a:ext>
            </a:extLst>
          </p:cNvPr>
          <p:cNvSpPr txBox="1"/>
          <p:nvPr/>
        </p:nvSpPr>
        <p:spPr>
          <a:xfrm>
            <a:off x="884637" y="6103883"/>
            <a:ext cx="7347546" cy="598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US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Realization in </a:t>
            </a:r>
            <a:r>
              <a:rPr lang="en-US" sz="1600" b="1" i="1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collectives algorithm</a:t>
            </a:r>
            <a:r>
              <a:rPr lang="en-US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600" b="1" i="1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pair-wise </a:t>
            </a:r>
            <a:r>
              <a:rPr lang="en-US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matchings! </a:t>
            </a:r>
            <a:endParaRPr lang="de-DE"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355E9C36-6D86-0BC6-FABF-D74C1B27A65E}"/>
              </a:ext>
            </a:extLst>
          </p:cNvPr>
          <p:cNvSpPr/>
          <p:nvPr/>
        </p:nvSpPr>
        <p:spPr>
          <a:xfrm>
            <a:off x="3950633" y="2879065"/>
            <a:ext cx="271305" cy="27130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>
            <a:solidFill>
              <a:srgbClr val="8FAA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lang="en-GB" sz="2400">
              <a:solidFill>
                <a:schemeClr val="tx1"/>
              </a:solidFill>
            </a:endParaRPr>
          </a:p>
        </p:txBody>
      </p:sp>
      <p:sp>
        <p:nvSpPr>
          <p:cNvPr id="3" name="Oval 3">
            <a:extLst>
              <a:ext uri="{FF2B5EF4-FFF2-40B4-BE49-F238E27FC236}">
                <a16:creationId xmlns:a16="http://schemas.microsoft.com/office/drawing/2014/main" id="{94695681-D045-E793-35C7-CA5F2346D1ED}"/>
              </a:ext>
            </a:extLst>
          </p:cNvPr>
          <p:cNvSpPr/>
          <p:nvPr/>
        </p:nvSpPr>
        <p:spPr>
          <a:xfrm>
            <a:off x="3073662" y="3908302"/>
            <a:ext cx="271305" cy="27130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>
            <a:solidFill>
              <a:srgbClr val="8FAA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lang="en-GB" sz="2400">
              <a:solidFill>
                <a:schemeClr val="tx1"/>
              </a:solidFill>
            </a:endParaRPr>
          </a:p>
        </p:txBody>
      </p:sp>
      <p:sp>
        <p:nvSpPr>
          <p:cNvPr id="4" name="Oval 4">
            <a:extLst>
              <a:ext uri="{FF2B5EF4-FFF2-40B4-BE49-F238E27FC236}">
                <a16:creationId xmlns:a16="http://schemas.microsoft.com/office/drawing/2014/main" id="{D0F6D5D7-69A9-CB3C-99EA-0B90DF8FB59C}"/>
              </a:ext>
            </a:extLst>
          </p:cNvPr>
          <p:cNvSpPr/>
          <p:nvPr/>
        </p:nvSpPr>
        <p:spPr>
          <a:xfrm>
            <a:off x="2440031" y="5023681"/>
            <a:ext cx="271305" cy="27130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>
            <a:solidFill>
              <a:srgbClr val="8FAA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lang="en-GB" sz="2400">
              <a:solidFill>
                <a:schemeClr val="tx1"/>
              </a:solidFill>
            </a:endParaRPr>
          </a:p>
        </p:txBody>
      </p:sp>
      <p:sp>
        <p:nvSpPr>
          <p:cNvPr id="5" name="Oval 5">
            <a:extLst>
              <a:ext uri="{FF2B5EF4-FFF2-40B4-BE49-F238E27FC236}">
                <a16:creationId xmlns:a16="http://schemas.microsoft.com/office/drawing/2014/main" id="{3D8B565C-A588-40C9-623C-CF8A9C26F494}"/>
              </a:ext>
            </a:extLst>
          </p:cNvPr>
          <p:cNvSpPr/>
          <p:nvPr/>
        </p:nvSpPr>
        <p:spPr>
          <a:xfrm>
            <a:off x="3679328" y="5012722"/>
            <a:ext cx="271305" cy="27130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>
            <a:solidFill>
              <a:srgbClr val="8FAA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lang="en-GB" sz="2400">
              <a:solidFill>
                <a:schemeClr val="tx1"/>
              </a:solidFill>
            </a:endParaRPr>
          </a:p>
        </p:txBody>
      </p:sp>
      <p:cxnSp>
        <p:nvCxnSpPr>
          <p:cNvPr id="6" name="Straight Arrow Connector 6">
            <a:extLst>
              <a:ext uri="{FF2B5EF4-FFF2-40B4-BE49-F238E27FC236}">
                <a16:creationId xmlns:a16="http://schemas.microsoft.com/office/drawing/2014/main" id="{B969A46D-C5E4-B0BA-9E7C-E6DBE1D4D65F}"/>
              </a:ext>
            </a:extLst>
          </p:cNvPr>
          <p:cNvCxnSpPr>
            <a:cxnSpLocks/>
            <a:stCxn id="2" idx="3"/>
          </p:cNvCxnSpPr>
          <p:nvPr/>
        </p:nvCxnSpPr>
        <p:spPr>
          <a:xfrm flipH="1">
            <a:off x="3344967" y="3110638"/>
            <a:ext cx="645398" cy="77084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7">
            <a:extLst>
              <a:ext uri="{FF2B5EF4-FFF2-40B4-BE49-F238E27FC236}">
                <a16:creationId xmlns:a16="http://schemas.microsoft.com/office/drawing/2014/main" id="{3DBAFCFA-93B0-B5F7-92BD-4415F23AE950}"/>
              </a:ext>
            </a:extLst>
          </p:cNvPr>
          <p:cNvCxnSpPr>
            <a:cxnSpLocks/>
          </p:cNvCxnSpPr>
          <p:nvPr/>
        </p:nvCxnSpPr>
        <p:spPr>
          <a:xfrm flipH="1">
            <a:off x="2644492" y="4156914"/>
            <a:ext cx="491139" cy="84355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8">
            <a:extLst>
              <a:ext uri="{FF2B5EF4-FFF2-40B4-BE49-F238E27FC236}">
                <a16:creationId xmlns:a16="http://schemas.microsoft.com/office/drawing/2014/main" id="{70235ABD-6F10-6AFF-BFC1-33BFDC23FA01}"/>
              </a:ext>
            </a:extLst>
          </p:cNvPr>
          <p:cNvCxnSpPr>
            <a:cxnSpLocks/>
            <a:stCxn id="3" idx="5"/>
            <a:endCxn id="5" idx="0"/>
          </p:cNvCxnSpPr>
          <p:nvPr/>
        </p:nvCxnSpPr>
        <p:spPr>
          <a:xfrm>
            <a:off x="3305235" y="4139875"/>
            <a:ext cx="509746" cy="87284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9">
            <a:extLst>
              <a:ext uri="{FF2B5EF4-FFF2-40B4-BE49-F238E27FC236}">
                <a16:creationId xmlns:a16="http://schemas.microsoft.com/office/drawing/2014/main" id="{A230CBEF-D7C9-5D6D-B5F4-7F79FC22B7C1}"/>
              </a:ext>
            </a:extLst>
          </p:cNvPr>
          <p:cNvCxnSpPr>
            <a:cxnSpLocks/>
            <a:stCxn id="2" idx="5"/>
          </p:cNvCxnSpPr>
          <p:nvPr/>
        </p:nvCxnSpPr>
        <p:spPr>
          <a:xfrm>
            <a:off x="4182206" y="3110638"/>
            <a:ext cx="679728" cy="77084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0">
            <a:extLst>
              <a:ext uri="{FF2B5EF4-FFF2-40B4-BE49-F238E27FC236}">
                <a16:creationId xmlns:a16="http://schemas.microsoft.com/office/drawing/2014/main" id="{17D1918C-BEB3-052A-28D7-FCA2EEB6F604}"/>
              </a:ext>
            </a:extLst>
          </p:cNvPr>
          <p:cNvSpPr/>
          <p:nvPr/>
        </p:nvSpPr>
        <p:spPr>
          <a:xfrm>
            <a:off x="4861934" y="3908302"/>
            <a:ext cx="271305" cy="27130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>
            <a:solidFill>
              <a:srgbClr val="8FAA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lang="en-GB" sz="2400">
              <a:solidFill>
                <a:schemeClr val="tx1"/>
              </a:solidFill>
            </a:endParaRPr>
          </a:p>
        </p:txBody>
      </p:sp>
      <p:sp>
        <p:nvSpPr>
          <p:cNvPr id="14" name="Oval 11">
            <a:extLst>
              <a:ext uri="{FF2B5EF4-FFF2-40B4-BE49-F238E27FC236}">
                <a16:creationId xmlns:a16="http://schemas.microsoft.com/office/drawing/2014/main" id="{D0384E86-E62D-F094-CCF3-6046374DF874}"/>
              </a:ext>
            </a:extLst>
          </p:cNvPr>
          <p:cNvSpPr/>
          <p:nvPr/>
        </p:nvSpPr>
        <p:spPr>
          <a:xfrm>
            <a:off x="4228303" y="5023681"/>
            <a:ext cx="271305" cy="27130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>
            <a:solidFill>
              <a:srgbClr val="8FAA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lang="en-GB" sz="2400">
              <a:solidFill>
                <a:schemeClr val="tx1"/>
              </a:solidFill>
            </a:endParaRPr>
          </a:p>
        </p:txBody>
      </p:sp>
      <p:sp>
        <p:nvSpPr>
          <p:cNvPr id="15" name="Oval 12">
            <a:extLst>
              <a:ext uri="{FF2B5EF4-FFF2-40B4-BE49-F238E27FC236}">
                <a16:creationId xmlns:a16="http://schemas.microsoft.com/office/drawing/2014/main" id="{9368D153-4BDD-CBED-3596-26F0751D04F3}"/>
              </a:ext>
            </a:extLst>
          </p:cNvPr>
          <p:cNvSpPr/>
          <p:nvPr/>
        </p:nvSpPr>
        <p:spPr>
          <a:xfrm>
            <a:off x="5542293" y="5000470"/>
            <a:ext cx="271305" cy="27130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>
            <a:solidFill>
              <a:srgbClr val="8FAA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lang="en-GB" sz="2400">
              <a:solidFill>
                <a:schemeClr val="tx1"/>
              </a:solidFill>
            </a:endParaRPr>
          </a:p>
        </p:txBody>
      </p:sp>
      <p:cxnSp>
        <p:nvCxnSpPr>
          <p:cNvPr id="16" name="Straight Arrow Connector 13">
            <a:extLst>
              <a:ext uri="{FF2B5EF4-FFF2-40B4-BE49-F238E27FC236}">
                <a16:creationId xmlns:a16="http://schemas.microsoft.com/office/drawing/2014/main" id="{F98D2BE0-A7D3-E8D6-36DF-202AD92435EB}"/>
              </a:ext>
            </a:extLst>
          </p:cNvPr>
          <p:cNvCxnSpPr>
            <a:cxnSpLocks/>
          </p:cNvCxnSpPr>
          <p:nvPr/>
        </p:nvCxnSpPr>
        <p:spPr>
          <a:xfrm flipH="1">
            <a:off x="4432764" y="4156914"/>
            <a:ext cx="491139" cy="84355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4">
            <a:extLst>
              <a:ext uri="{FF2B5EF4-FFF2-40B4-BE49-F238E27FC236}">
                <a16:creationId xmlns:a16="http://schemas.microsoft.com/office/drawing/2014/main" id="{2E6118BC-1F71-788B-3195-19AA728ED7CB}"/>
              </a:ext>
            </a:extLst>
          </p:cNvPr>
          <p:cNvCxnSpPr>
            <a:cxnSpLocks/>
            <a:stCxn id="13" idx="5"/>
          </p:cNvCxnSpPr>
          <p:nvPr/>
        </p:nvCxnSpPr>
        <p:spPr>
          <a:xfrm>
            <a:off x="5093507" y="4139875"/>
            <a:ext cx="478870" cy="83738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" name="Group 40">
            <a:extLst>
              <a:ext uri="{FF2B5EF4-FFF2-40B4-BE49-F238E27FC236}">
                <a16:creationId xmlns:a16="http://schemas.microsoft.com/office/drawing/2014/main" id="{92776260-8417-AB38-2407-07AB2A375DBA}"/>
              </a:ext>
            </a:extLst>
          </p:cNvPr>
          <p:cNvGrpSpPr/>
          <p:nvPr/>
        </p:nvGrpSpPr>
        <p:grpSpPr>
          <a:xfrm>
            <a:off x="3564814" y="4156914"/>
            <a:ext cx="509746" cy="270151"/>
            <a:chOff x="4893547" y="3959051"/>
            <a:chExt cx="949905" cy="503422"/>
          </a:xfrm>
        </p:grpSpPr>
        <p:sp>
          <p:nvSpPr>
            <p:cNvPr id="44" name="Rectangle 41">
              <a:extLst>
                <a:ext uri="{FF2B5EF4-FFF2-40B4-BE49-F238E27FC236}">
                  <a16:creationId xmlns:a16="http://schemas.microsoft.com/office/drawing/2014/main" id="{AA100550-C5BD-57AA-57CC-9D6C6E97CFEB}"/>
                </a:ext>
              </a:extLst>
            </p:cNvPr>
            <p:cNvSpPr/>
            <p:nvPr/>
          </p:nvSpPr>
          <p:spPr>
            <a:xfrm>
              <a:off x="4893547" y="3959051"/>
              <a:ext cx="949905" cy="50342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45" name="Straight Connector 42">
              <a:extLst>
                <a:ext uri="{FF2B5EF4-FFF2-40B4-BE49-F238E27FC236}">
                  <a16:creationId xmlns:a16="http://schemas.microsoft.com/office/drawing/2014/main" id="{73B6F29C-171A-08DE-B4CD-4E396B6A740E}"/>
                </a:ext>
              </a:extLst>
            </p:cNvPr>
            <p:cNvCxnSpPr/>
            <p:nvPr/>
          </p:nvCxnSpPr>
          <p:spPr>
            <a:xfrm>
              <a:off x="4893547" y="3959051"/>
              <a:ext cx="251477" cy="23211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3">
              <a:extLst>
                <a:ext uri="{FF2B5EF4-FFF2-40B4-BE49-F238E27FC236}">
                  <a16:creationId xmlns:a16="http://schemas.microsoft.com/office/drawing/2014/main" id="{8CDDBB64-87C2-02F4-5890-640E4534A93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27370" y="3959051"/>
              <a:ext cx="216082" cy="22115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4">
              <a:extLst>
                <a:ext uri="{FF2B5EF4-FFF2-40B4-BE49-F238E27FC236}">
                  <a16:creationId xmlns:a16="http://schemas.microsoft.com/office/drawing/2014/main" id="{56E1D7A7-F161-6970-332C-CBEB486BE83E}"/>
                </a:ext>
              </a:extLst>
            </p:cNvPr>
            <p:cNvCxnSpPr/>
            <p:nvPr/>
          </p:nvCxnSpPr>
          <p:spPr>
            <a:xfrm>
              <a:off x="5145024" y="4191168"/>
              <a:ext cx="482346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Group 46">
            <a:extLst>
              <a:ext uri="{FF2B5EF4-FFF2-40B4-BE49-F238E27FC236}">
                <a16:creationId xmlns:a16="http://schemas.microsoft.com/office/drawing/2014/main" id="{08406C3A-1BAC-31F1-2D59-020B314C5F3E}"/>
              </a:ext>
            </a:extLst>
          </p:cNvPr>
          <p:cNvGrpSpPr/>
          <p:nvPr/>
        </p:nvGrpSpPr>
        <p:grpSpPr>
          <a:xfrm>
            <a:off x="4192994" y="4148174"/>
            <a:ext cx="509746" cy="270151"/>
            <a:chOff x="4893547" y="3959051"/>
            <a:chExt cx="949905" cy="503422"/>
          </a:xfrm>
        </p:grpSpPr>
        <p:sp>
          <p:nvSpPr>
            <p:cNvPr id="50" name="Rectangle 47">
              <a:extLst>
                <a:ext uri="{FF2B5EF4-FFF2-40B4-BE49-F238E27FC236}">
                  <a16:creationId xmlns:a16="http://schemas.microsoft.com/office/drawing/2014/main" id="{1758DEED-D2A8-B3B8-4ED0-C41382C5E987}"/>
                </a:ext>
              </a:extLst>
            </p:cNvPr>
            <p:cNvSpPr/>
            <p:nvPr/>
          </p:nvSpPr>
          <p:spPr>
            <a:xfrm>
              <a:off x="4893547" y="3959051"/>
              <a:ext cx="949905" cy="50342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51" name="Straight Connector 48">
              <a:extLst>
                <a:ext uri="{FF2B5EF4-FFF2-40B4-BE49-F238E27FC236}">
                  <a16:creationId xmlns:a16="http://schemas.microsoft.com/office/drawing/2014/main" id="{7FFF413A-F9F7-9D22-1FDF-EB53CC04CCCC}"/>
                </a:ext>
              </a:extLst>
            </p:cNvPr>
            <p:cNvCxnSpPr/>
            <p:nvPr/>
          </p:nvCxnSpPr>
          <p:spPr>
            <a:xfrm>
              <a:off x="4893547" y="3959051"/>
              <a:ext cx="251477" cy="23211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49">
              <a:extLst>
                <a:ext uri="{FF2B5EF4-FFF2-40B4-BE49-F238E27FC236}">
                  <a16:creationId xmlns:a16="http://schemas.microsoft.com/office/drawing/2014/main" id="{3A4F72DE-D8CC-2A21-78F9-A87EFE81A8B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27370" y="3959051"/>
              <a:ext cx="216082" cy="22115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0">
              <a:extLst>
                <a:ext uri="{FF2B5EF4-FFF2-40B4-BE49-F238E27FC236}">
                  <a16:creationId xmlns:a16="http://schemas.microsoft.com/office/drawing/2014/main" id="{B969628B-E298-8C0A-E930-0621D2CF0B21}"/>
                </a:ext>
              </a:extLst>
            </p:cNvPr>
            <p:cNvCxnSpPr/>
            <p:nvPr/>
          </p:nvCxnSpPr>
          <p:spPr>
            <a:xfrm>
              <a:off x="5145024" y="4191168"/>
              <a:ext cx="482346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Rectangle 4">
            <a:extLst>
              <a:ext uri="{FF2B5EF4-FFF2-40B4-BE49-F238E27FC236}">
                <a16:creationId xmlns:a16="http://schemas.microsoft.com/office/drawing/2014/main" id="{0F7C9760-9397-5188-FB52-163F76CDA041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25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15">
                <a:extLst>
                  <a:ext uri="{FF2B5EF4-FFF2-40B4-BE49-F238E27FC236}">
                    <a16:creationId xmlns:a16="http://schemas.microsoft.com/office/drawing/2014/main" id="{E982BBCD-22BF-6C46-429B-1AAF0281FA9F}"/>
                  </a:ext>
                </a:extLst>
              </p:cNvPr>
              <p:cNvSpPr txBox="1"/>
              <p:nvPr/>
            </p:nvSpPr>
            <p:spPr>
              <a:xfrm>
                <a:off x="6489618" y="3572673"/>
                <a:ext cx="1556727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de-DE" sz="440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de-DE" sz="4400" i="1" dirty="0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sz="4400" dirty="0"/>
              </a:p>
            </p:txBody>
          </p:sp>
        </mc:Choice>
        <mc:Fallback xmlns="">
          <p:sp>
            <p:nvSpPr>
              <p:cNvPr id="55" name="TextBox 15">
                <a:extLst>
                  <a:ext uri="{FF2B5EF4-FFF2-40B4-BE49-F238E27FC236}">
                    <a16:creationId xmlns:a16="http://schemas.microsoft.com/office/drawing/2014/main" id="{E982BBCD-22BF-6C46-429B-1AAF0281FA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9618" y="3572673"/>
                <a:ext cx="1556727" cy="76944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405174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4">
          <a:extLst>
            <a:ext uri="{FF2B5EF4-FFF2-40B4-BE49-F238E27FC236}">
              <a16:creationId xmlns:a16="http://schemas.microsoft.com/office/drawing/2014/main" id="{B50BC7FD-49C6-5E38-E3F9-27618BBEA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656;g60be7dcf1c_0_555">
            <a:extLst>
              <a:ext uri="{FF2B5EF4-FFF2-40B4-BE49-F238E27FC236}">
                <a16:creationId xmlns:a16="http://schemas.microsoft.com/office/drawing/2014/main" id="{3D828DBF-2ABF-05CC-6F74-642F952E2BBC}"/>
              </a:ext>
            </a:extLst>
          </p:cNvPr>
          <p:cNvSpPr txBox="1"/>
          <p:nvPr/>
        </p:nvSpPr>
        <p:spPr>
          <a:xfrm>
            <a:off x="0" y="540000"/>
            <a:ext cx="8211000" cy="101893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10" name="Google Shape;1657;g60be7dcf1c_0_555">
            <a:extLst>
              <a:ext uri="{FF2B5EF4-FFF2-40B4-BE49-F238E27FC236}">
                <a16:creationId xmlns:a16="http://schemas.microsoft.com/office/drawing/2014/main" id="{04DD1809-C060-E627-EE96-D9C6CD7F91A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3075" y="26970"/>
            <a:ext cx="8171100" cy="1573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en-GB" sz="2000" dirty="0"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2000" dirty="0">
                <a:latin typeface="Consolas"/>
                <a:ea typeface="Consolas"/>
                <a:cs typeface="Consolas"/>
                <a:sym typeface="Consolas"/>
              </a:rPr>
              <a:t>Example of a Collective Communication</a:t>
            </a:r>
            <a:endParaRPr lang="en-GB" sz="4000" dirty="0">
              <a:latin typeface="Consolas"/>
              <a:ea typeface="Consolas"/>
              <a:cs typeface="Consolas"/>
              <a:sym typeface="Consolas"/>
            </a:endParaRPr>
          </a:p>
          <a:p>
            <a:pPr lvl="0" algn="l">
              <a:buSzPts val="1100"/>
            </a:pPr>
            <a:r>
              <a:rPr lang="en-GB" sz="4000" dirty="0">
                <a:latin typeface="Consolas"/>
                <a:ea typeface="Consolas"/>
                <a:cs typeface="Consolas"/>
                <a:sym typeface="Consolas"/>
              </a:rPr>
              <a:t>Broadcast Algorithm</a:t>
            </a:r>
            <a:endParaRPr lang="en-GB" sz="4000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8" name="Google Shape;1534;g60be7dcf1c_0_434">
            <a:extLst>
              <a:ext uri="{FF2B5EF4-FFF2-40B4-BE49-F238E27FC236}">
                <a16:creationId xmlns:a16="http://schemas.microsoft.com/office/drawing/2014/main" id="{72CA20A6-C34B-24AB-1AFB-FC904EB64E72}"/>
              </a:ext>
            </a:extLst>
          </p:cNvPr>
          <p:cNvSpPr txBox="1"/>
          <p:nvPr/>
        </p:nvSpPr>
        <p:spPr>
          <a:xfrm>
            <a:off x="884637" y="6103883"/>
            <a:ext cx="7347546" cy="598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US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Realization in </a:t>
            </a:r>
            <a:r>
              <a:rPr lang="en-US" sz="1600" b="1" i="1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collectives algorithm</a:t>
            </a:r>
            <a:r>
              <a:rPr lang="en-US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600" b="1" i="1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pair-wise </a:t>
            </a:r>
            <a:r>
              <a:rPr lang="en-US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matchings! </a:t>
            </a:r>
            <a:endParaRPr lang="de-DE"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09C8FB45-CE1A-74BD-0306-718F802FCA4C}"/>
              </a:ext>
            </a:extLst>
          </p:cNvPr>
          <p:cNvSpPr/>
          <p:nvPr/>
        </p:nvSpPr>
        <p:spPr>
          <a:xfrm>
            <a:off x="3950633" y="2879065"/>
            <a:ext cx="271305" cy="27130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>
            <a:solidFill>
              <a:srgbClr val="8FAA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lang="en-GB" sz="2400">
              <a:solidFill>
                <a:schemeClr val="tx1"/>
              </a:solidFill>
            </a:endParaRPr>
          </a:p>
        </p:txBody>
      </p:sp>
      <p:sp>
        <p:nvSpPr>
          <p:cNvPr id="3" name="Oval 3">
            <a:extLst>
              <a:ext uri="{FF2B5EF4-FFF2-40B4-BE49-F238E27FC236}">
                <a16:creationId xmlns:a16="http://schemas.microsoft.com/office/drawing/2014/main" id="{719BC9AF-A08C-1743-09BE-F63642C17C2A}"/>
              </a:ext>
            </a:extLst>
          </p:cNvPr>
          <p:cNvSpPr/>
          <p:nvPr/>
        </p:nvSpPr>
        <p:spPr>
          <a:xfrm>
            <a:off x="3073662" y="3908302"/>
            <a:ext cx="271305" cy="27130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>
            <a:solidFill>
              <a:srgbClr val="8FAA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lang="en-GB" sz="2400">
              <a:solidFill>
                <a:schemeClr val="tx1"/>
              </a:solidFill>
            </a:endParaRPr>
          </a:p>
        </p:txBody>
      </p:sp>
      <p:sp>
        <p:nvSpPr>
          <p:cNvPr id="4" name="Oval 4">
            <a:extLst>
              <a:ext uri="{FF2B5EF4-FFF2-40B4-BE49-F238E27FC236}">
                <a16:creationId xmlns:a16="http://schemas.microsoft.com/office/drawing/2014/main" id="{56AAA2B8-1D7E-85B4-4915-C829C214358B}"/>
              </a:ext>
            </a:extLst>
          </p:cNvPr>
          <p:cNvSpPr/>
          <p:nvPr/>
        </p:nvSpPr>
        <p:spPr>
          <a:xfrm>
            <a:off x="2440031" y="5023681"/>
            <a:ext cx="271305" cy="27130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>
            <a:solidFill>
              <a:srgbClr val="8FAA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lang="en-GB" sz="2400">
              <a:solidFill>
                <a:schemeClr val="tx1"/>
              </a:solidFill>
            </a:endParaRPr>
          </a:p>
        </p:txBody>
      </p:sp>
      <p:sp>
        <p:nvSpPr>
          <p:cNvPr id="5" name="Oval 5">
            <a:extLst>
              <a:ext uri="{FF2B5EF4-FFF2-40B4-BE49-F238E27FC236}">
                <a16:creationId xmlns:a16="http://schemas.microsoft.com/office/drawing/2014/main" id="{25280BAC-5E7A-3BA8-3861-1B1B54521902}"/>
              </a:ext>
            </a:extLst>
          </p:cNvPr>
          <p:cNvSpPr/>
          <p:nvPr/>
        </p:nvSpPr>
        <p:spPr>
          <a:xfrm>
            <a:off x="3679328" y="5012722"/>
            <a:ext cx="271305" cy="27130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>
            <a:solidFill>
              <a:srgbClr val="8FAA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lang="en-GB" sz="2400">
              <a:solidFill>
                <a:schemeClr val="tx1"/>
              </a:solidFill>
            </a:endParaRPr>
          </a:p>
        </p:txBody>
      </p:sp>
      <p:cxnSp>
        <p:nvCxnSpPr>
          <p:cNvPr id="6" name="Straight Arrow Connector 6">
            <a:extLst>
              <a:ext uri="{FF2B5EF4-FFF2-40B4-BE49-F238E27FC236}">
                <a16:creationId xmlns:a16="http://schemas.microsoft.com/office/drawing/2014/main" id="{1487E0B9-115D-8452-B2EB-688AEA8DB951}"/>
              </a:ext>
            </a:extLst>
          </p:cNvPr>
          <p:cNvCxnSpPr>
            <a:cxnSpLocks/>
            <a:stCxn id="2" idx="3"/>
          </p:cNvCxnSpPr>
          <p:nvPr/>
        </p:nvCxnSpPr>
        <p:spPr>
          <a:xfrm flipH="1">
            <a:off x="3344967" y="3110638"/>
            <a:ext cx="645398" cy="77084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7">
            <a:extLst>
              <a:ext uri="{FF2B5EF4-FFF2-40B4-BE49-F238E27FC236}">
                <a16:creationId xmlns:a16="http://schemas.microsoft.com/office/drawing/2014/main" id="{C6118445-110E-A80A-A99B-98437A5B0379}"/>
              </a:ext>
            </a:extLst>
          </p:cNvPr>
          <p:cNvCxnSpPr>
            <a:cxnSpLocks/>
          </p:cNvCxnSpPr>
          <p:nvPr/>
        </p:nvCxnSpPr>
        <p:spPr>
          <a:xfrm flipH="1">
            <a:off x="2644492" y="4156914"/>
            <a:ext cx="491139" cy="84355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8">
            <a:extLst>
              <a:ext uri="{FF2B5EF4-FFF2-40B4-BE49-F238E27FC236}">
                <a16:creationId xmlns:a16="http://schemas.microsoft.com/office/drawing/2014/main" id="{06D86BE8-7FD2-742C-ABCB-0D3B8B9E0256}"/>
              </a:ext>
            </a:extLst>
          </p:cNvPr>
          <p:cNvCxnSpPr>
            <a:cxnSpLocks/>
            <a:stCxn id="3" idx="5"/>
            <a:endCxn id="5" idx="0"/>
          </p:cNvCxnSpPr>
          <p:nvPr/>
        </p:nvCxnSpPr>
        <p:spPr>
          <a:xfrm>
            <a:off x="3305235" y="4139875"/>
            <a:ext cx="509746" cy="87284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9">
            <a:extLst>
              <a:ext uri="{FF2B5EF4-FFF2-40B4-BE49-F238E27FC236}">
                <a16:creationId xmlns:a16="http://schemas.microsoft.com/office/drawing/2014/main" id="{5D7E4B46-23AF-EFB2-6CE4-6EDA91D63C0D}"/>
              </a:ext>
            </a:extLst>
          </p:cNvPr>
          <p:cNvCxnSpPr>
            <a:cxnSpLocks/>
            <a:stCxn id="2" idx="5"/>
          </p:cNvCxnSpPr>
          <p:nvPr/>
        </p:nvCxnSpPr>
        <p:spPr>
          <a:xfrm>
            <a:off x="4182206" y="3110638"/>
            <a:ext cx="679728" cy="77084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0">
            <a:extLst>
              <a:ext uri="{FF2B5EF4-FFF2-40B4-BE49-F238E27FC236}">
                <a16:creationId xmlns:a16="http://schemas.microsoft.com/office/drawing/2014/main" id="{C5ED796B-8F59-B2B7-5D54-4ACD29970724}"/>
              </a:ext>
            </a:extLst>
          </p:cNvPr>
          <p:cNvSpPr/>
          <p:nvPr/>
        </p:nvSpPr>
        <p:spPr>
          <a:xfrm>
            <a:off x="4861934" y="3908302"/>
            <a:ext cx="271305" cy="27130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>
            <a:solidFill>
              <a:srgbClr val="8FAA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lang="en-GB" sz="2400">
              <a:solidFill>
                <a:schemeClr val="tx1"/>
              </a:solidFill>
            </a:endParaRPr>
          </a:p>
        </p:txBody>
      </p:sp>
      <p:sp>
        <p:nvSpPr>
          <p:cNvPr id="14" name="Oval 11">
            <a:extLst>
              <a:ext uri="{FF2B5EF4-FFF2-40B4-BE49-F238E27FC236}">
                <a16:creationId xmlns:a16="http://schemas.microsoft.com/office/drawing/2014/main" id="{A6DCD82A-F540-2FA1-FB39-451E857FD646}"/>
              </a:ext>
            </a:extLst>
          </p:cNvPr>
          <p:cNvSpPr/>
          <p:nvPr/>
        </p:nvSpPr>
        <p:spPr>
          <a:xfrm>
            <a:off x="4228303" y="5023681"/>
            <a:ext cx="271305" cy="27130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>
            <a:solidFill>
              <a:srgbClr val="8FAA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lang="en-GB" sz="2400">
              <a:solidFill>
                <a:schemeClr val="tx1"/>
              </a:solidFill>
            </a:endParaRPr>
          </a:p>
        </p:txBody>
      </p:sp>
      <p:sp>
        <p:nvSpPr>
          <p:cNvPr id="15" name="Oval 12">
            <a:extLst>
              <a:ext uri="{FF2B5EF4-FFF2-40B4-BE49-F238E27FC236}">
                <a16:creationId xmlns:a16="http://schemas.microsoft.com/office/drawing/2014/main" id="{B94B6D16-F142-D480-6DC6-18F9AF427D92}"/>
              </a:ext>
            </a:extLst>
          </p:cNvPr>
          <p:cNvSpPr/>
          <p:nvPr/>
        </p:nvSpPr>
        <p:spPr>
          <a:xfrm>
            <a:off x="5542293" y="5000470"/>
            <a:ext cx="271305" cy="27130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>
            <a:solidFill>
              <a:srgbClr val="8FAA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lang="en-GB" sz="2400">
              <a:solidFill>
                <a:schemeClr val="tx1"/>
              </a:solidFill>
            </a:endParaRPr>
          </a:p>
        </p:txBody>
      </p:sp>
      <p:cxnSp>
        <p:nvCxnSpPr>
          <p:cNvPr id="16" name="Straight Arrow Connector 13">
            <a:extLst>
              <a:ext uri="{FF2B5EF4-FFF2-40B4-BE49-F238E27FC236}">
                <a16:creationId xmlns:a16="http://schemas.microsoft.com/office/drawing/2014/main" id="{289C4538-78AD-3115-C4A7-DCDFBA05B9C0}"/>
              </a:ext>
            </a:extLst>
          </p:cNvPr>
          <p:cNvCxnSpPr>
            <a:cxnSpLocks/>
          </p:cNvCxnSpPr>
          <p:nvPr/>
        </p:nvCxnSpPr>
        <p:spPr>
          <a:xfrm flipH="1">
            <a:off x="4432764" y="4156914"/>
            <a:ext cx="491139" cy="84355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4">
            <a:extLst>
              <a:ext uri="{FF2B5EF4-FFF2-40B4-BE49-F238E27FC236}">
                <a16:creationId xmlns:a16="http://schemas.microsoft.com/office/drawing/2014/main" id="{1C33AB92-76C1-3A26-E6DD-418D7A7CD0BA}"/>
              </a:ext>
            </a:extLst>
          </p:cNvPr>
          <p:cNvCxnSpPr>
            <a:cxnSpLocks/>
            <a:stCxn id="13" idx="5"/>
          </p:cNvCxnSpPr>
          <p:nvPr/>
        </p:nvCxnSpPr>
        <p:spPr>
          <a:xfrm>
            <a:off x="5093507" y="4139875"/>
            <a:ext cx="478870" cy="83738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5" name="Group 52">
            <a:extLst>
              <a:ext uri="{FF2B5EF4-FFF2-40B4-BE49-F238E27FC236}">
                <a16:creationId xmlns:a16="http://schemas.microsoft.com/office/drawing/2014/main" id="{1F09723B-104C-DD09-136B-173AF583C8B6}"/>
              </a:ext>
            </a:extLst>
          </p:cNvPr>
          <p:cNvGrpSpPr/>
          <p:nvPr/>
        </p:nvGrpSpPr>
        <p:grpSpPr>
          <a:xfrm>
            <a:off x="5487108" y="4235249"/>
            <a:ext cx="509746" cy="270151"/>
            <a:chOff x="4893547" y="3959051"/>
            <a:chExt cx="949905" cy="503422"/>
          </a:xfrm>
        </p:grpSpPr>
        <p:sp>
          <p:nvSpPr>
            <p:cNvPr id="56" name="Rectangle 53">
              <a:extLst>
                <a:ext uri="{FF2B5EF4-FFF2-40B4-BE49-F238E27FC236}">
                  <a16:creationId xmlns:a16="http://schemas.microsoft.com/office/drawing/2014/main" id="{2CE554E6-CBB7-322D-82A3-8D4AF7C6BDEE}"/>
                </a:ext>
              </a:extLst>
            </p:cNvPr>
            <p:cNvSpPr/>
            <p:nvPr/>
          </p:nvSpPr>
          <p:spPr>
            <a:xfrm>
              <a:off x="4893547" y="3959051"/>
              <a:ext cx="949905" cy="50342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57" name="Straight Connector 54">
              <a:extLst>
                <a:ext uri="{FF2B5EF4-FFF2-40B4-BE49-F238E27FC236}">
                  <a16:creationId xmlns:a16="http://schemas.microsoft.com/office/drawing/2014/main" id="{F0E0527D-C562-2194-2582-F5973D3497E2}"/>
                </a:ext>
              </a:extLst>
            </p:cNvPr>
            <p:cNvCxnSpPr/>
            <p:nvPr/>
          </p:nvCxnSpPr>
          <p:spPr>
            <a:xfrm>
              <a:off x="4893547" y="3959051"/>
              <a:ext cx="251477" cy="23211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5">
              <a:extLst>
                <a:ext uri="{FF2B5EF4-FFF2-40B4-BE49-F238E27FC236}">
                  <a16:creationId xmlns:a16="http://schemas.microsoft.com/office/drawing/2014/main" id="{2717D147-E35E-D0DD-7B4A-6FAE63EF409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27370" y="3959051"/>
              <a:ext cx="216082" cy="22115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6">
              <a:extLst>
                <a:ext uri="{FF2B5EF4-FFF2-40B4-BE49-F238E27FC236}">
                  <a16:creationId xmlns:a16="http://schemas.microsoft.com/office/drawing/2014/main" id="{714F4529-5C4B-CCAC-D44F-13A1ADC6C63B}"/>
                </a:ext>
              </a:extLst>
            </p:cNvPr>
            <p:cNvCxnSpPr/>
            <p:nvPr/>
          </p:nvCxnSpPr>
          <p:spPr>
            <a:xfrm>
              <a:off x="5145024" y="4191168"/>
              <a:ext cx="482346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1" name="Rectangle 4">
            <a:extLst>
              <a:ext uri="{FF2B5EF4-FFF2-40B4-BE49-F238E27FC236}">
                <a16:creationId xmlns:a16="http://schemas.microsoft.com/office/drawing/2014/main" id="{0CD87ED1-1BE9-66DC-9A9D-E81E516D7779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25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15">
                <a:extLst>
                  <a:ext uri="{FF2B5EF4-FFF2-40B4-BE49-F238E27FC236}">
                    <a16:creationId xmlns:a16="http://schemas.microsoft.com/office/drawing/2014/main" id="{6DACA63A-64F8-BB98-C7D0-AE3CADDFB480}"/>
                  </a:ext>
                </a:extLst>
              </p:cNvPr>
              <p:cNvSpPr txBox="1"/>
              <p:nvPr/>
            </p:nvSpPr>
            <p:spPr>
              <a:xfrm>
                <a:off x="6489618" y="3572673"/>
                <a:ext cx="1556727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de-DE" sz="440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de-DE" sz="4400" i="1" dirty="0" smtClean="0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sz="4400" dirty="0"/>
              </a:p>
            </p:txBody>
          </p:sp>
        </mc:Choice>
        <mc:Fallback xmlns="">
          <p:sp>
            <p:nvSpPr>
              <p:cNvPr id="62" name="TextBox 15">
                <a:extLst>
                  <a:ext uri="{FF2B5EF4-FFF2-40B4-BE49-F238E27FC236}">
                    <a16:creationId xmlns:a16="http://schemas.microsoft.com/office/drawing/2014/main" id="{6DACA63A-64F8-BB98-C7D0-AE3CADDFB4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9618" y="3572673"/>
                <a:ext cx="1556727" cy="76944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074387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4">
          <a:extLst>
            <a:ext uri="{FF2B5EF4-FFF2-40B4-BE49-F238E27FC236}">
              <a16:creationId xmlns:a16="http://schemas.microsoft.com/office/drawing/2014/main" id="{4D427EC3-BB0C-7F67-61E5-EC5F03EB7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656;g60be7dcf1c_0_555">
            <a:extLst>
              <a:ext uri="{FF2B5EF4-FFF2-40B4-BE49-F238E27FC236}">
                <a16:creationId xmlns:a16="http://schemas.microsoft.com/office/drawing/2014/main" id="{6D2048D1-E239-B426-ECCF-89B96CAEAA9F}"/>
              </a:ext>
            </a:extLst>
          </p:cNvPr>
          <p:cNvSpPr txBox="1"/>
          <p:nvPr/>
        </p:nvSpPr>
        <p:spPr>
          <a:xfrm>
            <a:off x="0" y="540000"/>
            <a:ext cx="8211000" cy="101893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10" name="Google Shape;1657;g60be7dcf1c_0_555">
            <a:extLst>
              <a:ext uri="{FF2B5EF4-FFF2-40B4-BE49-F238E27FC236}">
                <a16:creationId xmlns:a16="http://schemas.microsoft.com/office/drawing/2014/main" id="{E42D297B-CD47-771A-79A4-9D9C7DC89F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3075" y="26970"/>
            <a:ext cx="8171100" cy="1573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en-GB" sz="2000" dirty="0"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2000" dirty="0">
                <a:latin typeface="Consolas"/>
                <a:ea typeface="Consolas"/>
                <a:cs typeface="Consolas"/>
                <a:sym typeface="Consolas"/>
              </a:rPr>
              <a:t>Example of a Collective Communication</a:t>
            </a:r>
            <a:endParaRPr lang="en-GB" sz="4000" dirty="0">
              <a:latin typeface="Consolas"/>
              <a:ea typeface="Consolas"/>
              <a:cs typeface="Consolas"/>
              <a:sym typeface="Consolas"/>
            </a:endParaRPr>
          </a:p>
          <a:p>
            <a:pPr lvl="0" algn="l">
              <a:buSzPts val="1100"/>
            </a:pPr>
            <a:r>
              <a:rPr lang="en-GB" sz="4000" dirty="0">
                <a:latin typeface="Consolas"/>
                <a:ea typeface="Consolas"/>
                <a:cs typeface="Consolas"/>
                <a:sym typeface="Consolas"/>
              </a:rPr>
              <a:t>Broadcast Algorithm</a:t>
            </a:r>
            <a:endParaRPr lang="en-GB" sz="4000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8" name="Google Shape;1534;g60be7dcf1c_0_434">
            <a:extLst>
              <a:ext uri="{FF2B5EF4-FFF2-40B4-BE49-F238E27FC236}">
                <a16:creationId xmlns:a16="http://schemas.microsoft.com/office/drawing/2014/main" id="{967DB65F-DB3F-7B21-A812-23897126A1B0}"/>
              </a:ext>
            </a:extLst>
          </p:cNvPr>
          <p:cNvSpPr txBox="1"/>
          <p:nvPr/>
        </p:nvSpPr>
        <p:spPr>
          <a:xfrm>
            <a:off x="884637" y="6103883"/>
            <a:ext cx="7347546" cy="598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US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Realization in </a:t>
            </a:r>
            <a:r>
              <a:rPr lang="en-US" sz="1600" b="1" i="1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collectives algorithm</a:t>
            </a:r>
            <a:r>
              <a:rPr lang="en-US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600" b="1" i="1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pair-wise </a:t>
            </a:r>
            <a:r>
              <a:rPr lang="en-US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matchings! </a:t>
            </a:r>
            <a:endParaRPr lang="de-DE"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586771A4-7363-0410-EFE1-04983EFB06AC}"/>
              </a:ext>
            </a:extLst>
          </p:cNvPr>
          <p:cNvSpPr/>
          <p:nvPr/>
        </p:nvSpPr>
        <p:spPr>
          <a:xfrm>
            <a:off x="3950633" y="2879065"/>
            <a:ext cx="271305" cy="27130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>
            <a:solidFill>
              <a:srgbClr val="8FAA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lang="en-GB" sz="2400">
              <a:solidFill>
                <a:schemeClr val="tx1"/>
              </a:solidFill>
            </a:endParaRPr>
          </a:p>
        </p:txBody>
      </p:sp>
      <p:sp>
        <p:nvSpPr>
          <p:cNvPr id="3" name="Oval 3">
            <a:extLst>
              <a:ext uri="{FF2B5EF4-FFF2-40B4-BE49-F238E27FC236}">
                <a16:creationId xmlns:a16="http://schemas.microsoft.com/office/drawing/2014/main" id="{CDB1DF59-2616-61E1-8CE0-9DB964988B99}"/>
              </a:ext>
            </a:extLst>
          </p:cNvPr>
          <p:cNvSpPr/>
          <p:nvPr/>
        </p:nvSpPr>
        <p:spPr>
          <a:xfrm>
            <a:off x="3073662" y="3908302"/>
            <a:ext cx="271305" cy="27130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>
            <a:solidFill>
              <a:srgbClr val="8FAA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lang="en-GB" sz="2400">
              <a:solidFill>
                <a:schemeClr val="tx1"/>
              </a:solidFill>
            </a:endParaRPr>
          </a:p>
        </p:txBody>
      </p:sp>
      <p:sp>
        <p:nvSpPr>
          <p:cNvPr id="4" name="Oval 4">
            <a:extLst>
              <a:ext uri="{FF2B5EF4-FFF2-40B4-BE49-F238E27FC236}">
                <a16:creationId xmlns:a16="http://schemas.microsoft.com/office/drawing/2014/main" id="{A360167C-B735-6B08-43E4-401F8C324A31}"/>
              </a:ext>
            </a:extLst>
          </p:cNvPr>
          <p:cNvSpPr/>
          <p:nvPr/>
        </p:nvSpPr>
        <p:spPr>
          <a:xfrm>
            <a:off x="2440031" y="5023681"/>
            <a:ext cx="271305" cy="27130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>
            <a:solidFill>
              <a:srgbClr val="8FAA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lang="en-GB" sz="2400">
              <a:solidFill>
                <a:schemeClr val="tx1"/>
              </a:solidFill>
            </a:endParaRPr>
          </a:p>
        </p:txBody>
      </p:sp>
      <p:sp>
        <p:nvSpPr>
          <p:cNvPr id="5" name="Oval 5">
            <a:extLst>
              <a:ext uri="{FF2B5EF4-FFF2-40B4-BE49-F238E27FC236}">
                <a16:creationId xmlns:a16="http://schemas.microsoft.com/office/drawing/2014/main" id="{57388AC3-89D5-F1C9-0B3A-DFF523E9982B}"/>
              </a:ext>
            </a:extLst>
          </p:cNvPr>
          <p:cNvSpPr/>
          <p:nvPr/>
        </p:nvSpPr>
        <p:spPr>
          <a:xfrm>
            <a:off x="3679328" y="5012722"/>
            <a:ext cx="271305" cy="27130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>
            <a:solidFill>
              <a:srgbClr val="8FAA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lang="en-GB" sz="2400">
              <a:solidFill>
                <a:schemeClr val="tx1"/>
              </a:solidFill>
            </a:endParaRPr>
          </a:p>
        </p:txBody>
      </p:sp>
      <p:cxnSp>
        <p:nvCxnSpPr>
          <p:cNvPr id="6" name="Straight Arrow Connector 6">
            <a:extLst>
              <a:ext uri="{FF2B5EF4-FFF2-40B4-BE49-F238E27FC236}">
                <a16:creationId xmlns:a16="http://schemas.microsoft.com/office/drawing/2014/main" id="{347D0B5D-4A56-5182-599C-3C73BA73985E}"/>
              </a:ext>
            </a:extLst>
          </p:cNvPr>
          <p:cNvCxnSpPr>
            <a:cxnSpLocks/>
            <a:stCxn id="2" idx="3"/>
          </p:cNvCxnSpPr>
          <p:nvPr/>
        </p:nvCxnSpPr>
        <p:spPr>
          <a:xfrm flipH="1">
            <a:off x="3344967" y="3110638"/>
            <a:ext cx="645398" cy="77084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7">
            <a:extLst>
              <a:ext uri="{FF2B5EF4-FFF2-40B4-BE49-F238E27FC236}">
                <a16:creationId xmlns:a16="http://schemas.microsoft.com/office/drawing/2014/main" id="{08241C32-38BD-D9FD-C1EF-0EACEA539D08}"/>
              </a:ext>
            </a:extLst>
          </p:cNvPr>
          <p:cNvCxnSpPr>
            <a:cxnSpLocks/>
          </p:cNvCxnSpPr>
          <p:nvPr/>
        </p:nvCxnSpPr>
        <p:spPr>
          <a:xfrm flipH="1">
            <a:off x="2644492" y="4156914"/>
            <a:ext cx="491139" cy="84355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8">
            <a:extLst>
              <a:ext uri="{FF2B5EF4-FFF2-40B4-BE49-F238E27FC236}">
                <a16:creationId xmlns:a16="http://schemas.microsoft.com/office/drawing/2014/main" id="{26F5E521-A2C7-339A-CF93-5B0276AEB893}"/>
              </a:ext>
            </a:extLst>
          </p:cNvPr>
          <p:cNvCxnSpPr>
            <a:cxnSpLocks/>
            <a:stCxn id="3" idx="5"/>
            <a:endCxn id="5" idx="0"/>
          </p:cNvCxnSpPr>
          <p:nvPr/>
        </p:nvCxnSpPr>
        <p:spPr>
          <a:xfrm>
            <a:off x="3305235" y="4139875"/>
            <a:ext cx="509746" cy="87284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9">
            <a:extLst>
              <a:ext uri="{FF2B5EF4-FFF2-40B4-BE49-F238E27FC236}">
                <a16:creationId xmlns:a16="http://schemas.microsoft.com/office/drawing/2014/main" id="{9A391908-9CD3-8020-AC4A-FC3E8A06E41D}"/>
              </a:ext>
            </a:extLst>
          </p:cNvPr>
          <p:cNvCxnSpPr>
            <a:cxnSpLocks/>
            <a:stCxn id="2" idx="5"/>
          </p:cNvCxnSpPr>
          <p:nvPr/>
        </p:nvCxnSpPr>
        <p:spPr>
          <a:xfrm>
            <a:off x="4182206" y="3110638"/>
            <a:ext cx="679728" cy="77084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0">
            <a:extLst>
              <a:ext uri="{FF2B5EF4-FFF2-40B4-BE49-F238E27FC236}">
                <a16:creationId xmlns:a16="http://schemas.microsoft.com/office/drawing/2014/main" id="{07652D8C-942E-9E9B-E43C-6910ACA1F179}"/>
              </a:ext>
            </a:extLst>
          </p:cNvPr>
          <p:cNvSpPr/>
          <p:nvPr/>
        </p:nvSpPr>
        <p:spPr>
          <a:xfrm>
            <a:off x="4861934" y="3908302"/>
            <a:ext cx="271305" cy="27130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>
            <a:solidFill>
              <a:srgbClr val="8FAA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lang="en-GB" sz="2400">
              <a:solidFill>
                <a:schemeClr val="tx1"/>
              </a:solidFill>
            </a:endParaRPr>
          </a:p>
        </p:txBody>
      </p:sp>
      <p:sp>
        <p:nvSpPr>
          <p:cNvPr id="14" name="Oval 11">
            <a:extLst>
              <a:ext uri="{FF2B5EF4-FFF2-40B4-BE49-F238E27FC236}">
                <a16:creationId xmlns:a16="http://schemas.microsoft.com/office/drawing/2014/main" id="{9C77B13E-03EB-081F-E8BD-60C63CA998A9}"/>
              </a:ext>
            </a:extLst>
          </p:cNvPr>
          <p:cNvSpPr/>
          <p:nvPr/>
        </p:nvSpPr>
        <p:spPr>
          <a:xfrm>
            <a:off x="4228303" y="5023681"/>
            <a:ext cx="271305" cy="27130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>
            <a:solidFill>
              <a:srgbClr val="8FAA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lang="en-GB" sz="2400">
              <a:solidFill>
                <a:schemeClr val="tx1"/>
              </a:solidFill>
            </a:endParaRPr>
          </a:p>
        </p:txBody>
      </p:sp>
      <p:sp>
        <p:nvSpPr>
          <p:cNvPr id="15" name="Oval 12">
            <a:extLst>
              <a:ext uri="{FF2B5EF4-FFF2-40B4-BE49-F238E27FC236}">
                <a16:creationId xmlns:a16="http://schemas.microsoft.com/office/drawing/2014/main" id="{324100FB-532B-A237-0510-895D3F56EF85}"/>
              </a:ext>
            </a:extLst>
          </p:cNvPr>
          <p:cNvSpPr/>
          <p:nvPr/>
        </p:nvSpPr>
        <p:spPr>
          <a:xfrm>
            <a:off x="5542293" y="5000470"/>
            <a:ext cx="271305" cy="27130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>
            <a:solidFill>
              <a:srgbClr val="8FAA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lang="en-GB" sz="2400">
              <a:solidFill>
                <a:schemeClr val="tx1"/>
              </a:solidFill>
            </a:endParaRPr>
          </a:p>
        </p:txBody>
      </p:sp>
      <p:cxnSp>
        <p:nvCxnSpPr>
          <p:cNvPr id="16" name="Straight Arrow Connector 13">
            <a:extLst>
              <a:ext uri="{FF2B5EF4-FFF2-40B4-BE49-F238E27FC236}">
                <a16:creationId xmlns:a16="http://schemas.microsoft.com/office/drawing/2014/main" id="{8885FEF6-A535-4E8D-711A-83154767B50F}"/>
              </a:ext>
            </a:extLst>
          </p:cNvPr>
          <p:cNvCxnSpPr>
            <a:cxnSpLocks/>
          </p:cNvCxnSpPr>
          <p:nvPr/>
        </p:nvCxnSpPr>
        <p:spPr>
          <a:xfrm flipH="1">
            <a:off x="4432764" y="4156914"/>
            <a:ext cx="491139" cy="84355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4">
            <a:extLst>
              <a:ext uri="{FF2B5EF4-FFF2-40B4-BE49-F238E27FC236}">
                <a16:creationId xmlns:a16="http://schemas.microsoft.com/office/drawing/2014/main" id="{A830C82C-7E23-4F75-ACB7-FB8B18279BF7}"/>
              </a:ext>
            </a:extLst>
          </p:cNvPr>
          <p:cNvCxnSpPr>
            <a:cxnSpLocks/>
            <a:stCxn id="13" idx="5"/>
          </p:cNvCxnSpPr>
          <p:nvPr/>
        </p:nvCxnSpPr>
        <p:spPr>
          <a:xfrm>
            <a:off x="5093507" y="4139875"/>
            <a:ext cx="478870" cy="83738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5" name="Group 52">
            <a:extLst>
              <a:ext uri="{FF2B5EF4-FFF2-40B4-BE49-F238E27FC236}">
                <a16:creationId xmlns:a16="http://schemas.microsoft.com/office/drawing/2014/main" id="{2F1FB2AC-C123-AE2C-55AB-95D4257538CC}"/>
              </a:ext>
            </a:extLst>
          </p:cNvPr>
          <p:cNvGrpSpPr/>
          <p:nvPr/>
        </p:nvGrpSpPr>
        <p:grpSpPr>
          <a:xfrm>
            <a:off x="5487108" y="4235249"/>
            <a:ext cx="509746" cy="270151"/>
            <a:chOff x="4893547" y="3959051"/>
            <a:chExt cx="949905" cy="503422"/>
          </a:xfrm>
        </p:grpSpPr>
        <p:sp>
          <p:nvSpPr>
            <p:cNvPr id="56" name="Rectangle 53">
              <a:extLst>
                <a:ext uri="{FF2B5EF4-FFF2-40B4-BE49-F238E27FC236}">
                  <a16:creationId xmlns:a16="http://schemas.microsoft.com/office/drawing/2014/main" id="{EBB04579-60FA-6BF0-5E4E-D9A52EEDA49B}"/>
                </a:ext>
              </a:extLst>
            </p:cNvPr>
            <p:cNvSpPr/>
            <p:nvPr/>
          </p:nvSpPr>
          <p:spPr>
            <a:xfrm>
              <a:off x="4893547" y="3959051"/>
              <a:ext cx="949905" cy="50342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57" name="Straight Connector 54">
              <a:extLst>
                <a:ext uri="{FF2B5EF4-FFF2-40B4-BE49-F238E27FC236}">
                  <a16:creationId xmlns:a16="http://schemas.microsoft.com/office/drawing/2014/main" id="{D49CC482-9B69-5087-D302-C475E22E5422}"/>
                </a:ext>
              </a:extLst>
            </p:cNvPr>
            <p:cNvCxnSpPr/>
            <p:nvPr/>
          </p:nvCxnSpPr>
          <p:spPr>
            <a:xfrm>
              <a:off x="4893547" y="3959051"/>
              <a:ext cx="251477" cy="23211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5">
              <a:extLst>
                <a:ext uri="{FF2B5EF4-FFF2-40B4-BE49-F238E27FC236}">
                  <a16:creationId xmlns:a16="http://schemas.microsoft.com/office/drawing/2014/main" id="{679AE656-5962-E7F4-B2E1-8C8922CC4CE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27370" y="3959051"/>
              <a:ext cx="216082" cy="22115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6">
              <a:extLst>
                <a:ext uri="{FF2B5EF4-FFF2-40B4-BE49-F238E27FC236}">
                  <a16:creationId xmlns:a16="http://schemas.microsoft.com/office/drawing/2014/main" id="{5AF17992-C266-F9C6-2834-7364BB711ABB}"/>
                </a:ext>
              </a:extLst>
            </p:cNvPr>
            <p:cNvCxnSpPr/>
            <p:nvPr/>
          </p:nvCxnSpPr>
          <p:spPr>
            <a:xfrm>
              <a:off x="5145024" y="4191168"/>
              <a:ext cx="482346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1" name="Rectangle 4">
            <a:extLst>
              <a:ext uri="{FF2B5EF4-FFF2-40B4-BE49-F238E27FC236}">
                <a16:creationId xmlns:a16="http://schemas.microsoft.com/office/drawing/2014/main" id="{A6AF674F-C598-BCF9-B1CF-B1F8A671995E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25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15">
                <a:extLst>
                  <a:ext uri="{FF2B5EF4-FFF2-40B4-BE49-F238E27FC236}">
                    <a16:creationId xmlns:a16="http://schemas.microsoft.com/office/drawing/2014/main" id="{A1485515-22D7-96F8-F42C-94B4828283FE}"/>
                  </a:ext>
                </a:extLst>
              </p:cNvPr>
              <p:cNvSpPr txBox="1"/>
              <p:nvPr/>
            </p:nvSpPr>
            <p:spPr>
              <a:xfrm>
                <a:off x="6489618" y="3572673"/>
                <a:ext cx="1556727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de-DE" sz="440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de-DE" sz="4400" i="1" dirty="0" smtClean="0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sz="4400" dirty="0"/>
              </a:p>
            </p:txBody>
          </p:sp>
        </mc:Choice>
        <mc:Fallback xmlns="">
          <p:sp>
            <p:nvSpPr>
              <p:cNvPr id="62" name="TextBox 15">
                <a:extLst>
                  <a:ext uri="{FF2B5EF4-FFF2-40B4-BE49-F238E27FC236}">
                    <a16:creationId xmlns:a16="http://schemas.microsoft.com/office/drawing/2014/main" id="{6DACA63A-64F8-BB98-C7D0-AE3CADDFB4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9618" y="3572673"/>
                <a:ext cx="1556727" cy="76944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Google Shape;1729;g60be7dcf1c_0_603">
            <a:extLst>
              <a:ext uri="{FF2B5EF4-FFF2-40B4-BE49-F238E27FC236}">
                <a16:creationId xmlns:a16="http://schemas.microsoft.com/office/drawing/2014/main" id="{20BDFC06-F2CE-3801-A7D1-9C19D45DE06B}"/>
              </a:ext>
            </a:extLst>
          </p:cNvPr>
          <p:cNvSpPr/>
          <p:nvPr/>
        </p:nvSpPr>
        <p:spPr>
          <a:xfrm>
            <a:off x="1023154" y="2162918"/>
            <a:ext cx="1974982" cy="1892276"/>
          </a:xfrm>
          <a:prstGeom prst="ellipse">
            <a:avLst/>
          </a:prstGeom>
          <a:solidFill>
            <a:srgbClr val="93C47D"/>
          </a:solidFill>
          <a:ln w="952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</p:txBody>
      </p:sp>
      <p:sp>
        <p:nvSpPr>
          <p:cNvPr id="20" name="Google Shape;1730;g60be7dcf1c_0_603">
            <a:extLst>
              <a:ext uri="{FF2B5EF4-FFF2-40B4-BE49-F238E27FC236}">
                <a16:creationId xmlns:a16="http://schemas.microsoft.com/office/drawing/2014/main" id="{6D5B76FE-CE60-208E-78AA-F994ABE87D92}"/>
              </a:ext>
            </a:extLst>
          </p:cNvPr>
          <p:cNvSpPr txBox="1"/>
          <p:nvPr/>
        </p:nvSpPr>
        <p:spPr>
          <a:xfrm>
            <a:off x="973075" y="2679553"/>
            <a:ext cx="2042876" cy="669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It’s about matchings! Fits OCS nicely.</a:t>
            </a:r>
          </a:p>
        </p:txBody>
      </p:sp>
    </p:spTree>
    <p:extLst>
      <p:ext uri="{BB962C8B-B14F-4D97-AF65-F5344CB8AC3E}">
        <p14:creationId xmlns:p14="http://schemas.microsoft.com/office/powerpoint/2010/main" val="350953713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4">
          <a:extLst>
            <a:ext uri="{FF2B5EF4-FFF2-40B4-BE49-F238E27FC236}">
              <a16:creationId xmlns:a16="http://schemas.microsoft.com/office/drawing/2014/main" id="{4BA4BCA0-848E-FAD9-4E4C-8D67E0DFE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549;p48">
            <a:extLst>
              <a:ext uri="{FF2B5EF4-FFF2-40B4-BE49-F238E27FC236}">
                <a16:creationId xmlns:a16="http://schemas.microsoft.com/office/drawing/2014/main" id="{851190B6-C43D-CA2B-ABA0-F127C3FA5C31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68589" y="2724143"/>
            <a:ext cx="4158757" cy="3119068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550;p48">
            <a:extLst>
              <a:ext uri="{FF2B5EF4-FFF2-40B4-BE49-F238E27FC236}">
                <a16:creationId xmlns:a16="http://schemas.microsoft.com/office/drawing/2014/main" id="{D3AF365B-8297-8471-E5FA-CBDB9A26BD9E}"/>
              </a:ext>
            </a:extLst>
          </p:cNvPr>
          <p:cNvSpPr/>
          <p:nvPr/>
        </p:nvSpPr>
        <p:spPr>
          <a:xfrm>
            <a:off x="3312867" y="2613542"/>
            <a:ext cx="2259200" cy="33136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/>
          </a:p>
        </p:txBody>
      </p:sp>
      <p:sp>
        <p:nvSpPr>
          <p:cNvPr id="63" name="Rechteckige Legende 1">
            <a:extLst>
              <a:ext uri="{FF2B5EF4-FFF2-40B4-BE49-F238E27FC236}">
                <a16:creationId xmlns:a16="http://schemas.microsoft.com/office/drawing/2014/main" id="{1A31D71D-3434-C28A-30A0-514C9B5A75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9764" y="1747704"/>
            <a:ext cx="1776245" cy="648512"/>
          </a:xfrm>
          <a:prstGeom prst="wedgeRectCallout">
            <a:avLst>
              <a:gd name="adj1" fmla="val -54304"/>
              <a:gd name="adj2" fmla="val 82907"/>
            </a:avLst>
          </a:prstGeom>
          <a:solidFill>
            <a:schemeClr val="accent1">
              <a:lumMod val="20000"/>
              <a:lumOff val="80000"/>
            </a:schemeClr>
          </a:solidFill>
          <a:ln w="25400" algn="ctr">
            <a:solidFill>
              <a:srgbClr val="8FAADC"/>
            </a:solidFill>
            <a:round/>
            <a:headEnd/>
            <a:tailEnd/>
          </a:ln>
        </p:spPr>
        <p:txBody>
          <a:bodyPr wrap="square" lIns="90000" tIns="46800" rIns="90000" bIns="46800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de-DE" altLang="de-DE" sz="1800" dirty="0">
                <a:latin typeface="+mn-lt"/>
              </a:rPr>
              <a:t>Keep </a:t>
            </a:r>
            <a:r>
              <a:rPr lang="de-DE" altLang="de-DE" sz="1800" dirty="0" err="1">
                <a:latin typeface="+mn-lt"/>
              </a:rPr>
              <a:t>helping</a:t>
            </a:r>
            <a:r>
              <a:rPr lang="de-DE" altLang="de-DE" sz="1800" dirty="0">
                <a:latin typeface="+mn-lt"/>
              </a:rPr>
              <a:t> in </a:t>
            </a:r>
            <a:r>
              <a:rPr lang="de-DE" altLang="de-DE" sz="1800" dirty="0" err="1">
                <a:latin typeface="+mn-lt"/>
              </a:rPr>
              <a:t>future</a:t>
            </a:r>
            <a:r>
              <a:rPr lang="de-DE" altLang="de-DE" sz="1800" dirty="0">
                <a:latin typeface="+mn-lt"/>
              </a:rPr>
              <a:t> </a:t>
            </a:r>
            <a:r>
              <a:rPr lang="de-DE" altLang="de-DE" sz="1800" dirty="0" err="1">
                <a:latin typeface="+mn-lt"/>
              </a:rPr>
              <a:t>too</a:t>
            </a:r>
            <a:r>
              <a:rPr lang="de-DE" altLang="de-DE" sz="1800" dirty="0">
                <a:latin typeface="+mn-lt"/>
              </a:rPr>
              <a:t>!</a:t>
            </a:r>
          </a:p>
        </p:txBody>
      </p:sp>
      <p:sp>
        <p:nvSpPr>
          <p:cNvPr id="131" name="Google Shape;1656;g60be7dcf1c_0_555">
            <a:extLst>
              <a:ext uri="{FF2B5EF4-FFF2-40B4-BE49-F238E27FC236}">
                <a16:creationId xmlns:a16="http://schemas.microsoft.com/office/drawing/2014/main" id="{E0E725F5-778E-8FED-290D-F6F881480FE8}"/>
              </a:ext>
            </a:extLst>
          </p:cNvPr>
          <p:cNvSpPr txBox="1"/>
          <p:nvPr/>
        </p:nvSpPr>
        <p:spPr>
          <a:xfrm>
            <a:off x="0" y="540000"/>
            <a:ext cx="8211000" cy="101893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132" name="Google Shape;1657;g60be7dcf1c_0_555">
            <a:extLst>
              <a:ext uri="{FF2B5EF4-FFF2-40B4-BE49-F238E27FC236}">
                <a16:creationId xmlns:a16="http://schemas.microsoft.com/office/drawing/2014/main" id="{83F45C00-3E23-230F-EA0D-0A72D46CAC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3075" y="26970"/>
            <a:ext cx="8171100" cy="1573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en-GB" sz="2000" dirty="0"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2000" dirty="0">
                <a:latin typeface="Consolas"/>
                <a:ea typeface="Consolas"/>
                <a:cs typeface="Consolas"/>
                <a:sym typeface="Consolas"/>
              </a:rPr>
              <a:t>Example of a Collective Communication</a:t>
            </a:r>
            <a:endParaRPr lang="en-GB" sz="4000" dirty="0">
              <a:latin typeface="Consolas"/>
              <a:ea typeface="Consolas"/>
              <a:cs typeface="Consolas"/>
              <a:sym typeface="Consolas"/>
            </a:endParaRPr>
          </a:p>
          <a:p>
            <a:pPr lvl="0" algn="l">
              <a:buSzPts val="1100"/>
            </a:pPr>
            <a:r>
              <a:rPr lang="en-GB" sz="4000" dirty="0">
                <a:latin typeface="Consolas"/>
                <a:ea typeface="Consolas"/>
                <a:cs typeface="Consolas"/>
                <a:sym typeface="Consolas"/>
              </a:rPr>
              <a:t>Broadcast Algorithm</a:t>
            </a:r>
            <a:endParaRPr lang="en-GB" sz="4000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8" name="Google Shape;1534;g60be7dcf1c_0_434">
            <a:extLst>
              <a:ext uri="{FF2B5EF4-FFF2-40B4-BE49-F238E27FC236}">
                <a16:creationId xmlns:a16="http://schemas.microsoft.com/office/drawing/2014/main" id="{7AFD89CA-D7E0-5AE2-B227-43058D8A8CFF}"/>
              </a:ext>
            </a:extLst>
          </p:cNvPr>
          <p:cNvSpPr txBox="1"/>
          <p:nvPr/>
        </p:nvSpPr>
        <p:spPr>
          <a:xfrm>
            <a:off x="1304357" y="3250884"/>
            <a:ext cx="3861298" cy="151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⇀ There are optimizations… </a:t>
            </a:r>
          </a:p>
          <a:p>
            <a:pPr lvl="0">
              <a:lnSpc>
                <a:spcPct val="115000"/>
              </a:lnSpc>
            </a:pPr>
            <a:endParaRPr lang="en-GB" sz="1600" b="1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⇀ E.g., nodes continue helping,    </a:t>
            </a:r>
          </a:p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aka </a:t>
            </a:r>
            <a:r>
              <a:rPr lang="en-US" sz="1600" b="1" i="1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binomial tree</a:t>
            </a:r>
            <a:endParaRPr lang="en-GB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en-GB" sz="1600" b="1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⇀ B</a:t>
            </a:r>
            <a:r>
              <a:rPr lang="en-U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ut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always a </a:t>
            </a:r>
            <a:r>
              <a:rPr lang="en-US" sz="1600" b="1" i="1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matching</a:t>
            </a:r>
            <a:r>
              <a:rPr lang="en-US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! </a:t>
            </a:r>
            <a:endParaRPr lang="de-DE"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3" name="Rectangle 4">
            <a:extLst>
              <a:ext uri="{FF2B5EF4-FFF2-40B4-BE49-F238E27FC236}">
                <a16:creationId xmlns:a16="http://schemas.microsoft.com/office/drawing/2014/main" id="{5AD3B737-D172-3510-EBDC-D7433705D59B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26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752333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4">
          <a:extLst>
            <a:ext uri="{FF2B5EF4-FFF2-40B4-BE49-F238E27FC236}">
              <a16:creationId xmlns:a16="http://schemas.microsoft.com/office/drawing/2014/main" id="{B22BE70B-4F65-D318-D56C-2EFF607F7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656;g60be7dcf1c_0_555">
            <a:extLst>
              <a:ext uri="{FF2B5EF4-FFF2-40B4-BE49-F238E27FC236}">
                <a16:creationId xmlns:a16="http://schemas.microsoft.com/office/drawing/2014/main" id="{915152FD-792A-8ADF-B774-580814407DB5}"/>
              </a:ext>
            </a:extLst>
          </p:cNvPr>
          <p:cNvSpPr txBox="1"/>
          <p:nvPr/>
        </p:nvSpPr>
        <p:spPr>
          <a:xfrm>
            <a:off x="0" y="540000"/>
            <a:ext cx="8211000" cy="101893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10" name="Google Shape;1657;g60be7dcf1c_0_555">
            <a:extLst>
              <a:ext uri="{FF2B5EF4-FFF2-40B4-BE49-F238E27FC236}">
                <a16:creationId xmlns:a16="http://schemas.microsoft.com/office/drawing/2014/main" id="{85B327E1-86C1-2187-B7B1-BA9AE8CF39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3075" y="26970"/>
            <a:ext cx="8171100" cy="1573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en-GB" sz="2000" dirty="0"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2000" dirty="0">
                <a:latin typeface="Consolas"/>
                <a:ea typeface="Consolas"/>
                <a:cs typeface="Consolas"/>
                <a:sym typeface="Consolas"/>
              </a:rPr>
              <a:t>Example of a Collective Communication</a:t>
            </a:r>
            <a:endParaRPr lang="en-GB" sz="40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4000" dirty="0" err="1">
                <a:latin typeface="Consolas"/>
                <a:ea typeface="Consolas"/>
                <a:cs typeface="Consolas"/>
                <a:sym typeface="Consolas"/>
              </a:rPr>
              <a:t>AllReduce</a:t>
            </a:r>
            <a:endParaRPr lang="en-GB" sz="4000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" name="Google Shape;364;p37">
            <a:extLst>
              <a:ext uri="{FF2B5EF4-FFF2-40B4-BE49-F238E27FC236}">
                <a16:creationId xmlns:a16="http://schemas.microsoft.com/office/drawing/2014/main" id="{D6C52957-7C23-1F1E-AD35-C5B0ADBA790D}"/>
              </a:ext>
            </a:extLst>
          </p:cNvPr>
          <p:cNvSpPr/>
          <p:nvPr/>
        </p:nvSpPr>
        <p:spPr>
          <a:xfrm>
            <a:off x="2414937" y="2285928"/>
            <a:ext cx="511600" cy="5116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>
            <a:solidFill>
              <a:srgbClr val="8FAA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400"/>
              <a:t>A</a:t>
            </a:r>
            <a:endParaRPr sz="2400"/>
          </a:p>
        </p:txBody>
      </p:sp>
      <p:sp>
        <p:nvSpPr>
          <p:cNvPr id="3" name="Google Shape;365;p37">
            <a:extLst>
              <a:ext uri="{FF2B5EF4-FFF2-40B4-BE49-F238E27FC236}">
                <a16:creationId xmlns:a16="http://schemas.microsoft.com/office/drawing/2014/main" id="{21129A97-928F-24BE-6283-AB38AEBC2FFE}"/>
              </a:ext>
            </a:extLst>
          </p:cNvPr>
          <p:cNvSpPr/>
          <p:nvPr/>
        </p:nvSpPr>
        <p:spPr>
          <a:xfrm>
            <a:off x="2399438" y="3163879"/>
            <a:ext cx="511600" cy="5116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>
            <a:solidFill>
              <a:srgbClr val="8FAA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400"/>
              <a:t>B</a:t>
            </a:r>
            <a:endParaRPr sz="2400"/>
          </a:p>
        </p:txBody>
      </p:sp>
      <p:sp>
        <p:nvSpPr>
          <p:cNvPr id="4" name="Google Shape;366;p37">
            <a:extLst>
              <a:ext uri="{FF2B5EF4-FFF2-40B4-BE49-F238E27FC236}">
                <a16:creationId xmlns:a16="http://schemas.microsoft.com/office/drawing/2014/main" id="{F8B4C1C3-2342-CF5F-E899-1221D1B826C0}"/>
              </a:ext>
            </a:extLst>
          </p:cNvPr>
          <p:cNvSpPr/>
          <p:nvPr/>
        </p:nvSpPr>
        <p:spPr>
          <a:xfrm>
            <a:off x="2399438" y="4041828"/>
            <a:ext cx="511600" cy="5116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>
            <a:solidFill>
              <a:srgbClr val="8FAA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400"/>
              <a:t>C</a:t>
            </a:r>
            <a:endParaRPr sz="2400"/>
          </a:p>
        </p:txBody>
      </p:sp>
      <p:sp>
        <p:nvSpPr>
          <p:cNvPr id="5" name="Google Shape;367;p37">
            <a:extLst>
              <a:ext uri="{FF2B5EF4-FFF2-40B4-BE49-F238E27FC236}">
                <a16:creationId xmlns:a16="http://schemas.microsoft.com/office/drawing/2014/main" id="{DE75254E-2045-A5CA-6D57-33B873EEB98C}"/>
              </a:ext>
            </a:extLst>
          </p:cNvPr>
          <p:cNvSpPr/>
          <p:nvPr/>
        </p:nvSpPr>
        <p:spPr>
          <a:xfrm>
            <a:off x="2391689" y="4919779"/>
            <a:ext cx="511600" cy="5116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>
            <a:solidFill>
              <a:srgbClr val="8FAA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400"/>
              <a:t>D</a:t>
            </a:r>
            <a:endParaRPr sz="2400"/>
          </a:p>
        </p:txBody>
      </p:sp>
      <p:sp>
        <p:nvSpPr>
          <p:cNvPr id="6" name="Google Shape;368;p37">
            <a:extLst>
              <a:ext uri="{FF2B5EF4-FFF2-40B4-BE49-F238E27FC236}">
                <a16:creationId xmlns:a16="http://schemas.microsoft.com/office/drawing/2014/main" id="{EF789A40-B609-1ADC-865A-D2D37BBAD3B0}"/>
              </a:ext>
            </a:extLst>
          </p:cNvPr>
          <p:cNvSpPr/>
          <p:nvPr/>
        </p:nvSpPr>
        <p:spPr>
          <a:xfrm>
            <a:off x="5884836" y="2285928"/>
            <a:ext cx="511600" cy="5116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>
            <a:solidFill>
              <a:srgbClr val="8FAA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400"/>
              <a:t>A</a:t>
            </a:r>
            <a:endParaRPr sz="2400"/>
          </a:p>
        </p:txBody>
      </p:sp>
      <p:sp>
        <p:nvSpPr>
          <p:cNvPr id="7" name="Google Shape;369;p37">
            <a:extLst>
              <a:ext uri="{FF2B5EF4-FFF2-40B4-BE49-F238E27FC236}">
                <a16:creationId xmlns:a16="http://schemas.microsoft.com/office/drawing/2014/main" id="{B9944A83-DD63-956E-AB7C-31FA2A6E2274}"/>
              </a:ext>
            </a:extLst>
          </p:cNvPr>
          <p:cNvSpPr/>
          <p:nvPr/>
        </p:nvSpPr>
        <p:spPr>
          <a:xfrm>
            <a:off x="5869337" y="3163879"/>
            <a:ext cx="511600" cy="5116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>
            <a:solidFill>
              <a:srgbClr val="8FAA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400"/>
              <a:t>B</a:t>
            </a:r>
            <a:endParaRPr sz="2400"/>
          </a:p>
        </p:txBody>
      </p:sp>
      <p:sp>
        <p:nvSpPr>
          <p:cNvPr id="8" name="Google Shape;370;p37">
            <a:extLst>
              <a:ext uri="{FF2B5EF4-FFF2-40B4-BE49-F238E27FC236}">
                <a16:creationId xmlns:a16="http://schemas.microsoft.com/office/drawing/2014/main" id="{EB80832A-16EA-FAB8-079A-42DADADCD3B0}"/>
              </a:ext>
            </a:extLst>
          </p:cNvPr>
          <p:cNvSpPr/>
          <p:nvPr/>
        </p:nvSpPr>
        <p:spPr>
          <a:xfrm>
            <a:off x="5869337" y="4041828"/>
            <a:ext cx="511600" cy="5116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>
            <a:solidFill>
              <a:srgbClr val="8FAA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400"/>
              <a:t>C</a:t>
            </a:r>
            <a:endParaRPr sz="2400"/>
          </a:p>
        </p:txBody>
      </p:sp>
      <p:sp>
        <p:nvSpPr>
          <p:cNvPr id="11" name="Google Shape;371;p37">
            <a:extLst>
              <a:ext uri="{FF2B5EF4-FFF2-40B4-BE49-F238E27FC236}">
                <a16:creationId xmlns:a16="http://schemas.microsoft.com/office/drawing/2014/main" id="{E1A04BEF-F5D5-BD73-9704-20BD1D5C76FA}"/>
              </a:ext>
            </a:extLst>
          </p:cNvPr>
          <p:cNvSpPr/>
          <p:nvPr/>
        </p:nvSpPr>
        <p:spPr>
          <a:xfrm>
            <a:off x="5861588" y="4919779"/>
            <a:ext cx="511600" cy="5116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>
            <a:solidFill>
              <a:srgbClr val="8FAA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400"/>
              <a:t>D</a:t>
            </a:r>
            <a:endParaRPr sz="2400"/>
          </a:p>
        </p:txBody>
      </p:sp>
      <p:sp>
        <p:nvSpPr>
          <p:cNvPr id="14" name="Google Shape;376;p37">
            <a:extLst>
              <a:ext uri="{FF2B5EF4-FFF2-40B4-BE49-F238E27FC236}">
                <a16:creationId xmlns:a16="http://schemas.microsoft.com/office/drawing/2014/main" id="{6ED252A7-49C5-639A-E2F4-3B7F8AB02E5F}"/>
              </a:ext>
            </a:extLst>
          </p:cNvPr>
          <p:cNvSpPr/>
          <p:nvPr/>
        </p:nvSpPr>
        <p:spPr>
          <a:xfrm>
            <a:off x="3171837" y="3448362"/>
            <a:ext cx="2533200" cy="7636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>
            <a:solidFill>
              <a:srgbClr val="8FAA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400"/>
              <a:t>Reduce</a:t>
            </a:r>
            <a:endParaRPr sz="2400"/>
          </a:p>
        </p:txBody>
      </p:sp>
      <p:sp>
        <p:nvSpPr>
          <p:cNvPr id="15" name="Google Shape;239;p33">
            <a:extLst>
              <a:ext uri="{FF2B5EF4-FFF2-40B4-BE49-F238E27FC236}">
                <a16:creationId xmlns:a16="http://schemas.microsoft.com/office/drawing/2014/main" id="{77CFBE9E-2C2C-40CD-3C19-F1442082AEE0}"/>
              </a:ext>
            </a:extLst>
          </p:cNvPr>
          <p:cNvSpPr/>
          <p:nvPr/>
        </p:nvSpPr>
        <p:spPr>
          <a:xfrm>
            <a:off x="610369" y="2028588"/>
            <a:ext cx="418400" cy="356400"/>
          </a:xfrm>
          <a:prstGeom prst="rect">
            <a:avLst/>
          </a:prstGeom>
          <a:solidFill>
            <a:srgbClr val="C5E0B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400" dirty="0"/>
              <a:t>0</a:t>
            </a:r>
            <a:endParaRPr sz="2400" dirty="0"/>
          </a:p>
        </p:txBody>
      </p:sp>
      <p:sp>
        <p:nvSpPr>
          <p:cNvPr id="16" name="Google Shape;240;p33">
            <a:extLst>
              <a:ext uri="{FF2B5EF4-FFF2-40B4-BE49-F238E27FC236}">
                <a16:creationId xmlns:a16="http://schemas.microsoft.com/office/drawing/2014/main" id="{F9B472CD-9677-AE6F-F451-135B51E8B08B}"/>
              </a:ext>
            </a:extLst>
          </p:cNvPr>
          <p:cNvSpPr/>
          <p:nvPr/>
        </p:nvSpPr>
        <p:spPr>
          <a:xfrm>
            <a:off x="1024518" y="2028588"/>
            <a:ext cx="418400" cy="356400"/>
          </a:xfrm>
          <a:prstGeom prst="rect">
            <a:avLst/>
          </a:prstGeom>
          <a:solidFill>
            <a:srgbClr val="C5E0B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400"/>
              <a:t>1</a:t>
            </a:r>
            <a:endParaRPr sz="2400"/>
          </a:p>
        </p:txBody>
      </p:sp>
      <p:sp>
        <p:nvSpPr>
          <p:cNvPr id="17" name="Google Shape;241;p33">
            <a:extLst>
              <a:ext uri="{FF2B5EF4-FFF2-40B4-BE49-F238E27FC236}">
                <a16:creationId xmlns:a16="http://schemas.microsoft.com/office/drawing/2014/main" id="{1E22B728-4A95-AEB6-42F7-68CE5BCD7920}"/>
              </a:ext>
            </a:extLst>
          </p:cNvPr>
          <p:cNvSpPr/>
          <p:nvPr/>
        </p:nvSpPr>
        <p:spPr>
          <a:xfrm>
            <a:off x="1438667" y="2028588"/>
            <a:ext cx="418400" cy="356400"/>
          </a:xfrm>
          <a:prstGeom prst="rect">
            <a:avLst/>
          </a:prstGeom>
          <a:solidFill>
            <a:srgbClr val="C5E0B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400"/>
              <a:t>2</a:t>
            </a:r>
            <a:endParaRPr sz="2400"/>
          </a:p>
        </p:txBody>
      </p:sp>
      <p:sp>
        <p:nvSpPr>
          <p:cNvPr id="19" name="Google Shape;242;p33">
            <a:extLst>
              <a:ext uri="{FF2B5EF4-FFF2-40B4-BE49-F238E27FC236}">
                <a16:creationId xmlns:a16="http://schemas.microsoft.com/office/drawing/2014/main" id="{FDFFA47B-D01E-B39B-0712-4EC8953051FF}"/>
              </a:ext>
            </a:extLst>
          </p:cNvPr>
          <p:cNvSpPr/>
          <p:nvPr/>
        </p:nvSpPr>
        <p:spPr>
          <a:xfrm>
            <a:off x="1852817" y="2028588"/>
            <a:ext cx="418400" cy="356400"/>
          </a:xfrm>
          <a:prstGeom prst="rect">
            <a:avLst/>
          </a:prstGeom>
          <a:solidFill>
            <a:srgbClr val="C5E0B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400"/>
              <a:t>3</a:t>
            </a:r>
            <a:endParaRPr sz="2400"/>
          </a:p>
        </p:txBody>
      </p:sp>
      <p:sp>
        <p:nvSpPr>
          <p:cNvPr id="20" name="Google Shape;239;p33">
            <a:extLst>
              <a:ext uri="{FF2B5EF4-FFF2-40B4-BE49-F238E27FC236}">
                <a16:creationId xmlns:a16="http://schemas.microsoft.com/office/drawing/2014/main" id="{E8AFC1DA-E9B6-0BB2-0ABE-1980737E7E8D}"/>
              </a:ext>
            </a:extLst>
          </p:cNvPr>
          <p:cNvSpPr/>
          <p:nvPr/>
        </p:nvSpPr>
        <p:spPr>
          <a:xfrm>
            <a:off x="606119" y="2817292"/>
            <a:ext cx="418400" cy="356400"/>
          </a:xfrm>
          <a:prstGeom prst="rect">
            <a:avLst/>
          </a:prstGeom>
          <a:solidFill>
            <a:srgbClr val="F4B18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400" dirty="0"/>
              <a:t>0</a:t>
            </a:r>
            <a:endParaRPr sz="2400" dirty="0"/>
          </a:p>
        </p:txBody>
      </p:sp>
      <p:sp>
        <p:nvSpPr>
          <p:cNvPr id="21" name="Google Shape;240;p33">
            <a:extLst>
              <a:ext uri="{FF2B5EF4-FFF2-40B4-BE49-F238E27FC236}">
                <a16:creationId xmlns:a16="http://schemas.microsoft.com/office/drawing/2014/main" id="{65105FFC-C2E5-1420-1225-38ACE359B2D4}"/>
              </a:ext>
            </a:extLst>
          </p:cNvPr>
          <p:cNvSpPr/>
          <p:nvPr/>
        </p:nvSpPr>
        <p:spPr>
          <a:xfrm>
            <a:off x="1020268" y="2817292"/>
            <a:ext cx="418400" cy="356400"/>
          </a:xfrm>
          <a:prstGeom prst="rect">
            <a:avLst/>
          </a:prstGeom>
          <a:solidFill>
            <a:srgbClr val="F4B18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400" dirty="0"/>
              <a:t>1</a:t>
            </a:r>
            <a:endParaRPr sz="2400" dirty="0"/>
          </a:p>
        </p:txBody>
      </p:sp>
      <p:sp>
        <p:nvSpPr>
          <p:cNvPr id="22" name="Google Shape;241;p33">
            <a:extLst>
              <a:ext uri="{FF2B5EF4-FFF2-40B4-BE49-F238E27FC236}">
                <a16:creationId xmlns:a16="http://schemas.microsoft.com/office/drawing/2014/main" id="{B1CD9C9F-711E-AE9A-B842-67B3DD279C12}"/>
              </a:ext>
            </a:extLst>
          </p:cNvPr>
          <p:cNvSpPr/>
          <p:nvPr/>
        </p:nvSpPr>
        <p:spPr>
          <a:xfrm>
            <a:off x="1434417" y="2817292"/>
            <a:ext cx="418400" cy="356400"/>
          </a:xfrm>
          <a:prstGeom prst="rect">
            <a:avLst/>
          </a:prstGeom>
          <a:solidFill>
            <a:srgbClr val="F4B18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400"/>
              <a:t>2</a:t>
            </a:r>
            <a:endParaRPr sz="2400"/>
          </a:p>
        </p:txBody>
      </p:sp>
      <p:sp>
        <p:nvSpPr>
          <p:cNvPr id="23" name="Google Shape;242;p33">
            <a:extLst>
              <a:ext uri="{FF2B5EF4-FFF2-40B4-BE49-F238E27FC236}">
                <a16:creationId xmlns:a16="http://schemas.microsoft.com/office/drawing/2014/main" id="{1E9447C6-FD8E-32CA-D2C5-CFE67295A284}"/>
              </a:ext>
            </a:extLst>
          </p:cNvPr>
          <p:cNvSpPr/>
          <p:nvPr/>
        </p:nvSpPr>
        <p:spPr>
          <a:xfrm>
            <a:off x="1848567" y="2817292"/>
            <a:ext cx="418400" cy="356400"/>
          </a:xfrm>
          <a:prstGeom prst="rect">
            <a:avLst/>
          </a:prstGeom>
          <a:solidFill>
            <a:srgbClr val="F4B18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400"/>
              <a:t>3</a:t>
            </a:r>
            <a:endParaRPr sz="2400"/>
          </a:p>
        </p:txBody>
      </p:sp>
      <p:sp>
        <p:nvSpPr>
          <p:cNvPr id="24" name="Google Shape;239;p33">
            <a:extLst>
              <a:ext uri="{FF2B5EF4-FFF2-40B4-BE49-F238E27FC236}">
                <a16:creationId xmlns:a16="http://schemas.microsoft.com/office/drawing/2014/main" id="{E6064CDF-C08B-63E8-178C-534649002704}"/>
              </a:ext>
            </a:extLst>
          </p:cNvPr>
          <p:cNvSpPr/>
          <p:nvPr/>
        </p:nvSpPr>
        <p:spPr>
          <a:xfrm>
            <a:off x="615923" y="3709961"/>
            <a:ext cx="418400" cy="356400"/>
          </a:xfrm>
          <a:prstGeom prst="rect">
            <a:avLst/>
          </a:prstGeom>
          <a:solidFill>
            <a:srgbClr val="FFD9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400"/>
              <a:t>0</a:t>
            </a:r>
            <a:endParaRPr sz="2400"/>
          </a:p>
        </p:txBody>
      </p:sp>
      <p:sp>
        <p:nvSpPr>
          <p:cNvPr id="25" name="Google Shape;240;p33">
            <a:extLst>
              <a:ext uri="{FF2B5EF4-FFF2-40B4-BE49-F238E27FC236}">
                <a16:creationId xmlns:a16="http://schemas.microsoft.com/office/drawing/2014/main" id="{AF23C2C6-7D7D-1B6A-0B3A-0D26624849FA}"/>
              </a:ext>
            </a:extLst>
          </p:cNvPr>
          <p:cNvSpPr/>
          <p:nvPr/>
        </p:nvSpPr>
        <p:spPr>
          <a:xfrm>
            <a:off x="1030072" y="3709961"/>
            <a:ext cx="418400" cy="356400"/>
          </a:xfrm>
          <a:prstGeom prst="rect">
            <a:avLst/>
          </a:prstGeom>
          <a:solidFill>
            <a:srgbClr val="FFD9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400"/>
              <a:t>1</a:t>
            </a:r>
            <a:endParaRPr sz="2400"/>
          </a:p>
        </p:txBody>
      </p:sp>
      <p:sp>
        <p:nvSpPr>
          <p:cNvPr id="26" name="Google Shape;241;p33">
            <a:extLst>
              <a:ext uri="{FF2B5EF4-FFF2-40B4-BE49-F238E27FC236}">
                <a16:creationId xmlns:a16="http://schemas.microsoft.com/office/drawing/2014/main" id="{CAEBBFF0-91B4-20ED-1D4F-AD2788BE2A32}"/>
              </a:ext>
            </a:extLst>
          </p:cNvPr>
          <p:cNvSpPr/>
          <p:nvPr/>
        </p:nvSpPr>
        <p:spPr>
          <a:xfrm>
            <a:off x="1444221" y="3709961"/>
            <a:ext cx="418400" cy="356400"/>
          </a:xfrm>
          <a:prstGeom prst="rect">
            <a:avLst/>
          </a:prstGeom>
          <a:solidFill>
            <a:srgbClr val="FFD9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400"/>
              <a:t>2</a:t>
            </a:r>
            <a:endParaRPr sz="2400"/>
          </a:p>
        </p:txBody>
      </p:sp>
      <p:sp>
        <p:nvSpPr>
          <p:cNvPr id="27" name="Google Shape;242;p33">
            <a:extLst>
              <a:ext uri="{FF2B5EF4-FFF2-40B4-BE49-F238E27FC236}">
                <a16:creationId xmlns:a16="http://schemas.microsoft.com/office/drawing/2014/main" id="{94CE24FE-DABA-5AFA-3CBD-6C9A8BE0F366}"/>
              </a:ext>
            </a:extLst>
          </p:cNvPr>
          <p:cNvSpPr/>
          <p:nvPr/>
        </p:nvSpPr>
        <p:spPr>
          <a:xfrm>
            <a:off x="1858371" y="3709961"/>
            <a:ext cx="418400" cy="356400"/>
          </a:xfrm>
          <a:prstGeom prst="rect">
            <a:avLst/>
          </a:prstGeom>
          <a:solidFill>
            <a:srgbClr val="FFD9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400"/>
              <a:t>3</a:t>
            </a:r>
            <a:endParaRPr sz="2400"/>
          </a:p>
        </p:txBody>
      </p:sp>
      <p:sp>
        <p:nvSpPr>
          <p:cNvPr id="28" name="Google Shape;239;p33">
            <a:extLst>
              <a:ext uri="{FF2B5EF4-FFF2-40B4-BE49-F238E27FC236}">
                <a16:creationId xmlns:a16="http://schemas.microsoft.com/office/drawing/2014/main" id="{15748F23-F367-E6BE-670D-1A82FE10615D}"/>
              </a:ext>
            </a:extLst>
          </p:cNvPr>
          <p:cNvSpPr/>
          <p:nvPr/>
        </p:nvSpPr>
        <p:spPr>
          <a:xfrm>
            <a:off x="630105" y="4677701"/>
            <a:ext cx="418400" cy="356400"/>
          </a:xfrm>
          <a:prstGeom prst="rect">
            <a:avLst/>
          </a:prstGeom>
          <a:solidFill>
            <a:srgbClr val="C9C9C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400"/>
              <a:t>0</a:t>
            </a:r>
            <a:endParaRPr sz="2400"/>
          </a:p>
        </p:txBody>
      </p:sp>
      <p:sp>
        <p:nvSpPr>
          <p:cNvPr id="29" name="Google Shape;240;p33">
            <a:extLst>
              <a:ext uri="{FF2B5EF4-FFF2-40B4-BE49-F238E27FC236}">
                <a16:creationId xmlns:a16="http://schemas.microsoft.com/office/drawing/2014/main" id="{3EDFCFD0-3937-F44F-D945-1316E25566D2}"/>
              </a:ext>
            </a:extLst>
          </p:cNvPr>
          <p:cNvSpPr/>
          <p:nvPr/>
        </p:nvSpPr>
        <p:spPr>
          <a:xfrm>
            <a:off x="1044254" y="4677701"/>
            <a:ext cx="418400" cy="356400"/>
          </a:xfrm>
          <a:prstGeom prst="rect">
            <a:avLst/>
          </a:prstGeom>
          <a:solidFill>
            <a:srgbClr val="C9C9C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400"/>
              <a:t>1</a:t>
            </a:r>
            <a:endParaRPr sz="2400"/>
          </a:p>
        </p:txBody>
      </p:sp>
      <p:sp>
        <p:nvSpPr>
          <p:cNvPr id="30" name="Google Shape;241;p33">
            <a:extLst>
              <a:ext uri="{FF2B5EF4-FFF2-40B4-BE49-F238E27FC236}">
                <a16:creationId xmlns:a16="http://schemas.microsoft.com/office/drawing/2014/main" id="{B3CE5036-53E5-BBBC-8D0E-4A13DAD35931}"/>
              </a:ext>
            </a:extLst>
          </p:cNvPr>
          <p:cNvSpPr/>
          <p:nvPr/>
        </p:nvSpPr>
        <p:spPr>
          <a:xfrm>
            <a:off x="1458403" y="4677701"/>
            <a:ext cx="418400" cy="356400"/>
          </a:xfrm>
          <a:prstGeom prst="rect">
            <a:avLst/>
          </a:prstGeom>
          <a:solidFill>
            <a:srgbClr val="C9C9C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400"/>
              <a:t>2</a:t>
            </a:r>
            <a:endParaRPr sz="2400"/>
          </a:p>
        </p:txBody>
      </p:sp>
      <p:sp>
        <p:nvSpPr>
          <p:cNvPr id="31" name="Google Shape;242;p33">
            <a:extLst>
              <a:ext uri="{FF2B5EF4-FFF2-40B4-BE49-F238E27FC236}">
                <a16:creationId xmlns:a16="http://schemas.microsoft.com/office/drawing/2014/main" id="{95667073-F2DF-3A93-124A-5DE794712FFD}"/>
              </a:ext>
            </a:extLst>
          </p:cNvPr>
          <p:cNvSpPr/>
          <p:nvPr/>
        </p:nvSpPr>
        <p:spPr>
          <a:xfrm>
            <a:off x="1872553" y="4677701"/>
            <a:ext cx="418400" cy="356400"/>
          </a:xfrm>
          <a:prstGeom prst="rect">
            <a:avLst/>
          </a:prstGeom>
          <a:solidFill>
            <a:srgbClr val="C9C9C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400" dirty="0"/>
              <a:t>3</a:t>
            </a:r>
            <a:endParaRPr sz="2400" dirty="0"/>
          </a:p>
        </p:txBody>
      </p:sp>
      <p:grpSp>
        <p:nvGrpSpPr>
          <p:cNvPr id="32" name="Group 45">
            <a:extLst>
              <a:ext uri="{FF2B5EF4-FFF2-40B4-BE49-F238E27FC236}">
                <a16:creationId xmlns:a16="http://schemas.microsoft.com/office/drawing/2014/main" id="{EEB6AE93-E83D-6489-3B5F-9529355F65DB}"/>
              </a:ext>
            </a:extLst>
          </p:cNvPr>
          <p:cNvGrpSpPr/>
          <p:nvPr/>
        </p:nvGrpSpPr>
        <p:grpSpPr>
          <a:xfrm>
            <a:off x="6455487" y="1926285"/>
            <a:ext cx="422651" cy="359843"/>
            <a:chOff x="8509465" y="5256388"/>
            <a:chExt cx="422651" cy="359843"/>
          </a:xfrm>
        </p:grpSpPr>
        <p:sp>
          <p:nvSpPr>
            <p:cNvPr id="33" name="Google Shape;299;p35">
              <a:extLst>
                <a:ext uri="{FF2B5EF4-FFF2-40B4-BE49-F238E27FC236}">
                  <a16:creationId xmlns:a16="http://schemas.microsoft.com/office/drawing/2014/main" id="{B4C6D63A-21A4-C6AE-766B-E44F65389912}"/>
                </a:ext>
              </a:extLst>
            </p:cNvPr>
            <p:cNvSpPr/>
            <p:nvPr/>
          </p:nvSpPr>
          <p:spPr>
            <a:xfrm>
              <a:off x="8509465" y="5256388"/>
              <a:ext cx="418400" cy="92851"/>
            </a:xfrm>
            <a:prstGeom prst="rect">
              <a:avLst/>
            </a:prstGeom>
            <a:solidFill>
              <a:srgbClr val="C5E0B4"/>
            </a:solidFill>
            <a:ln w="9525" cap="flat" cmpd="sng">
              <a:solidFill>
                <a:srgbClr val="C5E0B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 dirty="0"/>
            </a:p>
          </p:txBody>
        </p:sp>
        <p:sp>
          <p:nvSpPr>
            <p:cNvPr id="34" name="Google Shape;299;p35">
              <a:extLst>
                <a:ext uri="{FF2B5EF4-FFF2-40B4-BE49-F238E27FC236}">
                  <a16:creationId xmlns:a16="http://schemas.microsoft.com/office/drawing/2014/main" id="{4C7CAB2B-CBBA-EACA-6F25-64913459302E}"/>
                </a:ext>
              </a:extLst>
            </p:cNvPr>
            <p:cNvSpPr/>
            <p:nvPr/>
          </p:nvSpPr>
          <p:spPr>
            <a:xfrm>
              <a:off x="8509465" y="5523380"/>
              <a:ext cx="418400" cy="92851"/>
            </a:xfrm>
            <a:prstGeom prst="rect">
              <a:avLst/>
            </a:prstGeom>
            <a:solidFill>
              <a:srgbClr val="C9C9C9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 b="1" dirty="0"/>
            </a:p>
          </p:txBody>
        </p:sp>
        <p:sp>
          <p:nvSpPr>
            <p:cNvPr id="35" name="Google Shape;299;p35">
              <a:extLst>
                <a:ext uri="{FF2B5EF4-FFF2-40B4-BE49-F238E27FC236}">
                  <a16:creationId xmlns:a16="http://schemas.microsoft.com/office/drawing/2014/main" id="{85CF708F-0E1C-D59D-3353-32C73BD50F5F}"/>
                </a:ext>
              </a:extLst>
            </p:cNvPr>
            <p:cNvSpPr/>
            <p:nvPr/>
          </p:nvSpPr>
          <p:spPr>
            <a:xfrm>
              <a:off x="8509465" y="5349239"/>
              <a:ext cx="418400" cy="92851"/>
            </a:xfrm>
            <a:prstGeom prst="rect">
              <a:avLst/>
            </a:prstGeom>
            <a:solidFill>
              <a:srgbClr val="F4B183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 dirty="0"/>
            </a:p>
          </p:txBody>
        </p:sp>
        <p:sp>
          <p:nvSpPr>
            <p:cNvPr id="36" name="Google Shape;299;p35">
              <a:extLst>
                <a:ext uri="{FF2B5EF4-FFF2-40B4-BE49-F238E27FC236}">
                  <a16:creationId xmlns:a16="http://schemas.microsoft.com/office/drawing/2014/main" id="{985CD71F-5D0D-2864-45EB-50C3CF1D8BFC}"/>
                </a:ext>
              </a:extLst>
            </p:cNvPr>
            <p:cNvSpPr/>
            <p:nvPr/>
          </p:nvSpPr>
          <p:spPr>
            <a:xfrm>
              <a:off x="8509465" y="5442090"/>
              <a:ext cx="418400" cy="92851"/>
            </a:xfrm>
            <a:prstGeom prst="rect">
              <a:avLst/>
            </a:prstGeom>
            <a:solidFill>
              <a:srgbClr val="FFD966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 dirty="0"/>
            </a:p>
          </p:txBody>
        </p:sp>
        <p:sp>
          <p:nvSpPr>
            <p:cNvPr id="37" name="Google Shape;360;p37">
              <a:extLst>
                <a:ext uri="{FF2B5EF4-FFF2-40B4-BE49-F238E27FC236}">
                  <a16:creationId xmlns:a16="http://schemas.microsoft.com/office/drawing/2014/main" id="{33FE2BF6-6B7B-68AA-3A2F-FB1BAEE8DAA3}"/>
                </a:ext>
              </a:extLst>
            </p:cNvPr>
            <p:cNvSpPr/>
            <p:nvPr/>
          </p:nvSpPr>
          <p:spPr>
            <a:xfrm>
              <a:off x="8513716" y="5256389"/>
              <a:ext cx="418400" cy="3564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" sz="2400" dirty="0"/>
                <a:t>0</a:t>
              </a:r>
              <a:endParaRPr sz="2400" dirty="0"/>
            </a:p>
          </p:txBody>
        </p:sp>
      </p:grpSp>
      <p:grpSp>
        <p:nvGrpSpPr>
          <p:cNvPr id="38" name="Group 46">
            <a:extLst>
              <a:ext uri="{FF2B5EF4-FFF2-40B4-BE49-F238E27FC236}">
                <a16:creationId xmlns:a16="http://schemas.microsoft.com/office/drawing/2014/main" id="{371E4115-4CA8-77CE-471F-F8B1ED2F75EC}"/>
              </a:ext>
            </a:extLst>
          </p:cNvPr>
          <p:cNvGrpSpPr/>
          <p:nvPr/>
        </p:nvGrpSpPr>
        <p:grpSpPr>
          <a:xfrm>
            <a:off x="6878138" y="1926286"/>
            <a:ext cx="422651" cy="359843"/>
            <a:chOff x="8509465" y="5256388"/>
            <a:chExt cx="422651" cy="359843"/>
          </a:xfrm>
        </p:grpSpPr>
        <p:sp>
          <p:nvSpPr>
            <p:cNvPr id="39" name="Google Shape;299;p35">
              <a:extLst>
                <a:ext uri="{FF2B5EF4-FFF2-40B4-BE49-F238E27FC236}">
                  <a16:creationId xmlns:a16="http://schemas.microsoft.com/office/drawing/2014/main" id="{D69CA94A-5D79-D5E4-EB12-83C3A2A62140}"/>
                </a:ext>
              </a:extLst>
            </p:cNvPr>
            <p:cNvSpPr/>
            <p:nvPr/>
          </p:nvSpPr>
          <p:spPr>
            <a:xfrm>
              <a:off x="8509465" y="5256388"/>
              <a:ext cx="418400" cy="92851"/>
            </a:xfrm>
            <a:prstGeom prst="rect">
              <a:avLst/>
            </a:prstGeom>
            <a:solidFill>
              <a:srgbClr val="C5E0B4"/>
            </a:solidFill>
            <a:ln w="9525" cap="flat" cmpd="sng">
              <a:solidFill>
                <a:srgbClr val="C5E0B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 dirty="0"/>
            </a:p>
          </p:txBody>
        </p:sp>
        <p:sp>
          <p:nvSpPr>
            <p:cNvPr id="40" name="Google Shape;299;p35">
              <a:extLst>
                <a:ext uri="{FF2B5EF4-FFF2-40B4-BE49-F238E27FC236}">
                  <a16:creationId xmlns:a16="http://schemas.microsoft.com/office/drawing/2014/main" id="{EA162190-0333-022F-D435-D6FC33A2A767}"/>
                </a:ext>
              </a:extLst>
            </p:cNvPr>
            <p:cNvSpPr/>
            <p:nvPr/>
          </p:nvSpPr>
          <p:spPr>
            <a:xfrm>
              <a:off x="8509465" y="5523380"/>
              <a:ext cx="418400" cy="92851"/>
            </a:xfrm>
            <a:prstGeom prst="rect">
              <a:avLst/>
            </a:prstGeom>
            <a:solidFill>
              <a:srgbClr val="C9C9C9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 b="1" dirty="0"/>
            </a:p>
          </p:txBody>
        </p:sp>
        <p:sp>
          <p:nvSpPr>
            <p:cNvPr id="41" name="Google Shape;299;p35">
              <a:extLst>
                <a:ext uri="{FF2B5EF4-FFF2-40B4-BE49-F238E27FC236}">
                  <a16:creationId xmlns:a16="http://schemas.microsoft.com/office/drawing/2014/main" id="{20009A6E-C533-98D2-8283-6D2961F4B379}"/>
                </a:ext>
              </a:extLst>
            </p:cNvPr>
            <p:cNvSpPr/>
            <p:nvPr/>
          </p:nvSpPr>
          <p:spPr>
            <a:xfrm>
              <a:off x="8509465" y="5349239"/>
              <a:ext cx="418400" cy="92851"/>
            </a:xfrm>
            <a:prstGeom prst="rect">
              <a:avLst/>
            </a:prstGeom>
            <a:solidFill>
              <a:srgbClr val="F4B183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 dirty="0"/>
            </a:p>
          </p:txBody>
        </p:sp>
        <p:sp>
          <p:nvSpPr>
            <p:cNvPr id="42" name="Google Shape;299;p35">
              <a:extLst>
                <a:ext uri="{FF2B5EF4-FFF2-40B4-BE49-F238E27FC236}">
                  <a16:creationId xmlns:a16="http://schemas.microsoft.com/office/drawing/2014/main" id="{E3B6D14A-38BF-96DF-D1E5-A5C2F0CE08B2}"/>
                </a:ext>
              </a:extLst>
            </p:cNvPr>
            <p:cNvSpPr/>
            <p:nvPr/>
          </p:nvSpPr>
          <p:spPr>
            <a:xfrm>
              <a:off x="8509465" y="5442090"/>
              <a:ext cx="418400" cy="92851"/>
            </a:xfrm>
            <a:prstGeom prst="rect">
              <a:avLst/>
            </a:prstGeom>
            <a:solidFill>
              <a:srgbClr val="FFD966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 dirty="0"/>
            </a:p>
          </p:txBody>
        </p:sp>
        <p:sp>
          <p:nvSpPr>
            <p:cNvPr id="43" name="Google Shape;360;p37">
              <a:extLst>
                <a:ext uri="{FF2B5EF4-FFF2-40B4-BE49-F238E27FC236}">
                  <a16:creationId xmlns:a16="http://schemas.microsoft.com/office/drawing/2014/main" id="{6D26BE78-E6DB-AB0A-5BC2-6ABB1BFF011B}"/>
                </a:ext>
              </a:extLst>
            </p:cNvPr>
            <p:cNvSpPr/>
            <p:nvPr/>
          </p:nvSpPr>
          <p:spPr>
            <a:xfrm>
              <a:off x="8513716" y="5256389"/>
              <a:ext cx="418400" cy="3564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" sz="2400" dirty="0"/>
                <a:t>1</a:t>
              </a:r>
              <a:endParaRPr sz="2400" dirty="0"/>
            </a:p>
          </p:txBody>
        </p:sp>
      </p:grpSp>
      <p:grpSp>
        <p:nvGrpSpPr>
          <p:cNvPr id="44" name="Group 52">
            <a:extLst>
              <a:ext uri="{FF2B5EF4-FFF2-40B4-BE49-F238E27FC236}">
                <a16:creationId xmlns:a16="http://schemas.microsoft.com/office/drawing/2014/main" id="{97671DF1-3560-A5DE-BB2D-5F392623618B}"/>
              </a:ext>
            </a:extLst>
          </p:cNvPr>
          <p:cNvGrpSpPr/>
          <p:nvPr/>
        </p:nvGrpSpPr>
        <p:grpSpPr>
          <a:xfrm>
            <a:off x="7300789" y="1926286"/>
            <a:ext cx="422651" cy="359843"/>
            <a:chOff x="8509465" y="5256388"/>
            <a:chExt cx="422651" cy="359843"/>
          </a:xfrm>
        </p:grpSpPr>
        <p:sp>
          <p:nvSpPr>
            <p:cNvPr id="45" name="Google Shape;299;p35">
              <a:extLst>
                <a:ext uri="{FF2B5EF4-FFF2-40B4-BE49-F238E27FC236}">
                  <a16:creationId xmlns:a16="http://schemas.microsoft.com/office/drawing/2014/main" id="{EA9F00C8-D9F9-0F43-F61F-AED4AFA8BD35}"/>
                </a:ext>
              </a:extLst>
            </p:cNvPr>
            <p:cNvSpPr/>
            <p:nvPr/>
          </p:nvSpPr>
          <p:spPr>
            <a:xfrm>
              <a:off x="8509465" y="5256388"/>
              <a:ext cx="418400" cy="92851"/>
            </a:xfrm>
            <a:prstGeom prst="rect">
              <a:avLst/>
            </a:prstGeom>
            <a:solidFill>
              <a:srgbClr val="C5E0B4"/>
            </a:solidFill>
            <a:ln w="9525" cap="flat" cmpd="sng">
              <a:solidFill>
                <a:srgbClr val="C5E0B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 dirty="0"/>
            </a:p>
          </p:txBody>
        </p:sp>
        <p:sp>
          <p:nvSpPr>
            <p:cNvPr id="46" name="Google Shape;299;p35">
              <a:extLst>
                <a:ext uri="{FF2B5EF4-FFF2-40B4-BE49-F238E27FC236}">
                  <a16:creationId xmlns:a16="http://schemas.microsoft.com/office/drawing/2014/main" id="{980531F5-A396-3257-E7D4-77408C608907}"/>
                </a:ext>
              </a:extLst>
            </p:cNvPr>
            <p:cNvSpPr/>
            <p:nvPr/>
          </p:nvSpPr>
          <p:spPr>
            <a:xfrm>
              <a:off x="8509465" y="5523380"/>
              <a:ext cx="418400" cy="92851"/>
            </a:xfrm>
            <a:prstGeom prst="rect">
              <a:avLst/>
            </a:prstGeom>
            <a:solidFill>
              <a:srgbClr val="C9C9C9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 b="1" dirty="0"/>
            </a:p>
          </p:txBody>
        </p:sp>
        <p:sp>
          <p:nvSpPr>
            <p:cNvPr id="47" name="Google Shape;299;p35">
              <a:extLst>
                <a:ext uri="{FF2B5EF4-FFF2-40B4-BE49-F238E27FC236}">
                  <a16:creationId xmlns:a16="http://schemas.microsoft.com/office/drawing/2014/main" id="{C8A9E2C0-6406-A3F9-9CFB-4CB217541575}"/>
                </a:ext>
              </a:extLst>
            </p:cNvPr>
            <p:cNvSpPr/>
            <p:nvPr/>
          </p:nvSpPr>
          <p:spPr>
            <a:xfrm>
              <a:off x="8509465" y="5349239"/>
              <a:ext cx="418400" cy="92851"/>
            </a:xfrm>
            <a:prstGeom prst="rect">
              <a:avLst/>
            </a:prstGeom>
            <a:solidFill>
              <a:srgbClr val="F4B183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 dirty="0"/>
            </a:p>
          </p:txBody>
        </p:sp>
        <p:sp>
          <p:nvSpPr>
            <p:cNvPr id="48" name="Google Shape;299;p35">
              <a:extLst>
                <a:ext uri="{FF2B5EF4-FFF2-40B4-BE49-F238E27FC236}">
                  <a16:creationId xmlns:a16="http://schemas.microsoft.com/office/drawing/2014/main" id="{06042BDF-34B1-857B-0B52-A2E034B19D6A}"/>
                </a:ext>
              </a:extLst>
            </p:cNvPr>
            <p:cNvSpPr/>
            <p:nvPr/>
          </p:nvSpPr>
          <p:spPr>
            <a:xfrm>
              <a:off x="8509465" y="5442090"/>
              <a:ext cx="418400" cy="92851"/>
            </a:xfrm>
            <a:prstGeom prst="rect">
              <a:avLst/>
            </a:prstGeom>
            <a:solidFill>
              <a:srgbClr val="FFD966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 dirty="0"/>
            </a:p>
          </p:txBody>
        </p:sp>
        <p:sp>
          <p:nvSpPr>
            <p:cNvPr id="49" name="Google Shape;360;p37">
              <a:extLst>
                <a:ext uri="{FF2B5EF4-FFF2-40B4-BE49-F238E27FC236}">
                  <a16:creationId xmlns:a16="http://schemas.microsoft.com/office/drawing/2014/main" id="{0AE32CC2-D628-7001-F255-74E362321E19}"/>
                </a:ext>
              </a:extLst>
            </p:cNvPr>
            <p:cNvSpPr/>
            <p:nvPr/>
          </p:nvSpPr>
          <p:spPr>
            <a:xfrm>
              <a:off x="8513716" y="5256389"/>
              <a:ext cx="418400" cy="3564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" sz="2400" dirty="0"/>
                <a:t>2</a:t>
              </a:r>
              <a:endParaRPr sz="2400" dirty="0"/>
            </a:p>
          </p:txBody>
        </p:sp>
      </p:grpSp>
      <p:grpSp>
        <p:nvGrpSpPr>
          <p:cNvPr id="50" name="Group 58">
            <a:extLst>
              <a:ext uri="{FF2B5EF4-FFF2-40B4-BE49-F238E27FC236}">
                <a16:creationId xmlns:a16="http://schemas.microsoft.com/office/drawing/2014/main" id="{03844DD2-5EA5-DFEB-08EB-1F25050E2FEB}"/>
              </a:ext>
            </a:extLst>
          </p:cNvPr>
          <p:cNvGrpSpPr/>
          <p:nvPr/>
        </p:nvGrpSpPr>
        <p:grpSpPr>
          <a:xfrm>
            <a:off x="7719189" y="1926287"/>
            <a:ext cx="422651" cy="359843"/>
            <a:chOff x="8509465" y="5256388"/>
            <a:chExt cx="422651" cy="359843"/>
          </a:xfrm>
        </p:grpSpPr>
        <p:sp>
          <p:nvSpPr>
            <p:cNvPr id="51" name="Google Shape;299;p35">
              <a:extLst>
                <a:ext uri="{FF2B5EF4-FFF2-40B4-BE49-F238E27FC236}">
                  <a16:creationId xmlns:a16="http://schemas.microsoft.com/office/drawing/2014/main" id="{121D7724-023D-4B83-8F6C-4767EDC09448}"/>
                </a:ext>
              </a:extLst>
            </p:cNvPr>
            <p:cNvSpPr/>
            <p:nvPr/>
          </p:nvSpPr>
          <p:spPr>
            <a:xfrm>
              <a:off x="8509465" y="5256388"/>
              <a:ext cx="418400" cy="92851"/>
            </a:xfrm>
            <a:prstGeom prst="rect">
              <a:avLst/>
            </a:prstGeom>
            <a:solidFill>
              <a:srgbClr val="C5E0B4"/>
            </a:solidFill>
            <a:ln w="9525" cap="flat" cmpd="sng">
              <a:solidFill>
                <a:srgbClr val="C5E0B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 dirty="0"/>
            </a:p>
          </p:txBody>
        </p:sp>
        <p:sp>
          <p:nvSpPr>
            <p:cNvPr id="52" name="Google Shape;299;p35">
              <a:extLst>
                <a:ext uri="{FF2B5EF4-FFF2-40B4-BE49-F238E27FC236}">
                  <a16:creationId xmlns:a16="http://schemas.microsoft.com/office/drawing/2014/main" id="{27C7142A-4AC6-D1C8-42F0-DDC35371385F}"/>
                </a:ext>
              </a:extLst>
            </p:cNvPr>
            <p:cNvSpPr/>
            <p:nvPr/>
          </p:nvSpPr>
          <p:spPr>
            <a:xfrm>
              <a:off x="8509465" y="5523380"/>
              <a:ext cx="418400" cy="92851"/>
            </a:xfrm>
            <a:prstGeom prst="rect">
              <a:avLst/>
            </a:prstGeom>
            <a:solidFill>
              <a:srgbClr val="C9C9C9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 b="1" dirty="0"/>
            </a:p>
          </p:txBody>
        </p:sp>
        <p:sp>
          <p:nvSpPr>
            <p:cNvPr id="53" name="Google Shape;299;p35">
              <a:extLst>
                <a:ext uri="{FF2B5EF4-FFF2-40B4-BE49-F238E27FC236}">
                  <a16:creationId xmlns:a16="http://schemas.microsoft.com/office/drawing/2014/main" id="{56460CE4-CB36-386D-AC45-1A939EAACAC4}"/>
                </a:ext>
              </a:extLst>
            </p:cNvPr>
            <p:cNvSpPr/>
            <p:nvPr/>
          </p:nvSpPr>
          <p:spPr>
            <a:xfrm>
              <a:off x="8509465" y="5349239"/>
              <a:ext cx="418400" cy="92851"/>
            </a:xfrm>
            <a:prstGeom prst="rect">
              <a:avLst/>
            </a:prstGeom>
            <a:solidFill>
              <a:srgbClr val="F4B183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 dirty="0"/>
            </a:p>
          </p:txBody>
        </p:sp>
        <p:sp>
          <p:nvSpPr>
            <p:cNvPr id="54" name="Google Shape;299;p35">
              <a:extLst>
                <a:ext uri="{FF2B5EF4-FFF2-40B4-BE49-F238E27FC236}">
                  <a16:creationId xmlns:a16="http://schemas.microsoft.com/office/drawing/2014/main" id="{5867192C-FBE3-57B0-1DAE-B521E3C53A1F}"/>
                </a:ext>
              </a:extLst>
            </p:cNvPr>
            <p:cNvSpPr/>
            <p:nvPr/>
          </p:nvSpPr>
          <p:spPr>
            <a:xfrm>
              <a:off x="8509465" y="5442090"/>
              <a:ext cx="418400" cy="92851"/>
            </a:xfrm>
            <a:prstGeom prst="rect">
              <a:avLst/>
            </a:prstGeom>
            <a:solidFill>
              <a:srgbClr val="FFD966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 dirty="0"/>
            </a:p>
          </p:txBody>
        </p:sp>
        <p:sp>
          <p:nvSpPr>
            <p:cNvPr id="55" name="Google Shape;360;p37">
              <a:extLst>
                <a:ext uri="{FF2B5EF4-FFF2-40B4-BE49-F238E27FC236}">
                  <a16:creationId xmlns:a16="http://schemas.microsoft.com/office/drawing/2014/main" id="{03210B1A-0A55-6286-AEF7-21D74EE7303F}"/>
                </a:ext>
              </a:extLst>
            </p:cNvPr>
            <p:cNvSpPr/>
            <p:nvPr/>
          </p:nvSpPr>
          <p:spPr>
            <a:xfrm>
              <a:off x="8513716" y="5256389"/>
              <a:ext cx="418400" cy="3564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" sz="2400" dirty="0"/>
                <a:t>3</a:t>
              </a:r>
              <a:endParaRPr sz="2400" dirty="0"/>
            </a:p>
          </p:txBody>
        </p:sp>
      </p:grpSp>
      <p:grpSp>
        <p:nvGrpSpPr>
          <p:cNvPr id="56" name="Group 14">
            <a:extLst>
              <a:ext uri="{FF2B5EF4-FFF2-40B4-BE49-F238E27FC236}">
                <a16:creationId xmlns:a16="http://schemas.microsoft.com/office/drawing/2014/main" id="{4AD17144-1485-3868-8C2E-C5BFAECF1E81}"/>
              </a:ext>
            </a:extLst>
          </p:cNvPr>
          <p:cNvGrpSpPr/>
          <p:nvPr/>
        </p:nvGrpSpPr>
        <p:grpSpPr>
          <a:xfrm>
            <a:off x="6459738" y="2874722"/>
            <a:ext cx="422651" cy="359843"/>
            <a:chOff x="8509465" y="5256388"/>
            <a:chExt cx="422651" cy="359843"/>
          </a:xfrm>
        </p:grpSpPr>
        <p:sp>
          <p:nvSpPr>
            <p:cNvPr id="57" name="Google Shape;299;p35">
              <a:extLst>
                <a:ext uri="{FF2B5EF4-FFF2-40B4-BE49-F238E27FC236}">
                  <a16:creationId xmlns:a16="http://schemas.microsoft.com/office/drawing/2014/main" id="{5CF44E43-BEC9-EDC6-8FF1-209152C8E3BC}"/>
                </a:ext>
              </a:extLst>
            </p:cNvPr>
            <p:cNvSpPr/>
            <p:nvPr/>
          </p:nvSpPr>
          <p:spPr>
            <a:xfrm>
              <a:off x="8509465" y="5256388"/>
              <a:ext cx="418400" cy="92851"/>
            </a:xfrm>
            <a:prstGeom prst="rect">
              <a:avLst/>
            </a:prstGeom>
            <a:solidFill>
              <a:srgbClr val="C5E0B4"/>
            </a:solidFill>
            <a:ln w="9525" cap="flat" cmpd="sng">
              <a:solidFill>
                <a:srgbClr val="C5E0B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 dirty="0"/>
            </a:p>
          </p:txBody>
        </p:sp>
        <p:sp>
          <p:nvSpPr>
            <p:cNvPr id="58" name="Google Shape;299;p35">
              <a:extLst>
                <a:ext uri="{FF2B5EF4-FFF2-40B4-BE49-F238E27FC236}">
                  <a16:creationId xmlns:a16="http://schemas.microsoft.com/office/drawing/2014/main" id="{E6EE73BA-C2C7-AD81-7799-AB8977044DB9}"/>
                </a:ext>
              </a:extLst>
            </p:cNvPr>
            <p:cNvSpPr/>
            <p:nvPr/>
          </p:nvSpPr>
          <p:spPr>
            <a:xfrm>
              <a:off x="8509465" y="5523380"/>
              <a:ext cx="418400" cy="92851"/>
            </a:xfrm>
            <a:prstGeom prst="rect">
              <a:avLst/>
            </a:prstGeom>
            <a:solidFill>
              <a:srgbClr val="C9C9C9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 b="1" dirty="0"/>
            </a:p>
          </p:txBody>
        </p:sp>
        <p:sp>
          <p:nvSpPr>
            <p:cNvPr id="59" name="Google Shape;299;p35">
              <a:extLst>
                <a:ext uri="{FF2B5EF4-FFF2-40B4-BE49-F238E27FC236}">
                  <a16:creationId xmlns:a16="http://schemas.microsoft.com/office/drawing/2014/main" id="{27077583-908B-C74B-3F44-A6356FBE36C8}"/>
                </a:ext>
              </a:extLst>
            </p:cNvPr>
            <p:cNvSpPr/>
            <p:nvPr/>
          </p:nvSpPr>
          <p:spPr>
            <a:xfrm>
              <a:off x="8509465" y="5349239"/>
              <a:ext cx="418400" cy="92851"/>
            </a:xfrm>
            <a:prstGeom prst="rect">
              <a:avLst/>
            </a:prstGeom>
            <a:solidFill>
              <a:srgbClr val="F4B183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 dirty="0"/>
            </a:p>
          </p:txBody>
        </p:sp>
        <p:sp>
          <p:nvSpPr>
            <p:cNvPr id="60" name="Google Shape;299;p35">
              <a:extLst>
                <a:ext uri="{FF2B5EF4-FFF2-40B4-BE49-F238E27FC236}">
                  <a16:creationId xmlns:a16="http://schemas.microsoft.com/office/drawing/2014/main" id="{8E6328D3-F091-C2A4-62F6-45CC99ECB8BF}"/>
                </a:ext>
              </a:extLst>
            </p:cNvPr>
            <p:cNvSpPr/>
            <p:nvPr/>
          </p:nvSpPr>
          <p:spPr>
            <a:xfrm>
              <a:off x="8509465" y="5442090"/>
              <a:ext cx="418400" cy="92851"/>
            </a:xfrm>
            <a:prstGeom prst="rect">
              <a:avLst/>
            </a:prstGeom>
            <a:solidFill>
              <a:srgbClr val="FFD966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 dirty="0"/>
            </a:p>
          </p:txBody>
        </p:sp>
        <p:sp>
          <p:nvSpPr>
            <p:cNvPr id="61" name="Google Shape;360;p37">
              <a:extLst>
                <a:ext uri="{FF2B5EF4-FFF2-40B4-BE49-F238E27FC236}">
                  <a16:creationId xmlns:a16="http://schemas.microsoft.com/office/drawing/2014/main" id="{FA565FD0-F0B3-1709-E4AA-7B4EA8184651}"/>
                </a:ext>
              </a:extLst>
            </p:cNvPr>
            <p:cNvSpPr/>
            <p:nvPr/>
          </p:nvSpPr>
          <p:spPr>
            <a:xfrm>
              <a:off x="8513716" y="5256389"/>
              <a:ext cx="418400" cy="3564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" sz="2400" dirty="0"/>
                <a:t>0</a:t>
              </a:r>
              <a:endParaRPr sz="2400" dirty="0"/>
            </a:p>
          </p:txBody>
        </p:sp>
      </p:grpSp>
      <p:grpSp>
        <p:nvGrpSpPr>
          <p:cNvPr id="62" name="Group 31">
            <a:extLst>
              <a:ext uri="{FF2B5EF4-FFF2-40B4-BE49-F238E27FC236}">
                <a16:creationId xmlns:a16="http://schemas.microsoft.com/office/drawing/2014/main" id="{CB256476-04CD-6D40-D3A6-B85D0866C875}"/>
              </a:ext>
            </a:extLst>
          </p:cNvPr>
          <p:cNvGrpSpPr/>
          <p:nvPr/>
        </p:nvGrpSpPr>
        <p:grpSpPr>
          <a:xfrm>
            <a:off x="6882389" y="2874723"/>
            <a:ext cx="422651" cy="359843"/>
            <a:chOff x="8509465" y="5256388"/>
            <a:chExt cx="422651" cy="359843"/>
          </a:xfrm>
        </p:grpSpPr>
        <p:sp>
          <p:nvSpPr>
            <p:cNvPr id="63" name="Google Shape;299;p35">
              <a:extLst>
                <a:ext uri="{FF2B5EF4-FFF2-40B4-BE49-F238E27FC236}">
                  <a16:creationId xmlns:a16="http://schemas.microsoft.com/office/drawing/2014/main" id="{5A8042F8-F2AA-4D96-35CE-85737AA1D78A}"/>
                </a:ext>
              </a:extLst>
            </p:cNvPr>
            <p:cNvSpPr/>
            <p:nvPr/>
          </p:nvSpPr>
          <p:spPr>
            <a:xfrm>
              <a:off x="8509465" y="5256388"/>
              <a:ext cx="418400" cy="92851"/>
            </a:xfrm>
            <a:prstGeom prst="rect">
              <a:avLst/>
            </a:prstGeom>
            <a:solidFill>
              <a:srgbClr val="C5E0B4"/>
            </a:solidFill>
            <a:ln w="9525" cap="flat" cmpd="sng">
              <a:solidFill>
                <a:srgbClr val="C5E0B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 dirty="0"/>
            </a:p>
          </p:txBody>
        </p:sp>
        <p:sp>
          <p:nvSpPr>
            <p:cNvPr id="64" name="Google Shape;299;p35">
              <a:extLst>
                <a:ext uri="{FF2B5EF4-FFF2-40B4-BE49-F238E27FC236}">
                  <a16:creationId xmlns:a16="http://schemas.microsoft.com/office/drawing/2014/main" id="{0AB64994-CB1E-2E30-B5EE-403233D80297}"/>
                </a:ext>
              </a:extLst>
            </p:cNvPr>
            <p:cNvSpPr/>
            <p:nvPr/>
          </p:nvSpPr>
          <p:spPr>
            <a:xfrm>
              <a:off x="8509465" y="5523380"/>
              <a:ext cx="418400" cy="92851"/>
            </a:xfrm>
            <a:prstGeom prst="rect">
              <a:avLst/>
            </a:prstGeom>
            <a:solidFill>
              <a:srgbClr val="C9C9C9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 b="1" dirty="0"/>
            </a:p>
          </p:txBody>
        </p:sp>
        <p:sp>
          <p:nvSpPr>
            <p:cNvPr id="65" name="Google Shape;299;p35">
              <a:extLst>
                <a:ext uri="{FF2B5EF4-FFF2-40B4-BE49-F238E27FC236}">
                  <a16:creationId xmlns:a16="http://schemas.microsoft.com/office/drawing/2014/main" id="{EA4D85D5-10DC-8726-1773-B89F5F9C5B07}"/>
                </a:ext>
              </a:extLst>
            </p:cNvPr>
            <p:cNvSpPr/>
            <p:nvPr/>
          </p:nvSpPr>
          <p:spPr>
            <a:xfrm>
              <a:off x="8509465" y="5349239"/>
              <a:ext cx="418400" cy="92851"/>
            </a:xfrm>
            <a:prstGeom prst="rect">
              <a:avLst/>
            </a:prstGeom>
            <a:solidFill>
              <a:srgbClr val="F4B183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 dirty="0"/>
            </a:p>
          </p:txBody>
        </p:sp>
        <p:sp>
          <p:nvSpPr>
            <p:cNvPr id="66" name="Google Shape;299;p35">
              <a:extLst>
                <a:ext uri="{FF2B5EF4-FFF2-40B4-BE49-F238E27FC236}">
                  <a16:creationId xmlns:a16="http://schemas.microsoft.com/office/drawing/2014/main" id="{5476032E-2D40-18CC-3242-B2C18E22F8A5}"/>
                </a:ext>
              </a:extLst>
            </p:cNvPr>
            <p:cNvSpPr/>
            <p:nvPr/>
          </p:nvSpPr>
          <p:spPr>
            <a:xfrm>
              <a:off x="8509465" y="5442090"/>
              <a:ext cx="418400" cy="92851"/>
            </a:xfrm>
            <a:prstGeom prst="rect">
              <a:avLst/>
            </a:prstGeom>
            <a:solidFill>
              <a:srgbClr val="FFD966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 dirty="0"/>
            </a:p>
          </p:txBody>
        </p:sp>
        <p:sp>
          <p:nvSpPr>
            <p:cNvPr id="67" name="Google Shape;360;p37">
              <a:extLst>
                <a:ext uri="{FF2B5EF4-FFF2-40B4-BE49-F238E27FC236}">
                  <a16:creationId xmlns:a16="http://schemas.microsoft.com/office/drawing/2014/main" id="{388F83E7-7E3E-F3DA-1DAB-0D94DF2E7A30}"/>
                </a:ext>
              </a:extLst>
            </p:cNvPr>
            <p:cNvSpPr/>
            <p:nvPr/>
          </p:nvSpPr>
          <p:spPr>
            <a:xfrm>
              <a:off x="8513716" y="5256389"/>
              <a:ext cx="418400" cy="3564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" sz="2400" dirty="0"/>
                <a:t>1</a:t>
              </a:r>
              <a:endParaRPr sz="2400" dirty="0"/>
            </a:p>
          </p:txBody>
        </p:sp>
      </p:grpSp>
      <p:grpSp>
        <p:nvGrpSpPr>
          <p:cNvPr id="68" name="Group 38">
            <a:extLst>
              <a:ext uri="{FF2B5EF4-FFF2-40B4-BE49-F238E27FC236}">
                <a16:creationId xmlns:a16="http://schemas.microsoft.com/office/drawing/2014/main" id="{84B96F08-25E1-A66F-0FDE-81D90649705F}"/>
              </a:ext>
            </a:extLst>
          </p:cNvPr>
          <p:cNvGrpSpPr/>
          <p:nvPr/>
        </p:nvGrpSpPr>
        <p:grpSpPr>
          <a:xfrm>
            <a:off x="7305040" y="2874723"/>
            <a:ext cx="422651" cy="359843"/>
            <a:chOff x="8509465" y="5256388"/>
            <a:chExt cx="422651" cy="359843"/>
          </a:xfrm>
        </p:grpSpPr>
        <p:sp>
          <p:nvSpPr>
            <p:cNvPr id="69" name="Google Shape;299;p35">
              <a:extLst>
                <a:ext uri="{FF2B5EF4-FFF2-40B4-BE49-F238E27FC236}">
                  <a16:creationId xmlns:a16="http://schemas.microsoft.com/office/drawing/2014/main" id="{17ABCAA8-8358-449C-7E38-5A8AF1D948FD}"/>
                </a:ext>
              </a:extLst>
            </p:cNvPr>
            <p:cNvSpPr/>
            <p:nvPr/>
          </p:nvSpPr>
          <p:spPr>
            <a:xfrm>
              <a:off x="8509465" y="5256388"/>
              <a:ext cx="418400" cy="92851"/>
            </a:xfrm>
            <a:prstGeom prst="rect">
              <a:avLst/>
            </a:prstGeom>
            <a:solidFill>
              <a:srgbClr val="C5E0B4"/>
            </a:solidFill>
            <a:ln w="9525" cap="flat" cmpd="sng">
              <a:solidFill>
                <a:srgbClr val="C5E0B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 dirty="0"/>
            </a:p>
          </p:txBody>
        </p:sp>
        <p:sp>
          <p:nvSpPr>
            <p:cNvPr id="70" name="Google Shape;299;p35">
              <a:extLst>
                <a:ext uri="{FF2B5EF4-FFF2-40B4-BE49-F238E27FC236}">
                  <a16:creationId xmlns:a16="http://schemas.microsoft.com/office/drawing/2014/main" id="{2E53872E-D839-5E24-BBA6-20EA13995BCB}"/>
                </a:ext>
              </a:extLst>
            </p:cNvPr>
            <p:cNvSpPr/>
            <p:nvPr/>
          </p:nvSpPr>
          <p:spPr>
            <a:xfrm>
              <a:off x="8509465" y="5523380"/>
              <a:ext cx="418400" cy="92851"/>
            </a:xfrm>
            <a:prstGeom prst="rect">
              <a:avLst/>
            </a:prstGeom>
            <a:solidFill>
              <a:srgbClr val="C9C9C9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 b="1" dirty="0"/>
            </a:p>
          </p:txBody>
        </p:sp>
        <p:sp>
          <p:nvSpPr>
            <p:cNvPr id="71" name="Google Shape;299;p35">
              <a:extLst>
                <a:ext uri="{FF2B5EF4-FFF2-40B4-BE49-F238E27FC236}">
                  <a16:creationId xmlns:a16="http://schemas.microsoft.com/office/drawing/2014/main" id="{2ADAEDE5-5A0A-02FA-01FB-9BC9A44ED61F}"/>
                </a:ext>
              </a:extLst>
            </p:cNvPr>
            <p:cNvSpPr/>
            <p:nvPr/>
          </p:nvSpPr>
          <p:spPr>
            <a:xfrm>
              <a:off x="8509465" y="5349239"/>
              <a:ext cx="418400" cy="92851"/>
            </a:xfrm>
            <a:prstGeom prst="rect">
              <a:avLst/>
            </a:prstGeom>
            <a:solidFill>
              <a:srgbClr val="F4B183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 dirty="0"/>
            </a:p>
          </p:txBody>
        </p:sp>
        <p:sp>
          <p:nvSpPr>
            <p:cNvPr id="72" name="Google Shape;299;p35">
              <a:extLst>
                <a:ext uri="{FF2B5EF4-FFF2-40B4-BE49-F238E27FC236}">
                  <a16:creationId xmlns:a16="http://schemas.microsoft.com/office/drawing/2014/main" id="{44F2D04B-5F38-35FD-F9D1-39FD483AC7AC}"/>
                </a:ext>
              </a:extLst>
            </p:cNvPr>
            <p:cNvSpPr/>
            <p:nvPr/>
          </p:nvSpPr>
          <p:spPr>
            <a:xfrm>
              <a:off x="8509465" y="5442090"/>
              <a:ext cx="418400" cy="92851"/>
            </a:xfrm>
            <a:prstGeom prst="rect">
              <a:avLst/>
            </a:prstGeom>
            <a:solidFill>
              <a:srgbClr val="FFD966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 dirty="0"/>
            </a:p>
          </p:txBody>
        </p:sp>
        <p:sp>
          <p:nvSpPr>
            <p:cNvPr id="73" name="Google Shape;360;p37">
              <a:extLst>
                <a:ext uri="{FF2B5EF4-FFF2-40B4-BE49-F238E27FC236}">
                  <a16:creationId xmlns:a16="http://schemas.microsoft.com/office/drawing/2014/main" id="{315F0D8E-F6EF-2725-92B0-32C9C464D07D}"/>
                </a:ext>
              </a:extLst>
            </p:cNvPr>
            <p:cNvSpPr/>
            <p:nvPr/>
          </p:nvSpPr>
          <p:spPr>
            <a:xfrm>
              <a:off x="8513716" y="5256389"/>
              <a:ext cx="418400" cy="3564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" sz="2400" dirty="0"/>
                <a:t>2</a:t>
              </a:r>
              <a:endParaRPr sz="2400" dirty="0"/>
            </a:p>
          </p:txBody>
        </p:sp>
      </p:grpSp>
      <p:grpSp>
        <p:nvGrpSpPr>
          <p:cNvPr id="74" name="Group 322">
            <a:extLst>
              <a:ext uri="{FF2B5EF4-FFF2-40B4-BE49-F238E27FC236}">
                <a16:creationId xmlns:a16="http://schemas.microsoft.com/office/drawing/2014/main" id="{26EADE95-F3BE-8386-B43F-428026050323}"/>
              </a:ext>
            </a:extLst>
          </p:cNvPr>
          <p:cNvGrpSpPr/>
          <p:nvPr/>
        </p:nvGrpSpPr>
        <p:grpSpPr>
          <a:xfrm>
            <a:off x="7723440" y="2874724"/>
            <a:ext cx="422651" cy="359843"/>
            <a:chOff x="8509465" y="5256388"/>
            <a:chExt cx="422651" cy="359843"/>
          </a:xfrm>
        </p:grpSpPr>
        <p:sp>
          <p:nvSpPr>
            <p:cNvPr id="75" name="Google Shape;299;p35">
              <a:extLst>
                <a:ext uri="{FF2B5EF4-FFF2-40B4-BE49-F238E27FC236}">
                  <a16:creationId xmlns:a16="http://schemas.microsoft.com/office/drawing/2014/main" id="{A0383585-6419-E480-AB9D-E3E23EFCF692}"/>
                </a:ext>
              </a:extLst>
            </p:cNvPr>
            <p:cNvSpPr/>
            <p:nvPr/>
          </p:nvSpPr>
          <p:spPr>
            <a:xfrm>
              <a:off x="8509465" y="5256388"/>
              <a:ext cx="418400" cy="92851"/>
            </a:xfrm>
            <a:prstGeom prst="rect">
              <a:avLst/>
            </a:prstGeom>
            <a:solidFill>
              <a:srgbClr val="C5E0B4"/>
            </a:solidFill>
            <a:ln w="9525" cap="flat" cmpd="sng">
              <a:solidFill>
                <a:srgbClr val="C5E0B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 dirty="0"/>
            </a:p>
          </p:txBody>
        </p:sp>
        <p:sp>
          <p:nvSpPr>
            <p:cNvPr id="76" name="Google Shape;299;p35">
              <a:extLst>
                <a:ext uri="{FF2B5EF4-FFF2-40B4-BE49-F238E27FC236}">
                  <a16:creationId xmlns:a16="http://schemas.microsoft.com/office/drawing/2014/main" id="{8366035E-AB30-68A0-1071-5F20F7866DEC}"/>
                </a:ext>
              </a:extLst>
            </p:cNvPr>
            <p:cNvSpPr/>
            <p:nvPr/>
          </p:nvSpPr>
          <p:spPr>
            <a:xfrm>
              <a:off x="8509465" y="5523380"/>
              <a:ext cx="418400" cy="92851"/>
            </a:xfrm>
            <a:prstGeom prst="rect">
              <a:avLst/>
            </a:prstGeom>
            <a:solidFill>
              <a:srgbClr val="C9C9C9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 b="1" dirty="0"/>
            </a:p>
          </p:txBody>
        </p:sp>
        <p:sp>
          <p:nvSpPr>
            <p:cNvPr id="77" name="Google Shape;299;p35">
              <a:extLst>
                <a:ext uri="{FF2B5EF4-FFF2-40B4-BE49-F238E27FC236}">
                  <a16:creationId xmlns:a16="http://schemas.microsoft.com/office/drawing/2014/main" id="{2DC32787-C1AF-21A5-D26D-DDC62B81C9E4}"/>
                </a:ext>
              </a:extLst>
            </p:cNvPr>
            <p:cNvSpPr/>
            <p:nvPr/>
          </p:nvSpPr>
          <p:spPr>
            <a:xfrm>
              <a:off x="8509465" y="5349239"/>
              <a:ext cx="418400" cy="92851"/>
            </a:xfrm>
            <a:prstGeom prst="rect">
              <a:avLst/>
            </a:prstGeom>
            <a:solidFill>
              <a:srgbClr val="F4B183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 dirty="0"/>
            </a:p>
          </p:txBody>
        </p:sp>
        <p:sp>
          <p:nvSpPr>
            <p:cNvPr id="78" name="Google Shape;299;p35">
              <a:extLst>
                <a:ext uri="{FF2B5EF4-FFF2-40B4-BE49-F238E27FC236}">
                  <a16:creationId xmlns:a16="http://schemas.microsoft.com/office/drawing/2014/main" id="{F338FDD5-B259-9A9D-9AB4-C34BD330EF99}"/>
                </a:ext>
              </a:extLst>
            </p:cNvPr>
            <p:cNvSpPr/>
            <p:nvPr/>
          </p:nvSpPr>
          <p:spPr>
            <a:xfrm>
              <a:off x="8509465" y="5442090"/>
              <a:ext cx="418400" cy="92851"/>
            </a:xfrm>
            <a:prstGeom prst="rect">
              <a:avLst/>
            </a:prstGeom>
            <a:solidFill>
              <a:srgbClr val="FFD966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 dirty="0"/>
            </a:p>
          </p:txBody>
        </p:sp>
        <p:sp>
          <p:nvSpPr>
            <p:cNvPr id="79" name="Google Shape;360;p37">
              <a:extLst>
                <a:ext uri="{FF2B5EF4-FFF2-40B4-BE49-F238E27FC236}">
                  <a16:creationId xmlns:a16="http://schemas.microsoft.com/office/drawing/2014/main" id="{9081FDC2-8742-9977-2F7E-03B2535F48C5}"/>
                </a:ext>
              </a:extLst>
            </p:cNvPr>
            <p:cNvSpPr/>
            <p:nvPr/>
          </p:nvSpPr>
          <p:spPr>
            <a:xfrm>
              <a:off x="8513716" y="5256389"/>
              <a:ext cx="418400" cy="3564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" sz="2400" dirty="0"/>
                <a:t>3</a:t>
              </a:r>
              <a:endParaRPr sz="2400" dirty="0"/>
            </a:p>
          </p:txBody>
        </p:sp>
      </p:grpSp>
      <p:grpSp>
        <p:nvGrpSpPr>
          <p:cNvPr id="80" name="Group 329">
            <a:extLst>
              <a:ext uri="{FF2B5EF4-FFF2-40B4-BE49-F238E27FC236}">
                <a16:creationId xmlns:a16="http://schemas.microsoft.com/office/drawing/2014/main" id="{FF0CA427-0DE5-1B47-7635-035C94272CEF}"/>
              </a:ext>
            </a:extLst>
          </p:cNvPr>
          <p:cNvGrpSpPr/>
          <p:nvPr/>
        </p:nvGrpSpPr>
        <p:grpSpPr>
          <a:xfrm>
            <a:off x="6451236" y="3715566"/>
            <a:ext cx="422651" cy="359843"/>
            <a:chOff x="8509465" y="5256388"/>
            <a:chExt cx="422651" cy="359843"/>
          </a:xfrm>
        </p:grpSpPr>
        <p:sp>
          <p:nvSpPr>
            <p:cNvPr id="81" name="Google Shape;299;p35">
              <a:extLst>
                <a:ext uri="{FF2B5EF4-FFF2-40B4-BE49-F238E27FC236}">
                  <a16:creationId xmlns:a16="http://schemas.microsoft.com/office/drawing/2014/main" id="{11EE4425-F0A4-BB2A-87CB-B3240AC4ADBB}"/>
                </a:ext>
              </a:extLst>
            </p:cNvPr>
            <p:cNvSpPr/>
            <p:nvPr/>
          </p:nvSpPr>
          <p:spPr>
            <a:xfrm>
              <a:off x="8509465" y="5256388"/>
              <a:ext cx="418400" cy="92851"/>
            </a:xfrm>
            <a:prstGeom prst="rect">
              <a:avLst/>
            </a:prstGeom>
            <a:solidFill>
              <a:srgbClr val="C5E0B4"/>
            </a:solidFill>
            <a:ln w="9525" cap="flat" cmpd="sng">
              <a:solidFill>
                <a:srgbClr val="C5E0B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 dirty="0"/>
            </a:p>
          </p:txBody>
        </p:sp>
        <p:sp>
          <p:nvSpPr>
            <p:cNvPr id="82" name="Google Shape;299;p35">
              <a:extLst>
                <a:ext uri="{FF2B5EF4-FFF2-40B4-BE49-F238E27FC236}">
                  <a16:creationId xmlns:a16="http://schemas.microsoft.com/office/drawing/2014/main" id="{0B9FBC07-FBFB-B7A4-C2BC-5E5E33001BC8}"/>
                </a:ext>
              </a:extLst>
            </p:cNvPr>
            <p:cNvSpPr/>
            <p:nvPr/>
          </p:nvSpPr>
          <p:spPr>
            <a:xfrm>
              <a:off x="8509465" y="5523380"/>
              <a:ext cx="418400" cy="92851"/>
            </a:xfrm>
            <a:prstGeom prst="rect">
              <a:avLst/>
            </a:prstGeom>
            <a:solidFill>
              <a:srgbClr val="C9C9C9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 b="1" dirty="0"/>
            </a:p>
          </p:txBody>
        </p:sp>
        <p:sp>
          <p:nvSpPr>
            <p:cNvPr id="83" name="Google Shape;299;p35">
              <a:extLst>
                <a:ext uri="{FF2B5EF4-FFF2-40B4-BE49-F238E27FC236}">
                  <a16:creationId xmlns:a16="http://schemas.microsoft.com/office/drawing/2014/main" id="{5F5BE561-5E73-AF2B-F2D8-46DE54C8A537}"/>
                </a:ext>
              </a:extLst>
            </p:cNvPr>
            <p:cNvSpPr/>
            <p:nvPr/>
          </p:nvSpPr>
          <p:spPr>
            <a:xfrm>
              <a:off x="8509465" y="5349239"/>
              <a:ext cx="418400" cy="92851"/>
            </a:xfrm>
            <a:prstGeom prst="rect">
              <a:avLst/>
            </a:prstGeom>
            <a:solidFill>
              <a:srgbClr val="F4B183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 dirty="0"/>
            </a:p>
          </p:txBody>
        </p:sp>
        <p:sp>
          <p:nvSpPr>
            <p:cNvPr id="84" name="Google Shape;299;p35">
              <a:extLst>
                <a:ext uri="{FF2B5EF4-FFF2-40B4-BE49-F238E27FC236}">
                  <a16:creationId xmlns:a16="http://schemas.microsoft.com/office/drawing/2014/main" id="{AE31926D-B706-2E27-B360-971784A43C23}"/>
                </a:ext>
              </a:extLst>
            </p:cNvPr>
            <p:cNvSpPr/>
            <p:nvPr/>
          </p:nvSpPr>
          <p:spPr>
            <a:xfrm>
              <a:off x="8509465" y="5442090"/>
              <a:ext cx="418400" cy="92851"/>
            </a:xfrm>
            <a:prstGeom prst="rect">
              <a:avLst/>
            </a:prstGeom>
            <a:solidFill>
              <a:srgbClr val="FFD966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 dirty="0"/>
            </a:p>
          </p:txBody>
        </p:sp>
        <p:sp>
          <p:nvSpPr>
            <p:cNvPr id="85" name="Google Shape;360;p37">
              <a:extLst>
                <a:ext uri="{FF2B5EF4-FFF2-40B4-BE49-F238E27FC236}">
                  <a16:creationId xmlns:a16="http://schemas.microsoft.com/office/drawing/2014/main" id="{08B6E5CC-3D26-94E6-FAC8-C79C37D83C5A}"/>
                </a:ext>
              </a:extLst>
            </p:cNvPr>
            <p:cNvSpPr/>
            <p:nvPr/>
          </p:nvSpPr>
          <p:spPr>
            <a:xfrm>
              <a:off x="8513716" y="5256389"/>
              <a:ext cx="418400" cy="3564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" sz="2400" dirty="0"/>
                <a:t>0</a:t>
              </a:r>
              <a:endParaRPr sz="2400" dirty="0"/>
            </a:p>
          </p:txBody>
        </p:sp>
      </p:grpSp>
      <p:grpSp>
        <p:nvGrpSpPr>
          <p:cNvPr id="86" name="Group 335">
            <a:extLst>
              <a:ext uri="{FF2B5EF4-FFF2-40B4-BE49-F238E27FC236}">
                <a16:creationId xmlns:a16="http://schemas.microsoft.com/office/drawing/2014/main" id="{06E07B0D-FCB1-EDB1-9EBF-7A0E587E1D92}"/>
              </a:ext>
            </a:extLst>
          </p:cNvPr>
          <p:cNvGrpSpPr/>
          <p:nvPr/>
        </p:nvGrpSpPr>
        <p:grpSpPr>
          <a:xfrm>
            <a:off x="6873887" y="3715567"/>
            <a:ext cx="422651" cy="359843"/>
            <a:chOff x="8509465" y="5256388"/>
            <a:chExt cx="422651" cy="359843"/>
          </a:xfrm>
        </p:grpSpPr>
        <p:sp>
          <p:nvSpPr>
            <p:cNvPr id="87" name="Google Shape;299;p35">
              <a:extLst>
                <a:ext uri="{FF2B5EF4-FFF2-40B4-BE49-F238E27FC236}">
                  <a16:creationId xmlns:a16="http://schemas.microsoft.com/office/drawing/2014/main" id="{C0559B85-AEE2-C2D5-8205-4A5CE809584F}"/>
                </a:ext>
              </a:extLst>
            </p:cNvPr>
            <p:cNvSpPr/>
            <p:nvPr/>
          </p:nvSpPr>
          <p:spPr>
            <a:xfrm>
              <a:off x="8509465" y="5256388"/>
              <a:ext cx="418400" cy="92851"/>
            </a:xfrm>
            <a:prstGeom prst="rect">
              <a:avLst/>
            </a:prstGeom>
            <a:solidFill>
              <a:srgbClr val="C5E0B4"/>
            </a:solidFill>
            <a:ln w="9525" cap="flat" cmpd="sng">
              <a:solidFill>
                <a:srgbClr val="C5E0B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 dirty="0"/>
            </a:p>
          </p:txBody>
        </p:sp>
        <p:sp>
          <p:nvSpPr>
            <p:cNvPr id="88" name="Google Shape;299;p35">
              <a:extLst>
                <a:ext uri="{FF2B5EF4-FFF2-40B4-BE49-F238E27FC236}">
                  <a16:creationId xmlns:a16="http://schemas.microsoft.com/office/drawing/2014/main" id="{11A32139-91B8-54B1-05AE-CA20908D97B2}"/>
                </a:ext>
              </a:extLst>
            </p:cNvPr>
            <p:cNvSpPr/>
            <p:nvPr/>
          </p:nvSpPr>
          <p:spPr>
            <a:xfrm>
              <a:off x="8509465" y="5523380"/>
              <a:ext cx="418400" cy="92851"/>
            </a:xfrm>
            <a:prstGeom prst="rect">
              <a:avLst/>
            </a:prstGeom>
            <a:solidFill>
              <a:srgbClr val="C9C9C9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 b="1" dirty="0"/>
            </a:p>
          </p:txBody>
        </p:sp>
        <p:sp>
          <p:nvSpPr>
            <p:cNvPr id="89" name="Google Shape;299;p35">
              <a:extLst>
                <a:ext uri="{FF2B5EF4-FFF2-40B4-BE49-F238E27FC236}">
                  <a16:creationId xmlns:a16="http://schemas.microsoft.com/office/drawing/2014/main" id="{88EF8C2D-A5E0-6221-A6F2-871B2CF3FF99}"/>
                </a:ext>
              </a:extLst>
            </p:cNvPr>
            <p:cNvSpPr/>
            <p:nvPr/>
          </p:nvSpPr>
          <p:spPr>
            <a:xfrm>
              <a:off x="8509465" y="5349239"/>
              <a:ext cx="418400" cy="92851"/>
            </a:xfrm>
            <a:prstGeom prst="rect">
              <a:avLst/>
            </a:prstGeom>
            <a:solidFill>
              <a:srgbClr val="F4B183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 dirty="0"/>
            </a:p>
          </p:txBody>
        </p:sp>
        <p:sp>
          <p:nvSpPr>
            <p:cNvPr id="90" name="Google Shape;299;p35">
              <a:extLst>
                <a:ext uri="{FF2B5EF4-FFF2-40B4-BE49-F238E27FC236}">
                  <a16:creationId xmlns:a16="http://schemas.microsoft.com/office/drawing/2014/main" id="{4B1617FD-4EBE-21C7-C0A4-E2C13AE57500}"/>
                </a:ext>
              </a:extLst>
            </p:cNvPr>
            <p:cNvSpPr/>
            <p:nvPr/>
          </p:nvSpPr>
          <p:spPr>
            <a:xfrm>
              <a:off x="8509465" y="5442090"/>
              <a:ext cx="418400" cy="92851"/>
            </a:xfrm>
            <a:prstGeom prst="rect">
              <a:avLst/>
            </a:prstGeom>
            <a:solidFill>
              <a:srgbClr val="FFD966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 dirty="0"/>
            </a:p>
          </p:txBody>
        </p:sp>
        <p:sp>
          <p:nvSpPr>
            <p:cNvPr id="91" name="Google Shape;360;p37">
              <a:extLst>
                <a:ext uri="{FF2B5EF4-FFF2-40B4-BE49-F238E27FC236}">
                  <a16:creationId xmlns:a16="http://schemas.microsoft.com/office/drawing/2014/main" id="{B634C42F-5310-357B-63C1-B2CED214075C}"/>
                </a:ext>
              </a:extLst>
            </p:cNvPr>
            <p:cNvSpPr/>
            <p:nvPr/>
          </p:nvSpPr>
          <p:spPr>
            <a:xfrm>
              <a:off x="8513716" y="5256389"/>
              <a:ext cx="418400" cy="3564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" sz="2400" dirty="0"/>
                <a:t>1</a:t>
              </a:r>
              <a:endParaRPr sz="2400" dirty="0"/>
            </a:p>
          </p:txBody>
        </p:sp>
      </p:grpSp>
      <p:grpSp>
        <p:nvGrpSpPr>
          <p:cNvPr id="92" name="Group 341">
            <a:extLst>
              <a:ext uri="{FF2B5EF4-FFF2-40B4-BE49-F238E27FC236}">
                <a16:creationId xmlns:a16="http://schemas.microsoft.com/office/drawing/2014/main" id="{DF052B34-DD13-89C2-A6CD-A10AB40E04DE}"/>
              </a:ext>
            </a:extLst>
          </p:cNvPr>
          <p:cNvGrpSpPr/>
          <p:nvPr/>
        </p:nvGrpSpPr>
        <p:grpSpPr>
          <a:xfrm>
            <a:off x="7296538" y="3715567"/>
            <a:ext cx="422651" cy="359843"/>
            <a:chOff x="8509465" y="5256388"/>
            <a:chExt cx="422651" cy="359843"/>
          </a:xfrm>
        </p:grpSpPr>
        <p:sp>
          <p:nvSpPr>
            <p:cNvPr id="93" name="Google Shape;299;p35">
              <a:extLst>
                <a:ext uri="{FF2B5EF4-FFF2-40B4-BE49-F238E27FC236}">
                  <a16:creationId xmlns:a16="http://schemas.microsoft.com/office/drawing/2014/main" id="{7C3AAC79-6122-E565-6004-1EE9FD793D0A}"/>
                </a:ext>
              </a:extLst>
            </p:cNvPr>
            <p:cNvSpPr/>
            <p:nvPr/>
          </p:nvSpPr>
          <p:spPr>
            <a:xfrm>
              <a:off x="8509465" y="5256388"/>
              <a:ext cx="418400" cy="92851"/>
            </a:xfrm>
            <a:prstGeom prst="rect">
              <a:avLst/>
            </a:prstGeom>
            <a:solidFill>
              <a:srgbClr val="C5E0B4"/>
            </a:solidFill>
            <a:ln w="9525" cap="flat" cmpd="sng">
              <a:solidFill>
                <a:srgbClr val="C5E0B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 dirty="0"/>
            </a:p>
          </p:txBody>
        </p:sp>
        <p:sp>
          <p:nvSpPr>
            <p:cNvPr id="94" name="Google Shape;299;p35">
              <a:extLst>
                <a:ext uri="{FF2B5EF4-FFF2-40B4-BE49-F238E27FC236}">
                  <a16:creationId xmlns:a16="http://schemas.microsoft.com/office/drawing/2014/main" id="{42486B5C-C2CE-9DEC-C15B-337F4187AEAC}"/>
                </a:ext>
              </a:extLst>
            </p:cNvPr>
            <p:cNvSpPr/>
            <p:nvPr/>
          </p:nvSpPr>
          <p:spPr>
            <a:xfrm>
              <a:off x="8509465" y="5523380"/>
              <a:ext cx="418400" cy="92851"/>
            </a:xfrm>
            <a:prstGeom prst="rect">
              <a:avLst/>
            </a:prstGeom>
            <a:solidFill>
              <a:srgbClr val="C9C9C9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 b="1" dirty="0"/>
            </a:p>
          </p:txBody>
        </p:sp>
        <p:sp>
          <p:nvSpPr>
            <p:cNvPr id="95" name="Google Shape;299;p35">
              <a:extLst>
                <a:ext uri="{FF2B5EF4-FFF2-40B4-BE49-F238E27FC236}">
                  <a16:creationId xmlns:a16="http://schemas.microsoft.com/office/drawing/2014/main" id="{81D53EFC-B32B-1904-F628-63D52E00EF53}"/>
                </a:ext>
              </a:extLst>
            </p:cNvPr>
            <p:cNvSpPr/>
            <p:nvPr/>
          </p:nvSpPr>
          <p:spPr>
            <a:xfrm>
              <a:off x="8509465" y="5349239"/>
              <a:ext cx="418400" cy="92851"/>
            </a:xfrm>
            <a:prstGeom prst="rect">
              <a:avLst/>
            </a:prstGeom>
            <a:solidFill>
              <a:srgbClr val="F4B183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 dirty="0"/>
            </a:p>
          </p:txBody>
        </p:sp>
        <p:sp>
          <p:nvSpPr>
            <p:cNvPr id="96" name="Google Shape;299;p35">
              <a:extLst>
                <a:ext uri="{FF2B5EF4-FFF2-40B4-BE49-F238E27FC236}">
                  <a16:creationId xmlns:a16="http://schemas.microsoft.com/office/drawing/2014/main" id="{43C7399F-125F-0626-CAED-5418A8C37CE8}"/>
                </a:ext>
              </a:extLst>
            </p:cNvPr>
            <p:cNvSpPr/>
            <p:nvPr/>
          </p:nvSpPr>
          <p:spPr>
            <a:xfrm>
              <a:off x="8509465" y="5442090"/>
              <a:ext cx="418400" cy="92851"/>
            </a:xfrm>
            <a:prstGeom prst="rect">
              <a:avLst/>
            </a:prstGeom>
            <a:solidFill>
              <a:srgbClr val="FFD966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 dirty="0"/>
            </a:p>
          </p:txBody>
        </p:sp>
        <p:sp>
          <p:nvSpPr>
            <p:cNvPr id="97" name="Google Shape;360;p37">
              <a:extLst>
                <a:ext uri="{FF2B5EF4-FFF2-40B4-BE49-F238E27FC236}">
                  <a16:creationId xmlns:a16="http://schemas.microsoft.com/office/drawing/2014/main" id="{2662F2AF-865B-61B4-65C9-06E54EE8164E}"/>
                </a:ext>
              </a:extLst>
            </p:cNvPr>
            <p:cNvSpPr/>
            <p:nvPr/>
          </p:nvSpPr>
          <p:spPr>
            <a:xfrm>
              <a:off x="8513716" y="5256389"/>
              <a:ext cx="418400" cy="3564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" sz="2400" dirty="0"/>
                <a:t>2</a:t>
              </a:r>
              <a:endParaRPr sz="2400" dirty="0"/>
            </a:p>
          </p:txBody>
        </p:sp>
      </p:grpSp>
      <p:grpSp>
        <p:nvGrpSpPr>
          <p:cNvPr id="98" name="Group 348">
            <a:extLst>
              <a:ext uri="{FF2B5EF4-FFF2-40B4-BE49-F238E27FC236}">
                <a16:creationId xmlns:a16="http://schemas.microsoft.com/office/drawing/2014/main" id="{520F4285-AEFC-0A07-EC53-4DD10578D40D}"/>
              </a:ext>
            </a:extLst>
          </p:cNvPr>
          <p:cNvGrpSpPr/>
          <p:nvPr/>
        </p:nvGrpSpPr>
        <p:grpSpPr>
          <a:xfrm>
            <a:off x="7714938" y="3715568"/>
            <a:ext cx="422651" cy="359843"/>
            <a:chOff x="8509465" y="5256388"/>
            <a:chExt cx="422651" cy="359843"/>
          </a:xfrm>
        </p:grpSpPr>
        <p:sp>
          <p:nvSpPr>
            <p:cNvPr id="99" name="Google Shape;299;p35">
              <a:extLst>
                <a:ext uri="{FF2B5EF4-FFF2-40B4-BE49-F238E27FC236}">
                  <a16:creationId xmlns:a16="http://schemas.microsoft.com/office/drawing/2014/main" id="{2E9957B5-6BAA-827D-200F-39578AC7EC07}"/>
                </a:ext>
              </a:extLst>
            </p:cNvPr>
            <p:cNvSpPr/>
            <p:nvPr/>
          </p:nvSpPr>
          <p:spPr>
            <a:xfrm>
              <a:off x="8509465" y="5256388"/>
              <a:ext cx="418400" cy="92851"/>
            </a:xfrm>
            <a:prstGeom prst="rect">
              <a:avLst/>
            </a:prstGeom>
            <a:solidFill>
              <a:srgbClr val="C5E0B4"/>
            </a:solidFill>
            <a:ln w="9525" cap="flat" cmpd="sng">
              <a:solidFill>
                <a:srgbClr val="C5E0B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 dirty="0"/>
            </a:p>
          </p:txBody>
        </p:sp>
        <p:sp>
          <p:nvSpPr>
            <p:cNvPr id="100" name="Google Shape;299;p35">
              <a:extLst>
                <a:ext uri="{FF2B5EF4-FFF2-40B4-BE49-F238E27FC236}">
                  <a16:creationId xmlns:a16="http://schemas.microsoft.com/office/drawing/2014/main" id="{5E5C3B0E-BAB8-57BF-6F06-D41E0D8CC42D}"/>
                </a:ext>
              </a:extLst>
            </p:cNvPr>
            <p:cNvSpPr/>
            <p:nvPr/>
          </p:nvSpPr>
          <p:spPr>
            <a:xfrm>
              <a:off x="8509465" y="5523380"/>
              <a:ext cx="418400" cy="92851"/>
            </a:xfrm>
            <a:prstGeom prst="rect">
              <a:avLst/>
            </a:prstGeom>
            <a:solidFill>
              <a:srgbClr val="C9C9C9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 b="1" dirty="0"/>
            </a:p>
          </p:txBody>
        </p:sp>
        <p:sp>
          <p:nvSpPr>
            <p:cNvPr id="101" name="Google Shape;299;p35">
              <a:extLst>
                <a:ext uri="{FF2B5EF4-FFF2-40B4-BE49-F238E27FC236}">
                  <a16:creationId xmlns:a16="http://schemas.microsoft.com/office/drawing/2014/main" id="{CB9EE81A-DFDF-2581-68F1-B0D640DBBC9C}"/>
                </a:ext>
              </a:extLst>
            </p:cNvPr>
            <p:cNvSpPr/>
            <p:nvPr/>
          </p:nvSpPr>
          <p:spPr>
            <a:xfrm>
              <a:off x="8509465" y="5349239"/>
              <a:ext cx="418400" cy="92851"/>
            </a:xfrm>
            <a:prstGeom prst="rect">
              <a:avLst/>
            </a:prstGeom>
            <a:solidFill>
              <a:srgbClr val="F4B183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 dirty="0"/>
            </a:p>
          </p:txBody>
        </p:sp>
        <p:sp>
          <p:nvSpPr>
            <p:cNvPr id="102" name="Google Shape;299;p35">
              <a:extLst>
                <a:ext uri="{FF2B5EF4-FFF2-40B4-BE49-F238E27FC236}">
                  <a16:creationId xmlns:a16="http://schemas.microsoft.com/office/drawing/2014/main" id="{535E71A6-A946-FDA7-C75D-06B6A9513587}"/>
                </a:ext>
              </a:extLst>
            </p:cNvPr>
            <p:cNvSpPr/>
            <p:nvPr/>
          </p:nvSpPr>
          <p:spPr>
            <a:xfrm>
              <a:off x="8509465" y="5442090"/>
              <a:ext cx="418400" cy="92851"/>
            </a:xfrm>
            <a:prstGeom prst="rect">
              <a:avLst/>
            </a:prstGeom>
            <a:solidFill>
              <a:srgbClr val="FFD966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 dirty="0"/>
            </a:p>
          </p:txBody>
        </p:sp>
        <p:sp>
          <p:nvSpPr>
            <p:cNvPr id="103" name="Google Shape;360;p37">
              <a:extLst>
                <a:ext uri="{FF2B5EF4-FFF2-40B4-BE49-F238E27FC236}">
                  <a16:creationId xmlns:a16="http://schemas.microsoft.com/office/drawing/2014/main" id="{FEB57ACE-9FC8-12D9-6B9F-FB4853E546E6}"/>
                </a:ext>
              </a:extLst>
            </p:cNvPr>
            <p:cNvSpPr/>
            <p:nvPr/>
          </p:nvSpPr>
          <p:spPr>
            <a:xfrm>
              <a:off x="8513716" y="5256389"/>
              <a:ext cx="418400" cy="3564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" sz="2400" dirty="0"/>
                <a:t>3</a:t>
              </a:r>
              <a:endParaRPr sz="2400" dirty="0"/>
            </a:p>
          </p:txBody>
        </p:sp>
      </p:grpSp>
      <p:grpSp>
        <p:nvGrpSpPr>
          <p:cNvPr id="104" name="Group 355">
            <a:extLst>
              <a:ext uri="{FF2B5EF4-FFF2-40B4-BE49-F238E27FC236}">
                <a16:creationId xmlns:a16="http://schemas.microsoft.com/office/drawing/2014/main" id="{D84BE0A3-1595-5D94-C672-8D3EE5A0BCCC}"/>
              </a:ext>
            </a:extLst>
          </p:cNvPr>
          <p:cNvGrpSpPr/>
          <p:nvPr/>
        </p:nvGrpSpPr>
        <p:grpSpPr>
          <a:xfrm>
            <a:off x="6455487" y="4631272"/>
            <a:ext cx="422651" cy="359843"/>
            <a:chOff x="8509465" y="5256388"/>
            <a:chExt cx="422651" cy="359843"/>
          </a:xfrm>
        </p:grpSpPr>
        <p:sp>
          <p:nvSpPr>
            <p:cNvPr id="105" name="Google Shape;299;p35">
              <a:extLst>
                <a:ext uri="{FF2B5EF4-FFF2-40B4-BE49-F238E27FC236}">
                  <a16:creationId xmlns:a16="http://schemas.microsoft.com/office/drawing/2014/main" id="{311EE541-5F58-2C27-8C23-E57A35D53E39}"/>
                </a:ext>
              </a:extLst>
            </p:cNvPr>
            <p:cNvSpPr/>
            <p:nvPr/>
          </p:nvSpPr>
          <p:spPr>
            <a:xfrm>
              <a:off x="8509465" y="5256388"/>
              <a:ext cx="418400" cy="92851"/>
            </a:xfrm>
            <a:prstGeom prst="rect">
              <a:avLst/>
            </a:prstGeom>
            <a:solidFill>
              <a:srgbClr val="C5E0B4"/>
            </a:solidFill>
            <a:ln w="9525" cap="flat" cmpd="sng">
              <a:solidFill>
                <a:srgbClr val="C5E0B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 dirty="0"/>
            </a:p>
          </p:txBody>
        </p:sp>
        <p:sp>
          <p:nvSpPr>
            <p:cNvPr id="106" name="Google Shape;299;p35">
              <a:extLst>
                <a:ext uri="{FF2B5EF4-FFF2-40B4-BE49-F238E27FC236}">
                  <a16:creationId xmlns:a16="http://schemas.microsoft.com/office/drawing/2014/main" id="{04D57C64-59ED-E7E8-7B5B-F95F14589D66}"/>
                </a:ext>
              </a:extLst>
            </p:cNvPr>
            <p:cNvSpPr/>
            <p:nvPr/>
          </p:nvSpPr>
          <p:spPr>
            <a:xfrm>
              <a:off x="8509465" y="5523380"/>
              <a:ext cx="418400" cy="92851"/>
            </a:xfrm>
            <a:prstGeom prst="rect">
              <a:avLst/>
            </a:prstGeom>
            <a:solidFill>
              <a:srgbClr val="C9C9C9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 b="1" dirty="0"/>
            </a:p>
          </p:txBody>
        </p:sp>
        <p:sp>
          <p:nvSpPr>
            <p:cNvPr id="107" name="Google Shape;299;p35">
              <a:extLst>
                <a:ext uri="{FF2B5EF4-FFF2-40B4-BE49-F238E27FC236}">
                  <a16:creationId xmlns:a16="http://schemas.microsoft.com/office/drawing/2014/main" id="{17005D4B-1CCC-9D82-C92B-60D2FD2B3929}"/>
                </a:ext>
              </a:extLst>
            </p:cNvPr>
            <p:cNvSpPr/>
            <p:nvPr/>
          </p:nvSpPr>
          <p:spPr>
            <a:xfrm>
              <a:off x="8509465" y="5349239"/>
              <a:ext cx="418400" cy="92851"/>
            </a:xfrm>
            <a:prstGeom prst="rect">
              <a:avLst/>
            </a:prstGeom>
            <a:solidFill>
              <a:srgbClr val="F4B183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 dirty="0"/>
            </a:p>
          </p:txBody>
        </p:sp>
        <p:sp>
          <p:nvSpPr>
            <p:cNvPr id="108" name="Google Shape;299;p35">
              <a:extLst>
                <a:ext uri="{FF2B5EF4-FFF2-40B4-BE49-F238E27FC236}">
                  <a16:creationId xmlns:a16="http://schemas.microsoft.com/office/drawing/2014/main" id="{9C1D9FD5-2EBC-AEC6-45D0-27B005101F70}"/>
                </a:ext>
              </a:extLst>
            </p:cNvPr>
            <p:cNvSpPr/>
            <p:nvPr/>
          </p:nvSpPr>
          <p:spPr>
            <a:xfrm>
              <a:off x="8509465" y="5442090"/>
              <a:ext cx="418400" cy="92851"/>
            </a:xfrm>
            <a:prstGeom prst="rect">
              <a:avLst/>
            </a:prstGeom>
            <a:solidFill>
              <a:srgbClr val="FFD966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 dirty="0"/>
            </a:p>
          </p:txBody>
        </p:sp>
        <p:sp>
          <p:nvSpPr>
            <p:cNvPr id="109" name="Google Shape;360;p37">
              <a:extLst>
                <a:ext uri="{FF2B5EF4-FFF2-40B4-BE49-F238E27FC236}">
                  <a16:creationId xmlns:a16="http://schemas.microsoft.com/office/drawing/2014/main" id="{53E01C29-AF33-4A17-ACC9-5D6CAE5AEFEF}"/>
                </a:ext>
              </a:extLst>
            </p:cNvPr>
            <p:cNvSpPr/>
            <p:nvPr/>
          </p:nvSpPr>
          <p:spPr>
            <a:xfrm>
              <a:off x="8513716" y="5256389"/>
              <a:ext cx="418400" cy="3564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" sz="2400" dirty="0"/>
                <a:t>0</a:t>
              </a:r>
              <a:endParaRPr sz="2400" dirty="0"/>
            </a:p>
          </p:txBody>
        </p:sp>
      </p:grpSp>
      <p:grpSp>
        <p:nvGrpSpPr>
          <p:cNvPr id="110" name="Group 371">
            <a:extLst>
              <a:ext uri="{FF2B5EF4-FFF2-40B4-BE49-F238E27FC236}">
                <a16:creationId xmlns:a16="http://schemas.microsoft.com/office/drawing/2014/main" id="{092162F6-AFD4-9ED9-516A-B01E68996858}"/>
              </a:ext>
            </a:extLst>
          </p:cNvPr>
          <p:cNvGrpSpPr/>
          <p:nvPr/>
        </p:nvGrpSpPr>
        <p:grpSpPr>
          <a:xfrm>
            <a:off x="6878138" y="4631273"/>
            <a:ext cx="422651" cy="359843"/>
            <a:chOff x="8509465" y="5256388"/>
            <a:chExt cx="422651" cy="359843"/>
          </a:xfrm>
        </p:grpSpPr>
        <p:sp>
          <p:nvSpPr>
            <p:cNvPr id="111" name="Google Shape;299;p35">
              <a:extLst>
                <a:ext uri="{FF2B5EF4-FFF2-40B4-BE49-F238E27FC236}">
                  <a16:creationId xmlns:a16="http://schemas.microsoft.com/office/drawing/2014/main" id="{A3704F9B-E011-8E4D-1523-E9C8DE73B6E1}"/>
                </a:ext>
              </a:extLst>
            </p:cNvPr>
            <p:cNvSpPr/>
            <p:nvPr/>
          </p:nvSpPr>
          <p:spPr>
            <a:xfrm>
              <a:off x="8509465" y="5256388"/>
              <a:ext cx="418400" cy="92851"/>
            </a:xfrm>
            <a:prstGeom prst="rect">
              <a:avLst/>
            </a:prstGeom>
            <a:solidFill>
              <a:srgbClr val="C5E0B4"/>
            </a:solidFill>
            <a:ln w="9525" cap="flat" cmpd="sng">
              <a:solidFill>
                <a:srgbClr val="C5E0B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 dirty="0"/>
            </a:p>
          </p:txBody>
        </p:sp>
        <p:sp>
          <p:nvSpPr>
            <p:cNvPr id="112" name="Google Shape;299;p35">
              <a:extLst>
                <a:ext uri="{FF2B5EF4-FFF2-40B4-BE49-F238E27FC236}">
                  <a16:creationId xmlns:a16="http://schemas.microsoft.com/office/drawing/2014/main" id="{90F7371D-D5A4-A431-B3FA-B63CA46DCB51}"/>
                </a:ext>
              </a:extLst>
            </p:cNvPr>
            <p:cNvSpPr/>
            <p:nvPr/>
          </p:nvSpPr>
          <p:spPr>
            <a:xfrm>
              <a:off x="8509465" y="5523380"/>
              <a:ext cx="418400" cy="92851"/>
            </a:xfrm>
            <a:prstGeom prst="rect">
              <a:avLst/>
            </a:prstGeom>
            <a:solidFill>
              <a:srgbClr val="C9C9C9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 b="1" dirty="0"/>
            </a:p>
          </p:txBody>
        </p:sp>
        <p:sp>
          <p:nvSpPr>
            <p:cNvPr id="113" name="Google Shape;299;p35">
              <a:extLst>
                <a:ext uri="{FF2B5EF4-FFF2-40B4-BE49-F238E27FC236}">
                  <a16:creationId xmlns:a16="http://schemas.microsoft.com/office/drawing/2014/main" id="{5EA92F35-0FE6-E4F6-CF08-9043774B0F1E}"/>
                </a:ext>
              </a:extLst>
            </p:cNvPr>
            <p:cNvSpPr/>
            <p:nvPr/>
          </p:nvSpPr>
          <p:spPr>
            <a:xfrm>
              <a:off x="8509465" y="5349239"/>
              <a:ext cx="418400" cy="92851"/>
            </a:xfrm>
            <a:prstGeom prst="rect">
              <a:avLst/>
            </a:prstGeom>
            <a:solidFill>
              <a:srgbClr val="F4B183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 dirty="0"/>
            </a:p>
          </p:txBody>
        </p:sp>
        <p:sp>
          <p:nvSpPr>
            <p:cNvPr id="114" name="Google Shape;299;p35">
              <a:extLst>
                <a:ext uri="{FF2B5EF4-FFF2-40B4-BE49-F238E27FC236}">
                  <a16:creationId xmlns:a16="http://schemas.microsoft.com/office/drawing/2014/main" id="{48D009BC-757D-DC09-33F0-D5467DD532AD}"/>
                </a:ext>
              </a:extLst>
            </p:cNvPr>
            <p:cNvSpPr/>
            <p:nvPr/>
          </p:nvSpPr>
          <p:spPr>
            <a:xfrm>
              <a:off x="8509465" y="5442090"/>
              <a:ext cx="418400" cy="92851"/>
            </a:xfrm>
            <a:prstGeom prst="rect">
              <a:avLst/>
            </a:prstGeom>
            <a:solidFill>
              <a:srgbClr val="FFD966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 dirty="0"/>
            </a:p>
          </p:txBody>
        </p:sp>
        <p:sp>
          <p:nvSpPr>
            <p:cNvPr id="115" name="Google Shape;360;p37">
              <a:extLst>
                <a:ext uri="{FF2B5EF4-FFF2-40B4-BE49-F238E27FC236}">
                  <a16:creationId xmlns:a16="http://schemas.microsoft.com/office/drawing/2014/main" id="{C0FC0210-AC37-9ED0-FCDA-2A28B32BABBA}"/>
                </a:ext>
              </a:extLst>
            </p:cNvPr>
            <p:cNvSpPr/>
            <p:nvPr/>
          </p:nvSpPr>
          <p:spPr>
            <a:xfrm>
              <a:off x="8513716" y="5256389"/>
              <a:ext cx="418400" cy="3564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" sz="2400" dirty="0"/>
                <a:t>1</a:t>
              </a:r>
              <a:endParaRPr sz="2400" dirty="0"/>
            </a:p>
          </p:txBody>
        </p:sp>
      </p:grpSp>
      <p:grpSp>
        <p:nvGrpSpPr>
          <p:cNvPr id="116" name="Group 378">
            <a:extLst>
              <a:ext uri="{FF2B5EF4-FFF2-40B4-BE49-F238E27FC236}">
                <a16:creationId xmlns:a16="http://schemas.microsoft.com/office/drawing/2014/main" id="{EABE2316-EC0E-40FB-E05E-2D5E8182A533}"/>
              </a:ext>
            </a:extLst>
          </p:cNvPr>
          <p:cNvGrpSpPr/>
          <p:nvPr/>
        </p:nvGrpSpPr>
        <p:grpSpPr>
          <a:xfrm>
            <a:off x="7300789" y="4631273"/>
            <a:ext cx="422651" cy="359843"/>
            <a:chOff x="8509465" y="5256388"/>
            <a:chExt cx="422651" cy="359843"/>
          </a:xfrm>
        </p:grpSpPr>
        <p:sp>
          <p:nvSpPr>
            <p:cNvPr id="117" name="Google Shape;299;p35">
              <a:extLst>
                <a:ext uri="{FF2B5EF4-FFF2-40B4-BE49-F238E27FC236}">
                  <a16:creationId xmlns:a16="http://schemas.microsoft.com/office/drawing/2014/main" id="{FC017492-EEDE-2B85-8A8E-D3F4314FDDE8}"/>
                </a:ext>
              </a:extLst>
            </p:cNvPr>
            <p:cNvSpPr/>
            <p:nvPr/>
          </p:nvSpPr>
          <p:spPr>
            <a:xfrm>
              <a:off x="8509465" y="5256388"/>
              <a:ext cx="418400" cy="92851"/>
            </a:xfrm>
            <a:prstGeom prst="rect">
              <a:avLst/>
            </a:prstGeom>
            <a:solidFill>
              <a:srgbClr val="C5E0B4"/>
            </a:solidFill>
            <a:ln w="9525" cap="flat" cmpd="sng">
              <a:solidFill>
                <a:srgbClr val="C5E0B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 dirty="0"/>
            </a:p>
          </p:txBody>
        </p:sp>
        <p:sp>
          <p:nvSpPr>
            <p:cNvPr id="118" name="Google Shape;299;p35">
              <a:extLst>
                <a:ext uri="{FF2B5EF4-FFF2-40B4-BE49-F238E27FC236}">
                  <a16:creationId xmlns:a16="http://schemas.microsoft.com/office/drawing/2014/main" id="{9CAA7120-37E1-3683-0B34-9C9C05CD4690}"/>
                </a:ext>
              </a:extLst>
            </p:cNvPr>
            <p:cNvSpPr/>
            <p:nvPr/>
          </p:nvSpPr>
          <p:spPr>
            <a:xfrm>
              <a:off x="8509465" y="5523380"/>
              <a:ext cx="418400" cy="92851"/>
            </a:xfrm>
            <a:prstGeom prst="rect">
              <a:avLst/>
            </a:prstGeom>
            <a:solidFill>
              <a:srgbClr val="C9C9C9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 b="1" dirty="0"/>
            </a:p>
          </p:txBody>
        </p:sp>
        <p:sp>
          <p:nvSpPr>
            <p:cNvPr id="119" name="Google Shape;299;p35">
              <a:extLst>
                <a:ext uri="{FF2B5EF4-FFF2-40B4-BE49-F238E27FC236}">
                  <a16:creationId xmlns:a16="http://schemas.microsoft.com/office/drawing/2014/main" id="{06625583-A763-8FE2-A84F-9906DBEADDE2}"/>
                </a:ext>
              </a:extLst>
            </p:cNvPr>
            <p:cNvSpPr/>
            <p:nvPr/>
          </p:nvSpPr>
          <p:spPr>
            <a:xfrm>
              <a:off x="8509465" y="5349239"/>
              <a:ext cx="418400" cy="92851"/>
            </a:xfrm>
            <a:prstGeom prst="rect">
              <a:avLst/>
            </a:prstGeom>
            <a:solidFill>
              <a:srgbClr val="F4B183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 dirty="0"/>
            </a:p>
          </p:txBody>
        </p:sp>
        <p:sp>
          <p:nvSpPr>
            <p:cNvPr id="120" name="Google Shape;299;p35">
              <a:extLst>
                <a:ext uri="{FF2B5EF4-FFF2-40B4-BE49-F238E27FC236}">
                  <a16:creationId xmlns:a16="http://schemas.microsoft.com/office/drawing/2014/main" id="{38336CA2-FFC2-67ED-DF32-CE5BBB8D3A34}"/>
                </a:ext>
              </a:extLst>
            </p:cNvPr>
            <p:cNvSpPr/>
            <p:nvPr/>
          </p:nvSpPr>
          <p:spPr>
            <a:xfrm>
              <a:off x="8509465" y="5442090"/>
              <a:ext cx="418400" cy="92851"/>
            </a:xfrm>
            <a:prstGeom prst="rect">
              <a:avLst/>
            </a:prstGeom>
            <a:solidFill>
              <a:srgbClr val="FFD966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 dirty="0"/>
            </a:p>
          </p:txBody>
        </p:sp>
        <p:sp>
          <p:nvSpPr>
            <p:cNvPr id="121" name="Google Shape;360;p37">
              <a:extLst>
                <a:ext uri="{FF2B5EF4-FFF2-40B4-BE49-F238E27FC236}">
                  <a16:creationId xmlns:a16="http://schemas.microsoft.com/office/drawing/2014/main" id="{2CBAFF50-3030-ACF1-B3BA-BB0E2CD1784D}"/>
                </a:ext>
              </a:extLst>
            </p:cNvPr>
            <p:cNvSpPr/>
            <p:nvPr/>
          </p:nvSpPr>
          <p:spPr>
            <a:xfrm>
              <a:off x="8513716" y="5256389"/>
              <a:ext cx="418400" cy="3564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" sz="2400" dirty="0"/>
                <a:t>2</a:t>
              </a:r>
              <a:endParaRPr sz="2400" dirty="0"/>
            </a:p>
          </p:txBody>
        </p:sp>
      </p:grpSp>
      <p:grpSp>
        <p:nvGrpSpPr>
          <p:cNvPr id="122" name="Group 384">
            <a:extLst>
              <a:ext uri="{FF2B5EF4-FFF2-40B4-BE49-F238E27FC236}">
                <a16:creationId xmlns:a16="http://schemas.microsoft.com/office/drawing/2014/main" id="{6077FC67-898C-36E4-D0B0-2F31BC86F549}"/>
              </a:ext>
            </a:extLst>
          </p:cNvPr>
          <p:cNvGrpSpPr/>
          <p:nvPr/>
        </p:nvGrpSpPr>
        <p:grpSpPr>
          <a:xfrm>
            <a:off x="7719189" y="4631274"/>
            <a:ext cx="422651" cy="359843"/>
            <a:chOff x="8509465" y="5256388"/>
            <a:chExt cx="422651" cy="359843"/>
          </a:xfrm>
        </p:grpSpPr>
        <p:sp>
          <p:nvSpPr>
            <p:cNvPr id="123" name="Google Shape;299;p35">
              <a:extLst>
                <a:ext uri="{FF2B5EF4-FFF2-40B4-BE49-F238E27FC236}">
                  <a16:creationId xmlns:a16="http://schemas.microsoft.com/office/drawing/2014/main" id="{FC183C75-6520-8FEF-FD59-27204C63AE07}"/>
                </a:ext>
              </a:extLst>
            </p:cNvPr>
            <p:cNvSpPr/>
            <p:nvPr/>
          </p:nvSpPr>
          <p:spPr>
            <a:xfrm>
              <a:off x="8509465" y="5256388"/>
              <a:ext cx="418400" cy="92851"/>
            </a:xfrm>
            <a:prstGeom prst="rect">
              <a:avLst/>
            </a:prstGeom>
            <a:solidFill>
              <a:srgbClr val="C5E0B4"/>
            </a:solidFill>
            <a:ln w="9525" cap="flat" cmpd="sng">
              <a:solidFill>
                <a:srgbClr val="C5E0B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 dirty="0"/>
            </a:p>
          </p:txBody>
        </p:sp>
        <p:sp>
          <p:nvSpPr>
            <p:cNvPr id="124" name="Google Shape;299;p35">
              <a:extLst>
                <a:ext uri="{FF2B5EF4-FFF2-40B4-BE49-F238E27FC236}">
                  <a16:creationId xmlns:a16="http://schemas.microsoft.com/office/drawing/2014/main" id="{B8ADC51D-A399-41B6-C4EE-C9D03F1DD0FD}"/>
                </a:ext>
              </a:extLst>
            </p:cNvPr>
            <p:cNvSpPr/>
            <p:nvPr/>
          </p:nvSpPr>
          <p:spPr>
            <a:xfrm>
              <a:off x="8509465" y="5523380"/>
              <a:ext cx="418400" cy="92851"/>
            </a:xfrm>
            <a:prstGeom prst="rect">
              <a:avLst/>
            </a:prstGeom>
            <a:solidFill>
              <a:srgbClr val="C9C9C9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 b="1" dirty="0"/>
            </a:p>
          </p:txBody>
        </p:sp>
        <p:sp>
          <p:nvSpPr>
            <p:cNvPr id="125" name="Google Shape;299;p35">
              <a:extLst>
                <a:ext uri="{FF2B5EF4-FFF2-40B4-BE49-F238E27FC236}">
                  <a16:creationId xmlns:a16="http://schemas.microsoft.com/office/drawing/2014/main" id="{1FC77CCC-6F43-F32A-773E-69D922A91FE2}"/>
                </a:ext>
              </a:extLst>
            </p:cNvPr>
            <p:cNvSpPr/>
            <p:nvPr/>
          </p:nvSpPr>
          <p:spPr>
            <a:xfrm>
              <a:off x="8509465" y="5349239"/>
              <a:ext cx="418400" cy="92851"/>
            </a:xfrm>
            <a:prstGeom prst="rect">
              <a:avLst/>
            </a:prstGeom>
            <a:solidFill>
              <a:srgbClr val="F4B183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 dirty="0"/>
            </a:p>
          </p:txBody>
        </p:sp>
        <p:sp>
          <p:nvSpPr>
            <p:cNvPr id="126" name="Google Shape;299;p35">
              <a:extLst>
                <a:ext uri="{FF2B5EF4-FFF2-40B4-BE49-F238E27FC236}">
                  <a16:creationId xmlns:a16="http://schemas.microsoft.com/office/drawing/2014/main" id="{F788D972-BD3C-D492-5F6D-8426E36A1DE8}"/>
                </a:ext>
              </a:extLst>
            </p:cNvPr>
            <p:cNvSpPr/>
            <p:nvPr/>
          </p:nvSpPr>
          <p:spPr>
            <a:xfrm>
              <a:off x="8509465" y="5442090"/>
              <a:ext cx="418400" cy="92851"/>
            </a:xfrm>
            <a:prstGeom prst="rect">
              <a:avLst/>
            </a:prstGeom>
            <a:solidFill>
              <a:srgbClr val="FFD966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 dirty="0"/>
            </a:p>
          </p:txBody>
        </p:sp>
        <p:sp>
          <p:nvSpPr>
            <p:cNvPr id="127" name="Google Shape;360;p37">
              <a:extLst>
                <a:ext uri="{FF2B5EF4-FFF2-40B4-BE49-F238E27FC236}">
                  <a16:creationId xmlns:a16="http://schemas.microsoft.com/office/drawing/2014/main" id="{8B32000A-A89D-9363-BF4D-8CABBD648F27}"/>
                </a:ext>
              </a:extLst>
            </p:cNvPr>
            <p:cNvSpPr/>
            <p:nvPr/>
          </p:nvSpPr>
          <p:spPr>
            <a:xfrm>
              <a:off x="8513716" y="5256389"/>
              <a:ext cx="418400" cy="3564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" sz="2400" dirty="0"/>
                <a:t>3</a:t>
              </a:r>
              <a:endParaRPr sz="2400" dirty="0"/>
            </a:p>
          </p:txBody>
        </p:sp>
      </p:grpSp>
      <p:sp>
        <p:nvSpPr>
          <p:cNvPr id="128" name="Google Shape;1534;g60be7dcf1c_0_434">
            <a:extLst>
              <a:ext uri="{FF2B5EF4-FFF2-40B4-BE49-F238E27FC236}">
                <a16:creationId xmlns:a16="http://schemas.microsoft.com/office/drawing/2014/main" id="{268A6E76-0D49-5524-ED59-29B58101E888}"/>
              </a:ext>
            </a:extLst>
          </p:cNvPr>
          <p:cNvSpPr txBox="1"/>
          <p:nvPr/>
        </p:nvSpPr>
        <p:spPr>
          <a:xfrm>
            <a:off x="973075" y="5797728"/>
            <a:ext cx="7497671" cy="598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US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Every node transmits its vector </a:t>
            </a:r>
            <a:r>
              <a:rPr lang="en-US" sz="1600" b="1" i="1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to every other node</a:t>
            </a:r>
            <a:r>
              <a:rPr lang="en-US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and </a:t>
            </a:r>
            <a:r>
              <a:rPr lang="en-US" sz="1600" b="1" i="1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aggregation</a:t>
            </a:r>
            <a:r>
              <a:rPr lang="en-US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(“reduction”) is performed (</a:t>
            </a:r>
            <a:r>
              <a:rPr lang="en-US" sz="1600" b="1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e.g</a:t>
            </a:r>
            <a:r>
              <a:rPr lang="en-US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sum, min, max).</a:t>
            </a:r>
            <a:endParaRPr lang="de-DE"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75297AF4-5136-74B6-0CD2-4B18B859E9A7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27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9754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4">
          <a:extLst>
            <a:ext uri="{FF2B5EF4-FFF2-40B4-BE49-F238E27FC236}">
              <a16:creationId xmlns:a16="http://schemas.microsoft.com/office/drawing/2014/main" id="{2AF98301-66F2-480F-CD03-F4B4D32AC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656;g60be7dcf1c_0_555">
            <a:extLst>
              <a:ext uri="{FF2B5EF4-FFF2-40B4-BE49-F238E27FC236}">
                <a16:creationId xmlns:a16="http://schemas.microsoft.com/office/drawing/2014/main" id="{C24F67FC-DD9B-9395-89E2-0DC7241FD907}"/>
              </a:ext>
            </a:extLst>
          </p:cNvPr>
          <p:cNvSpPr txBox="1"/>
          <p:nvPr/>
        </p:nvSpPr>
        <p:spPr>
          <a:xfrm>
            <a:off x="0" y="540000"/>
            <a:ext cx="8211000" cy="101893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10" name="Google Shape;1657;g60be7dcf1c_0_555">
            <a:extLst>
              <a:ext uri="{FF2B5EF4-FFF2-40B4-BE49-F238E27FC236}">
                <a16:creationId xmlns:a16="http://schemas.microsoft.com/office/drawing/2014/main" id="{64D34360-003A-D190-150F-C2E146F9E5B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3075" y="26970"/>
            <a:ext cx="8171100" cy="1573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l">
              <a:buSzPts val="1100"/>
            </a:pPr>
            <a:br>
              <a:rPr lang="en-GB" sz="2000" dirty="0"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2000" dirty="0">
                <a:latin typeface="Consolas"/>
                <a:ea typeface="Consolas"/>
                <a:cs typeface="Consolas"/>
                <a:sym typeface="Consolas"/>
              </a:rPr>
              <a:t>Example of a Collective Communication </a:t>
            </a:r>
            <a:br>
              <a:rPr lang="en-GB" sz="2000" dirty="0"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4000" dirty="0">
                <a:latin typeface="Consolas"/>
                <a:ea typeface="Consolas"/>
                <a:cs typeface="Consolas"/>
                <a:sym typeface="Consolas"/>
              </a:rPr>
              <a:t>All-to-All</a:t>
            </a:r>
            <a:endParaRPr lang="en-GB" sz="4000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" name="Google Shape;1534;g60be7dcf1c_0_434">
            <a:extLst>
              <a:ext uri="{FF2B5EF4-FFF2-40B4-BE49-F238E27FC236}">
                <a16:creationId xmlns:a16="http://schemas.microsoft.com/office/drawing/2014/main" id="{F5B23B69-6395-C0DF-BB20-EFE07B1022AE}"/>
              </a:ext>
            </a:extLst>
          </p:cNvPr>
          <p:cNvSpPr txBox="1"/>
          <p:nvPr/>
        </p:nvSpPr>
        <p:spPr>
          <a:xfrm>
            <a:off x="1153771" y="2152886"/>
            <a:ext cx="7744044" cy="2904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⇀ Each node sends a </a:t>
            </a:r>
            <a:r>
              <a:rPr lang="en-GB" sz="1600" b="1" i="1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unique </a:t>
            </a: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vector to </a:t>
            </a:r>
            <a:r>
              <a:rPr lang="en-GB" sz="1600" b="1" i="1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every</a:t>
            </a: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other node</a:t>
            </a:r>
          </a:p>
          <a:p>
            <a:pPr lvl="0">
              <a:lnSpc>
                <a:spcPct val="115000"/>
              </a:lnSpc>
            </a:pPr>
            <a:endParaRPr lang="en-GB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⇀ Algorithmic realization in </a:t>
            </a:r>
            <a:r>
              <a:rPr lang="en-GB" sz="1600" b="1" i="1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phases=matchings</a:t>
            </a: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GB" sz="1600" b="1" i="1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Bruck’s algorithm</a:t>
            </a:r>
          </a:p>
          <a:p>
            <a:pPr lvl="0">
              <a:lnSpc>
                <a:spcPct val="115000"/>
              </a:lnSpc>
            </a:pPr>
            <a:endParaRPr lang="en-GB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en-GB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en-GB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en-US" sz="1600" b="1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de-DE"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" name="Google Shape;1534;g60be7dcf1c_0_434">
            <a:extLst>
              <a:ext uri="{FF2B5EF4-FFF2-40B4-BE49-F238E27FC236}">
                <a16:creationId xmlns:a16="http://schemas.microsoft.com/office/drawing/2014/main" id="{E97B8D43-2D58-C085-0625-A0746701E0EB}"/>
              </a:ext>
            </a:extLst>
          </p:cNvPr>
          <p:cNvSpPr txBox="1"/>
          <p:nvPr/>
        </p:nvSpPr>
        <p:spPr>
          <a:xfrm>
            <a:off x="1146737" y="3163214"/>
            <a:ext cx="7891755" cy="1025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en-US" sz="1600" b="1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de-DE"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ED6E9FF5-C49F-EDA1-0352-5C2810660013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28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grpSp>
        <p:nvGrpSpPr>
          <p:cNvPr id="12" name="Group 2">
            <a:extLst>
              <a:ext uri="{FF2B5EF4-FFF2-40B4-BE49-F238E27FC236}">
                <a16:creationId xmlns:a16="http://schemas.microsoft.com/office/drawing/2014/main" id="{E2C7A9DD-175D-AF96-E5CB-F23BE3C41E59}"/>
              </a:ext>
            </a:extLst>
          </p:cNvPr>
          <p:cNvGrpSpPr/>
          <p:nvPr/>
        </p:nvGrpSpPr>
        <p:grpSpPr>
          <a:xfrm>
            <a:off x="869519" y="4309794"/>
            <a:ext cx="3617467" cy="1107845"/>
            <a:chOff x="356280" y="4557032"/>
            <a:chExt cx="4811941" cy="1606942"/>
          </a:xfrm>
        </p:grpSpPr>
        <p:pic>
          <p:nvPicPr>
            <p:cNvPr id="16" name="Picture 1" descr="A grid with red squares&#10;&#10;AI-generated content may be incorrect.">
              <a:extLst>
                <a:ext uri="{FF2B5EF4-FFF2-40B4-BE49-F238E27FC236}">
                  <a16:creationId xmlns:a16="http://schemas.microsoft.com/office/drawing/2014/main" id="{1AC4CC06-878B-25A1-EF6C-AADED6BA4AD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823381" y="4575176"/>
              <a:ext cx="1344840" cy="1372507"/>
            </a:xfrm>
            <a:prstGeom prst="rect">
              <a:avLst/>
            </a:prstGeom>
          </p:spPr>
        </p:pic>
        <p:pic>
          <p:nvPicPr>
            <p:cNvPr id="17" name="Picture 5" descr="A grid with red squares&#10;&#10;AI-generated content may be incorrect.">
              <a:extLst>
                <a:ext uri="{FF2B5EF4-FFF2-40B4-BE49-F238E27FC236}">
                  <a16:creationId xmlns:a16="http://schemas.microsoft.com/office/drawing/2014/main" id="{B86C3C1D-AF93-15D8-6727-1AEA27959EA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56280" y="4576989"/>
              <a:ext cx="1352097" cy="1379765"/>
            </a:xfrm>
            <a:prstGeom prst="rect">
              <a:avLst/>
            </a:prstGeom>
          </p:spPr>
        </p:pic>
        <p:pic>
          <p:nvPicPr>
            <p:cNvPr id="18" name="Picture 6" descr="A grid with red squares&#10;&#10;AI-generated content may be incorrect.">
              <a:extLst>
                <a:ext uri="{FF2B5EF4-FFF2-40B4-BE49-F238E27FC236}">
                  <a16:creationId xmlns:a16="http://schemas.microsoft.com/office/drawing/2014/main" id="{ABECFEEB-5FA5-93EA-422B-0A0FED8C517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092554" y="4557032"/>
              <a:ext cx="1373869" cy="1401537"/>
            </a:xfrm>
            <a:prstGeom prst="rect">
              <a:avLst/>
            </a:prstGeom>
          </p:spPr>
        </p:pic>
        <p:sp>
          <p:nvSpPr>
            <p:cNvPr id="19" name="Google Shape;1534;g60be7dcf1c_0_434">
              <a:extLst>
                <a:ext uri="{FF2B5EF4-FFF2-40B4-BE49-F238E27FC236}">
                  <a16:creationId xmlns:a16="http://schemas.microsoft.com/office/drawing/2014/main" id="{A816070E-A7C3-C32B-67CB-43AEFDC3159E}"/>
                </a:ext>
              </a:extLst>
            </p:cNvPr>
            <p:cNvSpPr txBox="1"/>
            <p:nvPr/>
          </p:nvSpPr>
          <p:spPr>
            <a:xfrm>
              <a:off x="688211" y="5874819"/>
              <a:ext cx="704715" cy="289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>
                <a:lnSpc>
                  <a:spcPct val="114999"/>
                </a:lnSpc>
              </a:pPr>
              <a:r>
                <a:rPr lang="en-GB" sz="1600" dirty="0">
                  <a:solidFill>
                    <a:schemeClr val="tx1"/>
                  </a:solidFill>
                  <a:latin typeface="Consolas"/>
                </a:rPr>
                <a:t>K=0</a:t>
              </a:r>
            </a:p>
          </p:txBody>
        </p:sp>
        <p:sp>
          <p:nvSpPr>
            <p:cNvPr id="20" name="Google Shape;1534;g60be7dcf1c_0_434">
              <a:extLst>
                <a:ext uri="{FF2B5EF4-FFF2-40B4-BE49-F238E27FC236}">
                  <a16:creationId xmlns:a16="http://schemas.microsoft.com/office/drawing/2014/main" id="{FBE77A3E-F624-9D9C-6B09-CA23BC7ED406}"/>
                </a:ext>
              </a:extLst>
            </p:cNvPr>
            <p:cNvSpPr txBox="1"/>
            <p:nvPr/>
          </p:nvSpPr>
          <p:spPr>
            <a:xfrm>
              <a:off x="2429928" y="5874818"/>
              <a:ext cx="704714" cy="289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>
                <a:lnSpc>
                  <a:spcPct val="114999"/>
                </a:lnSpc>
              </a:pPr>
              <a:r>
                <a:rPr lang="en-GB" sz="1600" dirty="0">
                  <a:solidFill>
                    <a:schemeClr val="tx1"/>
                  </a:solidFill>
                  <a:latin typeface="Consolas"/>
                </a:rPr>
                <a:t>K=1</a:t>
              </a:r>
            </a:p>
          </p:txBody>
        </p:sp>
        <p:sp>
          <p:nvSpPr>
            <p:cNvPr id="21" name="Google Shape;1534;g60be7dcf1c_0_434">
              <a:extLst>
                <a:ext uri="{FF2B5EF4-FFF2-40B4-BE49-F238E27FC236}">
                  <a16:creationId xmlns:a16="http://schemas.microsoft.com/office/drawing/2014/main" id="{C0197C29-ACCC-D9CB-A273-0244D4395E6E}"/>
                </a:ext>
              </a:extLst>
            </p:cNvPr>
            <p:cNvSpPr txBox="1"/>
            <p:nvPr/>
          </p:nvSpPr>
          <p:spPr>
            <a:xfrm>
              <a:off x="4166052" y="5874818"/>
              <a:ext cx="695787" cy="1401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>
                <a:lnSpc>
                  <a:spcPct val="114999"/>
                </a:lnSpc>
              </a:pPr>
              <a:r>
                <a:rPr lang="en-GB" sz="1600" dirty="0">
                  <a:solidFill>
                    <a:schemeClr val="tx1"/>
                  </a:solidFill>
                  <a:latin typeface="Consolas"/>
                </a:rPr>
                <a:t>K=2</a:t>
              </a:r>
            </a:p>
          </p:txBody>
        </p:sp>
      </p:grpSp>
      <p:sp>
        <p:nvSpPr>
          <p:cNvPr id="22" name="Google Shape;376;p37">
            <a:extLst>
              <a:ext uri="{FF2B5EF4-FFF2-40B4-BE49-F238E27FC236}">
                <a16:creationId xmlns:a16="http://schemas.microsoft.com/office/drawing/2014/main" id="{6F9F8CF4-82EA-9329-2BDB-3FAF0C901734}"/>
              </a:ext>
            </a:extLst>
          </p:cNvPr>
          <p:cNvSpPr/>
          <p:nvPr/>
        </p:nvSpPr>
        <p:spPr>
          <a:xfrm>
            <a:off x="4868047" y="4454695"/>
            <a:ext cx="1077348" cy="7636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>
            <a:solidFill>
              <a:srgbClr val="8FAA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 dirty="0"/>
          </a:p>
        </p:txBody>
      </p:sp>
      <p:pic>
        <p:nvPicPr>
          <p:cNvPr id="23" name="Grafik 16">
            <a:extLst>
              <a:ext uri="{FF2B5EF4-FFF2-40B4-BE49-F238E27FC236}">
                <a16:creationId xmlns:a16="http://schemas.microsoft.com/office/drawing/2014/main" id="{60F9C016-17E6-8638-A76F-DB1AF312964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23852" y="3300345"/>
            <a:ext cx="1995506" cy="1609279"/>
          </a:xfrm>
          <a:prstGeom prst="rect">
            <a:avLst/>
          </a:prstGeom>
        </p:spPr>
      </p:pic>
      <p:pic>
        <p:nvPicPr>
          <p:cNvPr id="24" name="Grafik 18">
            <a:extLst>
              <a:ext uri="{FF2B5EF4-FFF2-40B4-BE49-F238E27FC236}">
                <a16:creationId xmlns:a16="http://schemas.microsoft.com/office/drawing/2014/main" id="{92879152-9BA2-470A-A927-62E22C87061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85797" y="4969230"/>
            <a:ext cx="2914676" cy="1045181"/>
          </a:xfrm>
          <a:prstGeom prst="rect">
            <a:avLst/>
          </a:prstGeom>
        </p:spPr>
      </p:pic>
      <p:sp>
        <p:nvSpPr>
          <p:cNvPr id="26" name="Textfeld 20">
            <a:extLst>
              <a:ext uri="{FF2B5EF4-FFF2-40B4-BE49-F238E27FC236}">
                <a16:creationId xmlns:a16="http://schemas.microsoft.com/office/drawing/2014/main" id="{50636217-F295-BF18-7E2A-F34CEE2DD774}"/>
              </a:ext>
            </a:extLst>
          </p:cNvPr>
          <p:cNvSpPr txBox="1"/>
          <p:nvPr/>
        </p:nvSpPr>
        <p:spPr>
          <a:xfrm>
            <a:off x="1153771" y="6005828"/>
            <a:ext cx="759333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⇀ Related algorithms: e.g., </a:t>
            </a:r>
            <a:r>
              <a:rPr lang="en-GB" sz="1600" b="1" i="1" dirty="0" err="1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Birckhoff</a:t>
            </a:r>
            <a:r>
              <a:rPr lang="en-GB" sz="1600" b="1" i="1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 von Neumann </a:t>
            </a: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decompositions:</a:t>
            </a:r>
          </a:p>
          <a:p>
            <a:r>
              <a:rPr lang="en-GB" sz="1600" dirty="0">
                <a:solidFill>
                  <a:schemeClr val="dk1"/>
                </a:solidFill>
                <a:latin typeface="Consolas"/>
                <a:sym typeface="Consolas"/>
              </a:rPr>
              <a:t>   how to serve a demand (matrix) with a sequence of matching?</a:t>
            </a:r>
            <a:endParaRPr lang="de-DE" sz="1600" dirty="0"/>
          </a:p>
        </p:txBody>
      </p:sp>
    </p:spTree>
    <p:extLst>
      <p:ext uri="{BB962C8B-B14F-4D97-AF65-F5344CB8AC3E}">
        <p14:creationId xmlns:p14="http://schemas.microsoft.com/office/powerpoint/2010/main" val="81209468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4">
          <a:extLst>
            <a:ext uri="{FF2B5EF4-FFF2-40B4-BE49-F238E27FC236}">
              <a16:creationId xmlns:a16="http://schemas.microsoft.com/office/drawing/2014/main" id="{0DAEB516-39C0-1077-75B7-095B850A7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656;g60be7dcf1c_0_555">
            <a:extLst>
              <a:ext uri="{FF2B5EF4-FFF2-40B4-BE49-F238E27FC236}">
                <a16:creationId xmlns:a16="http://schemas.microsoft.com/office/drawing/2014/main" id="{6A57FD5E-27B1-4D45-1979-1AD39CB16E82}"/>
              </a:ext>
            </a:extLst>
          </p:cNvPr>
          <p:cNvSpPr txBox="1"/>
          <p:nvPr/>
        </p:nvSpPr>
        <p:spPr>
          <a:xfrm>
            <a:off x="0" y="540000"/>
            <a:ext cx="8211000" cy="101893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10" name="Google Shape;1657;g60be7dcf1c_0_555">
            <a:extLst>
              <a:ext uri="{FF2B5EF4-FFF2-40B4-BE49-F238E27FC236}">
                <a16:creationId xmlns:a16="http://schemas.microsoft.com/office/drawing/2014/main" id="{6C094484-6924-C073-53C3-AB6AF9404C8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3075" y="26970"/>
            <a:ext cx="8171100" cy="1573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l">
              <a:buSzPts val="1100"/>
            </a:pPr>
            <a:br>
              <a:rPr lang="en-GB" sz="4000" dirty="0"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4000" dirty="0">
                <a:latin typeface="Consolas"/>
                <a:ea typeface="Consolas"/>
                <a:cs typeface="Consolas"/>
                <a:sym typeface="Consolas"/>
              </a:rPr>
              <a:t>Bruck and OCS: A Match!</a:t>
            </a:r>
            <a:endParaRPr lang="en-GB" sz="4000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ECF08E65-698D-74B1-C3F6-64C879E8060A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29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pic>
        <p:nvPicPr>
          <p:cNvPr id="12" name="Picture 21">
            <a:extLst>
              <a:ext uri="{FF2B5EF4-FFF2-40B4-BE49-F238E27FC236}">
                <a16:creationId xmlns:a16="http://schemas.microsoft.com/office/drawing/2014/main" id="{A71CEBA2-C7FF-C8FD-0AAD-38E7471A42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2497" y="2492826"/>
            <a:ext cx="3223201" cy="2344146"/>
          </a:xfrm>
          <a:prstGeom prst="rect">
            <a:avLst/>
          </a:prstGeom>
        </p:spPr>
      </p:pic>
      <p:sp>
        <p:nvSpPr>
          <p:cNvPr id="18" name="Textfeld 20">
            <a:extLst>
              <a:ext uri="{FF2B5EF4-FFF2-40B4-BE49-F238E27FC236}">
                <a16:creationId xmlns:a16="http://schemas.microsoft.com/office/drawing/2014/main" id="{19E7978C-0C61-4624-1607-0FCE794005BE}"/>
              </a:ext>
            </a:extLst>
          </p:cNvPr>
          <p:cNvSpPr txBox="1"/>
          <p:nvPr/>
        </p:nvSpPr>
        <p:spPr>
          <a:xfrm>
            <a:off x="973075" y="2705007"/>
            <a:ext cx="412646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⇀ On </a:t>
            </a:r>
            <a:r>
              <a:rPr lang="en-GB" sz="1400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ring topologies</a:t>
            </a:r>
            <a:r>
              <a:rPr lang="en-GB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 All-to-All   </a:t>
            </a:r>
          </a:p>
          <a:p>
            <a:r>
              <a:rPr lang="en-GB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GB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communication cost grows </a:t>
            </a:r>
            <a:r>
              <a:rPr lang="en-GB" sz="1400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linearly </a:t>
            </a:r>
            <a:r>
              <a:rPr lang="en-GB" sz="1400" dirty="0">
                <a:solidFill>
                  <a:schemeClr val="tx1"/>
                </a:solidFill>
                <a:latin typeface="Consolas"/>
                <a:ea typeface="Consolas"/>
                <a:cs typeface="Consolas"/>
                <a:sym typeface="Consolas"/>
              </a:rPr>
              <a:t>in </a:t>
            </a:r>
          </a:p>
          <a:p>
            <a:r>
              <a:rPr lang="en-GB" dirty="0">
                <a:solidFill>
                  <a:schemeClr val="tx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GB" sz="1400" dirty="0">
                <a:solidFill>
                  <a:schemeClr val="tx1"/>
                </a:solidFill>
                <a:latin typeface="Consolas"/>
                <a:ea typeface="Consolas"/>
                <a:cs typeface="Consolas"/>
                <a:sym typeface="Consolas"/>
              </a:rPr>
              <a:t>network size while constant for,   </a:t>
            </a:r>
          </a:p>
          <a:p>
            <a:r>
              <a:rPr lang="en-GB" dirty="0">
                <a:solidFill>
                  <a:schemeClr val="tx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GB" sz="1400" dirty="0">
                <a:solidFill>
                  <a:schemeClr val="tx1"/>
                </a:solidFill>
                <a:latin typeface="Consolas"/>
                <a:ea typeface="Consolas"/>
                <a:cs typeface="Consolas"/>
                <a:sym typeface="Consolas"/>
              </a:rPr>
              <a:t>e.g., </a:t>
            </a:r>
            <a:r>
              <a:rPr lang="en-GB" sz="1400" dirty="0" err="1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AllReduce</a:t>
            </a:r>
            <a:endParaRPr lang="en-GB" sz="1400" dirty="0">
              <a:solidFill>
                <a:srgbClr val="C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endParaRPr lang="en-GB" dirty="0">
              <a:solidFill>
                <a:srgbClr val="C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endParaRPr lang="en-GB" sz="1400" dirty="0">
              <a:solidFill>
                <a:srgbClr val="C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r>
              <a:rPr lang="en-GB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⇀ So </a:t>
            </a:r>
            <a:r>
              <a:rPr lang="en-GB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optical shortcuts </a:t>
            </a:r>
            <a:r>
              <a:rPr lang="en-GB" dirty="0">
                <a:solidFill>
                  <a:schemeClr val="tx1"/>
                </a:solidFill>
                <a:latin typeface="Consolas"/>
                <a:ea typeface="Consolas"/>
                <a:cs typeface="Consolas"/>
                <a:sym typeface="Consolas"/>
              </a:rPr>
              <a:t>beneficial</a:t>
            </a:r>
            <a:endParaRPr lang="en-GB" sz="1400" dirty="0">
              <a:solidFill>
                <a:srgbClr val="C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2168827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4">
          <a:extLst>
            <a:ext uri="{FF2B5EF4-FFF2-40B4-BE49-F238E27FC236}">
              <a16:creationId xmlns:a16="http://schemas.microsoft.com/office/drawing/2014/main" id="{DFBB2981-AB46-6E9E-C04F-F36095BF4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599;g60be7dcf1c_0_500">
            <a:extLst>
              <a:ext uri="{FF2B5EF4-FFF2-40B4-BE49-F238E27FC236}">
                <a16:creationId xmlns:a16="http://schemas.microsoft.com/office/drawing/2014/main" id="{068E8ED1-4D3C-62B1-BA2C-C65F811143CD}"/>
              </a:ext>
            </a:extLst>
          </p:cNvPr>
          <p:cNvSpPr txBox="1"/>
          <p:nvPr/>
        </p:nvSpPr>
        <p:spPr>
          <a:xfrm>
            <a:off x="679787" y="5294114"/>
            <a:ext cx="7478973" cy="1045181"/>
          </a:xfrm>
          <a:prstGeom prst="rect">
            <a:avLst/>
          </a:prstGeom>
          <a:solidFill>
            <a:srgbClr val="93C47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9" name="Google Shape;1656;g60be7dcf1c_0_555">
            <a:extLst>
              <a:ext uri="{FF2B5EF4-FFF2-40B4-BE49-F238E27FC236}">
                <a16:creationId xmlns:a16="http://schemas.microsoft.com/office/drawing/2014/main" id="{A991DBBE-578E-6CC7-61DA-87224E3EC1BD}"/>
              </a:ext>
            </a:extLst>
          </p:cNvPr>
          <p:cNvSpPr txBox="1"/>
          <p:nvPr/>
        </p:nvSpPr>
        <p:spPr>
          <a:xfrm>
            <a:off x="0" y="540000"/>
            <a:ext cx="8211000" cy="101893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10" name="Google Shape;1657;g60be7dcf1c_0_555">
            <a:extLst>
              <a:ext uri="{FF2B5EF4-FFF2-40B4-BE49-F238E27FC236}">
                <a16:creationId xmlns:a16="http://schemas.microsoft.com/office/drawing/2014/main" id="{1512FA05-2C0A-C772-2208-6DE82EE86B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3075" y="26970"/>
            <a:ext cx="8171100" cy="1573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l">
              <a:buSzPts val="1100"/>
            </a:pPr>
            <a:br>
              <a:rPr lang="en-GB" sz="4000" dirty="0"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4000" dirty="0">
                <a:latin typeface="Consolas"/>
                <a:ea typeface="Consolas"/>
                <a:cs typeface="Consolas"/>
                <a:sym typeface="Consolas"/>
              </a:rPr>
              <a:t>Bruck and OCS: A Match!</a:t>
            </a:r>
            <a:endParaRPr lang="en-GB" sz="4000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2C5E42D7-9743-4531-597C-530A4FF11EE7}"/>
              </a:ext>
            </a:extLst>
          </p:cNvPr>
          <p:cNvSpPr txBox="1"/>
          <p:nvPr/>
        </p:nvSpPr>
        <p:spPr>
          <a:xfrm>
            <a:off x="845442" y="5447373"/>
            <a:ext cx="759333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Note: </a:t>
            </a:r>
            <a:r>
              <a:rPr lang="en-GB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Optimally scheduling collective communications </a:t>
            </a:r>
            <a:r>
              <a:rPr lang="en-GB" b="1" i="1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over a </a:t>
            </a:r>
            <a:r>
              <a:rPr lang="en-GB" sz="1400" b="1" i="1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network </a:t>
            </a:r>
            <a:r>
              <a:rPr lang="en-GB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is still an open question </a:t>
            </a:r>
            <a:r>
              <a:rPr lang="en-GB" sz="1400" b="1" i="1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even for many fixed topologies </a:t>
            </a:r>
            <a:r>
              <a:rPr lang="en-GB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as well!</a:t>
            </a:r>
          </a:p>
          <a:p>
            <a:r>
              <a:rPr lang="en-GB" dirty="0">
                <a:solidFill>
                  <a:schemeClr val="dk1"/>
                </a:solidFill>
                <a:latin typeface="Consolas"/>
                <a:sym typeface="Consolas"/>
              </a:rPr>
              <a:t>Classic HPC work on scheduling under assumption of </a:t>
            </a:r>
            <a:r>
              <a:rPr lang="en-GB" b="1" i="1" dirty="0">
                <a:solidFill>
                  <a:srgbClr val="C00000"/>
                </a:solidFill>
                <a:latin typeface="Consolas"/>
                <a:sym typeface="Consolas"/>
              </a:rPr>
              <a:t>complete network</a:t>
            </a:r>
            <a:r>
              <a:rPr lang="en-GB" dirty="0">
                <a:solidFill>
                  <a:schemeClr val="dk1"/>
                </a:solidFill>
                <a:latin typeface="Consolas"/>
                <a:sym typeface="Consolas"/>
              </a:rPr>
              <a:t>.</a:t>
            </a:r>
            <a:endParaRPr lang="de-DE" dirty="0"/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ECFABB7F-EC03-8F15-F3B6-7F50B9992895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29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pic>
        <p:nvPicPr>
          <p:cNvPr id="12" name="Picture 21">
            <a:extLst>
              <a:ext uri="{FF2B5EF4-FFF2-40B4-BE49-F238E27FC236}">
                <a16:creationId xmlns:a16="http://schemas.microsoft.com/office/drawing/2014/main" id="{966EC734-2FE7-AA5C-9CAA-7B26A1C610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2497" y="2492826"/>
            <a:ext cx="3223201" cy="2344146"/>
          </a:xfrm>
          <a:prstGeom prst="rect">
            <a:avLst/>
          </a:prstGeom>
        </p:spPr>
      </p:pic>
      <p:sp>
        <p:nvSpPr>
          <p:cNvPr id="18" name="Textfeld 20">
            <a:extLst>
              <a:ext uri="{FF2B5EF4-FFF2-40B4-BE49-F238E27FC236}">
                <a16:creationId xmlns:a16="http://schemas.microsoft.com/office/drawing/2014/main" id="{13AC749C-6DB3-96A7-6896-A812F813ABD8}"/>
              </a:ext>
            </a:extLst>
          </p:cNvPr>
          <p:cNvSpPr txBox="1"/>
          <p:nvPr/>
        </p:nvSpPr>
        <p:spPr>
          <a:xfrm>
            <a:off x="973075" y="2705007"/>
            <a:ext cx="412646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⇀ On </a:t>
            </a:r>
            <a:r>
              <a:rPr lang="en-GB" sz="1400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ring topologies</a:t>
            </a:r>
            <a:r>
              <a:rPr lang="en-GB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 All-to-All   </a:t>
            </a:r>
          </a:p>
          <a:p>
            <a:r>
              <a:rPr lang="en-GB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GB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communication cost grows </a:t>
            </a:r>
            <a:r>
              <a:rPr lang="en-GB" sz="1400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linearly </a:t>
            </a:r>
            <a:r>
              <a:rPr lang="en-GB" sz="1400" dirty="0">
                <a:solidFill>
                  <a:schemeClr val="tx1"/>
                </a:solidFill>
                <a:latin typeface="Consolas"/>
                <a:ea typeface="Consolas"/>
                <a:cs typeface="Consolas"/>
                <a:sym typeface="Consolas"/>
              </a:rPr>
              <a:t>in </a:t>
            </a:r>
          </a:p>
          <a:p>
            <a:r>
              <a:rPr lang="en-GB" dirty="0">
                <a:solidFill>
                  <a:schemeClr val="tx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GB" sz="1400" dirty="0">
                <a:solidFill>
                  <a:schemeClr val="tx1"/>
                </a:solidFill>
                <a:latin typeface="Consolas"/>
                <a:ea typeface="Consolas"/>
                <a:cs typeface="Consolas"/>
                <a:sym typeface="Consolas"/>
              </a:rPr>
              <a:t>network size while constant for,   </a:t>
            </a:r>
          </a:p>
          <a:p>
            <a:r>
              <a:rPr lang="en-GB" dirty="0">
                <a:solidFill>
                  <a:schemeClr val="tx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GB" sz="1400" dirty="0">
                <a:solidFill>
                  <a:schemeClr val="tx1"/>
                </a:solidFill>
                <a:latin typeface="Consolas"/>
                <a:ea typeface="Consolas"/>
                <a:cs typeface="Consolas"/>
                <a:sym typeface="Consolas"/>
              </a:rPr>
              <a:t>e.g., </a:t>
            </a:r>
            <a:r>
              <a:rPr lang="en-GB" sz="1400" dirty="0" err="1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AllReduce</a:t>
            </a:r>
            <a:endParaRPr lang="en-GB" sz="1400" dirty="0">
              <a:solidFill>
                <a:srgbClr val="C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endParaRPr lang="en-GB" dirty="0">
              <a:solidFill>
                <a:srgbClr val="C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endParaRPr lang="en-GB" sz="1400" dirty="0">
              <a:solidFill>
                <a:srgbClr val="C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r>
              <a:rPr lang="en-GB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⇀ So </a:t>
            </a:r>
            <a:r>
              <a:rPr lang="en-GB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optical shortcuts </a:t>
            </a:r>
            <a:r>
              <a:rPr lang="en-GB" dirty="0">
                <a:solidFill>
                  <a:schemeClr val="tx1"/>
                </a:solidFill>
                <a:latin typeface="Consolas"/>
                <a:ea typeface="Consolas"/>
                <a:cs typeface="Consolas"/>
                <a:sym typeface="Consolas"/>
              </a:rPr>
              <a:t>beneficial</a:t>
            </a:r>
            <a:endParaRPr lang="en-GB" sz="1400" dirty="0">
              <a:solidFill>
                <a:srgbClr val="C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6817309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4">
          <a:extLst>
            <a:ext uri="{FF2B5EF4-FFF2-40B4-BE49-F238E27FC236}">
              <a16:creationId xmlns:a16="http://schemas.microsoft.com/office/drawing/2014/main" id="{6F2EF2C9-5855-4D69-5659-4ABCDCD19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feld 20">
            <a:extLst>
              <a:ext uri="{FF2B5EF4-FFF2-40B4-BE49-F238E27FC236}">
                <a16:creationId xmlns:a16="http://schemas.microsoft.com/office/drawing/2014/main" id="{4BC988F9-8C3E-353C-8BD1-C99607614454}"/>
              </a:ext>
            </a:extLst>
          </p:cNvPr>
          <p:cNvSpPr txBox="1"/>
          <p:nvPr/>
        </p:nvSpPr>
        <p:spPr>
          <a:xfrm>
            <a:off x="973073" y="2994013"/>
            <a:ext cx="8227197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⇀ </a:t>
            </a:r>
            <a:r>
              <a:rPr lang="en-GB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Multi-port extension of Bruck </a:t>
            </a:r>
          </a:p>
          <a:p>
            <a:r>
              <a:rPr lang="en-GB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proceeds in </a:t>
            </a:r>
            <a:r>
              <a:rPr lang="en-GB" sz="1400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subring</a:t>
            </a:r>
            <a:r>
              <a:rPr lang="en-GB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phases</a:t>
            </a:r>
          </a:p>
          <a:p>
            <a:endParaRPr lang="en-GB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endParaRPr lang="en-GB"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r>
              <a:rPr lang="en-GB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⇀ In </a:t>
            </a:r>
            <a:r>
              <a:rPr lang="en-GB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reconfigurable</a:t>
            </a:r>
            <a:r>
              <a:rPr lang="en-GB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networks, can build </a:t>
            </a:r>
            <a:r>
              <a:rPr lang="en-GB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direct connections </a:t>
            </a:r>
            <a:r>
              <a:rPr lang="en-GB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for these demands:</a:t>
            </a:r>
          </a:p>
          <a:p>
            <a:endParaRPr lang="en-GB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endParaRPr lang="en-GB"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endParaRPr lang="de-DE" dirty="0"/>
          </a:p>
        </p:txBody>
      </p:sp>
      <p:sp>
        <p:nvSpPr>
          <p:cNvPr id="6" name="Google Shape;1779;g60be7dcf1c_0_659">
            <a:extLst>
              <a:ext uri="{FF2B5EF4-FFF2-40B4-BE49-F238E27FC236}">
                <a16:creationId xmlns:a16="http://schemas.microsoft.com/office/drawing/2014/main" id="{20432304-08AA-2501-F720-F9F06A89B7C9}"/>
              </a:ext>
            </a:extLst>
          </p:cNvPr>
          <p:cNvSpPr txBox="1"/>
          <p:nvPr/>
        </p:nvSpPr>
        <p:spPr>
          <a:xfrm>
            <a:off x="0" y="540000"/>
            <a:ext cx="8609428" cy="1030383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7" name="Google Shape;1688;g60be7dcf1c_0_579">
            <a:extLst>
              <a:ext uri="{FF2B5EF4-FFF2-40B4-BE49-F238E27FC236}">
                <a16:creationId xmlns:a16="http://schemas.microsoft.com/office/drawing/2014/main" id="{9D8298A7-11D1-FBAB-944A-92F693160A9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3075" y="324175"/>
            <a:ext cx="8171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Especially Powerful: Combining the Two Techniques</a:t>
            </a:r>
            <a:br>
              <a:rPr lang="en-GB" sz="32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4000" dirty="0" err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Reconfigurable+Multiport</a:t>
            </a:r>
            <a:endParaRPr lang="en-GB" sz="4000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65902509-8C30-50B7-E3EA-71C68E6D2EA0}"/>
              </a:ext>
            </a:extLst>
          </p:cNvPr>
          <p:cNvSpPr/>
          <p:nvPr/>
        </p:nvSpPr>
        <p:spPr>
          <a:xfrm>
            <a:off x="8129455" y="5032443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30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9" name="Textfeld 20">
            <a:extLst>
              <a:ext uri="{FF2B5EF4-FFF2-40B4-BE49-F238E27FC236}">
                <a16:creationId xmlns:a16="http://schemas.microsoft.com/office/drawing/2014/main" id="{0F38CA62-5D8B-5849-DE58-91FEB24148DC}"/>
              </a:ext>
            </a:extLst>
          </p:cNvPr>
          <p:cNvSpPr txBox="1"/>
          <p:nvPr/>
        </p:nvSpPr>
        <p:spPr>
          <a:xfrm>
            <a:off x="973074" y="2376730"/>
            <a:ext cx="753084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⇀ </a:t>
            </a:r>
            <a:r>
              <a:rPr lang="en-GB" sz="1400" b="1" i="1" dirty="0" err="1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ReTri</a:t>
            </a:r>
            <a:r>
              <a:rPr lang="en-GB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: Reconfigurable </a:t>
            </a:r>
            <a:r>
              <a:rPr lang="en-GB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Trivance</a:t>
            </a:r>
            <a:r>
              <a:rPr lang="en-GB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</a:p>
          <a:p>
            <a:r>
              <a:rPr lang="en-GB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(coming next)</a:t>
            </a:r>
            <a:endParaRPr lang="en-GB" sz="1400" dirty="0">
              <a:solidFill>
                <a:srgbClr val="C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endParaRPr lang="en-GB" dirty="0">
              <a:solidFill>
                <a:srgbClr val="C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endParaRPr lang="de-DE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059A433-0F3C-F897-87D3-3AE0083730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4005" y="2369220"/>
            <a:ext cx="4076073" cy="119635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A84A6EE-96BC-E9D3-2057-D12935AB04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8803" y="4269143"/>
            <a:ext cx="2247804" cy="21600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B839666-4764-2D77-2DEC-4BA576ECD0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97532" y="4321775"/>
            <a:ext cx="2107316" cy="21600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49BD16F-CD7C-864C-DFBE-0252A334B51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08143" y="4269143"/>
            <a:ext cx="2247804" cy="2160000"/>
          </a:xfrm>
          <a:prstGeom prst="rect">
            <a:avLst/>
          </a:prstGeom>
        </p:spPr>
      </p:pic>
      <p:sp>
        <p:nvSpPr>
          <p:cNvPr id="22" name="TextBox 20">
            <a:extLst>
              <a:ext uri="{FF2B5EF4-FFF2-40B4-BE49-F238E27FC236}">
                <a16:creationId xmlns:a16="http://schemas.microsoft.com/office/drawing/2014/main" id="{C9DD0448-BE72-A29D-CA9B-319D633F4FB3}"/>
              </a:ext>
            </a:extLst>
          </p:cNvPr>
          <p:cNvSpPr txBox="1"/>
          <p:nvPr/>
        </p:nvSpPr>
        <p:spPr>
          <a:xfrm>
            <a:off x="3957679" y="6271933"/>
            <a:ext cx="2628900" cy="30580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125000"/>
              </a:lnSpc>
            </a:pPr>
            <a:r>
              <a:rPr lang="en-GB" sz="1200" dirty="0">
                <a:latin typeface="Consolas" panose="020B0609020204030204" pitchFamily="49" charset="0"/>
                <a:ea typeface="Consolas"/>
                <a:cs typeface="Arial" panose="020B0604020202020204" pitchFamily="34" charset="0"/>
                <a:sym typeface="Consolas"/>
              </a:rPr>
              <a:t>Communication pattern</a:t>
            </a:r>
            <a:endParaRPr lang="en-GB" sz="1200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96C5811-D62B-46A2-4A7D-BF66A85165C1}"/>
              </a:ext>
            </a:extLst>
          </p:cNvPr>
          <p:cNvCxnSpPr>
            <a:cxnSpLocks/>
          </p:cNvCxnSpPr>
          <p:nvPr/>
        </p:nvCxnSpPr>
        <p:spPr>
          <a:xfrm>
            <a:off x="3425483" y="5223076"/>
            <a:ext cx="782613" cy="0"/>
          </a:xfrm>
          <a:prstGeom prst="straightConnector1">
            <a:avLst/>
          </a:prstGeom>
          <a:ln w="82550">
            <a:solidFill>
              <a:srgbClr val="C50C1E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0">
            <a:extLst>
              <a:ext uri="{FF2B5EF4-FFF2-40B4-BE49-F238E27FC236}">
                <a16:creationId xmlns:a16="http://schemas.microsoft.com/office/drawing/2014/main" id="{7C09508C-AB7A-CD9E-E112-0AB033362F13}"/>
              </a:ext>
            </a:extLst>
          </p:cNvPr>
          <p:cNvSpPr txBox="1"/>
          <p:nvPr/>
        </p:nvSpPr>
        <p:spPr>
          <a:xfrm>
            <a:off x="5313805" y="4816130"/>
            <a:ext cx="2628900" cy="6529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125000"/>
              </a:lnSpc>
            </a:pPr>
            <a:r>
              <a:rPr lang="en-GB" sz="4000" dirty="0"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+</a:t>
            </a:r>
            <a:endParaRPr lang="en-GB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0">
            <a:extLst>
              <a:ext uri="{FF2B5EF4-FFF2-40B4-BE49-F238E27FC236}">
                <a16:creationId xmlns:a16="http://schemas.microsoft.com/office/drawing/2014/main" id="{F603A732-5E16-96D9-8286-1EC24982CA22}"/>
              </a:ext>
            </a:extLst>
          </p:cNvPr>
          <p:cNvSpPr txBox="1"/>
          <p:nvPr/>
        </p:nvSpPr>
        <p:spPr>
          <a:xfrm>
            <a:off x="6326414" y="6267870"/>
            <a:ext cx="3232582" cy="78230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125000"/>
              </a:lnSpc>
            </a:pPr>
            <a:r>
              <a:rPr lang="en-GB" sz="1200" dirty="0">
                <a:latin typeface="Consolas" panose="020B0609020204030204" pitchFamily="49" charset="0"/>
                <a:ea typeface="Consolas"/>
                <a:cs typeface="Arial" panose="020B0604020202020204" pitchFamily="34" charset="0"/>
                <a:sym typeface="Consolas"/>
              </a:rPr>
              <a:t>Topology reconfiguration</a:t>
            </a:r>
            <a:endParaRPr lang="en-GB" sz="1200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418087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4">
          <a:extLst>
            <a:ext uri="{FF2B5EF4-FFF2-40B4-BE49-F238E27FC236}">
              <a16:creationId xmlns:a16="http://schemas.microsoft.com/office/drawing/2014/main" id="{A3BE00E0-C1AA-8E1E-D894-24CEA253C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feld 20">
            <a:extLst>
              <a:ext uri="{FF2B5EF4-FFF2-40B4-BE49-F238E27FC236}">
                <a16:creationId xmlns:a16="http://schemas.microsoft.com/office/drawing/2014/main" id="{EA9ED909-7BA2-9A31-6B2C-6D5D51CD9929}"/>
              </a:ext>
            </a:extLst>
          </p:cNvPr>
          <p:cNvSpPr txBox="1"/>
          <p:nvPr/>
        </p:nvSpPr>
        <p:spPr>
          <a:xfrm>
            <a:off x="973073" y="2994013"/>
            <a:ext cx="8227197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⇀ </a:t>
            </a:r>
            <a:r>
              <a:rPr lang="en-GB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Multi-port extension of Bruck </a:t>
            </a:r>
          </a:p>
          <a:p>
            <a:r>
              <a:rPr lang="en-GB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proceeds in </a:t>
            </a:r>
            <a:r>
              <a:rPr lang="en-GB" sz="1400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subring</a:t>
            </a:r>
            <a:r>
              <a:rPr lang="en-GB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phases</a:t>
            </a:r>
          </a:p>
          <a:p>
            <a:endParaRPr lang="en-GB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endParaRPr lang="en-GB"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r>
              <a:rPr lang="en-GB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⇀ In </a:t>
            </a:r>
            <a:r>
              <a:rPr lang="en-GB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reconfigurable</a:t>
            </a:r>
            <a:r>
              <a:rPr lang="en-GB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networks, can build </a:t>
            </a:r>
            <a:r>
              <a:rPr lang="en-GB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direct connections </a:t>
            </a:r>
            <a:r>
              <a:rPr lang="en-GB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for these demands:</a:t>
            </a:r>
          </a:p>
          <a:p>
            <a:endParaRPr lang="en-GB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endParaRPr lang="en-GB"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endParaRPr lang="de-DE" dirty="0"/>
          </a:p>
        </p:txBody>
      </p:sp>
      <p:sp>
        <p:nvSpPr>
          <p:cNvPr id="6" name="Google Shape;1779;g60be7dcf1c_0_659">
            <a:extLst>
              <a:ext uri="{FF2B5EF4-FFF2-40B4-BE49-F238E27FC236}">
                <a16:creationId xmlns:a16="http://schemas.microsoft.com/office/drawing/2014/main" id="{47534D98-595A-251C-0A85-E71C7F88F86D}"/>
              </a:ext>
            </a:extLst>
          </p:cNvPr>
          <p:cNvSpPr txBox="1"/>
          <p:nvPr/>
        </p:nvSpPr>
        <p:spPr>
          <a:xfrm>
            <a:off x="0" y="540000"/>
            <a:ext cx="8609428" cy="1030383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7" name="Google Shape;1688;g60be7dcf1c_0_579">
            <a:extLst>
              <a:ext uri="{FF2B5EF4-FFF2-40B4-BE49-F238E27FC236}">
                <a16:creationId xmlns:a16="http://schemas.microsoft.com/office/drawing/2014/main" id="{10FEC4FB-AB45-51AE-E382-55D75159201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3075" y="324175"/>
            <a:ext cx="8171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Especially Powerful: Combining the Two Techniques</a:t>
            </a:r>
            <a:br>
              <a:rPr lang="en-GB" sz="32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4000" dirty="0" err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Reconfigurable+Multiport</a:t>
            </a:r>
            <a:endParaRPr lang="en-GB" sz="4000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" name="Textfeld 20">
            <a:extLst>
              <a:ext uri="{FF2B5EF4-FFF2-40B4-BE49-F238E27FC236}">
                <a16:creationId xmlns:a16="http://schemas.microsoft.com/office/drawing/2014/main" id="{92E0E673-82E1-E1E8-20F6-B2DE9F478B08}"/>
              </a:ext>
            </a:extLst>
          </p:cNvPr>
          <p:cNvSpPr txBox="1"/>
          <p:nvPr/>
        </p:nvSpPr>
        <p:spPr>
          <a:xfrm>
            <a:off x="973074" y="2376730"/>
            <a:ext cx="753084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⇀ </a:t>
            </a:r>
            <a:r>
              <a:rPr lang="en-GB" b="1" i="1" dirty="0" err="1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ReTri</a:t>
            </a:r>
            <a:r>
              <a:rPr lang="en-GB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: Reconfigurable </a:t>
            </a:r>
            <a:r>
              <a:rPr lang="en-GB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Trivance</a:t>
            </a:r>
            <a:r>
              <a:rPr lang="en-GB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</a:p>
          <a:p>
            <a:r>
              <a:rPr lang="en-GB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(coming next)</a:t>
            </a:r>
            <a:endParaRPr lang="en-GB" dirty="0">
              <a:solidFill>
                <a:srgbClr val="C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endParaRPr lang="en-GB" dirty="0">
              <a:solidFill>
                <a:srgbClr val="C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endParaRPr lang="de-DE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96C9489-4F2C-60AA-0A27-A60C4D5494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4005" y="2369220"/>
            <a:ext cx="4076073" cy="119635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207F6D1-6E6A-5F8E-07BC-28FC8E0976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7532" y="4321775"/>
            <a:ext cx="2107316" cy="2160000"/>
          </a:xfrm>
          <a:prstGeom prst="rect">
            <a:avLst/>
          </a:prstGeom>
        </p:spPr>
      </p:pic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0D341E5-8DD6-5551-91D9-1499B4A02A82}"/>
              </a:ext>
            </a:extLst>
          </p:cNvPr>
          <p:cNvCxnSpPr>
            <a:cxnSpLocks/>
          </p:cNvCxnSpPr>
          <p:nvPr/>
        </p:nvCxnSpPr>
        <p:spPr>
          <a:xfrm>
            <a:off x="3425483" y="5223076"/>
            <a:ext cx="782613" cy="0"/>
          </a:xfrm>
          <a:prstGeom prst="straightConnector1">
            <a:avLst/>
          </a:prstGeom>
          <a:ln w="82550">
            <a:solidFill>
              <a:srgbClr val="C50C1E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06EE6F2A-D3F2-4851-5707-4C60975107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2553" y="4264836"/>
            <a:ext cx="2247804" cy="2160000"/>
          </a:xfrm>
          <a:prstGeom prst="rect">
            <a:avLst/>
          </a:prstGeom>
        </p:spPr>
      </p:pic>
      <p:sp>
        <p:nvSpPr>
          <p:cNvPr id="22" name="TextBox 20">
            <a:extLst>
              <a:ext uri="{FF2B5EF4-FFF2-40B4-BE49-F238E27FC236}">
                <a16:creationId xmlns:a16="http://schemas.microsoft.com/office/drawing/2014/main" id="{267BA8B7-ECCA-D444-6B1B-4AF8BAFB0174}"/>
              </a:ext>
            </a:extLst>
          </p:cNvPr>
          <p:cNvSpPr txBox="1"/>
          <p:nvPr/>
        </p:nvSpPr>
        <p:spPr>
          <a:xfrm>
            <a:off x="4074259" y="6367803"/>
            <a:ext cx="2628900" cy="30580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125000"/>
              </a:lnSpc>
            </a:pPr>
            <a:r>
              <a:rPr lang="en-GB" sz="1200" dirty="0">
                <a:latin typeface="Consolas" panose="020B0609020204030204" pitchFamily="49" charset="0"/>
                <a:ea typeface="Consolas"/>
                <a:cs typeface="Arial" panose="020B0604020202020204" pitchFamily="34" charset="0"/>
                <a:sym typeface="Consolas"/>
              </a:rPr>
              <a:t>Communication pattern</a:t>
            </a:r>
          </a:p>
          <a:p>
            <a:pPr algn="ctr">
              <a:lnSpc>
                <a:spcPct val="125000"/>
              </a:lnSpc>
            </a:pPr>
            <a:r>
              <a:rPr lang="en-GB" sz="1200" dirty="0">
                <a:latin typeface="Consolas" panose="020B0609020204030204" pitchFamily="49" charset="0"/>
                <a:cs typeface="Arial" panose="020B0604020202020204" pitchFamily="34" charset="0"/>
                <a:sym typeface="Consolas"/>
              </a:rPr>
              <a:t>= Topology</a:t>
            </a:r>
            <a:endParaRPr lang="en-GB" sz="1200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850575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4">
          <a:extLst>
            <a:ext uri="{FF2B5EF4-FFF2-40B4-BE49-F238E27FC236}">
              <a16:creationId xmlns:a16="http://schemas.microsoft.com/office/drawing/2014/main" id="{BA700D23-0404-4B12-2AC3-EAC203B2C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feld 20">
            <a:extLst>
              <a:ext uri="{FF2B5EF4-FFF2-40B4-BE49-F238E27FC236}">
                <a16:creationId xmlns:a16="http://schemas.microsoft.com/office/drawing/2014/main" id="{E007F730-2230-DD2E-850B-49E635A456A3}"/>
              </a:ext>
            </a:extLst>
          </p:cNvPr>
          <p:cNvSpPr txBox="1"/>
          <p:nvPr/>
        </p:nvSpPr>
        <p:spPr>
          <a:xfrm>
            <a:off x="973073" y="2994013"/>
            <a:ext cx="8227197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⇀ </a:t>
            </a:r>
            <a:r>
              <a:rPr lang="en-GB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Multi-port extension of Bruck </a:t>
            </a:r>
          </a:p>
          <a:p>
            <a:r>
              <a:rPr lang="en-GB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proceeds in </a:t>
            </a:r>
            <a:r>
              <a:rPr lang="en-GB" sz="1400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subring</a:t>
            </a:r>
            <a:r>
              <a:rPr lang="en-GB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phases</a:t>
            </a:r>
          </a:p>
          <a:p>
            <a:endParaRPr lang="en-GB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endParaRPr lang="en-GB"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r>
              <a:rPr lang="en-GB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⇀ In </a:t>
            </a:r>
            <a:r>
              <a:rPr lang="en-GB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reconfigurable</a:t>
            </a:r>
            <a:r>
              <a:rPr lang="en-GB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networks, can build </a:t>
            </a:r>
            <a:r>
              <a:rPr lang="en-GB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direct connections </a:t>
            </a:r>
            <a:r>
              <a:rPr lang="en-GB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for these demands:</a:t>
            </a:r>
          </a:p>
          <a:p>
            <a:endParaRPr lang="en-GB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endParaRPr lang="en-GB"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endParaRPr lang="de-DE" dirty="0"/>
          </a:p>
        </p:txBody>
      </p:sp>
      <p:sp>
        <p:nvSpPr>
          <p:cNvPr id="6" name="Google Shape;1779;g60be7dcf1c_0_659">
            <a:extLst>
              <a:ext uri="{FF2B5EF4-FFF2-40B4-BE49-F238E27FC236}">
                <a16:creationId xmlns:a16="http://schemas.microsoft.com/office/drawing/2014/main" id="{9AAAEB83-BDF0-3297-0277-BF4BD4BFE197}"/>
              </a:ext>
            </a:extLst>
          </p:cNvPr>
          <p:cNvSpPr txBox="1"/>
          <p:nvPr/>
        </p:nvSpPr>
        <p:spPr>
          <a:xfrm>
            <a:off x="0" y="540000"/>
            <a:ext cx="8609428" cy="1030383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7" name="Google Shape;1688;g60be7dcf1c_0_579">
            <a:extLst>
              <a:ext uri="{FF2B5EF4-FFF2-40B4-BE49-F238E27FC236}">
                <a16:creationId xmlns:a16="http://schemas.microsoft.com/office/drawing/2014/main" id="{8E2FFE7A-C7FF-83CA-54CE-DEE7C4B3A4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3075" y="324175"/>
            <a:ext cx="8171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Especially Powerful: Combining the Two Techniques</a:t>
            </a:r>
            <a:br>
              <a:rPr lang="en-GB" sz="32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4000" dirty="0" err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Reconfigurable+Multiport</a:t>
            </a:r>
            <a:endParaRPr lang="en-GB" sz="4000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" name="Textfeld 20">
            <a:extLst>
              <a:ext uri="{FF2B5EF4-FFF2-40B4-BE49-F238E27FC236}">
                <a16:creationId xmlns:a16="http://schemas.microsoft.com/office/drawing/2014/main" id="{017EE68E-CB63-63E5-42A2-806D759F665B}"/>
              </a:ext>
            </a:extLst>
          </p:cNvPr>
          <p:cNvSpPr txBox="1"/>
          <p:nvPr/>
        </p:nvSpPr>
        <p:spPr>
          <a:xfrm>
            <a:off x="973074" y="2376730"/>
            <a:ext cx="753084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⇀ </a:t>
            </a:r>
            <a:r>
              <a:rPr lang="en-GB" b="1" i="1" dirty="0" err="1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ReTri</a:t>
            </a:r>
            <a:r>
              <a:rPr lang="en-GB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: Reconfigurable </a:t>
            </a:r>
            <a:r>
              <a:rPr lang="en-GB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Trivance</a:t>
            </a:r>
            <a:r>
              <a:rPr lang="en-GB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</a:p>
          <a:p>
            <a:r>
              <a:rPr lang="en-GB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(coming next)</a:t>
            </a:r>
            <a:endParaRPr lang="en-GB" dirty="0">
              <a:solidFill>
                <a:srgbClr val="C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endParaRPr lang="en-GB" dirty="0">
              <a:solidFill>
                <a:srgbClr val="C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endParaRPr lang="de-DE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FABC3AC-0E60-E380-5F9F-B072E1D2B1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4005" y="2369220"/>
            <a:ext cx="4076073" cy="119635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F58A46F-C317-0D84-6E96-17578C09A6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7532" y="4321775"/>
            <a:ext cx="2107316" cy="2160000"/>
          </a:xfrm>
          <a:prstGeom prst="rect">
            <a:avLst/>
          </a:prstGeom>
        </p:spPr>
      </p:pic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BD5EB8A-C801-3E65-D85A-D7DE89EF3820}"/>
              </a:ext>
            </a:extLst>
          </p:cNvPr>
          <p:cNvCxnSpPr>
            <a:cxnSpLocks/>
          </p:cNvCxnSpPr>
          <p:nvPr/>
        </p:nvCxnSpPr>
        <p:spPr>
          <a:xfrm>
            <a:off x="3425483" y="5223076"/>
            <a:ext cx="782613" cy="0"/>
          </a:xfrm>
          <a:prstGeom prst="straightConnector1">
            <a:avLst/>
          </a:prstGeom>
          <a:ln w="82550">
            <a:solidFill>
              <a:srgbClr val="C50C1E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79AEF40E-1CB3-A8CB-84AB-8955D67977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2553" y="4264836"/>
            <a:ext cx="2247804" cy="2160000"/>
          </a:xfrm>
          <a:prstGeom prst="rect">
            <a:avLst/>
          </a:prstGeom>
        </p:spPr>
      </p:pic>
      <p:sp>
        <p:nvSpPr>
          <p:cNvPr id="22" name="TextBox 20">
            <a:extLst>
              <a:ext uri="{FF2B5EF4-FFF2-40B4-BE49-F238E27FC236}">
                <a16:creationId xmlns:a16="http://schemas.microsoft.com/office/drawing/2014/main" id="{E5C2A440-FB9A-7A36-F14F-C60C0EA7209D}"/>
              </a:ext>
            </a:extLst>
          </p:cNvPr>
          <p:cNvSpPr txBox="1"/>
          <p:nvPr/>
        </p:nvSpPr>
        <p:spPr>
          <a:xfrm>
            <a:off x="4074259" y="6367803"/>
            <a:ext cx="2628900" cy="30580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125000"/>
              </a:lnSpc>
            </a:pPr>
            <a:r>
              <a:rPr lang="en-GB" sz="1200" dirty="0">
                <a:latin typeface="Consolas" panose="020B0609020204030204" pitchFamily="49" charset="0"/>
                <a:ea typeface="Consolas"/>
                <a:cs typeface="Arial" panose="020B0604020202020204" pitchFamily="34" charset="0"/>
                <a:sym typeface="Consolas"/>
              </a:rPr>
              <a:t>Communication pattern</a:t>
            </a:r>
          </a:p>
          <a:p>
            <a:pPr algn="ctr">
              <a:lnSpc>
                <a:spcPct val="125000"/>
              </a:lnSpc>
            </a:pPr>
            <a:r>
              <a:rPr lang="en-GB" sz="1200" dirty="0">
                <a:latin typeface="Consolas" panose="020B0609020204030204" pitchFamily="49" charset="0"/>
                <a:cs typeface="Arial" panose="020B0604020202020204" pitchFamily="34" charset="0"/>
                <a:sym typeface="Consolas"/>
              </a:rPr>
              <a:t>= Topology</a:t>
            </a:r>
            <a:endParaRPr lang="en-GB" sz="1200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12" name="Google Shape;1729;g60be7dcf1c_0_603">
            <a:extLst>
              <a:ext uri="{FF2B5EF4-FFF2-40B4-BE49-F238E27FC236}">
                <a16:creationId xmlns:a16="http://schemas.microsoft.com/office/drawing/2014/main" id="{A92B5182-CCA1-E29C-A3B4-59E9BEA8FEBC}"/>
              </a:ext>
            </a:extLst>
          </p:cNvPr>
          <p:cNvSpPr/>
          <p:nvPr/>
        </p:nvSpPr>
        <p:spPr>
          <a:xfrm>
            <a:off x="7044126" y="4425724"/>
            <a:ext cx="1974982" cy="1892276"/>
          </a:xfrm>
          <a:prstGeom prst="ellipse">
            <a:avLst/>
          </a:prstGeom>
          <a:solidFill>
            <a:srgbClr val="93C47D"/>
          </a:solidFill>
          <a:ln w="952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</p:txBody>
      </p:sp>
      <p:sp>
        <p:nvSpPr>
          <p:cNvPr id="14" name="Google Shape;1730;g60be7dcf1c_0_603">
            <a:extLst>
              <a:ext uri="{FF2B5EF4-FFF2-40B4-BE49-F238E27FC236}">
                <a16:creationId xmlns:a16="http://schemas.microsoft.com/office/drawing/2014/main" id="{7CD597D7-3A98-F7C0-3EBA-4715A2033745}"/>
              </a:ext>
            </a:extLst>
          </p:cNvPr>
          <p:cNvSpPr txBox="1"/>
          <p:nvPr/>
        </p:nvSpPr>
        <p:spPr>
          <a:xfrm>
            <a:off x="6902011" y="4585286"/>
            <a:ext cx="2042876" cy="669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 b="1" dirty="0">
                <a:solidFill>
                  <a:srgbClr val="CC0000"/>
                </a:solidFill>
                <a:latin typeface="Edwardian Script ITC" panose="030303020407070D0804" pitchFamily="66" charset="0"/>
                <a:ea typeface="Consolas"/>
                <a:cs typeface="Dreaming Outloud Script Pro" panose="020F0502020204030204" pitchFamily="66" charset="0"/>
                <a:sym typeface="Consolas"/>
              </a:rPr>
              <a:t>It’s a Match!</a:t>
            </a:r>
          </a:p>
        </p:txBody>
      </p:sp>
    </p:spTree>
    <p:extLst>
      <p:ext uri="{BB962C8B-B14F-4D97-AF65-F5344CB8AC3E}">
        <p14:creationId xmlns:p14="http://schemas.microsoft.com/office/powerpoint/2010/main" val="75618657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4">
          <a:extLst>
            <a:ext uri="{FF2B5EF4-FFF2-40B4-BE49-F238E27FC236}">
              <a16:creationId xmlns:a16="http://schemas.microsoft.com/office/drawing/2014/main" id="{3A97CF85-4A3A-FFF9-5B9A-0F381D251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99FA79D5-A64F-0DFC-AE4B-AB626D7B01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2066" y="2071960"/>
            <a:ext cx="5039868" cy="3977983"/>
          </a:xfrm>
          <a:prstGeom prst="rect">
            <a:avLst/>
          </a:prstGeom>
        </p:spPr>
      </p:pic>
      <p:sp>
        <p:nvSpPr>
          <p:cNvPr id="6" name="Google Shape;1779;g60be7dcf1c_0_659">
            <a:extLst>
              <a:ext uri="{FF2B5EF4-FFF2-40B4-BE49-F238E27FC236}">
                <a16:creationId xmlns:a16="http://schemas.microsoft.com/office/drawing/2014/main" id="{63D524E2-B6D5-AE6F-4339-16D6202BB7E0}"/>
              </a:ext>
            </a:extLst>
          </p:cNvPr>
          <p:cNvSpPr txBox="1"/>
          <p:nvPr/>
        </p:nvSpPr>
        <p:spPr>
          <a:xfrm>
            <a:off x="0" y="540000"/>
            <a:ext cx="8211000" cy="1030383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7" name="Google Shape;1688;g60be7dcf1c_0_579">
            <a:extLst>
              <a:ext uri="{FF2B5EF4-FFF2-40B4-BE49-F238E27FC236}">
                <a16:creationId xmlns:a16="http://schemas.microsoft.com/office/drawing/2014/main" id="{F9146503-2160-C245-E476-5FF94BB156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3075" y="324175"/>
            <a:ext cx="8171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Further Reading</a:t>
            </a:r>
            <a:br>
              <a:rPr lang="en-GB" sz="32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4000" dirty="0" err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HotOptics@Sigcomm</a:t>
            </a:r>
            <a: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2026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B572E914-CA8A-3BA7-B153-570DFBB2661B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30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9" name="Google Shape;1730;g60be7dcf1c_0_603">
            <a:extLst>
              <a:ext uri="{FF2B5EF4-FFF2-40B4-BE49-F238E27FC236}">
                <a16:creationId xmlns:a16="http://schemas.microsoft.com/office/drawing/2014/main" id="{22EB92E7-2ACC-9F6B-76FA-8739F71EFB46}"/>
              </a:ext>
            </a:extLst>
          </p:cNvPr>
          <p:cNvSpPr txBox="1"/>
          <p:nvPr/>
        </p:nvSpPr>
        <p:spPr>
          <a:xfrm>
            <a:off x="6873875" y="4430542"/>
            <a:ext cx="2042876" cy="669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b="1" dirty="0">
                <a:solidFill>
                  <a:srgbClr val="CC0000"/>
                </a:solidFill>
                <a:latin typeface="Consolas" panose="020B0609020204030204" pitchFamily="49" charset="0"/>
                <a:ea typeface="Consolas"/>
                <a:cs typeface="Dreaming Outloud Script Pro" panose="020F0502020204030204" pitchFamily="66" charset="0"/>
                <a:sym typeface="Consolas"/>
              </a:rPr>
              <a:t>The </a:t>
            </a:r>
            <a:r>
              <a:rPr lang="en-GB" sz="2200" b="1" dirty="0" err="1">
                <a:solidFill>
                  <a:srgbClr val="CC0000"/>
                </a:solidFill>
                <a:latin typeface="Consolas" panose="020B0609020204030204" pitchFamily="49" charset="0"/>
                <a:ea typeface="Consolas"/>
                <a:cs typeface="Dreaming Outloud Script Pro" panose="020F0502020204030204" pitchFamily="66" charset="0"/>
                <a:sym typeface="Consolas"/>
              </a:rPr>
              <a:t>ReTri</a:t>
            </a:r>
            <a:r>
              <a:rPr lang="en-GB" sz="2200" b="1" dirty="0">
                <a:solidFill>
                  <a:srgbClr val="CC0000"/>
                </a:solidFill>
                <a:latin typeface="Consolas" panose="020B0609020204030204" pitchFamily="49" charset="0"/>
                <a:ea typeface="Consolas"/>
                <a:cs typeface="Dreaming Outloud Script Pro" panose="020F0502020204030204" pitchFamily="66" charset="0"/>
                <a:sym typeface="Consolas"/>
              </a:rPr>
              <a:t> paper!</a:t>
            </a:r>
          </a:p>
        </p:txBody>
      </p:sp>
    </p:spTree>
    <p:extLst>
      <p:ext uri="{BB962C8B-B14F-4D97-AF65-F5344CB8AC3E}">
        <p14:creationId xmlns:p14="http://schemas.microsoft.com/office/powerpoint/2010/main" val="263784410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4">
          <a:extLst>
            <a:ext uri="{FF2B5EF4-FFF2-40B4-BE49-F238E27FC236}">
              <a16:creationId xmlns:a16="http://schemas.microsoft.com/office/drawing/2014/main" id="{90CAB047-FB9A-A663-5906-3BE0071CD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779;g60be7dcf1c_0_659">
            <a:extLst>
              <a:ext uri="{FF2B5EF4-FFF2-40B4-BE49-F238E27FC236}">
                <a16:creationId xmlns:a16="http://schemas.microsoft.com/office/drawing/2014/main" id="{73AF1DA5-762B-AE2B-C4AB-92DBF68743D4}"/>
              </a:ext>
            </a:extLst>
          </p:cNvPr>
          <p:cNvSpPr txBox="1"/>
          <p:nvPr/>
        </p:nvSpPr>
        <p:spPr>
          <a:xfrm>
            <a:off x="0" y="540000"/>
            <a:ext cx="8211000" cy="1030383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7" name="Google Shape;1688;g60be7dcf1c_0_579">
            <a:extLst>
              <a:ext uri="{FF2B5EF4-FFF2-40B4-BE49-F238E27FC236}">
                <a16:creationId xmlns:a16="http://schemas.microsoft.com/office/drawing/2014/main" id="{D848F514-1624-516F-DFB4-51E4750CE4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3075" y="324175"/>
            <a:ext cx="8171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Particularly Powerful in Hybrid Networks</a:t>
            </a:r>
            <a:br>
              <a:rPr lang="en-GB" sz="32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ACM </a:t>
            </a:r>
            <a:r>
              <a:rPr lang="en-GB" sz="4000" dirty="0" err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Sigmetrics</a:t>
            </a:r>
            <a: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2027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B7F34A81-9255-F9BE-5149-2E4012A229C0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30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9DC0D12-E1FA-5B17-CEE9-A70B34A7B1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3004" y="2107196"/>
            <a:ext cx="6531975" cy="3642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78432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4">
          <a:extLst>
            <a:ext uri="{FF2B5EF4-FFF2-40B4-BE49-F238E27FC236}">
              <a16:creationId xmlns:a16="http://schemas.microsoft.com/office/drawing/2014/main" id="{190A12CA-958E-16D4-BF6F-BBBC49B85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779;g60be7dcf1c_0_659">
            <a:extLst>
              <a:ext uri="{FF2B5EF4-FFF2-40B4-BE49-F238E27FC236}">
                <a16:creationId xmlns:a16="http://schemas.microsoft.com/office/drawing/2014/main" id="{2A020B78-A58E-D8CE-80DB-59DCF34FB89F}"/>
              </a:ext>
            </a:extLst>
          </p:cNvPr>
          <p:cNvSpPr txBox="1"/>
          <p:nvPr/>
        </p:nvSpPr>
        <p:spPr>
          <a:xfrm>
            <a:off x="0" y="540000"/>
            <a:ext cx="8211000" cy="1030383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7" name="Google Shape;1688;g60be7dcf1c_0_579">
            <a:extLst>
              <a:ext uri="{FF2B5EF4-FFF2-40B4-BE49-F238E27FC236}">
                <a16:creationId xmlns:a16="http://schemas.microsoft.com/office/drawing/2014/main" id="{F8C46F83-C75B-B06F-E797-4F7E7AE1E8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3075" y="324175"/>
            <a:ext cx="8171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Reconfigurations Also Help Other Collectives</a:t>
            </a:r>
            <a:br>
              <a:rPr lang="en-GB" sz="32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ACM </a:t>
            </a:r>
            <a:r>
              <a:rPr lang="en-GB" sz="4000" dirty="0" err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MobiHoc</a:t>
            </a:r>
            <a: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2026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91B171A3-C6DC-55F1-C4F7-38C03934CF86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30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3C74B5-7E1F-A364-1835-8B9FDA05F7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7088" y="2213218"/>
            <a:ext cx="5948458" cy="304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66760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7">
          <a:extLst>
            <a:ext uri="{FF2B5EF4-FFF2-40B4-BE49-F238E27FC236}">
              <a16:creationId xmlns:a16="http://schemas.microsoft.com/office/drawing/2014/main" id="{53180EEF-6EA5-63C9-0537-1BDDDBC1A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93BB284-4B8D-EB47-7495-51F49AE517FE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31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3" name="Google Shape;1580;g60be7dcf1c_0_473">
            <a:extLst>
              <a:ext uri="{FF2B5EF4-FFF2-40B4-BE49-F238E27FC236}">
                <a16:creationId xmlns:a16="http://schemas.microsoft.com/office/drawing/2014/main" id="{57C116BC-B0CC-FDC0-CE14-9776CEF9FF05}"/>
              </a:ext>
            </a:extLst>
          </p:cNvPr>
          <p:cNvSpPr txBox="1"/>
          <p:nvPr/>
        </p:nvSpPr>
        <p:spPr>
          <a:xfrm>
            <a:off x="-139279" y="2695799"/>
            <a:ext cx="8629271" cy="1507711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4" name="Google Shape;1810;g60be7dcf1c_0_698">
            <a:extLst>
              <a:ext uri="{FF2B5EF4-FFF2-40B4-BE49-F238E27FC236}">
                <a16:creationId xmlns:a16="http://schemas.microsoft.com/office/drawing/2014/main" id="{1D6E8817-189D-2331-33BE-C81AE00816ED}"/>
              </a:ext>
            </a:extLst>
          </p:cNvPr>
          <p:cNvSpPr txBox="1">
            <a:spLocks/>
          </p:cNvSpPr>
          <p:nvPr/>
        </p:nvSpPr>
        <p:spPr>
          <a:xfrm>
            <a:off x="973074" y="2497904"/>
            <a:ext cx="7704760" cy="1080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buSzPts val="1100"/>
            </a:pPr>
            <a:r>
              <a:rPr lang="en-GB" sz="2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Another attractive fabric capability:</a:t>
            </a:r>
            <a:br>
              <a:rPr lang="en-GB" sz="2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36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Leveraging simultaneous communication ports for AI</a:t>
            </a:r>
          </a:p>
        </p:txBody>
      </p:sp>
    </p:spTree>
    <p:extLst>
      <p:ext uri="{BB962C8B-B14F-4D97-AF65-F5344CB8AC3E}">
        <p14:creationId xmlns:p14="http://schemas.microsoft.com/office/powerpoint/2010/main" val="249228636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4">
          <a:extLst>
            <a:ext uri="{FF2B5EF4-FFF2-40B4-BE49-F238E27FC236}">
              <a16:creationId xmlns:a16="http://schemas.microsoft.com/office/drawing/2014/main" id="{780E275A-7232-3597-8B39-5B0D97514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656;g60be7dcf1c_0_555">
            <a:extLst>
              <a:ext uri="{FF2B5EF4-FFF2-40B4-BE49-F238E27FC236}">
                <a16:creationId xmlns:a16="http://schemas.microsoft.com/office/drawing/2014/main" id="{F8759D04-188A-6D58-8F3E-CF035B51F8B3}"/>
              </a:ext>
            </a:extLst>
          </p:cNvPr>
          <p:cNvSpPr txBox="1"/>
          <p:nvPr/>
        </p:nvSpPr>
        <p:spPr>
          <a:xfrm>
            <a:off x="-1" y="540000"/>
            <a:ext cx="8495731" cy="101893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10" name="Google Shape;1657;g60be7dcf1c_0_555">
            <a:extLst>
              <a:ext uri="{FF2B5EF4-FFF2-40B4-BE49-F238E27FC236}">
                <a16:creationId xmlns:a16="http://schemas.microsoft.com/office/drawing/2014/main" id="{80C72DCD-4C81-1A93-C611-459340325A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3075" y="26970"/>
            <a:ext cx="8171100" cy="1573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l">
              <a:buSzPts val="1100"/>
            </a:pPr>
            <a:br>
              <a:rPr lang="en-GB" sz="2000" dirty="0"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2000" dirty="0">
                <a:latin typeface="Consolas"/>
                <a:ea typeface="Consolas"/>
                <a:cs typeface="Consolas"/>
                <a:sym typeface="Consolas"/>
              </a:rPr>
              <a:t>Motivation: Consider </a:t>
            </a:r>
            <a:br>
              <a:rPr lang="en-GB" sz="2000" dirty="0"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4000" dirty="0">
                <a:latin typeface="Consolas"/>
                <a:ea typeface="Consolas"/>
                <a:cs typeface="Consolas"/>
                <a:sym typeface="Consolas"/>
              </a:rPr>
              <a:t>Recursive Doubling (RD)</a:t>
            </a:r>
            <a:endParaRPr lang="en-GB" sz="4000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" name="Google Shape;1534;g60be7dcf1c_0_434">
            <a:extLst>
              <a:ext uri="{FF2B5EF4-FFF2-40B4-BE49-F238E27FC236}">
                <a16:creationId xmlns:a16="http://schemas.microsoft.com/office/drawing/2014/main" id="{E6EF4531-FC49-8134-2230-7DD4B620A830}"/>
              </a:ext>
            </a:extLst>
          </p:cNvPr>
          <p:cNvSpPr txBox="1"/>
          <p:nvPr/>
        </p:nvSpPr>
        <p:spPr>
          <a:xfrm>
            <a:off x="1153771" y="2124676"/>
            <a:ext cx="7253250" cy="37029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⇀ </a:t>
            </a:r>
            <a:r>
              <a:rPr lang="en-GB" sz="1600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Recursive doubling</a:t>
            </a: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: a fundamental </a:t>
            </a:r>
            <a:r>
              <a:rPr lang="en-GB" sz="1600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algorithmic</a:t>
            </a: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technique </a:t>
            </a:r>
            <a:r>
              <a:rPr lang="en-GB" sz="1600" dirty="0">
                <a:solidFill>
                  <a:schemeClr val="tx1"/>
                </a:solidFill>
                <a:latin typeface="Consolas"/>
                <a:ea typeface="Consolas"/>
                <a:cs typeface="Consolas"/>
                <a:sym typeface="Consolas"/>
              </a:rPr>
              <a:t>for </a:t>
            </a:r>
          </a:p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tx1"/>
                </a:solidFill>
                <a:latin typeface="Consolas"/>
                <a:ea typeface="Consolas"/>
                <a:cs typeface="Consolas"/>
                <a:sym typeface="Consolas"/>
              </a:rPr>
              <a:t>   several collective communication operations</a:t>
            </a:r>
            <a:endParaRPr lang="en-GB" sz="1600" dirty="0">
              <a:solidFill>
                <a:srgbClr val="C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en-GB" sz="1600" dirty="0">
              <a:solidFill>
                <a:srgbClr val="C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⇀ Idea: 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processes exchange their current data with partners </a:t>
            </a:r>
          </a:p>
          <a:p>
            <a:pPr lvl="0">
              <a:lnSpc>
                <a:spcPct val="115000"/>
              </a:lnSpc>
            </a:pP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at </a:t>
            </a:r>
            <a:r>
              <a:rPr lang="en-US" sz="1600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exponentially increasing distances</a:t>
            </a:r>
          </a:p>
          <a:p>
            <a:pPr lvl="0">
              <a:lnSpc>
                <a:spcPct val="115000"/>
              </a:lnSpc>
            </a:pPr>
            <a:endParaRPr lang="en-US" sz="1600" dirty="0">
              <a:solidFill>
                <a:srgbClr val="C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⇀ Known for low </a:t>
            </a:r>
            <a:r>
              <a:rPr lang="en-GB" sz="1600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latency</a:t>
            </a: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: for n processes, takes </a:t>
            </a:r>
            <a:r>
              <a:rPr lang="en-GB" sz="1600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log n</a:t>
            </a: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rounds</a:t>
            </a:r>
          </a:p>
          <a:p>
            <a:pPr lvl="0">
              <a:lnSpc>
                <a:spcPct val="115000"/>
              </a:lnSpc>
            </a:pPr>
            <a:endParaRPr lang="en-US" sz="1600" dirty="0">
              <a:solidFill>
                <a:srgbClr val="C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⇀ Can be used for: </a:t>
            </a:r>
            <a:r>
              <a:rPr lang="en-GB" sz="1600" dirty="0" err="1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AllReduce</a:t>
            </a: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GB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AllGather</a:t>
            </a: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etc.</a:t>
            </a:r>
          </a:p>
          <a:p>
            <a:pPr lvl="0">
              <a:lnSpc>
                <a:spcPct val="115000"/>
              </a:lnSpc>
            </a:pP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en-US" sz="1600" b="1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de-DE"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97A2E9D2-A9E3-AA3C-901C-C4A2D7D1470C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32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211169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4">
          <a:extLst>
            <a:ext uri="{FF2B5EF4-FFF2-40B4-BE49-F238E27FC236}">
              <a16:creationId xmlns:a16="http://schemas.microsoft.com/office/drawing/2014/main" id="{B8B8262F-CA05-32D0-CF0D-B6B54B859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656;g60be7dcf1c_0_555">
            <a:extLst>
              <a:ext uri="{FF2B5EF4-FFF2-40B4-BE49-F238E27FC236}">
                <a16:creationId xmlns:a16="http://schemas.microsoft.com/office/drawing/2014/main" id="{01E15012-FDB8-5290-5D0E-8F2704EF5437}"/>
              </a:ext>
            </a:extLst>
          </p:cNvPr>
          <p:cNvSpPr txBox="1"/>
          <p:nvPr/>
        </p:nvSpPr>
        <p:spPr>
          <a:xfrm>
            <a:off x="-1" y="540000"/>
            <a:ext cx="8495731" cy="101893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10" name="Google Shape;1657;g60be7dcf1c_0_555">
            <a:extLst>
              <a:ext uri="{FF2B5EF4-FFF2-40B4-BE49-F238E27FC236}">
                <a16:creationId xmlns:a16="http://schemas.microsoft.com/office/drawing/2014/main" id="{7627DA3E-7034-2742-C319-5576D26E47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3075" y="26970"/>
            <a:ext cx="8171100" cy="1573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l">
              <a:buSzPts val="1100"/>
            </a:pPr>
            <a:br>
              <a:rPr lang="en-GB" sz="2000" dirty="0"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2000" dirty="0">
                <a:latin typeface="Consolas"/>
                <a:ea typeface="Consolas"/>
                <a:cs typeface="Consolas"/>
                <a:sym typeface="Consolas"/>
              </a:rPr>
              <a:t>However, RD inefficient on high-diameter networks:</a:t>
            </a:r>
            <a:br>
              <a:rPr lang="en-GB" sz="2000" dirty="0"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4000" dirty="0">
                <a:latin typeface="Consolas"/>
                <a:ea typeface="Consolas"/>
                <a:cs typeface="Consolas"/>
                <a:sym typeface="Consolas"/>
              </a:rPr>
              <a:t>RD on the Ring</a:t>
            </a:r>
            <a:endParaRPr lang="en-GB" sz="4000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" name="Google Shape;1534;g60be7dcf1c_0_434">
            <a:extLst>
              <a:ext uri="{FF2B5EF4-FFF2-40B4-BE49-F238E27FC236}">
                <a16:creationId xmlns:a16="http://schemas.microsoft.com/office/drawing/2014/main" id="{D445E4E5-3830-E9D6-71A4-DFDEEAAA9841}"/>
              </a:ext>
            </a:extLst>
          </p:cNvPr>
          <p:cNvSpPr txBox="1"/>
          <p:nvPr/>
        </p:nvSpPr>
        <p:spPr>
          <a:xfrm>
            <a:off x="1153771" y="2591615"/>
            <a:ext cx="7253250" cy="3207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Recursive doubling</a:t>
            </a: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on ring:</a:t>
            </a:r>
          </a:p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Communicate at distances </a:t>
            </a:r>
          </a:p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1, 2, 4, 8, etc.</a:t>
            </a:r>
          </a:p>
          <a:p>
            <a:pPr lvl="0">
              <a:lnSpc>
                <a:spcPct val="115000"/>
              </a:lnSpc>
            </a:pPr>
            <a:endParaRPr lang="en-GB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en-GB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en-GB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en-GB" sz="1600" dirty="0">
              <a:solidFill>
                <a:srgbClr val="C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⇀ </a:t>
            </a:r>
            <a:r>
              <a:rPr lang="en-GB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Inefficiency 1: 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Multiple pairs share physical links</a:t>
            </a:r>
          </a:p>
          <a:p>
            <a:pPr lvl="0">
              <a:lnSpc>
                <a:spcPct val="115000"/>
              </a:lnSpc>
            </a:pP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in same step: </a:t>
            </a:r>
            <a:r>
              <a:rPr lang="en-US" sz="1600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congestion</a:t>
            </a: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en-GB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⇀ </a:t>
            </a:r>
            <a:r>
              <a:rPr lang="en-GB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Inefficiency 2: 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While some other physical links </a:t>
            </a:r>
          </a:p>
          <a:p>
            <a:pPr lvl="0">
              <a:lnSpc>
                <a:spcPct val="115000"/>
              </a:lnSpc>
            </a:pP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1600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not used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for propagation</a:t>
            </a:r>
          </a:p>
          <a:p>
            <a:pPr lvl="0">
              <a:lnSpc>
                <a:spcPct val="115000"/>
              </a:lnSpc>
            </a:pPr>
            <a:endParaRPr lang="en-GB" sz="1600" dirty="0">
              <a:solidFill>
                <a:srgbClr val="C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de-DE"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D69C7EC5-5773-0BC5-B001-A7C2C8B45A66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33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pic>
        <p:nvPicPr>
          <p:cNvPr id="4" name="Grafik 24">
            <a:extLst>
              <a:ext uri="{FF2B5EF4-FFF2-40B4-BE49-F238E27FC236}">
                <a16:creationId xmlns:a16="http://schemas.microsoft.com/office/drawing/2014/main" id="{153329E1-AE76-5545-8777-0E9191D4E2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2389" y="2175283"/>
            <a:ext cx="3368595" cy="1830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8448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4">
          <a:extLst>
            <a:ext uri="{FF2B5EF4-FFF2-40B4-BE49-F238E27FC236}">
              <a16:creationId xmlns:a16="http://schemas.microsoft.com/office/drawing/2014/main" id="{0F111550-BAE0-BC9C-1F17-8E2232F17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656;g60be7dcf1c_0_555">
            <a:extLst>
              <a:ext uri="{FF2B5EF4-FFF2-40B4-BE49-F238E27FC236}">
                <a16:creationId xmlns:a16="http://schemas.microsoft.com/office/drawing/2014/main" id="{5A9EC866-173D-C190-E8DB-F8925CE9561F}"/>
              </a:ext>
            </a:extLst>
          </p:cNvPr>
          <p:cNvSpPr txBox="1"/>
          <p:nvPr/>
        </p:nvSpPr>
        <p:spPr>
          <a:xfrm>
            <a:off x="-1" y="540000"/>
            <a:ext cx="8495731" cy="101893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3" name="Google Shape;1534;g60be7dcf1c_0_434">
            <a:extLst>
              <a:ext uri="{FF2B5EF4-FFF2-40B4-BE49-F238E27FC236}">
                <a16:creationId xmlns:a16="http://schemas.microsoft.com/office/drawing/2014/main" id="{3B3CAB44-47ED-A53C-F386-94EE8AC48345}"/>
              </a:ext>
            </a:extLst>
          </p:cNvPr>
          <p:cNvSpPr txBox="1"/>
          <p:nvPr/>
        </p:nvSpPr>
        <p:spPr>
          <a:xfrm>
            <a:off x="6041264" y="6092328"/>
            <a:ext cx="3191447" cy="668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US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*Swing: Short-cutting Rings for Higher Bandwidth </a:t>
            </a:r>
            <a:r>
              <a:rPr lang="en-US" sz="12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Allreduce</a:t>
            </a:r>
            <a:endParaRPr lang="en-US"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de-DE"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5" name="Grafik 5">
            <a:extLst>
              <a:ext uri="{FF2B5EF4-FFF2-40B4-BE49-F238E27FC236}">
                <a16:creationId xmlns:a16="http://schemas.microsoft.com/office/drawing/2014/main" id="{6310A2E6-3170-CA08-7AC4-4D9A03CBB2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2744" y="1938414"/>
            <a:ext cx="5810240" cy="1894015"/>
          </a:xfrm>
          <a:prstGeom prst="rect">
            <a:avLst/>
          </a:prstGeom>
        </p:spPr>
      </p:pic>
      <p:sp>
        <p:nvSpPr>
          <p:cNvPr id="8" name="Google Shape;1657;g60be7dcf1c_0_555">
            <a:extLst>
              <a:ext uri="{FF2B5EF4-FFF2-40B4-BE49-F238E27FC236}">
                <a16:creationId xmlns:a16="http://schemas.microsoft.com/office/drawing/2014/main" id="{C660F99D-D4B4-1509-885E-F4DAA4E198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3075" y="26970"/>
            <a:ext cx="8171100" cy="1573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l">
              <a:buSzPts val="1100"/>
            </a:pPr>
            <a:br>
              <a:rPr lang="en-GB" sz="2000" dirty="0"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2000" dirty="0">
                <a:latin typeface="Consolas"/>
                <a:ea typeface="Consolas"/>
                <a:cs typeface="Consolas"/>
                <a:sym typeface="Consolas"/>
              </a:rPr>
              <a:t>De Sensi et al. at NSDI 2024 presented an</a:t>
            </a:r>
            <a:br>
              <a:rPr lang="en-GB" sz="2000" dirty="0"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4000" dirty="0">
                <a:latin typeface="Consolas"/>
                <a:ea typeface="Consolas"/>
                <a:cs typeface="Consolas"/>
                <a:sym typeface="Consolas"/>
              </a:rPr>
              <a:t>Improvement: Swing*</a:t>
            </a:r>
            <a:endParaRPr lang="en-GB" sz="4000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" name="Google Shape;1534;g60be7dcf1c_0_434">
            <a:extLst>
              <a:ext uri="{FF2B5EF4-FFF2-40B4-BE49-F238E27FC236}">
                <a16:creationId xmlns:a16="http://schemas.microsoft.com/office/drawing/2014/main" id="{51801E9A-C8A7-00FB-51EB-D54D9200D52E}"/>
              </a:ext>
            </a:extLst>
          </p:cNvPr>
          <p:cNvSpPr txBox="1"/>
          <p:nvPr/>
        </p:nvSpPr>
        <p:spPr>
          <a:xfrm>
            <a:off x="1153771" y="4476466"/>
            <a:ext cx="7253250" cy="1615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⇀ 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Idea to </a:t>
            </a:r>
            <a:r>
              <a:rPr lang="en-US" sz="1600" b="1" i="1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reduce collisions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: Communication in both </a:t>
            </a:r>
          </a:p>
          <a:p>
            <a:pPr lvl="0">
              <a:lnSpc>
                <a:spcPct val="115000"/>
              </a:lnSpc>
            </a:pP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directions at </a:t>
            </a:r>
            <a:r>
              <a:rPr lang="en-US" sz="1600" b="1" i="1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shorter distance </a:t>
            </a:r>
            <a:r>
              <a:rPr lang="en-US" sz="1600" dirty="0">
                <a:solidFill>
                  <a:schemeClr val="tx1"/>
                </a:solidFill>
                <a:latin typeface="Consolas"/>
                <a:ea typeface="Consolas"/>
                <a:cs typeface="Consolas"/>
                <a:sym typeface="Consolas"/>
              </a:rPr>
              <a:t>(focus: </a:t>
            </a:r>
            <a:r>
              <a:rPr lang="en-US" sz="1600" dirty="0" err="1">
                <a:solidFill>
                  <a:schemeClr val="tx1"/>
                </a:solidFill>
                <a:latin typeface="Consolas"/>
                <a:ea typeface="Consolas"/>
                <a:cs typeface="Consolas"/>
                <a:sym typeface="Consolas"/>
              </a:rPr>
              <a:t>AllReduce</a:t>
            </a:r>
            <a:r>
              <a:rPr lang="en-US" sz="1600" dirty="0">
                <a:solidFill>
                  <a:schemeClr val="tx1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</a:p>
          <a:p>
            <a:pPr lvl="0">
              <a:lnSpc>
                <a:spcPct val="115000"/>
              </a:lnSpc>
            </a:pPr>
            <a:endParaRPr lang="en-US" sz="1600" dirty="0">
              <a:solidFill>
                <a:srgbClr val="C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⇀ 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But still </a:t>
            </a:r>
            <a:r>
              <a:rPr lang="en-US" sz="1600" b="1" i="1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same latency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600" dirty="0">
                <a:solidFill>
                  <a:schemeClr val="tx1"/>
                </a:solidFill>
                <a:latin typeface="Consolas"/>
                <a:ea typeface="Consolas"/>
                <a:cs typeface="Consolas"/>
                <a:sym typeface="Consolas"/>
              </a:rPr>
              <a:t>identical number of steps 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and  </a:t>
            </a:r>
          </a:p>
          <a:p>
            <a:pPr lvl="0">
              <a:lnSpc>
                <a:spcPct val="115000"/>
              </a:lnSpc>
            </a:pP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transferred data</a:t>
            </a:r>
            <a:endParaRPr lang="de-DE"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" name="Rechteckige Legende 1">
            <a:extLst>
              <a:ext uri="{FF2B5EF4-FFF2-40B4-BE49-F238E27FC236}">
                <a16:creationId xmlns:a16="http://schemas.microsoft.com/office/drawing/2014/main" id="{7A61E65C-17FE-5481-CF92-9F4A4F1896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0189" y="2412081"/>
            <a:ext cx="1731282" cy="340735"/>
          </a:xfrm>
          <a:prstGeom prst="wedgeRectCallout">
            <a:avLst>
              <a:gd name="adj1" fmla="val -79865"/>
              <a:gd name="adj2" fmla="val 49323"/>
            </a:avLst>
          </a:prstGeom>
          <a:solidFill>
            <a:schemeClr val="accent1">
              <a:lumMod val="20000"/>
              <a:lumOff val="80000"/>
            </a:schemeClr>
          </a:solidFill>
          <a:ln w="25400" algn="ctr">
            <a:solidFill>
              <a:srgbClr val="8FAADC"/>
            </a:solidFill>
            <a:round/>
            <a:headEnd/>
            <a:tailEnd/>
          </a:ln>
        </p:spPr>
        <p:txBody>
          <a:bodyPr wrap="square" lIns="90000" tIns="46800" rIns="90000" bIns="46800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de-DE" altLang="de-DE" sz="1600" dirty="0">
                <a:latin typeface="+mn-lt"/>
              </a:rPr>
              <a:t>shorter distances</a:t>
            </a:r>
          </a:p>
        </p:txBody>
      </p:sp>
      <p:sp>
        <p:nvSpPr>
          <p:cNvPr id="7" name="Rechteckige Legende 1">
            <a:extLst>
              <a:ext uri="{FF2B5EF4-FFF2-40B4-BE49-F238E27FC236}">
                <a16:creationId xmlns:a16="http://schemas.microsoft.com/office/drawing/2014/main" id="{2CF6D2A6-50BD-2074-056D-B13CAC3E60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5228" y="2923221"/>
            <a:ext cx="1386243" cy="586957"/>
          </a:xfrm>
          <a:prstGeom prst="wedgeRectCallout">
            <a:avLst>
              <a:gd name="adj1" fmla="val -77114"/>
              <a:gd name="adj2" fmla="val -33688"/>
            </a:avLst>
          </a:prstGeom>
          <a:solidFill>
            <a:schemeClr val="accent1">
              <a:lumMod val="20000"/>
              <a:lumOff val="80000"/>
            </a:schemeClr>
          </a:solidFill>
          <a:ln w="25400" algn="ctr">
            <a:solidFill>
              <a:srgbClr val="8FAADC"/>
            </a:solidFill>
            <a:round/>
            <a:headEnd/>
            <a:tailEnd/>
          </a:ln>
        </p:spPr>
        <p:txBody>
          <a:bodyPr wrap="square" lIns="90000" tIns="46800" rIns="90000" bIns="46800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de-DE" altLang="de-DE" sz="1600" dirty="0">
                <a:latin typeface="+mn-lt"/>
              </a:rPr>
              <a:t>use both directions</a:t>
            </a:r>
          </a:p>
        </p:txBody>
      </p:sp>
      <p:sp>
        <p:nvSpPr>
          <p:cNvPr id="11" name="Rechteckige Legende 1">
            <a:extLst>
              <a:ext uri="{FF2B5EF4-FFF2-40B4-BE49-F238E27FC236}">
                <a16:creationId xmlns:a16="http://schemas.microsoft.com/office/drawing/2014/main" id="{4E86FA9C-67AF-CA84-04DA-CB8E3C319D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42275" y="3782399"/>
            <a:ext cx="1468789" cy="340735"/>
          </a:xfrm>
          <a:prstGeom prst="wedgeRectCallout">
            <a:avLst>
              <a:gd name="adj1" fmla="val -72593"/>
              <a:gd name="adj2" fmla="val -50566"/>
            </a:avLst>
          </a:prstGeom>
          <a:solidFill>
            <a:schemeClr val="accent1">
              <a:lumMod val="20000"/>
              <a:lumOff val="80000"/>
            </a:schemeClr>
          </a:solidFill>
          <a:ln w="25400" algn="ctr">
            <a:solidFill>
              <a:srgbClr val="8FAADC"/>
            </a:solidFill>
            <a:round/>
            <a:headEnd/>
            <a:tailEnd/>
          </a:ln>
        </p:spPr>
        <p:txBody>
          <a:bodyPr wrap="square" lIns="90000" tIns="46800" rIns="90000" bIns="46800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de-DE" altLang="de-DE" sz="1600" dirty="0">
                <a:latin typeface="+mn-lt"/>
              </a:rPr>
              <a:t>less collisions</a:t>
            </a:r>
          </a:p>
        </p:txBody>
      </p:sp>
    </p:spTree>
    <p:extLst>
      <p:ext uri="{BB962C8B-B14F-4D97-AF65-F5344CB8AC3E}">
        <p14:creationId xmlns:p14="http://schemas.microsoft.com/office/powerpoint/2010/main" val="380097316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4">
          <a:extLst>
            <a:ext uri="{FF2B5EF4-FFF2-40B4-BE49-F238E27FC236}">
              <a16:creationId xmlns:a16="http://schemas.microsoft.com/office/drawing/2014/main" id="{0247A0F1-1269-B747-6BB5-C12B2C8D0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656;g60be7dcf1c_0_555">
            <a:extLst>
              <a:ext uri="{FF2B5EF4-FFF2-40B4-BE49-F238E27FC236}">
                <a16:creationId xmlns:a16="http://schemas.microsoft.com/office/drawing/2014/main" id="{50F23D39-734A-9EBD-72CF-0889CECFA26C}"/>
              </a:ext>
            </a:extLst>
          </p:cNvPr>
          <p:cNvSpPr txBox="1"/>
          <p:nvPr/>
        </p:nvSpPr>
        <p:spPr>
          <a:xfrm>
            <a:off x="-1" y="540000"/>
            <a:ext cx="8495731" cy="101893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8" name="Google Shape;1657;g60be7dcf1c_0_555">
            <a:extLst>
              <a:ext uri="{FF2B5EF4-FFF2-40B4-BE49-F238E27FC236}">
                <a16:creationId xmlns:a16="http://schemas.microsoft.com/office/drawing/2014/main" id="{B16DBA28-291B-C3EC-5073-EAF1BE9353C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3075" y="26970"/>
            <a:ext cx="8171100" cy="1573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l">
              <a:buSzPts val="1100"/>
            </a:pPr>
            <a:br>
              <a:rPr lang="en-GB" sz="2000" dirty="0"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2000" dirty="0">
                <a:latin typeface="Consolas"/>
                <a:ea typeface="Consolas"/>
                <a:cs typeface="Consolas"/>
                <a:sym typeface="Consolas"/>
              </a:rPr>
              <a:t>Can we reduce number of steps further?</a:t>
            </a:r>
            <a:br>
              <a:rPr lang="en-GB" sz="2000" dirty="0"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4000" dirty="0">
                <a:latin typeface="Consolas"/>
                <a:ea typeface="Consolas"/>
                <a:cs typeface="Consolas"/>
                <a:sym typeface="Consolas"/>
              </a:rPr>
              <a:t>Latency-Optimal: </a:t>
            </a:r>
            <a:r>
              <a:rPr lang="en-GB" sz="4000" dirty="0" err="1">
                <a:latin typeface="Consolas"/>
                <a:ea typeface="Consolas"/>
                <a:cs typeface="Consolas"/>
                <a:sym typeface="Consolas"/>
              </a:rPr>
              <a:t>Trivance</a:t>
            </a:r>
            <a:endParaRPr lang="en-GB" sz="4000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" name="Google Shape;1534;g60be7dcf1c_0_434">
            <a:extLst>
              <a:ext uri="{FF2B5EF4-FFF2-40B4-BE49-F238E27FC236}">
                <a16:creationId xmlns:a16="http://schemas.microsoft.com/office/drawing/2014/main" id="{6A7370E6-D3B2-D2C7-F815-21E061725466}"/>
              </a:ext>
            </a:extLst>
          </p:cNvPr>
          <p:cNvSpPr txBox="1"/>
          <p:nvPr/>
        </p:nvSpPr>
        <p:spPr>
          <a:xfrm>
            <a:off x="1153771" y="1944802"/>
            <a:ext cx="7341959" cy="353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⇀ 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Idea: </a:t>
            </a:r>
            <a:r>
              <a:rPr lang="en-US" sz="1600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avoid idle 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ports/links, </a:t>
            </a:r>
            <a:r>
              <a:rPr lang="en-US" sz="1600" b="1" i="1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use ports simultaneously 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and </a:t>
            </a:r>
          </a:p>
          <a:p>
            <a:pPr lvl="0">
              <a:lnSpc>
                <a:spcPct val="115000"/>
              </a:lnSpc>
            </a:pP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communicate </a:t>
            </a:r>
            <a:r>
              <a:rPr lang="en-US" sz="1600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bidirectionally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in each step</a:t>
            </a:r>
          </a:p>
          <a:p>
            <a:pPr lvl="0">
              <a:lnSpc>
                <a:spcPct val="115000"/>
              </a:lnSpc>
            </a:pP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⇀ 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Each node reduces data </a:t>
            </a:r>
            <a:r>
              <a:rPr lang="en-US" sz="1600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from both incoming communications</a:t>
            </a:r>
            <a:b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⇀ 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Data can be </a:t>
            </a:r>
            <a:r>
              <a:rPr lang="en-US" sz="1600" b="1" i="1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tripled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per step, latency reduces</a:t>
            </a:r>
          </a:p>
          <a:p>
            <a:pPr>
              <a:lnSpc>
                <a:spcPct val="115000"/>
              </a:lnSpc>
            </a:pP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from log2 (n) to </a:t>
            </a:r>
            <a:r>
              <a:rPr lang="en-US" sz="1600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log3 (n)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(58% less)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FB0CB0-528F-D5DF-68B7-91671B2DFC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0268" y="4360459"/>
            <a:ext cx="5018371" cy="189423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65F1E28-601F-23BC-13D0-00BD0A5D333D}"/>
              </a:ext>
            </a:extLst>
          </p:cNvPr>
          <p:cNvSpPr/>
          <p:nvPr/>
        </p:nvSpPr>
        <p:spPr>
          <a:xfrm>
            <a:off x="2442949" y="4196687"/>
            <a:ext cx="1016758" cy="3616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B0CC463-ED95-03EC-BCDB-8ED67A4D6EF3}"/>
              </a:ext>
            </a:extLst>
          </p:cNvPr>
          <p:cNvSpPr/>
          <p:nvPr/>
        </p:nvSpPr>
        <p:spPr>
          <a:xfrm>
            <a:off x="4748886" y="4147782"/>
            <a:ext cx="1016758" cy="3616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Google Shape;1534;g60be7dcf1c_0_434">
            <a:extLst>
              <a:ext uri="{FF2B5EF4-FFF2-40B4-BE49-F238E27FC236}">
                <a16:creationId xmlns:a16="http://schemas.microsoft.com/office/drawing/2014/main" id="{6CBCF4FE-89BC-A807-5DFB-32833B22B860}"/>
              </a:ext>
            </a:extLst>
          </p:cNvPr>
          <p:cNvSpPr txBox="1"/>
          <p:nvPr/>
        </p:nvSpPr>
        <p:spPr>
          <a:xfrm>
            <a:off x="2701796" y="4111387"/>
            <a:ext cx="542493" cy="361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RD</a:t>
            </a: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" name="Google Shape;1534;g60be7dcf1c_0_434">
            <a:extLst>
              <a:ext uri="{FF2B5EF4-FFF2-40B4-BE49-F238E27FC236}">
                <a16:creationId xmlns:a16="http://schemas.microsoft.com/office/drawing/2014/main" id="{6A73BEDF-BA2D-F4E6-F44B-050448C43153}"/>
              </a:ext>
            </a:extLst>
          </p:cNvPr>
          <p:cNvSpPr txBox="1"/>
          <p:nvPr/>
        </p:nvSpPr>
        <p:spPr>
          <a:xfrm>
            <a:off x="4654460" y="4134134"/>
            <a:ext cx="1139323" cy="361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Trivance</a:t>
            </a: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8B036370-6BEA-EBCB-48D4-210F3050AA8E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35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3" name="Rechteckige Legende 1">
            <a:extLst>
              <a:ext uri="{FF2B5EF4-FFF2-40B4-BE49-F238E27FC236}">
                <a16:creationId xmlns:a16="http://schemas.microsoft.com/office/drawing/2014/main" id="{ACF9144C-AA32-C0C8-F8FF-219BDA3434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0428" y="3814010"/>
            <a:ext cx="977519" cy="586957"/>
          </a:xfrm>
          <a:prstGeom prst="wedgeRectCallout">
            <a:avLst>
              <a:gd name="adj1" fmla="val -84149"/>
              <a:gd name="adj2" fmla="val 80640"/>
            </a:avLst>
          </a:prstGeom>
          <a:solidFill>
            <a:schemeClr val="accent1">
              <a:lumMod val="20000"/>
              <a:lumOff val="80000"/>
            </a:schemeClr>
          </a:solidFill>
          <a:ln w="25400" algn="ctr">
            <a:solidFill>
              <a:srgbClr val="8FAADC"/>
            </a:solidFill>
            <a:round/>
            <a:headEnd/>
            <a:tailEnd/>
          </a:ln>
        </p:spPr>
        <p:txBody>
          <a:bodyPr wrap="square" lIns="90000" tIns="46800" rIns="90000" bIns="46800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de-DE" altLang="de-DE" sz="1600" dirty="0">
                <a:latin typeface="+mn-lt"/>
              </a:rPr>
              <a:t>use both ports</a:t>
            </a:r>
          </a:p>
        </p:txBody>
      </p:sp>
      <p:sp>
        <p:nvSpPr>
          <p:cNvPr id="11" name="Rechteckige Legende 1">
            <a:extLst>
              <a:ext uri="{FF2B5EF4-FFF2-40B4-BE49-F238E27FC236}">
                <a16:creationId xmlns:a16="http://schemas.microsoft.com/office/drawing/2014/main" id="{2EC24EA5-6FD9-3994-C848-D4DABB0C95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0332" y="6187538"/>
            <a:ext cx="1723335" cy="586957"/>
          </a:xfrm>
          <a:prstGeom prst="wedgeRectCallout">
            <a:avLst>
              <a:gd name="adj1" fmla="val -11147"/>
              <a:gd name="adj2" fmla="val -177044"/>
            </a:avLst>
          </a:prstGeom>
          <a:solidFill>
            <a:schemeClr val="accent1">
              <a:lumMod val="20000"/>
              <a:lumOff val="80000"/>
            </a:schemeClr>
          </a:solidFill>
          <a:ln w="25400" algn="ctr">
            <a:solidFill>
              <a:srgbClr val="8FAADC"/>
            </a:solidFill>
            <a:round/>
            <a:headEnd/>
            <a:tailEnd/>
          </a:ln>
        </p:spPr>
        <p:txBody>
          <a:bodyPr wrap="square" lIns="90000" tIns="46800" rIns="90000" bIns="46800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de-DE" altLang="de-DE" sz="1600" dirty="0">
                <a:latin typeface="+mn-lt"/>
              </a:rPr>
              <a:t>reach further: better latency</a:t>
            </a:r>
          </a:p>
        </p:txBody>
      </p:sp>
      <p:sp>
        <p:nvSpPr>
          <p:cNvPr id="5" name="Rechteckige Legende 1">
            <a:extLst>
              <a:ext uri="{FF2B5EF4-FFF2-40B4-BE49-F238E27FC236}">
                <a16:creationId xmlns:a16="http://schemas.microsoft.com/office/drawing/2014/main" id="{322099FD-8CB1-AF13-123A-FE511B92F6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04590" y="6091610"/>
            <a:ext cx="1231676" cy="593522"/>
          </a:xfrm>
          <a:prstGeom prst="wedgeRectCallout">
            <a:avLst>
              <a:gd name="adj1" fmla="val -59240"/>
              <a:gd name="adj2" fmla="val -100497"/>
            </a:avLst>
          </a:prstGeom>
          <a:solidFill>
            <a:schemeClr val="accent1">
              <a:lumMod val="20000"/>
              <a:lumOff val="80000"/>
            </a:schemeClr>
          </a:solidFill>
          <a:ln w="25400" algn="ctr">
            <a:solidFill>
              <a:srgbClr val="8FAADC"/>
            </a:solidFill>
            <a:round/>
            <a:headEnd/>
            <a:tailEnd/>
          </a:ln>
        </p:spPr>
        <p:txBody>
          <a:bodyPr wrap="square" lIns="90000" tIns="46800" rIns="90000" bIns="46800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de-DE" altLang="de-DE" sz="1600" dirty="0">
                <a:latin typeface="+mn-lt"/>
              </a:rPr>
              <a:t>balanced congestion</a:t>
            </a:r>
          </a:p>
        </p:txBody>
      </p:sp>
    </p:spTree>
    <p:extLst>
      <p:ext uri="{BB962C8B-B14F-4D97-AF65-F5344CB8AC3E}">
        <p14:creationId xmlns:p14="http://schemas.microsoft.com/office/powerpoint/2010/main" val="15926619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4">
          <a:extLst>
            <a:ext uri="{FF2B5EF4-FFF2-40B4-BE49-F238E27FC236}">
              <a16:creationId xmlns:a16="http://schemas.microsoft.com/office/drawing/2014/main" id="{0CB4220F-42ED-9244-0DFF-64EA83449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656;g60be7dcf1c_0_555">
            <a:extLst>
              <a:ext uri="{FF2B5EF4-FFF2-40B4-BE49-F238E27FC236}">
                <a16:creationId xmlns:a16="http://schemas.microsoft.com/office/drawing/2014/main" id="{A611C6C5-17F3-27DA-2861-70BD344A30BF}"/>
              </a:ext>
            </a:extLst>
          </p:cNvPr>
          <p:cNvSpPr txBox="1"/>
          <p:nvPr/>
        </p:nvSpPr>
        <p:spPr>
          <a:xfrm>
            <a:off x="-1" y="540000"/>
            <a:ext cx="8495731" cy="101893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8" name="Google Shape;1657;g60be7dcf1c_0_555">
            <a:extLst>
              <a:ext uri="{FF2B5EF4-FFF2-40B4-BE49-F238E27FC236}">
                <a16:creationId xmlns:a16="http://schemas.microsoft.com/office/drawing/2014/main" id="{53FDE51E-478B-A8E9-8E0F-63DC321646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3075" y="26970"/>
            <a:ext cx="8171100" cy="1573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l">
              <a:buSzPts val="1100"/>
            </a:pPr>
            <a:br>
              <a:rPr lang="en-GB" sz="2000" dirty="0"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2000" dirty="0">
                <a:latin typeface="Consolas"/>
                <a:ea typeface="Consolas"/>
                <a:cs typeface="Consolas"/>
                <a:sym typeface="Consolas"/>
              </a:rPr>
              <a:t>Can we reduce number of steps further?</a:t>
            </a:r>
            <a:br>
              <a:rPr lang="en-GB" sz="2000" dirty="0"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4000" dirty="0">
                <a:latin typeface="Consolas"/>
                <a:ea typeface="Consolas"/>
                <a:cs typeface="Consolas"/>
                <a:sym typeface="Consolas"/>
              </a:rPr>
              <a:t>Latency-Optimal: </a:t>
            </a:r>
            <a:r>
              <a:rPr lang="en-GB" sz="4000" dirty="0" err="1">
                <a:latin typeface="Consolas"/>
                <a:ea typeface="Consolas"/>
                <a:cs typeface="Consolas"/>
                <a:sym typeface="Consolas"/>
              </a:rPr>
              <a:t>Trivance</a:t>
            </a:r>
            <a:endParaRPr lang="en-GB" sz="4000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" name="Google Shape;1534;g60be7dcf1c_0_434">
            <a:extLst>
              <a:ext uri="{FF2B5EF4-FFF2-40B4-BE49-F238E27FC236}">
                <a16:creationId xmlns:a16="http://schemas.microsoft.com/office/drawing/2014/main" id="{5AB934F6-282C-1E0C-256A-4A1090C586C8}"/>
              </a:ext>
            </a:extLst>
          </p:cNvPr>
          <p:cNvSpPr txBox="1"/>
          <p:nvPr/>
        </p:nvSpPr>
        <p:spPr>
          <a:xfrm>
            <a:off x="1153771" y="1944802"/>
            <a:ext cx="7341959" cy="353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⇀ 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Idea: </a:t>
            </a:r>
            <a:r>
              <a:rPr lang="en-US" sz="1600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avoid idle 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ports/links, </a:t>
            </a:r>
            <a:r>
              <a:rPr lang="en-US" sz="1600" b="1" i="1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use ports simultaneously 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and </a:t>
            </a:r>
          </a:p>
          <a:p>
            <a:pPr lvl="0">
              <a:lnSpc>
                <a:spcPct val="115000"/>
              </a:lnSpc>
            </a:pP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communicate </a:t>
            </a:r>
            <a:r>
              <a:rPr lang="en-US" sz="1600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bidirectionally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in each step</a:t>
            </a:r>
          </a:p>
          <a:p>
            <a:pPr lvl="0">
              <a:lnSpc>
                <a:spcPct val="115000"/>
              </a:lnSpc>
            </a:pP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⇀ 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Each node reduces data </a:t>
            </a:r>
            <a:r>
              <a:rPr lang="en-US" sz="1600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from both incoming communications</a:t>
            </a:r>
            <a:b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⇀ 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Data can be </a:t>
            </a:r>
            <a:r>
              <a:rPr lang="en-US" sz="1600" b="1" i="1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tripled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per step, latency reduces</a:t>
            </a:r>
          </a:p>
          <a:p>
            <a:pPr>
              <a:lnSpc>
                <a:spcPct val="115000"/>
              </a:lnSpc>
            </a:pP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from log2 (n) to </a:t>
            </a:r>
            <a:r>
              <a:rPr lang="en-US" sz="1600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log3 (n)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(58% less)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F9FF85-4B73-6E9D-F396-E26BF21192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0268" y="4360459"/>
            <a:ext cx="5018371" cy="189423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5345777-B44F-4047-F03C-097823519ACD}"/>
              </a:ext>
            </a:extLst>
          </p:cNvPr>
          <p:cNvSpPr/>
          <p:nvPr/>
        </p:nvSpPr>
        <p:spPr>
          <a:xfrm>
            <a:off x="2442949" y="4196687"/>
            <a:ext cx="1016758" cy="3616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A42DBB2-DBE9-B56C-0C1C-0200CAF4DBD8}"/>
              </a:ext>
            </a:extLst>
          </p:cNvPr>
          <p:cNvSpPr/>
          <p:nvPr/>
        </p:nvSpPr>
        <p:spPr>
          <a:xfrm>
            <a:off x="4748886" y="4147782"/>
            <a:ext cx="1016758" cy="3616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Google Shape;1534;g60be7dcf1c_0_434">
            <a:extLst>
              <a:ext uri="{FF2B5EF4-FFF2-40B4-BE49-F238E27FC236}">
                <a16:creationId xmlns:a16="http://schemas.microsoft.com/office/drawing/2014/main" id="{FB7D0951-6DFA-24BF-0574-0DD47058906C}"/>
              </a:ext>
            </a:extLst>
          </p:cNvPr>
          <p:cNvSpPr txBox="1"/>
          <p:nvPr/>
        </p:nvSpPr>
        <p:spPr>
          <a:xfrm>
            <a:off x="2701796" y="4111387"/>
            <a:ext cx="542493" cy="361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RD</a:t>
            </a: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" name="Google Shape;1534;g60be7dcf1c_0_434">
            <a:extLst>
              <a:ext uri="{FF2B5EF4-FFF2-40B4-BE49-F238E27FC236}">
                <a16:creationId xmlns:a16="http://schemas.microsoft.com/office/drawing/2014/main" id="{F17DB488-0FA0-E8D9-3975-1E98DB9C3C68}"/>
              </a:ext>
            </a:extLst>
          </p:cNvPr>
          <p:cNvSpPr txBox="1"/>
          <p:nvPr/>
        </p:nvSpPr>
        <p:spPr>
          <a:xfrm>
            <a:off x="4654460" y="4134134"/>
            <a:ext cx="1139323" cy="361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Trivance</a:t>
            </a: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" name="Google Shape;1534;g60be7dcf1c_0_434">
            <a:extLst>
              <a:ext uri="{FF2B5EF4-FFF2-40B4-BE49-F238E27FC236}">
                <a16:creationId xmlns:a16="http://schemas.microsoft.com/office/drawing/2014/main" id="{1B68F8F7-FDE4-D529-EEAA-B1CEA7E26489}"/>
              </a:ext>
            </a:extLst>
          </p:cNvPr>
          <p:cNvSpPr txBox="1"/>
          <p:nvPr/>
        </p:nvSpPr>
        <p:spPr>
          <a:xfrm>
            <a:off x="6880286" y="4543563"/>
            <a:ext cx="1997583" cy="533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Completes one </a:t>
            </a:r>
            <a:r>
              <a:rPr lang="de-DE" sz="1600" b="1" i="1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round faster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!</a:t>
            </a: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" name="Google Shape;1534;g60be7dcf1c_0_434">
            <a:extLst>
              <a:ext uri="{FF2B5EF4-FFF2-40B4-BE49-F238E27FC236}">
                <a16:creationId xmlns:a16="http://schemas.microsoft.com/office/drawing/2014/main" id="{799A8AB5-707B-238C-1969-44F61E2371E5}"/>
              </a:ext>
            </a:extLst>
          </p:cNvPr>
          <p:cNvSpPr txBox="1"/>
          <p:nvPr/>
        </p:nvSpPr>
        <p:spPr>
          <a:xfrm>
            <a:off x="6880286" y="5347114"/>
            <a:ext cx="2147708" cy="533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And </a:t>
            </a:r>
            <a:r>
              <a:rPr lang="de-DE" sz="1600" b="1" i="1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less congestion</a:t>
            </a:r>
            <a:endParaRPr lang="en-US" sz="1600" b="1" i="1" dirty="0">
              <a:solidFill>
                <a:srgbClr val="C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1B805C96-92F1-5A6C-7FFA-299A856CCC91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35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3" name="Rechteckige Legende 1">
            <a:extLst>
              <a:ext uri="{FF2B5EF4-FFF2-40B4-BE49-F238E27FC236}">
                <a16:creationId xmlns:a16="http://schemas.microsoft.com/office/drawing/2014/main" id="{F5173FEB-8ECD-2EF3-0990-CAC7C2155B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0428" y="3814010"/>
            <a:ext cx="977519" cy="586957"/>
          </a:xfrm>
          <a:prstGeom prst="wedgeRectCallout">
            <a:avLst>
              <a:gd name="adj1" fmla="val -84149"/>
              <a:gd name="adj2" fmla="val 80640"/>
            </a:avLst>
          </a:prstGeom>
          <a:solidFill>
            <a:schemeClr val="accent1">
              <a:lumMod val="20000"/>
              <a:lumOff val="80000"/>
            </a:schemeClr>
          </a:solidFill>
          <a:ln w="25400" algn="ctr">
            <a:solidFill>
              <a:srgbClr val="8FAADC"/>
            </a:solidFill>
            <a:round/>
            <a:headEnd/>
            <a:tailEnd/>
          </a:ln>
        </p:spPr>
        <p:txBody>
          <a:bodyPr wrap="square" lIns="90000" tIns="46800" rIns="90000" bIns="46800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de-DE" altLang="de-DE" sz="1600" dirty="0">
                <a:latin typeface="+mn-lt"/>
              </a:rPr>
              <a:t>use both ports</a:t>
            </a:r>
          </a:p>
        </p:txBody>
      </p:sp>
      <p:sp>
        <p:nvSpPr>
          <p:cNvPr id="11" name="Rechteckige Legende 1">
            <a:extLst>
              <a:ext uri="{FF2B5EF4-FFF2-40B4-BE49-F238E27FC236}">
                <a16:creationId xmlns:a16="http://schemas.microsoft.com/office/drawing/2014/main" id="{DAF754A5-1E3D-0E61-30FA-E2A2EBB917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0332" y="6187538"/>
            <a:ext cx="1723335" cy="586957"/>
          </a:xfrm>
          <a:prstGeom prst="wedgeRectCallout">
            <a:avLst>
              <a:gd name="adj1" fmla="val -11147"/>
              <a:gd name="adj2" fmla="val -177044"/>
            </a:avLst>
          </a:prstGeom>
          <a:solidFill>
            <a:schemeClr val="accent1">
              <a:lumMod val="20000"/>
              <a:lumOff val="80000"/>
            </a:schemeClr>
          </a:solidFill>
          <a:ln w="25400" algn="ctr">
            <a:solidFill>
              <a:srgbClr val="8FAADC"/>
            </a:solidFill>
            <a:round/>
            <a:headEnd/>
            <a:tailEnd/>
          </a:ln>
        </p:spPr>
        <p:txBody>
          <a:bodyPr wrap="square" lIns="90000" tIns="46800" rIns="90000" bIns="46800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de-DE" altLang="de-DE" sz="1600" dirty="0">
                <a:latin typeface="+mn-lt"/>
              </a:rPr>
              <a:t>reach further: better latency</a:t>
            </a:r>
          </a:p>
        </p:txBody>
      </p:sp>
      <p:sp>
        <p:nvSpPr>
          <p:cNvPr id="5" name="Rechteckige Legende 1">
            <a:extLst>
              <a:ext uri="{FF2B5EF4-FFF2-40B4-BE49-F238E27FC236}">
                <a16:creationId xmlns:a16="http://schemas.microsoft.com/office/drawing/2014/main" id="{93865968-F1E1-EA4E-52C0-476F220FE8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04590" y="6091610"/>
            <a:ext cx="1231676" cy="593522"/>
          </a:xfrm>
          <a:prstGeom prst="wedgeRectCallout">
            <a:avLst>
              <a:gd name="adj1" fmla="val -59240"/>
              <a:gd name="adj2" fmla="val -100497"/>
            </a:avLst>
          </a:prstGeom>
          <a:solidFill>
            <a:schemeClr val="accent1">
              <a:lumMod val="20000"/>
              <a:lumOff val="80000"/>
            </a:schemeClr>
          </a:solidFill>
          <a:ln w="25400" algn="ctr">
            <a:solidFill>
              <a:srgbClr val="8FAADC"/>
            </a:solidFill>
            <a:round/>
            <a:headEnd/>
            <a:tailEnd/>
          </a:ln>
        </p:spPr>
        <p:txBody>
          <a:bodyPr wrap="square" lIns="90000" tIns="46800" rIns="90000" bIns="46800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de-DE" altLang="de-DE" sz="1600" dirty="0">
                <a:latin typeface="+mn-lt"/>
              </a:rPr>
              <a:t>balanced congestion</a:t>
            </a:r>
          </a:p>
        </p:txBody>
      </p:sp>
    </p:spTree>
    <p:extLst>
      <p:ext uri="{BB962C8B-B14F-4D97-AF65-F5344CB8AC3E}">
        <p14:creationId xmlns:p14="http://schemas.microsoft.com/office/powerpoint/2010/main" val="72750612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4">
          <a:extLst>
            <a:ext uri="{FF2B5EF4-FFF2-40B4-BE49-F238E27FC236}">
              <a16:creationId xmlns:a16="http://schemas.microsoft.com/office/drawing/2014/main" id="{4655FED9-D8B4-7702-AEDB-5ADA2C6F2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779;g60be7dcf1c_0_659">
            <a:extLst>
              <a:ext uri="{FF2B5EF4-FFF2-40B4-BE49-F238E27FC236}">
                <a16:creationId xmlns:a16="http://schemas.microsoft.com/office/drawing/2014/main" id="{09994183-FFF8-CEC3-42D6-54EFBF76AF40}"/>
              </a:ext>
            </a:extLst>
          </p:cNvPr>
          <p:cNvSpPr txBox="1"/>
          <p:nvPr/>
        </p:nvSpPr>
        <p:spPr>
          <a:xfrm>
            <a:off x="0" y="540000"/>
            <a:ext cx="8211000" cy="1030383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7" name="Google Shape;1688;g60be7dcf1c_0_579">
            <a:extLst>
              <a:ext uri="{FF2B5EF4-FFF2-40B4-BE49-F238E27FC236}">
                <a16:creationId xmlns:a16="http://schemas.microsoft.com/office/drawing/2014/main" id="{E13FA263-E4FC-DCF3-C230-CF521FDDFF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3075" y="324175"/>
            <a:ext cx="8171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Further Reading</a:t>
            </a:r>
            <a:br>
              <a:rPr lang="en-GB" sz="32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ACM SIGCOMM 2026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D859A431-EFB3-7749-1A1F-D30B2339C522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36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25CFBD-720C-DBC2-E11E-588738734C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4324" y="2041496"/>
            <a:ext cx="5957700" cy="3882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09404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7">
          <a:extLst>
            <a:ext uri="{FF2B5EF4-FFF2-40B4-BE49-F238E27FC236}">
              <a16:creationId xmlns:a16="http://schemas.microsoft.com/office/drawing/2014/main" id="{A72E0DBA-F3CA-0F5B-4E4B-74FDFBBD5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7AB2C52F-7C9D-99C2-5764-B7CD001CB636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37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3" name="Google Shape;1580;g60be7dcf1c_0_473">
            <a:extLst>
              <a:ext uri="{FF2B5EF4-FFF2-40B4-BE49-F238E27FC236}">
                <a16:creationId xmlns:a16="http://schemas.microsoft.com/office/drawing/2014/main" id="{639202BC-35FE-1906-0C49-DBEF1DEB38FD}"/>
              </a:ext>
            </a:extLst>
          </p:cNvPr>
          <p:cNvSpPr txBox="1"/>
          <p:nvPr/>
        </p:nvSpPr>
        <p:spPr>
          <a:xfrm>
            <a:off x="-139279" y="2695799"/>
            <a:ext cx="8629271" cy="1507711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4" name="Google Shape;1810;g60be7dcf1c_0_698">
            <a:extLst>
              <a:ext uri="{FF2B5EF4-FFF2-40B4-BE49-F238E27FC236}">
                <a16:creationId xmlns:a16="http://schemas.microsoft.com/office/drawing/2014/main" id="{B70744B2-0C99-ADC4-5818-3E4D061052D6}"/>
              </a:ext>
            </a:extLst>
          </p:cNvPr>
          <p:cNvSpPr txBox="1">
            <a:spLocks/>
          </p:cNvSpPr>
          <p:nvPr/>
        </p:nvSpPr>
        <p:spPr>
          <a:xfrm>
            <a:off x="973074" y="2784509"/>
            <a:ext cx="7704760" cy="1080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buSzPts val="1100"/>
            </a:pPr>
            <a:br>
              <a:rPr lang="en-GB" sz="2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36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Many Exciting Open Problems</a:t>
            </a:r>
          </a:p>
        </p:txBody>
      </p:sp>
    </p:spTree>
    <p:extLst>
      <p:ext uri="{BB962C8B-B14F-4D97-AF65-F5344CB8AC3E}">
        <p14:creationId xmlns:p14="http://schemas.microsoft.com/office/powerpoint/2010/main" val="88994157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4">
          <a:extLst>
            <a:ext uri="{FF2B5EF4-FFF2-40B4-BE49-F238E27FC236}">
              <a16:creationId xmlns:a16="http://schemas.microsoft.com/office/drawing/2014/main" id="{DE820307-37BB-73DA-F2D3-880DBFD48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534;g60be7dcf1c_0_434">
            <a:extLst>
              <a:ext uri="{FF2B5EF4-FFF2-40B4-BE49-F238E27FC236}">
                <a16:creationId xmlns:a16="http://schemas.microsoft.com/office/drawing/2014/main" id="{4380DA47-FF61-83BA-5458-019EEA6EE607}"/>
              </a:ext>
            </a:extLst>
          </p:cNvPr>
          <p:cNvSpPr txBox="1"/>
          <p:nvPr/>
        </p:nvSpPr>
        <p:spPr>
          <a:xfrm>
            <a:off x="601083" y="1902691"/>
            <a:ext cx="7720879" cy="4355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5000"/>
              </a:lnSpc>
            </a:pPr>
            <a:r>
              <a:rPr lang="en-GB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⇢ </a:t>
            </a:r>
            <a:r>
              <a:rPr lang="en-U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How to </a:t>
            </a:r>
            <a:r>
              <a:rPr lang="de-D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schedule a </a:t>
            </a:r>
            <a:r>
              <a:rPr lang="de-DE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maximum amount of traffic/matchings</a:t>
            </a:r>
            <a:r>
              <a:rPr lang="de-D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on optical network?</a:t>
            </a:r>
          </a:p>
          <a:p>
            <a:pPr>
              <a:lnSpc>
                <a:spcPct val="115000"/>
              </a:lnSpc>
            </a:pPr>
            <a:r>
              <a:rPr lang="en-GB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⇢ </a:t>
            </a:r>
            <a:r>
              <a:rPr lang="en-U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Online algorithms, offline algorithms, dynamic algorithms</a:t>
            </a:r>
          </a:p>
          <a:p>
            <a:pPr lvl="0">
              <a:lnSpc>
                <a:spcPct val="115000"/>
              </a:lnSpc>
            </a:pPr>
            <a:r>
              <a:rPr lang="en-GB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⇢ </a:t>
            </a:r>
            <a:r>
              <a:rPr lang="en-U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Several first results known</a:t>
            </a:r>
            <a:endParaRPr lang="en-US" dirty="0">
              <a:solidFill>
                <a:srgbClr val="C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r>
              <a:rPr lang="en-US" i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endParaRPr lang="de-DE"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" name="Google Shape;1656;g60be7dcf1c_0_555">
            <a:extLst>
              <a:ext uri="{FF2B5EF4-FFF2-40B4-BE49-F238E27FC236}">
                <a16:creationId xmlns:a16="http://schemas.microsoft.com/office/drawing/2014/main" id="{69ACE8B8-EEC4-8273-974E-B135CF0B0F93}"/>
              </a:ext>
            </a:extLst>
          </p:cNvPr>
          <p:cNvSpPr txBox="1"/>
          <p:nvPr/>
        </p:nvSpPr>
        <p:spPr>
          <a:xfrm>
            <a:off x="0" y="540000"/>
            <a:ext cx="8211000" cy="101893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10" name="Google Shape;1657;g60be7dcf1c_0_555">
            <a:extLst>
              <a:ext uri="{FF2B5EF4-FFF2-40B4-BE49-F238E27FC236}">
                <a16:creationId xmlns:a16="http://schemas.microsoft.com/office/drawing/2014/main" id="{AE5C7AF6-7DDA-B8D2-3C9F-A373FBE381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3075" y="26970"/>
            <a:ext cx="8171100" cy="1573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en-GB" sz="2000" dirty="0"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2000" dirty="0">
                <a:latin typeface="Consolas"/>
                <a:ea typeface="Consolas"/>
                <a:cs typeface="Consolas"/>
                <a:sym typeface="Consolas"/>
              </a:rPr>
              <a:t>Challenge: Computing</a:t>
            </a:r>
            <a:endParaRPr lang="en-GB" sz="40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4000" dirty="0">
                <a:latin typeface="Consolas"/>
                <a:ea typeface="Consolas"/>
                <a:cs typeface="Consolas"/>
                <a:sym typeface="Consolas"/>
              </a:rPr>
              <a:t>Heavy Matchings?</a:t>
            </a:r>
            <a:endParaRPr lang="en-GB" sz="4000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" name="Rectangle 11">
            <a:extLst>
              <a:ext uri="{FF2B5EF4-FFF2-40B4-BE49-F238E27FC236}">
                <a16:creationId xmlns:a16="http://schemas.microsoft.com/office/drawing/2014/main" id="{FB5E4CA0-7F9F-6159-AA9D-F1CFC71061E8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38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8D306F-1E0B-4D96-1DD1-C72D94201D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155239">
            <a:off x="216334" y="3135740"/>
            <a:ext cx="3966311" cy="18897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28AF773-53F2-4F00-0720-2296D3B4E4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982524">
            <a:off x="5433229" y="3031188"/>
            <a:ext cx="3474268" cy="179424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1C44D2A-82C7-508E-D5E0-48B803FB71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45021" y="3928310"/>
            <a:ext cx="5225342" cy="2539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84869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09;g60be7dcf1c_0_222">
            <a:extLst>
              <a:ext uri="{FF2B5EF4-FFF2-40B4-BE49-F238E27FC236}">
                <a16:creationId xmlns:a16="http://schemas.microsoft.com/office/drawing/2014/main" id="{4DE19C73-9916-40CA-87D9-CC4934AE39A5}"/>
              </a:ext>
            </a:extLst>
          </p:cNvPr>
          <p:cNvSpPr txBox="1"/>
          <p:nvPr/>
        </p:nvSpPr>
        <p:spPr>
          <a:xfrm>
            <a:off x="0" y="540000"/>
            <a:ext cx="8170925" cy="55208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14" name="Google Shape;1288;g60be7dcf1c_0_204">
            <a:extLst>
              <a:ext uri="{FF2B5EF4-FFF2-40B4-BE49-F238E27FC236}">
                <a16:creationId xmlns:a16="http://schemas.microsoft.com/office/drawing/2014/main" id="{3A5A658B-C73C-468A-B47B-9E631F9C601D}"/>
              </a:ext>
            </a:extLst>
          </p:cNvPr>
          <p:cNvSpPr txBox="1">
            <a:spLocks/>
          </p:cNvSpPr>
          <p:nvPr/>
        </p:nvSpPr>
        <p:spPr>
          <a:xfrm>
            <a:off x="973075" y="149350"/>
            <a:ext cx="8171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lnSpc>
                <a:spcPct val="115000"/>
              </a:lnSpc>
              <a:buSzPts val="1100"/>
            </a:pPr>
            <a: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Demand-Aware Throughput?</a:t>
            </a:r>
            <a:endParaRPr lang="en-GB" sz="2000" dirty="0">
              <a:solidFill>
                <a:schemeClr val="tx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8" name="Google Shape;1444;g60be7dcf1c_0_334">
            <a:extLst>
              <a:ext uri="{FF2B5EF4-FFF2-40B4-BE49-F238E27FC236}">
                <a16:creationId xmlns:a16="http://schemas.microsoft.com/office/drawing/2014/main" id="{73095400-0173-6443-A205-4A0BD5F722C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2059" t="9875" r="14942" b="16257"/>
          <a:stretch/>
        </p:blipFill>
        <p:spPr>
          <a:xfrm>
            <a:off x="1193813" y="1683000"/>
            <a:ext cx="1478977" cy="1496677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4649ADA-6CD9-EA49-AC35-1BA25A4391B0}"/>
                  </a:ext>
                </a:extLst>
              </p:cNvPr>
              <p:cNvSpPr txBox="1"/>
              <p:nvPr/>
            </p:nvSpPr>
            <p:spPr>
              <a:xfrm>
                <a:off x="535997" y="2158351"/>
                <a:ext cx="537518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IL"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4649ADA-6CD9-EA49-AC35-1BA25A4391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997" y="2158351"/>
                <a:ext cx="537518" cy="55399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26A64840-580F-DA4A-A557-D0FDFC595299}"/>
              </a:ext>
            </a:extLst>
          </p:cNvPr>
          <p:cNvSpPr/>
          <p:nvPr/>
        </p:nvSpPr>
        <p:spPr>
          <a:xfrm>
            <a:off x="1196104" y="1246017"/>
            <a:ext cx="147668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Demand Matrix</a:t>
            </a:r>
            <a:endParaRPr lang="en-IL"/>
          </a:p>
        </p:txBody>
      </p:sp>
      <p:sp>
        <p:nvSpPr>
          <p:cNvPr id="27" name="Google Shape;1534;g60be7dcf1c_0_434">
            <a:extLst>
              <a:ext uri="{FF2B5EF4-FFF2-40B4-BE49-F238E27FC236}">
                <a16:creationId xmlns:a16="http://schemas.microsoft.com/office/drawing/2014/main" id="{73C34393-9A29-4E2F-B587-158A5AF81B75}"/>
              </a:ext>
            </a:extLst>
          </p:cNvPr>
          <p:cNvSpPr txBox="1"/>
          <p:nvPr/>
        </p:nvSpPr>
        <p:spPr>
          <a:xfrm>
            <a:off x="449670" y="3570327"/>
            <a:ext cx="2463265" cy="241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GB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Metric: </a:t>
            </a:r>
            <a:r>
              <a:rPr lang="de-DE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throughput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of a </a:t>
            </a:r>
            <a:r>
              <a:rPr lang="en-GB" sz="1600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demand matrix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…</a:t>
            </a: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>
              <a:lnSpc>
                <a:spcPct val="115000"/>
              </a:lnSpc>
            </a:pPr>
            <a:endParaRPr lang="de-DE"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87FC887-7D5D-6749-A4BA-C8C9BCBA1A6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85</a:t>
            </a:fld>
            <a:endParaRPr lang="de-DE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2B8C547-6BA8-4316-99B9-2D12FA746D56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39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6775180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09;g60be7dcf1c_0_222">
            <a:extLst>
              <a:ext uri="{FF2B5EF4-FFF2-40B4-BE49-F238E27FC236}">
                <a16:creationId xmlns:a16="http://schemas.microsoft.com/office/drawing/2014/main" id="{4DE19C73-9916-40CA-87D9-CC4934AE39A5}"/>
              </a:ext>
            </a:extLst>
          </p:cNvPr>
          <p:cNvSpPr txBox="1"/>
          <p:nvPr/>
        </p:nvSpPr>
        <p:spPr>
          <a:xfrm>
            <a:off x="0" y="540000"/>
            <a:ext cx="8170925" cy="55208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pic>
        <p:nvPicPr>
          <p:cNvPr id="8" name="Google Shape;1444;g60be7dcf1c_0_334">
            <a:extLst>
              <a:ext uri="{FF2B5EF4-FFF2-40B4-BE49-F238E27FC236}">
                <a16:creationId xmlns:a16="http://schemas.microsoft.com/office/drawing/2014/main" id="{73095400-0173-6443-A205-4A0BD5F722C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2059" t="9875" r="14942" b="16257"/>
          <a:stretch/>
        </p:blipFill>
        <p:spPr>
          <a:xfrm>
            <a:off x="1193813" y="1683000"/>
            <a:ext cx="1478977" cy="1496677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4649ADA-6CD9-EA49-AC35-1BA25A4391B0}"/>
                  </a:ext>
                </a:extLst>
              </p:cNvPr>
              <p:cNvSpPr txBox="1"/>
              <p:nvPr/>
            </p:nvSpPr>
            <p:spPr>
              <a:xfrm>
                <a:off x="535997" y="2158351"/>
                <a:ext cx="537518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IL"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4649ADA-6CD9-EA49-AC35-1BA25A4391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997" y="2158351"/>
                <a:ext cx="537518" cy="55399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6002721F-03D3-7642-B37F-D54E94838ECC}"/>
              </a:ext>
            </a:extLst>
          </p:cNvPr>
          <p:cNvGrpSpPr/>
          <p:nvPr/>
        </p:nvGrpSpPr>
        <p:grpSpPr>
          <a:xfrm>
            <a:off x="2759825" y="2158351"/>
            <a:ext cx="1698322" cy="553998"/>
            <a:chOff x="2759825" y="2158351"/>
            <a:chExt cx="1698322" cy="55399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03D60A52-F603-AF44-B733-A32790BC6D41}"/>
                    </a:ext>
                  </a:extLst>
                </p:cNvPr>
                <p:cNvSpPr txBox="1"/>
                <p:nvPr/>
              </p:nvSpPr>
              <p:spPr>
                <a:xfrm>
                  <a:off x="3262692" y="2158351"/>
                  <a:ext cx="1195455" cy="55399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l-GR" sz="3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sz="36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36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IL" sz="3600" dirty="0">
                    <a:latin typeface="Consolas" panose="020B0609020204030204" pitchFamily="49" charset="0"/>
                  </a:endParaRPr>
                </a:p>
              </p:txBody>
            </p:sp>
          </mc:Choice>
          <mc:Fallback xmlns="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03D60A52-F603-AF44-B733-A32790BC6D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62692" y="2158351"/>
                  <a:ext cx="1195455" cy="553998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AT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C32AAC5F-F50F-5547-9828-9085CC464929}"/>
                    </a:ext>
                  </a:extLst>
                </p:cNvPr>
                <p:cNvSpPr txBox="1"/>
                <p:nvPr/>
              </p:nvSpPr>
              <p:spPr>
                <a:xfrm>
                  <a:off x="2759825" y="2158351"/>
                  <a:ext cx="458459" cy="55399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3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en-IL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C32AAC5F-F50F-5547-9828-9085CC4649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59825" y="2158351"/>
                  <a:ext cx="458459" cy="553998"/>
                </a:xfrm>
                <a:prstGeom prst="rect">
                  <a:avLst/>
                </a:prstGeom>
                <a:blipFill>
                  <a:blip r:embed="rId7"/>
                  <a:stretch>
                    <a:fillRect l="-13514" r="-13514" b="-4444"/>
                  </a:stretch>
                </a:blipFill>
              </p:spPr>
              <p:txBody>
                <a:bodyPr/>
                <a:lstStyle/>
                <a:p>
                  <a:r>
                    <a:rPr lang="en-IL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26A64840-580F-DA4A-A557-D0FDFC595299}"/>
              </a:ext>
            </a:extLst>
          </p:cNvPr>
          <p:cNvSpPr/>
          <p:nvPr/>
        </p:nvSpPr>
        <p:spPr>
          <a:xfrm>
            <a:off x="1196104" y="1246017"/>
            <a:ext cx="147668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Demand Matrix</a:t>
            </a:r>
            <a:endParaRPr lang="en-IL"/>
          </a:p>
        </p:txBody>
      </p:sp>
      <p:sp>
        <p:nvSpPr>
          <p:cNvPr id="27" name="Google Shape;1534;g60be7dcf1c_0_434">
            <a:extLst>
              <a:ext uri="{FF2B5EF4-FFF2-40B4-BE49-F238E27FC236}">
                <a16:creationId xmlns:a16="http://schemas.microsoft.com/office/drawing/2014/main" id="{73C34393-9A29-4E2F-B587-158A5AF81B75}"/>
              </a:ext>
            </a:extLst>
          </p:cNvPr>
          <p:cNvSpPr txBox="1"/>
          <p:nvPr/>
        </p:nvSpPr>
        <p:spPr>
          <a:xfrm>
            <a:off x="449670" y="3570327"/>
            <a:ext cx="2463265" cy="241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GB" sz="16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Metric: </a:t>
            </a:r>
            <a:r>
              <a:rPr lang="de-DE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throughput of a </a:t>
            </a:r>
            <a:r>
              <a:rPr lang="en-GB" sz="160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demand matrix</a:t>
            </a:r>
            <a:r>
              <a:rPr lang="de-DE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…</a:t>
            </a:r>
            <a:endParaRPr lang="en-US"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en-US"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>
              <a:lnSpc>
                <a:spcPct val="115000"/>
              </a:lnSpc>
            </a:pPr>
            <a:endParaRPr lang="de-DE"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A5FBC8-13CE-7142-8BBD-4052B27D9A6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86</a:t>
            </a:fld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Google Shape;1534;g60be7dcf1c_0_434">
                <a:extLst>
                  <a:ext uri="{FF2B5EF4-FFF2-40B4-BE49-F238E27FC236}">
                    <a16:creationId xmlns:a16="http://schemas.microsoft.com/office/drawing/2014/main" id="{7C39DBC3-13AF-4445-992F-2F35DDCB12F3}"/>
                  </a:ext>
                </a:extLst>
              </p:cNvPr>
              <p:cNvSpPr txBox="1"/>
              <p:nvPr/>
            </p:nvSpPr>
            <p:spPr>
              <a:xfrm>
                <a:off x="2912935" y="3404082"/>
                <a:ext cx="2796956" cy="2414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>
                  <a:lnSpc>
                    <a:spcPct val="115000"/>
                  </a:lnSpc>
                </a:pPr>
                <a:r>
                  <a:rPr lang="de-DE" sz="16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… </a:t>
                </a:r>
                <a:r>
                  <a:rPr lang="de-DE" sz="1600" dirty="0" err="1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is</a:t>
                </a:r>
                <a:r>
                  <a:rPr lang="de-DE" sz="16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 </a:t>
                </a:r>
                <a:r>
                  <a:rPr lang="de-DE" sz="1600" dirty="0" err="1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the</a:t>
                </a:r>
                <a:r>
                  <a:rPr lang="de-DE" sz="16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 maximal </a:t>
                </a:r>
                <a:r>
                  <a:rPr lang="de-DE" sz="1600" dirty="0" err="1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scale</a:t>
                </a:r>
                <a:r>
                  <a:rPr lang="de-DE" sz="16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 down </a:t>
                </a:r>
                <a:r>
                  <a:rPr lang="en-GB" sz="1600" dirty="0">
                    <a:solidFill>
                      <a:srgbClr val="CC000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factor</a:t>
                </a:r>
                <a:r>
                  <a:rPr lang="de-DE" sz="16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 </a:t>
                </a:r>
                <a:r>
                  <a:rPr lang="de-DE" sz="1600" dirty="0" err="1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by</a:t>
                </a:r>
                <a:r>
                  <a:rPr lang="de-DE" sz="16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 </a:t>
                </a:r>
                <a:r>
                  <a:rPr lang="de-DE" sz="1600" dirty="0" err="1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which</a:t>
                </a:r>
                <a:r>
                  <a:rPr lang="de-DE" sz="16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 </a:t>
                </a:r>
                <a:r>
                  <a:rPr lang="de-DE" sz="1600" dirty="0" err="1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traffic</a:t>
                </a:r>
                <a:r>
                  <a:rPr lang="de-DE" sz="16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 </a:t>
                </a:r>
                <a:r>
                  <a:rPr lang="de-DE" sz="1600" dirty="0" err="1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is</a:t>
                </a:r>
                <a:r>
                  <a:rPr lang="de-DE" sz="16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 </a:t>
                </a:r>
                <a:r>
                  <a:rPr lang="en-GB" sz="1600" dirty="0">
                    <a:solidFill>
                      <a:srgbClr val="CC000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feasible </a:t>
                </a:r>
                <a:br>
                  <a:rPr lang="en-GB" sz="1600" dirty="0">
                    <a:solidFill>
                      <a:srgbClr val="CC0000"/>
                    </a:solidFill>
                    <a:latin typeface="Consolas"/>
                    <a:ea typeface="Consolas"/>
                    <a:cs typeface="Consolas"/>
                    <a:sym typeface="Consolas"/>
                  </a:rPr>
                </a:b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0≤</m:t>
                    </m:r>
                    <m:r>
                      <a:rPr lang="el-G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n-US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de-DE" sz="12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.</a:t>
                </a:r>
              </a:p>
            </p:txBody>
          </p:sp>
        </mc:Choice>
        <mc:Fallback xmlns="">
          <p:sp>
            <p:nvSpPr>
              <p:cNvPr id="15" name="Google Shape;1534;g60be7dcf1c_0_434">
                <a:extLst>
                  <a:ext uri="{FF2B5EF4-FFF2-40B4-BE49-F238E27FC236}">
                    <a16:creationId xmlns:a16="http://schemas.microsoft.com/office/drawing/2014/main" id="{7C39DBC3-13AF-4445-992F-2F35DDCB12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2935" y="3404082"/>
                <a:ext cx="2796956" cy="241472"/>
              </a:xfrm>
              <a:prstGeom prst="rect">
                <a:avLst/>
              </a:prstGeom>
              <a:blipFill>
                <a:blip r:embed="rId8"/>
                <a:stretch>
                  <a:fillRect l="-905" b="-38095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1288;g60be7dcf1c_0_204">
            <a:extLst>
              <a:ext uri="{FF2B5EF4-FFF2-40B4-BE49-F238E27FC236}">
                <a16:creationId xmlns:a16="http://schemas.microsoft.com/office/drawing/2014/main" id="{102922AD-D2DB-F63B-9393-4474A0795D2B}"/>
              </a:ext>
            </a:extLst>
          </p:cNvPr>
          <p:cNvSpPr txBox="1">
            <a:spLocks/>
          </p:cNvSpPr>
          <p:nvPr/>
        </p:nvSpPr>
        <p:spPr>
          <a:xfrm>
            <a:off x="973075" y="149350"/>
            <a:ext cx="8171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lnSpc>
                <a:spcPct val="115000"/>
              </a:lnSpc>
              <a:buSzPts val="1100"/>
            </a:pPr>
            <a: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Demand-Aware Throughput?</a:t>
            </a:r>
            <a:endParaRPr lang="en-GB" sz="2000" dirty="0">
              <a:solidFill>
                <a:schemeClr val="tx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759AA5D-4FAA-595F-720F-B3112AC4B668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39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3638782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09;g60be7dcf1c_0_222">
            <a:extLst>
              <a:ext uri="{FF2B5EF4-FFF2-40B4-BE49-F238E27FC236}">
                <a16:creationId xmlns:a16="http://schemas.microsoft.com/office/drawing/2014/main" id="{4DE19C73-9916-40CA-87D9-CC4934AE39A5}"/>
              </a:ext>
            </a:extLst>
          </p:cNvPr>
          <p:cNvSpPr txBox="1"/>
          <p:nvPr/>
        </p:nvSpPr>
        <p:spPr>
          <a:xfrm>
            <a:off x="0" y="540000"/>
            <a:ext cx="8170925" cy="55208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pic>
        <p:nvPicPr>
          <p:cNvPr id="8" name="Google Shape;1444;g60be7dcf1c_0_334">
            <a:extLst>
              <a:ext uri="{FF2B5EF4-FFF2-40B4-BE49-F238E27FC236}">
                <a16:creationId xmlns:a16="http://schemas.microsoft.com/office/drawing/2014/main" id="{73095400-0173-6443-A205-4A0BD5F722C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2059" t="9875" r="14942" b="16257"/>
          <a:stretch/>
        </p:blipFill>
        <p:spPr>
          <a:xfrm>
            <a:off x="1193813" y="1683000"/>
            <a:ext cx="1478977" cy="1496677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4649ADA-6CD9-EA49-AC35-1BA25A4391B0}"/>
                  </a:ext>
                </a:extLst>
              </p:cNvPr>
              <p:cNvSpPr txBox="1"/>
              <p:nvPr/>
            </p:nvSpPr>
            <p:spPr>
              <a:xfrm>
                <a:off x="535997" y="2158351"/>
                <a:ext cx="537518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IL"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4649ADA-6CD9-EA49-AC35-1BA25A4391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997" y="2158351"/>
                <a:ext cx="537518" cy="55399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6002721F-03D3-7642-B37F-D54E94838ECC}"/>
              </a:ext>
            </a:extLst>
          </p:cNvPr>
          <p:cNvGrpSpPr/>
          <p:nvPr/>
        </p:nvGrpSpPr>
        <p:grpSpPr>
          <a:xfrm>
            <a:off x="2759825" y="2158351"/>
            <a:ext cx="1698322" cy="553998"/>
            <a:chOff x="2759825" y="2158351"/>
            <a:chExt cx="1698322" cy="55399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03D60A52-F603-AF44-B733-A32790BC6D41}"/>
                    </a:ext>
                  </a:extLst>
                </p:cNvPr>
                <p:cNvSpPr txBox="1"/>
                <p:nvPr/>
              </p:nvSpPr>
              <p:spPr>
                <a:xfrm>
                  <a:off x="3262692" y="2158351"/>
                  <a:ext cx="1195455" cy="55399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l-GR" sz="3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sz="36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36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IL" sz="3600" dirty="0">
                    <a:latin typeface="Consolas" panose="020B0609020204030204" pitchFamily="49" charset="0"/>
                  </a:endParaRPr>
                </a:p>
              </p:txBody>
            </p:sp>
          </mc:Choice>
          <mc:Fallback xmlns="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03D60A52-F603-AF44-B733-A32790BC6D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62692" y="2158351"/>
                  <a:ext cx="1195455" cy="553998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AT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C32AAC5F-F50F-5547-9828-9085CC464929}"/>
                    </a:ext>
                  </a:extLst>
                </p:cNvPr>
                <p:cNvSpPr txBox="1"/>
                <p:nvPr/>
              </p:nvSpPr>
              <p:spPr>
                <a:xfrm>
                  <a:off x="2759825" y="2158351"/>
                  <a:ext cx="458459" cy="55399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3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en-IL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C32AAC5F-F50F-5547-9828-9085CC4649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59825" y="2158351"/>
                  <a:ext cx="458459" cy="553998"/>
                </a:xfrm>
                <a:prstGeom prst="rect">
                  <a:avLst/>
                </a:prstGeom>
                <a:blipFill>
                  <a:blip r:embed="rId7"/>
                  <a:stretch>
                    <a:fillRect l="-13514" r="-13514" b="-4444"/>
                  </a:stretch>
                </a:blipFill>
              </p:spPr>
              <p:txBody>
                <a:bodyPr/>
                <a:lstStyle/>
                <a:p>
                  <a:r>
                    <a:rPr lang="en-IL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26A64840-580F-DA4A-A557-D0FDFC595299}"/>
              </a:ext>
            </a:extLst>
          </p:cNvPr>
          <p:cNvSpPr/>
          <p:nvPr/>
        </p:nvSpPr>
        <p:spPr>
          <a:xfrm>
            <a:off x="1196104" y="1246017"/>
            <a:ext cx="147668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Demand Matrix</a:t>
            </a:r>
            <a:endParaRPr lang="en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Google Shape;1534;g60be7dcf1c_0_434">
                <a:extLst>
                  <a:ext uri="{FF2B5EF4-FFF2-40B4-BE49-F238E27FC236}">
                    <a16:creationId xmlns:a16="http://schemas.microsoft.com/office/drawing/2014/main" id="{A0A2BE6D-746B-4E81-A9E4-C6F4ABD00F6D}"/>
                  </a:ext>
                </a:extLst>
              </p:cNvPr>
              <p:cNvSpPr txBox="1"/>
              <p:nvPr/>
            </p:nvSpPr>
            <p:spPr>
              <a:xfrm>
                <a:off x="2912935" y="3404082"/>
                <a:ext cx="2796956" cy="2414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>
                  <a:lnSpc>
                    <a:spcPct val="115000"/>
                  </a:lnSpc>
                </a:pPr>
                <a:r>
                  <a:rPr lang="de-DE" sz="16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… </a:t>
                </a:r>
                <a:r>
                  <a:rPr lang="de-DE" sz="1600" dirty="0" err="1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is</a:t>
                </a:r>
                <a:r>
                  <a:rPr lang="de-DE" sz="16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 </a:t>
                </a:r>
                <a:r>
                  <a:rPr lang="de-DE" sz="1600" dirty="0" err="1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the</a:t>
                </a:r>
                <a:r>
                  <a:rPr lang="de-DE" sz="16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 maximal </a:t>
                </a:r>
                <a:r>
                  <a:rPr lang="de-DE" sz="1600" dirty="0" err="1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scale</a:t>
                </a:r>
                <a:r>
                  <a:rPr lang="de-DE" sz="16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 down </a:t>
                </a:r>
                <a:r>
                  <a:rPr lang="en-GB" sz="1600" dirty="0">
                    <a:solidFill>
                      <a:srgbClr val="CC000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factor</a:t>
                </a:r>
                <a:r>
                  <a:rPr lang="de-DE" sz="16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 </a:t>
                </a:r>
                <a:r>
                  <a:rPr lang="de-DE" sz="1600" dirty="0" err="1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by</a:t>
                </a:r>
                <a:r>
                  <a:rPr lang="de-DE" sz="16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 </a:t>
                </a:r>
                <a:r>
                  <a:rPr lang="de-DE" sz="1600" dirty="0" err="1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which</a:t>
                </a:r>
                <a:r>
                  <a:rPr lang="de-DE" sz="16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 </a:t>
                </a:r>
                <a:r>
                  <a:rPr lang="de-DE" sz="1600" dirty="0" err="1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traffic</a:t>
                </a:r>
                <a:r>
                  <a:rPr lang="de-DE" sz="16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 </a:t>
                </a:r>
                <a:r>
                  <a:rPr lang="de-DE" sz="1600" dirty="0" err="1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is</a:t>
                </a:r>
                <a:r>
                  <a:rPr lang="de-DE" sz="16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 </a:t>
                </a:r>
                <a:r>
                  <a:rPr lang="en-GB" sz="1600" dirty="0">
                    <a:solidFill>
                      <a:srgbClr val="CC000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feasible </a:t>
                </a:r>
                <a:br>
                  <a:rPr lang="en-GB" sz="1600" dirty="0">
                    <a:solidFill>
                      <a:srgbClr val="CC0000"/>
                    </a:solidFill>
                    <a:latin typeface="Consolas"/>
                    <a:ea typeface="Consolas"/>
                    <a:cs typeface="Consolas"/>
                    <a:sym typeface="Consolas"/>
                  </a:rPr>
                </a:b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0≤</m:t>
                    </m:r>
                    <m:r>
                      <a:rPr lang="el-G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n-US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de-DE" sz="12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.</a:t>
                </a:r>
              </a:p>
            </p:txBody>
          </p:sp>
        </mc:Choice>
        <mc:Fallback xmlns="">
          <p:sp>
            <p:nvSpPr>
              <p:cNvPr id="25" name="Google Shape;1534;g60be7dcf1c_0_434">
                <a:extLst>
                  <a:ext uri="{FF2B5EF4-FFF2-40B4-BE49-F238E27FC236}">
                    <a16:creationId xmlns:a16="http://schemas.microsoft.com/office/drawing/2014/main" id="{A0A2BE6D-746B-4E81-A9E4-C6F4ABD00F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2935" y="3404082"/>
                <a:ext cx="2796956" cy="241472"/>
              </a:xfrm>
              <a:prstGeom prst="rect">
                <a:avLst/>
              </a:prstGeom>
              <a:blipFill>
                <a:blip r:embed="rId8"/>
                <a:stretch>
                  <a:fillRect l="-905" b="-38095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Google Shape;1534;g60be7dcf1c_0_434">
            <a:extLst>
              <a:ext uri="{FF2B5EF4-FFF2-40B4-BE49-F238E27FC236}">
                <a16:creationId xmlns:a16="http://schemas.microsoft.com/office/drawing/2014/main" id="{73C34393-9A29-4E2F-B587-158A5AF81B75}"/>
              </a:ext>
            </a:extLst>
          </p:cNvPr>
          <p:cNvSpPr txBox="1"/>
          <p:nvPr/>
        </p:nvSpPr>
        <p:spPr>
          <a:xfrm>
            <a:off x="449670" y="3570327"/>
            <a:ext cx="2463265" cy="241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GB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Metric: </a:t>
            </a:r>
            <a:r>
              <a:rPr lang="de-DE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throughput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de-DE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of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a </a:t>
            </a:r>
            <a:r>
              <a:rPr lang="en-GB" sz="1600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demand matrix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…</a:t>
            </a: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>
              <a:lnSpc>
                <a:spcPct val="115000"/>
              </a:lnSpc>
            </a:pPr>
            <a:endParaRPr lang="de-DE"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A1BFDA5-C452-4013-B852-C012C14F71A3}"/>
              </a:ext>
            </a:extLst>
          </p:cNvPr>
          <p:cNvGrpSpPr/>
          <p:nvPr/>
        </p:nvGrpSpPr>
        <p:grpSpPr>
          <a:xfrm>
            <a:off x="4807931" y="1720613"/>
            <a:ext cx="3606456" cy="1496678"/>
            <a:chOff x="4794931" y="1713639"/>
            <a:chExt cx="3606456" cy="1496678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84BC068-080F-4A2D-A368-021BFCFF220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625370" y="1713639"/>
              <a:ext cx="2776017" cy="1496678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449C8087-467C-483A-94B6-5CBD537C7445}"/>
                    </a:ext>
                  </a:extLst>
                </p:cNvPr>
                <p:cNvSpPr txBox="1"/>
                <p:nvPr/>
              </p:nvSpPr>
              <p:spPr>
                <a:xfrm>
                  <a:off x="4794931" y="2158351"/>
                  <a:ext cx="527387" cy="55399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3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⇒</m:t>
                        </m:r>
                      </m:oMath>
                    </m:oMathPara>
                  </a14:m>
                  <a:endParaRPr lang="en-IL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121B9FCC-C9FE-D842-A13B-DDEF1E280D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94931" y="2158351"/>
                  <a:ext cx="527387" cy="553998"/>
                </a:xfrm>
                <a:prstGeom prst="rect">
                  <a:avLst/>
                </a:prstGeom>
                <a:blipFill>
                  <a:blip r:embed="rId10"/>
                  <a:stretch>
                    <a:fillRect l="-11628" r="-9302" b="-2222"/>
                  </a:stretch>
                </a:blipFill>
              </p:spPr>
              <p:txBody>
                <a:bodyPr/>
                <a:lstStyle/>
                <a:p>
                  <a:r>
                    <a:rPr lang="en-IL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9A6CAF50-90C1-48E7-B98D-C13DAC8DE02A}"/>
                  </a:ext>
                </a:extLst>
              </p:cNvPr>
              <p:cNvSpPr/>
              <p:nvPr/>
            </p:nvSpPr>
            <p:spPr>
              <a:xfrm>
                <a:off x="5709890" y="3640710"/>
                <a:ext cx="3221165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de-DE" sz="1800" b="0" i="0" smtClean="0">
                              <a:solidFill>
                                <a:schemeClr val="dk1"/>
                              </a:solidFill>
                              <a:latin typeface="Consolas" panose="020B0609020204030204" pitchFamily="49" charset="0"/>
                              <a:ea typeface="Consolas"/>
                              <a:cs typeface="Consolas"/>
                              <a:sym typeface="Consolas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de-DE" sz="1800" b="0" i="0" smtClean="0">
                              <a:solidFill>
                                <a:schemeClr val="dk1"/>
                              </a:solidFill>
                              <a:latin typeface="Consolas" panose="020B0609020204030204" pitchFamily="49" charset="0"/>
                              <a:ea typeface="Consolas"/>
                              <a:cs typeface="Consolas"/>
                              <a:sym typeface="Consolas"/>
                            </a:rPr>
                            <m:t>Throughput of network</m:t>
                          </m:r>
                          <m:r>
                            <a:rPr lang="de-DE" sz="18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onsolas"/>
                              <a:cs typeface="Consolas"/>
                              <a:sym typeface="Consolas"/>
                            </a:rPr>
                            <m:t> </m:t>
                          </m:r>
                          <m:r>
                            <a:rPr lang="el-GR" sz="1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de-DE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de-DE" sz="1800" i="1" dirty="0">
                  <a:latin typeface="Consolas" panose="020B0609020204030204" pitchFamily="49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de-DE" sz="1800" i="0">
                          <a:solidFill>
                            <a:srgbClr val="CC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m:t>worst </m:t>
                      </m:r>
                      <m:r>
                        <m:rPr>
                          <m:nor/>
                        </m:rPr>
                        <a:rPr lang="en-US" sz="1800" i="0">
                          <a:solidFill>
                            <a:srgbClr val="CC0000"/>
                          </a:solidFill>
                          <a:latin typeface="Consolas"/>
                          <a:ea typeface="Consolas"/>
                          <a:cs typeface="Consolas"/>
                        </a:rPr>
                        <m:t>cas</m:t>
                      </m:r>
                      <m:r>
                        <m:rPr>
                          <m:nor/>
                        </m:rPr>
                        <a:rPr lang="de-DE" sz="1800" i="0">
                          <a:solidFill>
                            <a:srgbClr val="CC0000"/>
                          </a:solidFill>
                          <a:latin typeface="Consolas"/>
                          <a:ea typeface="Consolas"/>
                          <a:cs typeface="Consolas"/>
                        </a:rPr>
                        <m:t>e</m:t>
                      </m:r>
                      <m:r>
                        <m:rPr>
                          <m:nor/>
                        </m:rPr>
                        <a:rPr lang="en-US" sz="1800" i="0">
                          <a:solidFill>
                            <a:srgbClr val="CC0000"/>
                          </a:solidFill>
                          <a:latin typeface="Consolas"/>
                          <a:ea typeface="Consolas"/>
                          <a:cs typeface="Consolas"/>
                        </a:rPr>
                        <m:t> </m:t>
                      </m:r>
                      <m:r>
                        <a:rPr lang="en-US" sz="1800">
                          <a:solidFill>
                            <a:srgbClr val="CC0000"/>
                          </a:solidFill>
                          <a:latin typeface="Cambria Math" panose="02040503050406030204" pitchFamily="18" charset="0"/>
                          <a:ea typeface="Consolas"/>
                          <a:cs typeface="Consolas"/>
                        </a:rPr>
                        <m:t>𝑇</m:t>
                      </m:r>
                    </m:oMath>
                  </m:oMathPara>
                </a14:m>
                <a:endParaRPr lang="en-AT" sz="1800">
                  <a:solidFill>
                    <a:srgbClr val="CC0000"/>
                  </a:solidFill>
                  <a:latin typeface="Consolas"/>
                  <a:ea typeface="Consolas"/>
                  <a:cs typeface="Consolas"/>
                </a:endParaRP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9A6CAF50-90C1-48E7-B98D-C13DAC8DE0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9890" y="3640710"/>
                <a:ext cx="3221165" cy="646331"/>
              </a:xfrm>
              <a:prstGeom prst="rect">
                <a:avLst/>
              </a:prstGeom>
              <a:blipFill>
                <a:blip r:embed="rId11"/>
                <a:stretch>
                  <a:fillRect b="-11538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AE6E05-3F1C-564B-B1DA-22593755BE5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87</a:t>
            </a:fld>
            <a:endParaRPr lang="de-DE"/>
          </a:p>
        </p:txBody>
      </p:sp>
      <p:sp>
        <p:nvSpPr>
          <p:cNvPr id="9" name="Google Shape;1288;g60be7dcf1c_0_204">
            <a:extLst>
              <a:ext uri="{FF2B5EF4-FFF2-40B4-BE49-F238E27FC236}">
                <a16:creationId xmlns:a16="http://schemas.microsoft.com/office/drawing/2014/main" id="{4A5376E8-5304-C5A0-658A-D99951594EE4}"/>
              </a:ext>
            </a:extLst>
          </p:cNvPr>
          <p:cNvSpPr txBox="1">
            <a:spLocks/>
          </p:cNvSpPr>
          <p:nvPr/>
        </p:nvSpPr>
        <p:spPr>
          <a:xfrm>
            <a:off x="973075" y="149350"/>
            <a:ext cx="8171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lnSpc>
                <a:spcPct val="115000"/>
              </a:lnSpc>
              <a:buSzPts val="1100"/>
            </a:pPr>
            <a: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Demand-Aware Throughput?</a:t>
            </a:r>
            <a:endParaRPr lang="en-GB" sz="2000" dirty="0">
              <a:solidFill>
                <a:schemeClr val="tx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D75CEF2-1462-81DC-E8E8-11178DFB44CC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39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9497116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6">
          <a:extLst>
            <a:ext uri="{FF2B5EF4-FFF2-40B4-BE49-F238E27FC236}">
              <a16:creationId xmlns:a16="http://schemas.microsoft.com/office/drawing/2014/main" id="{9171670C-A19E-0C9F-6768-07EDC9764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09;g60be7dcf1c_0_222">
            <a:extLst>
              <a:ext uri="{FF2B5EF4-FFF2-40B4-BE49-F238E27FC236}">
                <a16:creationId xmlns:a16="http://schemas.microsoft.com/office/drawing/2014/main" id="{DBB081CD-751D-C86D-02AC-3D413DC10FFC}"/>
              </a:ext>
            </a:extLst>
          </p:cNvPr>
          <p:cNvSpPr txBox="1"/>
          <p:nvPr/>
        </p:nvSpPr>
        <p:spPr>
          <a:xfrm>
            <a:off x="0" y="540000"/>
            <a:ext cx="8170925" cy="55208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pic>
        <p:nvPicPr>
          <p:cNvPr id="8" name="Google Shape;1444;g60be7dcf1c_0_334">
            <a:extLst>
              <a:ext uri="{FF2B5EF4-FFF2-40B4-BE49-F238E27FC236}">
                <a16:creationId xmlns:a16="http://schemas.microsoft.com/office/drawing/2014/main" id="{37E863F9-C1C0-F4EE-0E2C-3CB5C9D0BF0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2059" t="9875" r="14942" b="16257"/>
          <a:stretch/>
        </p:blipFill>
        <p:spPr>
          <a:xfrm>
            <a:off x="1193813" y="1683000"/>
            <a:ext cx="1478977" cy="1496677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183B055-7F30-07C9-9113-A1EA82FD5FAD}"/>
                  </a:ext>
                </a:extLst>
              </p:cNvPr>
              <p:cNvSpPr txBox="1"/>
              <p:nvPr/>
            </p:nvSpPr>
            <p:spPr>
              <a:xfrm>
                <a:off x="535997" y="2158351"/>
                <a:ext cx="537518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IL"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4649ADA-6CD9-EA49-AC35-1BA25A4391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997" y="2158351"/>
                <a:ext cx="537518" cy="55399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3F2F9DCC-FB51-09B0-7535-D3545CF8CCB0}"/>
              </a:ext>
            </a:extLst>
          </p:cNvPr>
          <p:cNvGrpSpPr/>
          <p:nvPr/>
        </p:nvGrpSpPr>
        <p:grpSpPr>
          <a:xfrm>
            <a:off x="2759825" y="2158351"/>
            <a:ext cx="1698322" cy="553998"/>
            <a:chOff x="2759825" y="2158351"/>
            <a:chExt cx="1698322" cy="55399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52FB9749-426E-17DC-D5CD-32AB93FE3702}"/>
                    </a:ext>
                  </a:extLst>
                </p:cNvPr>
                <p:cNvSpPr txBox="1"/>
                <p:nvPr/>
              </p:nvSpPr>
              <p:spPr>
                <a:xfrm>
                  <a:off x="3262692" y="2158351"/>
                  <a:ext cx="1195455" cy="55399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l-GR" sz="3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sz="36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36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IL" sz="3600" dirty="0">
                    <a:latin typeface="Consolas" panose="020B0609020204030204" pitchFamily="49" charset="0"/>
                  </a:endParaRPr>
                </a:p>
              </p:txBody>
            </p:sp>
          </mc:Choice>
          <mc:Fallback xmlns="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03D60A52-F603-AF44-B733-A32790BC6D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62692" y="2158351"/>
                  <a:ext cx="1195455" cy="553998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AT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D1D07FBA-B404-162B-945C-EBD322AADEE9}"/>
                    </a:ext>
                  </a:extLst>
                </p:cNvPr>
                <p:cNvSpPr txBox="1"/>
                <p:nvPr/>
              </p:nvSpPr>
              <p:spPr>
                <a:xfrm>
                  <a:off x="2759825" y="2158351"/>
                  <a:ext cx="458459" cy="55399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3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en-IL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C32AAC5F-F50F-5547-9828-9085CC4649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59825" y="2158351"/>
                  <a:ext cx="458459" cy="553998"/>
                </a:xfrm>
                <a:prstGeom prst="rect">
                  <a:avLst/>
                </a:prstGeom>
                <a:blipFill>
                  <a:blip r:embed="rId7"/>
                  <a:stretch>
                    <a:fillRect l="-13514" r="-13514" b="-4444"/>
                  </a:stretch>
                </a:blipFill>
              </p:spPr>
              <p:txBody>
                <a:bodyPr/>
                <a:lstStyle/>
                <a:p>
                  <a:r>
                    <a:rPr lang="en-IL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7F0A0BEB-E0E6-B4F1-CA7E-E9FA43CC03BF}"/>
              </a:ext>
            </a:extLst>
          </p:cNvPr>
          <p:cNvSpPr/>
          <p:nvPr/>
        </p:nvSpPr>
        <p:spPr>
          <a:xfrm>
            <a:off x="1196104" y="1246017"/>
            <a:ext cx="147668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Demand Matrix</a:t>
            </a:r>
            <a:endParaRPr lang="en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Google Shape;1534;g60be7dcf1c_0_434">
                <a:extLst>
                  <a:ext uri="{FF2B5EF4-FFF2-40B4-BE49-F238E27FC236}">
                    <a16:creationId xmlns:a16="http://schemas.microsoft.com/office/drawing/2014/main" id="{701CF19A-8452-AE12-59E6-E00A9921B016}"/>
                  </a:ext>
                </a:extLst>
              </p:cNvPr>
              <p:cNvSpPr txBox="1"/>
              <p:nvPr/>
            </p:nvSpPr>
            <p:spPr>
              <a:xfrm>
                <a:off x="2912935" y="3404082"/>
                <a:ext cx="2796956" cy="2414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>
                  <a:lnSpc>
                    <a:spcPct val="115000"/>
                  </a:lnSpc>
                </a:pPr>
                <a:r>
                  <a:rPr lang="de-DE" sz="16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… </a:t>
                </a:r>
                <a:r>
                  <a:rPr lang="de-DE" sz="1600" dirty="0" err="1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is</a:t>
                </a:r>
                <a:r>
                  <a:rPr lang="de-DE" sz="16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 </a:t>
                </a:r>
                <a:r>
                  <a:rPr lang="de-DE" sz="1600" dirty="0" err="1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the</a:t>
                </a:r>
                <a:r>
                  <a:rPr lang="de-DE" sz="16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 maximal </a:t>
                </a:r>
                <a:r>
                  <a:rPr lang="de-DE" sz="1600" dirty="0" err="1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scale</a:t>
                </a:r>
                <a:r>
                  <a:rPr lang="de-DE" sz="16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 down </a:t>
                </a:r>
                <a:r>
                  <a:rPr lang="en-GB" sz="1600" dirty="0">
                    <a:solidFill>
                      <a:srgbClr val="CC000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factor</a:t>
                </a:r>
                <a:r>
                  <a:rPr lang="de-DE" sz="16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 </a:t>
                </a:r>
                <a:r>
                  <a:rPr lang="de-DE" sz="1600" dirty="0" err="1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by</a:t>
                </a:r>
                <a:r>
                  <a:rPr lang="de-DE" sz="16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 </a:t>
                </a:r>
                <a:r>
                  <a:rPr lang="de-DE" sz="1600" dirty="0" err="1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which</a:t>
                </a:r>
                <a:r>
                  <a:rPr lang="de-DE" sz="16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 </a:t>
                </a:r>
                <a:r>
                  <a:rPr lang="de-DE" sz="1600" dirty="0" err="1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traffic</a:t>
                </a:r>
                <a:r>
                  <a:rPr lang="de-DE" sz="16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 </a:t>
                </a:r>
                <a:r>
                  <a:rPr lang="de-DE" sz="1600" dirty="0" err="1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is</a:t>
                </a:r>
                <a:r>
                  <a:rPr lang="de-DE" sz="16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 </a:t>
                </a:r>
                <a:r>
                  <a:rPr lang="en-GB" sz="1600" dirty="0">
                    <a:solidFill>
                      <a:srgbClr val="CC000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feasible </a:t>
                </a:r>
                <a:br>
                  <a:rPr lang="en-GB" sz="1600" dirty="0">
                    <a:solidFill>
                      <a:srgbClr val="CC0000"/>
                    </a:solidFill>
                    <a:latin typeface="Consolas"/>
                    <a:ea typeface="Consolas"/>
                    <a:cs typeface="Consolas"/>
                    <a:sym typeface="Consolas"/>
                  </a:rPr>
                </a:b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0≤</m:t>
                    </m:r>
                    <m:r>
                      <a:rPr lang="el-G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n-US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de-DE" sz="12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.</a:t>
                </a:r>
              </a:p>
            </p:txBody>
          </p:sp>
        </mc:Choice>
        <mc:Fallback xmlns="">
          <p:sp>
            <p:nvSpPr>
              <p:cNvPr id="25" name="Google Shape;1534;g60be7dcf1c_0_434">
                <a:extLst>
                  <a:ext uri="{FF2B5EF4-FFF2-40B4-BE49-F238E27FC236}">
                    <a16:creationId xmlns:a16="http://schemas.microsoft.com/office/drawing/2014/main" id="{A0A2BE6D-746B-4E81-A9E4-C6F4ABD00F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2935" y="3404082"/>
                <a:ext cx="2796956" cy="241472"/>
              </a:xfrm>
              <a:prstGeom prst="rect">
                <a:avLst/>
              </a:prstGeom>
              <a:blipFill>
                <a:blip r:embed="rId8"/>
                <a:stretch>
                  <a:fillRect l="-905" b="-38095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Google Shape;1534;g60be7dcf1c_0_434">
            <a:extLst>
              <a:ext uri="{FF2B5EF4-FFF2-40B4-BE49-F238E27FC236}">
                <a16:creationId xmlns:a16="http://schemas.microsoft.com/office/drawing/2014/main" id="{F64C1155-FB81-534B-BA66-7E980B43F1D7}"/>
              </a:ext>
            </a:extLst>
          </p:cNvPr>
          <p:cNvSpPr txBox="1"/>
          <p:nvPr/>
        </p:nvSpPr>
        <p:spPr>
          <a:xfrm>
            <a:off x="449670" y="3570327"/>
            <a:ext cx="2463265" cy="241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GB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Metric: </a:t>
            </a:r>
            <a:r>
              <a:rPr lang="de-DE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throughput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de-DE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of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a </a:t>
            </a:r>
            <a:r>
              <a:rPr lang="en-GB" sz="1600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demand matrix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…</a:t>
            </a: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>
              <a:lnSpc>
                <a:spcPct val="115000"/>
              </a:lnSpc>
            </a:pPr>
            <a:endParaRPr lang="de-DE"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AEE110A-FA20-A4EC-937A-5FD541440C71}"/>
              </a:ext>
            </a:extLst>
          </p:cNvPr>
          <p:cNvGrpSpPr/>
          <p:nvPr/>
        </p:nvGrpSpPr>
        <p:grpSpPr>
          <a:xfrm>
            <a:off x="4807931" y="1720613"/>
            <a:ext cx="3606456" cy="1496678"/>
            <a:chOff x="4794931" y="1713639"/>
            <a:chExt cx="3606456" cy="1496678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8C54AB73-B9A2-0927-A4D2-90B82E7CF9D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625370" y="1713639"/>
              <a:ext cx="2776017" cy="1496678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B7BFE21B-79D4-242E-A0FD-7CAB71F6C98A}"/>
                    </a:ext>
                  </a:extLst>
                </p:cNvPr>
                <p:cNvSpPr txBox="1"/>
                <p:nvPr/>
              </p:nvSpPr>
              <p:spPr>
                <a:xfrm>
                  <a:off x="4794931" y="2158351"/>
                  <a:ext cx="527387" cy="55399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3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⇒</m:t>
                        </m:r>
                      </m:oMath>
                    </m:oMathPara>
                  </a14:m>
                  <a:endParaRPr lang="en-IL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121B9FCC-C9FE-D842-A13B-DDEF1E280D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94931" y="2158351"/>
                  <a:ext cx="527387" cy="553998"/>
                </a:xfrm>
                <a:prstGeom prst="rect">
                  <a:avLst/>
                </a:prstGeom>
                <a:blipFill>
                  <a:blip r:embed="rId10"/>
                  <a:stretch>
                    <a:fillRect l="-11628" r="-9302" b="-2222"/>
                  </a:stretch>
                </a:blipFill>
              </p:spPr>
              <p:txBody>
                <a:bodyPr/>
                <a:lstStyle/>
                <a:p>
                  <a:r>
                    <a:rPr lang="en-IL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863622BD-6E0E-4A2D-742F-874350A8821E}"/>
                  </a:ext>
                </a:extLst>
              </p:cNvPr>
              <p:cNvSpPr/>
              <p:nvPr/>
            </p:nvSpPr>
            <p:spPr>
              <a:xfrm>
                <a:off x="5709890" y="3640710"/>
                <a:ext cx="3221165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de-DE" sz="1800" b="0" i="0" smtClean="0">
                              <a:solidFill>
                                <a:schemeClr val="dk1"/>
                              </a:solidFill>
                              <a:latin typeface="Consolas" panose="020B0609020204030204" pitchFamily="49" charset="0"/>
                              <a:ea typeface="Consolas"/>
                              <a:cs typeface="Consolas"/>
                              <a:sym typeface="Consolas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de-DE" sz="1800" b="0" i="0" smtClean="0">
                              <a:solidFill>
                                <a:schemeClr val="dk1"/>
                              </a:solidFill>
                              <a:latin typeface="Consolas" panose="020B0609020204030204" pitchFamily="49" charset="0"/>
                              <a:ea typeface="Consolas"/>
                              <a:cs typeface="Consolas"/>
                              <a:sym typeface="Consolas"/>
                            </a:rPr>
                            <m:t>Throughput of network</m:t>
                          </m:r>
                          <m:r>
                            <a:rPr lang="de-DE" sz="18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onsolas"/>
                              <a:cs typeface="Consolas"/>
                              <a:sym typeface="Consolas"/>
                            </a:rPr>
                            <m:t> </m:t>
                          </m:r>
                          <m:r>
                            <a:rPr lang="el-GR" sz="1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de-DE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de-DE" sz="1800" i="1" dirty="0">
                  <a:latin typeface="Consolas" panose="020B0609020204030204" pitchFamily="49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de-DE" sz="1800" i="0">
                          <a:solidFill>
                            <a:srgbClr val="CC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m:t>worst </m:t>
                      </m:r>
                      <m:r>
                        <m:rPr>
                          <m:nor/>
                        </m:rPr>
                        <a:rPr lang="en-US" sz="1800" i="0">
                          <a:solidFill>
                            <a:srgbClr val="CC0000"/>
                          </a:solidFill>
                          <a:latin typeface="Consolas"/>
                          <a:ea typeface="Consolas"/>
                          <a:cs typeface="Consolas"/>
                        </a:rPr>
                        <m:t>cas</m:t>
                      </m:r>
                      <m:r>
                        <m:rPr>
                          <m:nor/>
                        </m:rPr>
                        <a:rPr lang="de-DE" sz="1800" i="0">
                          <a:solidFill>
                            <a:srgbClr val="CC0000"/>
                          </a:solidFill>
                          <a:latin typeface="Consolas"/>
                          <a:ea typeface="Consolas"/>
                          <a:cs typeface="Consolas"/>
                        </a:rPr>
                        <m:t>e</m:t>
                      </m:r>
                      <m:r>
                        <m:rPr>
                          <m:nor/>
                        </m:rPr>
                        <a:rPr lang="en-US" sz="1800" i="0">
                          <a:solidFill>
                            <a:srgbClr val="CC0000"/>
                          </a:solidFill>
                          <a:latin typeface="Consolas"/>
                          <a:ea typeface="Consolas"/>
                          <a:cs typeface="Consolas"/>
                        </a:rPr>
                        <m:t> </m:t>
                      </m:r>
                      <m:r>
                        <a:rPr lang="en-US" sz="1800">
                          <a:solidFill>
                            <a:srgbClr val="CC0000"/>
                          </a:solidFill>
                          <a:latin typeface="Cambria Math" panose="02040503050406030204" pitchFamily="18" charset="0"/>
                          <a:ea typeface="Consolas"/>
                          <a:cs typeface="Consolas"/>
                        </a:rPr>
                        <m:t>𝑇</m:t>
                      </m:r>
                    </m:oMath>
                  </m:oMathPara>
                </a14:m>
                <a:endParaRPr lang="en-AT" sz="1800">
                  <a:solidFill>
                    <a:srgbClr val="CC0000"/>
                  </a:solidFill>
                  <a:latin typeface="Consolas"/>
                  <a:ea typeface="Consolas"/>
                  <a:cs typeface="Consolas"/>
                </a:endParaRP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9A6CAF50-90C1-48E7-B98D-C13DAC8DE0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9890" y="3640710"/>
                <a:ext cx="3221165" cy="646331"/>
              </a:xfrm>
              <a:prstGeom prst="rect">
                <a:avLst/>
              </a:prstGeom>
              <a:blipFill>
                <a:blip r:embed="rId11"/>
                <a:stretch>
                  <a:fillRect b="-11538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79B62D-2854-E939-DBCE-D0601FECFAD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88</a:t>
            </a:fld>
            <a:endParaRPr lang="de-DE"/>
          </a:p>
        </p:txBody>
      </p:sp>
      <p:sp>
        <p:nvSpPr>
          <p:cNvPr id="6" name="Google Shape;1729;g60be7dcf1c_0_603">
            <a:extLst>
              <a:ext uri="{FF2B5EF4-FFF2-40B4-BE49-F238E27FC236}">
                <a16:creationId xmlns:a16="http://schemas.microsoft.com/office/drawing/2014/main" id="{69A318B6-D7EA-A35A-109B-E629CB819E41}"/>
              </a:ext>
            </a:extLst>
          </p:cNvPr>
          <p:cNvSpPr/>
          <p:nvPr/>
        </p:nvSpPr>
        <p:spPr>
          <a:xfrm>
            <a:off x="1048687" y="4764741"/>
            <a:ext cx="1974982" cy="1892276"/>
          </a:xfrm>
          <a:prstGeom prst="ellipse">
            <a:avLst/>
          </a:prstGeom>
          <a:solidFill>
            <a:srgbClr val="93C47D"/>
          </a:solidFill>
          <a:ln w="952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</p:txBody>
      </p:sp>
      <p:sp>
        <p:nvSpPr>
          <p:cNvPr id="7" name="Google Shape;1730;g60be7dcf1c_0_603">
            <a:extLst>
              <a:ext uri="{FF2B5EF4-FFF2-40B4-BE49-F238E27FC236}">
                <a16:creationId xmlns:a16="http://schemas.microsoft.com/office/drawing/2014/main" id="{E13B2C78-493D-BB2C-F9A5-668C98CBB01F}"/>
              </a:ext>
            </a:extLst>
          </p:cNvPr>
          <p:cNvSpPr txBox="1"/>
          <p:nvPr/>
        </p:nvSpPr>
        <p:spPr>
          <a:xfrm>
            <a:off x="1044940" y="5114230"/>
            <a:ext cx="2042876" cy="883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Definition extends to dynamic networks!</a:t>
            </a:r>
          </a:p>
        </p:txBody>
      </p:sp>
      <p:sp>
        <p:nvSpPr>
          <p:cNvPr id="9" name="Rechteck 9">
            <a:extLst>
              <a:ext uri="{FF2B5EF4-FFF2-40B4-BE49-F238E27FC236}">
                <a16:creationId xmlns:a16="http://schemas.microsoft.com/office/drawing/2014/main" id="{4EEE1B62-1ED6-1815-B314-FF0751409D67}"/>
              </a:ext>
            </a:extLst>
          </p:cNvPr>
          <p:cNvSpPr/>
          <p:nvPr/>
        </p:nvSpPr>
        <p:spPr>
          <a:xfrm>
            <a:off x="5760910" y="5802170"/>
            <a:ext cx="32211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200" dirty="0">
                <a:latin typeface="Consolas" panose="020B0609020204030204" pitchFamily="49" charset="0"/>
              </a:rPr>
              <a:t>Abdu et al., SC 2016</a:t>
            </a:r>
          </a:p>
          <a:p>
            <a:r>
              <a:rPr lang="de-DE" sz="1200" dirty="0" err="1">
                <a:latin typeface="Consolas" panose="020B0609020204030204" pitchFamily="49" charset="0"/>
              </a:rPr>
              <a:t>Namyar</a:t>
            </a:r>
            <a:r>
              <a:rPr lang="de-DE" sz="1200" dirty="0">
                <a:latin typeface="Consolas" panose="020B0609020204030204" pitchFamily="49" charset="0"/>
              </a:rPr>
              <a:t> et al., SIGCOMM 2021</a:t>
            </a:r>
          </a:p>
        </p:txBody>
      </p:sp>
      <p:sp>
        <p:nvSpPr>
          <p:cNvPr id="19" name="Google Shape;1288;g60be7dcf1c_0_204">
            <a:extLst>
              <a:ext uri="{FF2B5EF4-FFF2-40B4-BE49-F238E27FC236}">
                <a16:creationId xmlns:a16="http://schemas.microsoft.com/office/drawing/2014/main" id="{A2EC995A-C520-7394-CE77-C3F61AC6743E}"/>
              </a:ext>
            </a:extLst>
          </p:cNvPr>
          <p:cNvSpPr txBox="1">
            <a:spLocks/>
          </p:cNvSpPr>
          <p:nvPr/>
        </p:nvSpPr>
        <p:spPr>
          <a:xfrm>
            <a:off x="973075" y="149350"/>
            <a:ext cx="8171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lnSpc>
                <a:spcPct val="115000"/>
              </a:lnSpc>
              <a:buSzPts val="1100"/>
            </a:pPr>
            <a: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Demand-Aware Throughput?</a:t>
            </a:r>
            <a:endParaRPr lang="en-GB" sz="2000" dirty="0">
              <a:solidFill>
                <a:schemeClr val="tx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0F05BE2-11E5-24CF-4D71-2974738D8251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39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0398013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6">
          <a:extLst>
            <a:ext uri="{FF2B5EF4-FFF2-40B4-BE49-F238E27FC236}">
              <a16:creationId xmlns:a16="http://schemas.microsoft.com/office/drawing/2014/main" id="{F8E990D0-7431-DA88-E04D-5A17FD68A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09;g60be7dcf1c_0_222">
            <a:extLst>
              <a:ext uri="{FF2B5EF4-FFF2-40B4-BE49-F238E27FC236}">
                <a16:creationId xmlns:a16="http://schemas.microsoft.com/office/drawing/2014/main" id="{C5022BC9-62B0-D323-4EE1-FFEDE1890DCE}"/>
              </a:ext>
            </a:extLst>
          </p:cNvPr>
          <p:cNvSpPr txBox="1"/>
          <p:nvPr/>
        </p:nvSpPr>
        <p:spPr>
          <a:xfrm>
            <a:off x="0" y="540000"/>
            <a:ext cx="8170925" cy="55208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pic>
        <p:nvPicPr>
          <p:cNvPr id="8" name="Google Shape;1444;g60be7dcf1c_0_334">
            <a:extLst>
              <a:ext uri="{FF2B5EF4-FFF2-40B4-BE49-F238E27FC236}">
                <a16:creationId xmlns:a16="http://schemas.microsoft.com/office/drawing/2014/main" id="{50DB2BD3-19C4-EE08-36E1-9F66D8D2B7D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2059" t="9875" r="14942" b="16257"/>
          <a:stretch/>
        </p:blipFill>
        <p:spPr>
          <a:xfrm>
            <a:off x="1193813" y="1683000"/>
            <a:ext cx="1478977" cy="1496677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3C5E3CE-1EFA-E107-9426-7D168FF496C5}"/>
                  </a:ext>
                </a:extLst>
              </p:cNvPr>
              <p:cNvSpPr txBox="1"/>
              <p:nvPr/>
            </p:nvSpPr>
            <p:spPr>
              <a:xfrm>
                <a:off x="535997" y="2158351"/>
                <a:ext cx="537518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IL"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4649ADA-6CD9-EA49-AC35-1BA25A4391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997" y="2158351"/>
                <a:ext cx="537518" cy="55399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05BB1CE4-B323-EB8F-713B-E72B08314B8F}"/>
              </a:ext>
            </a:extLst>
          </p:cNvPr>
          <p:cNvGrpSpPr/>
          <p:nvPr/>
        </p:nvGrpSpPr>
        <p:grpSpPr>
          <a:xfrm>
            <a:off x="2759825" y="2158351"/>
            <a:ext cx="1698322" cy="553998"/>
            <a:chOff x="2759825" y="2158351"/>
            <a:chExt cx="1698322" cy="55399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89D3D3EC-1AE6-7E13-41C9-33E56E3B1AFF}"/>
                    </a:ext>
                  </a:extLst>
                </p:cNvPr>
                <p:cNvSpPr txBox="1"/>
                <p:nvPr/>
              </p:nvSpPr>
              <p:spPr>
                <a:xfrm>
                  <a:off x="3262692" y="2158351"/>
                  <a:ext cx="1195455" cy="55399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l-GR" sz="3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sz="36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36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IL" sz="3600" dirty="0">
                    <a:latin typeface="Consolas" panose="020B0609020204030204" pitchFamily="49" charset="0"/>
                  </a:endParaRPr>
                </a:p>
              </p:txBody>
            </p:sp>
          </mc:Choice>
          <mc:Fallback xmlns="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03D60A52-F603-AF44-B733-A32790BC6D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62692" y="2158351"/>
                  <a:ext cx="1195455" cy="553998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AT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6E34FA66-7AC9-A7F4-1D59-A85FD63348DD}"/>
                    </a:ext>
                  </a:extLst>
                </p:cNvPr>
                <p:cNvSpPr txBox="1"/>
                <p:nvPr/>
              </p:nvSpPr>
              <p:spPr>
                <a:xfrm>
                  <a:off x="2759825" y="2158351"/>
                  <a:ext cx="458459" cy="55399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3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en-IL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C32AAC5F-F50F-5547-9828-9085CC4649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59825" y="2158351"/>
                  <a:ext cx="458459" cy="553998"/>
                </a:xfrm>
                <a:prstGeom prst="rect">
                  <a:avLst/>
                </a:prstGeom>
                <a:blipFill>
                  <a:blip r:embed="rId7"/>
                  <a:stretch>
                    <a:fillRect l="-13514" r="-13514" b="-4444"/>
                  </a:stretch>
                </a:blipFill>
              </p:spPr>
              <p:txBody>
                <a:bodyPr/>
                <a:lstStyle/>
                <a:p>
                  <a:r>
                    <a:rPr lang="en-IL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37897ECB-E478-C3F5-855B-7055A3D679B7}"/>
              </a:ext>
            </a:extLst>
          </p:cNvPr>
          <p:cNvSpPr/>
          <p:nvPr/>
        </p:nvSpPr>
        <p:spPr>
          <a:xfrm>
            <a:off x="1196104" y="1246017"/>
            <a:ext cx="147668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Demand Matrix</a:t>
            </a:r>
            <a:endParaRPr lang="en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Google Shape;1534;g60be7dcf1c_0_434">
                <a:extLst>
                  <a:ext uri="{FF2B5EF4-FFF2-40B4-BE49-F238E27FC236}">
                    <a16:creationId xmlns:a16="http://schemas.microsoft.com/office/drawing/2014/main" id="{315D6849-3C49-F0DD-AE93-846AFB151DC3}"/>
                  </a:ext>
                </a:extLst>
              </p:cNvPr>
              <p:cNvSpPr txBox="1"/>
              <p:nvPr/>
            </p:nvSpPr>
            <p:spPr>
              <a:xfrm>
                <a:off x="2912935" y="3404082"/>
                <a:ext cx="2796956" cy="2414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>
                  <a:lnSpc>
                    <a:spcPct val="115000"/>
                  </a:lnSpc>
                </a:pPr>
                <a:r>
                  <a:rPr lang="de-DE" sz="16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… </a:t>
                </a:r>
                <a:r>
                  <a:rPr lang="de-DE" sz="1600" dirty="0" err="1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is</a:t>
                </a:r>
                <a:r>
                  <a:rPr lang="de-DE" sz="16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 </a:t>
                </a:r>
                <a:r>
                  <a:rPr lang="de-DE" sz="1600" dirty="0" err="1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the</a:t>
                </a:r>
                <a:r>
                  <a:rPr lang="de-DE" sz="16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 maximal </a:t>
                </a:r>
                <a:r>
                  <a:rPr lang="de-DE" sz="1600" dirty="0" err="1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scale</a:t>
                </a:r>
                <a:r>
                  <a:rPr lang="de-DE" sz="16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 down </a:t>
                </a:r>
                <a:r>
                  <a:rPr lang="en-GB" sz="1600" dirty="0">
                    <a:solidFill>
                      <a:srgbClr val="CC000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factor</a:t>
                </a:r>
                <a:r>
                  <a:rPr lang="de-DE" sz="16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 </a:t>
                </a:r>
                <a:r>
                  <a:rPr lang="de-DE" sz="1600" dirty="0" err="1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by</a:t>
                </a:r>
                <a:r>
                  <a:rPr lang="de-DE" sz="16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 </a:t>
                </a:r>
                <a:r>
                  <a:rPr lang="de-DE" sz="1600" dirty="0" err="1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which</a:t>
                </a:r>
                <a:r>
                  <a:rPr lang="de-DE" sz="16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 </a:t>
                </a:r>
                <a:r>
                  <a:rPr lang="de-DE" sz="1600" dirty="0" err="1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traffic</a:t>
                </a:r>
                <a:r>
                  <a:rPr lang="de-DE" sz="16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 </a:t>
                </a:r>
                <a:r>
                  <a:rPr lang="de-DE" sz="1600" dirty="0" err="1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is</a:t>
                </a:r>
                <a:r>
                  <a:rPr lang="de-DE" sz="16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 </a:t>
                </a:r>
                <a:r>
                  <a:rPr lang="en-GB" sz="1600" dirty="0">
                    <a:solidFill>
                      <a:srgbClr val="CC000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feasible </a:t>
                </a:r>
                <a:br>
                  <a:rPr lang="en-GB" sz="1600" dirty="0">
                    <a:solidFill>
                      <a:srgbClr val="CC0000"/>
                    </a:solidFill>
                    <a:latin typeface="Consolas"/>
                    <a:ea typeface="Consolas"/>
                    <a:cs typeface="Consolas"/>
                    <a:sym typeface="Consolas"/>
                  </a:rPr>
                </a:b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0≤</m:t>
                    </m:r>
                    <m:r>
                      <a:rPr lang="el-G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n-US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de-DE" sz="12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.</a:t>
                </a:r>
              </a:p>
            </p:txBody>
          </p:sp>
        </mc:Choice>
        <mc:Fallback xmlns="">
          <p:sp>
            <p:nvSpPr>
              <p:cNvPr id="25" name="Google Shape;1534;g60be7dcf1c_0_434">
                <a:extLst>
                  <a:ext uri="{FF2B5EF4-FFF2-40B4-BE49-F238E27FC236}">
                    <a16:creationId xmlns:a16="http://schemas.microsoft.com/office/drawing/2014/main" id="{A0A2BE6D-746B-4E81-A9E4-C6F4ABD00F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2935" y="3404082"/>
                <a:ext cx="2796956" cy="241472"/>
              </a:xfrm>
              <a:prstGeom prst="rect">
                <a:avLst/>
              </a:prstGeom>
              <a:blipFill>
                <a:blip r:embed="rId8"/>
                <a:stretch>
                  <a:fillRect l="-905" b="-38095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Google Shape;1534;g60be7dcf1c_0_434">
            <a:extLst>
              <a:ext uri="{FF2B5EF4-FFF2-40B4-BE49-F238E27FC236}">
                <a16:creationId xmlns:a16="http://schemas.microsoft.com/office/drawing/2014/main" id="{B618699E-2200-1E57-D5F0-D3F8447454BF}"/>
              </a:ext>
            </a:extLst>
          </p:cNvPr>
          <p:cNvSpPr txBox="1"/>
          <p:nvPr/>
        </p:nvSpPr>
        <p:spPr>
          <a:xfrm>
            <a:off x="449670" y="3570327"/>
            <a:ext cx="2463265" cy="241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GB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Metric: </a:t>
            </a:r>
            <a:r>
              <a:rPr lang="de-DE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throughput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de-DE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of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a </a:t>
            </a:r>
            <a:r>
              <a:rPr lang="en-GB" sz="1600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demand matrix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…</a:t>
            </a: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>
              <a:lnSpc>
                <a:spcPct val="115000"/>
              </a:lnSpc>
            </a:pPr>
            <a:endParaRPr lang="de-DE"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9C75783-040D-9C22-6142-EDF5F47D0E2F}"/>
              </a:ext>
            </a:extLst>
          </p:cNvPr>
          <p:cNvGrpSpPr/>
          <p:nvPr/>
        </p:nvGrpSpPr>
        <p:grpSpPr>
          <a:xfrm>
            <a:off x="4807931" y="1720613"/>
            <a:ext cx="3606456" cy="1496678"/>
            <a:chOff x="4794931" y="1713639"/>
            <a:chExt cx="3606456" cy="1496678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A9FFA4DB-76E8-1106-D998-9E7963DA92B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625370" y="1713639"/>
              <a:ext cx="2776017" cy="1496678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9549B508-0BC3-3F45-B580-441BAA14933F}"/>
                    </a:ext>
                  </a:extLst>
                </p:cNvPr>
                <p:cNvSpPr txBox="1"/>
                <p:nvPr/>
              </p:nvSpPr>
              <p:spPr>
                <a:xfrm>
                  <a:off x="4794931" y="2158351"/>
                  <a:ext cx="527387" cy="55399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3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⇒</m:t>
                        </m:r>
                      </m:oMath>
                    </m:oMathPara>
                  </a14:m>
                  <a:endParaRPr lang="en-IL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121B9FCC-C9FE-D842-A13B-DDEF1E280D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94931" y="2158351"/>
                  <a:ext cx="527387" cy="553998"/>
                </a:xfrm>
                <a:prstGeom prst="rect">
                  <a:avLst/>
                </a:prstGeom>
                <a:blipFill>
                  <a:blip r:embed="rId10"/>
                  <a:stretch>
                    <a:fillRect l="-11628" r="-9302" b="-2222"/>
                  </a:stretch>
                </a:blipFill>
              </p:spPr>
              <p:txBody>
                <a:bodyPr/>
                <a:lstStyle/>
                <a:p>
                  <a:r>
                    <a:rPr lang="en-IL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F54A318A-6C59-24D2-3E43-DB45E493DABE}"/>
                  </a:ext>
                </a:extLst>
              </p:cNvPr>
              <p:cNvSpPr/>
              <p:nvPr/>
            </p:nvSpPr>
            <p:spPr>
              <a:xfrm>
                <a:off x="5709890" y="3640710"/>
                <a:ext cx="3221165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de-DE" sz="1800" b="0" i="0" smtClean="0">
                              <a:solidFill>
                                <a:schemeClr val="dk1"/>
                              </a:solidFill>
                              <a:latin typeface="Consolas" panose="020B0609020204030204" pitchFamily="49" charset="0"/>
                              <a:ea typeface="Consolas"/>
                              <a:cs typeface="Consolas"/>
                              <a:sym typeface="Consolas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de-DE" sz="1800" b="0" i="0" smtClean="0">
                              <a:solidFill>
                                <a:schemeClr val="dk1"/>
                              </a:solidFill>
                              <a:latin typeface="Consolas" panose="020B0609020204030204" pitchFamily="49" charset="0"/>
                              <a:ea typeface="Consolas"/>
                              <a:cs typeface="Consolas"/>
                              <a:sym typeface="Consolas"/>
                            </a:rPr>
                            <m:t>Throughput of network</m:t>
                          </m:r>
                          <m:r>
                            <a:rPr lang="de-DE" sz="18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onsolas"/>
                              <a:cs typeface="Consolas"/>
                              <a:sym typeface="Consolas"/>
                            </a:rPr>
                            <m:t> </m:t>
                          </m:r>
                          <m:r>
                            <a:rPr lang="el-GR" sz="1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de-DE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de-DE" sz="1800" i="1" dirty="0">
                  <a:latin typeface="Consolas" panose="020B0609020204030204" pitchFamily="49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de-DE" sz="1800" i="0">
                          <a:solidFill>
                            <a:srgbClr val="CC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m:t>worst </m:t>
                      </m:r>
                      <m:r>
                        <m:rPr>
                          <m:nor/>
                        </m:rPr>
                        <a:rPr lang="en-US" sz="1800" i="0">
                          <a:solidFill>
                            <a:srgbClr val="CC0000"/>
                          </a:solidFill>
                          <a:latin typeface="Consolas"/>
                          <a:ea typeface="Consolas"/>
                          <a:cs typeface="Consolas"/>
                        </a:rPr>
                        <m:t>cas</m:t>
                      </m:r>
                      <m:r>
                        <m:rPr>
                          <m:nor/>
                        </m:rPr>
                        <a:rPr lang="de-DE" sz="1800" i="0">
                          <a:solidFill>
                            <a:srgbClr val="CC0000"/>
                          </a:solidFill>
                          <a:latin typeface="Consolas"/>
                          <a:ea typeface="Consolas"/>
                          <a:cs typeface="Consolas"/>
                        </a:rPr>
                        <m:t>e</m:t>
                      </m:r>
                      <m:r>
                        <m:rPr>
                          <m:nor/>
                        </m:rPr>
                        <a:rPr lang="en-US" sz="1800" i="0">
                          <a:solidFill>
                            <a:srgbClr val="CC0000"/>
                          </a:solidFill>
                          <a:latin typeface="Consolas"/>
                          <a:ea typeface="Consolas"/>
                          <a:cs typeface="Consolas"/>
                        </a:rPr>
                        <m:t> </m:t>
                      </m:r>
                      <m:r>
                        <a:rPr lang="en-US" sz="1800">
                          <a:solidFill>
                            <a:srgbClr val="CC0000"/>
                          </a:solidFill>
                          <a:latin typeface="Cambria Math" panose="02040503050406030204" pitchFamily="18" charset="0"/>
                          <a:ea typeface="Consolas"/>
                          <a:cs typeface="Consolas"/>
                        </a:rPr>
                        <m:t>𝑇</m:t>
                      </m:r>
                    </m:oMath>
                  </m:oMathPara>
                </a14:m>
                <a:endParaRPr lang="en-AT" sz="1800">
                  <a:solidFill>
                    <a:srgbClr val="CC0000"/>
                  </a:solidFill>
                  <a:latin typeface="Consolas"/>
                  <a:ea typeface="Consolas"/>
                  <a:cs typeface="Consolas"/>
                </a:endParaRP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9A6CAF50-90C1-48E7-B98D-C13DAC8DE0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9890" y="3640710"/>
                <a:ext cx="3221165" cy="646331"/>
              </a:xfrm>
              <a:prstGeom prst="rect">
                <a:avLst/>
              </a:prstGeom>
              <a:blipFill>
                <a:blip r:embed="rId11"/>
                <a:stretch>
                  <a:fillRect b="-11538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CA4E1D-FB0A-E88F-8C94-8D584B22432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89</a:t>
            </a:fld>
            <a:endParaRPr lang="de-DE"/>
          </a:p>
        </p:txBody>
      </p:sp>
      <p:sp>
        <p:nvSpPr>
          <p:cNvPr id="21" name="Google Shape;1730;g60be7dcf1c_0_603">
            <a:extLst>
              <a:ext uri="{FF2B5EF4-FFF2-40B4-BE49-F238E27FC236}">
                <a16:creationId xmlns:a16="http://schemas.microsoft.com/office/drawing/2014/main" id="{8AFEFFB2-3E15-8883-564D-CD56B11614AE}"/>
              </a:ext>
            </a:extLst>
          </p:cNvPr>
          <p:cNvSpPr txBox="1"/>
          <p:nvPr/>
        </p:nvSpPr>
        <p:spPr>
          <a:xfrm>
            <a:off x="3642987" y="5067683"/>
            <a:ext cx="4771400" cy="883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T typically assumed to be doubly stochastic (entries sum to 1).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600" b="1" dirty="0">
              <a:solidFill>
                <a:srgbClr val="CC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Worst T for different networks? </a:t>
            </a:r>
          </a:p>
        </p:txBody>
      </p:sp>
      <p:sp>
        <p:nvSpPr>
          <p:cNvPr id="6" name="Google Shape;1729;g60be7dcf1c_0_603">
            <a:extLst>
              <a:ext uri="{FF2B5EF4-FFF2-40B4-BE49-F238E27FC236}">
                <a16:creationId xmlns:a16="http://schemas.microsoft.com/office/drawing/2014/main" id="{5CB13D93-7665-7AD1-A1A8-A7F365C2CFF5}"/>
              </a:ext>
            </a:extLst>
          </p:cNvPr>
          <p:cNvSpPr/>
          <p:nvPr/>
        </p:nvSpPr>
        <p:spPr>
          <a:xfrm>
            <a:off x="1048687" y="4764741"/>
            <a:ext cx="1974982" cy="1892276"/>
          </a:xfrm>
          <a:prstGeom prst="ellipse">
            <a:avLst/>
          </a:prstGeom>
          <a:solidFill>
            <a:srgbClr val="93C47D"/>
          </a:solidFill>
          <a:ln w="952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</p:txBody>
      </p:sp>
      <p:sp>
        <p:nvSpPr>
          <p:cNvPr id="7" name="Google Shape;1730;g60be7dcf1c_0_603">
            <a:extLst>
              <a:ext uri="{FF2B5EF4-FFF2-40B4-BE49-F238E27FC236}">
                <a16:creationId xmlns:a16="http://schemas.microsoft.com/office/drawing/2014/main" id="{9A63B269-1242-DC86-75A3-EB97860B8B9A}"/>
              </a:ext>
            </a:extLst>
          </p:cNvPr>
          <p:cNvSpPr txBox="1"/>
          <p:nvPr/>
        </p:nvSpPr>
        <p:spPr>
          <a:xfrm>
            <a:off x="1044940" y="5114230"/>
            <a:ext cx="2042876" cy="883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Definition extends to dynamic networks!</a:t>
            </a:r>
          </a:p>
        </p:txBody>
      </p:sp>
      <p:sp>
        <p:nvSpPr>
          <p:cNvPr id="18" name="Google Shape;1288;g60be7dcf1c_0_204">
            <a:extLst>
              <a:ext uri="{FF2B5EF4-FFF2-40B4-BE49-F238E27FC236}">
                <a16:creationId xmlns:a16="http://schemas.microsoft.com/office/drawing/2014/main" id="{8E336945-BAC1-7737-2EB8-AD55C961D1C6}"/>
              </a:ext>
            </a:extLst>
          </p:cNvPr>
          <p:cNvSpPr txBox="1">
            <a:spLocks/>
          </p:cNvSpPr>
          <p:nvPr/>
        </p:nvSpPr>
        <p:spPr>
          <a:xfrm>
            <a:off x="973075" y="149350"/>
            <a:ext cx="8171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lnSpc>
                <a:spcPct val="115000"/>
              </a:lnSpc>
              <a:buSzPts val="1100"/>
            </a:pPr>
            <a: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Demand-Aware Throughput?</a:t>
            </a:r>
            <a:endParaRPr lang="en-GB" sz="2000" dirty="0">
              <a:solidFill>
                <a:schemeClr val="tx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A1DB15B-E7BD-9689-74F1-C4D4317536A9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39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6799043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6">
          <a:extLst>
            <a:ext uri="{FF2B5EF4-FFF2-40B4-BE49-F238E27FC236}">
              <a16:creationId xmlns:a16="http://schemas.microsoft.com/office/drawing/2014/main" id="{24A47A27-80CD-A780-3A17-56BD3D6DE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09;g60be7dcf1c_0_222">
            <a:extLst>
              <a:ext uri="{FF2B5EF4-FFF2-40B4-BE49-F238E27FC236}">
                <a16:creationId xmlns:a16="http://schemas.microsoft.com/office/drawing/2014/main" id="{481BE3C2-3ADE-8EC2-E8BD-EFDA8915BF28}"/>
              </a:ext>
            </a:extLst>
          </p:cNvPr>
          <p:cNvSpPr txBox="1"/>
          <p:nvPr/>
        </p:nvSpPr>
        <p:spPr>
          <a:xfrm>
            <a:off x="0" y="540000"/>
            <a:ext cx="8170925" cy="55208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pic>
        <p:nvPicPr>
          <p:cNvPr id="8" name="Google Shape;1444;g60be7dcf1c_0_334">
            <a:extLst>
              <a:ext uri="{FF2B5EF4-FFF2-40B4-BE49-F238E27FC236}">
                <a16:creationId xmlns:a16="http://schemas.microsoft.com/office/drawing/2014/main" id="{D2055E57-4A0C-BCF1-496D-3704AD9FFFF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2059" t="9875" r="14942" b="16257"/>
          <a:stretch/>
        </p:blipFill>
        <p:spPr>
          <a:xfrm>
            <a:off x="1193813" y="1683000"/>
            <a:ext cx="1478977" cy="1496677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578BF04-390C-E698-3081-C1B422A956DC}"/>
                  </a:ext>
                </a:extLst>
              </p:cNvPr>
              <p:cNvSpPr txBox="1"/>
              <p:nvPr/>
            </p:nvSpPr>
            <p:spPr>
              <a:xfrm>
                <a:off x="535997" y="2158351"/>
                <a:ext cx="537518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IL"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4649ADA-6CD9-EA49-AC35-1BA25A4391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997" y="2158351"/>
                <a:ext cx="537518" cy="55399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BD29BA42-A0DA-FFFB-6DCD-09577D6D6A4F}"/>
              </a:ext>
            </a:extLst>
          </p:cNvPr>
          <p:cNvGrpSpPr/>
          <p:nvPr/>
        </p:nvGrpSpPr>
        <p:grpSpPr>
          <a:xfrm>
            <a:off x="2759825" y="2158351"/>
            <a:ext cx="1698322" cy="553998"/>
            <a:chOff x="2759825" y="2158351"/>
            <a:chExt cx="1698322" cy="55399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DE2B111B-057E-FCAE-505B-6607CA8230B1}"/>
                    </a:ext>
                  </a:extLst>
                </p:cNvPr>
                <p:cNvSpPr txBox="1"/>
                <p:nvPr/>
              </p:nvSpPr>
              <p:spPr>
                <a:xfrm>
                  <a:off x="3262692" y="2158351"/>
                  <a:ext cx="1195455" cy="55399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l-GR" sz="3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sz="36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36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IL" sz="3600" dirty="0">
                    <a:latin typeface="Consolas" panose="020B0609020204030204" pitchFamily="49" charset="0"/>
                  </a:endParaRPr>
                </a:p>
              </p:txBody>
            </p:sp>
          </mc:Choice>
          <mc:Fallback xmlns="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03D60A52-F603-AF44-B733-A32790BC6D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62692" y="2158351"/>
                  <a:ext cx="1195455" cy="553998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AT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E2A59122-B77B-2F4E-CEFC-1D08C8752E7B}"/>
                    </a:ext>
                  </a:extLst>
                </p:cNvPr>
                <p:cNvSpPr txBox="1"/>
                <p:nvPr/>
              </p:nvSpPr>
              <p:spPr>
                <a:xfrm>
                  <a:off x="2759825" y="2158351"/>
                  <a:ext cx="458459" cy="55399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3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en-IL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C32AAC5F-F50F-5547-9828-9085CC4649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59825" y="2158351"/>
                  <a:ext cx="458459" cy="553998"/>
                </a:xfrm>
                <a:prstGeom prst="rect">
                  <a:avLst/>
                </a:prstGeom>
                <a:blipFill>
                  <a:blip r:embed="rId7"/>
                  <a:stretch>
                    <a:fillRect l="-13514" r="-13514" b="-4444"/>
                  </a:stretch>
                </a:blipFill>
              </p:spPr>
              <p:txBody>
                <a:bodyPr/>
                <a:lstStyle/>
                <a:p>
                  <a:r>
                    <a:rPr lang="en-IL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933DB17B-881D-ED08-BEB6-619C4679158C}"/>
              </a:ext>
            </a:extLst>
          </p:cNvPr>
          <p:cNvSpPr/>
          <p:nvPr/>
        </p:nvSpPr>
        <p:spPr>
          <a:xfrm>
            <a:off x="1196104" y="1246017"/>
            <a:ext cx="147668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Demand Matrix</a:t>
            </a:r>
            <a:endParaRPr lang="en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Google Shape;1534;g60be7dcf1c_0_434">
                <a:extLst>
                  <a:ext uri="{FF2B5EF4-FFF2-40B4-BE49-F238E27FC236}">
                    <a16:creationId xmlns:a16="http://schemas.microsoft.com/office/drawing/2014/main" id="{FE053A48-6964-3A91-8F47-B401E8033A4F}"/>
                  </a:ext>
                </a:extLst>
              </p:cNvPr>
              <p:cNvSpPr txBox="1"/>
              <p:nvPr/>
            </p:nvSpPr>
            <p:spPr>
              <a:xfrm>
                <a:off x="2912935" y="3404082"/>
                <a:ext cx="2796956" cy="2414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>
                  <a:lnSpc>
                    <a:spcPct val="115000"/>
                  </a:lnSpc>
                </a:pPr>
                <a:r>
                  <a:rPr lang="de-DE" sz="16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… </a:t>
                </a:r>
                <a:r>
                  <a:rPr lang="de-DE" sz="1600" dirty="0" err="1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is</a:t>
                </a:r>
                <a:r>
                  <a:rPr lang="de-DE" sz="16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 </a:t>
                </a:r>
                <a:r>
                  <a:rPr lang="de-DE" sz="1600" dirty="0" err="1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the</a:t>
                </a:r>
                <a:r>
                  <a:rPr lang="de-DE" sz="16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 maximal </a:t>
                </a:r>
                <a:r>
                  <a:rPr lang="de-DE" sz="1600" dirty="0" err="1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scale</a:t>
                </a:r>
                <a:r>
                  <a:rPr lang="de-DE" sz="16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 down </a:t>
                </a:r>
                <a:r>
                  <a:rPr lang="en-GB" sz="1600" dirty="0">
                    <a:solidFill>
                      <a:srgbClr val="CC000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factor</a:t>
                </a:r>
                <a:r>
                  <a:rPr lang="de-DE" sz="16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 </a:t>
                </a:r>
                <a:r>
                  <a:rPr lang="de-DE" sz="1600" dirty="0" err="1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by</a:t>
                </a:r>
                <a:r>
                  <a:rPr lang="de-DE" sz="16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 </a:t>
                </a:r>
                <a:r>
                  <a:rPr lang="de-DE" sz="1600" dirty="0" err="1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which</a:t>
                </a:r>
                <a:r>
                  <a:rPr lang="de-DE" sz="16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 </a:t>
                </a:r>
                <a:r>
                  <a:rPr lang="de-DE" sz="1600" dirty="0" err="1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traffic</a:t>
                </a:r>
                <a:r>
                  <a:rPr lang="de-DE" sz="16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 </a:t>
                </a:r>
                <a:r>
                  <a:rPr lang="de-DE" sz="1600" dirty="0" err="1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is</a:t>
                </a:r>
                <a:r>
                  <a:rPr lang="de-DE" sz="16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 </a:t>
                </a:r>
                <a:r>
                  <a:rPr lang="en-GB" sz="1600" dirty="0">
                    <a:solidFill>
                      <a:srgbClr val="CC000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feasible </a:t>
                </a:r>
                <a:br>
                  <a:rPr lang="en-GB" sz="1600" dirty="0">
                    <a:solidFill>
                      <a:srgbClr val="CC0000"/>
                    </a:solidFill>
                    <a:latin typeface="Consolas"/>
                    <a:ea typeface="Consolas"/>
                    <a:cs typeface="Consolas"/>
                    <a:sym typeface="Consolas"/>
                  </a:rPr>
                </a:b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0≤</m:t>
                    </m:r>
                    <m:r>
                      <a:rPr lang="el-G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n-US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de-DE" sz="12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.</a:t>
                </a:r>
              </a:p>
            </p:txBody>
          </p:sp>
        </mc:Choice>
        <mc:Fallback xmlns="">
          <p:sp>
            <p:nvSpPr>
              <p:cNvPr id="25" name="Google Shape;1534;g60be7dcf1c_0_434">
                <a:extLst>
                  <a:ext uri="{FF2B5EF4-FFF2-40B4-BE49-F238E27FC236}">
                    <a16:creationId xmlns:a16="http://schemas.microsoft.com/office/drawing/2014/main" id="{A0A2BE6D-746B-4E81-A9E4-C6F4ABD00F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2935" y="3404082"/>
                <a:ext cx="2796956" cy="241472"/>
              </a:xfrm>
              <a:prstGeom prst="rect">
                <a:avLst/>
              </a:prstGeom>
              <a:blipFill>
                <a:blip r:embed="rId8"/>
                <a:stretch>
                  <a:fillRect l="-905" b="-38095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Google Shape;1534;g60be7dcf1c_0_434">
            <a:extLst>
              <a:ext uri="{FF2B5EF4-FFF2-40B4-BE49-F238E27FC236}">
                <a16:creationId xmlns:a16="http://schemas.microsoft.com/office/drawing/2014/main" id="{994ECE1D-87DB-5E4A-A11F-6D15A65D2DA8}"/>
              </a:ext>
            </a:extLst>
          </p:cNvPr>
          <p:cNvSpPr txBox="1"/>
          <p:nvPr/>
        </p:nvSpPr>
        <p:spPr>
          <a:xfrm>
            <a:off x="449670" y="3570327"/>
            <a:ext cx="2463265" cy="241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GB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Metric: </a:t>
            </a:r>
            <a:r>
              <a:rPr lang="de-DE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throughput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de-DE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of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a </a:t>
            </a:r>
            <a:r>
              <a:rPr lang="en-GB" sz="1600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demand matrix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…</a:t>
            </a: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>
              <a:lnSpc>
                <a:spcPct val="115000"/>
              </a:lnSpc>
            </a:pPr>
            <a:endParaRPr lang="de-DE"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A018E9B-736C-C81D-CBC1-30F49C8A47D4}"/>
              </a:ext>
            </a:extLst>
          </p:cNvPr>
          <p:cNvGrpSpPr/>
          <p:nvPr/>
        </p:nvGrpSpPr>
        <p:grpSpPr>
          <a:xfrm>
            <a:off x="4807931" y="1720613"/>
            <a:ext cx="3606456" cy="1496678"/>
            <a:chOff x="4794931" y="1713639"/>
            <a:chExt cx="3606456" cy="1496678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37B403F2-EB76-AFB9-EA7D-B4F9308B12E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625370" y="1713639"/>
              <a:ext cx="2776017" cy="1496678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7BE67D14-0212-04E1-48A8-B29B908B04DC}"/>
                    </a:ext>
                  </a:extLst>
                </p:cNvPr>
                <p:cNvSpPr txBox="1"/>
                <p:nvPr/>
              </p:nvSpPr>
              <p:spPr>
                <a:xfrm>
                  <a:off x="4794931" y="2158351"/>
                  <a:ext cx="527387" cy="55399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3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⇒</m:t>
                        </m:r>
                      </m:oMath>
                    </m:oMathPara>
                  </a14:m>
                  <a:endParaRPr lang="en-IL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121B9FCC-C9FE-D842-A13B-DDEF1E280D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94931" y="2158351"/>
                  <a:ext cx="527387" cy="553998"/>
                </a:xfrm>
                <a:prstGeom prst="rect">
                  <a:avLst/>
                </a:prstGeom>
                <a:blipFill>
                  <a:blip r:embed="rId10"/>
                  <a:stretch>
                    <a:fillRect l="-11628" r="-9302" b="-2222"/>
                  </a:stretch>
                </a:blipFill>
              </p:spPr>
              <p:txBody>
                <a:bodyPr/>
                <a:lstStyle/>
                <a:p>
                  <a:r>
                    <a:rPr lang="en-IL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DAF816F9-E841-E1C8-BA31-3794101C136B}"/>
                  </a:ext>
                </a:extLst>
              </p:cNvPr>
              <p:cNvSpPr/>
              <p:nvPr/>
            </p:nvSpPr>
            <p:spPr>
              <a:xfrm>
                <a:off x="5709890" y="3640710"/>
                <a:ext cx="3221165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de-DE" sz="1800" b="0" i="0" smtClean="0">
                              <a:solidFill>
                                <a:schemeClr val="dk1"/>
                              </a:solidFill>
                              <a:latin typeface="Consolas" panose="020B0609020204030204" pitchFamily="49" charset="0"/>
                              <a:ea typeface="Consolas"/>
                              <a:cs typeface="Consolas"/>
                              <a:sym typeface="Consolas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de-DE" sz="1800" b="0" i="0" smtClean="0">
                              <a:solidFill>
                                <a:schemeClr val="dk1"/>
                              </a:solidFill>
                              <a:latin typeface="Consolas" panose="020B0609020204030204" pitchFamily="49" charset="0"/>
                              <a:ea typeface="Consolas"/>
                              <a:cs typeface="Consolas"/>
                              <a:sym typeface="Consolas"/>
                            </a:rPr>
                            <m:t>Throughput of network</m:t>
                          </m:r>
                          <m:r>
                            <a:rPr lang="de-DE" sz="18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onsolas"/>
                              <a:cs typeface="Consolas"/>
                              <a:sym typeface="Consolas"/>
                            </a:rPr>
                            <m:t> </m:t>
                          </m:r>
                          <m:r>
                            <a:rPr lang="el-GR" sz="1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de-DE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de-DE" sz="1800" i="1" dirty="0">
                  <a:latin typeface="Consolas" panose="020B0609020204030204" pitchFamily="49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de-DE" sz="1800" i="0">
                          <a:solidFill>
                            <a:srgbClr val="CC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m:t>worst </m:t>
                      </m:r>
                      <m:r>
                        <m:rPr>
                          <m:nor/>
                        </m:rPr>
                        <a:rPr lang="en-US" sz="1800" i="0">
                          <a:solidFill>
                            <a:srgbClr val="CC0000"/>
                          </a:solidFill>
                          <a:latin typeface="Consolas"/>
                          <a:ea typeface="Consolas"/>
                          <a:cs typeface="Consolas"/>
                        </a:rPr>
                        <m:t>cas</m:t>
                      </m:r>
                      <m:r>
                        <m:rPr>
                          <m:nor/>
                        </m:rPr>
                        <a:rPr lang="de-DE" sz="1800" i="0">
                          <a:solidFill>
                            <a:srgbClr val="CC0000"/>
                          </a:solidFill>
                          <a:latin typeface="Consolas"/>
                          <a:ea typeface="Consolas"/>
                          <a:cs typeface="Consolas"/>
                        </a:rPr>
                        <m:t>e</m:t>
                      </m:r>
                      <m:r>
                        <m:rPr>
                          <m:nor/>
                        </m:rPr>
                        <a:rPr lang="en-US" sz="1800" i="0">
                          <a:solidFill>
                            <a:srgbClr val="CC0000"/>
                          </a:solidFill>
                          <a:latin typeface="Consolas"/>
                          <a:ea typeface="Consolas"/>
                          <a:cs typeface="Consolas"/>
                        </a:rPr>
                        <m:t> </m:t>
                      </m:r>
                      <m:r>
                        <a:rPr lang="en-US" sz="1800">
                          <a:solidFill>
                            <a:srgbClr val="CC0000"/>
                          </a:solidFill>
                          <a:latin typeface="Cambria Math" panose="02040503050406030204" pitchFamily="18" charset="0"/>
                          <a:ea typeface="Consolas"/>
                          <a:cs typeface="Consolas"/>
                        </a:rPr>
                        <m:t>𝑇</m:t>
                      </m:r>
                    </m:oMath>
                  </m:oMathPara>
                </a14:m>
                <a:endParaRPr lang="en-AT" sz="1800">
                  <a:solidFill>
                    <a:srgbClr val="CC0000"/>
                  </a:solidFill>
                  <a:latin typeface="Consolas"/>
                  <a:ea typeface="Consolas"/>
                  <a:cs typeface="Consolas"/>
                </a:endParaRP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9A6CAF50-90C1-48E7-B98D-C13DAC8DE0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9890" y="3640710"/>
                <a:ext cx="3221165" cy="646331"/>
              </a:xfrm>
              <a:prstGeom prst="rect">
                <a:avLst/>
              </a:prstGeom>
              <a:blipFill>
                <a:blip r:embed="rId11"/>
                <a:stretch>
                  <a:fillRect b="-11538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70D63B-E1C8-C62D-C0A1-F1D23C651FE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90</a:t>
            </a:fld>
            <a:endParaRPr lang="de-DE"/>
          </a:p>
        </p:txBody>
      </p:sp>
      <p:sp>
        <p:nvSpPr>
          <p:cNvPr id="21" name="Google Shape;1730;g60be7dcf1c_0_603">
            <a:extLst>
              <a:ext uri="{FF2B5EF4-FFF2-40B4-BE49-F238E27FC236}">
                <a16:creationId xmlns:a16="http://schemas.microsoft.com/office/drawing/2014/main" id="{305AE233-BEAD-F921-AB19-9AB4AEF1B79A}"/>
              </a:ext>
            </a:extLst>
          </p:cNvPr>
          <p:cNvSpPr txBox="1"/>
          <p:nvPr/>
        </p:nvSpPr>
        <p:spPr>
          <a:xfrm>
            <a:off x="3642987" y="5067683"/>
            <a:ext cx="4771400" cy="883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T typically assumed to be doubly stochastic (entries sum to 1).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600" b="1" dirty="0">
              <a:solidFill>
                <a:srgbClr val="CC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Worst T for different networks? </a:t>
            </a:r>
          </a:p>
        </p:txBody>
      </p:sp>
      <p:sp>
        <p:nvSpPr>
          <p:cNvPr id="6" name="Google Shape;1729;g60be7dcf1c_0_603">
            <a:extLst>
              <a:ext uri="{FF2B5EF4-FFF2-40B4-BE49-F238E27FC236}">
                <a16:creationId xmlns:a16="http://schemas.microsoft.com/office/drawing/2014/main" id="{1D277BBF-EA1A-BD6A-0423-4CF15D36271D}"/>
              </a:ext>
            </a:extLst>
          </p:cNvPr>
          <p:cNvSpPr/>
          <p:nvPr/>
        </p:nvSpPr>
        <p:spPr>
          <a:xfrm>
            <a:off x="1048687" y="4764741"/>
            <a:ext cx="1974982" cy="1892276"/>
          </a:xfrm>
          <a:prstGeom prst="ellipse">
            <a:avLst/>
          </a:prstGeom>
          <a:solidFill>
            <a:srgbClr val="93C47D"/>
          </a:solidFill>
          <a:ln w="952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</p:txBody>
      </p:sp>
      <p:sp>
        <p:nvSpPr>
          <p:cNvPr id="7" name="Google Shape;1730;g60be7dcf1c_0_603">
            <a:extLst>
              <a:ext uri="{FF2B5EF4-FFF2-40B4-BE49-F238E27FC236}">
                <a16:creationId xmlns:a16="http://schemas.microsoft.com/office/drawing/2014/main" id="{C132ECE5-3583-3EE6-77B4-144E1AA3A9E1}"/>
              </a:ext>
            </a:extLst>
          </p:cNvPr>
          <p:cNvSpPr txBox="1"/>
          <p:nvPr/>
        </p:nvSpPr>
        <p:spPr>
          <a:xfrm>
            <a:off x="1044940" y="5114230"/>
            <a:ext cx="2042876" cy="883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Definition extends to dynamic networks!</a:t>
            </a:r>
          </a:p>
        </p:txBody>
      </p:sp>
      <p:sp>
        <p:nvSpPr>
          <p:cNvPr id="18" name="Google Shape;1288;g60be7dcf1c_0_204">
            <a:extLst>
              <a:ext uri="{FF2B5EF4-FFF2-40B4-BE49-F238E27FC236}">
                <a16:creationId xmlns:a16="http://schemas.microsoft.com/office/drawing/2014/main" id="{5A22DB5E-A1AA-A886-3E3B-FA39AFAEE7B1}"/>
              </a:ext>
            </a:extLst>
          </p:cNvPr>
          <p:cNvSpPr txBox="1">
            <a:spLocks/>
          </p:cNvSpPr>
          <p:nvPr/>
        </p:nvSpPr>
        <p:spPr>
          <a:xfrm>
            <a:off x="973075" y="149350"/>
            <a:ext cx="8171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lnSpc>
                <a:spcPct val="115000"/>
              </a:lnSpc>
              <a:buSzPts val="1100"/>
            </a:pPr>
            <a: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Demand-Aware Throughput?</a:t>
            </a:r>
            <a:endParaRPr lang="en-GB" sz="2000" dirty="0">
              <a:solidFill>
                <a:schemeClr val="tx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A32901F-761E-CCCB-5F0E-A309901CFC8D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39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3911911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09;g60be7dcf1c_0_222">
            <a:extLst>
              <a:ext uri="{FF2B5EF4-FFF2-40B4-BE49-F238E27FC236}">
                <a16:creationId xmlns:a16="http://schemas.microsoft.com/office/drawing/2014/main" id="{4DE19C73-9916-40CA-87D9-CC4934AE39A5}"/>
              </a:ext>
            </a:extLst>
          </p:cNvPr>
          <p:cNvSpPr txBox="1"/>
          <p:nvPr/>
        </p:nvSpPr>
        <p:spPr>
          <a:xfrm>
            <a:off x="0" y="540000"/>
            <a:ext cx="8170925" cy="55208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14" name="Google Shape;1288;g60be7dcf1c_0_204">
            <a:extLst>
              <a:ext uri="{FF2B5EF4-FFF2-40B4-BE49-F238E27FC236}">
                <a16:creationId xmlns:a16="http://schemas.microsoft.com/office/drawing/2014/main" id="{3A5A658B-C73C-468A-B47B-9E631F9C601D}"/>
              </a:ext>
            </a:extLst>
          </p:cNvPr>
          <p:cNvSpPr txBox="1">
            <a:spLocks/>
          </p:cNvSpPr>
          <p:nvPr/>
        </p:nvSpPr>
        <p:spPr>
          <a:xfrm>
            <a:off x="973075" y="149350"/>
            <a:ext cx="8171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lnSpc>
                <a:spcPct val="115000"/>
              </a:lnSpc>
              <a:buSzPts val="1100"/>
            </a:pPr>
            <a: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Worst </a:t>
            </a:r>
            <a:r>
              <a:rPr lang="en-GB" sz="4000" i="1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 </a:t>
            </a:r>
            <a: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for Oblivious</a:t>
            </a:r>
            <a:endParaRPr lang="en-GB" sz="2000" dirty="0">
              <a:solidFill>
                <a:schemeClr val="tx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0E95C6-E9FE-FA4C-8EA6-D42192E3F67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91</a:t>
            </a:fld>
            <a:endParaRPr lang="de-DE"/>
          </a:p>
        </p:txBody>
      </p:sp>
      <p:sp>
        <p:nvSpPr>
          <p:cNvPr id="4" name="Google Shape;1534;g60be7dcf1c_0_434">
            <a:extLst>
              <a:ext uri="{FF2B5EF4-FFF2-40B4-BE49-F238E27FC236}">
                <a16:creationId xmlns:a16="http://schemas.microsoft.com/office/drawing/2014/main" id="{B83A7F43-C8B2-7F9D-A62C-ED0707C712E4}"/>
              </a:ext>
            </a:extLst>
          </p:cNvPr>
          <p:cNvSpPr txBox="1"/>
          <p:nvPr/>
        </p:nvSpPr>
        <p:spPr>
          <a:xfrm>
            <a:off x="1014964" y="1857623"/>
            <a:ext cx="7609271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⇀ 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E.g., </a:t>
            </a:r>
            <a:r>
              <a:rPr lang="de-DE" sz="1600" dirty="0" err="1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worst</a:t>
            </a:r>
            <a:r>
              <a:rPr lang="de-DE" sz="1600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 T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de-DE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de-DE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oblivious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lang="de-DE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expander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?</a:t>
            </a:r>
            <a:endParaRPr lang="en-GB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" name="Rectangle 14">
            <a:extLst>
              <a:ext uri="{FF2B5EF4-FFF2-40B4-BE49-F238E27FC236}">
                <a16:creationId xmlns:a16="http://schemas.microsoft.com/office/drawing/2014/main" id="{B3481954-C973-5FC7-5D22-291246A7CEA3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40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914002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6">
          <a:extLst>
            <a:ext uri="{FF2B5EF4-FFF2-40B4-BE49-F238E27FC236}">
              <a16:creationId xmlns:a16="http://schemas.microsoft.com/office/drawing/2014/main" id="{42918F38-77E3-1B6B-9F48-054BB06E7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09;g60be7dcf1c_0_222">
            <a:extLst>
              <a:ext uri="{FF2B5EF4-FFF2-40B4-BE49-F238E27FC236}">
                <a16:creationId xmlns:a16="http://schemas.microsoft.com/office/drawing/2014/main" id="{5B16D285-187B-5BEF-54F7-F50FBF24CD87}"/>
              </a:ext>
            </a:extLst>
          </p:cNvPr>
          <p:cNvSpPr txBox="1"/>
          <p:nvPr/>
        </p:nvSpPr>
        <p:spPr>
          <a:xfrm>
            <a:off x="0" y="540000"/>
            <a:ext cx="8170925" cy="55208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14" name="Google Shape;1288;g60be7dcf1c_0_204">
            <a:extLst>
              <a:ext uri="{FF2B5EF4-FFF2-40B4-BE49-F238E27FC236}">
                <a16:creationId xmlns:a16="http://schemas.microsoft.com/office/drawing/2014/main" id="{53EFFE47-8506-2684-1F75-A83CFB5D7F6D}"/>
              </a:ext>
            </a:extLst>
          </p:cNvPr>
          <p:cNvSpPr txBox="1">
            <a:spLocks/>
          </p:cNvSpPr>
          <p:nvPr/>
        </p:nvSpPr>
        <p:spPr>
          <a:xfrm>
            <a:off x="973075" y="149350"/>
            <a:ext cx="8171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lnSpc>
                <a:spcPct val="115000"/>
              </a:lnSpc>
              <a:buSzPts val="1100"/>
            </a:pPr>
            <a: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Worst </a:t>
            </a:r>
            <a:r>
              <a:rPr lang="en-GB" sz="4000" i="1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for Oblivious</a:t>
            </a:r>
            <a:endParaRPr lang="en-GB" sz="2000" dirty="0">
              <a:solidFill>
                <a:schemeClr val="tx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8" name="Google Shape;1444;g60be7dcf1c_0_334">
            <a:extLst>
              <a:ext uri="{FF2B5EF4-FFF2-40B4-BE49-F238E27FC236}">
                <a16:creationId xmlns:a16="http://schemas.microsoft.com/office/drawing/2014/main" id="{18F35E79-BFD6-00AE-E7F1-72DE7647F3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2059" t="9875" r="14942" b="16257"/>
          <a:stretch/>
        </p:blipFill>
        <p:spPr>
          <a:xfrm>
            <a:off x="2077390" y="3068842"/>
            <a:ext cx="1478977" cy="1496677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E75729A-2D8F-5251-9799-06BEDB71EF02}"/>
                  </a:ext>
                </a:extLst>
              </p:cNvPr>
              <p:cNvSpPr txBox="1"/>
              <p:nvPr/>
            </p:nvSpPr>
            <p:spPr>
              <a:xfrm>
                <a:off x="1419574" y="3544193"/>
                <a:ext cx="537518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IL"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E75729A-2D8F-5251-9799-06BEDB71EF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9574" y="3544193"/>
                <a:ext cx="537518" cy="553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32676CA5-134D-E166-BBBB-99AE16BA7399}"/>
              </a:ext>
            </a:extLst>
          </p:cNvPr>
          <p:cNvSpPr/>
          <p:nvPr/>
        </p:nvSpPr>
        <p:spPr>
          <a:xfrm>
            <a:off x="2079681" y="2631859"/>
            <a:ext cx="147668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Demand Matrix</a:t>
            </a:r>
            <a:endParaRPr lang="en-IL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C4635C5-2E43-9D6F-9A68-718A2E65A1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5163" y="3066257"/>
            <a:ext cx="2996775" cy="1615699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6DAC03-DB4C-0E82-3DC3-1EA5D277ED3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92</a:t>
            </a:fld>
            <a:endParaRPr lang="de-DE"/>
          </a:p>
        </p:txBody>
      </p:sp>
      <p:sp>
        <p:nvSpPr>
          <p:cNvPr id="18" name="Google Shape;1534;g60be7dcf1c_0_434">
            <a:extLst>
              <a:ext uri="{FF2B5EF4-FFF2-40B4-BE49-F238E27FC236}">
                <a16:creationId xmlns:a16="http://schemas.microsoft.com/office/drawing/2014/main" id="{8F0CAB93-B534-254C-4A69-2DF7A1F53A1F}"/>
              </a:ext>
            </a:extLst>
          </p:cNvPr>
          <p:cNvSpPr txBox="1"/>
          <p:nvPr/>
        </p:nvSpPr>
        <p:spPr>
          <a:xfrm>
            <a:off x="1814763" y="4538988"/>
            <a:ext cx="2463265" cy="460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Permutation</a:t>
            </a:r>
            <a:r>
              <a:rPr lang="en-GB" sz="1600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 dirty="0">
                <a:solidFill>
                  <a:schemeClr val="dk1"/>
                </a:solidFill>
                <a:latin typeface="Consolas"/>
                <a:cs typeface="Consolas"/>
                <a:sym typeface="Consolas"/>
              </a:rPr>
              <a:t>matrix is the </a:t>
            </a:r>
            <a:r>
              <a:rPr lang="en-GB" sz="1600" dirty="0">
                <a:solidFill>
                  <a:srgbClr val="C00000"/>
                </a:solidFill>
                <a:latin typeface="Consolas"/>
                <a:cs typeface="Consolas"/>
                <a:sym typeface="Consolas"/>
              </a:rPr>
              <a:t>worst demand</a:t>
            </a:r>
            <a:endParaRPr lang="en-US" sz="1600" dirty="0">
              <a:solidFill>
                <a:srgbClr val="C00000"/>
              </a:solidFill>
              <a:latin typeface="Consolas"/>
              <a:cs typeface="Consolas"/>
              <a:sym typeface="Consolas"/>
            </a:endParaRPr>
          </a:p>
        </p:txBody>
      </p:sp>
      <p:sp>
        <p:nvSpPr>
          <p:cNvPr id="4" name="Google Shape;1534;g60be7dcf1c_0_434">
            <a:extLst>
              <a:ext uri="{FF2B5EF4-FFF2-40B4-BE49-F238E27FC236}">
                <a16:creationId xmlns:a16="http://schemas.microsoft.com/office/drawing/2014/main" id="{982690E2-DE25-E7F3-0A6D-A07C4C8378C3}"/>
              </a:ext>
            </a:extLst>
          </p:cNvPr>
          <p:cNvSpPr txBox="1"/>
          <p:nvPr/>
        </p:nvSpPr>
        <p:spPr>
          <a:xfrm>
            <a:off x="1014964" y="1857623"/>
            <a:ext cx="7609271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⇀ 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E.g., </a:t>
            </a:r>
            <a:r>
              <a:rPr lang="de-DE" sz="1600" dirty="0" err="1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worst</a:t>
            </a:r>
            <a:r>
              <a:rPr lang="de-DE" sz="1600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 T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de-DE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de-DE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oblivious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lang="de-DE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expander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?</a:t>
            </a:r>
            <a:endParaRPr lang="en-GB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" name="Rectangle 14">
            <a:extLst>
              <a:ext uri="{FF2B5EF4-FFF2-40B4-BE49-F238E27FC236}">
                <a16:creationId xmlns:a16="http://schemas.microsoft.com/office/drawing/2014/main" id="{63F53D96-34CB-8238-3B52-84A1F074F3C1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40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1314877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6">
          <a:extLst>
            <a:ext uri="{FF2B5EF4-FFF2-40B4-BE49-F238E27FC236}">
              <a16:creationId xmlns:a16="http://schemas.microsoft.com/office/drawing/2014/main" id="{DD2262CF-B889-A462-EC37-055E78B5D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09;g60be7dcf1c_0_222">
            <a:extLst>
              <a:ext uri="{FF2B5EF4-FFF2-40B4-BE49-F238E27FC236}">
                <a16:creationId xmlns:a16="http://schemas.microsoft.com/office/drawing/2014/main" id="{3E702F3C-FAFA-5E5B-45B9-1DE7C908CA81}"/>
              </a:ext>
            </a:extLst>
          </p:cNvPr>
          <p:cNvSpPr txBox="1"/>
          <p:nvPr/>
        </p:nvSpPr>
        <p:spPr>
          <a:xfrm>
            <a:off x="0" y="540000"/>
            <a:ext cx="8170925" cy="55208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14" name="Google Shape;1288;g60be7dcf1c_0_204">
            <a:extLst>
              <a:ext uri="{FF2B5EF4-FFF2-40B4-BE49-F238E27FC236}">
                <a16:creationId xmlns:a16="http://schemas.microsoft.com/office/drawing/2014/main" id="{BF24C6FD-0ACE-950E-F61A-24BED291C695}"/>
              </a:ext>
            </a:extLst>
          </p:cNvPr>
          <p:cNvSpPr txBox="1">
            <a:spLocks/>
          </p:cNvSpPr>
          <p:nvPr/>
        </p:nvSpPr>
        <p:spPr>
          <a:xfrm>
            <a:off x="973075" y="149350"/>
            <a:ext cx="8171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lnSpc>
                <a:spcPct val="115000"/>
              </a:lnSpc>
              <a:buSzPts val="1100"/>
            </a:pPr>
            <a: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Worst </a:t>
            </a:r>
            <a:r>
              <a:rPr lang="en-GB" sz="4000" i="1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for Oblivious</a:t>
            </a:r>
            <a:endParaRPr lang="en-GB" sz="2000" dirty="0">
              <a:solidFill>
                <a:schemeClr val="tx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8" name="Google Shape;1444;g60be7dcf1c_0_334">
            <a:extLst>
              <a:ext uri="{FF2B5EF4-FFF2-40B4-BE49-F238E27FC236}">
                <a16:creationId xmlns:a16="http://schemas.microsoft.com/office/drawing/2014/main" id="{4EC32753-281A-E651-29CC-A3050CB9F58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2059" t="9875" r="14942" b="16257"/>
          <a:stretch/>
        </p:blipFill>
        <p:spPr>
          <a:xfrm>
            <a:off x="2077390" y="3068842"/>
            <a:ext cx="1478977" cy="1496677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3C55059-33EB-4C0B-5AEB-DF757BA395BC}"/>
                  </a:ext>
                </a:extLst>
              </p:cNvPr>
              <p:cNvSpPr txBox="1"/>
              <p:nvPr/>
            </p:nvSpPr>
            <p:spPr>
              <a:xfrm>
                <a:off x="1419574" y="3544193"/>
                <a:ext cx="537518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IL"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3C55059-33EB-4C0B-5AEB-DF757BA395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9574" y="3544193"/>
                <a:ext cx="537518" cy="553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2B54E9D8-C054-38FF-7FFA-F49180446589}"/>
              </a:ext>
            </a:extLst>
          </p:cNvPr>
          <p:cNvSpPr/>
          <p:nvPr/>
        </p:nvSpPr>
        <p:spPr>
          <a:xfrm>
            <a:off x="2079681" y="2631859"/>
            <a:ext cx="147668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Demand Matrix</a:t>
            </a:r>
            <a:endParaRPr lang="en-IL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65A6786-D67E-4DC0-4DDE-3690F98B07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5163" y="3066257"/>
            <a:ext cx="2996775" cy="1615699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AE1F91-2188-4A4E-CD4B-EB2EAE9E5F7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93</a:t>
            </a:fld>
            <a:endParaRPr lang="de-DE"/>
          </a:p>
        </p:txBody>
      </p:sp>
      <p:sp>
        <p:nvSpPr>
          <p:cNvPr id="18" name="Google Shape;1534;g60be7dcf1c_0_434">
            <a:extLst>
              <a:ext uri="{FF2B5EF4-FFF2-40B4-BE49-F238E27FC236}">
                <a16:creationId xmlns:a16="http://schemas.microsoft.com/office/drawing/2014/main" id="{7B3F164E-5264-685D-0F36-F4A23C69DE86}"/>
              </a:ext>
            </a:extLst>
          </p:cNvPr>
          <p:cNvSpPr txBox="1"/>
          <p:nvPr/>
        </p:nvSpPr>
        <p:spPr>
          <a:xfrm>
            <a:off x="1814763" y="4538988"/>
            <a:ext cx="2463265" cy="460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Permutation</a:t>
            </a:r>
            <a:r>
              <a:rPr lang="en-GB" sz="1600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 dirty="0">
                <a:solidFill>
                  <a:schemeClr val="dk1"/>
                </a:solidFill>
                <a:latin typeface="Consolas"/>
                <a:cs typeface="Consolas"/>
                <a:sym typeface="Consolas"/>
              </a:rPr>
              <a:t>matrix is the </a:t>
            </a:r>
            <a:r>
              <a:rPr lang="en-GB" sz="1600" dirty="0">
                <a:solidFill>
                  <a:srgbClr val="C00000"/>
                </a:solidFill>
                <a:latin typeface="Consolas"/>
                <a:cs typeface="Consolas"/>
                <a:sym typeface="Consolas"/>
              </a:rPr>
              <a:t>worst demand</a:t>
            </a:r>
            <a:endParaRPr lang="en-US" sz="1600" dirty="0">
              <a:solidFill>
                <a:srgbClr val="C00000"/>
              </a:solidFill>
              <a:latin typeface="Consolas"/>
              <a:cs typeface="Consolas"/>
              <a:sym typeface="Consolas"/>
            </a:endParaRPr>
          </a:p>
        </p:txBody>
      </p:sp>
      <p:sp>
        <p:nvSpPr>
          <p:cNvPr id="4" name="Google Shape;1534;g60be7dcf1c_0_434">
            <a:extLst>
              <a:ext uri="{FF2B5EF4-FFF2-40B4-BE49-F238E27FC236}">
                <a16:creationId xmlns:a16="http://schemas.microsoft.com/office/drawing/2014/main" id="{0E5FE8C0-C72E-CD69-D2EB-19D235F52CC9}"/>
              </a:ext>
            </a:extLst>
          </p:cNvPr>
          <p:cNvSpPr txBox="1"/>
          <p:nvPr/>
        </p:nvSpPr>
        <p:spPr>
          <a:xfrm>
            <a:off x="1014964" y="1857623"/>
            <a:ext cx="7609271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⇀ 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E.g., </a:t>
            </a:r>
            <a:r>
              <a:rPr lang="de-DE" sz="1600" dirty="0" err="1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worst</a:t>
            </a:r>
            <a:r>
              <a:rPr lang="de-DE" sz="1600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 T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de-DE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de-DE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oblivious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lang="de-DE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expander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?</a:t>
            </a:r>
            <a:endParaRPr lang="en-GB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" name="Google Shape;1534;g60be7dcf1c_0_434">
            <a:extLst>
              <a:ext uri="{FF2B5EF4-FFF2-40B4-BE49-F238E27FC236}">
                <a16:creationId xmlns:a16="http://schemas.microsoft.com/office/drawing/2014/main" id="{5D35EF0F-2AFC-1E23-D27C-7CD2DAE2A391}"/>
              </a:ext>
            </a:extLst>
          </p:cNvPr>
          <p:cNvSpPr txBox="1"/>
          <p:nvPr/>
        </p:nvSpPr>
        <p:spPr>
          <a:xfrm>
            <a:off x="1002980" y="5898806"/>
            <a:ext cx="7609271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⇀ </a:t>
            </a:r>
            <a:r>
              <a:rPr lang="de-DE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Actually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de-DE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the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de-DE" sz="1600" dirty="0" err="1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best</a:t>
            </a:r>
            <a:r>
              <a:rPr lang="de-DE" sz="1600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 T </a:t>
            </a:r>
            <a:r>
              <a:rPr lang="de-DE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de-DE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demand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-aware!</a:t>
            </a:r>
            <a:endParaRPr lang="en-GB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" name="Rectangle 14">
            <a:extLst>
              <a:ext uri="{FF2B5EF4-FFF2-40B4-BE49-F238E27FC236}">
                <a16:creationId xmlns:a16="http://schemas.microsoft.com/office/drawing/2014/main" id="{6AAF1BB3-7EF3-2DB9-9550-6440120E6F4C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40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5773274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6">
          <a:extLst>
            <a:ext uri="{FF2B5EF4-FFF2-40B4-BE49-F238E27FC236}">
              <a16:creationId xmlns:a16="http://schemas.microsoft.com/office/drawing/2014/main" id="{B5041F6F-2A00-CEDE-92D9-0FBF86C34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Google Shape;1534;g60be7dcf1c_0_434">
                <a:extLst>
                  <a:ext uri="{FF2B5EF4-FFF2-40B4-BE49-F238E27FC236}">
                    <a16:creationId xmlns:a16="http://schemas.microsoft.com/office/drawing/2014/main" id="{304F8F7F-83E4-6C92-AFE9-28885C2B1C98}"/>
                  </a:ext>
                </a:extLst>
              </p:cNvPr>
              <p:cNvSpPr txBox="1"/>
              <p:nvPr/>
            </p:nvSpPr>
            <p:spPr>
              <a:xfrm>
                <a:off x="1014965" y="1978203"/>
                <a:ext cx="7507840" cy="2114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>
                  <a:lnSpc>
                    <a:spcPct val="115000"/>
                  </a:lnSpc>
                </a:pPr>
                <a:r>
                  <a:rPr lang="en-GB" sz="16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⇀ </a:t>
                </a:r>
                <a:r>
                  <a:rPr lang="de-DE" sz="1600" b="1" dirty="0" err="1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Known</a:t>
                </a:r>
                <a:r>
                  <a:rPr lang="de-DE" sz="1600" b="1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: </a:t>
                </a:r>
                <a:r>
                  <a:rPr lang="de-DE" sz="1600" dirty="0" err="1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worst</a:t>
                </a:r>
                <a:r>
                  <a:rPr lang="de-DE" sz="16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 </a:t>
                </a:r>
                <a:r>
                  <a:rPr lang="de-DE" sz="1600" dirty="0" err="1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case</a:t>
                </a:r>
                <a:r>
                  <a:rPr lang="de-DE" sz="16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 </a:t>
                </a:r>
                <a:r>
                  <a:rPr lang="de-DE" sz="1600" dirty="0" err="1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throughput</a:t>
                </a:r>
                <a:r>
                  <a:rPr lang="de-DE" sz="16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 </a:t>
                </a:r>
                <a14:m>
                  <m:oMath xmlns:m="http://schemas.openxmlformats.org/officeDocument/2006/math">
                    <m:r>
                      <a:rPr lang="el-GR" sz="16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  <m:r>
                      <a:rPr lang="de-DE" sz="1600" b="1" i="1" baseline="3000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∗</m:t>
                    </m:r>
                  </m:oMath>
                </a14:m>
                <a:r>
                  <a:rPr lang="de-DE" sz="16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 of</a:t>
                </a:r>
              </a:p>
              <a:p>
                <a:pPr lvl="0">
                  <a:lnSpc>
                    <a:spcPct val="115000"/>
                  </a:lnSpc>
                </a:pPr>
                <a:r>
                  <a:rPr lang="de-DE" sz="16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   </a:t>
                </a:r>
                <a:r>
                  <a:rPr lang="de-DE" sz="1600" b="1" i="1" dirty="0" err="1">
                    <a:solidFill>
                      <a:srgbClr val="C0000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demand-oblivious</a:t>
                </a:r>
                <a:r>
                  <a:rPr lang="de-DE" sz="1600" b="1" i="1" dirty="0">
                    <a:solidFill>
                      <a:srgbClr val="C0000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 </a:t>
                </a:r>
                <a:r>
                  <a:rPr lang="de-DE" sz="1600" dirty="0" err="1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networks</a:t>
                </a:r>
                <a:r>
                  <a:rPr lang="de-DE" sz="16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 at </a:t>
                </a:r>
                <a:r>
                  <a:rPr lang="de-DE" sz="1600" dirty="0" err="1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most</a:t>
                </a:r>
                <a:r>
                  <a:rPr lang="de-DE" sz="16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 </a:t>
                </a:r>
                <a:r>
                  <a:rPr lang="de-DE" sz="1600" b="1" i="1" dirty="0">
                    <a:solidFill>
                      <a:srgbClr val="C0000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½</a:t>
                </a:r>
                <a:r>
                  <a:rPr lang="de-DE" sz="16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 (</a:t>
                </a:r>
                <a:r>
                  <a:rPr lang="de-DE" sz="1600" dirty="0" err="1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tight</a:t>
                </a:r>
                <a:r>
                  <a:rPr lang="de-DE" sz="16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)</a:t>
                </a:r>
              </a:p>
              <a:p>
                <a:pPr lvl="0">
                  <a:lnSpc>
                    <a:spcPct val="115000"/>
                  </a:lnSpc>
                </a:pPr>
                <a:r>
                  <a:rPr lang="de-DE" sz="16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   </a:t>
                </a:r>
                <a:r>
                  <a:rPr lang="en-GB" sz="16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⇀ Due to </a:t>
                </a:r>
                <a:r>
                  <a:rPr lang="en-GB" sz="1600" dirty="0" err="1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Keslassy</a:t>
                </a:r>
                <a:r>
                  <a:rPr lang="en-GB" sz="16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, Chang, McKeown, Lee.</a:t>
                </a:r>
              </a:p>
              <a:p>
                <a:pPr lvl="0">
                  <a:lnSpc>
                    <a:spcPct val="115000"/>
                  </a:lnSpc>
                </a:pPr>
                <a:r>
                  <a:rPr lang="de-DE" sz="16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   </a:t>
                </a:r>
                <a:r>
                  <a:rPr lang="en-GB" sz="16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⇀ They consider </a:t>
                </a:r>
                <a:r>
                  <a:rPr lang="en-GB" sz="1600" dirty="0">
                    <a:solidFill>
                      <a:srgbClr val="C0000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(2n-1)-regular </a:t>
                </a:r>
                <a:r>
                  <a:rPr lang="en-GB" sz="16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networks</a:t>
                </a:r>
              </a:p>
              <a:p>
                <a:pPr lvl="0">
                  <a:lnSpc>
                    <a:spcPct val="115000"/>
                  </a:lnSpc>
                </a:pPr>
                <a:r>
                  <a:rPr lang="en-GB" sz="16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   ⇀ </a:t>
                </a:r>
                <a:r>
                  <a:rPr lang="en-GB" sz="1600" b="1" i="1" dirty="0">
                    <a:solidFill>
                      <a:srgbClr val="C0000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Best</a:t>
                </a:r>
                <a:r>
                  <a:rPr lang="en-GB" sz="16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 </a:t>
                </a:r>
                <a:r>
                  <a:rPr lang="en-GB" sz="1600" b="1" i="1" dirty="0">
                    <a:solidFill>
                      <a:srgbClr val="C0000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oblivious network</a:t>
                </a:r>
                <a:r>
                  <a:rPr lang="en-GB" sz="16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: </a:t>
                </a:r>
              </a:p>
              <a:p>
                <a:pPr lvl="0">
                  <a:lnSpc>
                    <a:spcPct val="115000"/>
                  </a:lnSpc>
                </a:pPr>
                <a:r>
                  <a:rPr lang="en-GB" sz="1600" b="1" i="1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      </a:t>
                </a:r>
                <a:r>
                  <a:rPr lang="en-GB" sz="1600" dirty="0">
                    <a:solidFill>
                      <a:srgbClr val="C0000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two links </a:t>
                </a:r>
                <a:r>
                  <a:rPr lang="en-GB" sz="16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to every other node</a:t>
                </a:r>
              </a:p>
              <a:p>
                <a:pPr lvl="0">
                  <a:lnSpc>
                    <a:spcPct val="115000"/>
                  </a:lnSpc>
                </a:pPr>
                <a:endParaRPr lang="en-GB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  <a:p>
                <a:pPr lvl="0">
                  <a:lnSpc>
                    <a:spcPct val="115000"/>
                  </a:lnSpc>
                </a:pPr>
                <a:endParaRPr lang="en-GB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  <a:p>
                <a:pPr lvl="0">
                  <a:lnSpc>
                    <a:spcPct val="115000"/>
                  </a:lnSpc>
                </a:pPr>
                <a:endParaRPr lang="en-GB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  <a:p>
                <a:pPr lvl="0">
                  <a:lnSpc>
                    <a:spcPct val="115000"/>
                  </a:lnSpc>
                </a:pPr>
                <a:endParaRPr lang="en-GB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  <a:p>
                <a:pPr lvl="0">
                  <a:lnSpc>
                    <a:spcPct val="115000"/>
                  </a:lnSpc>
                </a:pPr>
                <a:endParaRPr lang="de-DE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  <a:p>
                <a:endParaRPr lang="de-DE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  <a:p>
                <a:pPr lvl="0">
                  <a:lnSpc>
                    <a:spcPct val="115000"/>
                  </a:lnSpc>
                </a:pPr>
                <a:endParaRPr lang="de-DE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  <a:p>
                <a:pPr lvl="0">
                  <a:lnSpc>
                    <a:spcPct val="115000"/>
                  </a:lnSpc>
                </a:pPr>
                <a:endParaRPr lang="de-DE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  <a:p>
                <a:pPr lvl="0">
                  <a:lnSpc>
                    <a:spcPct val="115000"/>
                  </a:lnSpc>
                </a:pPr>
                <a:endParaRPr lang="de-DE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  <a:p>
                <a:pPr lvl="0">
                  <a:lnSpc>
                    <a:spcPct val="115000"/>
                  </a:lnSpc>
                </a:pPr>
                <a:endParaRPr lang="de-DE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  <a:p>
                <a:pPr lvl="0">
                  <a:lnSpc>
                    <a:spcPct val="115000"/>
                  </a:lnSpc>
                </a:pPr>
                <a:endParaRPr lang="de-DE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  <a:p>
                <a:pPr lvl="0">
                  <a:lnSpc>
                    <a:spcPct val="115000"/>
                  </a:lnSpc>
                </a:pPr>
                <a:endParaRPr lang="de-DE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  <a:p>
                <a:pPr lvl="0">
                  <a:lnSpc>
                    <a:spcPct val="115000"/>
                  </a:lnSpc>
                </a:pPr>
                <a:endParaRPr lang="de-DE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</mc:Choice>
        <mc:Fallback xmlns="">
          <p:sp>
            <p:nvSpPr>
              <p:cNvPr id="19" name="Google Shape;1534;g60be7dcf1c_0_434">
                <a:extLst>
                  <a:ext uri="{FF2B5EF4-FFF2-40B4-BE49-F238E27FC236}">
                    <a16:creationId xmlns:a16="http://schemas.microsoft.com/office/drawing/2014/main" id="{304F8F7F-83E4-6C92-AFE9-28885C2B1C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4965" y="1978203"/>
                <a:ext cx="7507840" cy="2114707"/>
              </a:xfrm>
              <a:prstGeom prst="rect">
                <a:avLst/>
              </a:prstGeom>
              <a:blipFill>
                <a:blip r:embed="rId3"/>
                <a:stretch>
                  <a:fillRect l="-40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1656;g60be7dcf1c_0_555">
            <a:extLst>
              <a:ext uri="{FF2B5EF4-FFF2-40B4-BE49-F238E27FC236}">
                <a16:creationId xmlns:a16="http://schemas.microsoft.com/office/drawing/2014/main" id="{00C059F3-F98C-4867-06F0-01111CEBA668}"/>
              </a:ext>
            </a:extLst>
          </p:cNvPr>
          <p:cNvSpPr txBox="1"/>
          <p:nvPr/>
        </p:nvSpPr>
        <p:spPr>
          <a:xfrm>
            <a:off x="0" y="540000"/>
            <a:ext cx="8211000" cy="101893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9" name="Google Shape;1657;g60be7dcf1c_0_555">
            <a:extLst>
              <a:ext uri="{FF2B5EF4-FFF2-40B4-BE49-F238E27FC236}">
                <a16:creationId xmlns:a16="http://schemas.microsoft.com/office/drawing/2014/main" id="{0BBE7EF2-E26B-51BE-CA7E-421EAA89AD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3075" y="26970"/>
            <a:ext cx="8171100" cy="1573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l">
              <a:buSzPts val="1100"/>
            </a:pPr>
            <a:br>
              <a:rPr lang="en-GB" sz="2000" dirty="0"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2000" dirty="0">
                <a:latin typeface="Consolas"/>
                <a:ea typeface="Consolas"/>
                <a:cs typeface="Consolas"/>
                <a:sym typeface="Consolas"/>
              </a:rPr>
              <a:t>Challenge: Demand-Aware Throughput </a:t>
            </a:r>
            <a:endParaRPr lang="en-GB" sz="40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4000" dirty="0">
                <a:latin typeface="Consolas"/>
                <a:ea typeface="Consolas"/>
                <a:cs typeface="Consolas"/>
                <a:sym typeface="Consolas"/>
              </a:rPr>
              <a:t>Constructive Separation?</a:t>
            </a:r>
            <a:endParaRPr lang="en-GB" sz="4000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AB34A8EC-F804-203F-0D67-40D0DD4A20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5699" y="1614759"/>
            <a:ext cx="2333468" cy="2114706"/>
          </a:xfrm>
          <a:prstGeom prst="rect">
            <a:avLst/>
          </a:prstGeom>
        </p:spPr>
      </p:pic>
      <p:sp>
        <p:nvSpPr>
          <p:cNvPr id="3" name="Rechteck 2">
            <a:extLst>
              <a:ext uri="{FF2B5EF4-FFF2-40B4-BE49-F238E27FC236}">
                <a16:creationId xmlns:a16="http://schemas.microsoft.com/office/drawing/2014/main" id="{AB3D2B1C-122F-5729-1264-55E640A8C7DF}"/>
              </a:ext>
            </a:extLst>
          </p:cNvPr>
          <p:cNvSpPr/>
          <p:nvPr/>
        </p:nvSpPr>
        <p:spPr>
          <a:xfrm>
            <a:off x="2216426" y="3851413"/>
            <a:ext cx="1023731" cy="1292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BDAAD3-BE7B-73A6-BF60-87CB830CAD9B}"/>
              </a:ext>
            </a:extLst>
          </p:cNvPr>
          <p:cNvSpPr txBox="1"/>
          <p:nvPr/>
        </p:nvSpPr>
        <p:spPr>
          <a:xfrm>
            <a:off x="3691585" y="3956349"/>
            <a:ext cx="4960188" cy="2580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</a:pPr>
            <a:r>
              <a:rPr lang="de-DE" sz="1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* Same bound also holds for </a:t>
            </a:r>
            <a:r>
              <a:rPr lang="de-DE" sz="1000" b="1" i="1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dynamic</a:t>
            </a:r>
            <a:r>
              <a:rPr lang="de-DE" sz="1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oblivious networks</a:t>
            </a:r>
          </a:p>
        </p:txBody>
      </p:sp>
    </p:spTree>
    <p:extLst>
      <p:ext uri="{BB962C8B-B14F-4D97-AF65-F5344CB8AC3E}">
        <p14:creationId xmlns:p14="http://schemas.microsoft.com/office/powerpoint/2010/main" val="566413461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6">
          <a:extLst>
            <a:ext uri="{FF2B5EF4-FFF2-40B4-BE49-F238E27FC236}">
              <a16:creationId xmlns:a16="http://schemas.microsoft.com/office/drawing/2014/main" id="{DB040236-EB5B-C9E9-D60F-6B81A89FA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Google Shape;1534;g60be7dcf1c_0_434">
                <a:extLst>
                  <a:ext uri="{FF2B5EF4-FFF2-40B4-BE49-F238E27FC236}">
                    <a16:creationId xmlns:a16="http://schemas.microsoft.com/office/drawing/2014/main" id="{7BE98C13-85A9-24D1-58ED-F6CAFBD5F31F}"/>
                  </a:ext>
                </a:extLst>
              </p:cNvPr>
              <p:cNvSpPr txBox="1"/>
              <p:nvPr/>
            </p:nvSpPr>
            <p:spPr>
              <a:xfrm>
                <a:off x="1014965" y="1978203"/>
                <a:ext cx="7507840" cy="2114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>
                  <a:lnSpc>
                    <a:spcPct val="115000"/>
                  </a:lnSpc>
                </a:pPr>
                <a:r>
                  <a:rPr lang="en-GB" sz="16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⇀ </a:t>
                </a:r>
                <a:r>
                  <a:rPr lang="de-DE" sz="1600" b="1" dirty="0" err="1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Known</a:t>
                </a:r>
                <a:r>
                  <a:rPr lang="de-DE" sz="1600" b="1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: </a:t>
                </a:r>
                <a:r>
                  <a:rPr lang="de-DE" sz="1600" dirty="0" err="1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worst</a:t>
                </a:r>
                <a:r>
                  <a:rPr lang="de-DE" sz="16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 </a:t>
                </a:r>
                <a:r>
                  <a:rPr lang="de-DE" sz="1600" dirty="0" err="1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case</a:t>
                </a:r>
                <a:r>
                  <a:rPr lang="de-DE" sz="16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 </a:t>
                </a:r>
                <a:r>
                  <a:rPr lang="de-DE" sz="1600" dirty="0" err="1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throughput</a:t>
                </a:r>
                <a:r>
                  <a:rPr lang="de-DE" sz="16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 </a:t>
                </a:r>
                <a14:m>
                  <m:oMath xmlns:m="http://schemas.openxmlformats.org/officeDocument/2006/math">
                    <m:r>
                      <a:rPr lang="el-GR" sz="16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  <m:r>
                      <a:rPr lang="de-DE" sz="1600" b="1" i="1" baseline="3000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∗</m:t>
                    </m:r>
                  </m:oMath>
                </a14:m>
                <a:r>
                  <a:rPr lang="de-DE" sz="16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 of</a:t>
                </a:r>
              </a:p>
              <a:p>
                <a:pPr lvl="0">
                  <a:lnSpc>
                    <a:spcPct val="115000"/>
                  </a:lnSpc>
                </a:pPr>
                <a:r>
                  <a:rPr lang="de-DE" sz="16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   </a:t>
                </a:r>
                <a:r>
                  <a:rPr lang="de-DE" sz="1600" b="1" i="1" dirty="0" err="1">
                    <a:solidFill>
                      <a:srgbClr val="C0000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demand-oblivious</a:t>
                </a:r>
                <a:r>
                  <a:rPr lang="de-DE" sz="1600" b="1" i="1" dirty="0">
                    <a:solidFill>
                      <a:srgbClr val="C0000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 </a:t>
                </a:r>
                <a:r>
                  <a:rPr lang="de-DE" sz="1600" dirty="0" err="1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networks</a:t>
                </a:r>
                <a:r>
                  <a:rPr lang="de-DE" sz="16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 at </a:t>
                </a:r>
                <a:r>
                  <a:rPr lang="de-DE" sz="1600" dirty="0" err="1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most</a:t>
                </a:r>
                <a:r>
                  <a:rPr lang="de-DE" sz="16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 </a:t>
                </a:r>
                <a:r>
                  <a:rPr lang="de-DE" sz="1600" b="1" i="1" dirty="0">
                    <a:solidFill>
                      <a:srgbClr val="C0000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½</a:t>
                </a:r>
                <a:r>
                  <a:rPr lang="de-DE" sz="16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 (</a:t>
                </a:r>
                <a:r>
                  <a:rPr lang="de-DE" sz="1600" dirty="0" err="1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tight</a:t>
                </a:r>
                <a:r>
                  <a:rPr lang="de-DE" sz="16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)</a:t>
                </a:r>
              </a:p>
              <a:p>
                <a:pPr lvl="0">
                  <a:lnSpc>
                    <a:spcPct val="115000"/>
                  </a:lnSpc>
                </a:pPr>
                <a:r>
                  <a:rPr lang="de-DE" sz="16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   </a:t>
                </a:r>
                <a:r>
                  <a:rPr lang="en-GB" sz="16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⇀ Due to </a:t>
                </a:r>
                <a:r>
                  <a:rPr lang="en-GB" sz="1600" dirty="0" err="1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Keslassy</a:t>
                </a:r>
                <a:r>
                  <a:rPr lang="en-GB" sz="16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, Chang, McKeown, Lee.</a:t>
                </a:r>
              </a:p>
              <a:p>
                <a:pPr lvl="0">
                  <a:lnSpc>
                    <a:spcPct val="115000"/>
                  </a:lnSpc>
                </a:pPr>
                <a:r>
                  <a:rPr lang="de-DE" sz="16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   </a:t>
                </a:r>
                <a:r>
                  <a:rPr lang="en-GB" sz="16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⇀ They consider </a:t>
                </a:r>
                <a:r>
                  <a:rPr lang="en-GB" sz="1600" dirty="0">
                    <a:solidFill>
                      <a:srgbClr val="C0000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(2n-1)-regular </a:t>
                </a:r>
                <a:r>
                  <a:rPr lang="en-GB" sz="16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networks</a:t>
                </a:r>
              </a:p>
              <a:p>
                <a:pPr lvl="0">
                  <a:lnSpc>
                    <a:spcPct val="115000"/>
                  </a:lnSpc>
                </a:pPr>
                <a:r>
                  <a:rPr lang="en-GB" sz="16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   ⇀ </a:t>
                </a:r>
                <a:r>
                  <a:rPr lang="en-GB" sz="1600" b="1" i="1" dirty="0">
                    <a:solidFill>
                      <a:srgbClr val="C0000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Best</a:t>
                </a:r>
                <a:r>
                  <a:rPr lang="en-GB" sz="16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 </a:t>
                </a:r>
                <a:r>
                  <a:rPr lang="en-GB" sz="1600" b="1" i="1" dirty="0">
                    <a:solidFill>
                      <a:srgbClr val="C0000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oblivious network</a:t>
                </a:r>
                <a:r>
                  <a:rPr lang="en-GB" sz="16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: </a:t>
                </a:r>
              </a:p>
              <a:p>
                <a:pPr lvl="0">
                  <a:lnSpc>
                    <a:spcPct val="115000"/>
                  </a:lnSpc>
                </a:pPr>
                <a:r>
                  <a:rPr lang="en-GB" sz="1600" b="1" i="1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      </a:t>
                </a:r>
                <a:r>
                  <a:rPr lang="en-GB" sz="1600" dirty="0">
                    <a:solidFill>
                      <a:srgbClr val="C0000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two links </a:t>
                </a:r>
                <a:r>
                  <a:rPr lang="en-GB" sz="16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to every other node</a:t>
                </a:r>
              </a:p>
              <a:p>
                <a:pPr lvl="0">
                  <a:lnSpc>
                    <a:spcPct val="115000"/>
                  </a:lnSpc>
                </a:pPr>
                <a:endParaRPr lang="en-GB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  <a:p>
                <a:pPr lvl="0">
                  <a:lnSpc>
                    <a:spcPct val="115000"/>
                  </a:lnSpc>
                </a:pPr>
                <a:endParaRPr lang="en-GB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  <a:p>
                <a:pPr lvl="0">
                  <a:lnSpc>
                    <a:spcPct val="115000"/>
                  </a:lnSpc>
                </a:pPr>
                <a:endParaRPr lang="en-GB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  <a:p>
                <a:pPr lvl="0">
                  <a:lnSpc>
                    <a:spcPct val="115000"/>
                  </a:lnSpc>
                </a:pPr>
                <a:endParaRPr lang="en-GB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  <a:p>
                <a:pPr lvl="0">
                  <a:lnSpc>
                    <a:spcPct val="115000"/>
                  </a:lnSpc>
                </a:pPr>
                <a:endParaRPr lang="de-DE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  <a:p>
                <a:endParaRPr lang="de-DE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  <a:p>
                <a:pPr lvl="0">
                  <a:lnSpc>
                    <a:spcPct val="115000"/>
                  </a:lnSpc>
                </a:pPr>
                <a:endParaRPr lang="de-DE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  <a:p>
                <a:pPr lvl="0">
                  <a:lnSpc>
                    <a:spcPct val="115000"/>
                  </a:lnSpc>
                </a:pPr>
                <a:endParaRPr lang="de-DE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  <a:p>
                <a:pPr lvl="0">
                  <a:lnSpc>
                    <a:spcPct val="115000"/>
                  </a:lnSpc>
                </a:pPr>
                <a:endParaRPr lang="de-DE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  <a:p>
                <a:pPr lvl="0">
                  <a:lnSpc>
                    <a:spcPct val="115000"/>
                  </a:lnSpc>
                </a:pPr>
                <a:endParaRPr lang="de-DE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  <a:p>
                <a:pPr lvl="0">
                  <a:lnSpc>
                    <a:spcPct val="115000"/>
                  </a:lnSpc>
                </a:pPr>
                <a:endParaRPr lang="de-DE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  <a:p>
                <a:pPr lvl="0">
                  <a:lnSpc>
                    <a:spcPct val="115000"/>
                  </a:lnSpc>
                </a:pPr>
                <a:endParaRPr lang="de-DE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  <a:p>
                <a:pPr lvl="0">
                  <a:lnSpc>
                    <a:spcPct val="115000"/>
                  </a:lnSpc>
                </a:pPr>
                <a:endParaRPr lang="de-DE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</mc:Choice>
        <mc:Fallback xmlns="">
          <p:sp>
            <p:nvSpPr>
              <p:cNvPr id="19" name="Google Shape;1534;g60be7dcf1c_0_434">
                <a:extLst>
                  <a:ext uri="{FF2B5EF4-FFF2-40B4-BE49-F238E27FC236}">
                    <a16:creationId xmlns:a16="http://schemas.microsoft.com/office/drawing/2014/main" id="{7BE98C13-85A9-24D1-58ED-F6CAFBD5F3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4965" y="1978203"/>
                <a:ext cx="7507840" cy="2114707"/>
              </a:xfrm>
              <a:prstGeom prst="rect">
                <a:avLst/>
              </a:prstGeom>
              <a:blipFill>
                <a:blip r:embed="rId3"/>
                <a:stretch>
                  <a:fillRect l="-40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1534;g60be7dcf1c_0_434">
            <a:extLst>
              <a:ext uri="{FF2B5EF4-FFF2-40B4-BE49-F238E27FC236}">
                <a16:creationId xmlns:a16="http://schemas.microsoft.com/office/drawing/2014/main" id="{BAC4859A-38E3-97FF-9565-DD6EC93F2ABC}"/>
              </a:ext>
            </a:extLst>
          </p:cNvPr>
          <p:cNvSpPr txBox="1"/>
          <p:nvPr/>
        </p:nvSpPr>
        <p:spPr>
          <a:xfrm>
            <a:off x="3736631" y="4036774"/>
            <a:ext cx="6177652" cy="1353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⇀ </a:t>
            </a:r>
            <a:r>
              <a:rPr lang="de-DE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de-DE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this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de-DE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graph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de-DE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worst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T </a:t>
            </a:r>
            <a:r>
              <a:rPr lang="de-DE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is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de-DE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permutation</a:t>
            </a:r>
            <a:endParaRPr lang="en-GB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⇀ </a:t>
            </a:r>
            <a:r>
              <a:rPr lang="en-GB" sz="1600" b="1" i="1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Best</a:t>
            </a: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 b="1" i="1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demand-aware network</a:t>
            </a: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</a:p>
          <a:p>
            <a:pPr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Knowing the demand, each node </a:t>
            </a:r>
            <a:r>
              <a:rPr lang="en-US" sz="1600" b="1" i="1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pointing</a:t>
            </a:r>
          </a:p>
          <a:p>
            <a:pPr lvl="0">
              <a:lnSpc>
                <a:spcPct val="115000"/>
              </a:lnSpc>
            </a:pP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1600" b="1" i="1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all 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(2n-1) links at its successor </a:t>
            </a:r>
          </a:p>
          <a:p>
            <a:pPr lvl="0">
              <a:lnSpc>
                <a:spcPct val="115000"/>
              </a:lnSpc>
            </a:pP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gives perfect </a:t>
            </a:r>
            <a:r>
              <a:rPr lang="de-DE" sz="1600" b="1" i="1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throughput 1</a:t>
            </a:r>
            <a:endParaRPr lang="en-GB" sz="1600" b="1" i="1" dirty="0">
              <a:solidFill>
                <a:srgbClr val="C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en-GB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en-GB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en-GB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endParaRPr lang="de-DE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endParaRPr lang="de-DE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de-DE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de-DE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de-DE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" name="Google Shape;1656;g60be7dcf1c_0_555">
            <a:extLst>
              <a:ext uri="{FF2B5EF4-FFF2-40B4-BE49-F238E27FC236}">
                <a16:creationId xmlns:a16="http://schemas.microsoft.com/office/drawing/2014/main" id="{BFB56DE5-1AD3-E232-97E5-83E341E2B9C2}"/>
              </a:ext>
            </a:extLst>
          </p:cNvPr>
          <p:cNvSpPr txBox="1"/>
          <p:nvPr/>
        </p:nvSpPr>
        <p:spPr>
          <a:xfrm>
            <a:off x="0" y="540000"/>
            <a:ext cx="8211000" cy="101893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9" name="Google Shape;1657;g60be7dcf1c_0_555">
            <a:extLst>
              <a:ext uri="{FF2B5EF4-FFF2-40B4-BE49-F238E27FC236}">
                <a16:creationId xmlns:a16="http://schemas.microsoft.com/office/drawing/2014/main" id="{18A26F9A-F126-0B59-05AA-F5787F9437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3075" y="26970"/>
            <a:ext cx="8171100" cy="1573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l">
              <a:buSzPts val="1100"/>
            </a:pPr>
            <a:br>
              <a:rPr lang="en-GB" sz="2000" dirty="0"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2000" dirty="0">
                <a:latin typeface="Consolas"/>
                <a:ea typeface="Consolas"/>
                <a:cs typeface="Consolas"/>
                <a:sym typeface="Consolas"/>
              </a:rPr>
              <a:t>Challenge: Demand-Aware Throughput </a:t>
            </a:r>
            <a:endParaRPr lang="en-GB" sz="4000" dirty="0">
              <a:latin typeface="Consolas"/>
              <a:ea typeface="Consolas"/>
              <a:cs typeface="Consolas"/>
              <a:sym typeface="Consolas"/>
            </a:endParaRPr>
          </a:p>
          <a:p>
            <a:pPr lvl="0" algn="l">
              <a:buSzPts val="1100"/>
            </a:pPr>
            <a:r>
              <a:rPr lang="en-GB" sz="4000" dirty="0">
                <a:latin typeface="Consolas"/>
                <a:ea typeface="Consolas"/>
                <a:cs typeface="Consolas"/>
                <a:sym typeface="Consolas"/>
              </a:rPr>
              <a:t>Constructive Separation?</a:t>
            </a:r>
            <a:endParaRPr lang="en-GB" sz="4000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6378EF1F-E713-760F-8CD5-5A446AD9E7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5699" y="1614759"/>
            <a:ext cx="2333468" cy="2114706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A5F667D3-8AA1-8110-BF5B-9A98F82ADF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47074" y="4167946"/>
            <a:ext cx="1465212" cy="1353078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52B42AA4-5E19-4088-7037-7524C1E5C9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144" y="4167946"/>
            <a:ext cx="1531585" cy="1385998"/>
          </a:xfrm>
          <a:prstGeom prst="rect">
            <a:avLst/>
          </a:prstGeom>
        </p:spPr>
      </p:pic>
      <p:sp>
        <p:nvSpPr>
          <p:cNvPr id="3" name="Rechteck 2">
            <a:extLst>
              <a:ext uri="{FF2B5EF4-FFF2-40B4-BE49-F238E27FC236}">
                <a16:creationId xmlns:a16="http://schemas.microsoft.com/office/drawing/2014/main" id="{08B13269-54A6-5E09-1F05-93C8E554A87B}"/>
              </a:ext>
            </a:extLst>
          </p:cNvPr>
          <p:cNvSpPr/>
          <p:nvPr/>
        </p:nvSpPr>
        <p:spPr>
          <a:xfrm>
            <a:off x="2216426" y="3851413"/>
            <a:ext cx="1023731" cy="1292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Google Shape;1534;g60be7dcf1c_0_434">
            <a:extLst>
              <a:ext uri="{FF2B5EF4-FFF2-40B4-BE49-F238E27FC236}">
                <a16:creationId xmlns:a16="http://schemas.microsoft.com/office/drawing/2014/main" id="{99420FF6-1529-CADC-7441-D82037A3954D}"/>
              </a:ext>
            </a:extLst>
          </p:cNvPr>
          <p:cNvSpPr txBox="1"/>
          <p:nvPr/>
        </p:nvSpPr>
        <p:spPr>
          <a:xfrm>
            <a:off x="806525" y="6039193"/>
            <a:ext cx="7852641" cy="695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So demand-aware network </a:t>
            </a:r>
            <a:r>
              <a:rPr lang="de-DE" sz="1600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much better 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 this </a:t>
            </a:r>
            <a:r>
              <a:rPr lang="de-DE" sz="1600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bad case for oblivious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 </a:t>
            </a:r>
          </a:p>
          <a:p>
            <a:pPr lvl="0">
              <a:lnSpc>
                <a:spcPct val="115000"/>
              </a:lnSpc>
            </a:pP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Question: But is it better also under </a:t>
            </a:r>
            <a:r>
              <a:rPr lang="de-DE" sz="1600" b="1" i="1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worst-case demand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? </a:t>
            </a:r>
            <a:endParaRPr lang="de-DE" sz="1600" b="1" i="1" dirty="0">
              <a:solidFill>
                <a:srgbClr val="00B0F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de-DE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921987414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6">
          <a:extLst>
            <a:ext uri="{FF2B5EF4-FFF2-40B4-BE49-F238E27FC236}">
              <a16:creationId xmlns:a16="http://schemas.microsoft.com/office/drawing/2014/main" id="{B7A200F7-EEAF-137D-DFC7-C22F31F7F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Google Shape;1534;g60be7dcf1c_0_434">
                <a:extLst>
                  <a:ext uri="{FF2B5EF4-FFF2-40B4-BE49-F238E27FC236}">
                    <a16:creationId xmlns:a16="http://schemas.microsoft.com/office/drawing/2014/main" id="{E79BFD74-56CC-BEC7-096E-2C5A96F6E546}"/>
                  </a:ext>
                </a:extLst>
              </p:cNvPr>
              <p:cNvSpPr txBox="1"/>
              <p:nvPr/>
            </p:nvSpPr>
            <p:spPr>
              <a:xfrm>
                <a:off x="1014965" y="1978203"/>
                <a:ext cx="7507840" cy="2114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>
                  <a:lnSpc>
                    <a:spcPct val="115000"/>
                  </a:lnSpc>
                </a:pPr>
                <a:r>
                  <a:rPr lang="en-GB" sz="16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⇀ </a:t>
                </a:r>
                <a:r>
                  <a:rPr lang="de-DE" sz="1600" b="1" dirty="0" err="1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Known</a:t>
                </a:r>
                <a:r>
                  <a:rPr lang="de-DE" sz="1600" b="1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: </a:t>
                </a:r>
                <a:r>
                  <a:rPr lang="de-DE" sz="1600" dirty="0" err="1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worst</a:t>
                </a:r>
                <a:r>
                  <a:rPr lang="de-DE" sz="16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 </a:t>
                </a:r>
                <a:r>
                  <a:rPr lang="de-DE" sz="1600" dirty="0" err="1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case</a:t>
                </a:r>
                <a:r>
                  <a:rPr lang="de-DE" sz="16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 </a:t>
                </a:r>
                <a:r>
                  <a:rPr lang="de-DE" sz="1600" dirty="0" err="1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throughput</a:t>
                </a:r>
                <a:r>
                  <a:rPr lang="de-DE" sz="16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 </a:t>
                </a:r>
                <a14:m>
                  <m:oMath xmlns:m="http://schemas.openxmlformats.org/officeDocument/2006/math">
                    <m:r>
                      <a:rPr lang="el-GR" sz="16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  <m:r>
                      <a:rPr lang="de-DE" sz="1600" b="1" i="1" baseline="3000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∗</m:t>
                    </m:r>
                  </m:oMath>
                </a14:m>
                <a:r>
                  <a:rPr lang="de-DE" sz="16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 of</a:t>
                </a:r>
              </a:p>
              <a:p>
                <a:pPr lvl="0">
                  <a:lnSpc>
                    <a:spcPct val="115000"/>
                  </a:lnSpc>
                </a:pPr>
                <a:r>
                  <a:rPr lang="de-DE" sz="16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   </a:t>
                </a:r>
                <a:r>
                  <a:rPr lang="de-DE" sz="1600" b="1" i="1" dirty="0" err="1">
                    <a:solidFill>
                      <a:srgbClr val="C0000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demand-oblivious</a:t>
                </a:r>
                <a:r>
                  <a:rPr lang="de-DE" sz="1600" b="1" i="1" dirty="0">
                    <a:solidFill>
                      <a:srgbClr val="C0000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 </a:t>
                </a:r>
                <a:r>
                  <a:rPr lang="de-DE" sz="1600" dirty="0" err="1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networks</a:t>
                </a:r>
                <a:r>
                  <a:rPr lang="de-DE" sz="16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 at </a:t>
                </a:r>
                <a:r>
                  <a:rPr lang="de-DE" sz="1600" dirty="0" err="1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most</a:t>
                </a:r>
                <a:r>
                  <a:rPr lang="de-DE" sz="16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 </a:t>
                </a:r>
                <a:r>
                  <a:rPr lang="de-DE" sz="1600" b="1" i="1" dirty="0">
                    <a:solidFill>
                      <a:srgbClr val="C0000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½</a:t>
                </a:r>
                <a:r>
                  <a:rPr lang="de-DE" sz="16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 (</a:t>
                </a:r>
                <a:r>
                  <a:rPr lang="de-DE" sz="1600" dirty="0" err="1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tight</a:t>
                </a:r>
                <a:r>
                  <a:rPr lang="de-DE" sz="16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)</a:t>
                </a:r>
              </a:p>
              <a:p>
                <a:pPr lvl="0">
                  <a:lnSpc>
                    <a:spcPct val="115000"/>
                  </a:lnSpc>
                </a:pPr>
                <a:r>
                  <a:rPr lang="de-DE" sz="16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   </a:t>
                </a:r>
                <a:r>
                  <a:rPr lang="en-GB" sz="16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⇀ Due to </a:t>
                </a:r>
                <a:r>
                  <a:rPr lang="en-GB" sz="1600" dirty="0" err="1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Keslassy</a:t>
                </a:r>
                <a:r>
                  <a:rPr lang="en-GB" sz="16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, Chang, McKeown, Lee.</a:t>
                </a:r>
              </a:p>
              <a:p>
                <a:pPr lvl="0">
                  <a:lnSpc>
                    <a:spcPct val="115000"/>
                  </a:lnSpc>
                </a:pPr>
                <a:r>
                  <a:rPr lang="de-DE" sz="16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   </a:t>
                </a:r>
                <a:r>
                  <a:rPr lang="en-GB" sz="16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⇀ They consider </a:t>
                </a:r>
                <a:r>
                  <a:rPr lang="en-GB" sz="1600" dirty="0">
                    <a:solidFill>
                      <a:srgbClr val="C0000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(2n-1)-regular </a:t>
                </a:r>
                <a:r>
                  <a:rPr lang="en-GB" sz="16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networks</a:t>
                </a:r>
              </a:p>
              <a:p>
                <a:pPr lvl="0">
                  <a:lnSpc>
                    <a:spcPct val="115000"/>
                  </a:lnSpc>
                </a:pPr>
                <a:r>
                  <a:rPr lang="en-GB" sz="16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   ⇀ </a:t>
                </a:r>
                <a:r>
                  <a:rPr lang="en-GB" sz="1600" b="1" i="1" dirty="0">
                    <a:solidFill>
                      <a:srgbClr val="C0000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Best</a:t>
                </a:r>
                <a:r>
                  <a:rPr lang="en-GB" sz="16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 </a:t>
                </a:r>
                <a:r>
                  <a:rPr lang="en-GB" sz="1600" b="1" i="1" dirty="0">
                    <a:solidFill>
                      <a:srgbClr val="C0000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oblivious network</a:t>
                </a:r>
                <a:r>
                  <a:rPr lang="en-GB" sz="16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: </a:t>
                </a:r>
              </a:p>
              <a:p>
                <a:pPr lvl="0">
                  <a:lnSpc>
                    <a:spcPct val="115000"/>
                  </a:lnSpc>
                </a:pPr>
                <a:r>
                  <a:rPr lang="en-GB" sz="1600" b="1" i="1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      </a:t>
                </a:r>
                <a:r>
                  <a:rPr lang="en-GB" sz="1600" dirty="0">
                    <a:solidFill>
                      <a:srgbClr val="C0000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two links </a:t>
                </a:r>
                <a:r>
                  <a:rPr lang="en-GB" sz="16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to every other node</a:t>
                </a:r>
              </a:p>
              <a:p>
                <a:pPr lvl="0">
                  <a:lnSpc>
                    <a:spcPct val="115000"/>
                  </a:lnSpc>
                </a:pPr>
                <a:endParaRPr lang="en-GB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  <a:p>
                <a:pPr lvl="0">
                  <a:lnSpc>
                    <a:spcPct val="115000"/>
                  </a:lnSpc>
                </a:pPr>
                <a:endParaRPr lang="en-GB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  <a:p>
                <a:pPr lvl="0">
                  <a:lnSpc>
                    <a:spcPct val="115000"/>
                  </a:lnSpc>
                </a:pPr>
                <a:endParaRPr lang="en-GB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  <a:p>
                <a:pPr lvl="0">
                  <a:lnSpc>
                    <a:spcPct val="115000"/>
                  </a:lnSpc>
                </a:pPr>
                <a:endParaRPr lang="en-GB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  <a:p>
                <a:pPr lvl="0">
                  <a:lnSpc>
                    <a:spcPct val="115000"/>
                  </a:lnSpc>
                </a:pPr>
                <a:endParaRPr lang="de-DE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  <a:p>
                <a:endParaRPr lang="de-DE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  <a:p>
                <a:pPr lvl="0">
                  <a:lnSpc>
                    <a:spcPct val="115000"/>
                  </a:lnSpc>
                </a:pPr>
                <a:endParaRPr lang="de-DE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  <a:p>
                <a:pPr lvl="0">
                  <a:lnSpc>
                    <a:spcPct val="115000"/>
                  </a:lnSpc>
                </a:pPr>
                <a:endParaRPr lang="de-DE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  <a:p>
                <a:pPr lvl="0">
                  <a:lnSpc>
                    <a:spcPct val="115000"/>
                  </a:lnSpc>
                </a:pPr>
                <a:endParaRPr lang="de-DE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  <a:p>
                <a:pPr lvl="0">
                  <a:lnSpc>
                    <a:spcPct val="115000"/>
                  </a:lnSpc>
                </a:pPr>
                <a:endParaRPr lang="de-DE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  <a:p>
                <a:pPr lvl="0">
                  <a:lnSpc>
                    <a:spcPct val="115000"/>
                  </a:lnSpc>
                </a:pPr>
                <a:endParaRPr lang="de-DE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  <a:p>
                <a:pPr lvl="0">
                  <a:lnSpc>
                    <a:spcPct val="115000"/>
                  </a:lnSpc>
                </a:pPr>
                <a:endParaRPr lang="de-DE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  <a:p>
                <a:pPr lvl="0">
                  <a:lnSpc>
                    <a:spcPct val="115000"/>
                  </a:lnSpc>
                </a:pPr>
                <a:endParaRPr lang="de-DE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</mc:Choice>
        <mc:Fallback xmlns="">
          <p:sp>
            <p:nvSpPr>
              <p:cNvPr id="19" name="Google Shape;1534;g60be7dcf1c_0_434">
                <a:extLst>
                  <a:ext uri="{FF2B5EF4-FFF2-40B4-BE49-F238E27FC236}">
                    <a16:creationId xmlns:a16="http://schemas.microsoft.com/office/drawing/2014/main" id="{E79BFD74-56CC-BEC7-096E-2C5A96F6E5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4965" y="1978203"/>
                <a:ext cx="7507840" cy="2114707"/>
              </a:xfrm>
              <a:prstGeom prst="rect">
                <a:avLst/>
              </a:prstGeom>
              <a:blipFill>
                <a:blip r:embed="rId3"/>
                <a:stretch>
                  <a:fillRect l="-40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1534;g60be7dcf1c_0_434">
            <a:extLst>
              <a:ext uri="{FF2B5EF4-FFF2-40B4-BE49-F238E27FC236}">
                <a16:creationId xmlns:a16="http://schemas.microsoft.com/office/drawing/2014/main" id="{DF5DA00B-C076-78C7-89C4-7DA2A2AA6C3B}"/>
              </a:ext>
            </a:extLst>
          </p:cNvPr>
          <p:cNvSpPr txBox="1"/>
          <p:nvPr/>
        </p:nvSpPr>
        <p:spPr>
          <a:xfrm>
            <a:off x="3736631" y="4036774"/>
            <a:ext cx="6177652" cy="1353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⇀ </a:t>
            </a:r>
            <a:r>
              <a:rPr lang="de-DE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de-DE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this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de-DE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graph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de-DE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worst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T </a:t>
            </a:r>
            <a:r>
              <a:rPr lang="de-DE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is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de-DE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permutation</a:t>
            </a:r>
            <a:endParaRPr lang="en-GB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⇀ </a:t>
            </a:r>
            <a:r>
              <a:rPr lang="en-GB" sz="1600" b="1" i="1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Best</a:t>
            </a: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 b="1" i="1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demand-aware network</a:t>
            </a: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</a:p>
          <a:p>
            <a:pPr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Knowing the demand, each node </a:t>
            </a:r>
            <a:r>
              <a:rPr lang="en-US" sz="1600" b="1" i="1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pointing</a:t>
            </a:r>
          </a:p>
          <a:p>
            <a:pPr lvl="0">
              <a:lnSpc>
                <a:spcPct val="115000"/>
              </a:lnSpc>
            </a:pP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1600" b="1" i="1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all 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(2n-1) links at its successor </a:t>
            </a:r>
          </a:p>
          <a:p>
            <a:pPr lvl="0">
              <a:lnSpc>
                <a:spcPct val="115000"/>
              </a:lnSpc>
            </a:pP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gives perfect </a:t>
            </a:r>
            <a:r>
              <a:rPr lang="de-DE" sz="1600" b="1" i="1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throughput 1</a:t>
            </a:r>
            <a:endParaRPr lang="en-GB" sz="1600" b="1" i="1" dirty="0">
              <a:solidFill>
                <a:srgbClr val="C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en-GB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en-GB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en-GB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endParaRPr lang="de-DE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endParaRPr lang="de-DE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de-DE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de-DE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de-DE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" name="Google Shape;1656;g60be7dcf1c_0_555">
            <a:extLst>
              <a:ext uri="{FF2B5EF4-FFF2-40B4-BE49-F238E27FC236}">
                <a16:creationId xmlns:a16="http://schemas.microsoft.com/office/drawing/2014/main" id="{373055FE-1F04-C559-1B36-605C2F9526F2}"/>
              </a:ext>
            </a:extLst>
          </p:cNvPr>
          <p:cNvSpPr txBox="1"/>
          <p:nvPr/>
        </p:nvSpPr>
        <p:spPr>
          <a:xfrm>
            <a:off x="0" y="540000"/>
            <a:ext cx="8211000" cy="101893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9" name="Google Shape;1657;g60be7dcf1c_0_555">
            <a:extLst>
              <a:ext uri="{FF2B5EF4-FFF2-40B4-BE49-F238E27FC236}">
                <a16:creationId xmlns:a16="http://schemas.microsoft.com/office/drawing/2014/main" id="{332C35AF-8656-4C22-AAAC-67CD8C3C954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3075" y="26970"/>
            <a:ext cx="8171100" cy="1573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l">
              <a:buSzPts val="1100"/>
            </a:pPr>
            <a:br>
              <a:rPr lang="en-GB" sz="2000" dirty="0"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2000" dirty="0">
                <a:latin typeface="Consolas"/>
                <a:ea typeface="Consolas"/>
                <a:cs typeface="Consolas"/>
                <a:sym typeface="Consolas"/>
              </a:rPr>
              <a:t>Challenge: Demand-Aware Throughput </a:t>
            </a:r>
            <a:endParaRPr lang="en-GB" sz="4000" dirty="0">
              <a:latin typeface="Consolas"/>
              <a:ea typeface="Consolas"/>
              <a:cs typeface="Consolas"/>
              <a:sym typeface="Consolas"/>
            </a:endParaRPr>
          </a:p>
          <a:p>
            <a:pPr lvl="0" algn="l">
              <a:buSzPts val="1100"/>
            </a:pPr>
            <a:r>
              <a:rPr lang="en-GB" sz="4000" dirty="0">
                <a:latin typeface="Consolas"/>
                <a:ea typeface="Consolas"/>
                <a:cs typeface="Consolas"/>
                <a:sym typeface="Consolas"/>
              </a:rPr>
              <a:t>Constructive Separation?</a:t>
            </a:r>
            <a:endParaRPr lang="en-GB" sz="4000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D922338-1DBF-40B8-4B29-22F4D4A418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5699" y="1614759"/>
            <a:ext cx="2333468" cy="2114706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734E3ACC-E2AF-43CC-F2AE-2D3F462515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47074" y="4167946"/>
            <a:ext cx="1465212" cy="1353078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536B0BD3-EAB3-75C9-13B1-44ABFAE3C0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144" y="4167946"/>
            <a:ext cx="1531585" cy="1385998"/>
          </a:xfrm>
          <a:prstGeom prst="rect">
            <a:avLst/>
          </a:prstGeom>
        </p:spPr>
      </p:pic>
      <p:sp>
        <p:nvSpPr>
          <p:cNvPr id="3" name="Rechteck 2">
            <a:extLst>
              <a:ext uri="{FF2B5EF4-FFF2-40B4-BE49-F238E27FC236}">
                <a16:creationId xmlns:a16="http://schemas.microsoft.com/office/drawing/2014/main" id="{7ED92C5F-27AF-F4EB-E22F-A0FE0A78FA04}"/>
              </a:ext>
            </a:extLst>
          </p:cNvPr>
          <p:cNvSpPr/>
          <p:nvPr/>
        </p:nvSpPr>
        <p:spPr>
          <a:xfrm>
            <a:off x="2216426" y="3851413"/>
            <a:ext cx="1023731" cy="1292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Google Shape;1534;g60be7dcf1c_0_434">
            <a:extLst>
              <a:ext uri="{FF2B5EF4-FFF2-40B4-BE49-F238E27FC236}">
                <a16:creationId xmlns:a16="http://schemas.microsoft.com/office/drawing/2014/main" id="{2BA3C400-B49A-1E62-5811-C4E7523A0DFC}"/>
              </a:ext>
            </a:extLst>
          </p:cNvPr>
          <p:cNvSpPr txBox="1"/>
          <p:nvPr/>
        </p:nvSpPr>
        <p:spPr>
          <a:xfrm>
            <a:off x="806525" y="6039193"/>
            <a:ext cx="7852641" cy="695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So demand-aware network </a:t>
            </a:r>
            <a:r>
              <a:rPr lang="de-DE" sz="1600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much better 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 this </a:t>
            </a:r>
            <a:r>
              <a:rPr lang="de-DE" sz="1600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bad case for oblivious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 </a:t>
            </a:r>
          </a:p>
          <a:p>
            <a:pPr lvl="0">
              <a:lnSpc>
                <a:spcPct val="115000"/>
              </a:lnSpc>
            </a:pP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Question: But is it better also under </a:t>
            </a:r>
            <a:r>
              <a:rPr lang="de-DE" sz="1600" b="1" i="1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worst-case demand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? </a:t>
            </a:r>
            <a:r>
              <a:rPr lang="de-DE" sz="1600" b="1" i="1" dirty="0">
                <a:solidFill>
                  <a:srgbClr val="00B0F0"/>
                </a:solidFill>
                <a:latin typeface="Consolas"/>
                <a:ea typeface="Consolas"/>
                <a:cs typeface="Consolas"/>
                <a:sym typeface="Consolas"/>
              </a:rPr>
              <a:t>Subtle!</a:t>
            </a:r>
          </a:p>
          <a:p>
            <a:pPr lvl="0">
              <a:lnSpc>
                <a:spcPct val="115000"/>
              </a:lnSpc>
            </a:pPr>
            <a:endParaRPr lang="de-DE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723235853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6">
          <a:extLst>
            <a:ext uri="{FF2B5EF4-FFF2-40B4-BE49-F238E27FC236}">
              <a16:creationId xmlns:a16="http://schemas.microsoft.com/office/drawing/2014/main" id="{A18EA972-C8D0-D5A3-73FF-A1AA237A3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Google Shape;1534;g60be7dcf1c_0_434">
                <a:extLst>
                  <a:ext uri="{FF2B5EF4-FFF2-40B4-BE49-F238E27FC236}">
                    <a16:creationId xmlns:a16="http://schemas.microsoft.com/office/drawing/2014/main" id="{33EAA586-B2FB-2A62-63C0-A16388739844}"/>
                  </a:ext>
                </a:extLst>
              </p:cNvPr>
              <p:cNvSpPr txBox="1"/>
              <p:nvPr/>
            </p:nvSpPr>
            <p:spPr>
              <a:xfrm>
                <a:off x="1014964" y="2139579"/>
                <a:ext cx="7609271" cy="1194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>
                  <a:lnSpc>
                    <a:spcPct val="115000"/>
                  </a:lnSpc>
                </a:pPr>
                <a:r>
                  <a:rPr lang="en-GB" sz="16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⇀ </a:t>
                </a:r>
                <a:r>
                  <a:rPr lang="de-DE" sz="1600" b="1" i="1" u="sng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Unknown:</a:t>
                </a:r>
                <a:r>
                  <a:rPr lang="de-DE" sz="16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 </a:t>
                </a:r>
                <a:r>
                  <a:rPr lang="de-DE" sz="1600" b="1" i="1" dirty="0">
                    <a:solidFill>
                      <a:srgbClr val="C0000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Demand-aware </a:t>
                </a:r>
                <a:r>
                  <a:rPr lang="de-DE" sz="16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throughput can never be worse than demand-</a:t>
                </a:r>
              </a:p>
              <a:p>
                <a:pPr lvl="0">
                  <a:lnSpc>
                    <a:spcPct val="115000"/>
                  </a:lnSpc>
                </a:pPr>
                <a:r>
                  <a:rPr lang="de-DE" sz="16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  oblivious, but is it always strictly better in the worst case?</a:t>
                </a:r>
              </a:p>
              <a:p>
                <a:pPr lvl="0">
                  <a:lnSpc>
                    <a:spcPct val="115000"/>
                  </a:lnSpc>
                </a:pPr>
                <a:endParaRPr lang="de-DE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  <a:p>
                <a:pPr lvl="0">
                  <a:lnSpc>
                    <a:spcPct val="115000"/>
                  </a:lnSpc>
                </a:pPr>
                <a:endParaRPr lang="de-DE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  <a:p>
                <a:pPr lvl="0">
                  <a:lnSpc>
                    <a:spcPct val="115000"/>
                  </a:lnSpc>
                </a:pPr>
                <a:endParaRPr lang="de-DE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  <a:p>
                <a:pPr lvl="0">
                  <a:lnSpc>
                    <a:spcPct val="115000"/>
                  </a:lnSpc>
                </a:pPr>
                <a:endParaRPr lang="de-DE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  <a:p>
                <a:pPr lvl="0">
                  <a:lnSpc>
                    <a:spcPct val="115000"/>
                  </a:lnSpc>
                </a:pPr>
                <a:endParaRPr lang="de-DE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  <a:p>
                <a:pPr lvl="0">
                  <a:lnSpc>
                    <a:spcPct val="115000"/>
                  </a:lnSpc>
                </a:pPr>
                <a:endParaRPr lang="de-DE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  <a:p>
                <a:pPr lvl="0">
                  <a:lnSpc>
                    <a:spcPct val="115000"/>
                  </a:lnSpc>
                </a:pPr>
                <a:endParaRPr lang="de-DE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  <a:p>
                <a:pPr lvl="0">
                  <a:lnSpc>
                    <a:spcPct val="115000"/>
                  </a:lnSpc>
                </a:pPr>
                <a:endParaRPr lang="de-DE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  <a:p>
                <a:pPr lvl="0">
                  <a:lnSpc>
                    <a:spcPct val="115000"/>
                  </a:lnSpc>
                </a:pPr>
                <a:endParaRPr lang="de-DE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  <a:p>
                <a:pPr lvl="0">
                  <a:lnSpc>
                    <a:spcPct val="115000"/>
                  </a:lnSpc>
                </a:pPr>
                <a:endParaRPr lang="de-DE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  <a:p>
                <a:pPr lvl="0">
                  <a:lnSpc>
                    <a:spcPct val="115000"/>
                  </a:lnSpc>
                </a:pPr>
                <a:endParaRPr lang="de-DE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  <a:p>
                <a:pPr lvl="0">
                  <a:lnSpc>
                    <a:spcPct val="115000"/>
                  </a:lnSpc>
                </a:pPr>
                <a:r>
                  <a:rPr lang="de-DE" sz="16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ACM PODC 2026: </a:t>
                </a:r>
                <a:r>
                  <a:rPr lang="en-US" sz="16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The demand-aware throughput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6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r>
                      <a:rPr lang="de-DE" sz="1600" baseline="300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∗</m:t>
                    </m:r>
                  </m:oMath>
                </a14:m>
                <a:r>
                  <a:rPr lang="en-US" sz="16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 asymptotically approaches at least </a:t>
                </a:r>
                <a:r>
                  <a:rPr lang="en-US" sz="1600" b="1" i="1" dirty="0">
                    <a:solidFill>
                      <a:srgbClr val="C0000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5/8</a:t>
                </a:r>
                <a:r>
                  <a:rPr lang="en-US" sz="16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. But: A </a:t>
                </a:r>
                <a:r>
                  <a:rPr lang="en-US" sz="1600" b="1" i="1" dirty="0">
                    <a:solidFill>
                      <a:srgbClr val="C0000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probabilistic method </a:t>
                </a:r>
                <a:r>
                  <a:rPr lang="en-US" sz="16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proof. </a:t>
                </a:r>
                <a:endParaRPr lang="en-GB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  <a:p>
                <a:pPr lvl="0">
                  <a:lnSpc>
                    <a:spcPct val="115000"/>
                  </a:lnSpc>
                </a:pPr>
                <a:endParaRPr lang="de-DE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  <a:p>
                <a:pPr lvl="0">
                  <a:lnSpc>
                    <a:spcPct val="115000"/>
                  </a:lnSpc>
                </a:pPr>
                <a:endParaRPr lang="de-DE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  <a:p>
                <a:pPr lvl="0">
                  <a:lnSpc>
                    <a:spcPct val="115000"/>
                  </a:lnSpc>
                </a:pPr>
                <a:endParaRPr lang="de-DE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  <a:p>
                <a:pPr lvl="0">
                  <a:lnSpc>
                    <a:spcPct val="115000"/>
                  </a:lnSpc>
                </a:pPr>
                <a:endParaRPr lang="de-DE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  <a:p>
                <a:pPr lvl="0">
                  <a:lnSpc>
                    <a:spcPct val="115000"/>
                  </a:lnSpc>
                </a:pPr>
                <a:endParaRPr lang="de-DE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  <a:p>
                <a:pPr lvl="0">
                  <a:lnSpc>
                    <a:spcPct val="115000"/>
                  </a:lnSpc>
                </a:pPr>
                <a:endParaRPr lang="de-DE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</mc:Choice>
        <mc:Fallback xmlns="">
          <p:sp>
            <p:nvSpPr>
              <p:cNvPr id="19" name="Google Shape;1534;g60be7dcf1c_0_434">
                <a:extLst>
                  <a:ext uri="{FF2B5EF4-FFF2-40B4-BE49-F238E27FC236}">
                    <a16:creationId xmlns:a16="http://schemas.microsoft.com/office/drawing/2014/main" id="{33EAA586-B2FB-2A62-63C0-A163887398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4964" y="2139579"/>
                <a:ext cx="7609271" cy="1194999"/>
              </a:xfrm>
              <a:prstGeom prst="rect">
                <a:avLst/>
              </a:prstGeom>
              <a:blipFill>
                <a:blip r:embed="rId3"/>
                <a:stretch>
                  <a:fillRect l="-400" b="-26836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1656;g60be7dcf1c_0_555">
            <a:extLst>
              <a:ext uri="{FF2B5EF4-FFF2-40B4-BE49-F238E27FC236}">
                <a16:creationId xmlns:a16="http://schemas.microsoft.com/office/drawing/2014/main" id="{AB3D3FBF-2808-8585-2286-463F27F64EDC}"/>
              </a:ext>
            </a:extLst>
          </p:cNvPr>
          <p:cNvSpPr txBox="1"/>
          <p:nvPr/>
        </p:nvSpPr>
        <p:spPr>
          <a:xfrm>
            <a:off x="0" y="540000"/>
            <a:ext cx="8211000" cy="101893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5467366A-2485-F37A-33E1-793D5C736BD6}"/>
                  </a:ext>
                </a:extLst>
              </p:cNvPr>
              <p:cNvSpPr txBox="1"/>
              <p:nvPr/>
            </p:nvSpPr>
            <p:spPr>
              <a:xfrm>
                <a:off x="1358029" y="3286664"/>
                <a:ext cx="6771007" cy="523220"/>
              </a:xfrm>
              <a:prstGeom prst="rect">
                <a:avLst/>
              </a:prstGeom>
              <a:solidFill>
                <a:schemeClr val="tx2"/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sz="1400" b="0" i="0" u="none" strike="noStrike" baseline="0" dirty="0">
                    <a:latin typeface="CMTI12"/>
                  </a:rPr>
                  <a:t>Input: </a:t>
                </a:r>
                <a:r>
                  <a:rPr lang="en-US" sz="1400" b="0" i="0" u="none" strike="noStrike" baseline="0" dirty="0">
                    <a:latin typeface="CMR12"/>
                  </a:rPr>
                  <a:t>A doubly stochastic demand matrix </a:t>
                </a:r>
                <a:r>
                  <a:rPr lang="en-US" sz="1400" b="0" i="0" u="none" strike="noStrike" baseline="0" dirty="0">
                    <a:latin typeface="CMSY10"/>
                  </a:rPr>
                  <a:t>M </a:t>
                </a:r>
                <a:r>
                  <a:rPr lang="en-US" sz="1400" b="0" i="0" u="none" strike="noStrike" baseline="0" dirty="0">
                    <a:latin typeface="CMR12"/>
                  </a:rPr>
                  <a:t>and a number 0 </a:t>
                </a:r>
                <a:r>
                  <a:rPr lang="en-US" sz="1400" b="0" i="0" u="none" strike="noStrike" baseline="0" dirty="0">
                    <a:latin typeface="CMSY10"/>
                  </a:rPr>
                  <a:t>≤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US" sz="1400" b="0" i="0" u="none" strike="noStrike" baseline="0" dirty="0">
                    <a:latin typeface="CMMI12"/>
                  </a:rPr>
                  <a:t> </a:t>
                </a:r>
                <a:r>
                  <a:rPr lang="en-US" sz="1400" b="0" i="0" u="none" strike="noStrike" baseline="0" dirty="0">
                    <a:latin typeface="CMSY10"/>
                  </a:rPr>
                  <a:t>≤ </a:t>
                </a:r>
                <a:r>
                  <a:rPr lang="en-US" sz="1400" b="0" i="0" u="none" strike="noStrike" baseline="0" dirty="0">
                    <a:latin typeface="CMR12"/>
                  </a:rPr>
                  <a:t>1.</a:t>
                </a:r>
              </a:p>
              <a:p>
                <a:pPr algn="l"/>
                <a:r>
                  <a:rPr lang="en-US" sz="1400" b="0" i="0" u="none" strike="noStrike" baseline="0" dirty="0">
                    <a:latin typeface="CMTI12"/>
                  </a:rPr>
                  <a:t>Question: </a:t>
                </a:r>
                <a:r>
                  <a:rPr lang="en-US" sz="1400" b="0" i="0" u="none" strike="noStrike" baseline="0" dirty="0">
                    <a:latin typeface="CMR12"/>
                  </a:rPr>
                  <a:t>Is there a graph </a:t>
                </a:r>
                <a:r>
                  <a:rPr lang="en-US" sz="1400" b="0" i="0" u="none" strike="noStrike" baseline="0" dirty="0">
                    <a:latin typeface="CMMI12"/>
                  </a:rPr>
                  <a:t>G </a:t>
                </a:r>
                <a:r>
                  <a:rPr lang="en-US" sz="1400" b="0" i="0" u="none" strike="noStrike" baseline="0" dirty="0">
                    <a:latin typeface="CMR12"/>
                  </a:rPr>
                  <a:t>such that the throughput of </a:t>
                </a:r>
                <a:r>
                  <a:rPr lang="en-US" sz="1400" b="0" i="0" u="none" strike="noStrike" baseline="0" dirty="0">
                    <a:latin typeface="CMMI12"/>
                  </a:rPr>
                  <a:t>G </a:t>
                </a:r>
                <a:r>
                  <a:rPr lang="en-US" sz="1400" b="0" i="0" u="none" strike="noStrike" baseline="0" dirty="0">
                    <a:latin typeface="CMR12"/>
                  </a:rPr>
                  <a:t>with respect to </a:t>
                </a:r>
                <a:r>
                  <a:rPr lang="en-US" sz="1400" b="0" i="0" u="none" strike="noStrike" baseline="0" dirty="0">
                    <a:latin typeface="CMSY10"/>
                  </a:rPr>
                  <a:t>M </a:t>
                </a:r>
                <a:r>
                  <a:rPr lang="en-US" sz="1400" b="0" i="0" u="none" strike="noStrike" baseline="0" dirty="0">
                    <a:latin typeface="CMR12"/>
                  </a:rPr>
                  <a:t>is at least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US" sz="1400" b="0" i="0" u="none" strike="noStrike" baseline="0" dirty="0">
                    <a:latin typeface="CMR12"/>
                  </a:rPr>
                  <a:t>?</a:t>
                </a:r>
                <a:endParaRPr lang="de-DE" dirty="0"/>
              </a:p>
            </p:txBody>
          </p:sp>
        </mc:Choice>
        <mc:Fallback xmlns="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5467366A-2485-F37A-33E1-793D5C736B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8029" y="3286664"/>
                <a:ext cx="6771007" cy="523220"/>
              </a:xfrm>
              <a:prstGeom prst="rect">
                <a:avLst/>
              </a:prstGeom>
              <a:blipFill>
                <a:blip r:embed="rId4"/>
                <a:stretch>
                  <a:fillRect l="-180" t="-1136" b="-1136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4">
            <a:extLst>
              <a:ext uri="{FF2B5EF4-FFF2-40B4-BE49-F238E27FC236}">
                <a16:creationId xmlns:a16="http://schemas.microsoft.com/office/drawing/2014/main" id="{08E298D8-74D1-CE7A-1545-AE9D19BEDDC4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42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59E89232-36AF-4A80-08E4-FDA779E7BF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8833" y="4258596"/>
            <a:ext cx="6221896" cy="1252045"/>
          </a:xfrm>
          <a:prstGeom prst="rect">
            <a:avLst/>
          </a:prstGeom>
        </p:spPr>
      </p:pic>
      <p:sp>
        <p:nvSpPr>
          <p:cNvPr id="7" name="Google Shape;1657;g60be7dcf1c_0_555">
            <a:extLst>
              <a:ext uri="{FF2B5EF4-FFF2-40B4-BE49-F238E27FC236}">
                <a16:creationId xmlns:a16="http://schemas.microsoft.com/office/drawing/2014/main" id="{5B5F1B0B-7B19-C379-EFAC-3BAC67FBBC0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3075" y="26970"/>
            <a:ext cx="8171100" cy="1573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en-GB" sz="2000" dirty="0"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2000" dirty="0">
                <a:latin typeface="Consolas"/>
                <a:ea typeface="Consolas"/>
                <a:cs typeface="Consolas"/>
                <a:sym typeface="Consolas"/>
              </a:rPr>
              <a:t>Challenge: Demand-Aware Throughput</a:t>
            </a:r>
            <a:endParaRPr lang="en-GB" sz="4000" dirty="0">
              <a:latin typeface="Consolas"/>
              <a:ea typeface="Consolas"/>
              <a:cs typeface="Consolas"/>
              <a:sym typeface="Consolas"/>
            </a:endParaRPr>
          </a:p>
          <a:p>
            <a:pPr lvl="0" algn="l">
              <a:buSzPts val="1100"/>
            </a:pPr>
            <a:r>
              <a:rPr lang="en-GB" sz="4000" dirty="0">
                <a:latin typeface="Consolas"/>
                <a:ea typeface="Consolas"/>
                <a:cs typeface="Consolas"/>
                <a:sym typeface="Consolas"/>
              </a:rPr>
              <a:t>Constructive Separation?</a:t>
            </a:r>
            <a:endParaRPr lang="en-GB" sz="4000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2251102892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6">
          <a:extLst>
            <a:ext uri="{FF2B5EF4-FFF2-40B4-BE49-F238E27FC236}">
              <a16:creationId xmlns:a16="http://schemas.microsoft.com/office/drawing/2014/main" id="{325F900A-4EDC-B691-E8CF-9D94EE36D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DAB16CA-043E-F09B-D767-CA6EF27DE5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792" y="2837640"/>
            <a:ext cx="4505573" cy="3035608"/>
          </a:xfrm>
          <a:prstGeom prst="rect">
            <a:avLst/>
          </a:prstGeom>
        </p:spPr>
      </p:pic>
      <p:sp>
        <p:nvSpPr>
          <p:cNvPr id="19" name="Google Shape;1534;g60be7dcf1c_0_434">
            <a:extLst>
              <a:ext uri="{FF2B5EF4-FFF2-40B4-BE49-F238E27FC236}">
                <a16:creationId xmlns:a16="http://schemas.microsoft.com/office/drawing/2014/main" id="{3C778413-2537-DDFE-5522-1A49EC091D40}"/>
              </a:ext>
            </a:extLst>
          </p:cNvPr>
          <p:cNvSpPr txBox="1"/>
          <p:nvPr/>
        </p:nvSpPr>
        <p:spPr>
          <a:xfrm>
            <a:off x="1014964" y="1857623"/>
            <a:ext cx="7609271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⇀ 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More open </a:t>
            </a:r>
            <a:r>
              <a:rPr lang="de-DE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questions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de-DE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de-DE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dynamic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hybrid </a:t>
            </a:r>
            <a:r>
              <a:rPr lang="de-DE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datacenter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de-DE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networks</a:t>
            </a:r>
            <a:endParaRPr lang="en-GB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" name="Rechteck 9">
            <a:extLst>
              <a:ext uri="{FF2B5EF4-FFF2-40B4-BE49-F238E27FC236}">
                <a16:creationId xmlns:a16="http://schemas.microsoft.com/office/drawing/2014/main" id="{8D2A695B-1318-585A-22C4-F3BFE9578422}"/>
              </a:ext>
            </a:extLst>
          </p:cNvPr>
          <p:cNvSpPr/>
          <p:nvPr/>
        </p:nvSpPr>
        <p:spPr>
          <a:xfrm>
            <a:off x="5481777" y="3539478"/>
            <a:ext cx="3221165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200" dirty="0" err="1">
                <a:latin typeface="Consolas" panose="020B0609020204030204" pitchFamily="49" charset="0"/>
              </a:rPr>
              <a:t>Addanki</a:t>
            </a:r>
            <a:r>
              <a:rPr lang="de-DE" sz="1200" dirty="0">
                <a:latin typeface="Consolas" panose="020B0609020204030204" pitchFamily="49" charset="0"/>
              </a:rPr>
              <a:t> et al., </a:t>
            </a:r>
            <a:r>
              <a:rPr lang="de-DE" sz="1200" dirty="0" err="1">
                <a:latin typeface="Consolas" panose="020B0609020204030204" pitchFamily="49" charset="0"/>
              </a:rPr>
              <a:t>arXiv</a:t>
            </a:r>
            <a:r>
              <a:rPr lang="de-DE" sz="1200" dirty="0">
                <a:latin typeface="Consolas" panose="020B0609020204030204" pitchFamily="49" charset="0"/>
              </a:rPr>
              <a:t> 2025: </a:t>
            </a:r>
            <a:r>
              <a:rPr lang="de-DE" sz="1200" dirty="0">
                <a:latin typeface="Consolas" panose="020B0609020204030204" pitchFamily="49" charset="0"/>
                <a:hlinkClick r:id="rId4"/>
              </a:rPr>
              <a:t>https://arxiv.org/pdf/2405.20869</a:t>
            </a:r>
            <a:endParaRPr lang="de-DE" sz="1200" dirty="0">
              <a:latin typeface="Consolas" panose="020B0609020204030204" pitchFamily="49" charset="0"/>
            </a:endParaRPr>
          </a:p>
          <a:p>
            <a:endParaRPr lang="de-DE" sz="1200" dirty="0">
              <a:latin typeface="Consolas" panose="020B0609020204030204" pitchFamily="49" charset="0"/>
            </a:endParaRPr>
          </a:p>
          <a:p>
            <a:r>
              <a:rPr lang="de-DE" sz="1200" dirty="0">
                <a:latin typeface="Consolas" panose="020B0609020204030204" pitchFamily="49" charset="0"/>
              </a:rPr>
              <a:t>Addanki et al., Vermillion: </a:t>
            </a:r>
          </a:p>
          <a:p>
            <a:r>
              <a:rPr lang="de-DE" sz="1200" dirty="0">
                <a:latin typeface="Consolas" panose="020B0609020204030204" pitchFamily="49" charset="0"/>
              </a:rPr>
              <a:t>USENIX NSDI 2026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EBB7319-6D2F-9298-82E2-5861154B4DDF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43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8" name="Google Shape;1656;g60be7dcf1c_0_555">
            <a:extLst>
              <a:ext uri="{FF2B5EF4-FFF2-40B4-BE49-F238E27FC236}">
                <a16:creationId xmlns:a16="http://schemas.microsoft.com/office/drawing/2014/main" id="{A711D11E-395E-1001-C15D-E3A0DBF8E269}"/>
              </a:ext>
            </a:extLst>
          </p:cNvPr>
          <p:cNvSpPr txBox="1"/>
          <p:nvPr/>
        </p:nvSpPr>
        <p:spPr>
          <a:xfrm>
            <a:off x="0" y="540000"/>
            <a:ext cx="8211000" cy="101893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9" name="Google Shape;1657;g60be7dcf1c_0_555">
            <a:extLst>
              <a:ext uri="{FF2B5EF4-FFF2-40B4-BE49-F238E27FC236}">
                <a16:creationId xmlns:a16="http://schemas.microsoft.com/office/drawing/2014/main" id="{5BE84563-870F-11B4-16F7-4BCC6E5860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3075" y="26970"/>
            <a:ext cx="8171100" cy="1573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en-GB" sz="2000" dirty="0"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2000" dirty="0">
                <a:latin typeface="Consolas"/>
                <a:ea typeface="Consolas"/>
                <a:cs typeface="Consolas"/>
                <a:sym typeface="Consolas"/>
              </a:rPr>
              <a:t>Many More Open Questions, f. ex.</a:t>
            </a:r>
            <a:endParaRPr lang="en-GB" sz="40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4000" dirty="0">
                <a:latin typeface="Consolas"/>
                <a:ea typeface="Consolas"/>
                <a:cs typeface="Consolas"/>
                <a:sym typeface="Consolas"/>
              </a:rPr>
              <a:t>Hybrid Throughput?</a:t>
            </a:r>
            <a:endParaRPr lang="en-GB" sz="4000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939998951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4">
          <a:extLst>
            <a:ext uri="{FF2B5EF4-FFF2-40B4-BE49-F238E27FC236}">
              <a16:creationId xmlns:a16="http://schemas.microsoft.com/office/drawing/2014/main" id="{A38B7F4F-A1A4-2413-1162-F33864B11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9" name="Google Shape;1779;g60be7dcf1c_0_659">
            <a:extLst>
              <a:ext uri="{FF2B5EF4-FFF2-40B4-BE49-F238E27FC236}">
                <a16:creationId xmlns:a16="http://schemas.microsoft.com/office/drawing/2014/main" id="{E882133C-6D77-F405-01C5-C950C6F2839A}"/>
              </a:ext>
            </a:extLst>
          </p:cNvPr>
          <p:cNvSpPr txBox="1"/>
          <p:nvPr/>
        </p:nvSpPr>
        <p:spPr>
          <a:xfrm>
            <a:off x="0" y="540000"/>
            <a:ext cx="8211000" cy="1030383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45" name="Google Shape;1688;g60be7dcf1c_0_579">
            <a:extLst>
              <a:ext uri="{FF2B5EF4-FFF2-40B4-BE49-F238E27FC236}">
                <a16:creationId xmlns:a16="http://schemas.microsoft.com/office/drawing/2014/main" id="{1FC01A7E-1F4D-749C-6D31-5AAAF175AA1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3075" y="324175"/>
            <a:ext cx="8171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Further Reading</a:t>
            </a:r>
            <a:br>
              <a:rPr lang="en-GB" sz="32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ACM PODC 2026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E9498A-CFAE-4727-7025-3F80304541C3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44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9F3D5AB2-7F86-3339-7D01-A68F2F34FB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8458" y="2093401"/>
            <a:ext cx="4915703" cy="3255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692833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4">
          <a:extLst>
            <a:ext uri="{FF2B5EF4-FFF2-40B4-BE49-F238E27FC236}">
              <a16:creationId xmlns:a16="http://schemas.microsoft.com/office/drawing/2014/main" id="{FBDDF362-FB1B-C86E-CE16-DA4364FBA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534;g60be7dcf1c_0_434">
            <a:extLst>
              <a:ext uri="{FF2B5EF4-FFF2-40B4-BE49-F238E27FC236}">
                <a16:creationId xmlns:a16="http://schemas.microsoft.com/office/drawing/2014/main" id="{DEE7DADA-BB93-B376-454B-228085EFFA3B}"/>
              </a:ext>
            </a:extLst>
          </p:cNvPr>
          <p:cNvSpPr txBox="1"/>
          <p:nvPr/>
        </p:nvSpPr>
        <p:spPr>
          <a:xfrm>
            <a:off x="601083" y="1902691"/>
            <a:ext cx="7720879" cy="4355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5000"/>
              </a:lnSpc>
            </a:pPr>
            <a:r>
              <a:rPr lang="en-GB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⇢ </a:t>
            </a:r>
            <a:r>
              <a:rPr lang="en-US" i="1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ECMP</a:t>
            </a:r>
            <a:r>
              <a:rPr lang="en-U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reconvergence</a:t>
            </a:r>
            <a:r>
              <a:rPr lang="en-U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?! </a:t>
            </a:r>
            <a:r>
              <a:rPr lang="en-GB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Benefits of </a:t>
            </a:r>
            <a:r>
              <a:rPr lang="en-GB" i="1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Valiant</a:t>
            </a:r>
            <a:r>
              <a:rPr lang="en-GB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routing? </a:t>
            </a:r>
          </a:p>
          <a:p>
            <a:pPr>
              <a:lnSpc>
                <a:spcPct val="115000"/>
              </a:lnSpc>
            </a:pPr>
            <a:r>
              <a:rPr lang="en-GB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⇢ How to avoid packet </a:t>
            </a:r>
            <a:r>
              <a:rPr lang="en-GB" i="1" dirty="0" err="1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reorderings</a:t>
            </a:r>
            <a:r>
              <a:rPr lang="en-GB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? </a:t>
            </a:r>
            <a:r>
              <a:rPr lang="en-GB" i="1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RDMA</a:t>
            </a:r>
            <a:r>
              <a:rPr lang="en-GB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network cards don’t like them!</a:t>
            </a:r>
            <a:endParaRPr lang="en-US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r>
              <a:rPr lang="en-GB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⇢ Routing in hybrid networks: </a:t>
            </a:r>
            <a:r>
              <a:rPr lang="en-U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segregated vs </a:t>
            </a:r>
            <a:r>
              <a:rPr lang="en-US" i="1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non-segregated</a:t>
            </a:r>
            <a:r>
              <a:rPr lang="en-U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?</a:t>
            </a:r>
          </a:p>
          <a:p>
            <a:pPr lvl="0">
              <a:lnSpc>
                <a:spcPct val="115000"/>
              </a:lnSpc>
            </a:pPr>
            <a:r>
              <a:rPr lang="en-GB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⇢ </a:t>
            </a:r>
            <a:r>
              <a:rPr lang="en-U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First ideas: </a:t>
            </a:r>
            <a:r>
              <a:rPr lang="en-US" i="1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local</a:t>
            </a:r>
            <a:r>
              <a:rPr lang="en-U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routing! Techniques from dynamic P2P systems?</a:t>
            </a:r>
          </a:p>
          <a:p>
            <a:pPr lvl="0">
              <a:lnSpc>
                <a:spcPct val="115000"/>
              </a:lnSpc>
            </a:pPr>
            <a:endParaRPr lang="en-US" dirty="0">
              <a:solidFill>
                <a:srgbClr val="C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r>
              <a:rPr lang="en-US" i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endParaRPr lang="de-DE"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" name="Google Shape;1656;g60be7dcf1c_0_555">
            <a:extLst>
              <a:ext uri="{FF2B5EF4-FFF2-40B4-BE49-F238E27FC236}">
                <a16:creationId xmlns:a16="http://schemas.microsoft.com/office/drawing/2014/main" id="{0D17BFDF-E8CF-9D4E-C041-9B649D546FF3}"/>
              </a:ext>
            </a:extLst>
          </p:cNvPr>
          <p:cNvSpPr txBox="1"/>
          <p:nvPr/>
        </p:nvSpPr>
        <p:spPr>
          <a:xfrm>
            <a:off x="0" y="540000"/>
            <a:ext cx="8211000" cy="101893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10" name="Google Shape;1657;g60be7dcf1c_0_555">
            <a:extLst>
              <a:ext uri="{FF2B5EF4-FFF2-40B4-BE49-F238E27FC236}">
                <a16:creationId xmlns:a16="http://schemas.microsoft.com/office/drawing/2014/main" id="{0EDB46AE-5A53-D087-4D10-B69BB05FE3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3075" y="26970"/>
            <a:ext cx="8171100" cy="1573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en-GB" sz="2000" dirty="0"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2000" dirty="0">
                <a:latin typeface="Consolas"/>
                <a:ea typeface="Consolas"/>
                <a:cs typeface="Consolas"/>
                <a:sym typeface="Consolas"/>
              </a:rPr>
              <a:t>Challenge: Impact of Reconfigurations on</a:t>
            </a:r>
            <a:endParaRPr lang="en-GB" sz="40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4000" dirty="0">
                <a:latin typeface="Consolas"/>
                <a:ea typeface="Consolas"/>
                <a:cs typeface="Consolas"/>
                <a:sym typeface="Consolas"/>
              </a:rPr>
              <a:t>Network Layer?</a:t>
            </a:r>
            <a:endParaRPr lang="en-GB" sz="4000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AF4607D-D247-4627-9712-F2F70591E3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4544" y="3429000"/>
            <a:ext cx="5093962" cy="3038633"/>
          </a:xfrm>
          <a:prstGeom prst="rect">
            <a:avLst/>
          </a:prstGeom>
        </p:spPr>
      </p:pic>
      <p:sp>
        <p:nvSpPr>
          <p:cNvPr id="2" name="Rectangle 11">
            <a:extLst>
              <a:ext uri="{FF2B5EF4-FFF2-40B4-BE49-F238E27FC236}">
                <a16:creationId xmlns:a16="http://schemas.microsoft.com/office/drawing/2014/main" id="{2537BF8C-6F3A-9ED3-333E-C8283F0EB509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45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337015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656;g60be7dcf1c_0_555">
            <a:extLst>
              <a:ext uri="{FF2B5EF4-FFF2-40B4-BE49-F238E27FC236}">
                <a16:creationId xmlns:a16="http://schemas.microsoft.com/office/drawing/2014/main" id="{D01CC685-95B3-4B32-899B-1B152C35B367}"/>
              </a:ext>
            </a:extLst>
          </p:cNvPr>
          <p:cNvSpPr txBox="1"/>
          <p:nvPr/>
        </p:nvSpPr>
        <p:spPr>
          <a:xfrm>
            <a:off x="0" y="540000"/>
            <a:ext cx="8211000" cy="101893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6C24518-2B07-42FB-9BFE-CE0DD4A390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044753">
            <a:off x="1732498" y="2097661"/>
            <a:ext cx="3047082" cy="19421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0B70802-3783-4455-9F56-DCE681D92A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93117">
            <a:off x="4553616" y="4075728"/>
            <a:ext cx="3987120" cy="2076269"/>
          </a:xfrm>
          <a:prstGeom prst="rect">
            <a:avLst/>
          </a:prstGeom>
        </p:spPr>
      </p:pic>
      <p:sp>
        <p:nvSpPr>
          <p:cNvPr id="2" name="Rectangle 11">
            <a:extLst>
              <a:ext uri="{FF2B5EF4-FFF2-40B4-BE49-F238E27FC236}">
                <a16:creationId xmlns:a16="http://schemas.microsoft.com/office/drawing/2014/main" id="{EB197858-845D-387A-45A1-98C9BD20A3DE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46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5" name="Google Shape;1657;g60be7dcf1c_0_555">
            <a:extLst>
              <a:ext uri="{FF2B5EF4-FFF2-40B4-BE49-F238E27FC236}">
                <a16:creationId xmlns:a16="http://schemas.microsoft.com/office/drawing/2014/main" id="{0C6DBCC7-26A1-8500-6D0D-9ABE2A9731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3075" y="26970"/>
            <a:ext cx="8171100" cy="1573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en-GB" sz="2000" dirty="0"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2000" dirty="0">
                <a:latin typeface="Consolas"/>
                <a:ea typeface="Consolas"/>
                <a:cs typeface="Consolas"/>
                <a:sym typeface="Consolas"/>
              </a:rPr>
              <a:t>Challenge: Impact of Reconfigurations on</a:t>
            </a:r>
            <a:endParaRPr lang="en-GB" sz="40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4000" dirty="0">
                <a:latin typeface="Consolas"/>
                <a:ea typeface="Consolas"/>
                <a:cs typeface="Consolas"/>
                <a:sym typeface="Consolas"/>
              </a:rPr>
              <a:t>Buffer Management?</a:t>
            </a:r>
            <a:endParaRPr lang="en-GB" sz="4000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386483425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534;g60be7dcf1c_0_434"/>
          <p:cNvSpPr txBox="1"/>
          <p:nvPr/>
        </p:nvSpPr>
        <p:spPr>
          <a:xfrm>
            <a:off x="601083" y="1921016"/>
            <a:ext cx="7720879" cy="4337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GB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⇢ </a:t>
            </a:r>
            <a:r>
              <a:rPr lang="de-D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First </a:t>
            </a:r>
            <a:r>
              <a:rPr lang="de-DE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ideas</a:t>
            </a:r>
            <a:r>
              <a:rPr lang="de-D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de-DE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de-D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de-DE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quickly</a:t>
            </a:r>
            <a:r>
              <a:rPr lang="de-D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de-DE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reacting</a:t>
            </a:r>
            <a:r>
              <a:rPr lang="de-D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TCP: </a:t>
            </a:r>
            <a:r>
              <a:rPr lang="de-DE" b="1" i="1" dirty="0" err="1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ReTCP</a:t>
            </a:r>
            <a:r>
              <a:rPr lang="de-D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de-DE" b="1" i="1" dirty="0" err="1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PowerTCP</a:t>
            </a:r>
            <a:r>
              <a:rPr lang="de-D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…</a:t>
            </a:r>
          </a:p>
          <a:p>
            <a:pPr lvl="0">
              <a:lnSpc>
                <a:spcPct val="115000"/>
              </a:lnSpc>
            </a:pPr>
            <a:r>
              <a:rPr lang="en-GB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⇢ </a:t>
            </a:r>
            <a:r>
              <a:rPr lang="de-DE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Or</a:t>
            </a:r>
            <a:r>
              <a:rPr lang="de-D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de-DE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better</a:t>
            </a:r>
            <a:r>
              <a:rPr lang="de-D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de-DE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completely</a:t>
            </a:r>
            <a:r>
              <a:rPr lang="de-D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different </a:t>
            </a:r>
            <a:r>
              <a:rPr lang="de-DE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approach</a:t>
            </a:r>
            <a:r>
              <a:rPr lang="de-D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? Even </a:t>
            </a:r>
            <a:r>
              <a:rPr lang="de-DE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centralized</a:t>
            </a:r>
            <a:r>
              <a:rPr lang="de-D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?!</a:t>
            </a:r>
            <a:endParaRPr lang="en-US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en-US" dirty="0">
              <a:solidFill>
                <a:srgbClr val="C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r>
              <a:rPr lang="en-US" i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endParaRPr lang="de-DE"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" name="Google Shape;1656;g60be7dcf1c_0_555">
            <a:extLst>
              <a:ext uri="{FF2B5EF4-FFF2-40B4-BE49-F238E27FC236}">
                <a16:creationId xmlns:a16="http://schemas.microsoft.com/office/drawing/2014/main" id="{D01CC685-95B3-4B32-899B-1B152C35B367}"/>
              </a:ext>
            </a:extLst>
          </p:cNvPr>
          <p:cNvSpPr txBox="1"/>
          <p:nvPr/>
        </p:nvSpPr>
        <p:spPr>
          <a:xfrm>
            <a:off x="0" y="540000"/>
            <a:ext cx="8211000" cy="101893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7B6C332-8525-437D-A710-85C8CB9F3E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0824566">
            <a:off x="676923" y="3491627"/>
            <a:ext cx="3860798" cy="217540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5AC7530-1B05-47D4-88F8-F8D07B178F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31879">
            <a:off x="5002153" y="3853026"/>
            <a:ext cx="3728617" cy="1565031"/>
          </a:xfrm>
          <a:prstGeom prst="rect">
            <a:avLst/>
          </a:prstGeom>
        </p:spPr>
      </p:pic>
      <p:sp>
        <p:nvSpPr>
          <p:cNvPr id="4" name="Rectangle 11">
            <a:extLst>
              <a:ext uri="{FF2B5EF4-FFF2-40B4-BE49-F238E27FC236}">
                <a16:creationId xmlns:a16="http://schemas.microsoft.com/office/drawing/2014/main" id="{FDF4CF1D-9989-24A5-DA09-778B5675AA7E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47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7" name="Google Shape;1657;g60be7dcf1c_0_555">
            <a:extLst>
              <a:ext uri="{FF2B5EF4-FFF2-40B4-BE49-F238E27FC236}">
                <a16:creationId xmlns:a16="http://schemas.microsoft.com/office/drawing/2014/main" id="{0EA64E7E-E9BE-F8B5-CFDB-9E85442ADFF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3075" y="26970"/>
            <a:ext cx="8171100" cy="1573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en-GB" sz="2000" dirty="0"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2000" dirty="0">
                <a:latin typeface="Consolas"/>
                <a:ea typeface="Consolas"/>
                <a:cs typeface="Consolas"/>
                <a:sym typeface="Consolas"/>
              </a:rPr>
              <a:t>Challenge: Impact of Reconfigurations on</a:t>
            </a:r>
            <a:endParaRPr lang="en-GB" sz="40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4000" dirty="0">
                <a:latin typeface="Consolas"/>
                <a:ea typeface="Consolas"/>
                <a:cs typeface="Consolas"/>
                <a:sym typeface="Consolas"/>
              </a:rPr>
              <a:t>Congestion Control?</a:t>
            </a:r>
            <a:endParaRPr lang="en-GB" sz="4000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91622274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42">
            <a:extLst>
              <a:ext uri="{FF2B5EF4-FFF2-40B4-BE49-F238E27FC236}">
                <a16:creationId xmlns:a16="http://schemas.microsoft.com/office/drawing/2014/main" id="{E2F1E1AA-3C89-424C-A913-8E50B6820CD1}"/>
              </a:ext>
            </a:extLst>
          </p:cNvPr>
          <p:cNvSpPr txBox="1">
            <a:spLocks/>
          </p:cNvSpPr>
          <p:nvPr/>
        </p:nvSpPr>
        <p:spPr>
          <a:xfrm rot="7805420">
            <a:off x="4450469" y="4358314"/>
            <a:ext cx="3392440" cy="96574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3600" b="1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  <a:lvl2pPr marL="0" marR="0" indent="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3600" b="1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2pPr>
            <a:lvl3pPr marL="0" indent="228600">
              <a:buClr>
                <a:schemeClr val="dk1"/>
              </a:buClr>
              <a:buSzPct val="100000"/>
              <a:buNone/>
              <a:defRPr sz="3600" b="1">
                <a:solidFill>
                  <a:schemeClr val="dk1"/>
                </a:solidFill>
              </a:defRPr>
            </a:lvl3pPr>
            <a:lvl4pPr marL="0" indent="228600">
              <a:buClr>
                <a:schemeClr val="dk1"/>
              </a:buClr>
              <a:buSzPct val="100000"/>
              <a:buNone/>
              <a:defRPr sz="3600" b="1">
                <a:solidFill>
                  <a:schemeClr val="dk1"/>
                </a:solidFill>
              </a:defRPr>
            </a:lvl4pPr>
            <a:lvl5pPr marL="0" indent="228600">
              <a:buClr>
                <a:schemeClr val="dk1"/>
              </a:buClr>
              <a:buSzPct val="100000"/>
              <a:buNone/>
              <a:defRPr sz="3600" b="1">
                <a:solidFill>
                  <a:schemeClr val="dk1"/>
                </a:solidFill>
              </a:defRPr>
            </a:lvl5pPr>
            <a:lvl6pPr marL="0" indent="228600">
              <a:buClr>
                <a:schemeClr val="dk1"/>
              </a:buClr>
              <a:buSzPct val="100000"/>
              <a:buNone/>
              <a:defRPr sz="3600" b="1">
                <a:solidFill>
                  <a:schemeClr val="dk1"/>
                </a:solidFill>
              </a:defRPr>
            </a:lvl6pPr>
            <a:lvl7pPr marL="0" indent="228600">
              <a:buClr>
                <a:schemeClr val="dk1"/>
              </a:buClr>
              <a:buSzPct val="100000"/>
              <a:buNone/>
              <a:defRPr sz="3600" b="1">
                <a:solidFill>
                  <a:schemeClr val="dk1"/>
                </a:solidFill>
              </a:defRPr>
            </a:lvl7pPr>
            <a:lvl8pPr marL="0" indent="228600">
              <a:buClr>
                <a:schemeClr val="dk1"/>
              </a:buClr>
              <a:buSzPct val="100000"/>
              <a:buNone/>
              <a:defRPr sz="3600" b="1">
                <a:solidFill>
                  <a:schemeClr val="dk1"/>
                </a:solidFill>
              </a:defRPr>
            </a:lvl8pPr>
            <a:lvl9pPr marL="0" indent="228600">
              <a:buClr>
                <a:schemeClr val="dk1"/>
              </a:buClr>
              <a:buSzPct val="100000"/>
              <a:buNone/>
              <a:defRPr sz="3600" b="1">
                <a:solidFill>
                  <a:schemeClr val="dk1"/>
                </a:solidFill>
              </a:defRPr>
            </a:lvl9pPr>
          </a:lstStyle>
          <a:p>
            <a:pPr algn="ctr"/>
            <a:r>
              <a:rPr lang="de-CH" sz="2000" i="1" dirty="0">
                <a:solidFill>
                  <a:schemeClr val="bg1"/>
                </a:solidFill>
                <a:latin typeface="Consolas" panose="020B0609020204030204" pitchFamily="49" charset="0"/>
              </a:rPr>
              <a:t>Design</a:t>
            </a:r>
          </a:p>
        </p:txBody>
      </p:sp>
      <p:sp>
        <p:nvSpPr>
          <p:cNvPr id="10" name="Google Shape;1277;g60be7dcf1c_0_190">
            <a:extLst>
              <a:ext uri="{FF2B5EF4-FFF2-40B4-BE49-F238E27FC236}">
                <a16:creationId xmlns:a16="http://schemas.microsoft.com/office/drawing/2014/main" id="{CCD16776-C2ED-4D73-950E-D2FE6F99DAE5}"/>
              </a:ext>
            </a:extLst>
          </p:cNvPr>
          <p:cNvSpPr txBox="1"/>
          <p:nvPr/>
        </p:nvSpPr>
        <p:spPr>
          <a:xfrm>
            <a:off x="790564" y="2238103"/>
            <a:ext cx="771771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Existing congestion control algorithms based on either</a:t>
            </a:r>
          </a:p>
          <a:p>
            <a:pPr lvl="0">
              <a:lnSpc>
                <a:spcPct val="115000"/>
              </a:lnSpc>
              <a:buClr>
                <a:schemeClr val="dk1"/>
              </a:buClr>
              <a:buSzPts val="1100"/>
            </a:pPr>
            <a:endParaRPr lang="en-GB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⇢ State (“</a:t>
            </a:r>
            <a:r>
              <a:rPr lang="en-GB" sz="1600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voltage</a:t>
            </a: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”) like </a:t>
            </a:r>
            <a:r>
              <a:rPr lang="en-GB" sz="1600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BDP, queue length, </a:t>
            </a:r>
          </a:p>
          <a:p>
            <a:pPr lvl="0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GB" sz="1600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   loss</a:t>
            </a:r>
            <a:r>
              <a:rPr lang="en-GB" sz="1600" dirty="0">
                <a:solidFill>
                  <a:schemeClr val="tx1"/>
                </a:solidFill>
                <a:latin typeface="Consolas"/>
                <a:ea typeface="Consolas"/>
                <a:cs typeface="Consolas"/>
                <a:sym typeface="Consolas"/>
              </a:rPr>
              <a:t>, e.g.:</a:t>
            </a:r>
          </a:p>
          <a:p>
            <a:pPr lvl="0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⇢ DCTCP: uses ECN/loss</a:t>
            </a:r>
          </a:p>
          <a:p>
            <a:pPr lvl="0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⇢ Swift: RTT</a:t>
            </a:r>
          </a:p>
          <a:p>
            <a:pPr lvl="0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⇢ HPCC: inflight packets</a:t>
            </a:r>
          </a:p>
          <a:p>
            <a:pPr lvl="0">
              <a:lnSpc>
                <a:spcPct val="115000"/>
              </a:lnSpc>
              <a:buClr>
                <a:schemeClr val="dk1"/>
              </a:buClr>
              <a:buSzPts val="1100"/>
            </a:pPr>
            <a:endParaRPr lang="en-GB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⇢ Gradient (“</a:t>
            </a:r>
            <a:r>
              <a:rPr lang="en-GB" sz="1600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current</a:t>
            </a: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”) like reaction to </a:t>
            </a:r>
            <a:r>
              <a:rPr lang="en-GB" sz="1600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queue </a:t>
            </a:r>
          </a:p>
          <a:p>
            <a:pPr lvl="0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GB" sz="1600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   length change</a:t>
            </a:r>
            <a:endParaRPr lang="en-GB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⇢ Timely: RTT-gradient based</a:t>
            </a:r>
          </a:p>
          <a:p>
            <a:pPr lvl="0">
              <a:lnSpc>
                <a:spcPct val="115000"/>
              </a:lnSpc>
              <a:buClr>
                <a:schemeClr val="dk1"/>
              </a:buClr>
              <a:buSzPts val="1100"/>
            </a:pPr>
            <a:endParaRPr lang="en-GB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2" name="Google Shape;1530;g60be7dcf1c_0_434">
            <a:extLst>
              <a:ext uri="{FF2B5EF4-FFF2-40B4-BE49-F238E27FC236}">
                <a16:creationId xmlns:a16="http://schemas.microsoft.com/office/drawing/2014/main" id="{44D03192-A04F-4F5E-8F1F-358E8E35C5D6}"/>
              </a:ext>
            </a:extLst>
          </p:cNvPr>
          <p:cNvSpPr txBox="1"/>
          <p:nvPr/>
        </p:nvSpPr>
        <p:spPr>
          <a:xfrm>
            <a:off x="0" y="540000"/>
            <a:ext cx="8211000" cy="958724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73" name="Google Shape;1810;g60be7dcf1c_0_698">
            <a:extLst>
              <a:ext uri="{FF2B5EF4-FFF2-40B4-BE49-F238E27FC236}">
                <a16:creationId xmlns:a16="http://schemas.microsoft.com/office/drawing/2014/main" id="{529A4CD2-0546-443A-9307-FFA1A29D9FD1}"/>
              </a:ext>
            </a:extLst>
          </p:cNvPr>
          <p:cNvSpPr txBox="1">
            <a:spLocks/>
          </p:cNvSpPr>
          <p:nvPr/>
        </p:nvSpPr>
        <p:spPr>
          <a:xfrm>
            <a:off x="973075" y="324175"/>
            <a:ext cx="8171100" cy="1323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buSzPts val="1100"/>
            </a:pPr>
            <a:r>
              <a:rPr lang="en-GB" sz="2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Case Study:</a:t>
            </a:r>
          </a:p>
          <a:p>
            <a:pPr algn="l">
              <a:buSzPts val="1100"/>
            </a:pPr>
            <a:r>
              <a:rPr lang="en-GB" sz="3800" dirty="0" err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PowerTCP</a:t>
            </a:r>
            <a:endParaRPr lang="en-GB" sz="3800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C80072-70BF-449D-9C35-5E9A575C165C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48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4460303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277;g60be7dcf1c_0_190">
            <a:extLst>
              <a:ext uri="{FF2B5EF4-FFF2-40B4-BE49-F238E27FC236}">
                <a16:creationId xmlns:a16="http://schemas.microsoft.com/office/drawing/2014/main" id="{CCD16776-C2ED-4D73-950E-D2FE6F99DAE5}"/>
              </a:ext>
            </a:extLst>
          </p:cNvPr>
          <p:cNvSpPr txBox="1"/>
          <p:nvPr/>
        </p:nvSpPr>
        <p:spPr>
          <a:xfrm>
            <a:off x="790564" y="2238103"/>
            <a:ext cx="771771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Existing congestion control algorithms based on either</a:t>
            </a:r>
          </a:p>
          <a:p>
            <a:pPr lvl="0">
              <a:lnSpc>
                <a:spcPct val="115000"/>
              </a:lnSpc>
              <a:buClr>
                <a:schemeClr val="dk1"/>
              </a:buClr>
              <a:buSzPts val="1100"/>
            </a:pPr>
            <a:endParaRPr lang="en-GB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⇢ State (“</a:t>
            </a:r>
            <a:r>
              <a:rPr lang="en-GB" sz="1600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voltage</a:t>
            </a: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”) like </a:t>
            </a:r>
            <a:r>
              <a:rPr lang="en-GB" sz="1600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BDP, queue length, </a:t>
            </a:r>
          </a:p>
          <a:p>
            <a:pPr lvl="0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GB" sz="1600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   loss</a:t>
            </a:r>
            <a:r>
              <a:rPr lang="en-GB" sz="1600" dirty="0">
                <a:solidFill>
                  <a:schemeClr val="tx1"/>
                </a:solidFill>
                <a:latin typeface="Consolas"/>
                <a:ea typeface="Consolas"/>
                <a:cs typeface="Consolas"/>
                <a:sym typeface="Consolas"/>
              </a:rPr>
              <a:t>, e.g.:</a:t>
            </a:r>
          </a:p>
          <a:p>
            <a:pPr lvl="0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⇢ DCTCP: uses ECN/loss</a:t>
            </a:r>
          </a:p>
          <a:p>
            <a:pPr lvl="0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⇢ Swift: RTT</a:t>
            </a:r>
          </a:p>
          <a:p>
            <a:pPr lvl="0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⇢ HPCC: inflight packets</a:t>
            </a:r>
          </a:p>
          <a:p>
            <a:pPr lvl="0">
              <a:lnSpc>
                <a:spcPct val="115000"/>
              </a:lnSpc>
              <a:buClr>
                <a:schemeClr val="dk1"/>
              </a:buClr>
              <a:buSzPts val="1100"/>
            </a:pPr>
            <a:endParaRPr lang="en-GB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⇢ Gradient (“</a:t>
            </a:r>
            <a:r>
              <a:rPr lang="en-GB" sz="1600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current</a:t>
            </a: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”) like reaction to </a:t>
            </a:r>
            <a:r>
              <a:rPr lang="en-GB" sz="1600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queue </a:t>
            </a:r>
          </a:p>
          <a:p>
            <a:pPr lvl="0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GB" sz="1600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   length change</a:t>
            </a:r>
            <a:endParaRPr lang="en-GB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⇢ Timely: RTT-gradient based</a:t>
            </a:r>
          </a:p>
          <a:p>
            <a:pPr lvl="0">
              <a:lnSpc>
                <a:spcPct val="115000"/>
              </a:lnSpc>
              <a:buClr>
                <a:schemeClr val="dk1"/>
              </a:buClr>
              <a:buSzPts val="1100"/>
            </a:pPr>
            <a:endParaRPr lang="en-GB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2" name="Google Shape;1530;g60be7dcf1c_0_434">
            <a:extLst>
              <a:ext uri="{FF2B5EF4-FFF2-40B4-BE49-F238E27FC236}">
                <a16:creationId xmlns:a16="http://schemas.microsoft.com/office/drawing/2014/main" id="{44D03192-A04F-4F5E-8F1F-358E8E35C5D6}"/>
              </a:ext>
            </a:extLst>
          </p:cNvPr>
          <p:cNvSpPr txBox="1"/>
          <p:nvPr/>
        </p:nvSpPr>
        <p:spPr>
          <a:xfrm>
            <a:off x="0" y="540000"/>
            <a:ext cx="8211000" cy="958724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73" name="Google Shape;1810;g60be7dcf1c_0_698">
            <a:extLst>
              <a:ext uri="{FF2B5EF4-FFF2-40B4-BE49-F238E27FC236}">
                <a16:creationId xmlns:a16="http://schemas.microsoft.com/office/drawing/2014/main" id="{529A4CD2-0546-443A-9307-FFA1A29D9FD1}"/>
              </a:ext>
            </a:extLst>
          </p:cNvPr>
          <p:cNvSpPr txBox="1">
            <a:spLocks/>
          </p:cNvSpPr>
          <p:nvPr/>
        </p:nvSpPr>
        <p:spPr>
          <a:xfrm>
            <a:off x="973075" y="324175"/>
            <a:ext cx="8171100" cy="1323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buSzPts val="1100"/>
            </a:pPr>
            <a:r>
              <a:rPr lang="en-GB" sz="2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Case Study:</a:t>
            </a:r>
          </a:p>
          <a:p>
            <a:pPr algn="l">
              <a:buSzPts val="1100"/>
            </a:pPr>
            <a:r>
              <a:rPr lang="en-GB" sz="3800" dirty="0" err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PowerTCP</a:t>
            </a:r>
            <a:endParaRPr lang="en-GB" sz="3800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9FFEF51E-18F6-481A-88DE-716B8A89D3AA}"/>
              </a:ext>
            </a:extLst>
          </p:cNvPr>
          <p:cNvSpPr/>
          <p:nvPr/>
        </p:nvSpPr>
        <p:spPr>
          <a:xfrm>
            <a:off x="5955094" y="3002661"/>
            <a:ext cx="455616" cy="1142619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T" dirty="0"/>
          </a:p>
        </p:txBody>
      </p:sp>
      <p:sp>
        <p:nvSpPr>
          <p:cNvPr id="7" name="Google Shape;1277;g60be7dcf1c_0_190">
            <a:extLst>
              <a:ext uri="{FF2B5EF4-FFF2-40B4-BE49-F238E27FC236}">
                <a16:creationId xmlns:a16="http://schemas.microsoft.com/office/drawing/2014/main" id="{18078649-B512-448D-928D-B456C803AEC9}"/>
              </a:ext>
            </a:extLst>
          </p:cNvPr>
          <p:cNvSpPr txBox="1"/>
          <p:nvPr/>
        </p:nvSpPr>
        <p:spPr>
          <a:xfrm>
            <a:off x="6329570" y="2892914"/>
            <a:ext cx="2727345" cy="643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Wingdings" panose="05000000000000000000" pitchFamily="2" charset="2"/>
              </a:rPr>
              <a:t> Can achieve near-zero queue equilibrium</a:t>
            </a: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" name="Google Shape;1277;g60be7dcf1c_0_190">
            <a:extLst>
              <a:ext uri="{FF2B5EF4-FFF2-40B4-BE49-F238E27FC236}">
                <a16:creationId xmlns:a16="http://schemas.microsoft.com/office/drawing/2014/main" id="{87BA034C-9ED6-4768-8BAD-92DE61AB30F4}"/>
              </a:ext>
            </a:extLst>
          </p:cNvPr>
          <p:cNvSpPr txBox="1"/>
          <p:nvPr/>
        </p:nvSpPr>
        <p:spPr>
          <a:xfrm>
            <a:off x="6095820" y="3657472"/>
            <a:ext cx="2727345" cy="643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Wingdings" panose="05000000000000000000" pitchFamily="2" charset="2"/>
              </a:rPr>
              <a:t> Slow reaction</a:t>
            </a: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58F2177-ABD7-4195-A418-6E2BACAC63FD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49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3252058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277;g60be7dcf1c_0_190">
            <a:extLst>
              <a:ext uri="{FF2B5EF4-FFF2-40B4-BE49-F238E27FC236}">
                <a16:creationId xmlns:a16="http://schemas.microsoft.com/office/drawing/2014/main" id="{CCD16776-C2ED-4D73-950E-D2FE6F99DAE5}"/>
              </a:ext>
            </a:extLst>
          </p:cNvPr>
          <p:cNvSpPr txBox="1"/>
          <p:nvPr/>
        </p:nvSpPr>
        <p:spPr>
          <a:xfrm>
            <a:off x="790564" y="2238103"/>
            <a:ext cx="771771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Existing congestion control algorithms based on either</a:t>
            </a:r>
          </a:p>
          <a:p>
            <a:pPr lvl="0">
              <a:lnSpc>
                <a:spcPct val="115000"/>
              </a:lnSpc>
              <a:buClr>
                <a:schemeClr val="dk1"/>
              </a:buClr>
              <a:buSzPts val="1100"/>
            </a:pPr>
            <a:endParaRPr lang="en-GB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⇢ State (“</a:t>
            </a:r>
            <a:r>
              <a:rPr lang="en-GB" sz="1600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voltage</a:t>
            </a: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”) like </a:t>
            </a:r>
            <a:r>
              <a:rPr lang="en-GB" sz="1600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BDP, queue length, </a:t>
            </a:r>
          </a:p>
          <a:p>
            <a:pPr lvl="0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GB" sz="1600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   loss</a:t>
            </a:r>
            <a:r>
              <a:rPr lang="en-GB" sz="1600" dirty="0">
                <a:solidFill>
                  <a:schemeClr val="tx1"/>
                </a:solidFill>
                <a:latin typeface="Consolas"/>
                <a:ea typeface="Consolas"/>
                <a:cs typeface="Consolas"/>
                <a:sym typeface="Consolas"/>
              </a:rPr>
              <a:t>, e.g.:</a:t>
            </a:r>
          </a:p>
          <a:p>
            <a:pPr lvl="0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⇢ DCTCP: uses ECN/loss</a:t>
            </a:r>
          </a:p>
          <a:p>
            <a:pPr lvl="0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⇢ Swift: RTT</a:t>
            </a:r>
          </a:p>
          <a:p>
            <a:pPr lvl="0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⇢ HPCC: inflight packets</a:t>
            </a:r>
          </a:p>
          <a:p>
            <a:pPr lvl="0">
              <a:lnSpc>
                <a:spcPct val="115000"/>
              </a:lnSpc>
              <a:buClr>
                <a:schemeClr val="dk1"/>
              </a:buClr>
              <a:buSzPts val="1100"/>
            </a:pPr>
            <a:endParaRPr lang="en-GB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⇢ Gradient (“</a:t>
            </a:r>
            <a:r>
              <a:rPr lang="en-GB" sz="1600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current</a:t>
            </a: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”) like reaction to </a:t>
            </a:r>
            <a:r>
              <a:rPr lang="en-GB" sz="1600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queue </a:t>
            </a:r>
          </a:p>
          <a:p>
            <a:pPr lvl="0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GB" sz="1600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   length change</a:t>
            </a:r>
            <a:endParaRPr lang="en-GB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⇢ Timely: RTT-gradient based</a:t>
            </a:r>
          </a:p>
          <a:p>
            <a:pPr lvl="0">
              <a:lnSpc>
                <a:spcPct val="115000"/>
              </a:lnSpc>
              <a:buClr>
                <a:schemeClr val="dk1"/>
              </a:buClr>
              <a:buSzPts val="1100"/>
            </a:pPr>
            <a:endParaRPr lang="en-GB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2" name="Google Shape;1530;g60be7dcf1c_0_434">
            <a:extLst>
              <a:ext uri="{FF2B5EF4-FFF2-40B4-BE49-F238E27FC236}">
                <a16:creationId xmlns:a16="http://schemas.microsoft.com/office/drawing/2014/main" id="{44D03192-A04F-4F5E-8F1F-358E8E35C5D6}"/>
              </a:ext>
            </a:extLst>
          </p:cNvPr>
          <p:cNvSpPr txBox="1"/>
          <p:nvPr/>
        </p:nvSpPr>
        <p:spPr>
          <a:xfrm>
            <a:off x="0" y="540000"/>
            <a:ext cx="8211000" cy="958724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73" name="Google Shape;1810;g60be7dcf1c_0_698">
            <a:extLst>
              <a:ext uri="{FF2B5EF4-FFF2-40B4-BE49-F238E27FC236}">
                <a16:creationId xmlns:a16="http://schemas.microsoft.com/office/drawing/2014/main" id="{529A4CD2-0546-443A-9307-FFA1A29D9FD1}"/>
              </a:ext>
            </a:extLst>
          </p:cNvPr>
          <p:cNvSpPr txBox="1">
            <a:spLocks/>
          </p:cNvSpPr>
          <p:nvPr/>
        </p:nvSpPr>
        <p:spPr>
          <a:xfrm>
            <a:off x="973075" y="324175"/>
            <a:ext cx="8171100" cy="1323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buSzPts val="1100"/>
            </a:pPr>
            <a:r>
              <a:rPr lang="en-GB" sz="2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Case Study:</a:t>
            </a:r>
          </a:p>
          <a:p>
            <a:pPr algn="l">
              <a:buSzPts val="1100"/>
            </a:pPr>
            <a:r>
              <a:rPr lang="en-GB" sz="3800" dirty="0" err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PowerTCP</a:t>
            </a:r>
            <a:endParaRPr lang="en-GB" sz="3800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9FFEF51E-18F6-481A-88DE-716B8A89D3AA}"/>
              </a:ext>
            </a:extLst>
          </p:cNvPr>
          <p:cNvSpPr/>
          <p:nvPr/>
        </p:nvSpPr>
        <p:spPr>
          <a:xfrm>
            <a:off x="5955094" y="4396034"/>
            <a:ext cx="455616" cy="1142619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T" dirty="0"/>
          </a:p>
        </p:txBody>
      </p:sp>
      <p:sp>
        <p:nvSpPr>
          <p:cNvPr id="7" name="Google Shape;1277;g60be7dcf1c_0_190">
            <a:extLst>
              <a:ext uri="{FF2B5EF4-FFF2-40B4-BE49-F238E27FC236}">
                <a16:creationId xmlns:a16="http://schemas.microsoft.com/office/drawing/2014/main" id="{18078649-B512-448D-928D-B456C803AEC9}"/>
              </a:ext>
            </a:extLst>
          </p:cNvPr>
          <p:cNvSpPr txBox="1"/>
          <p:nvPr/>
        </p:nvSpPr>
        <p:spPr>
          <a:xfrm>
            <a:off x="6182902" y="4511024"/>
            <a:ext cx="2727345" cy="643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Wingdings" panose="05000000000000000000" pitchFamily="2" charset="2"/>
              </a:rPr>
              <a:t> Fast reaction</a:t>
            </a: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" name="Google Shape;1277;g60be7dcf1c_0_190">
            <a:extLst>
              <a:ext uri="{FF2B5EF4-FFF2-40B4-BE49-F238E27FC236}">
                <a16:creationId xmlns:a16="http://schemas.microsoft.com/office/drawing/2014/main" id="{87BA034C-9ED6-4768-8BAD-92DE61AB30F4}"/>
              </a:ext>
            </a:extLst>
          </p:cNvPr>
          <p:cNvSpPr txBox="1"/>
          <p:nvPr/>
        </p:nvSpPr>
        <p:spPr>
          <a:xfrm>
            <a:off x="6182902" y="5069204"/>
            <a:ext cx="2727345" cy="643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Wingdings" panose="05000000000000000000" pitchFamily="2" charset="2"/>
              </a:rPr>
              <a:t> No equilibrium</a:t>
            </a: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5F42CF9-4F76-46CE-B83A-1D967F5B70A1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49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7936713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42">
            <a:extLst>
              <a:ext uri="{FF2B5EF4-FFF2-40B4-BE49-F238E27FC236}">
                <a16:creationId xmlns:a16="http://schemas.microsoft.com/office/drawing/2014/main" id="{E2F1E1AA-3C89-424C-A913-8E50B6820CD1}"/>
              </a:ext>
            </a:extLst>
          </p:cNvPr>
          <p:cNvSpPr txBox="1">
            <a:spLocks/>
          </p:cNvSpPr>
          <p:nvPr/>
        </p:nvSpPr>
        <p:spPr>
          <a:xfrm rot="7805420">
            <a:off x="4450469" y="4358314"/>
            <a:ext cx="3392440" cy="96574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3600" b="1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  <a:lvl2pPr marL="0" marR="0" indent="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3600" b="1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2pPr>
            <a:lvl3pPr marL="0" indent="228600">
              <a:buClr>
                <a:schemeClr val="dk1"/>
              </a:buClr>
              <a:buSzPct val="100000"/>
              <a:buNone/>
              <a:defRPr sz="3600" b="1">
                <a:solidFill>
                  <a:schemeClr val="dk1"/>
                </a:solidFill>
              </a:defRPr>
            </a:lvl3pPr>
            <a:lvl4pPr marL="0" indent="228600">
              <a:buClr>
                <a:schemeClr val="dk1"/>
              </a:buClr>
              <a:buSzPct val="100000"/>
              <a:buNone/>
              <a:defRPr sz="3600" b="1">
                <a:solidFill>
                  <a:schemeClr val="dk1"/>
                </a:solidFill>
              </a:defRPr>
            </a:lvl4pPr>
            <a:lvl5pPr marL="0" indent="228600">
              <a:buClr>
                <a:schemeClr val="dk1"/>
              </a:buClr>
              <a:buSzPct val="100000"/>
              <a:buNone/>
              <a:defRPr sz="3600" b="1">
                <a:solidFill>
                  <a:schemeClr val="dk1"/>
                </a:solidFill>
              </a:defRPr>
            </a:lvl5pPr>
            <a:lvl6pPr marL="0" indent="228600">
              <a:buClr>
                <a:schemeClr val="dk1"/>
              </a:buClr>
              <a:buSzPct val="100000"/>
              <a:buNone/>
              <a:defRPr sz="3600" b="1">
                <a:solidFill>
                  <a:schemeClr val="dk1"/>
                </a:solidFill>
              </a:defRPr>
            </a:lvl6pPr>
            <a:lvl7pPr marL="0" indent="228600">
              <a:buClr>
                <a:schemeClr val="dk1"/>
              </a:buClr>
              <a:buSzPct val="100000"/>
              <a:buNone/>
              <a:defRPr sz="3600" b="1">
                <a:solidFill>
                  <a:schemeClr val="dk1"/>
                </a:solidFill>
              </a:defRPr>
            </a:lvl7pPr>
            <a:lvl8pPr marL="0" indent="228600">
              <a:buClr>
                <a:schemeClr val="dk1"/>
              </a:buClr>
              <a:buSzPct val="100000"/>
              <a:buNone/>
              <a:defRPr sz="3600" b="1">
                <a:solidFill>
                  <a:schemeClr val="dk1"/>
                </a:solidFill>
              </a:defRPr>
            </a:lvl8pPr>
            <a:lvl9pPr marL="0" indent="228600">
              <a:buClr>
                <a:schemeClr val="dk1"/>
              </a:buClr>
              <a:buSzPct val="100000"/>
              <a:buNone/>
              <a:defRPr sz="3600" b="1">
                <a:solidFill>
                  <a:schemeClr val="dk1"/>
                </a:solidFill>
              </a:defRPr>
            </a:lvl9pPr>
          </a:lstStyle>
          <a:p>
            <a:pPr algn="ctr"/>
            <a:r>
              <a:rPr lang="de-CH" sz="2000" i="1" dirty="0">
                <a:solidFill>
                  <a:schemeClr val="bg1"/>
                </a:solidFill>
                <a:latin typeface="Consolas" panose="020B0609020204030204" pitchFamily="49" charset="0"/>
              </a:rPr>
              <a:t>Design</a:t>
            </a:r>
          </a:p>
        </p:txBody>
      </p:sp>
      <p:sp>
        <p:nvSpPr>
          <p:cNvPr id="10" name="Google Shape;1277;g60be7dcf1c_0_190">
            <a:extLst>
              <a:ext uri="{FF2B5EF4-FFF2-40B4-BE49-F238E27FC236}">
                <a16:creationId xmlns:a16="http://schemas.microsoft.com/office/drawing/2014/main" id="{CCD16776-C2ED-4D73-950E-D2FE6F99DAE5}"/>
              </a:ext>
            </a:extLst>
          </p:cNvPr>
          <p:cNvSpPr txBox="1"/>
          <p:nvPr/>
        </p:nvSpPr>
        <p:spPr>
          <a:xfrm>
            <a:off x="790564" y="2238103"/>
            <a:ext cx="771771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Existing congestion control algorithms based on either</a:t>
            </a:r>
          </a:p>
          <a:p>
            <a:pPr lvl="0">
              <a:lnSpc>
                <a:spcPct val="115000"/>
              </a:lnSpc>
              <a:buClr>
                <a:schemeClr val="dk1"/>
              </a:buClr>
              <a:buSzPts val="1100"/>
            </a:pPr>
            <a:endParaRPr lang="en-GB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⇢ State (“</a:t>
            </a:r>
            <a:r>
              <a:rPr lang="en-GB" sz="1600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voltage</a:t>
            </a: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”) like </a:t>
            </a:r>
            <a:r>
              <a:rPr lang="en-GB" sz="1600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BDP, queue length, </a:t>
            </a:r>
          </a:p>
          <a:p>
            <a:pPr lvl="0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GB" sz="1600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   loss</a:t>
            </a:r>
            <a:r>
              <a:rPr lang="en-GB" sz="1600" dirty="0">
                <a:solidFill>
                  <a:schemeClr val="tx1"/>
                </a:solidFill>
                <a:latin typeface="Consolas"/>
                <a:ea typeface="Consolas"/>
                <a:cs typeface="Consolas"/>
                <a:sym typeface="Consolas"/>
              </a:rPr>
              <a:t>, e.g.:</a:t>
            </a:r>
          </a:p>
          <a:p>
            <a:pPr lvl="0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⇢ DCTCP: uses ECN/loss</a:t>
            </a:r>
          </a:p>
          <a:p>
            <a:pPr lvl="0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⇢ Swift: RTT</a:t>
            </a:r>
          </a:p>
          <a:p>
            <a:pPr lvl="0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⇢ HPCC: inflight packets</a:t>
            </a:r>
          </a:p>
          <a:p>
            <a:pPr lvl="0">
              <a:lnSpc>
                <a:spcPct val="115000"/>
              </a:lnSpc>
              <a:buClr>
                <a:schemeClr val="dk1"/>
              </a:buClr>
              <a:buSzPts val="1100"/>
            </a:pPr>
            <a:endParaRPr lang="en-GB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⇢ Gradient (“</a:t>
            </a:r>
            <a:r>
              <a:rPr lang="en-GB" sz="1600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current</a:t>
            </a: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”) like reaction to </a:t>
            </a:r>
            <a:r>
              <a:rPr lang="en-GB" sz="1600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queue </a:t>
            </a:r>
          </a:p>
          <a:p>
            <a:pPr lvl="0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GB" sz="1600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   length change</a:t>
            </a:r>
            <a:endParaRPr lang="en-GB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⇢ Timely: RTT-gradient based</a:t>
            </a:r>
          </a:p>
          <a:p>
            <a:pPr lvl="0">
              <a:lnSpc>
                <a:spcPct val="115000"/>
              </a:lnSpc>
              <a:buClr>
                <a:schemeClr val="dk1"/>
              </a:buClr>
              <a:buSzPts val="1100"/>
            </a:pPr>
            <a:endParaRPr lang="en-GB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GB" sz="1600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Limitation: using only one of the two </a:t>
            </a:r>
          </a:p>
          <a:p>
            <a:pPr lvl="0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GB" sz="1600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may miss useful information for fine-grained adaptions!</a:t>
            </a: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2" name="Google Shape;1530;g60be7dcf1c_0_434">
            <a:extLst>
              <a:ext uri="{FF2B5EF4-FFF2-40B4-BE49-F238E27FC236}">
                <a16:creationId xmlns:a16="http://schemas.microsoft.com/office/drawing/2014/main" id="{44D03192-A04F-4F5E-8F1F-358E8E35C5D6}"/>
              </a:ext>
            </a:extLst>
          </p:cNvPr>
          <p:cNvSpPr txBox="1"/>
          <p:nvPr/>
        </p:nvSpPr>
        <p:spPr>
          <a:xfrm>
            <a:off x="0" y="540000"/>
            <a:ext cx="8211000" cy="958724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73" name="Google Shape;1810;g60be7dcf1c_0_698">
            <a:extLst>
              <a:ext uri="{FF2B5EF4-FFF2-40B4-BE49-F238E27FC236}">
                <a16:creationId xmlns:a16="http://schemas.microsoft.com/office/drawing/2014/main" id="{529A4CD2-0546-443A-9307-FFA1A29D9FD1}"/>
              </a:ext>
            </a:extLst>
          </p:cNvPr>
          <p:cNvSpPr txBox="1">
            <a:spLocks/>
          </p:cNvSpPr>
          <p:nvPr/>
        </p:nvSpPr>
        <p:spPr>
          <a:xfrm>
            <a:off x="973075" y="324175"/>
            <a:ext cx="8171100" cy="1323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buSzPts val="1100"/>
            </a:pPr>
            <a:r>
              <a:rPr lang="en-GB" sz="2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Case Study:</a:t>
            </a:r>
          </a:p>
          <a:p>
            <a:pPr algn="l">
              <a:buSzPts val="1100"/>
            </a:pPr>
            <a:r>
              <a:rPr lang="en-GB" sz="3800" dirty="0" err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PowerTCP</a:t>
            </a:r>
            <a:endParaRPr lang="en-GB" sz="3800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F78DC46-D431-4AEF-8011-F8D446357A01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49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9007172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42">
            <a:extLst>
              <a:ext uri="{FF2B5EF4-FFF2-40B4-BE49-F238E27FC236}">
                <a16:creationId xmlns:a16="http://schemas.microsoft.com/office/drawing/2014/main" id="{E2F1E1AA-3C89-424C-A913-8E50B6820CD1}"/>
              </a:ext>
            </a:extLst>
          </p:cNvPr>
          <p:cNvSpPr txBox="1">
            <a:spLocks/>
          </p:cNvSpPr>
          <p:nvPr/>
        </p:nvSpPr>
        <p:spPr>
          <a:xfrm rot="7805420">
            <a:off x="4450469" y="4358314"/>
            <a:ext cx="3392440" cy="96574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3600" b="1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  <a:lvl2pPr marL="0" marR="0" indent="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3600" b="1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2pPr>
            <a:lvl3pPr marL="0" indent="228600">
              <a:buClr>
                <a:schemeClr val="dk1"/>
              </a:buClr>
              <a:buSzPct val="100000"/>
              <a:buNone/>
              <a:defRPr sz="3600" b="1">
                <a:solidFill>
                  <a:schemeClr val="dk1"/>
                </a:solidFill>
              </a:defRPr>
            </a:lvl3pPr>
            <a:lvl4pPr marL="0" indent="228600">
              <a:buClr>
                <a:schemeClr val="dk1"/>
              </a:buClr>
              <a:buSzPct val="100000"/>
              <a:buNone/>
              <a:defRPr sz="3600" b="1">
                <a:solidFill>
                  <a:schemeClr val="dk1"/>
                </a:solidFill>
              </a:defRPr>
            </a:lvl4pPr>
            <a:lvl5pPr marL="0" indent="228600">
              <a:buClr>
                <a:schemeClr val="dk1"/>
              </a:buClr>
              <a:buSzPct val="100000"/>
              <a:buNone/>
              <a:defRPr sz="3600" b="1">
                <a:solidFill>
                  <a:schemeClr val="dk1"/>
                </a:solidFill>
              </a:defRPr>
            </a:lvl5pPr>
            <a:lvl6pPr marL="0" indent="228600">
              <a:buClr>
                <a:schemeClr val="dk1"/>
              </a:buClr>
              <a:buSzPct val="100000"/>
              <a:buNone/>
              <a:defRPr sz="3600" b="1">
                <a:solidFill>
                  <a:schemeClr val="dk1"/>
                </a:solidFill>
              </a:defRPr>
            </a:lvl6pPr>
            <a:lvl7pPr marL="0" indent="228600">
              <a:buClr>
                <a:schemeClr val="dk1"/>
              </a:buClr>
              <a:buSzPct val="100000"/>
              <a:buNone/>
              <a:defRPr sz="3600" b="1">
                <a:solidFill>
                  <a:schemeClr val="dk1"/>
                </a:solidFill>
              </a:defRPr>
            </a:lvl7pPr>
            <a:lvl8pPr marL="0" indent="228600">
              <a:buClr>
                <a:schemeClr val="dk1"/>
              </a:buClr>
              <a:buSzPct val="100000"/>
              <a:buNone/>
              <a:defRPr sz="3600" b="1">
                <a:solidFill>
                  <a:schemeClr val="dk1"/>
                </a:solidFill>
              </a:defRPr>
            </a:lvl8pPr>
            <a:lvl9pPr marL="0" indent="228600">
              <a:buClr>
                <a:schemeClr val="dk1"/>
              </a:buClr>
              <a:buSzPct val="100000"/>
              <a:buNone/>
              <a:defRPr sz="3600" b="1">
                <a:solidFill>
                  <a:schemeClr val="dk1"/>
                </a:solidFill>
              </a:defRPr>
            </a:lvl9pPr>
          </a:lstStyle>
          <a:p>
            <a:pPr algn="ctr"/>
            <a:r>
              <a:rPr lang="de-CH" sz="2000" i="1" dirty="0">
                <a:solidFill>
                  <a:schemeClr val="bg1"/>
                </a:solidFill>
                <a:latin typeface="Consolas" panose="020B0609020204030204" pitchFamily="49" charset="0"/>
              </a:rPr>
              <a:t>Design</a:t>
            </a:r>
          </a:p>
        </p:txBody>
      </p:sp>
      <p:sp>
        <p:nvSpPr>
          <p:cNvPr id="72" name="Google Shape;1530;g60be7dcf1c_0_434">
            <a:extLst>
              <a:ext uri="{FF2B5EF4-FFF2-40B4-BE49-F238E27FC236}">
                <a16:creationId xmlns:a16="http://schemas.microsoft.com/office/drawing/2014/main" id="{44D03192-A04F-4F5E-8F1F-358E8E35C5D6}"/>
              </a:ext>
            </a:extLst>
          </p:cNvPr>
          <p:cNvSpPr txBox="1"/>
          <p:nvPr/>
        </p:nvSpPr>
        <p:spPr>
          <a:xfrm>
            <a:off x="0" y="540000"/>
            <a:ext cx="8211000" cy="958724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73" name="Google Shape;1810;g60be7dcf1c_0_698">
            <a:extLst>
              <a:ext uri="{FF2B5EF4-FFF2-40B4-BE49-F238E27FC236}">
                <a16:creationId xmlns:a16="http://schemas.microsoft.com/office/drawing/2014/main" id="{529A4CD2-0546-443A-9307-FFA1A29D9FD1}"/>
              </a:ext>
            </a:extLst>
          </p:cNvPr>
          <p:cNvSpPr txBox="1">
            <a:spLocks/>
          </p:cNvSpPr>
          <p:nvPr/>
        </p:nvSpPr>
        <p:spPr>
          <a:xfrm>
            <a:off x="973075" y="324175"/>
            <a:ext cx="8171100" cy="1323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buSzPts val="1100"/>
            </a:pPr>
            <a:endParaRPr lang="en-GB" sz="2000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algn="l">
              <a:buSzPts val="1100"/>
            </a:pPr>
            <a:r>
              <a:rPr lang="en-GB" sz="38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Limitation of SOTA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2EEC06C-0B9A-41DC-8248-1DBD7FBF83DB}"/>
              </a:ext>
            </a:extLst>
          </p:cNvPr>
          <p:cNvSpPr/>
          <p:nvPr/>
        </p:nvSpPr>
        <p:spPr>
          <a:xfrm>
            <a:off x="1929037" y="2314575"/>
            <a:ext cx="914400" cy="19335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326B47-E17B-4426-BF93-70BD467E993C}"/>
              </a:ext>
            </a:extLst>
          </p:cNvPr>
          <p:cNvSpPr/>
          <p:nvPr/>
        </p:nvSpPr>
        <p:spPr>
          <a:xfrm>
            <a:off x="3653062" y="2314575"/>
            <a:ext cx="914400" cy="19335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33C75FA-64ED-4591-BADC-2E0AD8449226}"/>
              </a:ext>
            </a:extLst>
          </p:cNvPr>
          <p:cNvSpPr/>
          <p:nvPr/>
        </p:nvSpPr>
        <p:spPr>
          <a:xfrm>
            <a:off x="5385234" y="2314575"/>
            <a:ext cx="914400" cy="19335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C12F083-4306-4AF2-8F32-73AC58AFC154}"/>
              </a:ext>
            </a:extLst>
          </p:cNvPr>
          <p:cNvSpPr/>
          <p:nvPr/>
        </p:nvSpPr>
        <p:spPr>
          <a:xfrm>
            <a:off x="1776637" y="2200275"/>
            <a:ext cx="4657725" cy="2762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23B1CA-6225-4F2C-811E-167DFCBAC2A8}"/>
              </a:ext>
            </a:extLst>
          </p:cNvPr>
          <p:cNvSpPr/>
          <p:nvPr/>
        </p:nvSpPr>
        <p:spPr>
          <a:xfrm>
            <a:off x="1995711" y="3990976"/>
            <a:ext cx="771525" cy="171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94BB004-3D6D-432D-9A00-A1F8C6B46557}"/>
              </a:ext>
            </a:extLst>
          </p:cNvPr>
          <p:cNvSpPr/>
          <p:nvPr/>
        </p:nvSpPr>
        <p:spPr>
          <a:xfrm>
            <a:off x="1995711" y="3752852"/>
            <a:ext cx="771525" cy="171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C50FE67-781D-4621-BFBF-407B169FEC5B}"/>
              </a:ext>
            </a:extLst>
          </p:cNvPr>
          <p:cNvSpPr/>
          <p:nvPr/>
        </p:nvSpPr>
        <p:spPr>
          <a:xfrm>
            <a:off x="1995711" y="3514728"/>
            <a:ext cx="771525" cy="171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1311AC9-12DF-4594-8023-4D3C1B346370}"/>
              </a:ext>
            </a:extLst>
          </p:cNvPr>
          <p:cNvSpPr/>
          <p:nvPr/>
        </p:nvSpPr>
        <p:spPr>
          <a:xfrm>
            <a:off x="1995711" y="3276604"/>
            <a:ext cx="771525" cy="171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E07A49F-8455-47C5-A8EE-1E7294A3E8D5}"/>
              </a:ext>
            </a:extLst>
          </p:cNvPr>
          <p:cNvSpPr/>
          <p:nvPr/>
        </p:nvSpPr>
        <p:spPr>
          <a:xfrm>
            <a:off x="3727884" y="4000504"/>
            <a:ext cx="771525" cy="171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BB98DCF-200F-43B7-899A-A8206AA10883}"/>
              </a:ext>
            </a:extLst>
          </p:cNvPr>
          <p:cNvSpPr/>
          <p:nvPr/>
        </p:nvSpPr>
        <p:spPr>
          <a:xfrm>
            <a:off x="3727884" y="3762380"/>
            <a:ext cx="771525" cy="171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D5BA216-78C0-4BFF-91E0-E28775415660}"/>
              </a:ext>
            </a:extLst>
          </p:cNvPr>
          <p:cNvSpPr/>
          <p:nvPr/>
        </p:nvSpPr>
        <p:spPr>
          <a:xfrm>
            <a:off x="3727884" y="3524256"/>
            <a:ext cx="771525" cy="171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DAF665D-793D-4114-BE3C-21FB637E1E2D}"/>
              </a:ext>
            </a:extLst>
          </p:cNvPr>
          <p:cNvSpPr/>
          <p:nvPr/>
        </p:nvSpPr>
        <p:spPr>
          <a:xfrm>
            <a:off x="5460055" y="4000509"/>
            <a:ext cx="771525" cy="171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36866CF-26F7-40DD-AC97-F193D4D0E29A}"/>
              </a:ext>
            </a:extLst>
          </p:cNvPr>
          <p:cNvSpPr/>
          <p:nvPr/>
        </p:nvSpPr>
        <p:spPr>
          <a:xfrm>
            <a:off x="5460055" y="3762385"/>
            <a:ext cx="771525" cy="171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EAD323A-F3B9-48C4-820E-ABF89F358141}"/>
              </a:ext>
            </a:extLst>
          </p:cNvPr>
          <p:cNvSpPr/>
          <p:nvPr/>
        </p:nvSpPr>
        <p:spPr>
          <a:xfrm>
            <a:off x="5460055" y="3524261"/>
            <a:ext cx="771525" cy="171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12F25552-1D50-4006-AAF7-4E766F89F8AE}"/>
              </a:ext>
            </a:extLst>
          </p:cNvPr>
          <p:cNvSpPr/>
          <p:nvPr/>
        </p:nvSpPr>
        <p:spPr>
          <a:xfrm rot="16200000">
            <a:off x="2124941" y="2620239"/>
            <a:ext cx="424551" cy="442224"/>
          </a:xfrm>
          <a:prstGeom prst="right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D2D49709-AF48-41F5-97F9-1558E0A0E20A}"/>
              </a:ext>
            </a:extLst>
          </p:cNvPr>
          <p:cNvSpPr/>
          <p:nvPr/>
        </p:nvSpPr>
        <p:spPr>
          <a:xfrm rot="5400000">
            <a:off x="3857113" y="2620064"/>
            <a:ext cx="424551" cy="442224"/>
          </a:xfrm>
          <a:prstGeom prst="right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24C1D0DE-0739-4A74-8DEF-EC617383970C}"/>
              </a:ext>
            </a:extLst>
          </p:cNvPr>
          <p:cNvSpPr/>
          <p:nvPr/>
        </p:nvSpPr>
        <p:spPr>
          <a:xfrm rot="16200000">
            <a:off x="5630159" y="2620063"/>
            <a:ext cx="424551" cy="442224"/>
          </a:xfrm>
          <a:prstGeom prst="right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30" name="Google Shape;1277;g60be7dcf1c_0_190">
            <a:extLst>
              <a:ext uri="{FF2B5EF4-FFF2-40B4-BE49-F238E27FC236}">
                <a16:creationId xmlns:a16="http://schemas.microsoft.com/office/drawing/2014/main" id="{3B274D91-6318-4AC9-B48E-6CEC70CE4AFE}"/>
              </a:ext>
            </a:extLst>
          </p:cNvPr>
          <p:cNvSpPr txBox="1"/>
          <p:nvPr/>
        </p:nvSpPr>
        <p:spPr>
          <a:xfrm>
            <a:off x="1776637" y="4400726"/>
            <a:ext cx="1281167" cy="643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</a:p>
          <a:p>
            <a:pPr lvl="0" algn="ctr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growing</a:t>
            </a: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" name="Google Shape;1277;g60be7dcf1c_0_190">
            <a:extLst>
              <a:ext uri="{FF2B5EF4-FFF2-40B4-BE49-F238E27FC236}">
                <a16:creationId xmlns:a16="http://schemas.microsoft.com/office/drawing/2014/main" id="{A59A332D-DEF5-4E2A-AF66-8CBFFC5A8371}"/>
              </a:ext>
            </a:extLst>
          </p:cNvPr>
          <p:cNvSpPr txBox="1"/>
          <p:nvPr/>
        </p:nvSpPr>
        <p:spPr>
          <a:xfrm>
            <a:off x="3576862" y="4400726"/>
            <a:ext cx="1281167" cy="643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</a:p>
          <a:p>
            <a:pPr lvl="0" algn="ctr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shrinking</a:t>
            </a: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" name="Google Shape;1277;g60be7dcf1c_0_190">
            <a:extLst>
              <a:ext uri="{FF2B5EF4-FFF2-40B4-BE49-F238E27FC236}">
                <a16:creationId xmlns:a16="http://schemas.microsoft.com/office/drawing/2014/main" id="{48BE2CCC-9EAD-4F93-8405-1FE44CE30293}"/>
              </a:ext>
            </a:extLst>
          </p:cNvPr>
          <p:cNvSpPr txBox="1"/>
          <p:nvPr/>
        </p:nvSpPr>
        <p:spPr>
          <a:xfrm>
            <a:off x="5348512" y="4414164"/>
            <a:ext cx="1128767" cy="643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</a:p>
          <a:p>
            <a:pPr lvl="0" algn="ctr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growing</a:t>
            </a: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" name="Google Shape;1277;g60be7dcf1c_0_190">
            <a:extLst>
              <a:ext uri="{FF2B5EF4-FFF2-40B4-BE49-F238E27FC236}">
                <a16:creationId xmlns:a16="http://schemas.microsoft.com/office/drawing/2014/main" id="{12332A39-830B-43EB-8760-4D9739B48031}"/>
              </a:ext>
            </a:extLst>
          </p:cNvPr>
          <p:cNvSpPr txBox="1"/>
          <p:nvPr/>
        </p:nvSpPr>
        <p:spPr>
          <a:xfrm>
            <a:off x="790564" y="1863650"/>
            <a:ext cx="7682876" cy="435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⇢ </a:t>
            </a:r>
            <a:r>
              <a:rPr lang="de-DE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Consider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a </a:t>
            </a:r>
            <a:r>
              <a:rPr lang="de-DE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queue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de-DE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which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de-DE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may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de-DE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be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in </a:t>
            </a:r>
            <a:r>
              <a:rPr lang="de-DE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three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different </a:t>
            </a:r>
            <a:r>
              <a:rPr lang="de-DE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states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</a:p>
          <a:p>
            <a:pPr lvl="0">
              <a:lnSpc>
                <a:spcPct val="115000"/>
              </a:lnSpc>
              <a:buClr>
                <a:schemeClr val="dk1"/>
              </a:buClr>
              <a:buSzPts val="1100"/>
            </a:pP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63AA2EB-5055-4BB1-83A8-6677B92F63A5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50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5933560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1530;g60be7dcf1c_0_434">
            <a:extLst>
              <a:ext uri="{FF2B5EF4-FFF2-40B4-BE49-F238E27FC236}">
                <a16:creationId xmlns:a16="http://schemas.microsoft.com/office/drawing/2014/main" id="{44D03192-A04F-4F5E-8F1F-358E8E35C5D6}"/>
              </a:ext>
            </a:extLst>
          </p:cNvPr>
          <p:cNvSpPr txBox="1"/>
          <p:nvPr/>
        </p:nvSpPr>
        <p:spPr>
          <a:xfrm>
            <a:off x="0" y="540000"/>
            <a:ext cx="8211000" cy="958724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73" name="Google Shape;1810;g60be7dcf1c_0_698">
            <a:extLst>
              <a:ext uri="{FF2B5EF4-FFF2-40B4-BE49-F238E27FC236}">
                <a16:creationId xmlns:a16="http://schemas.microsoft.com/office/drawing/2014/main" id="{529A4CD2-0546-443A-9307-FFA1A29D9FD1}"/>
              </a:ext>
            </a:extLst>
          </p:cNvPr>
          <p:cNvSpPr txBox="1">
            <a:spLocks/>
          </p:cNvSpPr>
          <p:nvPr/>
        </p:nvSpPr>
        <p:spPr>
          <a:xfrm>
            <a:off x="973075" y="324175"/>
            <a:ext cx="8171100" cy="1323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buSzPts val="1100"/>
            </a:pPr>
            <a:endParaRPr lang="en-GB" sz="2000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algn="l">
              <a:buSzPts val="1100"/>
            </a:pPr>
            <a:r>
              <a:rPr lang="en-GB" sz="38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Limitation of SOTA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2EEC06C-0B9A-41DC-8248-1DBD7FBF83DB}"/>
              </a:ext>
            </a:extLst>
          </p:cNvPr>
          <p:cNvSpPr/>
          <p:nvPr/>
        </p:nvSpPr>
        <p:spPr>
          <a:xfrm>
            <a:off x="1929037" y="2314575"/>
            <a:ext cx="914400" cy="19335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326B47-E17B-4426-BF93-70BD467E993C}"/>
              </a:ext>
            </a:extLst>
          </p:cNvPr>
          <p:cNvSpPr/>
          <p:nvPr/>
        </p:nvSpPr>
        <p:spPr>
          <a:xfrm>
            <a:off x="3653062" y="2314575"/>
            <a:ext cx="914400" cy="19335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33C75FA-64ED-4591-BADC-2E0AD8449226}"/>
              </a:ext>
            </a:extLst>
          </p:cNvPr>
          <p:cNvSpPr/>
          <p:nvPr/>
        </p:nvSpPr>
        <p:spPr>
          <a:xfrm>
            <a:off x="5385234" y="2314575"/>
            <a:ext cx="914400" cy="19335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C12F083-4306-4AF2-8F32-73AC58AFC154}"/>
              </a:ext>
            </a:extLst>
          </p:cNvPr>
          <p:cNvSpPr/>
          <p:nvPr/>
        </p:nvSpPr>
        <p:spPr>
          <a:xfrm>
            <a:off x="1776637" y="2200275"/>
            <a:ext cx="4657725" cy="2762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23B1CA-6225-4F2C-811E-167DFCBAC2A8}"/>
              </a:ext>
            </a:extLst>
          </p:cNvPr>
          <p:cNvSpPr/>
          <p:nvPr/>
        </p:nvSpPr>
        <p:spPr>
          <a:xfrm>
            <a:off x="1995711" y="3990976"/>
            <a:ext cx="771525" cy="171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94BB004-3D6D-432D-9A00-A1F8C6B46557}"/>
              </a:ext>
            </a:extLst>
          </p:cNvPr>
          <p:cNvSpPr/>
          <p:nvPr/>
        </p:nvSpPr>
        <p:spPr>
          <a:xfrm>
            <a:off x="1995711" y="3752852"/>
            <a:ext cx="771525" cy="171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C50FE67-781D-4621-BFBF-407B169FEC5B}"/>
              </a:ext>
            </a:extLst>
          </p:cNvPr>
          <p:cNvSpPr/>
          <p:nvPr/>
        </p:nvSpPr>
        <p:spPr>
          <a:xfrm>
            <a:off x="1995711" y="3514728"/>
            <a:ext cx="771525" cy="171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1311AC9-12DF-4594-8023-4D3C1B346370}"/>
              </a:ext>
            </a:extLst>
          </p:cNvPr>
          <p:cNvSpPr/>
          <p:nvPr/>
        </p:nvSpPr>
        <p:spPr>
          <a:xfrm>
            <a:off x="1995711" y="3276604"/>
            <a:ext cx="771525" cy="171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E07A49F-8455-47C5-A8EE-1E7294A3E8D5}"/>
              </a:ext>
            </a:extLst>
          </p:cNvPr>
          <p:cNvSpPr/>
          <p:nvPr/>
        </p:nvSpPr>
        <p:spPr>
          <a:xfrm>
            <a:off x="3727884" y="4000504"/>
            <a:ext cx="771525" cy="171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BB98DCF-200F-43B7-899A-A8206AA10883}"/>
              </a:ext>
            </a:extLst>
          </p:cNvPr>
          <p:cNvSpPr/>
          <p:nvPr/>
        </p:nvSpPr>
        <p:spPr>
          <a:xfrm>
            <a:off x="3727884" y="3762380"/>
            <a:ext cx="771525" cy="171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D5BA216-78C0-4BFF-91E0-E28775415660}"/>
              </a:ext>
            </a:extLst>
          </p:cNvPr>
          <p:cNvSpPr/>
          <p:nvPr/>
        </p:nvSpPr>
        <p:spPr>
          <a:xfrm>
            <a:off x="3727884" y="3524256"/>
            <a:ext cx="771525" cy="171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DAF665D-793D-4114-BE3C-21FB637E1E2D}"/>
              </a:ext>
            </a:extLst>
          </p:cNvPr>
          <p:cNvSpPr/>
          <p:nvPr/>
        </p:nvSpPr>
        <p:spPr>
          <a:xfrm>
            <a:off x="5460055" y="4000509"/>
            <a:ext cx="771525" cy="171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36866CF-26F7-40DD-AC97-F193D4D0E29A}"/>
              </a:ext>
            </a:extLst>
          </p:cNvPr>
          <p:cNvSpPr/>
          <p:nvPr/>
        </p:nvSpPr>
        <p:spPr>
          <a:xfrm>
            <a:off x="5460055" y="3762385"/>
            <a:ext cx="771525" cy="171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EAD323A-F3B9-48C4-820E-ABF89F358141}"/>
              </a:ext>
            </a:extLst>
          </p:cNvPr>
          <p:cNvSpPr/>
          <p:nvPr/>
        </p:nvSpPr>
        <p:spPr>
          <a:xfrm>
            <a:off x="5460055" y="3524261"/>
            <a:ext cx="771525" cy="171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12F25552-1D50-4006-AAF7-4E766F89F8AE}"/>
              </a:ext>
            </a:extLst>
          </p:cNvPr>
          <p:cNvSpPr/>
          <p:nvPr/>
        </p:nvSpPr>
        <p:spPr>
          <a:xfrm rot="16200000">
            <a:off x="2124941" y="2620239"/>
            <a:ext cx="424551" cy="442224"/>
          </a:xfrm>
          <a:prstGeom prst="right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D2D49709-AF48-41F5-97F9-1558E0A0E20A}"/>
              </a:ext>
            </a:extLst>
          </p:cNvPr>
          <p:cNvSpPr/>
          <p:nvPr/>
        </p:nvSpPr>
        <p:spPr>
          <a:xfrm rot="5400000">
            <a:off x="3857113" y="2620064"/>
            <a:ext cx="424551" cy="442224"/>
          </a:xfrm>
          <a:prstGeom prst="right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24C1D0DE-0739-4A74-8DEF-EC617383970C}"/>
              </a:ext>
            </a:extLst>
          </p:cNvPr>
          <p:cNvSpPr/>
          <p:nvPr/>
        </p:nvSpPr>
        <p:spPr>
          <a:xfrm rot="16200000">
            <a:off x="5630159" y="2620063"/>
            <a:ext cx="424551" cy="442224"/>
          </a:xfrm>
          <a:prstGeom prst="right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26" name="Google Shape;1277;g60be7dcf1c_0_190">
            <a:extLst>
              <a:ext uri="{FF2B5EF4-FFF2-40B4-BE49-F238E27FC236}">
                <a16:creationId xmlns:a16="http://schemas.microsoft.com/office/drawing/2014/main" id="{93DE0D04-87AC-4AB1-8C4E-8C850FA17FC8}"/>
              </a:ext>
            </a:extLst>
          </p:cNvPr>
          <p:cNvSpPr txBox="1"/>
          <p:nvPr/>
        </p:nvSpPr>
        <p:spPr>
          <a:xfrm>
            <a:off x="2255666" y="5563390"/>
            <a:ext cx="3923557" cy="643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GB" sz="1600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2 and 3: impossible to distinguish for voltage-based CCA</a:t>
            </a:r>
            <a:endParaRPr lang="en-US" sz="1600" dirty="0">
              <a:solidFill>
                <a:srgbClr val="C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" name="Google Shape;1277;g60be7dcf1c_0_190">
            <a:extLst>
              <a:ext uri="{FF2B5EF4-FFF2-40B4-BE49-F238E27FC236}">
                <a16:creationId xmlns:a16="http://schemas.microsoft.com/office/drawing/2014/main" id="{C4CC27AA-E055-4363-8B82-B4847AF1DFD7}"/>
              </a:ext>
            </a:extLst>
          </p:cNvPr>
          <p:cNvSpPr txBox="1"/>
          <p:nvPr/>
        </p:nvSpPr>
        <p:spPr>
          <a:xfrm>
            <a:off x="1776637" y="4400726"/>
            <a:ext cx="1281167" cy="643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</a:p>
          <a:p>
            <a:pPr lvl="0" algn="ctr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growing</a:t>
            </a: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" name="Google Shape;1277;g60be7dcf1c_0_190">
            <a:extLst>
              <a:ext uri="{FF2B5EF4-FFF2-40B4-BE49-F238E27FC236}">
                <a16:creationId xmlns:a16="http://schemas.microsoft.com/office/drawing/2014/main" id="{9F67C330-E12F-4E1F-86A9-1742CF92A3FB}"/>
              </a:ext>
            </a:extLst>
          </p:cNvPr>
          <p:cNvSpPr txBox="1"/>
          <p:nvPr/>
        </p:nvSpPr>
        <p:spPr>
          <a:xfrm>
            <a:off x="3576862" y="4400726"/>
            <a:ext cx="1281167" cy="643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</a:p>
          <a:p>
            <a:pPr lvl="0" algn="ctr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shrinking</a:t>
            </a: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" name="Google Shape;1277;g60be7dcf1c_0_190">
            <a:extLst>
              <a:ext uri="{FF2B5EF4-FFF2-40B4-BE49-F238E27FC236}">
                <a16:creationId xmlns:a16="http://schemas.microsoft.com/office/drawing/2014/main" id="{3E9EF0CA-1B66-4484-8009-DDC4D2C6748E}"/>
              </a:ext>
            </a:extLst>
          </p:cNvPr>
          <p:cNvSpPr txBox="1"/>
          <p:nvPr/>
        </p:nvSpPr>
        <p:spPr>
          <a:xfrm>
            <a:off x="5348512" y="4414164"/>
            <a:ext cx="1128767" cy="643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</a:p>
          <a:p>
            <a:pPr lvl="0" algn="ctr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growing</a:t>
            </a: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" name="Google Shape;1277;g60be7dcf1c_0_190">
            <a:extLst>
              <a:ext uri="{FF2B5EF4-FFF2-40B4-BE49-F238E27FC236}">
                <a16:creationId xmlns:a16="http://schemas.microsoft.com/office/drawing/2014/main" id="{87F2DCEA-5C74-4B18-8A6C-C4DE546ADA47}"/>
              </a:ext>
            </a:extLst>
          </p:cNvPr>
          <p:cNvSpPr txBox="1"/>
          <p:nvPr/>
        </p:nvSpPr>
        <p:spPr>
          <a:xfrm>
            <a:off x="790564" y="1863650"/>
            <a:ext cx="7682876" cy="435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⇢ </a:t>
            </a:r>
            <a:r>
              <a:rPr lang="de-DE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Consider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a </a:t>
            </a:r>
            <a:r>
              <a:rPr lang="de-DE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queue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de-DE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which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de-DE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may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de-DE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be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in </a:t>
            </a:r>
            <a:r>
              <a:rPr lang="de-DE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three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different </a:t>
            </a:r>
            <a:r>
              <a:rPr lang="de-DE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states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</a:p>
          <a:p>
            <a:pPr lvl="0">
              <a:lnSpc>
                <a:spcPct val="115000"/>
              </a:lnSpc>
              <a:buClr>
                <a:schemeClr val="dk1"/>
              </a:buClr>
              <a:buSzPts val="1100"/>
            </a:pP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9851536-65B0-4409-BEFD-1EE0EDDE4912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50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0012357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1530;g60be7dcf1c_0_434">
            <a:extLst>
              <a:ext uri="{FF2B5EF4-FFF2-40B4-BE49-F238E27FC236}">
                <a16:creationId xmlns:a16="http://schemas.microsoft.com/office/drawing/2014/main" id="{44D03192-A04F-4F5E-8F1F-358E8E35C5D6}"/>
              </a:ext>
            </a:extLst>
          </p:cNvPr>
          <p:cNvSpPr txBox="1"/>
          <p:nvPr/>
        </p:nvSpPr>
        <p:spPr>
          <a:xfrm>
            <a:off x="0" y="540000"/>
            <a:ext cx="8211000" cy="958724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73" name="Google Shape;1810;g60be7dcf1c_0_698">
            <a:extLst>
              <a:ext uri="{FF2B5EF4-FFF2-40B4-BE49-F238E27FC236}">
                <a16:creationId xmlns:a16="http://schemas.microsoft.com/office/drawing/2014/main" id="{529A4CD2-0546-443A-9307-FFA1A29D9FD1}"/>
              </a:ext>
            </a:extLst>
          </p:cNvPr>
          <p:cNvSpPr txBox="1">
            <a:spLocks/>
          </p:cNvSpPr>
          <p:nvPr/>
        </p:nvSpPr>
        <p:spPr>
          <a:xfrm>
            <a:off x="973075" y="324175"/>
            <a:ext cx="8171100" cy="1323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buSzPts val="1100"/>
            </a:pPr>
            <a:endParaRPr lang="en-GB" sz="2000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algn="l">
              <a:buSzPts val="1100"/>
            </a:pPr>
            <a:r>
              <a:rPr lang="en-GB" sz="38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Limitation of SOTA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2EEC06C-0B9A-41DC-8248-1DBD7FBF83DB}"/>
              </a:ext>
            </a:extLst>
          </p:cNvPr>
          <p:cNvSpPr/>
          <p:nvPr/>
        </p:nvSpPr>
        <p:spPr>
          <a:xfrm>
            <a:off x="1929037" y="2314575"/>
            <a:ext cx="914400" cy="19335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326B47-E17B-4426-BF93-70BD467E993C}"/>
              </a:ext>
            </a:extLst>
          </p:cNvPr>
          <p:cNvSpPr/>
          <p:nvPr/>
        </p:nvSpPr>
        <p:spPr>
          <a:xfrm>
            <a:off x="3653062" y="2314575"/>
            <a:ext cx="914400" cy="19335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33C75FA-64ED-4591-BADC-2E0AD8449226}"/>
              </a:ext>
            </a:extLst>
          </p:cNvPr>
          <p:cNvSpPr/>
          <p:nvPr/>
        </p:nvSpPr>
        <p:spPr>
          <a:xfrm>
            <a:off x="5385234" y="2314575"/>
            <a:ext cx="914400" cy="19335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C12F083-4306-4AF2-8F32-73AC58AFC154}"/>
              </a:ext>
            </a:extLst>
          </p:cNvPr>
          <p:cNvSpPr/>
          <p:nvPr/>
        </p:nvSpPr>
        <p:spPr>
          <a:xfrm>
            <a:off x="1776637" y="2200275"/>
            <a:ext cx="4657725" cy="2762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23B1CA-6225-4F2C-811E-167DFCBAC2A8}"/>
              </a:ext>
            </a:extLst>
          </p:cNvPr>
          <p:cNvSpPr/>
          <p:nvPr/>
        </p:nvSpPr>
        <p:spPr>
          <a:xfrm>
            <a:off x="1995711" y="3990976"/>
            <a:ext cx="771525" cy="171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94BB004-3D6D-432D-9A00-A1F8C6B46557}"/>
              </a:ext>
            </a:extLst>
          </p:cNvPr>
          <p:cNvSpPr/>
          <p:nvPr/>
        </p:nvSpPr>
        <p:spPr>
          <a:xfrm>
            <a:off x="1995711" y="3752852"/>
            <a:ext cx="771525" cy="171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C50FE67-781D-4621-BFBF-407B169FEC5B}"/>
              </a:ext>
            </a:extLst>
          </p:cNvPr>
          <p:cNvSpPr/>
          <p:nvPr/>
        </p:nvSpPr>
        <p:spPr>
          <a:xfrm>
            <a:off x="1995711" y="3514728"/>
            <a:ext cx="771525" cy="171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1311AC9-12DF-4594-8023-4D3C1B346370}"/>
              </a:ext>
            </a:extLst>
          </p:cNvPr>
          <p:cNvSpPr/>
          <p:nvPr/>
        </p:nvSpPr>
        <p:spPr>
          <a:xfrm>
            <a:off x="1995711" y="3276604"/>
            <a:ext cx="771525" cy="171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E07A49F-8455-47C5-A8EE-1E7294A3E8D5}"/>
              </a:ext>
            </a:extLst>
          </p:cNvPr>
          <p:cNvSpPr/>
          <p:nvPr/>
        </p:nvSpPr>
        <p:spPr>
          <a:xfrm>
            <a:off x="3727884" y="4000504"/>
            <a:ext cx="771525" cy="171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BB98DCF-200F-43B7-899A-A8206AA10883}"/>
              </a:ext>
            </a:extLst>
          </p:cNvPr>
          <p:cNvSpPr/>
          <p:nvPr/>
        </p:nvSpPr>
        <p:spPr>
          <a:xfrm>
            <a:off x="3727884" y="3762380"/>
            <a:ext cx="771525" cy="171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D5BA216-78C0-4BFF-91E0-E28775415660}"/>
              </a:ext>
            </a:extLst>
          </p:cNvPr>
          <p:cNvSpPr/>
          <p:nvPr/>
        </p:nvSpPr>
        <p:spPr>
          <a:xfrm>
            <a:off x="3727884" y="3524256"/>
            <a:ext cx="771525" cy="171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DAF665D-793D-4114-BE3C-21FB637E1E2D}"/>
              </a:ext>
            </a:extLst>
          </p:cNvPr>
          <p:cNvSpPr/>
          <p:nvPr/>
        </p:nvSpPr>
        <p:spPr>
          <a:xfrm>
            <a:off x="5460055" y="4000509"/>
            <a:ext cx="771525" cy="171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36866CF-26F7-40DD-AC97-F193D4D0E29A}"/>
              </a:ext>
            </a:extLst>
          </p:cNvPr>
          <p:cNvSpPr/>
          <p:nvPr/>
        </p:nvSpPr>
        <p:spPr>
          <a:xfrm>
            <a:off x="5460055" y="3762385"/>
            <a:ext cx="771525" cy="171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EAD323A-F3B9-48C4-820E-ABF89F358141}"/>
              </a:ext>
            </a:extLst>
          </p:cNvPr>
          <p:cNvSpPr/>
          <p:nvPr/>
        </p:nvSpPr>
        <p:spPr>
          <a:xfrm>
            <a:off x="5460055" y="3524261"/>
            <a:ext cx="771525" cy="171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12F25552-1D50-4006-AAF7-4E766F89F8AE}"/>
              </a:ext>
            </a:extLst>
          </p:cNvPr>
          <p:cNvSpPr/>
          <p:nvPr/>
        </p:nvSpPr>
        <p:spPr>
          <a:xfrm rot="16200000">
            <a:off x="2124941" y="2620239"/>
            <a:ext cx="424551" cy="442224"/>
          </a:xfrm>
          <a:prstGeom prst="right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D2D49709-AF48-41F5-97F9-1558E0A0E20A}"/>
              </a:ext>
            </a:extLst>
          </p:cNvPr>
          <p:cNvSpPr/>
          <p:nvPr/>
        </p:nvSpPr>
        <p:spPr>
          <a:xfrm rot="5400000">
            <a:off x="3857113" y="2620064"/>
            <a:ext cx="424551" cy="442224"/>
          </a:xfrm>
          <a:prstGeom prst="right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24C1D0DE-0739-4A74-8DEF-EC617383970C}"/>
              </a:ext>
            </a:extLst>
          </p:cNvPr>
          <p:cNvSpPr/>
          <p:nvPr/>
        </p:nvSpPr>
        <p:spPr>
          <a:xfrm rot="16200000">
            <a:off x="5630159" y="2620063"/>
            <a:ext cx="424551" cy="442224"/>
          </a:xfrm>
          <a:prstGeom prst="right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26" name="Google Shape;1277;g60be7dcf1c_0_190">
            <a:extLst>
              <a:ext uri="{FF2B5EF4-FFF2-40B4-BE49-F238E27FC236}">
                <a16:creationId xmlns:a16="http://schemas.microsoft.com/office/drawing/2014/main" id="{93DE0D04-87AC-4AB1-8C4E-8C850FA17FC8}"/>
              </a:ext>
            </a:extLst>
          </p:cNvPr>
          <p:cNvSpPr txBox="1"/>
          <p:nvPr/>
        </p:nvSpPr>
        <p:spPr>
          <a:xfrm>
            <a:off x="2337216" y="5563390"/>
            <a:ext cx="3912018" cy="643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GB" sz="1600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1 and 3: impossible to distinguish for current-based CC</a:t>
            </a:r>
            <a:endParaRPr lang="en-US" sz="1600" dirty="0">
              <a:solidFill>
                <a:srgbClr val="C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" name="Google Shape;1277;g60be7dcf1c_0_190">
            <a:extLst>
              <a:ext uri="{FF2B5EF4-FFF2-40B4-BE49-F238E27FC236}">
                <a16:creationId xmlns:a16="http://schemas.microsoft.com/office/drawing/2014/main" id="{EE106EB7-2863-47D4-8840-1A3CEEB6477B}"/>
              </a:ext>
            </a:extLst>
          </p:cNvPr>
          <p:cNvSpPr txBox="1"/>
          <p:nvPr/>
        </p:nvSpPr>
        <p:spPr>
          <a:xfrm>
            <a:off x="1776637" y="4400726"/>
            <a:ext cx="1281167" cy="643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</a:p>
          <a:p>
            <a:pPr lvl="0" algn="ctr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growing</a:t>
            </a: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" name="Google Shape;1277;g60be7dcf1c_0_190">
            <a:extLst>
              <a:ext uri="{FF2B5EF4-FFF2-40B4-BE49-F238E27FC236}">
                <a16:creationId xmlns:a16="http://schemas.microsoft.com/office/drawing/2014/main" id="{D7FEECAA-9FAD-457D-9B2A-D361809BBED4}"/>
              </a:ext>
            </a:extLst>
          </p:cNvPr>
          <p:cNvSpPr txBox="1"/>
          <p:nvPr/>
        </p:nvSpPr>
        <p:spPr>
          <a:xfrm>
            <a:off x="3576862" y="4400726"/>
            <a:ext cx="1281167" cy="643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</a:p>
          <a:p>
            <a:pPr lvl="0" algn="ctr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shrinking</a:t>
            </a: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" name="Google Shape;1277;g60be7dcf1c_0_190">
            <a:extLst>
              <a:ext uri="{FF2B5EF4-FFF2-40B4-BE49-F238E27FC236}">
                <a16:creationId xmlns:a16="http://schemas.microsoft.com/office/drawing/2014/main" id="{5996EB3B-02B4-4FAF-AD50-278C0520C56E}"/>
              </a:ext>
            </a:extLst>
          </p:cNvPr>
          <p:cNvSpPr txBox="1"/>
          <p:nvPr/>
        </p:nvSpPr>
        <p:spPr>
          <a:xfrm>
            <a:off x="5348512" y="4414164"/>
            <a:ext cx="1128767" cy="643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</a:p>
          <a:p>
            <a:pPr lvl="0" algn="ctr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growing</a:t>
            </a: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" name="Google Shape;1277;g60be7dcf1c_0_190">
            <a:extLst>
              <a:ext uri="{FF2B5EF4-FFF2-40B4-BE49-F238E27FC236}">
                <a16:creationId xmlns:a16="http://schemas.microsoft.com/office/drawing/2014/main" id="{E1C4C4A7-EACC-49AB-AE29-DF3BF8F3E56F}"/>
              </a:ext>
            </a:extLst>
          </p:cNvPr>
          <p:cNvSpPr txBox="1"/>
          <p:nvPr/>
        </p:nvSpPr>
        <p:spPr>
          <a:xfrm>
            <a:off x="790564" y="1863650"/>
            <a:ext cx="7682876" cy="435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⇢ </a:t>
            </a:r>
            <a:r>
              <a:rPr lang="de-DE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Consider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a </a:t>
            </a:r>
            <a:r>
              <a:rPr lang="de-DE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queue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de-DE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which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de-DE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may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de-DE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be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in </a:t>
            </a:r>
            <a:r>
              <a:rPr lang="de-DE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three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different </a:t>
            </a:r>
            <a:r>
              <a:rPr lang="de-DE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states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</a:p>
          <a:p>
            <a:pPr lvl="0">
              <a:lnSpc>
                <a:spcPct val="115000"/>
              </a:lnSpc>
              <a:buClr>
                <a:schemeClr val="dk1"/>
              </a:buClr>
              <a:buSzPts val="1100"/>
            </a:pP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5AEF46F-BE3F-4C60-BC7B-1DC40A35FD4D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50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1976447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1530;g60be7dcf1c_0_434">
            <a:extLst>
              <a:ext uri="{FF2B5EF4-FFF2-40B4-BE49-F238E27FC236}">
                <a16:creationId xmlns:a16="http://schemas.microsoft.com/office/drawing/2014/main" id="{44D03192-A04F-4F5E-8F1F-358E8E35C5D6}"/>
              </a:ext>
            </a:extLst>
          </p:cNvPr>
          <p:cNvSpPr txBox="1"/>
          <p:nvPr/>
        </p:nvSpPr>
        <p:spPr>
          <a:xfrm>
            <a:off x="0" y="540000"/>
            <a:ext cx="8211000" cy="958724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73" name="Google Shape;1810;g60be7dcf1c_0_698">
            <a:extLst>
              <a:ext uri="{FF2B5EF4-FFF2-40B4-BE49-F238E27FC236}">
                <a16:creationId xmlns:a16="http://schemas.microsoft.com/office/drawing/2014/main" id="{529A4CD2-0546-443A-9307-FFA1A29D9FD1}"/>
              </a:ext>
            </a:extLst>
          </p:cNvPr>
          <p:cNvSpPr txBox="1">
            <a:spLocks/>
          </p:cNvSpPr>
          <p:nvPr/>
        </p:nvSpPr>
        <p:spPr>
          <a:xfrm>
            <a:off x="973075" y="324175"/>
            <a:ext cx="8171100" cy="1323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buSzPts val="1100"/>
            </a:pPr>
            <a:endParaRPr lang="en-GB" sz="2000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algn="l">
              <a:buSzPts val="1100"/>
            </a:pPr>
            <a:r>
              <a:rPr lang="en-GB" sz="38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Limitation of SOTA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2EEC06C-0B9A-41DC-8248-1DBD7FBF83DB}"/>
              </a:ext>
            </a:extLst>
          </p:cNvPr>
          <p:cNvSpPr/>
          <p:nvPr/>
        </p:nvSpPr>
        <p:spPr>
          <a:xfrm>
            <a:off x="1929037" y="2314575"/>
            <a:ext cx="914400" cy="19335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326B47-E17B-4426-BF93-70BD467E993C}"/>
              </a:ext>
            </a:extLst>
          </p:cNvPr>
          <p:cNvSpPr/>
          <p:nvPr/>
        </p:nvSpPr>
        <p:spPr>
          <a:xfrm>
            <a:off x="3653062" y="2314575"/>
            <a:ext cx="914400" cy="19335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33C75FA-64ED-4591-BADC-2E0AD8449226}"/>
              </a:ext>
            </a:extLst>
          </p:cNvPr>
          <p:cNvSpPr/>
          <p:nvPr/>
        </p:nvSpPr>
        <p:spPr>
          <a:xfrm>
            <a:off x="5385234" y="2314575"/>
            <a:ext cx="914400" cy="19335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C12F083-4306-4AF2-8F32-73AC58AFC154}"/>
              </a:ext>
            </a:extLst>
          </p:cNvPr>
          <p:cNvSpPr/>
          <p:nvPr/>
        </p:nvSpPr>
        <p:spPr>
          <a:xfrm>
            <a:off x="1776637" y="2200275"/>
            <a:ext cx="4657725" cy="2762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23B1CA-6225-4F2C-811E-167DFCBAC2A8}"/>
              </a:ext>
            </a:extLst>
          </p:cNvPr>
          <p:cNvSpPr/>
          <p:nvPr/>
        </p:nvSpPr>
        <p:spPr>
          <a:xfrm>
            <a:off x="1995711" y="3990976"/>
            <a:ext cx="771525" cy="171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94BB004-3D6D-432D-9A00-A1F8C6B46557}"/>
              </a:ext>
            </a:extLst>
          </p:cNvPr>
          <p:cNvSpPr/>
          <p:nvPr/>
        </p:nvSpPr>
        <p:spPr>
          <a:xfrm>
            <a:off x="1995711" y="3752852"/>
            <a:ext cx="771525" cy="171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C50FE67-781D-4621-BFBF-407B169FEC5B}"/>
              </a:ext>
            </a:extLst>
          </p:cNvPr>
          <p:cNvSpPr/>
          <p:nvPr/>
        </p:nvSpPr>
        <p:spPr>
          <a:xfrm>
            <a:off x="1995711" y="3514728"/>
            <a:ext cx="771525" cy="171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1311AC9-12DF-4594-8023-4D3C1B346370}"/>
              </a:ext>
            </a:extLst>
          </p:cNvPr>
          <p:cNvSpPr/>
          <p:nvPr/>
        </p:nvSpPr>
        <p:spPr>
          <a:xfrm>
            <a:off x="1995711" y="3276604"/>
            <a:ext cx="771525" cy="171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E07A49F-8455-47C5-A8EE-1E7294A3E8D5}"/>
              </a:ext>
            </a:extLst>
          </p:cNvPr>
          <p:cNvSpPr/>
          <p:nvPr/>
        </p:nvSpPr>
        <p:spPr>
          <a:xfrm>
            <a:off x="3727884" y="4000504"/>
            <a:ext cx="771525" cy="171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BB98DCF-200F-43B7-899A-A8206AA10883}"/>
              </a:ext>
            </a:extLst>
          </p:cNvPr>
          <p:cNvSpPr/>
          <p:nvPr/>
        </p:nvSpPr>
        <p:spPr>
          <a:xfrm>
            <a:off x="3727884" y="3762380"/>
            <a:ext cx="771525" cy="171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D5BA216-78C0-4BFF-91E0-E28775415660}"/>
              </a:ext>
            </a:extLst>
          </p:cNvPr>
          <p:cNvSpPr/>
          <p:nvPr/>
        </p:nvSpPr>
        <p:spPr>
          <a:xfrm>
            <a:off x="3727884" y="3524256"/>
            <a:ext cx="771525" cy="171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DAF665D-793D-4114-BE3C-21FB637E1E2D}"/>
              </a:ext>
            </a:extLst>
          </p:cNvPr>
          <p:cNvSpPr/>
          <p:nvPr/>
        </p:nvSpPr>
        <p:spPr>
          <a:xfrm>
            <a:off x="5460055" y="4000509"/>
            <a:ext cx="771525" cy="171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36866CF-26F7-40DD-AC97-F193D4D0E29A}"/>
              </a:ext>
            </a:extLst>
          </p:cNvPr>
          <p:cNvSpPr/>
          <p:nvPr/>
        </p:nvSpPr>
        <p:spPr>
          <a:xfrm>
            <a:off x="5460055" y="3762385"/>
            <a:ext cx="771525" cy="171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EAD323A-F3B9-48C4-820E-ABF89F358141}"/>
              </a:ext>
            </a:extLst>
          </p:cNvPr>
          <p:cNvSpPr/>
          <p:nvPr/>
        </p:nvSpPr>
        <p:spPr>
          <a:xfrm>
            <a:off x="5460055" y="3524261"/>
            <a:ext cx="771525" cy="171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12F25552-1D50-4006-AAF7-4E766F89F8AE}"/>
              </a:ext>
            </a:extLst>
          </p:cNvPr>
          <p:cNvSpPr/>
          <p:nvPr/>
        </p:nvSpPr>
        <p:spPr>
          <a:xfrm rot="16200000">
            <a:off x="2124941" y="2620239"/>
            <a:ext cx="424551" cy="442224"/>
          </a:xfrm>
          <a:prstGeom prst="right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D2D49709-AF48-41F5-97F9-1558E0A0E20A}"/>
              </a:ext>
            </a:extLst>
          </p:cNvPr>
          <p:cNvSpPr/>
          <p:nvPr/>
        </p:nvSpPr>
        <p:spPr>
          <a:xfrm rot="5400000">
            <a:off x="3857113" y="2620064"/>
            <a:ext cx="424551" cy="442224"/>
          </a:xfrm>
          <a:prstGeom prst="right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24C1D0DE-0739-4A74-8DEF-EC617383970C}"/>
              </a:ext>
            </a:extLst>
          </p:cNvPr>
          <p:cNvSpPr/>
          <p:nvPr/>
        </p:nvSpPr>
        <p:spPr>
          <a:xfrm rot="16200000">
            <a:off x="5630159" y="2620063"/>
            <a:ext cx="424551" cy="442224"/>
          </a:xfrm>
          <a:prstGeom prst="right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29" name="Google Shape;1277;g60be7dcf1c_0_190">
            <a:extLst>
              <a:ext uri="{FF2B5EF4-FFF2-40B4-BE49-F238E27FC236}">
                <a16:creationId xmlns:a16="http://schemas.microsoft.com/office/drawing/2014/main" id="{4E4546C3-0BFB-4461-BB79-A671DB5FD3E2}"/>
              </a:ext>
            </a:extLst>
          </p:cNvPr>
          <p:cNvSpPr txBox="1"/>
          <p:nvPr/>
        </p:nvSpPr>
        <p:spPr>
          <a:xfrm>
            <a:off x="973075" y="5666189"/>
            <a:ext cx="7353311" cy="5482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GB" sz="1600" dirty="0">
                <a:solidFill>
                  <a:schemeClr val="tx1"/>
                </a:solidFill>
                <a:latin typeface="Consolas"/>
                <a:ea typeface="Consolas"/>
                <a:cs typeface="Consolas"/>
                <a:sym typeface="Consolas"/>
              </a:rPr>
              <a:t>We need both: </a:t>
            </a:r>
            <a:r>
              <a:rPr lang="en-GB" sz="1600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Power (Voltage x Current)</a:t>
            </a: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" name="Google Shape;1277;g60be7dcf1c_0_190">
            <a:extLst>
              <a:ext uri="{FF2B5EF4-FFF2-40B4-BE49-F238E27FC236}">
                <a16:creationId xmlns:a16="http://schemas.microsoft.com/office/drawing/2014/main" id="{59C9BAB7-2FFC-407A-B13C-90539D131822}"/>
              </a:ext>
            </a:extLst>
          </p:cNvPr>
          <p:cNvSpPr txBox="1"/>
          <p:nvPr/>
        </p:nvSpPr>
        <p:spPr>
          <a:xfrm>
            <a:off x="1776637" y="4400726"/>
            <a:ext cx="1281167" cy="643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</a:p>
          <a:p>
            <a:pPr lvl="0" algn="ctr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growing</a:t>
            </a: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" name="Google Shape;1277;g60be7dcf1c_0_190">
            <a:extLst>
              <a:ext uri="{FF2B5EF4-FFF2-40B4-BE49-F238E27FC236}">
                <a16:creationId xmlns:a16="http://schemas.microsoft.com/office/drawing/2014/main" id="{D1278DB8-1416-47B2-BED6-D57F79DA2A4D}"/>
              </a:ext>
            </a:extLst>
          </p:cNvPr>
          <p:cNvSpPr txBox="1"/>
          <p:nvPr/>
        </p:nvSpPr>
        <p:spPr>
          <a:xfrm>
            <a:off x="3576862" y="4400726"/>
            <a:ext cx="1281167" cy="643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</a:p>
          <a:p>
            <a:pPr lvl="0" algn="ctr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shrinking</a:t>
            </a: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" name="Google Shape;1277;g60be7dcf1c_0_190">
            <a:extLst>
              <a:ext uri="{FF2B5EF4-FFF2-40B4-BE49-F238E27FC236}">
                <a16:creationId xmlns:a16="http://schemas.microsoft.com/office/drawing/2014/main" id="{B1D3DD91-DB65-45E3-A59A-860A852F73DF}"/>
              </a:ext>
            </a:extLst>
          </p:cNvPr>
          <p:cNvSpPr txBox="1"/>
          <p:nvPr/>
        </p:nvSpPr>
        <p:spPr>
          <a:xfrm>
            <a:off x="5348512" y="4414164"/>
            <a:ext cx="1128767" cy="643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</a:p>
          <a:p>
            <a:pPr lvl="0" algn="ctr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growing</a:t>
            </a: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" name="Google Shape;1277;g60be7dcf1c_0_190">
            <a:extLst>
              <a:ext uri="{FF2B5EF4-FFF2-40B4-BE49-F238E27FC236}">
                <a16:creationId xmlns:a16="http://schemas.microsoft.com/office/drawing/2014/main" id="{F70E9F10-C893-4797-AAB9-002F42581626}"/>
              </a:ext>
            </a:extLst>
          </p:cNvPr>
          <p:cNvSpPr txBox="1"/>
          <p:nvPr/>
        </p:nvSpPr>
        <p:spPr>
          <a:xfrm>
            <a:off x="790564" y="1863650"/>
            <a:ext cx="7682876" cy="435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⇢ </a:t>
            </a:r>
            <a:r>
              <a:rPr lang="de-DE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Consider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a </a:t>
            </a:r>
            <a:r>
              <a:rPr lang="de-DE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queue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de-DE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which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de-DE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may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de-DE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be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in </a:t>
            </a:r>
            <a:r>
              <a:rPr lang="de-DE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three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different </a:t>
            </a:r>
            <a:r>
              <a:rPr lang="de-DE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states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</a:p>
          <a:p>
            <a:pPr lvl="0">
              <a:lnSpc>
                <a:spcPct val="115000"/>
              </a:lnSpc>
              <a:buClr>
                <a:schemeClr val="dk1"/>
              </a:buClr>
              <a:buSzPts val="1100"/>
            </a:pP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AEB765C-C163-4080-801D-0FF4CAECEB09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50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2472293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1530;g60be7dcf1c_0_434">
            <a:extLst>
              <a:ext uri="{FF2B5EF4-FFF2-40B4-BE49-F238E27FC236}">
                <a16:creationId xmlns:a16="http://schemas.microsoft.com/office/drawing/2014/main" id="{44D03192-A04F-4F5E-8F1F-358E8E35C5D6}"/>
              </a:ext>
            </a:extLst>
          </p:cNvPr>
          <p:cNvSpPr txBox="1"/>
          <p:nvPr/>
        </p:nvSpPr>
        <p:spPr>
          <a:xfrm>
            <a:off x="0" y="540000"/>
            <a:ext cx="8211000" cy="958724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73" name="Google Shape;1810;g60be7dcf1c_0_698">
            <a:extLst>
              <a:ext uri="{FF2B5EF4-FFF2-40B4-BE49-F238E27FC236}">
                <a16:creationId xmlns:a16="http://schemas.microsoft.com/office/drawing/2014/main" id="{529A4CD2-0546-443A-9307-FFA1A29D9FD1}"/>
              </a:ext>
            </a:extLst>
          </p:cNvPr>
          <p:cNvSpPr txBox="1">
            <a:spLocks/>
          </p:cNvSpPr>
          <p:nvPr/>
        </p:nvSpPr>
        <p:spPr>
          <a:xfrm>
            <a:off x="973075" y="324175"/>
            <a:ext cx="8171100" cy="1323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buSzPts val="1100"/>
            </a:pPr>
            <a:endParaRPr lang="en-GB" sz="2000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algn="l">
              <a:buSzPts val="1100"/>
            </a:pPr>
            <a:r>
              <a:rPr lang="en-GB" sz="38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Limitation of SOTA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2EEC06C-0B9A-41DC-8248-1DBD7FBF83DB}"/>
              </a:ext>
            </a:extLst>
          </p:cNvPr>
          <p:cNvSpPr/>
          <p:nvPr/>
        </p:nvSpPr>
        <p:spPr>
          <a:xfrm>
            <a:off x="1929037" y="2314575"/>
            <a:ext cx="914400" cy="19335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326B47-E17B-4426-BF93-70BD467E993C}"/>
              </a:ext>
            </a:extLst>
          </p:cNvPr>
          <p:cNvSpPr/>
          <p:nvPr/>
        </p:nvSpPr>
        <p:spPr>
          <a:xfrm>
            <a:off x="3653062" y="2314575"/>
            <a:ext cx="914400" cy="19335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33C75FA-64ED-4591-BADC-2E0AD8449226}"/>
              </a:ext>
            </a:extLst>
          </p:cNvPr>
          <p:cNvSpPr/>
          <p:nvPr/>
        </p:nvSpPr>
        <p:spPr>
          <a:xfrm>
            <a:off x="5385234" y="2314575"/>
            <a:ext cx="914400" cy="19335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C12F083-4306-4AF2-8F32-73AC58AFC154}"/>
              </a:ext>
            </a:extLst>
          </p:cNvPr>
          <p:cNvSpPr/>
          <p:nvPr/>
        </p:nvSpPr>
        <p:spPr>
          <a:xfrm>
            <a:off x="1776637" y="2200275"/>
            <a:ext cx="4657725" cy="2762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23B1CA-6225-4F2C-811E-167DFCBAC2A8}"/>
              </a:ext>
            </a:extLst>
          </p:cNvPr>
          <p:cNvSpPr/>
          <p:nvPr/>
        </p:nvSpPr>
        <p:spPr>
          <a:xfrm>
            <a:off x="1995711" y="3990976"/>
            <a:ext cx="771525" cy="171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94BB004-3D6D-432D-9A00-A1F8C6B46557}"/>
              </a:ext>
            </a:extLst>
          </p:cNvPr>
          <p:cNvSpPr/>
          <p:nvPr/>
        </p:nvSpPr>
        <p:spPr>
          <a:xfrm>
            <a:off x="1995711" y="3752852"/>
            <a:ext cx="771525" cy="171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C50FE67-781D-4621-BFBF-407B169FEC5B}"/>
              </a:ext>
            </a:extLst>
          </p:cNvPr>
          <p:cNvSpPr/>
          <p:nvPr/>
        </p:nvSpPr>
        <p:spPr>
          <a:xfrm>
            <a:off x="1995711" y="3514728"/>
            <a:ext cx="771525" cy="171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1311AC9-12DF-4594-8023-4D3C1B346370}"/>
              </a:ext>
            </a:extLst>
          </p:cNvPr>
          <p:cNvSpPr/>
          <p:nvPr/>
        </p:nvSpPr>
        <p:spPr>
          <a:xfrm>
            <a:off x="1995711" y="3276604"/>
            <a:ext cx="771525" cy="171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E07A49F-8455-47C5-A8EE-1E7294A3E8D5}"/>
              </a:ext>
            </a:extLst>
          </p:cNvPr>
          <p:cNvSpPr/>
          <p:nvPr/>
        </p:nvSpPr>
        <p:spPr>
          <a:xfrm>
            <a:off x="3727884" y="4000504"/>
            <a:ext cx="771525" cy="171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BB98DCF-200F-43B7-899A-A8206AA10883}"/>
              </a:ext>
            </a:extLst>
          </p:cNvPr>
          <p:cNvSpPr/>
          <p:nvPr/>
        </p:nvSpPr>
        <p:spPr>
          <a:xfrm>
            <a:off x="3727884" y="3762380"/>
            <a:ext cx="771525" cy="171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D5BA216-78C0-4BFF-91E0-E28775415660}"/>
              </a:ext>
            </a:extLst>
          </p:cNvPr>
          <p:cNvSpPr/>
          <p:nvPr/>
        </p:nvSpPr>
        <p:spPr>
          <a:xfrm>
            <a:off x="3727884" y="3524256"/>
            <a:ext cx="771525" cy="171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DAF665D-793D-4114-BE3C-21FB637E1E2D}"/>
              </a:ext>
            </a:extLst>
          </p:cNvPr>
          <p:cNvSpPr/>
          <p:nvPr/>
        </p:nvSpPr>
        <p:spPr>
          <a:xfrm>
            <a:off x="5460055" y="4000509"/>
            <a:ext cx="771525" cy="171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36866CF-26F7-40DD-AC97-F193D4D0E29A}"/>
              </a:ext>
            </a:extLst>
          </p:cNvPr>
          <p:cNvSpPr/>
          <p:nvPr/>
        </p:nvSpPr>
        <p:spPr>
          <a:xfrm>
            <a:off x="5460055" y="3762385"/>
            <a:ext cx="771525" cy="171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EAD323A-F3B9-48C4-820E-ABF89F358141}"/>
              </a:ext>
            </a:extLst>
          </p:cNvPr>
          <p:cNvSpPr/>
          <p:nvPr/>
        </p:nvSpPr>
        <p:spPr>
          <a:xfrm>
            <a:off x="5460055" y="3524261"/>
            <a:ext cx="771525" cy="171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12F25552-1D50-4006-AAF7-4E766F89F8AE}"/>
              </a:ext>
            </a:extLst>
          </p:cNvPr>
          <p:cNvSpPr/>
          <p:nvPr/>
        </p:nvSpPr>
        <p:spPr>
          <a:xfrm rot="16200000">
            <a:off x="2124941" y="2620239"/>
            <a:ext cx="424551" cy="442224"/>
          </a:xfrm>
          <a:prstGeom prst="right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D2D49709-AF48-41F5-97F9-1558E0A0E20A}"/>
              </a:ext>
            </a:extLst>
          </p:cNvPr>
          <p:cNvSpPr/>
          <p:nvPr/>
        </p:nvSpPr>
        <p:spPr>
          <a:xfrm rot="5400000">
            <a:off x="3857113" y="2620064"/>
            <a:ext cx="424551" cy="442224"/>
          </a:xfrm>
          <a:prstGeom prst="right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24C1D0DE-0739-4A74-8DEF-EC617383970C}"/>
              </a:ext>
            </a:extLst>
          </p:cNvPr>
          <p:cNvSpPr/>
          <p:nvPr/>
        </p:nvSpPr>
        <p:spPr>
          <a:xfrm rot="16200000">
            <a:off x="5630159" y="2620063"/>
            <a:ext cx="424551" cy="442224"/>
          </a:xfrm>
          <a:prstGeom prst="right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29" name="Google Shape;1277;g60be7dcf1c_0_190">
            <a:extLst>
              <a:ext uri="{FF2B5EF4-FFF2-40B4-BE49-F238E27FC236}">
                <a16:creationId xmlns:a16="http://schemas.microsoft.com/office/drawing/2014/main" id="{4E4546C3-0BFB-4461-BB79-A671DB5FD3E2}"/>
              </a:ext>
            </a:extLst>
          </p:cNvPr>
          <p:cNvSpPr txBox="1"/>
          <p:nvPr/>
        </p:nvSpPr>
        <p:spPr>
          <a:xfrm>
            <a:off x="973075" y="5666189"/>
            <a:ext cx="7353311" cy="5482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GB" sz="1600" dirty="0">
                <a:solidFill>
                  <a:schemeClr val="tx1"/>
                </a:solidFill>
                <a:latin typeface="Consolas"/>
                <a:ea typeface="Consolas"/>
                <a:cs typeface="Consolas"/>
                <a:sym typeface="Consolas"/>
              </a:rPr>
              <a:t>We need both: </a:t>
            </a:r>
            <a:r>
              <a:rPr lang="en-GB" sz="1600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Power (Voltage x Current)</a:t>
            </a: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" name="Google Shape;1277;g60be7dcf1c_0_190">
            <a:extLst>
              <a:ext uri="{FF2B5EF4-FFF2-40B4-BE49-F238E27FC236}">
                <a16:creationId xmlns:a16="http://schemas.microsoft.com/office/drawing/2014/main" id="{59C9BAB7-2FFC-407A-B13C-90539D131822}"/>
              </a:ext>
            </a:extLst>
          </p:cNvPr>
          <p:cNvSpPr txBox="1"/>
          <p:nvPr/>
        </p:nvSpPr>
        <p:spPr>
          <a:xfrm>
            <a:off x="1776637" y="4400726"/>
            <a:ext cx="1281167" cy="643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</a:p>
          <a:p>
            <a:pPr lvl="0" algn="ctr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growing</a:t>
            </a: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" name="Google Shape;1277;g60be7dcf1c_0_190">
            <a:extLst>
              <a:ext uri="{FF2B5EF4-FFF2-40B4-BE49-F238E27FC236}">
                <a16:creationId xmlns:a16="http://schemas.microsoft.com/office/drawing/2014/main" id="{D1278DB8-1416-47B2-BED6-D57F79DA2A4D}"/>
              </a:ext>
            </a:extLst>
          </p:cNvPr>
          <p:cNvSpPr txBox="1"/>
          <p:nvPr/>
        </p:nvSpPr>
        <p:spPr>
          <a:xfrm>
            <a:off x="3576862" y="4400726"/>
            <a:ext cx="1281167" cy="643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</a:p>
          <a:p>
            <a:pPr lvl="0" algn="ctr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shrinking</a:t>
            </a: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" name="Google Shape;1277;g60be7dcf1c_0_190">
            <a:extLst>
              <a:ext uri="{FF2B5EF4-FFF2-40B4-BE49-F238E27FC236}">
                <a16:creationId xmlns:a16="http://schemas.microsoft.com/office/drawing/2014/main" id="{B1D3DD91-DB65-45E3-A59A-860A852F73DF}"/>
              </a:ext>
            </a:extLst>
          </p:cNvPr>
          <p:cNvSpPr txBox="1"/>
          <p:nvPr/>
        </p:nvSpPr>
        <p:spPr>
          <a:xfrm>
            <a:off x="5348512" y="4414164"/>
            <a:ext cx="1128767" cy="643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</a:p>
          <a:p>
            <a:pPr lvl="0" algn="ctr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growing</a:t>
            </a: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" name="Google Shape;1277;g60be7dcf1c_0_190">
            <a:extLst>
              <a:ext uri="{FF2B5EF4-FFF2-40B4-BE49-F238E27FC236}">
                <a16:creationId xmlns:a16="http://schemas.microsoft.com/office/drawing/2014/main" id="{F70E9F10-C893-4797-AAB9-002F42581626}"/>
              </a:ext>
            </a:extLst>
          </p:cNvPr>
          <p:cNvSpPr txBox="1"/>
          <p:nvPr/>
        </p:nvSpPr>
        <p:spPr>
          <a:xfrm>
            <a:off x="790564" y="1863650"/>
            <a:ext cx="7682876" cy="435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⇢ </a:t>
            </a:r>
            <a:r>
              <a:rPr lang="de-DE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Consider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a </a:t>
            </a:r>
            <a:r>
              <a:rPr lang="de-DE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queue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de-DE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which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de-DE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may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de-DE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be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in </a:t>
            </a:r>
            <a:r>
              <a:rPr lang="de-DE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three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different </a:t>
            </a:r>
            <a:r>
              <a:rPr lang="de-DE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states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</a:p>
          <a:p>
            <a:pPr lvl="0">
              <a:lnSpc>
                <a:spcPct val="115000"/>
              </a:lnSpc>
              <a:buClr>
                <a:schemeClr val="dk1"/>
              </a:buClr>
              <a:buSzPts val="1100"/>
            </a:pP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E8785D-6690-4F27-B36D-18C91DEADC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6522" y="6152253"/>
            <a:ext cx="1742564" cy="537120"/>
          </a:xfrm>
          <a:prstGeom prst="rect">
            <a:avLst/>
          </a:prstGeom>
        </p:spPr>
      </p:pic>
      <p:sp>
        <p:nvSpPr>
          <p:cNvPr id="30" name="Google Shape;1277;g60be7dcf1c_0_190">
            <a:extLst>
              <a:ext uri="{FF2B5EF4-FFF2-40B4-BE49-F238E27FC236}">
                <a16:creationId xmlns:a16="http://schemas.microsoft.com/office/drawing/2014/main" id="{FBC8A076-9836-4806-8FB6-C18E4E2969AD}"/>
              </a:ext>
            </a:extLst>
          </p:cNvPr>
          <p:cNvSpPr txBox="1"/>
          <p:nvPr/>
        </p:nvSpPr>
        <p:spPr>
          <a:xfrm>
            <a:off x="973075" y="6172377"/>
            <a:ext cx="2679987" cy="5482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GB" sz="1600" dirty="0">
                <a:solidFill>
                  <a:schemeClr val="tx1"/>
                </a:solidFill>
                <a:latin typeface="Consolas"/>
                <a:ea typeface="Consolas"/>
                <a:cs typeface="Consolas"/>
                <a:sym typeface="Consolas"/>
              </a:rPr>
              <a:t>Inspired:</a:t>
            </a: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FC442A5-9CF5-4C75-BD90-CFE2A3AF7840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50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30394668-8BB3-1D0C-7984-EA1A39579B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315156">
            <a:off x="5317558" y="3674947"/>
            <a:ext cx="3480254" cy="2485896"/>
          </a:xfrm>
          <a:prstGeom prst="rect">
            <a:avLst/>
          </a:prstGeom>
        </p:spPr>
      </p:pic>
      <p:sp>
        <p:nvSpPr>
          <p:cNvPr id="9" name="Google Shape;1277;g60be7dcf1c_0_190">
            <a:extLst>
              <a:ext uri="{FF2B5EF4-FFF2-40B4-BE49-F238E27FC236}">
                <a16:creationId xmlns:a16="http://schemas.microsoft.com/office/drawing/2014/main" id="{913D5AB2-E798-7698-9350-0030EDF14B5A}"/>
              </a:ext>
            </a:extLst>
          </p:cNvPr>
          <p:cNvSpPr txBox="1"/>
          <p:nvPr/>
        </p:nvSpPr>
        <p:spPr>
          <a:xfrm>
            <a:off x="4081296" y="6079162"/>
            <a:ext cx="2267240" cy="677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GB" sz="1600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A control-theoretic approach</a:t>
            </a:r>
          </a:p>
          <a:p>
            <a:pPr lvl="0">
              <a:lnSpc>
                <a:spcPct val="115000"/>
              </a:lnSpc>
              <a:buClr>
                <a:schemeClr val="dk1"/>
              </a:buClr>
              <a:buSzPts val="1100"/>
            </a:pP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2614502801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660;g60be7dcf1c_0_555">
            <a:extLst>
              <a:ext uri="{FF2B5EF4-FFF2-40B4-BE49-F238E27FC236}">
                <a16:creationId xmlns:a16="http://schemas.microsoft.com/office/drawing/2014/main" id="{5B8904FB-8B8E-40AD-8757-980E034892FB}"/>
              </a:ext>
            </a:extLst>
          </p:cNvPr>
          <p:cNvSpPr txBox="1"/>
          <p:nvPr/>
        </p:nvSpPr>
        <p:spPr>
          <a:xfrm>
            <a:off x="973075" y="3532626"/>
            <a:ext cx="7557300" cy="9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So far: focus on throughput performance. </a:t>
            </a:r>
          </a:p>
        </p:txBody>
      </p:sp>
      <p:sp>
        <p:nvSpPr>
          <p:cNvPr id="9" name="Google Shape;1656;g60be7dcf1c_0_555">
            <a:extLst>
              <a:ext uri="{FF2B5EF4-FFF2-40B4-BE49-F238E27FC236}">
                <a16:creationId xmlns:a16="http://schemas.microsoft.com/office/drawing/2014/main" id="{1836F830-9C8B-4569-928E-B1048799A2FB}"/>
              </a:ext>
            </a:extLst>
          </p:cNvPr>
          <p:cNvSpPr txBox="1"/>
          <p:nvPr/>
        </p:nvSpPr>
        <p:spPr>
          <a:xfrm>
            <a:off x="0" y="539999"/>
            <a:ext cx="8170925" cy="1573869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10" name="Google Shape;1657;g60be7dcf1c_0_555">
            <a:extLst>
              <a:ext uri="{FF2B5EF4-FFF2-40B4-BE49-F238E27FC236}">
                <a16:creationId xmlns:a16="http://schemas.microsoft.com/office/drawing/2014/main" id="{333620B7-F5BB-4EC9-AB30-E0C52AFEA1D4}"/>
              </a:ext>
            </a:extLst>
          </p:cNvPr>
          <p:cNvSpPr txBox="1">
            <a:spLocks/>
          </p:cNvSpPr>
          <p:nvPr/>
        </p:nvSpPr>
        <p:spPr>
          <a:xfrm>
            <a:off x="973075" y="73150"/>
            <a:ext cx="8171100" cy="1573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buSzPts val="1100"/>
            </a:pPr>
            <a:r>
              <a:rPr lang="en-GB" sz="4000" dirty="0">
                <a:latin typeface="Consolas"/>
                <a:ea typeface="Consolas"/>
                <a:cs typeface="Consolas"/>
                <a:sym typeface="Consolas"/>
              </a:rPr>
              <a:t> </a:t>
            </a:r>
          </a:p>
          <a:p>
            <a:pPr algn="l">
              <a:buSzPts val="1100"/>
            </a:pPr>
            <a:r>
              <a:rPr lang="en-GB" sz="3600" dirty="0">
                <a:latin typeface="Consolas"/>
                <a:ea typeface="Consolas"/>
                <a:cs typeface="Consolas"/>
                <a:sym typeface="Consolas"/>
              </a:rPr>
              <a:t>More benefits of optical &amp; reconfigurable switching</a:t>
            </a:r>
            <a:endParaRPr lang="en-GB" sz="3400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3EC9F24-9118-601F-FE0B-CDE131C60364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51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4308927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4" name="Google Shape;1534;g60be7dcf1c_0_434"/>
          <p:cNvSpPr txBox="1"/>
          <p:nvPr/>
        </p:nvSpPr>
        <p:spPr>
          <a:xfrm>
            <a:off x="973075" y="2032000"/>
            <a:ext cx="7557300" cy="4952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⇢ Reconfigurable </a:t>
            </a:r>
            <a:r>
              <a:rPr lang="en-GB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datacenter</a:t>
            </a: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networks 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naturally support </a:t>
            </a:r>
          </a:p>
          <a:p>
            <a:pPr lvl="0">
              <a:lnSpc>
                <a:spcPct val="115000"/>
              </a:lnSpc>
            </a:pP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1600" i="1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heterogeneous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network elements </a:t>
            </a:r>
          </a:p>
          <a:p>
            <a:pPr lvl="0">
              <a:lnSpc>
                <a:spcPct val="115000"/>
              </a:lnSpc>
            </a:pP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⇢ A</a:t>
            </a:r>
            <a:r>
              <a:rPr lang="en-U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nd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therefore also </a:t>
            </a:r>
            <a:r>
              <a:rPr lang="en-US" sz="1600" i="1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incremental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hardware upgrades</a:t>
            </a:r>
          </a:p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" name="Google Shape;1656;g60be7dcf1c_0_555">
            <a:extLst>
              <a:ext uri="{FF2B5EF4-FFF2-40B4-BE49-F238E27FC236}">
                <a16:creationId xmlns:a16="http://schemas.microsoft.com/office/drawing/2014/main" id="{621D77F3-A23F-4EF2-854A-562F9CB41B0F}"/>
              </a:ext>
            </a:extLst>
          </p:cNvPr>
          <p:cNvSpPr txBox="1"/>
          <p:nvPr/>
        </p:nvSpPr>
        <p:spPr>
          <a:xfrm>
            <a:off x="0" y="540000"/>
            <a:ext cx="8170925" cy="947056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12" name="Google Shape;1657;g60be7dcf1c_0_555">
            <a:extLst>
              <a:ext uri="{FF2B5EF4-FFF2-40B4-BE49-F238E27FC236}">
                <a16:creationId xmlns:a16="http://schemas.microsoft.com/office/drawing/2014/main" id="{788434A1-8408-48C0-A0EA-C261D6C2D295}"/>
              </a:ext>
            </a:extLst>
          </p:cNvPr>
          <p:cNvSpPr txBox="1">
            <a:spLocks/>
          </p:cNvSpPr>
          <p:nvPr/>
        </p:nvSpPr>
        <p:spPr>
          <a:xfrm>
            <a:off x="973075" y="73150"/>
            <a:ext cx="8171100" cy="1573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buSzPts val="1100"/>
            </a:pPr>
            <a:r>
              <a:rPr lang="en-GB" sz="2000" dirty="0">
                <a:latin typeface="Consolas"/>
                <a:ea typeface="Consolas"/>
                <a:cs typeface="Consolas"/>
                <a:sym typeface="Consolas"/>
              </a:rPr>
              <a:t>Benefit 1:</a:t>
            </a:r>
            <a:r>
              <a:rPr lang="en-GB" sz="4000" dirty="0">
                <a:latin typeface="Consolas"/>
                <a:ea typeface="Consolas"/>
                <a:cs typeface="Consolas"/>
                <a:sym typeface="Consolas"/>
              </a:rPr>
              <a:t> </a:t>
            </a:r>
          </a:p>
          <a:p>
            <a:pPr algn="l">
              <a:buSzPts val="1100"/>
            </a:pPr>
            <a:r>
              <a:rPr lang="en-GB" sz="3600" dirty="0">
                <a:latin typeface="Consolas"/>
                <a:ea typeface="Consolas"/>
                <a:cs typeface="Consolas"/>
                <a:sym typeface="Consolas"/>
              </a:rPr>
              <a:t>Evolving </a:t>
            </a:r>
            <a:r>
              <a:rPr lang="en-GB" sz="3600" dirty="0" err="1">
                <a:latin typeface="Consolas"/>
                <a:ea typeface="Consolas"/>
                <a:cs typeface="Consolas"/>
                <a:sym typeface="Consolas"/>
              </a:rPr>
              <a:t>Datacenters</a:t>
            </a:r>
            <a:endParaRPr lang="en-GB" sz="3400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71DAA98-7A61-4405-BDFE-6B21FDB54F7B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52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0" name="Google Shape;1534;g60be7dcf1c_0_434">
            <a:extLst>
              <a:ext uri="{FF2B5EF4-FFF2-40B4-BE49-F238E27FC236}">
                <a16:creationId xmlns:a16="http://schemas.microsoft.com/office/drawing/2014/main" id="{EF7CD0AF-2AE5-4269-8CB9-D288D054E7D2}"/>
              </a:ext>
            </a:extLst>
          </p:cNvPr>
          <p:cNvSpPr txBox="1"/>
          <p:nvPr/>
        </p:nvSpPr>
        <p:spPr>
          <a:xfrm>
            <a:off x="1366376" y="4107363"/>
            <a:ext cx="3008306" cy="1110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indent="457200">
              <a:lnSpc>
                <a:spcPct val="115000"/>
              </a:lnSpc>
            </a:pPr>
            <a:endParaRPr lang="en-GB"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17950E9-618F-4F31-99D4-8E97DD5428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247" y="3637112"/>
            <a:ext cx="3463636" cy="205069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B8862C9-C8D4-48E6-B06F-39DD4EAFE759}"/>
              </a:ext>
            </a:extLst>
          </p:cNvPr>
          <p:cNvSpPr/>
          <p:nvPr/>
        </p:nvSpPr>
        <p:spPr>
          <a:xfrm>
            <a:off x="1204508" y="4263448"/>
            <a:ext cx="2609711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T" dirty="0">
                <a:latin typeface="Consolas" panose="020B0609020204030204" pitchFamily="49" charset="0"/>
              </a:rPr>
              <a:t>See interview with Amin Vahdat, Google in CACM: </a:t>
            </a:r>
          </a:p>
          <a:p>
            <a:r>
              <a:rPr lang="en-AT" dirty="0">
                <a:latin typeface="Consolas" panose="020B0609020204030204" pitchFamily="49" charset="0"/>
              </a:rPr>
              <a:t>https://www.youtube.com/watch?v=IxcV1gu8ETA </a:t>
            </a:r>
          </a:p>
        </p:txBody>
      </p:sp>
    </p:spTree>
    <p:extLst>
      <p:ext uri="{BB962C8B-B14F-4D97-AF65-F5344CB8AC3E}">
        <p14:creationId xmlns:p14="http://schemas.microsoft.com/office/powerpoint/2010/main" val="840117330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ome Project: Adding a Network Switch? Before Or After The Router? | Raéd  Alexander Ayyad">
            <a:extLst>
              <a:ext uri="{FF2B5EF4-FFF2-40B4-BE49-F238E27FC236}">
                <a16:creationId xmlns:a16="http://schemas.microsoft.com/office/drawing/2014/main" id="{73A59EDF-8411-472A-AFF7-2AF82135BC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0313" y="4413710"/>
            <a:ext cx="1821889" cy="1323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34" name="Google Shape;1534;g60be7dcf1c_0_434"/>
          <p:cNvSpPr txBox="1"/>
          <p:nvPr/>
        </p:nvSpPr>
        <p:spPr>
          <a:xfrm>
            <a:off x="1095284" y="2123238"/>
            <a:ext cx="6720816" cy="4943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⇢ No need to </a:t>
            </a:r>
            <a:r>
              <a:rPr lang="en-GB" sz="1600" i="1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convert</a:t>
            </a: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photons in </a:t>
            </a:r>
            <a:r>
              <a:rPr lang="en-GB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fiber</a:t>
            </a: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to electrons in </a:t>
            </a:r>
          </a:p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switch (and back)</a:t>
            </a:r>
          </a:p>
          <a:p>
            <a:pPr lvl="0">
              <a:lnSpc>
                <a:spcPct val="115000"/>
              </a:lnSpc>
            </a:pPr>
            <a:endParaRPr lang="en-GB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⇢ Can safe </a:t>
            </a:r>
            <a:r>
              <a:rPr lang="en-GB" sz="1600" i="1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energy</a:t>
            </a: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and reduce </a:t>
            </a:r>
            <a:r>
              <a:rPr lang="en-GB" sz="1600" i="1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latency</a:t>
            </a: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(in addition to </a:t>
            </a:r>
          </a:p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enabling almost unlimited throughput)</a:t>
            </a:r>
          </a:p>
          <a:p>
            <a:pPr lvl="0">
              <a:lnSpc>
                <a:spcPct val="115000"/>
              </a:lnSpc>
            </a:pPr>
            <a:endParaRPr lang="en-GB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" name="Google Shape;1656;g60be7dcf1c_0_555">
            <a:extLst>
              <a:ext uri="{FF2B5EF4-FFF2-40B4-BE49-F238E27FC236}">
                <a16:creationId xmlns:a16="http://schemas.microsoft.com/office/drawing/2014/main" id="{621D77F3-A23F-4EF2-854A-562F9CB41B0F}"/>
              </a:ext>
            </a:extLst>
          </p:cNvPr>
          <p:cNvSpPr txBox="1"/>
          <p:nvPr/>
        </p:nvSpPr>
        <p:spPr>
          <a:xfrm>
            <a:off x="0" y="540000"/>
            <a:ext cx="8170925" cy="947056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12" name="Google Shape;1657;g60be7dcf1c_0_555">
            <a:extLst>
              <a:ext uri="{FF2B5EF4-FFF2-40B4-BE49-F238E27FC236}">
                <a16:creationId xmlns:a16="http://schemas.microsoft.com/office/drawing/2014/main" id="{788434A1-8408-48C0-A0EA-C261D6C2D295}"/>
              </a:ext>
            </a:extLst>
          </p:cNvPr>
          <p:cNvSpPr txBox="1">
            <a:spLocks/>
          </p:cNvSpPr>
          <p:nvPr/>
        </p:nvSpPr>
        <p:spPr>
          <a:xfrm>
            <a:off x="973075" y="73150"/>
            <a:ext cx="8171100" cy="1573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buSzPts val="1100"/>
            </a:pPr>
            <a:r>
              <a:rPr lang="en-GB" sz="2000" dirty="0">
                <a:latin typeface="Consolas"/>
                <a:ea typeface="Consolas"/>
                <a:cs typeface="Consolas"/>
                <a:sym typeface="Consolas"/>
              </a:rPr>
              <a:t>Benefit 2:</a:t>
            </a:r>
            <a:r>
              <a:rPr lang="en-GB" sz="4000" dirty="0">
                <a:latin typeface="Consolas"/>
                <a:ea typeface="Consolas"/>
                <a:cs typeface="Consolas"/>
                <a:sym typeface="Consolas"/>
              </a:rPr>
              <a:t> </a:t>
            </a:r>
          </a:p>
          <a:p>
            <a:pPr algn="l">
              <a:buSzPts val="1100"/>
            </a:pPr>
            <a:r>
              <a:rPr lang="en-GB" sz="3600" dirty="0">
                <a:latin typeface="Consolas"/>
                <a:ea typeface="Consolas"/>
                <a:cs typeface="Consolas"/>
                <a:sym typeface="Consolas"/>
              </a:rPr>
              <a:t>Energy and Latency</a:t>
            </a:r>
            <a:endParaRPr lang="en-GB" sz="3400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" name="Cylinder 6">
            <a:extLst>
              <a:ext uri="{FF2B5EF4-FFF2-40B4-BE49-F238E27FC236}">
                <a16:creationId xmlns:a16="http://schemas.microsoft.com/office/drawing/2014/main" id="{57708652-71F3-4E45-AEC7-75B5EB27404B}"/>
              </a:ext>
            </a:extLst>
          </p:cNvPr>
          <p:cNvSpPr/>
          <p:nvPr/>
        </p:nvSpPr>
        <p:spPr>
          <a:xfrm rot="5400000">
            <a:off x="1892060" y="3713021"/>
            <a:ext cx="1016000" cy="2244373"/>
          </a:xfrm>
          <a:prstGeom prst="can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14" name="Cylinder 13">
            <a:extLst>
              <a:ext uri="{FF2B5EF4-FFF2-40B4-BE49-F238E27FC236}">
                <a16:creationId xmlns:a16="http://schemas.microsoft.com/office/drawing/2014/main" id="{D7A2DEA9-FBAC-4A33-9FA0-3B3406960549}"/>
              </a:ext>
            </a:extLst>
          </p:cNvPr>
          <p:cNvSpPr/>
          <p:nvPr/>
        </p:nvSpPr>
        <p:spPr>
          <a:xfrm rot="5400000">
            <a:off x="6252445" y="3713021"/>
            <a:ext cx="1016000" cy="2244373"/>
          </a:xfrm>
          <a:prstGeom prst="can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pic>
        <p:nvPicPr>
          <p:cNvPr id="2056" name="Picture 8" descr="What is an Electron? - Definition, Discovery, Charge of ...">
            <a:extLst>
              <a:ext uri="{FF2B5EF4-FFF2-40B4-BE49-F238E27FC236}">
                <a16:creationId xmlns:a16="http://schemas.microsoft.com/office/drawing/2014/main" id="{85F00B96-5BB0-4639-A44A-64F1F3B5B1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1415" y="3922557"/>
            <a:ext cx="589076" cy="609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99DD19C-7ECD-4FB8-A993-4E4A05710322}"/>
              </a:ext>
            </a:extLst>
          </p:cNvPr>
          <p:cNvSpPr/>
          <p:nvPr/>
        </p:nvSpPr>
        <p:spPr>
          <a:xfrm>
            <a:off x="4400014" y="4090438"/>
            <a:ext cx="107330" cy="2367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pic>
        <p:nvPicPr>
          <p:cNvPr id="2058" name="Picture 10" descr="What exactly is a photon? Definition, properties, facts">
            <a:extLst>
              <a:ext uri="{FF2B5EF4-FFF2-40B4-BE49-F238E27FC236}">
                <a16:creationId xmlns:a16="http://schemas.microsoft.com/office/drawing/2014/main" id="{D866336B-0627-4A23-A8A2-360B8A6029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8808" y="4568204"/>
            <a:ext cx="724389" cy="534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10" descr="What exactly is a photon? Definition, properties, facts">
            <a:extLst>
              <a:ext uri="{FF2B5EF4-FFF2-40B4-BE49-F238E27FC236}">
                <a16:creationId xmlns:a16="http://schemas.microsoft.com/office/drawing/2014/main" id="{4BFA05B8-1452-4775-BFCD-3CC9B9A6FF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2738" y="4574246"/>
            <a:ext cx="724389" cy="534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Lightning Bolt 8">
            <a:extLst>
              <a:ext uri="{FF2B5EF4-FFF2-40B4-BE49-F238E27FC236}">
                <a16:creationId xmlns:a16="http://schemas.microsoft.com/office/drawing/2014/main" id="{E30A9717-3D2F-4D63-87A9-03DA6BC5FF1D}"/>
              </a:ext>
            </a:extLst>
          </p:cNvPr>
          <p:cNvSpPr/>
          <p:nvPr/>
        </p:nvSpPr>
        <p:spPr>
          <a:xfrm>
            <a:off x="3440629" y="5450111"/>
            <a:ext cx="301608" cy="480291"/>
          </a:xfrm>
          <a:prstGeom prst="lightningBol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25" name="Lightning Bolt 24">
            <a:extLst>
              <a:ext uri="{FF2B5EF4-FFF2-40B4-BE49-F238E27FC236}">
                <a16:creationId xmlns:a16="http://schemas.microsoft.com/office/drawing/2014/main" id="{2943D77A-084C-4729-8F19-6527AD75B064}"/>
              </a:ext>
            </a:extLst>
          </p:cNvPr>
          <p:cNvSpPr/>
          <p:nvPr/>
        </p:nvSpPr>
        <p:spPr>
          <a:xfrm>
            <a:off x="5651926" y="5450111"/>
            <a:ext cx="301608" cy="480291"/>
          </a:xfrm>
          <a:prstGeom prst="lightningBol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26" name="Google Shape;1534;g60be7dcf1c_0_434">
            <a:extLst>
              <a:ext uri="{FF2B5EF4-FFF2-40B4-BE49-F238E27FC236}">
                <a16:creationId xmlns:a16="http://schemas.microsoft.com/office/drawing/2014/main" id="{15D99E5D-D52E-4F46-A890-E324375040D9}"/>
              </a:ext>
            </a:extLst>
          </p:cNvPr>
          <p:cNvSpPr txBox="1"/>
          <p:nvPr/>
        </p:nvSpPr>
        <p:spPr>
          <a:xfrm>
            <a:off x="1457026" y="5450111"/>
            <a:ext cx="1821889" cy="438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Optical </a:t>
            </a:r>
            <a:r>
              <a:rPr lang="en-GB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fiber</a:t>
            </a:r>
            <a:endParaRPr lang="en-GB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" name="Google Shape;1534;g60be7dcf1c_0_434">
            <a:extLst>
              <a:ext uri="{FF2B5EF4-FFF2-40B4-BE49-F238E27FC236}">
                <a16:creationId xmlns:a16="http://schemas.microsoft.com/office/drawing/2014/main" id="{E707DD40-9256-4A87-A310-D53B541FE1FD}"/>
              </a:ext>
            </a:extLst>
          </p:cNvPr>
          <p:cNvSpPr txBox="1"/>
          <p:nvPr/>
        </p:nvSpPr>
        <p:spPr>
          <a:xfrm>
            <a:off x="5948001" y="5450111"/>
            <a:ext cx="1821889" cy="438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Optical </a:t>
            </a:r>
            <a:r>
              <a:rPr lang="en-GB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fiber</a:t>
            </a:r>
            <a:endParaRPr lang="en-GB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" name="Google Shape;1534;g60be7dcf1c_0_434">
            <a:extLst>
              <a:ext uri="{FF2B5EF4-FFF2-40B4-BE49-F238E27FC236}">
                <a16:creationId xmlns:a16="http://schemas.microsoft.com/office/drawing/2014/main" id="{79F49991-DAD1-483F-80A7-5724ED839B90}"/>
              </a:ext>
            </a:extLst>
          </p:cNvPr>
          <p:cNvSpPr txBox="1"/>
          <p:nvPr/>
        </p:nvSpPr>
        <p:spPr>
          <a:xfrm>
            <a:off x="3788447" y="5450111"/>
            <a:ext cx="2197925" cy="527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Electric switch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8E9F1F5-619B-4CD8-9D8A-2225EA9585E3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53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6083418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4" name="Google Shape;1534;g60be7dcf1c_0_434"/>
          <p:cNvSpPr txBox="1"/>
          <p:nvPr/>
        </p:nvSpPr>
        <p:spPr>
          <a:xfrm>
            <a:off x="1095284" y="2123238"/>
            <a:ext cx="6720816" cy="4943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⇢ No need to </a:t>
            </a:r>
            <a:r>
              <a:rPr lang="en-GB" sz="1600" i="1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convert</a:t>
            </a: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photons in </a:t>
            </a:r>
            <a:r>
              <a:rPr lang="en-GB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fiber</a:t>
            </a: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to electrons in </a:t>
            </a:r>
          </a:p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switch (and back)</a:t>
            </a:r>
          </a:p>
          <a:p>
            <a:pPr lvl="0">
              <a:lnSpc>
                <a:spcPct val="115000"/>
              </a:lnSpc>
            </a:pPr>
            <a:endParaRPr lang="en-GB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⇢ Can safe </a:t>
            </a:r>
            <a:r>
              <a:rPr lang="en-GB" sz="1600" i="1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energy</a:t>
            </a: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and reduce </a:t>
            </a:r>
            <a:r>
              <a:rPr lang="en-GB" sz="1600" i="1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latency</a:t>
            </a: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(in addition to </a:t>
            </a:r>
          </a:p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enabling almost unlimited throughput)</a:t>
            </a:r>
          </a:p>
          <a:p>
            <a:pPr lvl="0">
              <a:lnSpc>
                <a:spcPct val="115000"/>
              </a:lnSpc>
            </a:pPr>
            <a:endParaRPr lang="en-GB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" name="Google Shape;1656;g60be7dcf1c_0_555">
            <a:extLst>
              <a:ext uri="{FF2B5EF4-FFF2-40B4-BE49-F238E27FC236}">
                <a16:creationId xmlns:a16="http://schemas.microsoft.com/office/drawing/2014/main" id="{621D77F3-A23F-4EF2-854A-562F9CB41B0F}"/>
              </a:ext>
            </a:extLst>
          </p:cNvPr>
          <p:cNvSpPr txBox="1"/>
          <p:nvPr/>
        </p:nvSpPr>
        <p:spPr>
          <a:xfrm>
            <a:off x="0" y="540000"/>
            <a:ext cx="8170925" cy="947056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12" name="Google Shape;1657;g60be7dcf1c_0_555">
            <a:extLst>
              <a:ext uri="{FF2B5EF4-FFF2-40B4-BE49-F238E27FC236}">
                <a16:creationId xmlns:a16="http://schemas.microsoft.com/office/drawing/2014/main" id="{788434A1-8408-48C0-A0EA-C261D6C2D295}"/>
              </a:ext>
            </a:extLst>
          </p:cNvPr>
          <p:cNvSpPr txBox="1">
            <a:spLocks/>
          </p:cNvSpPr>
          <p:nvPr/>
        </p:nvSpPr>
        <p:spPr>
          <a:xfrm>
            <a:off x="973075" y="73150"/>
            <a:ext cx="8171100" cy="1573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buSzPts val="1100"/>
            </a:pPr>
            <a:r>
              <a:rPr lang="en-GB" sz="2000" dirty="0">
                <a:latin typeface="Consolas"/>
                <a:ea typeface="Consolas"/>
                <a:cs typeface="Consolas"/>
                <a:sym typeface="Consolas"/>
              </a:rPr>
              <a:t>Benefit 2:</a:t>
            </a:r>
            <a:r>
              <a:rPr lang="en-GB" sz="4000" dirty="0">
                <a:latin typeface="Consolas"/>
                <a:ea typeface="Consolas"/>
                <a:cs typeface="Consolas"/>
                <a:sym typeface="Consolas"/>
              </a:rPr>
              <a:t> </a:t>
            </a:r>
          </a:p>
          <a:p>
            <a:pPr algn="l">
              <a:buSzPts val="1100"/>
            </a:pPr>
            <a:r>
              <a:rPr lang="en-GB" sz="3600" dirty="0">
                <a:latin typeface="Consolas"/>
                <a:ea typeface="Consolas"/>
                <a:cs typeface="Consolas"/>
                <a:sym typeface="Consolas"/>
              </a:rPr>
              <a:t>Energy and Latency</a:t>
            </a:r>
            <a:endParaRPr lang="en-GB" sz="3400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" name="Cylinder 6">
            <a:extLst>
              <a:ext uri="{FF2B5EF4-FFF2-40B4-BE49-F238E27FC236}">
                <a16:creationId xmlns:a16="http://schemas.microsoft.com/office/drawing/2014/main" id="{57708652-71F3-4E45-AEC7-75B5EB27404B}"/>
              </a:ext>
            </a:extLst>
          </p:cNvPr>
          <p:cNvSpPr/>
          <p:nvPr/>
        </p:nvSpPr>
        <p:spPr>
          <a:xfrm rot="5400000">
            <a:off x="1892060" y="3713021"/>
            <a:ext cx="1016000" cy="2244373"/>
          </a:xfrm>
          <a:prstGeom prst="can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14" name="Cylinder 13">
            <a:extLst>
              <a:ext uri="{FF2B5EF4-FFF2-40B4-BE49-F238E27FC236}">
                <a16:creationId xmlns:a16="http://schemas.microsoft.com/office/drawing/2014/main" id="{D7A2DEA9-FBAC-4A33-9FA0-3B3406960549}"/>
              </a:ext>
            </a:extLst>
          </p:cNvPr>
          <p:cNvSpPr/>
          <p:nvPr/>
        </p:nvSpPr>
        <p:spPr>
          <a:xfrm rot="5400000">
            <a:off x="6252445" y="3713021"/>
            <a:ext cx="1016000" cy="2244373"/>
          </a:xfrm>
          <a:prstGeom prst="can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99DD19C-7ECD-4FB8-A993-4E4A05710322}"/>
              </a:ext>
            </a:extLst>
          </p:cNvPr>
          <p:cNvSpPr/>
          <p:nvPr/>
        </p:nvSpPr>
        <p:spPr>
          <a:xfrm>
            <a:off x="4400014" y="4090438"/>
            <a:ext cx="107330" cy="2367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pic>
        <p:nvPicPr>
          <p:cNvPr id="2058" name="Picture 10" descr="What exactly is a photon? Definition, properties, facts">
            <a:extLst>
              <a:ext uri="{FF2B5EF4-FFF2-40B4-BE49-F238E27FC236}">
                <a16:creationId xmlns:a16="http://schemas.microsoft.com/office/drawing/2014/main" id="{D866336B-0627-4A23-A8A2-360B8A6029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8808" y="4568204"/>
            <a:ext cx="724389" cy="534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10" descr="What exactly is a photon? Definition, properties, facts">
            <a:extLst>
              <a:ext uri="{FF2B5EF4-FFF2-40B4-BE49-F238E27FC236}">
                <a16:creationId xmlns:a16="http://schemas.microsoft.com/office/drawing/2014/main" id="{4BFA05B8-1452-4775-BFCD-3CC9B9A6FF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2738" y="4574246"/>
            <a:ext cx="724389" cy="534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Google Shape;1534;g60be7dcf1c_0_434">
            <a:extLst>
              <a:ext uri="{FF2B5EF4-FFF2-40B4-BE49-F238E27FC236}">
                <a16:creationId xmlns:a16="http://schemas.microsoft.com/office/drawing/2014/main" id="{15D99E5D-D52E-4F46-A890-E324375040D9}"/>
              </a:ext>
            </a:extLst>
          </p:cNvPr>
          <p:cNvSpPr txBox="1"/>
          <p:nvPr/>
        </p:nvSpPr>
        <p:spPr>
          <a:xfrm>
            <a:off x="1457026" y="5450111"/>
            <a:ext cx="1821889" cy="438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Optical </a:t>
            </a:r>
            <a:r>
              <a:rPr lang="en-GB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fiber</a:t>
            </a:r>
            <a:endParaRPr lang="en-GB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" name="Google Shape;1534;g60be7dcf1c_0_434">
            <a:extLst>
              <a:ext uri="{FF2B5EF4-FFF2-40B4-BE49-F238E27FC236}">
                <a16:creationId xmlns:a16="http://schemas.microsoft.com/office/drawing/2014/main" id="{E707DD40-9256-4A87-A310-D53B541FE1FD}"/>
              </a:ext>
            </a:extLst>
          </p:cNvPr>
          <p:cNvSpPr txBox="1"/>
          <p:nvPr/>
        </p:nvSpPr>
        <p:spPr>
          <a:xfrm>
            <a:off x="5948001" y="5450111"/>
            <a:ext cx="1821889" cy="438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Optical </a:t>
            </a:r>
            <a:r>
              <a:rPr lang="en-GB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fiber</a:t>
            </a:r>
            <a:endParaRPr lang="en-GB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" name="Google Shape;1534;g60be7dcf1c_0_434">
            <a:extLst>
              <a:ext uri="{FF2B5EF4-FFF2-40B4-BE49-F238E27FC236}">
                <a16:creationId xmlns:a16="http://schemas.microsoft.com/office/drawing/2014/main" id="{79F49991-DAD1-483F-80A7-5724ED839B90}"/>
              </a:ext>
            </a:extLst>
          </p:cNvPr>
          <p:cNvSpPr txBox="1"/>
          <p:nvPr/>
        </p:nvSpPr>
        <p:spPr>
          <a:xfrm>
            <a:off x="3788447" y="5450111"/>
            <a:ext cx="2197925" cy="527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Optical switch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8E9F1F5-619B-4CD8-9D8A-2225EA9585E3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53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pic>
        <p:nvPicPr>
          <p:cNvPr id="18" name="Picture 2" descr="Was ist ein Glasprisma? Lernen Sie Lichtbrechung">
            <a:extLst>
              <a:ext uri="{FF2B5EF4-FFF2-40B4-BE49-F238E27FC236}">
                <a16:creationId xmlns:a16="http://schemas.microsoft.com/office/drawing/2014/main" id="{F77702F0-9CD1-4A5F-9ED2-2AFBB1FD7A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3727" y="4230749"/>
            <a:ext cx="1640038" cy="1193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D5D591B-EA6A-4D9F-B60D-E93F89774105}"/>
              </a:ext>
            </a:extLst>
          </p:cNvPr>
          <p:cNvCxnSpPr>
            <a:cxnSpLocks/>
          </p:cNvCxnSpPr>
          <p:nvPr/>
        </p:nvCxnSpPr>
        <p:spPr>
          <a:xfrm>
            <a:off x="3278915" y="5671127"/>
            <a:ext cx="44334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B75E716-2796-48ED-8146-F05528815F93}"/>
              </a:ext>
            </a:extLst>
          </p:cNvPr>
          <p:cNvCxnSpPr>
            <a:cxnSpLocks/>
          </p:cNvCxnSpPr>
          <p:nvPr/>
        </p:nvCxnSpPr>
        <p:spPr>
          <a:xfrm>
            <a:off x="5504655" y="5698835"/>
            <a:ext cx="44334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2353219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4" name="Google Shape;1534;g60be7dcf1c_0_434"/>
          <p:cNvSpPr txBox="1"/>
          <p:nvPr/>
        </p:nvSpPr>
        <p:spPr>
          <a:xfrm>
            <a:off x="1095284" y="2123238"/>
            <a:ext cx="6720816" cy="4943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⇢ No need to </a:t>
            </a:r>
            <a:r>
              <a:rPr lang="en-GB" sz="1600" i="1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convert</a:t>
            </a: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photons in </a:t>
            </a:r>
            <a:r>
              <a:rPr lang="en-GB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fiber</a:t>
            </a: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to electrons in </a:t>
            </a:r>
          </a:p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switch (and back)</a:t>
            </a:r>
          </a:p>
          <a:p>
            <a:pPr lvl="0">
              <a:lnSpc>
                <a:spcPct val="115000"/>
              </a:lnSpc>
            </a:pPr>
            <a:endParaRPr lang="en-GB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⇢ Can safe </a:t>
            </a:r>
            <a:r>
              <a:rPr lang="en-GB" sz="1600" i="1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energy</a:t>
            </a: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and reduce </a:t>
            </a:r>
            <a:r>
              <a:rPr lang="en-GB" sz="1600" i="1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latency</a:t>
            </a: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(in addition to </a:t>
            </a:r>
          </a:p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enabling almost unlimited throughput)</a:t>
            </a:r>
          </a:p>
          <a:p>
            <a:pPr lvl="0">
              <a:lnSpc>
                <a:spcPct val="115000"/>
              </a:lnSpc>
            </a:pPr>
            <a:endParaRPr lang="en-GB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en-GB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en-GB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en-GB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en-GB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en-GB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en-GB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en-GB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en-GB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⇢ Interesting for emerging </a:t>
            </a:r>
            <a:r>
              <a:rPr lang="en-GB" sz="1600" i="1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distributed </a:t>
            </a:r>
            <a:r>
              <a:rPr lang="en-GB" sz="1600" i="1" dirty="0" err="1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datacenters</a:t>
            </a: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!</a:t>
            </a:r>
          </a:p>
          <a:p>
            <a:pPr lvl="0">
              <a:lnSpc>
                <a:spcPct val="115000"/>
              </a:lnSpc>
            </a:pPr>
            <a:endParaRPr lang="en-GB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" name="Google Shape;1656;g60be7dcf1c_0_555">
            <a:extLst>
              <a:ext uri="{FF2B5EF4-FFF2-40B4-BE49-F238E27FC236}">
                <a16:creationId xmlns:a16="http://schemas.microsoft.com/office/drawing/2014/main" id="{621D77F3-A23F-4EF2-854A-562F9CB41B0F}"/>
              </a:ext>
            </a:extLst>
          </p:cNvPr>
          <p:cNvSpPr txBox="1"/>
          <p:nvPr/>
        </p:nvSpPr>
        <p:spPr>
          <a:xfrm>
            <a:off x="0" y="540000"/>
            <a:ext cx="8170925" cy="947056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12" name="Google Shape;1657;g60be7dcf1c_0_555">
            <a:extLst>
              <a:ext uri="{FF2B5EF4-FFF2-40B4-BE49-F238E27FC236}">
                <a16:creationId xmlns:a16="http://schemas.microsoft.com/office/drawing/2014/main" id="{788434A1-8408-48C0-A0EA-C261D6C2D295}"/>
              </a:ext>
            </a:extLst>
          </p:cNvPr>
          <p:cNvSpPr txBox="1">
            <a:spLocks/>
          </p:cNvSpPr>
          <p:nvPr/>
        </p:nvSpPr>
        <p:spPr>
          <a:xfrm>
            <a:off x="973075" y="73150"/>
            <a:ext cx="8171100" cy="1573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buSzPts val="1100"/>
            </a:pPr>
            <a:r>
              <a:rPr lang="en-GB" sz="2000" dirty="0">
                <a:latin typeface="Consolas"/>
                <a:ea typeface="Consolas"/>
                <a:cs typeface="Consolas"/>
                <a:sym typeface="Consolas"/>
              </a:rPr>
              <a:t>Benefit 2:</a:t>
            </a:r>
            <a:r>
              <a:rPr lang="en-GB" sz="4000" dirty="0">
                <a:latin typeface="Consolas"/>
                <a:ea typeface="Consolas"/>
                <a:cs typeface="Consolas"/>
                <a:sym typeface="Consolas"/>
              </a:rPr>
              <a:t> </a:t>
            </a:r>
          </a:p>
          <a:p>
            <a:pPr algn="l">
              <a:buSzPts val="1100"/>
            </a:pPr>
            <a:r>
              <a:rPr lang="en-GB" sz="3600" dirty="0">
                <a:latin typeface="Consolas"/>
                <a:ea typeface="Consolas"/>
                <a:cs typeface="Consolas"/>
                <a:sym typeface="Consolas"/>
              </a:rPr>
              <a:t>Energy and Latency</a:t>
            </a:r>
            <a:endParaRPr lang="en-GB" sz="3400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" name="Cylinder 6">
            <a:extLst>
              <a:ext uri="{FF2B5EF4-FFF2-40B4-BE49-F238E27FC236}">
                <a16:creationId xmlns:a16="http://schemas.microsoft.com/office/drawing/2014/main" id="{57708652-71F3-4E45-AEC7-75B5EB27404B}"/>
              </a:ext>
            </a:extLst>
          </p:cNvPr>
          <p:cNvSpPr/>
          <p:nvPr/>
        </p:nvSpPr>
        <p:spPr>
          <a:xfrm rot="5400000">
            <a:off x="1892060" y="3713021"/>
            <a:ext cx="1016000" cy="2244373"/>
          </a:xfrm>
          <a:prstGeom prst="can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14" name="Cylinder 13">
            <a:extLst>
              <a:ext uri="{FF2B5EF4-FFF2-40B4-BE49-F238E27FC236}">
                <a16:creationId xmlns:a16="http://schemas.microsoft.com/office/drawing/2014/main" id="{D7A2DEA9-FBAC-4A33-9FA0-3B3406960549}"/>
              </a:ext>
            </a:extLst>
          </p:cNvPr>
          <p:cNvSpPr/>
          <p:nvPr/>
        </p:nvSpPr>
        <p:spPr>
          <a:xfrm rot="5400000">
            <a:off x="6252445" y="3713021"/>
            <a:ext cx="1016000" cy="2244373"/>
          </a:xfrm>
          <a:prstGeom prst="can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99DD19C-7ECD-4FB8-A993-4E4A05710322}"/>
              </a:ext>
            </a:extLst>
          </p:cNvPr>
          <p:cNvSpPr/>
          <p:nvPr/>
        </p:nvSpPr>
        <p:spPr>
          <a:xfrm>
            <a:off x="4400014" y="4090438"/>
            <a:ext cx="107330" cy="2367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pic>
        <p:nvPicPr>
          <p:cNvPr id="2058" name="Picture 10" descr="What exactly is a photon? Definition, properties, facts">
            <a:extLst>
              <a:ext uri="{FF2B5EF4-FFF2-40B4-BE49-F238E27FC236}">
                <a16:creationId xmlns:a16="http://schemas.microsoft.com/office/drawing/2014/main" id="{D866336B-0627-4A23-A8A2-360B8A6029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8808" y="4568204"/>
            <a:ext cx="724389" cy="534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10" descr="What exactly is a photon? Definition, properties, facts">
            <a:extLst>
              <a:ext uri="{FF2B5EF4-FFF2-40B4-BE49-F238E27FC236}">
                <a16:creationId xmlns:a16="http://schemas.microsoft.com/office/drawing/2014/main" id="{4BFA05B8-1452-4775-BFCD-3CC9B9A6FF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2738" y="4574246"/>
            <a:ext cx="724389" cy="534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Google Shape;1534;g60be7dcf1c_0_434">
            <a:extLst>
              <a:ext uri="{FF2B5EF4-FFF2-40B4-BE49-F238E27FC236}">
                <a16:creationId xmlns:a16="http://schemas.microsoft.com/office/drawing/2014/main" id="{15D99E5D-D52E-4F46-A890-E324375040D9}"/>
              </a:ext>
            </a:extLst>
          </p:cNvPr>
          <p:cNvSpPr txBox="1"/>
          <p:nvPr/>
        </p:nvSpPr>
        <p:spPr>
          <a:xfrm>
            <a:off x="1457026" y="5450111"/>
            <a:ext cx="1821889" cy="438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Optical </a:t>
            </a:r>
            <a:r>
              <a:rPr lang="en-GB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fiber</a:t>
            </a:r>
            <a:endParaRPr lang="en-GB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" name="Google Shape;1534;g60be7dcf1c_0_434">
            <a:extLst>
              <a:ext uri="{FF2B5EF4-FFF2-40B4-BE49-F238E27FC236}">
                <a16:creationId xmlns:a16="http://schemas.microsoft.com/office/drawing/2014/main" id="{E707DD40-9256-4A87-A310-D53B541FE1FD}"/>
              </a:ext>
            </a:extLst>
          </p:cNvPr>
          <p:cNvSpPr txBox="1"/>
          <p:nvPr/>
        </p:nvSpPr>
        <p:spPr>
          <a:xfrm>
            <a:off x="5948001" y="5450111"/>
            <a:ext cx="1821889" cy="438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Optical </a:t>
            </a:r>
            <a:r>
              <a:rPr lang="en-GB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fiber</a:t>
            </a:r>
            <a:endParaRPr lang="en-GB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" name="Google Shape;1534;g60be7dcf1c_0_434">
            <a:extLst>
              <a:ext uri="{FF2B5EF4-FFF2-40B4-BE49-F238E27FC236}">
                <a16:creationId xmlns:a16="http://schemas.microsoft.com/office/drawing/2014/main" id="{79F49991-DAD1-483F-80A7-5724ED839B90}"/>
              </a:ext>
            </a:extLst>
          </p:cNvPr>
          <p:cNvSpPr txBox="1"/>
          <p:nvPr/>
        </p:nvSpPr>
        <p:spPr>
          <a:xfrm>
            <a:off x="3788447" y="5450111"/>
            <a:ext cx="2197925" cy="527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Optical switch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8E9F1F5-619B-4CD8-9D8A-2225EA9585E3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53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pic>
        <p:nvPicPr>
          <p:cNvPr id="18" name="Picture 2" descr="Was ist ein Glasprisma? Lernen Sie Lichtbrechung">
            <a:extLst>
              <a:ext uri="{FF2B5EF4-FFF2-40B4-BE49-F238E27FC236}">
                <a16:creationId xmlns:a16="http://schemas.microsoft.com/office/drawing/2014/main" id="{F77702F0-9CD1-4A5F-9ED2-2AFBB1FD7A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3727" y="4230749"/>
            <a:ext cx="1640038" cy="1193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D5D591B-EA6A-4D9F-B60D-E93F89774105}"/>
              </a:ext>
            </a:extLst>
          </p:cNvPr>
          <p:cNvCxnSpPr>
            <a:cxnSpLocks/>
          </p:cNvCxnSpPr>
          <p:nvPr/>
        </p:nvCxnSpPr>
        <p:spPr>
          <a:xfrm>
            <a:off x="3278915" y="5671127"/>
            <a:ext cx="44334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B75E716-2796-48ED-8146-F05528815F93}"/>
              </a:ext>
            </a:extLst>
          </p:cNvPr>
          <p:cNvCxnSpPr>
            <a:cxnSpLocks/>
          </p:cNvCxnSpPr>
          <p:nvPr/>
        </p:nvCxnSpPr>
        <p:spPr>
          <a:xfrm>
            <a:off x="5504655" y="5698835"/>
            <a:ext cx="44334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5009497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4" name="Google Shape;1534;g60be7dcf1c_0_434"/>
          <p:cNvSpPr txBox="1"/>
          <p:nvPr/>
        </p:nvSpPr>
        <p:spPr>
          <a:xfrm>
            <a:off x="973075" y="2235200"/>
            <a:ext cx="7557300" cy="9698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GB" sz="1600" i="1" dirty="0" err="1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Floodings</a:t>
            </a: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in South Germany destroyed </a:t>
            </a:r>
          </a:p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much electrical network infrastructure</a:t>
            </a:r>
          </a:p>
          <a:p>
            <a:pPr lvl="0">
              <a:lnSpc>
                <a:spcPct val="115000"/>
              </a:lnSpc>
            </a:pPr>
            <a:endParaRPr lang="en-GB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en-GB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en-GB"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" name="Google Shape;1656;g60be7dcf1c_0_555">
            <a:extLst>
              <a:ext uri="{FF2B5EF4-FFF2-40B4-BE49-F238E27FC236}">
                <a16:creationId xmlns:a16="http://schemas.microsoft.com/office/drawing/2014/main" id="{621D77F3-A23F-4EF2-854A-562F9CB41B0F}"/>
              </a:ext>
            </a:extLst>
          </p:cNvPr>
          <p:cNvSpPr txBox="1"/>
          <p:nvPr/>
        </p:nvSpPr>
        <p:spPr>
          <a:xfrm>
            <a:off x="0" y="540000"/>
            <a:ext cx="8170925" cy="947056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12" name="Google Shape;1657;g60be7dcf1c_0_555">
            <a:extLst>
              <a:ext uri="{FF2B5EF4-FFF2-40B4-BE49-F238E27FC236}">
                <a16:creationId xmlns:a16="http://schemas.microsoft.com/office/drawing/2014/main" id="{788434A1-8408-48C0-A0EA-C261D6C2D295}"/>
              </a:ext>
            </a:extLst>
          </p:cNvPr>
          <p:cNvSpPr txBox="1">
            <a:spLocks/>
          </p:cNvSpPr>
          <p:nvPr/>
        </p:nvSpPr>
        <p:spPr>
          <a:xfrm>
            <a:off x="973075" y="73150"/>
            <a:ext cx="8171100" cy="1573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buSzPts val="1100"/>
            </a:pPr>
            <a:r>
              <a:rPr lang="en-GB" sz="2000" dirty="0">
                <a:latin typeface="Consolas"/>
                <a:ea typeface="Consolas"/>
                <a:cs typeface="Consolas"/>
                <a:sym typeface="Consolas"/>
              </a:rPr>
              <a:t>Benefit 3:</a:t>
            </a:r>
            <a:r>
              <a:rPr lang="en-GB" sz="4000" dirty="0">
                <a:latin typeface="Consolas"/>
                <a:ea typeface="Consolas"/>
                <a:cs typeface="Consolas"/>
                <a:sym typeface="Consolas"/>
              </a:rPr>
              <a:t> </a:t>
            </a:r>
          </a:p>
          <a:p>
            <a:pPr algn="l">
              <a:buSzPts val="1100"/>
            </a:pPr>
            <a:r>
              <a:rPr lang="en-GB" sz="3600" dirty="0">
                <a:latin typeface="Consolas"/>
                <a:ea typeface="Consolas"/>
                <a:cs typeface="Consolas"/>
                <a:sym typeface="Consolas"/>
              </a:rPr>
              <a:t>Resilience</a:t>
            </a:r>
            <a:endParaRPr lang="en-GB" sz="3400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098" name="Picture 2" descr="A river has burst its banks.">
            <a:extLst>
              <a:ext uri="{FF2B5EF4-FFF2-40B4-BE49-F238E27FC236}">
                <a16:creationId xmlns:a16="http://schemas.microsoft.com/office/drawing/2014/main" id="{5D5B091E-0B67-46A7-932B-8D99CC7163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1118" y="2068014"/>
            <a:ext cx="2655453" cy="1327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1534;g60be7dcf1c_0_434">
            <a:extLst>
              <a:ext uri="{FF2B5EF4-FFF2-40B4-BE49-F238E27FC236}">
                <a16:creationId xmlns:a16="http://schemas.microsoft.com/office/drawing/2014/main" id="{BD9712B0-2831-43C9-A32F-D326CD1D6695}"/>
              </a:ext>
            </a:extLst>
          </p:cNvPr>
          <p:cNvSpPr txBox="1"/>
          <p:nvPr/>
        </p:nvSpPr>
        <p:spPr>
          <a:xfrm>
            <a:off x="4572000" y="4361068"/>
            <a:ext cx="3806743" cy="9698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Solution: deploy optical infrastructure (in valleys) and electrical </a:t>
            </a:r>
            <a:r>
              <a:rPr lang="en-GB" sz="1600" i="1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on hills </a:t>
            </a: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where safe?</a:t>
            </a:r>
          </a:p>
          <a:p>
            <a:pPr lvl="0">
              <a:lnSpc>
                <a:spcPct val="115000"/>
              </a:lnSpc>
            </a:pPr>
            <a:endParaRPr lang="en-GB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en-GB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en-GB"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100" name="Picture 4" descr="Valley - Free vector clipart images on creazilla.com">
            <a:extLst>
              <a:ext uri="{FF2B5EF4-FFF2-40B4-BE49-F238E27FC236}">
                <a16:creationId xmlns:a16="http://schemas.microsoft.com/office/drawing/2014/main" id="{8645D386-7972-4D45-946D-EEFF9F11D0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7802" y="3730737"/>
            <a:ext cx="3146343" cy="2195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What is an Electron? - Definition, Discovery, Charge of ...">
            <a:extLst>
              <a:ext uri="{FF2B5EF4-FFF2-40B4-BE49-F238E27FC236}">
                <a16:creationId xmlns:a16="http://schemas.microsoft.com/office/drawing/2014/main" id="{F49A6DBF-17AC-4BE0-9DA1-BA4E8B7044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5852" y="3652983"/>
            <a:ext cx="589076" cy="609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4E026DC-8698-4E4F-BA30-15CD810C9ADF}"/>
              </a:ext>
            </a:extLst>
          </p:cNvPr>
          <p:cNvSpPr/>
          <p:nvPr/>
        </p:nvSpPr>
        <p:spPr>
          <a:xfrm>
            <a:off x="1564451" y="3820864"/>
            <a:ext cx="107330" cy="2367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pic>
        <p:nvPicPr>
          <p:cNvPr id="13" name="Picture 10" descr="What exactly is a photon? Definition, properties, facts">
            <a:extLst>
              <a:ext uri="{FF2B5EF4-FFF2-40B4-BE49-F238E27FC236}">
                <a16:creationId xmlns:a16="http://schemas.microsoft.com/office/drawing/2014/main" id="{B556BF15-2466-4D02-A7D4-8911285A7A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7756" y="5063883"/>
            <a:ext cx="724389" cy="534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DBAB7CC9-B417-492C-ABC9-4E07E4E374B1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54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8611863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580;g60be7dcf1c_0_473"/>
          <p:cNvSpPr txBox="1"/>
          <p:nvPr/>
        </p:nvSpPr>
        <p:spPr>
          <a:xfrm>
            <a:off x="-1" y="540000"/>
            <a:ext cx="8671891" cy="85396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18" name="Google Shape;1534;g60be7dcf1c_0_434"/>
          <p:cNvSpPr txBox="1"/>
          <p:nvPr/>
        </p:nvSpPr>
        <p:spPr>
          <a:xfrm>
            <a:off x="584946" y="2067004"/>
            <a:ext cx="4412181" cy="4055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GB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⇢ </a:t>
            </a:r>
            <a:r>
              <a:rPr lang="en-U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Opportunity: </a:t>
            </a:r>
            <a:r>
              <a:rPr lang="en-US" i="1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structure</a:t>
            </a:r>
            <a:r>
              <a:rPr lang="en-U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in demand and </a:t>
            </a:r>
          </a:p>
          <a:p>
            <a:pPr lvl="0">
              <a:lnSpc>
                <a:spcPct val="115000"/>
              </a:lnSpc>
            </a:pPr>
            <a:r>
              <a:rPr lang="en-US" i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i="1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reconfigurable</a:t>
            </a:r>
            <a:r>
              <a:rPr lang="en-U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networks</a:t>
            </a:r>
          </a:p>
          <a:p>
            <a:pPr lvl="0">
              <a:lnSpc>
                <a:spcPct val="115000"/>
              </a:lnSpc>
            </a:pPr>
            <a:r>
              <a:rPr lang="en-GB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⇀ </a:t>
            </a:r>
            <a:r>
              <a:rPr lang="de-DE" sz="12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It‘s</a:t>
            </a:r>
            <a:r>
              <a:rPr lang="de-DE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de-DE" sz="12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about</a:t>
            </a:r>
            <a:r>
              <a:rPr lang="de-DE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de-DE" sz="12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matchings</a:t>
            </a:r>
            <a:r>
              <a:rPr lang="de-DE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de-DE" sz="12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finding</a:t>
            </a:r>
            <a:r>
              <a:rPr lang="de-DE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</a:p>
          <a:p>
            <a:pPr lvl="0">
              <a:lnSpc>
                <a:spcPct val="115000"/>
              </a:lnSpc>
            </a:pPr>
            <a:r>
              <a:rPr lang="de-DE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heavy </a:t>
            </a:r>
            <a:r>
              <a:rPr lang="de-DE" sz="12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matchings</a:t>
            </a:r>
            <a:r>
              <a:rPr lang="de-DE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de-DE" sz="12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that</a:t>
            </a:r>
            <a:r>
              <a:rPr lang="de-DE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de-DE" sz="12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can</a:t>
            </a:r>
            <a:r>
              <a:rPr lang="de-DE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de-DE" sz="12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be</a:t>
            </a:r>
            <a:r>
              <a:rPr lang="de-DE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de-DE" sz="12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offloaded</a:t>
            </a:r>
            <a:r>
              <a:rPr lang="de-DE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</a:p>
          <a:p>
            <a:pPr lvl="0">
              <a:lnSpc>
                <a:spcPct val="115000"/>
              </a:lnSpc>
            </a:pPr>
            <a:r>
              <a:rPr lang="de-DE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</a:t>
            </a:r>
            <a:r>
              <a:rPr lang="de-DE" sz="12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to</a:t>
            </a:r>
            <a:r>
              <a:rPr lang="de-DE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de-DE" sz="12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optical</a:t>
            </a:r>
            <a:r>
              <a:rPr lang="de-DE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network, </a:t>
            </a:r>
            <a:r>
              <a:rPr lang="de-DE" sz="12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statically</a:t>
            </a:r>
            <a:r>
              <a:rPr lang="de-DE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</a:p>
          <a:p>
            <a:pPr lvl="0">
              <a:lnSpc>
                <a:spcPct val="115000"/>
              </a:lnSpc>
            </a:pPr>
            <a:r>
              <a:rPr lang="de-DE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and </a:t>
            </a:r>
            <a:r>
              <a:rPr lang="de-DE" sz="12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dynamically</a:t>
            </a:r>
            <a:r>
              <a:rPr lang="de-DE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lang="en-US"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>
              <a:lnSpc>
                <a:spcPct val="115000"/>
              </a:lnSpc>
            </a:pPr>
            <a:endParaRPr lang="de-D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r>
              <a:rPr lang="en-GB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⇢ </a:t>
            </a:r>
            <a:r>
              <a:rPr lang="de-D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Many </a:t>
            </a:r>
            <a:r>
              <a:rPr lang="de-DE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research</a:t>
            </a:r>
            <a:r>
              <a:rPr lang="de-D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de-DE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opportunities</a:t>
            </a:r>
            <a:endParaRPr lang="de-D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>
              <a:lnSpc>
                <a:spcPct val="115000"/>
              </a:lnSpc>
            </a:pPr>
            <a:r>
              <a:rPr lang="en-GB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⇀ </a:t>
            </a:r>
            <a:r>
              <a:rPr lang="de-DE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Optimal </a:t>
            </a:r>
            <a:r>
              <a:rPr lang="de-DE" sz="12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static</a:t>
            </a:r>
            <a:r>
              <a:rPr lang="de-DE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de-DE" sz="12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networks</a:t>
            </a:r>
            <a:r>
              <a:rPr lang="de-DE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de-DE" sz="12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de-DE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de-DE" sz="1200" i="1" dirty="0" err="1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dense</a:t>
            </a:r>
            <a:r>
              <a:rPr lang="de-DE" sz="1200" i="1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de-DE" sz="1200" i="1" dirty="0" err="1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demands</a:t>
            </a:r>
            <a:endParaRPr lang="de-DE" sz="1200" i="1" dirty="0">
              <a:solidFill>
                <a:srgbClr val="C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>
              <a:lnSpc>
                <a:spcPct val="115000"/>
              </a:lnSpc>
            </a:pPr>
            <a:r>
              <a:rPr lang="en-GB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⇀ </a:t>
            </a:r>
            <a:r>
              <a:rPr lang="de-DE" sz="12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Throughput</a:t>
            </a:r>
            <a:r>
              <a:rPr lang="de-DE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de-DE" sz="12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tight</a:t>
            </a:r>
            <a:r>
              <a:rPr lang="de-DE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de-DE" sz="12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bounds</a:t>
            </a:r>
            <a:r>
              <a:rPr lang="de-DE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and NP-</a:t>
            </a:r>
            <a:r>
              <a:rPr lang="de-DE" sz="12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hardness</a:t>
            </a:r>
            <a:endParaRPr lang="de-DE" sz="1200" i="1" dirty="0">
              <a:solidFill>
                <a:srgbClr val="C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>
              <a:lnSpc>
                <a:spcPct val="115000"/>
              </a:lnSpc>
            </a:pPr>
            <a:r>
              <a:rPr lang="en-GB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⇀ </a:t>
            </a:r>
            <a:r>
              <a:rPr lang="en-GB" sz="1200" i="1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Scheduling</a:t>
            </a:r>
            <a:r>
              <a:rPr lang="en-GB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dynamic networks </a:t>
            </a:r>
          </a:p>
          <a:p>
            <a:pPr>
              <a:lnSpc>
                <a:spcPct val="115000"/>
              </a:lnSpc>
            </a:pPr>
            <a:r>
              <a:rPr lang="en-GB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(offline and online!) and beyond </a:t>
            </a:r>
            <a:r>
              <a:rPr lang="en-GB" sz="1200" i="1" dirty="0" err="1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BvN</a:t>
            </a:r>
            <a:endParaRPr lang="en-GB" sz="1200" i="1" dirty="0">
              <a:solidFill>
                <a:srgbClr val="C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>
              <a:lnSpc>
                <a:spcPct val="115000"/>
              </a:lnSpc>
            </a:pPr>
            <a:r>
              <a:rPr lang="en-GB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⇀ </a:t>
            </a:r>
            <a:r>
              <a:rPr lang="de-DE" sz="1200" i="1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Routing</a:t>
            </a:r>
            <a:r>
              <a:rPr lang="de-DE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and </a:t>
            </a:r>
            <a:r>
              <a:rPr lang="de-DE" sz="12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congestion</a:t>
            </a:r>
            <a:r>
              <a:rPr lang="de-DE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de-DE" sz="12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control</a:t>
            </a:r>
            <a:endParaRPr lang="de-DE"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>
              <a:lnSpc>
                <a:spcPct val="115000"/>
              </a:lnSpc>
            </a:pPr>
            <a:r>
              <a:rPr lang="en-GB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⇀ </a:t>
            </a:r>
            <a:r>
              <a:rPr lang="de-DE" sz="1200" i="1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Hybrid </a:t>
            </a:r>
            <a:r>
              <a:rPr lang="de-DE" sz="12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datacenters</a:t>
            </a:r>
            <a:r>
              <a:rPr lang="de-DE" sz="1200" i="1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de-DE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</a:p>
          <a:p>
            <a:pPr lvl="0">
              <a:lnSpc>
                <a:spcPct val="115000"/>
              </a:lnSpc>
            </a:pPr>
            <a:r>
              <a:rPr lang="en-GB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⇀ </a:t>
            </a:r>
            <a:r>
              <a:rPr lang="de-DE" sz="1200" i="1" dirty="0" err="1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Scalable</a:t>
            </a:r>
            <a:r>
              <a:rPr lang="de-DE" sz="1200" i="1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de-DE" sz="1200" i="1" dirty="0" err="1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control</a:t>
            </a:r>
            <a:r>
              <a:rPr lang="de-DE" sz="1200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de-DE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plane</a:t>
            </a:r>
          </a:p>
          <a:p>
            <a:pPr lvl="0">
              <a:lnSpc>
                <a:spcPct val="115000"/>
              </a:lnSpc>
            </a:pPr>
            <a:r>
              <a:rPr lang="en-GB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⇀ </a:t>
            </a:r>
            <a:r>
              <a:rPr lang="de-DE" sz="1200" i="1" dirty="0" err="1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Application-specific</a:t>
            </a:r>
            <a:r>
              <a:rPr lang="de-DE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de-DE" sz="12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self-adjusting</a:t>
            </a:r>
            <a:r>
              <a:rPr lang="de-DE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de-DE" sz="12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networks</a:t>
            </a:r>
            <a:r>
              <a:rPr lang="de-DE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?</a:t>
            </a:r>
          </a:p>
          <a:p>
            <a:pPr lvl="0">
              <a:lnSpc>
                <a:spcPct val="115000"/>
              </a:lnSpc>
            </a:pPr>
            <a:endParaRPr lang="de-DE"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r>
              <a:rPr lang="en-GB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⇢ </a:t>
            </a:r>
            <a:r>
              <a:rPr lang="de-DE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Many </a:t>
            </a:r>
            <a:r>
              <a:rPr lang="de-DE" sz="12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more</a:t>
            </a:r>
            <a:r>
              <a:rPr lang="de-DE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de-DE" sz="1200" i="1" dirty="0" err="1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opportunities</a:t>
            </a:r>
            <a:r>
              <a:rPr lang="de-DE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de-DE" sz="12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de-DE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de-DE" sz="12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optical</a:t>
            </a:r>
            <a:r>
              <a:rPr lang="de-DE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de-DE" sz="12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networks</a:t>
            </a:r>
            <a:r>
              <a:rPr lang="en-GB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</a:p>
          <a:p>
            <a:pPr lvl="0">
              <a:lnSpc>
                <a:spcPct val="115000"/>
              </a:lnSpc>
            </a:pPr>
            <a:endParaRPr lang="en-GB"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>
              <a:lnSpc>
                <a:spcPct val="115000"/>
              </a:lnSpc>
            </a:pPr>
            <a:endParaRPr lang="de-DE"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0" name="Google Shape;1908;g60be7dcf1c_0_790" descr="See the source image">
            <a:extLst>
              <a:ext uri="{FF2B5EF4-FFF2-40B4-BE49-F238E27FC236}">
                <a16:creationId xmlns:a16="http://schemas.microsoft.com/office/drawing/2014/main" id="{87D3C7C9-E19E-4253-9BE4-2E87650CDC1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25791" y="2654839"/>
            <a:ext cx="2936256" cy="209191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688;g60be7dcf1c_0_579">
            <a:extLst>
              <a:ext uri="{FF2B5EF4-FFF2-40B4-BE49-F238E27FC236}">
                <a16:creationId xmlns:a16="http://schemas.microsoft.com/office/drawing/2014/main" id="{1B1394E1-6349-4DC1-9516-F4CE1A218F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2487" y="0"/>
            <a:ext cx="8171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en-GB" sz="32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Conclusion: Tip of Iceberg!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00970B-D703-4B50-A8D6-8E5A927AFF2A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55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990420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1580;g60be7dcf1c_0_473"/>
          <p:cNvSpPr txBox="1"/>
          <p:nvPr/>
        </p:nvSpPr>
        <p:spPr>
          <a:xfrm>
            <a:off x="0" y="540000"/>
            <a:ext cx="8211000" cy="419005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24" name="Google Shape;1581;g60be7dcf1c_0_473"/>
          <p:cNvSpPr txBox="1">
            <a:spLocks noGrp="1"/>
          </p:cNvSpPr>
          <p:nvPr>
            <p:ph type="title"/>
          </p:nvPr>
        </p:nvSpPr>
        <p:spPr>
          <a:xfrm>
            <a:off x="973075" y="149350"/>
            <a:ext cx="8171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Thank you! Questions?</a:t>
            </a:r>
            <a:endParaRPr lang="en-GB" sz="2000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" name="Google Shape;1534;g60be7dcf1c_0_434"/>
          <p:cNvSpPr txBox="1"/>
          <p:nvPr/>
        </p:nvSpPr>
        <p:spPr>
          <a:xfrm>
            <a:off x="6096191" y="5815254"/>
            <a:ext cx="1311373" cy="348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US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Slides available here: 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820" y="1605775"/>
            <a:ext cx="6696127" cy="381292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89BF95F-C2F3-480D-8559-6679553117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3782" y="5994330"/>
            <a:ext cx="571047" cy="566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376270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580;g60be7dcf1c_0_473"/>
          <p:cNvSpPr txBox="1"/>
          <p:nvPr/>
        </p:nvSpPr>
        <p:spPr>
          <a:xfrm>
            <a:off x="0" y="540000"/>
            <a:ext cx="8211000" cy="85396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45" name="Google Shape;1688;g60be7dcf1c_0_579"/>
          <p:cNvSpPr txBox="1">
            <a:spLocks noGrp="1"/>
          </p:cNvSpPr>
          <p:nvPr>
            <p:ph type="title"/>
          </p:nvPr>
        </p:nvSpPr>
        <p:spPr>
          <a:xfrm>
            <a:off x="742487" y="0"/>
            <a:ext cx="8171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en-GB" sz="32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Online Video Course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E20E289-C420-42DE-A2D2-342B925EB1E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120</a:t>
            </a:fld>
            <a:endParaRPr lang="de-DE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1931BC-0675-4053-BC90-AEB2364FA0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5113" y="1797759"/>
            <a:ext cx="4307633" cy="430763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6CE9FA3-1F7A-4FDD-A86E-B6F5C9EFF749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38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D86EA75-B95F-4260-93EF-E8DBE116F5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6038" y="6170782"/>
            <a:ext cx="669923" cy="677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27367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Google Shape;1530;g60be7dcf1c_0_434"/>
          <p:cNvSpPr txBox="1"/>
          <p:nvPr/>
        </p:nvSpPr>
        <p:spPr>
          <a:xfrm>
            <a:off x="0" y="540000"/>
            <a:ext cx="8211000" cy="531418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1531" name="Google Shape;1531;g60be7dcf1c_0_434"/>
          <p:cNvSpPr txBox="1">
            <a:spLocks noGrp="1"/>
          </p:cNvSpPr>
          <p:nvPr>
            <p:ph type="title"/>
          </p:nvPr>
        </p:nvSpPr>
        <p:spPr>
          <a:xfrm>
            <a:off x="973075" y="149350"/>
            <a:ext cx="8171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YouTube Interview &amp; CACM</a:t>
            </a:r>
            <a:br>
              <a:rPr lang="en-GB" sz="32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lang="en-GB" sz="2000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34" name="Google Shape;1534;g60be7dcf1c_0_434"/>
          <p:cNvSpPr txBox="1"/>
          <p:nvPr/>
        </p:nvSpPr>
        <p:spPr>
          <a:xfrm>
            <a:off x="1310777" y="1233143"/>
            <a:ext cx="7219598" cy="51995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endParaRPr lang="en-GB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en-GB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en-GB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en-GB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en-GB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en-GB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en-GB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en-GB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en-GB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en-GB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en-GB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en-GB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en-GB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en-GB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en-GB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r>
              <a:rPr lang="de-DE" sz="1100" dirty="0" err="1">
                <a:latin typeface="Consolas" panose="020B0609020204030204" pitchFamily="49" charset="0"/>
                <a:hlinkClick r:id="rId3"/>
              </a:rPr>
              <a:t>Revolutionizing</a:t>
            </a:r>
            <a:r>
              <a:rPr lang="de-DE" sz="1100" dirty="0">
                <a:latin typeface="Consolas" panose="020B0609020204030204" pitchFamily="49" charset="0"/>
                <a:hlinkClick r:id="rId3"/>
              </a:rPr>
              <a:t> Datacenter Networks via </a:t>
            </a:r>
            <a:r>
              <a:rPr lang="de-DE" sz="1100" dirty="0" err="1">
                <a:latin typeface="Consolas" panose="020B0609020204030204" pitchFamily="49" charset="0"/>
                <a:hlinkClick r:id="rId3"/>
              </a:rPr>
              <a:t>Reconfigurable</a:t>
            </a:r>
            <a:r>
              <a:rPr lang="de-DE" sz="1100" dirty="0">
                <a:latin typeface="Consolas" panose="020B0609020204030204" pitchFamily="49" charset="0"/>
                <a:hlinkClick r:id="rId3"/>
              </a:rPr>
              <a:t> </a:t>
            </a:r>
            <a:r>
              <a:rPr lang="de-DE" sz="1100" dirty="0" err="1">
                <a:latin typeface="Consolas" panose="020B0609020204030204" pitchFamily="49" charset="0"/>
                <a:hlinkClick r:id="rId3"/>
              </a:rPr>
              <a:t>Topologies</a:t>
            </a:r>
            <a:br>
              <a:rPr lang="de-DE" sz="1100" dirty="0">
                <a:latin typeface="Consolas" panose="020B0609020204030204" pitchFamily="49" charset="0"/>
              </a:rPr>
            </a:br>
            <a:r>
              <a:rPr lang="de-DE" sz="1100" dirty="0">
                <a:latin typeface="Consolas" panose="020B0609020204030204" pitchFamily="49" charset="0"/>
              </a:rPr>
              <a:t>Chen </a:t>
            </a:r>
            <a:r>
              <a:rPr lang="de-DE" sz="1100" dirty="0" err="1">
                <a:latin typeface="Consolas" panose="020B0609020204030204" pitchFamily="49" charset="0"/>
              </a:rPr>
              <a:t>Avin</a:t>
            </a:r>
            <a:r>
              <a:rPr lang="de-DE" sz="1100" dirty="0">
                <a:latin typeface="Consolas" panose="020B0609020204030204" pitchFamily="49" charset="0"/>
              </a:rPr>
              <a:t> and Stefan Schmid.</a:t>
            </a:r>
            <a:br>
              <a:rPr lang="de-DE" sz="1100" dirty="0">
                <a:latin typeface="Consolas" panose="020B0609020204030204" pitchFamily="49" charset="0"/>
              </a:rPr>
            </a:br>
            <a:r>
              <a:rPr lang="de-DE" sz="1100" dirty="0">
                <a:latin typeface="Consolas" panose="020B0609020204030204" pitchFamily="49" charset="0"/>
              </a:rPr>
              <a:t>Communications </a:t>
            </a:r>
            <a:r>
              <a:rPr lang="de-DE" sz="1100" dirty="0" err="1">
                <a:latin typeface="Consolas" panose="020B0609020204030204" pitchFamily="49" charset="0"/>
              </a:rPr>
              <a:t>of</a:t>
            </a:r>
            <a:r>
              <a:rPr lang="de-DE" sz="1100" dirty="0">
                <a:latin typeface="Consolas" panose="020B0609020204030204" pitchFamily="49" charset="0"/>
              </a:rPr>
              <a:t> </a:t>
            </a:r>
            <a:r>
              <a:rPr lang="de-DE" sz="1100" dirty="0" err="1">
                <a:latin typeface="Consolas" panose="020B0609020204030204" pitchFamily="49" charset="0"/>
              </a:rPr>
              <a:t>the</a:t>
            </a:r>
            <a:r>
              <a:rPr lang="de-DE" sz="1100" dirty="0">
                <a:latin typeface="Consolas" panose="020B0609020204030204" pitchFamily="49" charset="0"/>
              </a:rPr>
              <a:t> ACM (</a:t>
            </a:r>
            <a:r>
              <a:rPr lang="de-DE" sz="1100" b="1" dirty="0">
                <a:latin typeface="Consolas" panose="020B0609020204030204" pitchFamily="49" charset="0"/>
              </a:rPr>
              <a:t>CACM</a:t>
            </a:r>
            <a:r>
              <a:rPr lang="de-DE" sz="1100" dirty="0">
                <a:latin typeface="Consolas" panose="020B0609020204030204" pitchFamily="49" charset="0"/>
              </a:rPr>
              <a:t>), 2025.</a:t>
            </a:r>
            <a:endParaRPr lang="en-GB" sz="1100" dirty="0">
              <a:solidFill>
                <a:schemeClr val="dk1"/>
              </a:solidFill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r>
              <a:rPr lang="en-GB" sz="1100" dirty="0">
                <a:solidFill>
                  <a:schemeClr val="dk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Watch here: </a:t>
            </a:r>
            <a:r>
              <a:rPr lang="en-GB" sz="1100" dirty="0">
                <a:solidFill>
                  <a:schemeClr val="dk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  <a:hlinkClick r:id="rId4"/>
              </a:rPr>
              <a:t>https://www.youtube.com/@self-adjusting-networks-course</a:t>
            </a:r>
            <a:r>
              <a:rPr lang="en-GB" sz="1100" dirty="0">
                <a:solidFill>
                  <a:schemeClr val="dk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</a:t>
            </a:r>
          </a:p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5264405-A003-44B6-9ED3-F50743DFDC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0800" y="5475262"/>
            <a:ext cx="822423" cy="83176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22C7AE2-7185-4799-8101-7E22099638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32542" y="1416646"/>
            <a:ext cx="3799093" cy="3799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583381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907;g60be7dcf1c_0_790"/>
          <p:cNvSpPr txBox="1"/>
          <p:nvPr/>
        </p:nvSpPr>
        <p:spPr>
          <a:xfrm>
            <a:off x="1305149" y="5003883"/>
            <a:ext cx="2757488" cy="394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/>
            <a:r>
              <a:rPr lang="en-US" sz="1100" b="1" dirty="0">
                <a:solidFill>
                  <a:schemeClr val="tx1"/>
                </a:solidFill>
                <a:latin typeface="Consolas" panose="020B0609020204030204" pitchFamily="49" charset="0"/>
              </a:rPr>
              <a:t>http://self-adjusting.net/</a:t>
            </a:r>
          </a:p>
          <a:p>
            <a:pPr algn="ctr"/>
            <a:r>
              <a:rPr lang="en-US" sz="1100" b="1" dirty="0">
                <a:solidFill>
                  <a:schemeClr val="tx1"/>
                </a:solidFill>
                <a:latin typeface="Consolas" panose="020B0609020204030204" pitchFamily="49" charset="0"/>
              </a:rPr>
              <a:t>Project website</a:t>
            </a:r>
            <a:endParaRPr lang="en-GB" sz="800" dirty="0">
              <a:solidFill>
                <a:schemeClr val="tx1"/>
              </a:solidFill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</p:txBody>
      </p:sp>
      <p:sp>
        <p:nvSpPr>
          <p:cNvPr id="6" name="Google Shape;1907;g60be7dcf1c_0_790"/>
          <p:cNvSpPr txBox="1"/>
          <p:nvPr/>
        </p:nvSpPr>
        <p:spPr>
          <a:xfrm>
            <a:off x="4921197" y="4345839"/>
            <a:ext cx="2841678" cy="394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/>
            <a:r>
              <a:rPr lang="en-US" sz="1100" b="1" dirty="0">
                <a:solidFill>
                  <a:schemeClr val="tx1"/>
                </a:solidFill>
                <a:latin typeface="Consolas" panose="020B0609020204030204" pitchFamily="49" charset="0"/>
              </a:rPr>
              <a:t>https://trace-collection.net/</a:t>
            </a:r>
          </a:p>
          <a:p>
            <a:pPr algn="ctr"/>
            <a:r>
              <a:rPr lang="en-US" sz="1100" b="1" dirty="0">
                <a:solidFill>
                  <a:schemeClr val="tx1"/>
                </a:solidFill>
                <a:latin typeface="Consolas" panose="020B0609020204030204" pitchFamily="49" charset="0"/>
              </a:rPr>
              <a:t>Trace collection website</a:t>
            </a:r>
            <a:endParaRPr lang="en-GB" sz="800" dirty="0">
              <a:solidFill>
                <a:schemeClr val="tx1"/>
              </a:solidFill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504" y="1815889"/>
            <a:ext cx="2956996" cy="303806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5563" y="2439762"/>
            <a:ext cx="3208028" cy="165295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Google Shape;1580;g60be7dcf1c_0_473"/>
          <p:cNvSpPr txBox="1"/>
          <p:nvPr/>
        </p:nvSpPr>
        <p:spPr>
          <a:xfrm>
            <a:off x="0" y="540000"/>
            <a:ext cx="8211000" cy="85396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10" name="Google Shape;1688;g60be7dcf1c_0_579"/>
          <p:cNvSpPr txBox="1">
            <a:spLocks/>
          </p:cNvSpPr>
          <p:nvPr/>
        </p:nvSpPr>
        <p:spPr>
          <a:xfrm>
            <a:off x="742487" y="0"/>
            <a:ext cx="8171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lnSpc>
                <a:spcPct val="115000"/>
              </a:lnSpc>
              <a:buSzPts val="1100"/>
            </a:pPr>
            <a:br>
              <a:rPr lang="en-GB" sz="32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Websites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47D6C8-8C87-412F-9DCE-6F6AC89C18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40926" y="5568163"/>
            <a:ext cx="972151" cy="9413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453E27F-9FAC-4CC4-9C73-153FC84770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6154" y="4853957"/>
            <a:ext cx="972151" cy="950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142222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580;g60be7dcf1c_0_473"/>
          <p:cNvSpPr txBox="1"/>
          <p:nvPr/>
        </p:nvSpPr>
        <p:spPr>
          <a:xfrm>
            <a:off x="0" y="540000"/>
            <a:ext cx="8211000" cy="85396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45" name="Google Shape;1688;g60be7dcf1c_0_579"/>
          <p:cNvSpPr txBox="1">
            <a:spLocks noGrp="1"/>
          </p:cNvSpPr>
          <p:nvPr>
            <p:ph type="title"/>
          </p:nvPr>
        </p:nvSpPr>
        <p:spPr>
          <a:xfrm>
            <a:off x="742487" y="0"/>
            <a:ext cx="8171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en-GB" sz="32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June’25 CACM Article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E20E289-C420-42DE-A2D2-342B925EB1E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123</a:t>
            </a:fld>
            <a:endParaRPr lang="de-DE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61B589A-2739-4F71-9001-82240E52C9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0871" y="1726153"/>
            <a:ext cx="5835603" cy="4591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66335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1580;g60be7dcf1c_0_473"/>
          <p:cNvSpPr txBox="1"/>
          <p:nvPr/>
        </p:nvSpPr>
        <p:spPr>
          <a:xfrm>
            <a:off x="0" y="540000"/>
            <a:ext cx="8211000" cy="419005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24" name="Google Shape;1581;g60be7dcf1c_0_473"/>
          <p:cNvSpPr txBox="1">
            <a:spLocks noGrp="1"/>
          </p:cNvSpPr>
          <p:nvPr>
            <p:ph type="title"/>
          </p:nvPr>
        </p:nvSpPr>
        <p:spPr>
          <a:xfrm>
            <a:off x="973075" y="149350"/>
            <a:ext cx="8171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References (1)</a:t>
            </a:r>
            <a:endParaRPr lang="en-GB" sz="2000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31D9FBB-7680-458F-9E0E-11DE9E949EDA}"/>
              </a:ext>
            </a:extLst>
          </p:cNvPr>
          <p:cNvSpPr/>
          <p:nvPr/>
        </p:nvSpPr>
        <p:spPr>
          <a:xfrm>
            <a:off x="1055055" y="1109876"/>
            <a:ext cx="7115869" cy="52937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900" dirty="0" err="1">
                <a:hlinkClick r:id="rId3"/>
              </a:rPr>
              <a:t>Revolutionizing</a:t>
            </a:r>
            <a:r>
              <a:rPr lang="de-DE" sz="900" dirty="0">
                <a:hlinkClick r:id="rId3"/>
              </a:rPr>
              <a:t> Datacenter Networks via </a:t>
            </a:r>
            <a:r>
              <a:rPr lang="de-DE" sz="900" dirty="0" err="1">
                <a:hlinkClick r:id="rId3"/>
              </a:rPr>
              <a:t>Reconfigurable</a:t>
            </a:r>
            <a:r>
              <a:rPr lang="de-DE" sz="900" dirty="0">
                <a:hlinkClick r:id="rId3"/>
              </a:rPr>
              <a:t> </a:t>
            </a:r>
            <a:r>
              <a:rPr lang="de-DE" sz="900" dirty="0" err="1">
                <a:hlinkClick r:id="rId3"/>
              </a:rPr>
              <a:t>Topologies</a:t>
            </a:r>
            <a:br>
              <a:rPr lang="de-DE" sz="900" dirty="0"/>
            </a:br>
            <a:r>
              <a:rPr lang="de-DE" sz="900" dirty="0"/>
              <a:t>Chen </a:t>
            </a:r>
            <a:r>
              <a:rPr lang="de-DE" sz="900" dirty="0" err="1"/>
              <a:t>Avin</a:t>
            </a:r>
            <a:r>
              <a:rPr lang="de-DE" sz="900" dirty="0"/>
              <a:t> and Stefan Schmid.</a:t>
            </a:r>
            <a:br>
              <a:rPr lang="de-DE" sz="900" dirty="0"/>
            </a:br>
            <a:r>
              <a:rPr lang="de-DE" sz="900" dirty="0"/>
              <a:t>Communications </a:t>
            </a:r>
            <a:r>
              <a:rPr lang="de-DE" sz="900" dirty="0" err="1"/>
              <a:t>of</a:t>
            </a:r>
            <a:r>
              <a:rPr lang="de-DE" sz="900" dirty="0"/>
              <a:t> </a:t>
            </a:r>
            <a:r>
              <a:rPr lang="de-DE" sz="900" dirty="0" err="1"/>
              <a:t>the</a:t>
            </a:r>
            <a:r>
              <a:rPr lang="de-DE" sz="900" dirty="0"/>
              <a:t> ACM (</a:t>
            </a:r>
            <a:r>
              <a:rPr lang="de-DE" sz="900" b="1" dirty="0"/>
              <a:t>CACM</a:t>
            </a:r>
            <a:r>
              <a:rPr lang="de-DE" sz="900" dirty="0"/>
              <a:t>), 2025.</a:t>
            </a:r>
          </a:p>
          <a:p>
            <a:endParaRPr lang="de-DE" sz="900" dirty="0"/>
          </a:p>
          <a:p>
            <a:r>
              <a:rPr lang="de-DE" sz="900" dirty="0">
                <a:latin typeface="Consolas" panose="020B0609020204030204" pitchFamily="49" charset="0"/>
                <a:hlinkClick r:id="rId4"/>
              </a:rPr>
              <a:t>Cerberus: The Power </a:t>
            </a:r>
            <a:r>
              <a:rPr lang="de-DE" sz="900" dirty="0" err="1">
                <a:latin typeface="Consolas" panose="020B0609020204030204" pitchFamily="49" charset="0"/>
                <a:hlinkClick r:id="rId4"/>
              </a:rPr>
              <a:t>of</a:t>
            </a:r>
            <a:r>
              <a:rPr lang="de-DE" sz="900" dirty="0">
                <a:latin typeface="Consolas" panose="020B0609020204030204" pitchFamily="49" charset="0"/>
                <a:hlinkClick r:id="rId4"/>
              </a:rPr>
              <a:t> </a:t>
            </a:r>
            <a:r>
              <a:rPr lang="de-DE" sz="900" dirty="0" err="1">
                <a:latin typeface="Consolas" panose="020B0609020204030204" pitchFamily="49" charset="0"/>
                <a:hlinkClick r:id="rId4"/>
              </a:rPr>
              <a:t>Choices</a:t>
            </a:r>
            <a:r>
              <a:rPr lang="de-DE" sz="900" dirty="0">
                <a:latin typeface="Consolas" panose="020B0609020204030204" pitchFamily="49" charset="0"/>
                <a:hlinkClick r:id="rId4"/>
              </a:rPr>
              <a:t> in Datacenter </a:t>
            </a:r>
            <a:r>
              <a:rPr lang="de-DE" sz="900" dirty="0" err="1">
                <a:latin typeface="Consolas" panose="020B0609020204030204" pitchFamily="49" charset="0"/>
                <a:hlinkClick r:id="rId4"/>
              </a:rPr>
              <a:t>Topology</a:t>
            </a:r>
            <a:r>
              <a:rPr lang="de-DE" sz="900" dirty="0">
                <a:latin typeface="Consolas" panose="020B0609020204030204" pitchFamily="49" charset="0"/>
                <a:hlinkClick r:id="rId4"/>
              </a:rPr>
              <a:t> Design (A </a:t>
            </a:r>
            <a:r>
              <a:rPr lang="de-DE" sz="900" dirty="0" err="1">
                <a:latin typeface="Consolas" panose="020B0609020204030204" pitchFamily="49" charset="0"/>
                <a:hlinkClick r:id="rId4"/>
              </a:rPr>
              <a:t>Throughput</a:t>
            </a:r>
            <a:r>
              <a:rPr lang="de-DE" sz="900" dirty="0">
                <a:latin typeface="Consolas" panose="020B0609020204030204" pitchFamily="49" charset="0"/>
                <a:hlinkClick r:id="rId4"/>
              </a:rPr>
              <a:t> </a:t>
            </a:r>
            <a:r>
              <a:rPr lang="de-DE" sz="900" dirty="0" err="1">
                <a:latin typeface="Consolas" panose="020B0609020204030204" pitchFamily="49" charset="0"/>
                <a:hlinkClick r:id="rId4"/>
              </a:rPr>
              <a:t>Perspective</a:t>
            </a:r>
            <a:r>
              <a:rPr lang="de-DE" sz="900" dirty="0">
                <a:latin typeface="Consolas" panose="020B0609020204030204" pitchFamily="49" charset="0"/>
                <a:hlinkClick r:id="rId4"/>
              </a:rPr>
              <a:t>)</a:t>
            </a:r>
            <a:br>
              <a:rPr lang="de-DE" sz="900" dirty="0">
                <a:latin typeface="Consolas" panose="020B0609020204030204" pitchFamily="49" charset="0"/>
              </a:rPr>
            </a:br>
            <a:r>
              <a:rPr lang="de-DE" sz="900" dirty="0">
                <a:latin typeface="Consolas" panose="020B0609020204030204" pitchFamily="49" charset="0"/>
              </a:rPr>
              <a:t>Chen </a:t>
            </a:r>
            <a:r>
              <a:rPr lang="de-DE" sz="900" dirty="0" err="1">
                <a:latin typeface="Consolas" panose="020B0609020204030204" pitchFamily="49" charset="0"/>
              </a:rPr>
              <a:t>Griner</a:t>
            </a:r>
            <a:r>
              <a:rPr lang="de-DE" sz="900" dirty="0">
                <a:latin typeface="Consolas" panose="020B0609020204030204" pitchFamily="49" charset="0"/>
              </a:rPr>
              <a:t>, Johannes </a:t>
            </a:r>
            <a:r>
              <a:rPr lang="de-DE" sz="900" dirty="0" err="1">
                <a:latin typeface="Consolas" panose="020B0609020204030204" pitchFamily="49" charset="0"/>
              </a:rPr>
              <a:t>Zerwas</a:t>
            </a:r>
            <a:r>
              <a:rPr lang="de-DE" sz="900" dirty="0">
                <a:latin typeface="Consolas" panose="020B0609020204030204" pitchFamily="49" charset="0"/>
              </a:rPr>
              <a:t>, Andreas </a:t>
            </a:r>
            <a:r>
              <a:rPr lang="de-DE" sz="900" dirty="0" err="1">
                <a:latin typeface="Consolas" panose="020B0609020204030204" pitchFamily="49" charset="0"/>
              </a:rPr>
              <a:t>Blenk</a:t>
            </a:r>
            <a:r>
              <a:rPr lang="de-DE" sz="900" dirty="0">
                <a:latin typeface="Consolas" panose="020B0609020204030204" pitchFamily="49" charset="0"/>
              </a:rPr>
              <a:t>, </a:t>
            </a:r>
            <a:r>
              <a:rPr lang="de-DE" sz="900" dirty="0" err="1">
                <a:latin typeface="Consolas" panose="020B0609020204030204" pitchFamily="49" charset="0"/>
              </a:rPr>
              <a:t>Manya</a:t>
            </a:r>
            <a:r>
              <a:rPr lang="de-DE" sz="900" dirty="0">
                <a:latin typeface="Consolas" panose="020B0609020204030204" pitchFamily="49" charset="0"/>
              </a:rPr>
              <a:t> </a:t>
            </a:r>
            <a:r>
              <a:rPr lang="de-DE" sz="900" dirty="0" err="1">
                <a:latin typeface="Consolas" panose="020B0609020204030204" pitchFamily="49" charset="0"/>
              </a:rPr>
              <a:t>Ghobadi</a:t>
            </a:r>
            <a:r>
              <a:rPr lang="de-DE" sz="900" dirty="0">
                <a:latin typeface="Consolas" panose="020B0609020204030204" pitchFamily="49" charset="0"/>
              </a:rPr>
              <a:t>, Stefan Schmid, and Chen </a:t>
            </a:r>
            <a:r>
              <a:rPr lang="de-DE" sz="900" dirty="0" err="1">
                <a:latin typeface="Consolas" panose="020B0609020204030204" pitchFamily="49" charset="0"/>
              </a:rPr>
              <a:t>Avin</a:t>
            </a:r>
            <a:r>
              <a:rPr lang="de-DE" sz="900" dirty="0">
                <a:latin typeface="Consolas" panose="020B0609020204030204" pitchFamily="49" charset="0"/>
              </a:rPr>
              <a:t>.</a:t>
            </a:r>
            <a:br>
              <a:rPr lang="de-DE" sz="900" dirty="0">
                <a:latin typeface="Consolas" panose="020B0609020204030204" pitchFamily="49" charset="0"/>
              </a:rPr>
            </a:br>
            <a:r>
              <a:rPr lang="de-DE" sz="900" dirty="0">
                <a:latin typeface="Consolas" panose="020B0609020204030204" pitchFamily="49" charset="0"/>
              </a:rPr>
              <a:t>ACM </a:t>
            </a:r>
            <a:r>
              <a:rPr lang="de-DE" sz="900" b="1" dirty="0">
                <a:latin typeface="Consolas" panose="020B0609020204030204" pitchFamily="49" charset="0"/>
              </a:rPr>
              <a:t>SIGMETRICS</a:t>
            </a:r>
            <a:r>
              <a:rPr lang="de-DE" sz="900" dirty="0">
                <a:latin typeface="Consolas" panose="020B0609020204030204" pitchFamily="49" charset="0"/>
              </a:rPr>
              <a:t> and ACM Performance Evaluation Review (</a:t>
            </a:r>
            <a:r>
              <a:rPr lang="de-DE" sz="900" b="1" dirty="0">
                <a:latin typeface="Consolas" panose="020B0609020204030204" pitchFamily="49" charset="0"/>
              </a:rPr>
              <a:t>PER</a:t>
            </a:r>
            <a:r>
              <a:rPr lang="de-DE" sz="900" dirty="0">
                <a:latin typeface="Consolas" panose="020B0609020204030204" pitchFamily="49" charset="0"/>
              </a:rPr>
              <a:t>), Mumbai, India, June 2022.</a:t>
            </a:r>
            <a:endParaRPr lang="de-DE" sz="900" dirty="0"/>
          </a:p>
          <a:p>
            <a:pPr marL="0" indent="0">
              <a:buNone/>
            </a:pPr>
            <a:endParaRPr lang="de-DE" sz="900" dirty="0">
              <a:latin typeface="Consolas" panose="020B0609020204030204" pitchFamily="49" charset="0"/>
              <a:hlinkClick r:id="rId5"/>
            </a:endParaRPr>
          </a:p>
          <a:p>
            <a:pPr marL="0" indent="0">
              <a:buNone/>
            </a:pPr>
            <a:r>
              <a:rPr lang="de-DE" sz="900" dirty="0">
                <a:latin typeface="Consolas" panose="020B0609020204030204" pitchFamily="49" charset="0"/>
                <a:hlinkClick r:id="rId5"/>
              </a:rPr>
              <a:t>Mars: </a:t>
            </a:r>
            <a:r>
              <a:rPr lang="de-DE" sz="900" dirty="0" err="1">
                <a:latin typeface="Consolas" panose="020B0609020204030204" pitchFamily="49" charset="0"/>
                <a:hlinkClick r:id="rId5"/>
              </a:rPr>
              <a:t>Near</a:t>
            </a:r>
            <a:r>
              <a:rPr lang="de-DE" sz="900" dirty="0">
                <a:latin typeface="Consolas" panose="020B0609020204030204" pitchFamily="49" charset="0"/>
                <a:hlinkClick r:id="rId5"/>
              </a:rPr>
              <a:t>-Optimal </a:t>
            </a:r>
            <a:r>
              <a:rPr lang="de-DE" sz="900" dirty="0" err="1">
                <a:latin typeface="Consolas" panose="020B0609020204030204" pitchFamily="49" charset="0"/>
                <a:hlinkClick r:id="rId5"/>
              </a:rPr>
              <a:t>Throughput</a:t>
            </a:r>
            <a:r>
              <a:rPr lang="de-DE" sz="900" dirty="0">
                <a:latin typeface="Consolas" panose="020B0609020204030204" pitchFamily="49" charset="0"/>
                <a:hlinkClick r:id="rId5"/>
              </a:rPr>
              <a:t> </a:t>
            </a:r>
            <a:r>
              <a:rPr lang="de-DE" sz="900" dirty="0" err="1">
                <a:latin typeface="Consolas" panose="020B0609020204030204" pitchFamily="49" charset="0"/>
                <a:hlinkClick r:id="rId5"/>
              </a:rPr>
              <a:t>with</a:t>
            </a:r>
            <a:r>
              <a:rPr lang="de-DE" sz="900" dirty="0">
                <a:latin typeface="Consolas" panose="020B0609020204030204" pitchFamily="49" charset="0"/>
                <a:hlinkClick r:id="rId5"/>
              </a:rPr>
              <a:t> </a:t>
            </a:r>
            <a:r>
              <a:rPr lang="de-DE" sz="900" dirty="0" err="1">
                <a:latin typeface="Consolas" panose="020B0609020204030204" pitchFamily="49" charset="0"/>
                <a:hlinkClick r:id="rId5"/>
              </a:rPr>
              <a:t>Shallow</a:t>
            </a:r>
            <a:r>
              <a:rPr lang="de-DE" sz="900" dirty="0">
                <a:latin typeface="Consolas" panose="020B0609020204030204" pitchFamily="49" charset="0"/>
                <a:hlinkClick r:id="rId5"/>
              </a:rPr>
              <a:t> Buffers in </a:t>
            </a:r>
            <a:r>
              <a:rPr lang="de-DE" sz="900" dirty="0" err="1">
                <a:latin typeface="Consolas" panose="020B0609020204030204" pitchFamily="49" charset="0"/>
                <a:hlinkClick r:id="rId5"/>
              </a:rPr>
              <a:t>Reconfigurable</a:t>
            </a:r>
            <a:r>
              <a:rPr lang="de-DE" sz="900" dirty="0">
                <a:latin typeface="Consolas" panose="020B0609020204030204" pitchFamily="49" charset="0"/>
                <a:hlinkClick r:id="rId5"/>
              </a:rPr>
              <a:t> Datacenter Networks</a:t>
            </a:r>
            <a:br>
              <a:rPr lang="de-DE" sz="900" dirty="0">
                <a:latin typeface="Consolas" panose="020B0609020204030204" pitchFamily="49" charset="0"/>
              </a:rPr>
            </a:br>
            <a:r>
              <a:rPr lang="de-DE" sz="900" dirty="0" err="1">
                <a:latin typeface="Consolas" panose="020B0609020204030204" pitchFamily="49" charset="0"/>
              </a:rPr>
              <a:t>Vamsi</a:t>
            </a:r>
            <a:r>
              <a:rPr lang="de-DE" sz="900" dirty="0">
                <a:latin typeface="Consolas" panose="020B0609020204030204" pitchFamily="49" charset="0"/>
              </a:rPr>
              <a:t> </a:t>
            </a:r>
            <a:r>
              <a:rPr lang="de-DE" sz="900" dirty="0" err="1">
                <a:latin typeface="Consolas" panose="020B0609020204030204" pitchFamily="49" charset="0"/>
              </a:rPr>
              <a:t>Addanki</a:t>
            </a:r>
            <a:r>
              <a:rPr lang="de-DE" sz="900" dirty="0">
                <a:latin typeface="Consolas" panose="020B0609020204030204" pitchFamily="49" charset="0"/>
              </a:rPr>
              <a:t>, Chen </a:t>
            </a:r>
            <a:r>
              <a:rPr lang="de-DE" sz="900" dirty="0" err="1">
                <a:latin typeface="Consolas" panose="020B0609020204030204" pitchFamily="49" charset="0"/>
              </a:rPr>
              <a:t>Avin</a:t>
            </a:r>
            <a:r>
              <a:rPr lang="de-DE" sz="900" dirty="0">
                <a:latin typeface="Consolas" panose="020B0609020204030204" pitchFamily="49" charset="0"/>
              </a:rPr>
              <a:t>, and Stefan Schmid.</a:t>
            </a:r>
            <a:br>
              <a:rPr lang="de-DE" sz="900" dirty="0">
                <a:latin typeface="Consolas" panose="020B0609020204030204" pitchFamily="49" charset="0"/>
              </a:rPr>
            </a:br>
            <a:r>
              <a:rPr lang="de-DE" sz="900" dirty="0">
                <a:latin typeface="Consolas" panose="020B0609020204030204" pitchFamily="49" charset="0"/>
              </a:rPr>
              <a:t>ACM </a:t>
            </a:r>
            <a:r>
              <a:rPr lang="de-DE" sz="900" b="1" dirty="0">
                <a:latin typeface="Consolas" panose="020B0609020204030204" pitchFamily="49" charset="0"/>
              </a:rPr>
              <a:t>SIGMETRICS</a:t>
            </a:r>
            <a:r>
              <a:rPr lang="de-DE" sz="900" dirty="0">
                <a:latin typeface="Consolas" panose="020B0609020204030204" pitchFamily="49" charset="0"/>
              </a:rPr>
              <a:t> and ACM Performance Evaluation Review (</a:t>
            </a:r>
            <a:r>
              <a:rPr lang="de-DE" sz="900" b="1" dirty="0">
                <a:latin typeface="Consolas" panose="020B0609020204030204" pitchFamily="49" charset="0"/>
              </a:rPr>
              <a:t>PER</a:t>
            </a:r>
            <a:r>
              <a:rPr lang="de-DE" sz="900" dirty="0">
                <a:latin typeface="Consolas" panose="020B0609020204030204" pitchFamily="49" charset="0"/>
              </a:rPr>
              <a:t>), Orlando, Florida, USA, June 2023.</a:t>
            </a:r>
          </a:p>
          <a:p>
            <a:pPr marL="0" indent="0">
              <a:buNone/>
            </a:pPr>
            <a:endParaRPr lang="de-DE" sz="9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e-DE" sz="800" dirty="0">
                <a:latin typeface="Consolas" panose="020B0609020204030204" pitchFamily="49" charset="0"/>
                <a:hlinkClick r:id="rId6"/>
              </a:rPr>
              <a:t>Vermilion: A Traffic-Aware Reconfigurable Optical Interconnect with Formal Throughput Guarantees</a:t>
            </a:r>
            <a:br>
              <a:rPr lang="de-DE" sz="800" dirty="0">
                <a:latin typeface="Consolas" panose="020B0609020204030204" pitchFamily="49" charset="0"/>
              </a:rPr>
            </a:br>
            <a:r>
              <a:rPr lang="de-DE" sz="800" dirty="0">
                <a:latin typeface="Consolas" panose="020B0609020204030204" pitchFamily="49" charset="0"/>
              </a:rPr>
              <a:t>Vamsi Addanki, Deeksha Panduranga Rao, Goran Dario Knabe, Chen Avin, and Stefan Schmid.</a:t>
            </a:r>
            <a:br>
              <a:rPr lang="de-DE" sz="800" dirty="0">
                <a:latin typeface="Consolas" panose="020B0609020204030204" pitchFamily="49" charset="0"/>
              </a:rPr>
            </a:br>
            <a:r>
              <a:rPr lang="de-DE" sz="800" dirty="0">
                <a:latin typeface="Consolas" panose="020B0609020204030204" pitchFamily="49" charset="0"/>
              </a:rPr>
              <a:t>24th USENIX Symposium on Networked Systems Design and Implementation (</a:t>
            </a:r>
            <a:r>
              <a:rPr lang="de-DE" sz="800" b="1" dirty="0">
                <a:latin typeface="Consolas" panose="020B0609020204030204" pitchFamily="49" charset="0"/>
              </a:rPr>
              <a:t>NSDI</a:t>
            </a:r>
            <a:r>
              <a:rPr lang="de-DE" sz="800" dirty="0">
                <a:latin typeface="Consolas" panose="020B0609020204030204" pitchFamily="49" charset="0"/>
              </a:rPr>
              <a:t>), Providence, Rhode Island, USA, May 2027.</a:t>
            </a:r>
          </a:p>
          <a:p>
            <a:pPr marL="0" indent="0">
              <a:buNone/>
            </a:pPr>
            <a:endParaRPr lang="de-DE" sz="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e-DE" sz="900" dirty="0">
                <a:latin typeface="Consolas" panose="020B0609020204030204" pitchFamily="49" charset="0"/>
                <a:hlinkClick r:id="rId7"/>
              </a:rPr>
              <a:t>Bridge: Optimizing Collective Communication Schedules in Reconfigurable Networks with Reusable Subrings</a:t>
            </a:r>
            <a:br>
              <a:rPr lang="de-DE" sz="900" dirty="0">
                <a:latin typeface="Consolas" panose="020B0609020204030204" pitchFamily="49" charset="0"/>
              </a:rPr>
            </a:br>
            <a:r>
              <a:rPr lang="de-DE" sz="900" dirty="0">
                <a:latin typeface="Consolas" panose="020B0609020204030204" pitchFamily="49" charset="0"/>
              </a:rPr>
              <a:t>Anton Jürß and Stefan Schmid.</a:t>
            </a:r>
            <a:br>
              <a:rPr lang="de-DE" sz="900" dirty="0">
                <a:latin typeface="Consolas" panose="020B0609020204030204" pitchFamily="49" charset="0"/>
              </a:rPr>
            </a:br>
            <a:r>
              <a:rPr lang="de-DE" sz="900" dirty="0">
                <a:latin typeface="Consolas" panose="020B0609020204030204" pitchFamily="49" charset="0"/>
              </a:rPr>
              <a:t>ACM International Symposium on Theory, Algorithmic Foundations, and Protocol Design for Mobile Networks and Mobile Computing (</a:t>
            </a:r>
            <a:r>
              <a:rPr lang="de-DE" sz="900" b="1" dirty="0">
                <a:latin typeface="Consolas" panose="020B0609020204030204" pitchFamily="49" charset="0"/>
              </a:rPr>
              <a:t>MobiHoc</a:t>
            </a:r>
            <a:r>
              <a:rPr lang="de-DE" sz="900" dirty="0">
                <a:latin typeface="Consolas" panose="020B0609020204030204" pitchFamily="49" charset="0"/>
              </a:rPr>
              <a:t>), Tokyo, Japan, November 2026.</a:t>
            </a:r>
          </a:p>
          <a:p>
            <a:pPr marL="0" indent="0">
              <a:buNone/>
            </a:pPr>
            <a:endParaRPr lang="de-DE" sz="9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e-DE" sz="900" dirty="0">
                <a:latin typeface="Consolas" panose="020B0609020204030204" pitchFamily="49" charset="0"/>
                <a:hlinkClick r:id="rId8"/>
              </a:rPr>
              <a:t>Revisiting Bruck: Phase-Efficient All-to-All Collective Communication in Reconfigurable Networks</a:t>
            </a:r>
            <a:br>
              <a:rPr lang="de-DE" sz="900" dirty="0">
                <a:latin typeface="Consolas" panose="020B0609020204030204" pitchFamily="49" charset="0"/>
              </a:rPr>
            </a:br>
            <a:r>
              <a:rPr lang="de-DE" sz="900" dirty="0">
                <a:latin typeface="Consolas" panose="020B0609020204030204" pitchFamily="49" charset="0"/>
              </a:rPr>
              <a:t>Anton Jürß and Stefan Schmid.</a:t>
            </a:r>
            <a:br>
              <a:rPr lang="de-DE" sz="900" dirty="0">
                <a:latin typeface="Consolas" panose="020B0609020204030204" pitchFamily="49" charset="0"/>
              </a:rPr>
            </a:br>
            <a:r>
              <a:rPr lang="de-DE" sz="900" dirty="0">
                <a:latin typeface="Consolas" panose="020B0609020204030204" pitchFamily="49" charset="0"/>
              </a:rPr>
              <a:t>ACM SIGCOMM Workshop on Hot Topics in Optical Technologies and Applications in Networking (</a:t>
            </a:r>
            <a:r>
              <a:rPr lang="de-DE" sz="900" b="1" dirty="0">
                <a:latin typeface="Consolas" panose="020B0609020204030204" pitchFamily="49" charset="0"/>
              </a:rPr>
              <a:t>HotOptics</a:t>
            </a:r>
            <a:r>
              <a:rPr lang="de-DE" sz="900" dirty="0">
                <a:latin typeface="Consolas" panose="020B0609020204030204" pitchFamily="49" charset="0"/>
              </a:rPr>
              <a:t>), Denver, Colorado, USA, August 2026.</a:t>
            </a:r>
          </a:p>
          <a:p>
            <a:pPr marL="0" indent="0">
              <a:buNone/>
            </a:pPr>
            <a:endParaRPr lang="de-DE" sz="9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e-DE" sz="900" dirty="0">
                <a:latin typeface="Consolas" panose="020B0609020204030204" pitchFamily="49" charset="0"/>
                <a:hlinkClick r:id="rId9"/>
              </a:rPr>
              <a:t>Duo: A High-</a:t>
            </a:r>
            <a:r>
              <a:rPr lang="de-DE" sz="900" dirty="0" err="1">
                <a:latin typeface="Consolas" panose="020B0609020204030204" pitchFamily="49" charset="0"/>
                <a:hlinkClick r:id="rId9"/>
              </a:rPr>
              <a:t>Throughput</a:t>
            </a:r>
            <a:r>
              <a:rPr lang="de-DE" sz="900" dirty="0">
                <a:latin typeface="Consolas" panose="020B0609020204030204" pitchFamily="49" charset="0"/>
                <a:hlinkClick r:id="rId9"/>
              </a:rPr>
              <a:t> </a:t>
            </a:r>
            <a:r>
              <a:rPr lang="de-DE" sz="900" dirty="0" err="1">
                <a:latin typeface="Consolas" panose="020B0609020204030204" pitchFamily="49" charset="0"/>
                <a:hlinkClick r:id="rId9"/>
              </a:rPr>
              <a:t>Reconfigurable</a:t>
            </a:r>
            <a:r>
              <a:rPr lang="de-DE" sz="900" dirty="0">
                <a:latin typeface="Consolas" panose="020B0609020204030204" pitchFamily="49" charset="0"/>
                <a:hlinkClick r:id="rId9"/>
              </a:rPr>
              <a:t> Datacenter Network </a:t>
            </a:r>
            <a:r>
              <a:rPr lang="de-DE" sz="900" dirty="0" err="1">
                <a:latin typeface="Consolas" panose="020B0609020204030204" pitchFamily="49" charset="0"/>
                <a:hlinkClick r:id="rId9"/>
              </a:rPr>
              <a:t>Using</a:t>
            </a:r>
            <a:r>
              <a:rPr lang="de-DE" sz="900" dirty="0">
                <a:latin typeface="Consolas" panose="020B0609020204030204" pitchFamily="49" charset="0"/>
                <a:hlinkClick r:id="rId9"/>
              </a:rPr>
              <a:t> </a:t>
            </a:r>
            <a:r>
              <a:rPr lang="de-DE" sz="900" dirty="0" err="1">
                <a:latin typeface="Consolas" panose="020B0609020204030204" pitchFamily="49" charset="0"/>
                <a:hlinkClick r:id="rId9"/>
              </a:rPr>
              <a:t>Local</a:t>
            </a:r>
            <a:r>
              <a:rPr lang="de-DE" sz="900" dirty="0">
                <a:latin typeface="Consolas" panose="020B0609020204030204" pitchFamily="49" charset="0"/>
                <a:hlinkClick r:id="rId9"/>
              </a:rPr>
              <a:t> Routing and Control</a:t>
            </a:r>
            <a:br>
              <a:rPr lang="de-DE" sz="900" dirty="0">
                <a:latin typeface="Consolas" panose="020B0609020204030204" pitchFamily="49" charset="0"/>
              </a:rPr>
            </a:br>
            <a:r>
              <a:rPr lang="de-DE" sz="900" dirty="0">
                <a:latin typeface="Consolas" panose="020B0609020204030204" pitchFamily="49" charset="0"/>
              </a:rPr>
              <a:t>Johannes </a:t>
            </a:r>
            <a:r>
              <a:rPr lang="de-DE" sz="900" dirty="0" err="1">
                <a:latin typeface="Consolas" panose="020B0609020204030204" pitchFamily="49" charset="0"/>
              </a:rPr>
              <a:t>Zerwas</a:t>
            </a:r>
            <a:r>
              <a:rPr lang="de-DE" sz="900" dirty="0">
                <a:latin typeface="Consolas" panose="020B0609020204030204" pitchFamily="49" charset="0"/>
              </a:rPr>
              <a:t>, Csaba </a:t>
            </a:r>
            <a:r>
              <a:rPr lang="de-DE" sz="900" dirty="0" err="1">
                <a:latin typeface="Consolas" panose="020B0609020204030204" pitchFamily="49" charset="0"/>
              </a:rPr>
              <a:t>Györgyi</a:t>
            </a:r>
            <a:r>
              <a:rPr lang="de-DE" sz="900" dirty="0">
                <a:latin typeface="Consolas" panose="020B0609020204030204" pitchFamily="49" charset="0"/>
              </a:rPr>
              <a:t>, Andreas </a:t>
            </a:r>
            <a:r>
              <a:rPr lang="de-DE" sz="900" dirty="0" err="1">
                <a:latin typeface="Consolas" panose="020B0609020204030204" pitchFamily="49" charset="0"/>
              </a:rPr>
              <a:t>Blenk</a:t>
            </a:r>
            <a:r>
              <a:rPr lang="de-DE" sz="900" dirty="0">
                <a:latin typeface="Consolas" panose="020B0609020204030204" pitchFamily="49" charset="0"/>
              </a:rPr>
              <a:t>, Stefan Schmid, and Chen </a:t>
            </a:r>
            <a:r>
              <a:rPr lang="de-DE" sz="900" dirty="0" err="1">
                <a:latin typeface="Consolas" panose="020B0609020204030204" pitchFamily="49" charset="0"/>
              </a:rPr>
              <a:t>Avin</a:t>
            </a:r>
            <a:r>
              <a:rPr lang="de-DE" sz="900" dirty="0">
                <a:latin typeface="Consolas" panose="020B0609020204030204" pitchFamily="49" charset="0"/>
              </a:rPr>
              <a:t>.</a:t>
            </a:r>
            <a:br>
              <a:rPr lang="de-DE" sz="900" dirty="0">
                <a:latin typeface="Consolas" panose="020B0609020204030204" pitchFamily="49" charset="0"/>
              </a:rPr>
            </a:br>
            <a:r>
              <a:rPr lang="de-DE" sz="900" dirty="0">
                <a:latin typeface="Consolas" panose="020B0609020204030204" pitchFamily="49" charset="0"/>
              </a:rPr>
              <a:t>ACM </a:t>
            </a:r>
            <a:r>
              <a:rPr lang="de-DE" sz="900" b="1" dirty="0">
                <a:latin typeface="Consolas" panose="020B0609020204030204" pitchFamily="49" charset="0"/>
              </a:rPr>
              <a:t>SIGMETRICS</a:t>
            </a:r>
            <a:r>
              <a:rPr lang="de-DE" sz="900" dirty="0">
                <a:latin typeface="Consolas" panose="020B0609020204030204" pitchFamily="49" charset="0"/>
              </a:rPr>
              <a:t> and ACM Performance Evaluation Review (</a:t>
            </a:r>
            <a:r>
              <a:rPr lang="de-DE" sz="900" b="1" dirty="0">
                <a:latin typeface="Consolas" panose="020B0609020204030204" pitchFamily="49" charset="0"/>
              </a:rPr>
              <a:t>PER</a:t>
            </a:r>
            <a:r>
              <a:rPr lang="de-DE" sz="900" dirty="0">
                <a:latin typeface="Consolas" panose="020B0609020204030204" pitchFamily="49" charset="0"/>
              </a:rPr>
              <a:t>), Orlando, Florida, USA, June 2023.</a:t>
            </a:r>
          </a:p>
          <a:p>
            <a:endParaRPr lang="de-DE" sz="900" dirty="0">
              <a:latin typeface="Consolas" panose="020B0609020204030204" pitchFamily="49" charset="0"/>
              <a:hlinkClick r:id="rId10"/>
            </a:endParaRPr>
          </a:p>
          <a:p>
            <a:r>
              <a:rPr lang="de-DE" sz="900" dirty="0">
                <a:latin typeface="Consolas" panose="020B0609020204030204" pitchFamily="49" charset="0"/>
                <a:hlinkClick r:id="rId10"/>
              </a:rPr>
              <a:t>On </a:t>
            </a:r>
            <a:r>
              <a:rPr lang="de-DE" sz="900" dirty="0" err="1">
                <a:latin typeface="Consolas" panose="020B0609020204030204" pitchFamily="49" charset="0"/>
                <a:hlinkClick r:id="rId10"/>
              </a:rPr>
              <a:t>the</a:t>
            </a:r>
            <a:r>
              <a:rPr lang="de-DE" sz="900" dirty="0">
                <a:latin typeface="Consolas" panose="020B0609020204030204" pitchFamily="49" charset="0"/>
                <a:hlinkClick r:id="rId10"/>
              </a:rPr>
              <a:t> </a:t>
            </a:r>
            <a:r>
              <a:rPr lang="de-DE" sz="900" dirty="0" err="1">
                <a:latin typeface="Consolas" panose="020B0609020204030204" pitchFamily="49" charset="0"/>
                <a:hlinkClick r:id="rId10"/>
              </a:rPr>
              <a:t>Complexity</a:t>
            </a:r>
            <a:r>
              <a:rPr lang="de-DE" sz="900" dirty="0">
                <a:latin typeface="Consolas" panose="020B0609020204030204" pitchFamily="49" charset="0"/>
                <a:hlinkClick r:id="rId10"/>
              </a:rPr>
              <a:t> </a:t>
            </a:r>
            <a:r>
              <a:rPr lang="de-DE" sz="900" dirty="0" err="1">
                <a:latin typeface="Consolas" panose="020B0609020204030204" pitchFamily="49" charset="0"/>
                <a:hlinkClick r:id="rId10"/>
              </a:rPr>
              <a:t>of</a:t>
            </a:r>
            <a:r>
              <a:rPr lang="de-DE" sz="900" dirty="0">
                <a:latin typeface="Consolas" panose="020B0609020204030204" pitchFamily="49" charset="0"/>
                <a:hlinkClick r:id="rId10"/>
              </a:rPr>
              <a:t> Traffic Traces and </a:t>
            </a:r>
            <a:r>
              <a:rPr lang="de-DE" sz="900" dirty="0" err="1">
                <a:latin typeface="Consolas" panose="020B0609020204030204" pitchFamily="49" charset="0"/>
                <a:hlinkClick r:id="rId10"/>
              </a:rPr>
              <a:t>Implications</a:t>
            </a:r>
            <a:br>
              <a:rPr lang="de-DE" sz="900" dirty="0">
                <a:latin typeface="Consolas" panose="020B0609020204030204" pitchFamily="49" charset="0"/>
              </a:rPr>
            </a:br>
            <a:r>
              <a:rPr lang="de-DE" sz="900" dirty="0">
                <a:latin typeface="Consolas" panose="020B0609020204030204" pitchFamily="49" charset="0"/>
              </a:rPr>
              <a:t>Chen </a:t>
            </a:r>
            <a:r>
              <a:rPr lang="de-DE" sz="900" dirty="0" err="1">
                <a:latin typeface="Consolas" panose="020B0609020204030204" pitchFamily="49" charset="0"/>
              </a:rPr>
              <a:t>Avin</a:t>
            </a:r>
            <a:r>
              <a:rPr lang="de-DE" sz="900" dirty="0">
                <a:latin typeface="Consolas" panose="020B0609020204030204" pitchFamily="49" charset="0"/>
              </a:rPr>
              <a:t>, </a:t>
            </a:r>
            <a:r>
              <a:rPr lang="de-DE" sz="900" dirty="0" err="1">
                <a:latin typeface="Consolas" panose="020B0609020204030204" pitchFamily="49" charset="0"/>
              </a:rPr>
              <a:t>Manya</a:t>
            </a:r>
            <a:r>
              <a:rPr lang="de-DE" sz="900" dirty="0">
                <a:latin typeface="Consolas" panose="020B0609020204030204" pitchFamily="49" charset="0"/>
              </a:rPr>
              <a:t> </a:t>
            </a:r>
            <a:r>
              <a:rPr lang="de-DE" sz="900" dirty="0" err="1">
                <a:latin typeface="Consolas" panose="020B0609020204030204" pitchFamily="49" charset="0"/>
              </a:rPr>
              <a:t>Ghobadi</a:t>
            </a:r>
            <a:r>
              <a:rPr lang="de-DE" sz="900" dirty="0">
                <a:latin typeface="Consolas" panose="020B0609020204030204" pitchFamily="49" charset="0"/>
              </a:rPr>
              <a:t>, Chen </a:t>
            </a:r>
            <a:r>
              <a:rPr lang="de-DE" sz="900" dirty="0" err="1">
                <a:latin typeface="Consolas" panose="020B0609020204030204" pitchFamily="49" charset="0"/>
              </a:rPr>
              <a:t>Griner</a:t>
            </a:r>
            <a:r>
              <a:rPr lang="de-DE" sz="900" dirty="0">
                <a:latin typeface="Consolas" panose="020B0609020204030204" pitchFamily="49" charset="0"/>
              </a:rPr>
              <a:t>, and Stefan Schmid.</a:t>
            </a:r>
            <a:br>
              <a:rPr lang="de-DE" sz="900" dirty="0">
                <a:latin typeface="Consolas" panose="020B0609020204030204" pitchFamily="49" charset="0"/>
              </a:rPr>
            </a:br>
            <a:r>
              <a:rPr lang="de-DE" sz="900" dirty="0">
                <a:latin typeface="Consolas" panose="020B0609020204030204" pitchFamily="49" charset="0"/>
              </a:rPr>
              <a:t>ACM </a:t>
            </a:r>
            <a:r>
              <a:rPr lang="de-DE" sz="900" b="1" dirty="0">
                <a:latin typeface="Consolas" panose="020B0609020204030204" pitchFamily="49" charset="0"/>
              </a:rPr>
              <a:t>SIGMETRICS</a:t>
            </a:r>
            <a:r>
              <a:rPr lang="de-DE" sz="900" dirty="0">
                <a:latin typeface="Consolas" panose="020B0609020204030204" pitchFamily="49" charset="0"/>
              </a:rPr>
              <a:t> and ACM Performance Evaluation Review (</a:t>
            </a:r>
            <a:r>
              <a:rPr lang="de-DE" sz="900" b="1" dirty="0">
                <a:latin typeface="Consolas" panose="020B0609020204030204" pitchFamily="49" charset="0"/>
              </a:rPr>
              <a:t>PER</a:t>
            </a:r>
            <a:r>
              <a:rPr lang="de-DE" sz="900" dirty="0">
                <a:latin typeface="Consolas" panose="020B0609020204030204" pitchFamily="49" charset="0"/>
              </a:rPr>
              <a:t>), Boston, Massachusetts, USA, June 2020.</a:t>
            </a:r>
          </a:p>
          <a:p>
            <a:endParaRPr lang="de-DE" sz="900" dirty="0">
              <a:latin typeface="Consolas" panose="020B0609020204030204" pitchFamily="49" charset="0"/>
            </a:endParaRPr>
          </a:p>
          <a:p>
            <a:r>
              <a:rPr lang="de-DE" sz="900" dirty="0">
                <a:latin typeface="Consolas" panose="020B0609020204030204" pitchFamily="49" charset="0"/>
                <a:hlinkClick r:id="rId11"/>
              </a:rPr>
              <a:t>Trivance: Latency-Optimal AllReduce by Shortcutting Multiport Networks</a:t>
            </a:r>
            <a:br>
              <a:rPr lang="de-DE" sz="900" dirty="0">
                <a:latin typeface="Consolas" panose="020B0609020204030204" pitchFamily="49" charset="0"/>
              </a:rPr>
            </a:br>
            <a:r>
              <a:rPr lang="de-DE" sz="900" dirty="0">
                <a:latin typeface="Consolas" panose="020B0609020204030204" pitchFamily="49" charset="0"/>
              </a:rPr>
              <a:t>Anton Jürß, Vamsi Addanki, and Stefan Schmid.</a:t>
            </a:r>
            <a:br>
              <a:rPr lang="de-DE" sz="900" dirty="0">
                <a:latin typeface="Consolas" panose="020B0609020204030204" pitchFamily="49" charset="0"/>
              </a:rPr>
            </a:br>
            <a:r>
              <a:rPr lang="de-DE" sz="900" dirty="0">
                <a:latin typeface="Consolas" panose="020B0609020204030204" pitchFamily="49" charset="0"/>
              </a:rPr>
              <a:t>ACM </a:t>
            </a:r>
            <a:r>
              <a:rPr lang="de-DE" sz="900" b="1" dirty="0">
                <a:latin typeface="Consolas" panose="020B0609020204030204" pitchFamily="49" charset="0"/>
              </a:rPr>
              <a:t>SIGCOMM</a:t>
            </a:r>
            <a:r>
              <a:rPr lang="de-DE" sz="900" dirty="0">
                <a:latin typeface="Consolas" panose="020B0609020204030204" pitchFamily="49" charset="0"/>
              </a:rPr>
              <a:t>, Denver, Colorado, USA, August 2026.</a:t>
            </a:r>
          </a:p>
          <a:p>
            <a:endParaRPr lang="en-AT" sz="9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3183450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1580;g60be7dcf1c_0_473"/>
          <p:cNvSpPr txBox="1"/>
          <p:nvPr/>
        </p:nvSpPr>
        <p:spPr>
          <a:xfrm>
            <a:off x="0" y="540000"/>
            <a:ext cx="8211000" cy="512945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24" name="Google Shape;1581;g60be7dcf1c_0_473"/>
          <p:cNvSpPr txBox="1">
            <a:spLocks noGrp="1"/>
          </p:cNvSpPr>
          <p:nvPr>
            <p:ph type="title"/>
          </p:nvPr>
        </p:nvSpPr>
        <p:spPr>
          <a:xfrm>
            <a:off x="973075" y="149350"/>
            <a:ext cx="8171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l">
              <a:lnSpc>
                <a:spcPct val="115000"/>
              </a:lnSpc>
              <a:buSzPts val="1100"/>
            </a:pPr>
            <a: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References (2)</a:t>
            </a:r>
            <a:endParaRPr lang="en-GB" sz="2000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106D54B-88CF-4E97-99B8-CE65F0A6D08F}"/>
              </a:ext>
            </a:extLst>
          </p:cNvPr>
          <p:cNvSpPr txBox="1">
            <a:spLocks/>
          </p:cNvSpPr>
          <p:nvPr/>
        </p:nvSpPr>
        <p:spPr>
          <a:xfrm>
            <a:off x="862237" y="1357953"/>
            <a:ext cx="7644453" cy="33809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900" dirty="0">
                <a:latin typeface="Consolas" panose="020B0609020204030204" pitchFamily="49" charset="0"/>
                <a:hlinkClick r:id="rId3"/>
              </a:rPr>
              <a:t>TCP's Third Eye: Leveraging eBPF for Telemetry-Powered Congestion Control</a:t>
            </a:r>
            <a:br>
              <a:rPr lang="de-DE" sz="900" dirty="0">
                <a:latin typeface="Consolas" panose="020B0609020204030204" pitchFamily="49" charset="0"/>
              </a:rPr>
            </a:br>
            <a:r>
              <a:rPr lang="de-DE" sz="900" dirty="0">
                <a:latin typeface="Consolas" panose="020B0609020204030204" pitchFamily="49" charset="0"/>
              </a:rPr>
              <a:t>Jörn-Thorben Hinz, Vamsi Addanki, Csaba Györgyi, Theo Jepsen, and Stefan Schmid.</a:t>
            </a:r>
            <a:br>
              <a:rPr lang="de-DE" sz="900" dirty="0">
                <a:latin typeface="Consolas" panose="020B0609020204030204" pitchFamily="49" charset="0"/>
              </a:rPr>
            </a:br>
            <a:r>
              <a:rPr lang="de-DE" sz="900" dirty="0">
                <a:latin typeface="Consolas" panose="020B0609020204030204" pitchFamily="49" charset="0"/>
              </a:rPr>
              <a:t>SIGCOMM Workshop on eBPF and Kernel Extensions (</a:t>
            </a:r>
            <a:r>
              <a:rPr lang="de-DE" sz="900" b="1" dirty="0">
                <a:latin typeface="Consolas" panose="020B0609020204030204" pitchFamily="49" charset="0"/>
              </a:rPr>
              <a:t>eBPF</a:t>
            </a:r>
            <a:r>
              <a:rPr lang="de-DE" sz="900" dirty="0">
                <a:latin typeface="Consolas" panose="020B0609020204030204" pitchFamily="49" charset="0"/>
              </a:rPr>
              <a:t>), Columbia University, New York City, New York, USA, September 2023.</a:t>
            </a:r>
          </a:p>
          <a:p>
            <a:pPr marL="0" indent="0">
              <a:buNone/>
            </a:pPr>
            <a:endParaRPr lang="de-DE" sz="9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e-DE" sz="900" dirty="0">
                <a:latin typeface="Consolas" panose="020B0609020204030204" pitchFamily="49" charset="0"/>
                <a:hlinkClick r:id="rId4"/>
              </a:rPr>
              <a:t>ABM: </a:t>
            </a:r>
            <a:r>
              <a:rPr lang="de-DE" sz="900" dirty="0" err="1">
                <a:latin typeface="Consolas" panose="020B0609020204030204" pitchFamily="49" charset="0"/>
                <a:hlinkClick r:id="rId4"/>
              </a:rPr>
              <a:t>Active</a:t>
            </a:r>
            <a:r>
              <a:rPr lang="de-DE" sz="900" dirty="0">
                <a:latin typeface="Consolas" panose="020B0609020204030204" pitchFamily="49" charset="0"/>
                <a:hlinkClick r:id="rId4"/>
              </a:rPr>
              <a:t> Buffer Management in Datacenters</a:t>
            </a:r>
            <a:br>
              <a:rPr lang="de-DE" sz="900" dirty="0">
                <a:latin typeface="Consolas" panose="020B0609020204030204" pitchFamily="49" charset="0"/>
              </a:rPr>
            </a:br>
            <a:r>
              <a:rPr lang="de-DE" sz="900" dirty="0" err="1">
                <a:latin typeface="Consolas" panose="020B0609020204030204" pitchFamily="49" charset="0"/>
              </a:rPr>
              <a:t>Vamsi</a:t>
            </a:r>
            <a:r>
              <a:rPr lang="de-DE" sz="900" dirty="0">
                <a:latin typeface="Consolas" panose="020B0609020204030204" pitchFamily="49" charset="0"/>
              </a:rPr>
              <a:t> </a:t>
            </a:r>
            <a:r>
              <a:rPr lang="de-DE" sz="900" dirty="0" err="1">
                <a:latin typeface="Consolas" panose="020B0609020204030204" pitchFamily="49" charset="0"/>
              </a:rPr>
              <a:t>Addanki</a:t>
            </a:r>
            <a:r>
              <a:rPr lang="de-DE" sz="900" dirty="0">
                <a:latin typeface="Consolas" panose="020B0609020204030204" pitchFamily="49" charset="0"/>
              </a:rPr>
              <a:t>, Maria </a:t>
            </a:r>
            <a:r>
              <a:rPr lang="de-DE" sz="900" dirty="0" err="1">
                <a:latin typeface="Consolas" panose="020B0609020204030204" pitchFamily="49" charset="0"/>
              </a:rPr>
              <a:t>Apostolaki</a:t>
            </a:r>
            <a:r>
              <a:rPr lang="de-DE" sz="900" dirty="0">
                <a:latin typeface="Consolas" panose="020B0609020204030204" pitchFamily="49" charset="0"/>
              </a:rPr>
              <a:t>, </a:t>
            </a:r>
            <a:r>
              <a:rPr lang="de-DE" sz="900" dirty="0" err="1">
                <a:latin typeface="Consolas" panose="020B0609020204030204" pitchFamily="49" charset="0"/>
              </a:rPr>
              <a:t>Manya</a:t>
            </a:r>
            <a:r>
              <a:rPr lang="de-DE" sz="900" dirty="0">
                <a:latin typeface="Consolas" panose="020B0609020204030204" pitchFamily="49" charset="0"/>
              </a:rPr>
              <a:t> </a:t>
            </a:r>
            <a:r>
              <a:rPr lang="de-DE" sz="900" dirty="0" err="1">
                <a:latin typeface="Consolas" panose="020B0609020204030204" pitchFamily="49" charset="0"/>
              </a:rPr>
              <a:t>Ghobadi</a:t>
            </a:r>
            <a:r>
              <a:rPr lang="de-DE" sz="900" dirty="0">
                <a:latin typeface="Consolas" panose="020B0609020204030204" pitchFamily="49" charset="0"/>
              </a:rPr>
              <a:t>, Stefan Schmid, and Laurent </a:t>
            </a:r>
            <a:r>
              <a:rPr lang="de-DE" sz="900" dirty="0" err="1">
                <a:latin typeface="Consolas" panose="020B0609020204030204" pitchFamily="49" charset="0"/>
              </a:rPr>
              <a:t>Vanbever</a:t>
            </a:r>
            <a:r>
              <a:rPr lang="de-DE" sz="900" dirty="0">
                <a:latin typeface="Consolas" panose="020B0609020204030204" pitchFamily="49" charset="0"/>
              </a:rPr>
              <a:t>.</a:t>
            </a:r>
            <a:br>
              <a:rPr lang="de-DE" sz="900" dirty="0">
                <a:latin typeface="Consolas" panose="020B0609020204030204" pitchFamily="49" charset="0"/>
              </a:rPr>
            </a:br>
            <a:r>
              <a:rPr lang="de-DE" sz="900" dirty="0">
                <a:latin typeface="Consolas" panose="020B0609020204030204" pitchFamily="49" charset="0"/>
              </a:rPr>
              <a:t>ACM </a:t>
            </a:r>
            <a:r>
              <a:rPr lang="de-DE" sz="900" b="1" dirty="0">
                <a:latin typeface="Consolas" panose="020B0609020204030204" pitchFamily="49" charset="0"/>
              </a:rPr>
              <a:t>SIGCOMM</a:t>
            </a:r>
            <a:r>
              <a:rPr lang="de-DE" sz="900" dirty="0">
                <a:latin typeface="Consolas" panose="020B0609020204030204" pitchFamily="49" charset="0"/>
              </a:rPr>
              <a:t>, Amsterdam, </a:t>
            </a:r>
            <a:r>
              <a:rPr lang="de-DE" sz="900" dirty="0" err="1">
                <a:latin typeface="Consolas" panose="020B0609020204030204" pitchFamily="49" charset="0"/>
              </a:rPr>
              <a:t>Netherlands</a:t>
            </a:r>
            <a:r>
              <a:rPr lang="de-DE" sz="900" dirty="0">
                <a:latin typeface="Consolas" panose="020B0609020204030204" pitchFamily="49" charset="0"/>
              </a:rPr>
              <a:t>, August 2022.</a:t>
            </a:r>
          </a:p>
          <a:p>
            <a:pPr marL="0" indent="0">
              <a:buNone/>
            </a:pPr>
            <a:endParaRPr lang="de-DE" sz="900" dirty="0">
              <a:latin typeface="Consolas" panose="020B0609020204030204" pitchFamily="49" charset="0"/>
              <a:hlinkClick r:id="rId5"/>
            </a:endParaRPr>
          </a:p>
          <a:p>
            <a:pPr marL="0" indent="0">
              <a:buNone/>
            </a:pPr>
            <a:r>
              <a:rPr lang="de-DE" sz="900" dirty="0" err="1">
                <a:latin typeface="Consolas" panose="020B0609020204030204" pitchFamily="49" charset="0"/>
                <a:hlinkClick r:id="rId5"/>
              </a:rPr>
              <a:t>ExRec</a:t>
            </a:r>
            <a:r>
              <a:rPr lang="de-DE" sz="900" dirty="0">
                <a:latin typeface="Consolas" panose="020B0609020204030204" pitchFamily="49" charset="0"/>
                <a:hlinkClick r:id="rId5"/>
              </a:rPr>
              <a:t>: Experimental Framework </a:t>
            </a:r>
            <a:r>
              <a:rPr lang="de-DE" sz="900" dirty="0" err="1">
                <a:latin typeface="Consolas" panose="020B0609020204030204" pitchFamily="49" charset="0"/>
                <a:hlinkClick r:id="rId5"/>
              </a:rPr>
              <a:t>for</a:t>
            </a:r>
            <a:r>
              <a:rPr lang="de-DE" sz="900" dirty="0">
                <a:latin typeface="Consolas" panose="020B0609020204030204" pitchFamily="49" charset="0"/>
                <a:hlinkClick r:id="rId5"/>
              </a:rPr>
              <a:t> </a:t>
            </a:r>
            <a:r>
              <a:rPr lang="de-DE" sz="900" dirty="0" err="1">
                <a:latin typeface="Consolas" panose="020B0609020204030204" pitchFamily="49" charset="0"/>
                <a:hlinkClick r:id="rId5"/>
              </a:rPr>
              <a:t>Reconfigurable</a:t>
            </a:r>
            <a:r>
              <a:rPr lang="de-DE" sz="900" dirty="0">
                <a:latin typeface="Consolas" panose="020B0609020204030204" pitchFamily="49" charset="0"/>
                <a:hlinkClick r:id="rId5"/>
              </a:rPr>
              <a:t> Networks </a:t>
            </a:r>
            <a:r>
              <a:rPr lang="de-DE" sz="900" dirty="0" err="1">
                <a:latin typeface="Consolas" panose="020B0609020204030204" pitchFamily="49" charset="0"/>
                <a:hlinkClick r:id="rId5"/>
              </a:rPr>
              <a:t>Based</a:t>
            </a:r>
            <a:r>
              <a:rPr lang="de-DE" sz="900" dirty="0">
                <a:latin typeface="Consolas" panose="020B0609020204030204" pitchFamily="49" charset="0"/>
                <a:hlinkClick r:id="rId5"/>
              </a:rPr>
              <a:t> on Off-</a:t>
            </a:r>
            <a:r>
              <a:rPr lang="de-DE" sz="900" dirty="0" err="1">
                <a:latin typeface="Consolas" panose="020B0609020204030204" pitchFamily="49" charset="0"/>
                <a:hlinkClick r:id="rId5"/>
              </a:rPr>
              <a:t>the</a:t>
            </a:r>
            <a:r>
              <a:rPr lang="de-DE" sz="900" dirty="0">
                <a:latin typeface="Consolas" panose="020B0609020204030204" pitchFamily="49" charset="0"/>
                <a:hlinkClick r:id="rId5"/>
              </a:rPr>
              <a:t>-</a:t>
            </a:r>
            <a:r>
              <a:rPr lang="de-DE" sz="900" dirty="0" err="1">
                <a:latin typeface="Consolas" panose="020B0609020204030204" pitchFamily="49" charset="0"/>
                <a:hlinkClick r:id="rId5"/>
              </a:rPr>
              <a:t>Shelf</a:t>
            </a:r>
            <a:r>
              <a:rPr lang="de-DE" sz="900" dirty="0">
                <a:latin typeface="Consolas" panose="020B0609020204030204" pitchFamily="49" charset="0"/>
                <a:hlinkClick r:id="rId5"/>
              </a:rPr>
              <a:t> Hardware</a:t>
            </a:r>
            <a:br>
              <a:rPr lang="de-DE" sz="900" dirty="0">
                <a:latin typeface="Consolas" panose="020B0609020204030204" pitchFamily="49" charset="0"/>
              </a:rPr>
            </a:br>
            <a:r>
              <a:rPr lang="de-DE" sz="900" dirty="0">
                <a:latin typeface="Consolas" panose="020B0609020204030204" pitchFamily="49" charset="0"/>
              </a:rPr>
              <a:t>Johannes </a:t>
            </a:r>
            <a:r>
              <a:rPr lang="de-DE" sz="900" dirty="0" err="1">
                <a:latin typeface="Consolas" panose="020B0609020204030204" pitchFamily="49" charset="0"/>
              </a:rPr>
              <a:t>Zerwas</a:t>
            </a:r>
            <a:r>
              <a:rPr lang="de-DE" sz="900" dirty="0">
                <a:latin typeface="Consolas" panose="020B0609020204030204" pitchFamily="49" charset="0"/>
              </a:rPr>
              <a:t>, Chen </a:t>
            </a:r>
            <a:r>
              <a:rPr lang="de-DE" sz="900" dirty="0" err="1">
                <a:latin typeface="Consolas" panose="020B0609020204030204" pitchFamily="49" charset="0"/>
              </a:rPr>
              <a:t>Avin</a:t>
            </a:r>
            <a:r>
              <a:rPr lang="de-DE" sz="900" dirty="0">
                <a:latin typeface="Consolas" panose="020B0609020204030204" pitchFamily="49" charset="0"/>
              </a:rPr>
              <a:t>, Stefan Schmid, and Andreas </a:t>
            </a:r>
            <a:r>
              <a:rPr lang="de-DE" sz="900" dirty="0" err="1">
                <a:latin typeface="Consolas" panose="020B0609020204030204" pitchFamily="49" charset="0"/>
              </a:rPr>
              <a:t>Blenk</a:t>
            </a:r>
            <a:r>
              <a:rPr lang="de-DE" sz="900" dirty="0">
                <a:latin typeface="Consolas" panose="020B0609020204030204" pitchFamily="49" charset="0"/>
              </a:rPr>
              <a:t>.</a:t>
            </a:r>
            <a:br>
              <a:rPr lang="de-DE" sz="900" dirty="0">
                <a:latin typeface="Consolas" panose="020B0609020204030204" pitchFamily="49" charset="0"/>
              </a:rPr>
            </a:br>
            <a:r>
              <a:rPr lang="de-DE" sz="900" dirty="0">
                <a:latin typeface="Consolas" panose="020B0609020204030204" pitchFamily="49" charset="0"/>
              </a:rPr>
              <a:t>16th ACM/IEEE Symposium on </a:t>
            </a:r>
            <a:r>
              <a:rPr lang="de-DE" sz="900" dirty="0" err="1">
                <a:latin typeface="Consolas" panose="020B0609020204030204" pitchFamily="49" charset="0"/>
              </a:rPr>
              <a:t>Architectures</a:t>
            </a:r>
            <a:r>
              <a:rPr lang="de-DE" sz="900" dirty="0">
                <a:latin typeface="Consolas" panose="020B0609020204030204" pitchFamily="49" charset="0"/>
              </a:rPr>
              <a:t> </a:t>
            </a:r>
            <a:r>
              <a:rPr lang="de-DE" sz="900" dirty="0" err="1">
                <a:latin typeface="Consolas" panose="020B0609020204030204" pitchFamily="49" charset="0"/>
              </a:rPr>
              <a:t>for</a:t>
            </a:r>
            <a:r>
              <a:rPr lang="de-DE" sz="900" dirty="0">
                <a:latin typeface="Consolas" panose="020B0609020204030204" pitchFamily="49" charset="0"/>
              </a:rPr>
              <a:t> Networking and Communications Systems (</a:t>
            </a:r>
            <a:r>
              <a:rPr lang="de-DE" sz="900" b="1" dirty="0">
                <a:latin typeface="Consolas" panose="020B0609020204030204" pitchFamily="49" charset="0"/>
              </a:rPr>
              <a:t>ANCS</a:t>
            </a:r>
            <a:r>
              <a:rPr lang="de-DE" sz="900" dirty="0">
                <a:latin typeface="Consolas" panose="020B0609020204030204" pitchFamily="49" charset="0"/>
              </a:rPr>
              <a:t>), Virtual Conference, </a:t>
            </a:r>
            <a:r>
              <a:rPr lang="de-DE" sz="900" dirty="0" err="1">
                <a:latin typeface="Consolas" panose="020B0609020204030204" pitchFamily="49" charset="0"/>
              </a:rPr>
              <a:t>December</a:t>
            </a:r>
            <a:r>
              <a:rPr lang="de-DE" sz="900" dirty="0">
                <a:latin typeface="Consolas" panose="020B0609020204030204" pitchFamily="49" charset="0"/>
              </a:rPr>
              <a:t> 2021.</a:t>
            </a:r>
          </a:p>
          <a:p>
            <a:pPr marL="0" indent="0">
              <a:buNone/>
            </a:pPr>
            <a:endParaRPr lang="de-DE" sz="900" dirty="0">
              <a:latin typeface="Consolas" panose="020B0609020204030204" pitchFamily="49" charset="0"/>
              <a:hlinkClick r:id="rId6"/>
            </a:endParaRPr>
          </a:p>
          <a:p>
            <a:pPr marL="0" indent="0">
              <a:buNone/>
            </a:pPr>
            <a:r>
              <a:rPr lang="de-DE" sz="900" dirty="0">
                <a:latin typeface="Consolas" panose="020B0609020204030204" pitchFamily="49" charset="0"/>
                <a:hlinkClick r:id="rId6"/>
              </a:rPr>
              <a:t>Demand-Aware Network Design </a:t>
            </a:r>
            <a:r>
              <a:rPr lang="de-DE" sz="900" dirty="0" err="1">
                <a:latin typeface="Consolas" panose="020B0609020204030204" pitchFamily="49" charset="0"/>
                <a:hlinkClick r:id="rId6"/>
              </a:rPr>
              <a:t>with</a:t>
            </a:r>
            <a:r>
              <a:rPr lang="de-DE" sz="900" dirty="0">
                <a:latin typeface="Consolas" panose="020B0609020204030204" pitchFamily="49" charset="0"/>
                <a:hlinkClick r:id="rId6"/>
              </a:rPr>
              <a:t> Minimal </a:t>
            </a:r>
            <a:r>
              <a:rPr lang="de-DE" sz="900" dirty="0" err="1">
                <a:latin typeface="Consolas" panose="020B0609020204030204" pitchFamily="49" charset="0"/>
                <a:hlinkClick r:id="rId6"/>
              </a:rPr>
              <a:t>Congestion</a:t>
            </a:r>
            <a:r>
              <a:rPr lang="de-DE" sz="900" dirty="0">
                <a:latin typeface="Consolas" panose="020B0609020204030204" pitchFamily="49" charset="0"/>
                <a:hlinkClick r:id="rId6"/>
              </a:rPr>
              <a:t> and Route </a:t>
            </a:r>
            <a:r>
              <a:rPr lang="de-DE" sz="900" dirty="0" err="1">
                <a:latin typeface="Consolas" panose="020B0609020204030204" pitchFamily="49" charset="0"/>
                <a:hlinkClick r:id="rId6"/>
              </a:rPr>
              <a:t>Lengths</a:t>
            </a:r>
            <a:br>
              <a:rPr lang="de-DE" sz="900" dirty="0">
                <a:latin typeface="Consolas" panose="020B0609020204030204" pitchFamily="49" charset="0"/>
              </a:rPr>
            </a:br>
            <a:r>
              <a:rPr lang="de-DE" sz="900" dirty="0">
                <a:latin typeface="Consolas" panose="020B0609020204030204" pitchFamily="49" charset="0"/>
              </a:rPr>
              <a:t>Chen </a:t>
            </a:r>
            <a:r>
              <a:rPr lang="de-DE" sz="900" dirty="0" err="1">
                <a:latin typeface="Consolas" panose="020B0609020204030204" pitchFamily="49" charset="0"/>
              </a:rPr>
              <a:t>Avin</a:t>
            </a:r>
            <a:r>
              <a:rPr lang="de-DE" sz="900" dirty="0">
                <a:latin typeface="Consolas" panose="020B0609020204030204" pitchFamily="49" charset="0"/>
              </a:rPr>
              <a:t>, </a:t>
            </a:r>
            <a:r>
              <a:rPr lang="de-DE" sz="900" dirty="0" err="1">
                <a:latin typeface="Consolas" panose="020B0609020204030204" pitchFamily="49" charset="0"/>
              </a:rPr>
              <a:t>Kaushik</a:t>
            </a:r>
            <a:r>
              <a:rPr lang="de-DE" sz="900" dirty="0">
                <a:latin typeface="Consolas" panose="020B0609020204030204" pitchFamily="49" charset="0"/>
              </a:rPr>
              <a:t> </a:t>
            </a:r>
            <a:r>
              <a:rPr lang="de-DE" sz="900" dirty="0" err="1">
                <a:latin typeface="Consolas" panose="020B0609020204030204" pitchFamily="49" charset="0"/>
              </a:rPr>
              <a:t>Mondal</a:t>
            </a:r>
            <a:r>
              <a:rPr lang="de-DE" sz="900" dirty="0">
                <a:latin typeface="Consolas" panose="020B0609020204030204" pitchFamily="49" charset="0"/>
              </a:rPr>
              <a:t>, and Stefan Schmid.</a:t>
            </a:r>
            <a:br>
              <a:rPr lang="de-DE" sz="900" dirty="0">
                <a:latin typeface="Consolas" panose="020B0609020204030204" pitchFamily="49" charset="0"/>
              </a:rPr>
            </a:br>
            <a:r>
              <a:rPr lang="de-DE" sz="900" dirty="0">
                <a:latin typeface="Consolas" panose="020B0609020204030204" pitchFamily="49" charset="0"/>
              </a:rPr>
              <a:t>IEEE/ACM Transactions on Networking (</a:t>
            </a:r>
            <a:r>
              <a:rPr lang="de-DE" sz="900" b="1" dirty="0">
                <a:latin typeface="Consolas" panose="020B0609020204030204" pitchFamily="49" charset="0"/>
              </a:rPr>
              <a:t>TON</a:t>
            </a:r>
            <a:r>
              <a:rPr lang="de-DE" sz="900" dirty="0">
                <a:latin typeface="Consolas" panose="020B0609020204030204" pitchFamily="49" charset="0"/>
              </a:rPr>
              <a:t>), 2022.</a:t>
            </a:r>
          </a:p>
          <a:p>
            <a:pPr marL="0" indent="0">
              <a:buNone/>
            </a:pPr>
            <a:endParaRPr lang="de-DE" sz="9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e-DE" sz="900" dirty="0">
                <a:latin typeface="Consolas" panose="020B0609020204030204" pitchFamily="49" charset="0"/>
                <a:hlinkClick r:id="rId7"/>
              </a:rPr>
              <a:t>A Survey </a:t>
            </a:r>
            <a:r>
              <a:rPr lang="de-DE" sz="900" dirty="0" err="1">
                <a:latin typeface="Consolas" panose="020B0609020204030204" pitchFamily="49" charset="0"/>
                <a:hlinkClick r:id="rId7"/>
              </a:rPr>
              <a:t>of</a:t>
            </a:r>
            <a:r>
              <a:rPr lang="de-DE" sz="900" dirty="0">
                <a:latin typeface="Consolas" panose="020B0609020204030204" pitchFamily="49" charset="0"/>
                <a:hlinkClick r:id="rId7"/>
              </a:rPr>
              <a:t> </a:t>
            </a:r>
            <a:r>
              <a:rPr lang="de-DE" sz="900" dirty="0" err="1">
                <a:latin typeface="Consolas" panose="020B0609020204030204" pitchFamily="49" charset="0"/>
                <a:hlinkClick r:id="rId7"/>
              </a:rPr>
              <a:t>Reconfigurable</a:t>
            </a:r>
            <a:r>
              <a:rPr lang="de-DE" sz="900" dirty="0">
                <a:latin typeface="Consolas" panose="020B0609020204030204" pitchFamily="49" charset="0"/>
                <a:hlinkClick r:id="rId7"/>
              </a:rPr>
              <a:t> Optical Networks</a:t>
            </a:r>
            <a:br>
              <a:rPr lang="de-DE" sz="900" dirty="0">
                <a:latin typeface="Consolas" panose="020B0609020204030204" pitchFamily="49" charset="0"/>
              </a:rPr>
            </a:br>
            <a:r>
              <a:rPr lang="de-DE" sz="900" dirty="0">
                <a:latin typeface="Consolas" panose="020B0609020204030204" pitchFamily="49" charset="0"/>
              </a:rPr>
              <a:t>Matthew </a:t>
            </a:r>
            <a:r>
              <a:rPr lang="de-DE" sz="900" dirty="0" err="1">
                <a:latin typeface="Consolas" panose="020B0609020204030204" pitchFamily="49" charset="0"/>
              </a:rPr>
              <a:t>Nance</a:t>
            </a:r>
            <a:r>
              <a:rPr lang="de-DE" sz="900" dirty="0">
                <a:latin typeface="Consolas" panose="020B0609020204030204" pitchFamily="49" charset="0"/>
              </a:rPr>
              <a:t> Hall, Klaus-Tycho Foerster, Stefan Schmid, and </a:t>
            </a:r>
            <a:r>
              <a:rPr lang="de-DE" sz="900" dirty="0" err="1">
                <a:latin typeface="Consolas" panose="020B0609020204030204" pitchFamily="49" charset="0"/>
              </a:rPr>
              <a:t>Ramakrishnan</a:t>
            </a:r>
            <a:r>
              <a:rPr lang="de-DE" sz="900" dirty="0">
                <a:latin typeface="Consolas" panose="020B0609020204030204" pitchFamily="49" charset="0"/>
              </a:rPr>
              <a:t> </a:t>
            </a:r>
            <a:r>
              <a:rPr lang="de-DE" sz="900" dirty="0" err="1">
                <a:latin typeface="Consolas" panose="020B0609020204030204" pitchFamily="49" charset="0"/>
              </a:rPr>
              <a:t>Durairajan</a:t>
            </a:r>
            <a:r>
              <a:rPr lang="de-DE" sz="900" dirty="0">
                <a:latin typeface="Consolas" panose="020B0609020204030204" pitchFamily="49" charset="0"/>
              </a:rPr>
              <a:t>.</a:t>
            </a:r>
            <a:br>
              <a:rPr lang="de-DE" sz="900" dirty="0">
                <a:latin typeface="Consolas" panose="020B0609020204030204" pitchFamily="49" charset="0"/>
              </a:rPr>
            </a:br>
            <a:r>
              <a:rPr lang="de-DE" sz="900" dirty="0">
                <a:latin typeface="Consolas" panose="020B0609020204030204" pitchFamily="49" charset="0"/>
              </a:rPr>
              <a:t>Optical </a:t>
            </a:r>
            <a:r>
              <a:rPr lang="de-DE" sz="900" dirty="0" err="1">
                <a:latin typeface="Consolas" panose="020B0609020204030204" pitchFamily="49" charset="0"/>
              </a:rPr>
              <a:t>Switching</a:t>
            </a:r>
            <a:r>
              <a:rPr lang="de-DE" sz="900" dirty="0">
                <a:latin typeface="Consolas" panose="020B0609020204030204" pitchFamily="49" charset="0"/>
              </a:rPr>
              <a:t> and Networking (</a:t>
            </a:r>
            <a:r>
              <a:rPr lang="de-DE" sz="900" b="1" dirty="0">
                <a:latin typeface="Consolas" panose="020B0609020204030204" pitchFamily="49" charset="0"/>
              </a:rPr>
              <a:t>OSN</a:t>
            </a:r>
            <a:r>
              <a:rPr lang="de-DE" sz="900" dirty="0">
                <a:latin typeface="Consolas" panose="020B0609020204030204" pitchFamily="49" charset="0"/>
              </a:rPr>
              <a:t>), Elsevier, 2021.</a:t>
            </a:r>
          </a:p>
          <a:p>
            <a:pPr marL="0" indent="0">
              <a:buNone/>
            </a:pPr>
            <a:endParaRPr lang="de-DE" sz="9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e-DE" sz="900" dirty="0" err="1">
                <a:latin typeface="Consolas" panose="020B0609020204030204" pitchFamily="49" charset="0"/>
                <a:hlinkClick r:id="rId8"/>
              </a:rPr>
              <a:t>SplayNet</a:t>
            </a:r>
            <a:r>
              <a:rPr lang="de-DE" sz="900" dirty="0">
                <a:latin typeface="Consolas" panose="020B0609020204030204" pitchFamily="49" charset="0"/>
                <a:hlinkClick r:id="rId8"/>
              </a:rPr>
              <a:t>: </a:t>
            </a:r>
            <a:r>
              <a:rPr lang="de-DE" sz="900" dirty="0" err="1">
                <a:latin typeface="Consolas" panose="020B0609020204030204" pitchFamily="49" charset="0"/>
                <a:hlinkClick r:id="rId8"/>
              </a:rPr>
              <a:t>Towards</a:t>
            </a:r>
            <a:r>
              <a:rPr lang="de-DE" sz="900" dirty="0">
                <a:latin typeface="Consolas" panose="020B0609020204030204" pitchFamily="49" charset="0"/>
                <a:hlinkClick r:id="rId8"/>
              </a:rPr>
              <a:t> </a:t>
            </a:r>
            <a:r>
              <a:rPr lang="de-DE" sz="900" dirty="0" err="1">
                <a:latin typeface="Consolas" panose="020B0609020204030204" pitchFamily="49" charset="0"/>
                <a:hlinkClick r:id="rId8"/>
              </a:rPr>
              <a:t>Locally</a:t>
            </a:r>
            <a:r>
              <a:rPr lang="de-DE" sz="900" dirty="0">
                <a:latin typeface="Consolas" panose="020B0609020204030204" pitchFamily="49" charset="0"/>
                <a:hlinkClick r:id="rId8"/>
              </a:rPr>
              <a:t> Self-</a:t>
            </a:r>
            <a:r>
              <a:rPr lang="de-DE" sz="900" dirty="0" err="1">
                <a:latin typeface="Consolas" panose="020B0609020204030204" pitchFamily="49" charset="0"/>
                <a:hlinkClick r:id="rId8"/>
              </a:rPr>
              <a:t>Adjusting</a:t>
            </a:r>
            <a:r>
              <a:rPr lang="de-DE" sz="900" dirty="0">
                <a:latin typeface="Consolas" panose="020B0609020204030204" pitchFamily="49" charset="0"/>
                <a:hlinkClick r:id="rId8"/>
              </a:rPr>
              <a:t> Networks</a:t>
            </a:r>
            <a:br>
              <a:rPr lang="de-DE" sz="900" dirty="0">
                <a:latin typeface="Consolas" panose="020B0609020204030204" pitchFamily="49" charset="0"/>
              </a:rPr>
            </a:br>
            <a:r>
              <a:rPr lang="de-DE" sz="900" dirty="0">
                <a:latin typeface="Consolas" panose="020B0609020204030204" pitchFamily="49" charset="0"/>
              </a:rPr>
              <a:t>Stefan Schmid, Chen </a:t>
            </a:r>
            <a:r>
              <a:rPr lang="de-DE" sz="900" dirty="0" err="1">
                <a:latin typeface="Consolas" panose="020B0609020204030204" pitchFamily="49" charset="0"/>
              </a:rPr>
              <a:t>Avin</a:t>
            </a:r>
            <a:r>
              <a:rPr lang="de-DE" sz="900" dirty="0">
                <a:latin typeface="Consolas" panose="020B0609020204030204" pitchFamily="49" charset="0"/>
              </a:rPr>
              <a:t>, Christian </a:t>
            </a:r>
            <a:r>
              <a:rPr lang="de-DE" sz="900" dirty="0" err="1">
                <a:latin typeface="Consolas" panose="020B0609020204030204" pitchFamily="49" charset="0"/>
              </a:rPr>
              <a:t>Scheideler</a:t>
            </a:r>
            <a:r>
              <a:rPr lang="de-DE" sz="900" dirty="0">
                <a:latin typeface="Consolas" panose="020B0609020204030204" pitchFamily="49" charset="0"/>
              </a:rPr>
              <a:t>, Michael </a:t>
            </a:r>
            <a:r>
              <a:rPr lang="de-DE" sz="900" dirty="0" err="1">
                <a:latin typeface="Consolas" panose="020B0609020204030204" pitchFamily="49" charset="0"/>
              </a:rPr>
              <a:t>Borokhovich</a:t>
            </a:r>
            <a:r>
              <a:rPr lang="de-DE" sz="900" dirty="0">
                <a:latin typeface="Consolas" panose="020B0609020204030204" pitchFamily="49" charset="0"/>
              </a:rPr>
              <a:t>, Bernhard </a:t>
            </a:r>
            <a:r>
              <a:rPr lang="de-DE" sz="900" dirty="0" err="1">
                <a:latin typeface="Consolas" panose="020B0609020204030204" pitchFamily="49" charset="0"/>
              </a:rPr>
              <a:t>Haeupler</a:t>
            </a:r>
            <a:r>
              <a:rPr lang="de-DE" sz="900" dirty="0">
                <a:latin typeface="Consolas" panose="020B0609020204030204" pitchFamily="49" charset="0"/>
              </a:rPr>
              <a:t>, and Zvi </a:t>
            </a:r>
            <a:r>
              <a:rPr lang="de-DE" sz="900" dirty="0" err="1">
                <a:latin typeface="Consolas" panose="020B0609020204030204" pitchFamily="49" charset="0"/>
              </a:rPr>
              <a:t>Lotker</a:t>
            </a:r>
            <a:r>
              <a:rPr lang="de-DE" sz="900" dirty="0">
                <a:latin typeface="Consolas" panose="020B0609020204030204" pitchFamily="49" charset="0"/>
              </a:rPr>
              <a:t>.</a:t>
            </a:r>
            <a:br>
              <a:rPr lang="de-DE" sz="900" dirty="0">
                <a:latin typeface="Consolas" panose="020B0609020204030204" pitchFamily="49" charset="0"/>
              </a:rPr>
            </a:br>
            <a:r>
              <a:rPr lang="de-DE" sz="900" dirty="0">
                <a:latin typeface="Consolas" panose="020B0609020204030204" pitchFamily="49" charset="0"/>
              </a:rPr>
              <a:t>IEEE/ACM Transactions on Networking (</a:t>
            </a:r>
            <a:r>
              <a:rPr lang="de-DE" sz="900" b="1" dirty="0">
                <a:latin typeface="Consolas" panose="020B0609020204030204" pitchFamily="49" charset="0"/>
              </a:rPr>
              <a:t>TON</a:t>
            </a:r>
            <a:r>
              <a:rPr lang="de-DE" sz="900" dirty="0">
                <a:latin typeface="Consolas" panose="020B0609020204030204" pitchFamily="49" charset="0"/>
              </a:rPr>
              <a:t>), Volume 24, Issue 3, 2016.</a:t>
            </a:r>
          </a:p>
          <a:p>
            <a:pPr marL="0" indent="0">
              <a:buNone/>
            </a:pPr>
            <a:endParaRPr lang="de-DE" sz="9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e-DE" sz="900" dirty="0">
                <a:latin typeface="Consolas" panose="020B0609020204030204" pitchFamily="49" charset="0"/>
                <a:hlinkClick r:id="rId9"/>
              </a:rPr>
              <a:t>PowerTCP: Pushing the Performance Limits of Datacenter Networks</a:t>
            </a:r>
            <a:br>
              <a:rPr lang="de-DE" sz="900" dirty="0">
                <a:latin typeface="Consolas" panose="020B0609020204030204" pitchFamily="49" charset="0"/>
              </a:rPr>
            </a:br>
            <a:r>
              <a:rPr lang="de-DE" sz="900" dirty="0">
                <a:latin typeface="Consolas" panose="020B0609020204030204" pitchFamily="49" charset="0"/>
              </a:rPr>
              <a:t>Vamsi Addanki, Oliver Michel, and Stefan Schmid.</a:t>
            </a:r>
            <a:br>
              <a:rPr lang="de-DE" sz="900" dirty="0">
                <a:latin typeface="Consolas" panose="020B0609020204030204" pitchFamily="49" charset="0"/>
              </a:rPr>
            </a:br>
            <a:r>
              <a:rPr lang="de-DE" sz="900" dirty="0">
                <a:latin typeface="Consolas" panose="020B0609020204030204" pitchFamily="49" charset="0"/>
              </a:rPr>
              <a:t>19th USENIX Symposium on Networked Systems Design and Implementation (</a:t>
            </a:r>
            <a:r>
              <a:rPr lang="de-DE" sz="900" b="1" dirty="0">
                <a:latin typeface="Consolas" panose="020B0609020204030204" pitchFamily="49" charset="0"/>
              </a:rPr>
              <a:t>NSDI</a:t>
            </a:r>
            <a:r>
              <a:rPr lang="de-DE" sz="900" dirty="0">
                <a:latin typeface="Consolas" panose="020B0609020204030204" pitchFamily="49" charset="0"/>
              </a:rPr>
              <a:t>), Renton, Washington, USA, April 2022.</a:t>
            </a:r>
          </a:p>
          <a:p>
            <a:pPr marL="0" indent="0">
              <a:buNone/>
            </a:pPr>
            <a:endParaRPr lang="de-DE" sz="9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e-DE" sz="900" dirty="0">
                <a:latin typeface="Consolas" panose="020B0609020204030204" pitchFamily="49" charset="0"/>
                <a:hlinkClick r:id="rId10"/>
              </a:rPr>
              <a:t>Credence: Augmenting Datacenter Switch Buffer Sharing with ML Predictions</a:t>
            </a:r>
            <a:br>
              <a:rPr lang="de-DE" sz="900" dirty="0">
                <a:latin typeface="Consolas" panose="020B0609020204030204" pitchFamily="49" charset="0"/>
              </a:rPr>
            </a:br>
            <a:r>
              <a:rPr lang="de-DE" sz="900" dirty="0">
                <a:latin typeface="Consolas" panose="020B0609020204030204" pitchFamily="49" charset="0"/>
              </a:rPr>
              <a:t>Vamsi Addanki, Maciej Pacut, and Stefan Schmid.</a:t>
            </a:r>
            <a:br>
              <a:rPr lang="de-DE" sz="900" dirty="0">
                <a:latin typeface="Consolas" panose="020B0609020204030204" pitchFamily="49" charset="0"/>
              </a:rPr>
            </a:br>
            <a:r>
              <a:rPr lang="de-DE" sz="900" dirty="0">
                <a:latin typeface="Consolas" panose="020B0609020204030204" pitchFamily="49" charset="0"/>
              </a:rPr>
              <a:t>21st USENIX Symposium on Networked Systems Design and Implementation (</a:t>
            </a:r>
            <a:r>
              <a:rPr lang="de-DE" sz="900" b="1" dirty="0">
                <a:latin typeface="Consolas" panose="020B0609020204030204" pitchFamily="49" charset="0"/>
              </a:rPr>
              <a:t>NSDI</a:t>
            </a:r>
            <a:r>
              <a:rPr lang="de-DE" sz="900" dirty="0">
                <a:latin typeface="Consolas" panose="020B0609020204030204" pitchFamily="49" charset="0"/>
              </a:rPr>
              <a:t>), Santa Clara, California, USA, April 2024.</a:t>
            </a:r>
          </a:p>
          <a:p>
            <a:pPr marL="0" indent="0">
              <a:buNone/>
            </a:pPr>
            <a:endParaRPr lang="de-DE" sz="9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de-DE" sz="9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de-DE" sz="9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de-DE" sz="9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de-DE" sz="9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e-DE" sz="900" dirty="0">
                <a:latin typeface="Consolas" panose="020B0609020204030204" pitchFamily="49" charset="0"/>
              </a:rPr>
              <a:t>.</a:t>
            </a:r>
          </a:p>
          <a:p>
            <a:pPr marL="0" indent="0">
              <a:buNone/>
            </a:pPr>
            <a:endParaRPr lang="de-DE" sz="1100" dirty="0"/>
          </a:p>
          <a:p>
            <a:pPr marL="0" indent="0">
              <a:buNone/>
            </a:pPr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1330077663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5">
          <a:extLst>
            <a:ext uri="{FF2B5EF4-FFF2-40B4-BE49-F238E27FC236}">
              <a16:creationId xmlns:a16="http://schemas.microsoft.com/office/drawing/2014/main" id="{C8A4A253-3E44-4182-1E52-BBD482B52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1580;g60be7dcf1c_0_473">
            <a:extLst>
              <a:ext uri="{FF2B5EF4-FFF2-40B4-BE49-F238E27FC236}">
                <a16:creationId xmlns:a16="http://schemas.microsoft.com/office/drawing/2014/main" id="{511787C9-F2F3-8E42-BC2A-37E8F30A44BB}"/>
              </a:ext>
            </a:extLst>
          </p:cNvPr>
          <p:cNvSpPr txBox="1"/>
          <p:nvPr/>
        </p:nvSpPr>
        <p:spPr>
          <a:xfrm>
            <a:off x="0" y="540000"/>
            <a:ext cx="8211000" cy="512945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24" name="Google Shape;1581;g60be7dcf1c_0_473">
            <a:extLst>
              <a:ext uri="{FF2B5EF4-FFF2-40B4-BE49-F238E27FC236}">
                <a16:creationId xmlns:a16="http://schemas.microsoft.com/office/drawing/2014/main" id="{DEFE2B5B-4748-ABCC-0163-A2DCA7D783E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3075" y="149350"/>
            <a:ext cx="8171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l">
              <a:lnSpc>
                <a:spcPct val="115000"/>
              </a:lnSpc>
              <a:buSzPts val="1100"/>
            </a:pPr>
            <a: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References (3)</a:t>
            </a:r>
            <a:endParaRPr lang="en-GB" sz="2000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85987308-2340-B37A-D9D1-1DDD9566E162}"/>
              </a:ext>
            </a:extLst>
          </p:cNvPr>
          <p:cNvSpPr txBox="1">
            <a:spLocks/>
          </p:cNvSpPr>
          <p:nvPr/>
        </p:nvSpPr>
        <p:spPr>
          <a:xfrm>
            <a:off x="862237" y="1438277"/>
            <a:ext cx="7644453" cy="33006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900" dirty="0">
                <a:latin typeface="Consolas" panose="020B0609020204030204" pitchFamily="49" charset="0"/>
                <a:hlinkClick r:id="rId3"/>
              </a:rPr>
              <a:t>DistroMatch: Distributed Disjoint Weighted Matchings in Demand-Aware Reconfigurable Optical Datacenters</a:t>
            </a:r>
            <a:br>
              <a:rPr lang="de-DE" sz="900" dirty="0">
                <a:latin typeface="Consolas" panose="020B0609020204030204" pitchFamily="49" charset="0"/>
              </a:rPr>
            </a:br>
            <a:r>
              <a:rPr lang="de-DE" sz="900" dirty="0">
                <a:latin typeface="Consolas" panose="020B0609020204030204" pitchFamily="49" charset="0"/>
              </a:rPr>
              <a:t>Sophia Heck, Kathrin Hanauer, and Stefan Schmid.</a:t>
            </a:r>
            <a:br>
              <a:rPr lang="de-DE" sz="900" dirty="0">
                <a:latin typeface="Consolas" panose="020B0609020204030204" pitchFamily="49" charset="0"/>
              </a:rPr>
            </a:br>
            <a:r>
              <a:rPr lang="de-DE" sz="900" dirty="0">
                <a:latin typeface="Consolas" panose="020B0609020204030204" pitchFamily="49" charset="0"/>
              </a:rPr>
              <a:t>ACM International Conference on Supercomputing (</a:t>
            </a:r>
            <a:r>
              <a:rPr lang="de-DE" sz="900" b="1" dirty="0">
                <a:latin typeface="Consolas" panose="020B0609020204030204" pitchFamily="49" charset="0"/>
              </a:rPr>
              <a:t>ICS</a:t>
            </a:r>
            <a:r>
              <a:rPr lang="de-DE" sz="900" dirty="0">
                <a:latin typeface="Consolas" panose="020B0609020204030204" pitchFamily="49" charset="0"/>
              </a:rPr>
              <a:t>), Belfast, Northern Ireland, United Kingdom, July 2026.</a:t>
            </a:r>
          </a:p>
          <a:p>
            <a:pPr marL="0" indent="0">
              <a:buNone/>
            </a:pPr>
            <a:endParaRPr lang="de-DE" sz="9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e-DE" sz="900" dirty="0">
                <a:latin typeface="Consolas" panose="020B0609020204030204" pitchFamily="49" charset="0"/>
                <a:hlinkClick r:id="rId4"/>
              </a:rPr>
              <a:t>Dynamic Demand-Aware Link Scheduling for Reconfigurable Datacenters</a:t>
            </a:r>
            <a:br>
              <a:rPr lang="de-DE" sz="900" dirty="0">
                <a:latin typeface="Consolas" panose="020B0609020204030204" pitchFamily="49" charset="0"/>
              </a:rPr>
            </a:br>
            <a:r>
              <a:rPr lang="de-DE" sz="900" dirty="0">
                <a:latin typeface="Consolas" panose="020B0609020204030204" pitchFamily="49" charset="0"/>
              </a:rPr>
              <a:t>Kathrin Hanauer, Monika Henzinger, Lara Ost, and Stefan Schmid.</a:t>
            </a:r>
            <a:br>
              <a:rPr lang="de-DE" sz="900" dirty="0">
                <a:latin typeface="Consolas" panose="020B0609020204030204" pitchFamily="49" charset="0"/>
              </a:rPr>
            </a:br>
            <a:r>
              <a:rPr lang="de-DE" sz="900" dirty="0">
                <a:latin typeface="Consolas" panose="020B0609020204030204" pitchFamily="49" charset="0"/>
              </a:rPr>
              <a:t>IEEE Conference on Computer Communications (</a:t>
            </a:r>
            <a:r>
              <a:rPr lang="de-DE" sz="900" b="1" dirty="0">
                <a:latin typeface="Consolas" panose="020B0609020204030204" pitchFamily="49" charset="0"/>
              </a:rPr>
              <a:t>INFOCOM</a:t>
            </a:r>
            <a:r>
              <a:rPr lang="de-DE" sz="900" dirty="0">
                <a:latin typeface="Consolas" panose="020B0609020204030204" pitchFamily="49" charset="0"/>
              </a:rPr>
              <a:t>), New York, USA, May 2023.</a:t>
            </a:r>
          </a:p>
          <a:p>
            <a:pPr marL="0" indent="0">
              <a:buNone/>
            </a:pPr>
            <a:endParaRPr lang="de-DE" sz="9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e-DE" sz="900" dirty="0">
                <a:latin typeface="Consolas" panose="020B0609020204030204" pitchFamily="49" charset="0"/>
                <a:hlinkClick r:id="rId5"/>
              </a:rPr>
              <a:t>Fast and Heavy Disjoint Weighted Matchings for Demand-Aware Datacenter Topologies</a:t>
            </a:r>
            <a:br>
              <a:rPr lang="de-DE" sz="900" dirty="0">
                <a:latin typeface="Consolas" panose="020B0609020204030204" pitchFamily="49" charset="0"/>
              </a:rPr>
            </a:br>
            <a:r>
              <a:rPr lang="de-DE" sz="900" dirty="0">
                <a:latin typeface="Consolas" panose="020B0609020204030204" pitchFamily="49" charset="0"/>
              </a:rPr>
              <a:t>Kathrin Hanauer, Monika Henzinger, Stefan Schmid, and Jonathan Trummer.</a:t>
            </a:r>
            <a:br>
              <a:rPr lang="de-DE" sz="900" dirty="0">
                <a:latin typeface="Consolas" panose="020B0609020204030204" pitchFamily="49" charset="0"/>
              </a:rPr>
            </a:br>
            <a:r>
              <a:rPr lang="de-DE" sz="900" dirty="0">
                <a:latin typeface="Consolas" panose="020B0609020204030204" pitchFamily="49" charset="0"/>
              </a:rPr>
              <a:t>IEEE Conference on Computer Communications (</a:t>
            </a:r>
            <a:r>
              <a:rPr lang="de-DE" sz="900" b="1" dirty="0">
                <a:latin typeface="Consolas" panose="020B0609020204030204" pitchFamily="49" charset="0"/>
              </a:rPr>
              <a:t>INFOCOM</a:t>
            </a:r>
            <a:r>
              <a:rPr lang="de-DE" sz="900" dirty="0">
                <a:latin typeface="Consolas" panose="020B0609020204030204" pitchFamily="49" charset="0"/>
              </a:rPr>
              <a:t>), Virtual Conference, May 2022.</a:t>
            </a:r>
          </a:p>
          <a:p>
            <a:pPr marL="0" indent="0">
              <a:buNone/>
            </a:pPr>
            <a:endParaRPr lang="de-DE" sz="9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e-DE" sz="900" dirty="0">
                <a:latin typeface="Consolas" panose="020B0609020204030204" pitchFamily="49" charset="0"/>
                <a:hlinkClick r:id="rId6"/>
              </a:rPr>
              <a:t>Toward Demand-Aware Networking: A Theory for Self-Adjusting Networks</a:t>
            </a:r>
            <a:r>
              <a:rPr lang="de-DE" sz="900" dirty="0">
                <a:latin typeface="Consolas" panose="020B0609020204030204" pitchFamily="49" charset="0"/>
              </a:rPr>
              <a:t> (Editorial)</a:t>
            </a:r>
            <a:br>
              <a:rPr lang="de-DE" sz="900" dirty="0">
                <a:latin typeface="Consolas" panose="020B0609020204030204" pitchFamily="49" charset="0"/>
              </a:rPr>
            </a:br>
            <a:r>
              <a:rPr lang="de-DE" sz="900" dirty="0">
                <a:latin typeface="Consolas" panose="020B0609020204030204" pitchFamily="49" charset="0"/>
              </a:rPr>
              <a:t>Chen Avin and Stefan Schmid.</a:t>
            </a:r>
            <a:br>
              <a:rPr lang="de-DE" sz="900" dirty="0">
                <a:latin typeface="Consolas" panose="020B0609020204030204" pitchFamily="49" charset="0"/>
              </a:rPr>
            </a:br>
            <a:r>
              <a:rPr lang="de-DE" sz="900" dirty="0">
                <a:latin typeface="Consolas" panose="020B0609020204030204" pitchFamily="49" charset="0"/>
              </a:rPr>
              <a:t>ACM SIGCOMM Computer Communication Review (</a:t>
            </a:r>
            <a:r>
              <a:rPr lang="de-DE" sz="900" b="1" dirty="0">
                <a:latin typeface="Consolas" panose="020B0609020204030204" pitchFamily="49" charset="0"/>
              </a:rPr>
              <a:t>CCR</a:t>
            </a:r>
            <a:r>
              <a:rPr lang="de-DE" sz="900" dirty="0">
                <a:latin typeface="Consolas" panose="020B0609020204030204" pitchFamily="49" charset="0"/>
              </a:rPr>
              <a:t>), October 2018.</a:t>
            </a:r>
          </a:p>
          <a:p>
            <a:pPr marL="0" indent="0">
              <a:buNone/>
            </a:pPr>
            <a:endParaRPr lang="de-DE" sz="9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de-DE" sz="9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de-DE" sz="9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9441723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1580;g60be7dcf1c_0_473"/>
          <p:cNvSpPr txBox="1"/>
          <p:nvPr/>
        </p:nvSpPr>
        <p:spPr>
          <a:xfrm>
            <a:off x="0" y="540000"/>
            <a:ext cx="8211000" cy="419005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24" name="Google Shape;1581;g60be7dcf1c_0_473"/>
          <p:cNvSpPr txBox="1">
            <a:spLocks noGrp="1"/>
          </p:cNvSpPr>
          <p:nvPr>
            <p:ph type="title"/>
          </p:nvPr>
        </p:nvSpPr>
        <p:spPr>
          <a:xfrm>
            <a:off x="973075" y="149350"/>
            <a:ext cx="8171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Bonus Material</a:t>
            </a:r>
            <a:endParaRPr lang="en-GB" sz="2000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026" name="Picture 2" descr="Hogwarts Stair GIF - Hogwarts Stair Stairs GIFs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357" y="2063772"/>
            <a:ext cx="6414688" cy="27178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Google Shape;1534;g60be7dcf1c_0_434"/>
          <p:cNvSpPr txBox="1"/>
          <p:nvPr/>
        </p:nvSpPr>
        <p:spPr>
          <a:xfrm>
            <a:off x="6280649" y="4901456"/>
            <a:ext cx="1458298" cy="348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Hogwarts Stair</a:t>
            </a:r>
            <a:endParaRPr lang="en-US"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523FD8C-2499-4791-8A88-EC6B6F8BC43D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E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0656487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09;g60be7dcf1c_0_222">
            <a:extLst>
              <a:ext uri="{FF2B5EF4-FFF2-40B4-BE49-F238E27FC236}">
                <a16:creationId xmlns:a16="http://schemas.microsoft.com/office/drawing/2014/main" id="{4DE19C73-9916-40CA-87D9-CC4934AE39A5}"/>
              </a:ext>
            </a:extLst>
          </p:cNvPr>
          <p:cNvSpPr txBox="1"/>
          <p:nvPr/>
        </p:nvSpPr>
        <p:spPr>
          <a:xfrm>
            <a:off x="0" y="2865771"/>
            <a:ext cx="8170925" cy="55208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14" name="Google Shape;1288;g60be7dcf1c_0_204">
            <a:extLst>
              <a:ext uri="{FF2B5EF4-FFF2-40B4-BE49-F238E27FC236}">
                <a16:creationId xmlns:a16="http://schemas.microsoft.com/office/drawing/2014/main" id="{3A5A658B-C73C-468A-B47B-9E631F9C601D}"/>
              </a:ext>
            </a:extLst>
          </p:cNvPr>
          <p:cNvSpPr txBox="1">
            <a:spLocks/>
          </p:cNvSpPr>
          <p:nvPr/>
        </p:nvSpPr>
        <p:spPr>
          <a:xfrm>
            <a:off x="973075" y="2475121"/>
            <a:ext cx="8171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lnSpc>
                <a:spcPct val="115000"/>
              </a:lnSpc>
              <a:buSzPts val="1100"/>
            </a:pPr>
            <a: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Optimal Hybrid RDCNs</a:t>
            </a:r>
            <a:endParaRPr lang="en-GB" sz="2000" dirty="0">
              <a:solidFill>
                <a:schemeClr val="tx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CE752E-0C4E-4314-9C4E-72533B296ADF}"/>
              </a:ext>
            </a:extLst>
          </p:cNvPr>
          <p:cNvSpPr/>
          <p:nvPr/>
        </p:nvSpPr>
        <p:spPr>
          <a:xfrm>
            <a:off x="2413221" y="4182798"/>
            <a:ext cx="4035287" cy="1912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C4CD039-F98F-4994-A99A-F685B58FD93D}"/>
              </a:ext>
            </a:extLst>
          </p:cNvPr>
          <p:cNvSpPr/>
          <p:nvPr/>
        </p:nvSpPr>
        <p:spPr>
          <a:xfrm>
            <a:off x="3355848" y="3988486"/>
            <a:ext cx="2647388" cy="12036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825646-E6DF-4690-BC88-A1B0C762DF3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128</a:t>
            </a:fld>
            <a:endParaRPr lang="de-DE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0DAB7A-10BB-4CF7-BCBF-13BCF7A9ACA4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E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432024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6">
          <a:extLst>
            <a:ext uri="{FF2B5EF4-FFF2-40B4-BE49-F238E27FC236}">
              <a16:creationId xmlns:a16="http://schemas.microsoft.com/office/drawing/2014/main" id="{79E92145-F52D-3EA2-166A-58F138E97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09;g60be7dcf1c_0_222">
            <a:extLst>
              <a:ext uri="{FF2B5EF4-FFF2-40B4-BE49-F238E27FC236}">
                <a16:creationId xmlns:a16="http://schemas.microsoft.com/office/drawing/2014/main" id="{631575F9-9A15-6592-59D1-4A9DDEABFDF2}"/>
              </a:ext>
            </a:extLst>
          </p:cNvPr>
          <p:cNvSpPr txBox="1"/>
          <p:nvPr/>
        </p:nvSpPr>
        <p:spPr>
          <a:xfrm>
            <a:off x="0" y="540000"/>
            <a:ext cx="8170925" cy="55208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14" name="Google Shape;1288;g60be7dcf1c_0_204">
            <a:extLst>
              <a:ext uri="{FF2B5EF4-FFF2-40B4-BE49-F238E27FC236}">
                <a16:creationId xmlns:a16="http://schemas.microsoft.com/office/drawing/2014/main" id="{55BB3208-378F-89CD-53B1-A3FF1907A417}"/>
              </a:ext>
            </a:extLst>
          </p:cNvPr>
          <p:cNvSpPr txBox="1">
            <a:spLocks/>
          </p:cNvSpPr>
          <p:nvPr/>
        </p:nvSpPr>
        <p:spPr>
          <a:xfrm>
            <a:off x="973075" y="149350"/>
            <a:ext cx="8171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lnSpc>
                <a:spcPct val="115000"/>
              </a:lnSpc>
              <a:buSzPts val="1100"/>
            </a:pPr>
            <a: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Flow Size Matters</a:t>
            </a:r>
            <a:endParaRPr lang="en-GB" sz="2000" dirty="0">
              <a:solidFill>
                <a:schemeClr val="tx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8ABAD1A-EADB-F5C6-B243-D582409F0FB6}"/>
              </a:ext>
            </a:extLst>
          </p:cNvPr>
          <p:cNvSpPr/>
          <p:nvPr/>
        </p:nvSpPr>
        <p:spPr>
          <a:xfrm>
            <a:off x="2413221" y="1857027"/>
            <a:ext cx="4035287" cy="1912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546B329-396D-296B-DD08-29ECBB8942F1}"/>
              </a:ext>
            </a:extLst>
          </p:cNvPr>
          <p:cNvSpPr/>
          <p:nvPr/>
        </p:nvSpPr>
        <p:spPr>
          <a:xfrm>
            <a:off x="3355848" y="1662715"/>
            <a:ext cx="2647388" cy="12036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85D90D-28F8-3B56-18A2-30F0301D59E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129</a:t>
            </a:fld>
            <a:endParaRPr lang="de-DE"/>
          </a:p>
        </p:txBody>
      </p:sp>
      <p:sp>
        <p:nvSpPr>
          <p:cNvPr id="11" name="Google Shape;1534;g60be7dcf1c_0_434">
            <a:extLst>
              <a:ext uri="{FF2B5EF4-FFF2-40B4-BE49-F238E27FC236}">
                <a16:creationId xmlns:a16="http://schemas.microsoft.com/office/drawing/2014/main" id="{955634BE-F1DD-1CDD-C3A2-0E601DB37743}"/>
              </a:ext>
            </a:extLst>
          </p:cNvPr>
          <p:cNvSpPr txBox="1"/>
          <p:nvPr/>
        </p:nvSpPr>
        <p:spPr>
          <a:xfrm>
            <a:off x="933001" y="1341707"/>
            <a:ext cx="8210999" cy="441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On what should topology type depend? We argue: </a:t>
            </a:r>
            <a:r>
              <a:rPr lang="en-GB" sz="1600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flow size.</a:t>
            </a: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⇢ </a:t>
            </a:r>
            <a:r>
              <a:rPr lang="en-GB" sz="1600" b="1" dirty="0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Observation 2: </a:t>
            </a:r>
            <a:r>
              <a:rPr lang="en-US" sz="1600" dirty="0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The transmission time of a flow depends on its </a:t>
            </a:r>
            <a:r>
              <a:rPr lang="en-GB" sz="1600" dirty="0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size</a:t>
            </a:r>
            <a:r>
              <a:rPr lang="en-US" sz="1600" dirty="0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</a:p>
          <a:p>
            <a:pPr>
              <a:lnSpc>
                <a:spcPct val="115000"/>
              </a:lnSpc>
            </a:pPr>
            <a:r>
              <a:rPr lang="en-GB" sz="1600" dirty="0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⇢ </a:t>
            </a:r>
            <a:r>
              <a:rPr lang="en-GB" sz="1600" b="1" dirty="0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Observation 3:</a:t>
            </a:r>
            <a:r>
              <a:rPr lang="en-GB" sz="1600" dirty="0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600" dirty="0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For small flows, </a:t>
            </a:r>
            <a:r>
              <a:rPr lang="en-GB" sz="1600" dirty="0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flow completion time suffers</a:t>
            </a:r>
            <a:r>
              <a:rPr lang="en-US" sz="1600" dirty="0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 if </a:t>
            </a:r>
          </a:p>
          <a:p>
            <a:pPr>
              <a:lnSpc>
                <a:spcPct val="115000"/>
              </a:lnSpc>
            </a:pPr>
            <a:r>
              <a:rPr lang="en-US" sz="1600" dirty="0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  network needs to be reconfigured first.</a:t>
            </a:r>
          </a:p>
          <a:p>
            <a:pPr>
              <a:lnSpc>
                <a:spcPct val="115000"/>
              </a:lnSpc>
            </a:pPr>
            <a:r>
              <a:rPr lang="en-GB" sz="1600" dirty="0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⇢ </a:t>
            </a:r>
            <a:r>
              <a:rPr lang="en-GB" sz="1600" b="1" dirty="0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Observation 4:</a:t>
            </a:r>
            <a:r>
              <a:rPr lang="en-GB" sz="1600" dirty="0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600" dirty="0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For large flows, reconfiguration time may </a:t>
            </a:r>
            <a:r>
              <a:rPr lang="en-GB" sz="1600" dirty="0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amortize</a:t>
            </a:r>
            <a:r>
              <a:rPr lang="en-US" sz="1600" dirty="0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. </a:t>
            </a:r>
          </a:p>
          <a:p>
            <a:pPr>
              <a:lnSpc>
                <a:spcPct val="115000"/>
              </a:lnSpc>
            </a:pPr>
            <a:r>
              <a:rPr lang="en-US" sz="1600" dirty="0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</a:p>
          <a:p>
            <a:pPr>
              <a:lnSpc>
                <a:spcPct val="115000"/>
              </a:lnSpc>
            </a:pP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>
              <a:lnSpc>
                <a:spcPct val="115000"/>
              </a:lnSpc>
            </a:pP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>
              <a:lnSpc>
                <a:spcPct val="115000"/>
              </a:lnSpc>
            </a:pPr>
            <a:endParaRPr lang="de-DE"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02CCAE9-64D3-ADAB-8B54-B1CB32DF2F96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E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63174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534;g60be7dcf1c_0_434">
            <a:extLst>
              <a:ext uri="{FF2B5EF4-FFF2-40B4-BE49-F238E27FC236}">
                <a16:creationId xmlns:a16="http://schemas.microsoft.com/office/drawing/2014/main" id="{A70BC1F3-82D5-47A8-8832-31E83FB440A7}"/>
              </a:ext>
            </a:extLst>
          </p:cNvPr>
          <p:cNvSpPr txBox="1"/>
          <p:nvPr/>
        </p:nvSpPr>
        <p:spPr>
          <a:xfrm>
            <a:off x="663529" y="4649059"/>
            <a:ext cx="8210999" cy="220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⇢ </a:t>
            </a:r>
            <a:r>
              <a:rPr lang="en-GB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Observation 1:</a:t>
            </a: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Different apps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have different flow size distributions.</a:t>
            </a:r>
          </a:p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⇢ </a:t>
            </a:r>
            <a:r>
              <a:rPr lang="en-GB" sz="1600" b="1" dirty="0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Observation 2: </a:t>
            </a:r>
            <a:r>
              <a:rPr lang="en-US" sz="1600" dirty="0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The transmission time of a flow depends on its </a:t>
            </a:r>
            <a:r>
              <a:rPr lang="en-GB" sz="1600" dirty="0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size</a:t>
            </a:r>
            <a:r>
              <a:rPr lang="en-US" sz="1600" dirty="0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</a:p>
          <a:p>
            <a:pPr>
              <a:lnSpc>
                <a:spcPct val="115000"/>
              </a:lnSpc>
            </a:pPr>
            <a:r>
              <a:rPr lang="en-GB" sz="1600" dirty="0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⇢ </a:t>
            </a:r>
            <a:r>
              <a:rPr lang="en-GB" sz="1600" b="1" dirty="0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Observation 3:</a:t>
            </a:r>
            <a:r>
              <a:rPr lang="en-GB" sz="1600" dirty="0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600" dirty="0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For small flows, </a:t>
            </a:r>
            <a:r>
              <a:rPr lang="en-GB" sz="1600" dirty="0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flow completion time suffers</a:t>
            </a:r>
            <a:r>
              <a:rPr lang="en-US" sz="1600" dirty="0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 if </a:t>
            </a:r>
          </a:p>
          <a:p>
            <a:pPr>
              <a:lnSpc>
                <a:spcPct val="115000"/>
              </a:lnSpc>
            </a:pPr>
            <a:r>
              <a:rPr lang="en-US" sz="1600" dirty="0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  network needs to be reconfigured first.</a:t>
            </a:r>
          </a:p>
          <a:p>
            <a:pPr>
              <a:lnSpc>
                <a:spcPct val="115000"/>
              </a:lnSpc>
            </a:pPr>
            <a:r>
              <a:rPr lang="en-GB" sz="1600" dirty="0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⇢ </a:t>
            </a:r>
            <a:r>
              <a:rPr lang="en-GB" sz="1600" b="1" dirty="0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Observation 4:</a:t>
            </a:r>
            <a:r>
              <a:rPr lang="en-GB" sz="1600" dirty="0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600" dirty="0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For large flows, reconfiguration time may </a:t>
            </a:r>
            <a:r>
              <a:rPr lang="en-GB" sz="1600" dirty="0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amortize</a:t>
            </a:r>
            <a:r>
              <a:rPr lang="en-US" sz="1600" dirty="0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. </a:t>
            </a:r>
          </a:p>
          <a:p>
            <a:pPr>
              <a:lnSpc>
                <a:spcPct val="115000"/>
              </a:lnSpc>
            </a:pPr>
            <a:r>
              <a:rPr lang="en-US" sz="1600" dirty="0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</a:p>
          <a:p>
            <a:pPr>
              <a:lnSpc>
                <a:spcPct val="115000"/>
              </a:lnSpc>
            </a:pP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>
              <a:lnSpc>
                <a:spcPct val="115000"/>
              </a:lnSpc>
            </a:pP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>
              <a:lnSpc>
                <a:spcPct val="115000"/>
              </a:lnSpc>
            </a:pPr>
            <a:endParaRPr lang="de-DE"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" name="Google Shape;1309;g60be7dcf1c_0_222">
            <a:extLst>
              <a:ext uri="{FF2B5EF4-FFF2-40B4-BE49-F238E27FC236}">
                <a16:creationId xmlns:a16="http://schemas.microsoft.com/office/drawing/2014/main" id="{4DE19C73-9916-40CA-87D9-CC4934AE39A5}"/>
              </a:ext>
            </a:extLst>
          </p:cNvPr>
          <p:cNvSpPr txBox="1"/>
          <p:nvPr/>
        </p:nvSpPr>
        <p:spPr>
          <a:xfrm>
            <a:off x="0" y="540000"/>
            <a:ext cx="8170925" cy="55208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14" name="Google Shape;1288;g60be7dcf1c_0_204">
            <a:extLst>
              <a:ext uri="{FF2B5EF4-FFF2-40B4-BE49-F238E27FC236}">
                <a16:creationId xmlns:a16="http://schemas.microsoft.com/office/drawing/2014/main" id="{3A5A658B-C73C-468A-B47B-9E631F9C601D}"/>
              </a:ext>
            </a:extLst>
          </p:cNvPr>
          <p:cNvSpPr txBox="1">
            <a:spLocks/>
          </p:cNvSpPr>
          <p:nvPr/>
        </p:nvSpPr>
        <p:spPr>
          <a:xfrm>
            <a:off x="973075" y="149350"/>
            <a:ext cx="8171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lnSpc>
                <a:spcPct val="115000"/>
              </a:lnSpc>
              <a:buSzPts val="1100"/>
            </a:pPr>
            <a: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Flow Size Matters</a:t>
            </a:r>
            <a:endParaRPr lang="en-GB" sz="2000" dirty="0">
              <a:solidFill>
                <a:schemeClr val="tx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CE752E-0C4E-4314-9C4E-72533B296ADF}"/>
              </a:ext>
            </a:extLst>
          </p:cNvPr>
          <p:cNvSpPr/>
          <p:nvPr/>
        </p:nvSpPr>
        <p:spPr>
          <a:xfrm>
            <a:off x="2413221" y="1857027"/>
            <a:ext cx="4035287" cy="1912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C4CD039-F98F-4994-A99A-F685B58FD93D}"/>
              </a:ext>
            </a:extLst>
          </p:cNvPr>
          <p:cNvSpPr/>
          <p:nvPr/>
        </p:nvSpPr>
        <p:spPr>
          <a:xfrm>
            <a:off x="3355848" y="1662715"/>
            <a:ext cx="2647388" cy="12036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825646-E6DF-4690-BC88-A1B0C762DF3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130</a:t>
            </a:fld>
            <a:endParaRPr lang="de-DE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70DB523-2100-48BF-A735-F55A1B7EA8A4}"/>
              </a:ext>
            </a:extLst>
          </p:cNvPr>
          <p:cNvSpPr/>
          <p:nvPr/>
        </p:nvSpPr>
        <p:spPr>
          <a:xfrm>
            <a:off x="7770729" y="6509550"/>
            <a:ext cx="55123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E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 algn="r"/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2040C07-50B8-4DBC-B564-60D9C7E14B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6947" y="1959926"/>
            <a:ext cx="4206253" cy="2552585"/>
          </a:xfrm>
          <a:prstGeom prst="rect">
            <a:avLst/>
          </a:prstGeom>
        </p:spPr>
      </p:pic>
      <p:sp>
        <p:nvSpPr>
          <p:cNvPr id="15" name="Google Shape;1534;g60be7dcf1c_0_434">
            <a:extLst>
              <a:ext uri="{FF2B5EF4-FFF2-40B4-BE49-F238E27FC236}">
                <a16:creationId xmlns:a16="http://schemas.microsoft.com/office/drawing/2014/main" id="{3685DCF8-146F-4F7F-A35D-8C36C5229045}"/>
              </a:ext>
            </a:extLst>
          </p:cNvPr>
          <p:cNvSpPr txBox="1"/>
          <p:nvPr/>
        </p:nvSpPr>
        <p:spPr>
          <a:xfrm>
            <a:off x="933001" y="1341707"/>
            <a:ext cx="8210999" cy="441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On what should topology type depend? We argue: </a:t>
            </a:r>
            <a:r>
              <a:rPr lang="en-GB" sz="1600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flow size.</a:t>
            </a: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⇢ </a:t>
            </a:r>
            <a:r>
              <a:rPr lang="en-GB" sz="1600" b="1" dirty="0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Observation 2: </a:t>
            </a:r>
            <a:r>
              <a:rPr lang="en-US" sz="1600" dirty="0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The transmission time of a flow depends on its </a:t>
            </a:r>
            <a:r>
              <a:rPr lang="en-GB" sz="1600" dirty="0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size</a:t>
            </a:r>
            <a:r>
              <a:rPr lang="en-US" sz="1600" dirty="0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</a:p>
          <a:p>
            <a:pPr>
              <a:lnSpc>
                <a:spcPct val="115000"/>
              </a:lnSpc>
            </a:pPr>
            <a:r>
              <a:rPr lang="en-GB" sz="1600" dirty="0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⇢ </a:t>
            </a:r>
            <a:r>
              <a:rPr lang="en-GB" sz="1600" b="1" dirty="0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Observation 3:</a:t>
            </a:r>
            <a:r>
              <a:rPr lang="en-GB" sz="1600" dirty="0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600" dirty="0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For small flows, </a:t>
            </a:r>
            <a:r>
              <a:rPr lang="en-GB" sz="1600" dirty="0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flow completion time suffers</a:t>
            </a:r>
            <a:r>
              <a:rPr lang="en-US" sz="1600" dirty="0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 if </a:t>
            </a:r>
          </a:p>
          <a:p>
            <a:pPr>
              <a:lnSpc>
                <a:spcPct val="115000"/>
              </a:lnSpc>
            </a:pPr>
            <a:r>
              <a:rPr lang="en-US" sz="1600" dirty="0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  network needs to be reconfigured first.</a:t>
            </a:r>
          </a:p>
          <a:p>
            <a:pPr>
              <a:lnSpc>
                <a:spcPct val="115000"/>
              </a:lnSpc>
            </a:pPr>
            <a:r>
              <a:rPr lang="en-GB" sz="1600" dirty="0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⇢ </a:t>
            </a:r>
            <a:r>
              <a:rPr lang="en-GB" sz="1600" b="1" dirty="0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Observation 4:</a:t>
            </a:r>
            <a:r>
              <a:rPr lang="en-GB" sz="1600" dirty="0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600" dirty="0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For large flows, reconfiguration time may </a:t>
            </a:r>
            <a:r>
              <a:rPr lang="en-GB" sz="1600" dirty="0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amortize</a:t>
            </a:r>
            <a:r>
              <a:rPr lang="en-US" sz="1600" dirty="0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. </a:t>
            </a:r>
          </a:p>
          <a:p>
            <a:pPr>
              <a:lnSpc>
                <a:spcPct val="115000"/>
              </a:lnSpc>
            </a:pPr>
            <a:r>
              <a:rPr lang="en-US" sz="1600" dirty="0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</a:p>
          <a:p>
            <a:pPr>
              <a:lnSpc>
                <a:spcPct val="115000"/>
              </a:lnSpc>
            </a:pP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>
              <a:lnSpc>
                <a:spcPct val="115000"/>
              </a:lnSpc>
            </a:pP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>
              <a:lnSpc>
                <a:spcPct val="115000"/>
              </a:lnSpc>
            </a:pPr>
            <a:endParaRPr lang="de-DE"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78664950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534;g60be7dcf1c_0_434">
            <a:extLst>
              <a:ext uri="{FF2B5EF4-FFF2-40B4-BE49-F238E27FC236}">
                <a16:creationId xmlns:a16="http://schemas.microsoft.com/office/drawing/2014/main" id="{A70BC1F3-82D5-47A8-8832-31E83FB440A7}"/>
              </a:ext>
            </a:extLst>
          </p:cNvPr>
          <p:cNvSpPr txBox="1"/>
          <p:nvPr/>
        </p:nvSpPr>
        <p:spPr>
          <a:xfrm>
            <a:off x="663529" y="4649059"/>
            <a:ext cx="8210999" cy="220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⇢ </a:t>
            </a:r>
            <a:r>
              <a:rPr lang="en-GB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Observation 1:</a:t>
            </a: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Different apps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have different flow size distributions.</a:t>
            </a:r>
          </a:p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⇢ </a:t>
            </a:r>
            <a:r>
              <a:rPr lang="en-GB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Observation 2: 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The transmission time of a flow depends on its </a:t>
            </a:r>
            <a:r>
              <a:rPr lang="en-GB" sz="1600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size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</a:p>
          <a:p>
            <a:pPr>
              <a:lnSpc>
                <a:spcPct val="115000"/>
              </a:lnSpc>
            </a:pPr>
            <a:r>
              <a:rPr lang="en-GB" sz="1600" dirty="0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⇢ </a:t>
            </a:r>
            <a:r>
              <a:rPr lang="en-GB" sz="1600" b="1" dirty="0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Observation 3:</a:t>
            </a:r>
            <a:r>
              <a:rPr lang="en-GB" sz="1600" dirty="0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600" dirty="0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For small flows, </a:t>
            </a:r>
            <a:r>
              <a:rPr lang="en-GB" sz="1600" dirty="0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flow completion time suffers</a:t>
            </a:r>
            <a:r>
              <a:rPr lang="en-US" sz="1600" dirty="0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 if </a:t>
            </a:r>
          </a:p>
          <a:p>
            <a:pPr>
              <a:lnSpc>
                <a:spcPct val="115000"/>
              </a:lnSpc>
            </a:pPr>
            <a:r>
              <a:rPr lang="en-US" sz="1600" dirty="0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  network needs to be reconfigured first.</a:t>
            </a:r>
          </a:p>
          <a:p>
            <a:pPr>
              <a:lnSpc>
                <a:spcPct val="115000"/>
              </a:lnSpc>
            </a:pPr>
            <a:r>
              <a:rPr lang="en-GB" sz="1600" dirty="0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⇢ </a:t>
            </a:r>
            <a:r>
              <a:rPr lang="en-GB" sz="1600" b="1" dirty="0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Observation 4:</a:t>
            </a:r>
            <a:r>
              <a:rPr lang="en-GB" sz="1600" dirty="0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600" dirty="0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For large flows, reconfiguration time may </a:t>
            </a:r>
            <a:r>
              <a:rPr lang="en-GB" sz="1600" dirty="0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amortize</a:t>
            </a:r>
            <a:r>
              <a:rPr lang="en-US" sz="1600" dirty="0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. </a:t>
            </a:r>
          </a:p>
          <a:p>
            <a:pPr>
              <a:lnSpc>
                <a:spcPct val="115000"/>
              </a:lnSpc>
            </a:pPr>
            <a:r>
              <a:rPr lang="en-US" sz="1600" dirty="0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</a:p>
          <a:p>
            <a:pPr>
              <a:lnSpc>
                <a:spcPct val="115000"/>
              </a:lnSpc>
            </a:pP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>
              <a:lnSpc>
                <a:spcPct val="115000"/>
              </a:lnSpc>
            </a:pP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>
              <a:lnSpc>
                <a:spcPct val="115000"/>
              </a:lnSpc>
            </a:pPr>
            <a:endParaRPr lang="de-DE"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" name="Google Shape;1309;g60be7dcf1c_0_222">
            <a:extLst>
              <a:ext uri="{FF2B5EF4-FFF2-40B4-BE49-F238E27FC236}">
                <a16:creationId xmlns:a16="http://schemas.microsoft.com/office/drawing/2014/main" id="{4DE19C73-9916-40CA-87D9-CC4934AE39A5}"/>
              </a:ext>
            </a:extLst>
          </p:cNvPr>
          <p:cNvSpPr txBox="1"/>
          <p:nvPr/>
        </p:nvSpPr>
        <p:spPr>
          <a:xfrm>
            <a:off x="0" y="540000"/>
            <a:ext cx="8170925" cy="55208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14" name="Google Shape;1288;g60be7dcf1c_0_204">
            <a:extLst>
              <a:ext uri="{FF2B5EF4-FFF2-40B4-BE49-F238E27FC236}">
                <a16:creationId xmlns:a16="http://schemas.microsoft.com/office/drawing/2014/main" id="{3A5A658B-C73C-468A-B47B-9E631F9C601D}"/>
              </a:ext>
            </a:extLst>
          </p:cNvPr>
          <p:cNvSpPr txBox="1">
            <a:spLocks/>
          </p:cNvSpPr>
          <p:nvPr/>
        </p:nvSpPr>
        <p:spPr>
          <a:xfrm>
            <a:off x="973075" y="149350"/>
            <a:ext cx="8171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lnSpc>
                <a:spcPct val="115000"/>
              </a:lnSpc>
              <a:buSzPts val="1100"/>
            </a:pPr>
            <a: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Flow Size Matters</a:t>
            </a:r>
            <a:endParaRPr lang="en-GB" sz="2000" dirty="0">
              <a:solidFill>
                <a:schemeClr val="tx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15D2CA-F6A3-4ACD-8334-F89366CD140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131</a:t>
            </a:fld>
            <a:endParaRPr lang="de-DE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4668BA7-6F3D-4002-8875-3D969AC3D06B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E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1" name="Google Shape;1534;g60be7dcf1c_0_434">
            <a:extLst>
              <a:ext uri="{FF2B5EF4-FFF2-40B4-BE49-F238E27FC236}">
                <a16:creationId xmlns:a16="http://schemas.microsoft.com/office/drawing/2014/main" id="{52B04DF7-22AB-4B20-9316-6AE4B44D46E4}"/>
              </a:ext>
            </a:extLst>
          </p:cNvPr>
          <p:cNvSpPr txBox="1"/>
          <p:nvPr/>
        </p:nvSpPr>
        <p:spPr>
          <a:xfrm>
            <a:off x="6112267" y="1237524"/>
            <a:ext cx="2525094" cy="276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Similar </a:t>
            </a:r>
            <a:r>
              <a:rPr lang="en-GB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tradeoff</a:t>
            </a: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for </a:t>
            </a:r>
            <a:r>
              <a:rPr lang="en-GB" sz="1600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800Gbps or 1.6 </a:t>
            </a:r>
            <a:r>
              <a:rPr lang="en-GB" sz="1600" dirty="0" err="1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Tpbs</a:t>
            </a:r>
            <a:endParaRPr lang="de-DE" sz="1200" dirty="0">
              <a:solidFill>
                <a:srgbClr val="C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3CF0360-AFBB-46E9-8577-4FEEB0BC99CD}"/>
              </a:ext>
            </a:extLst>
          </p:cNvPr>
          <p:cNvCxnSpPr>
            <a:cxnSpLocks/>
          </p:cNvCxnSpPr>
          <p:nvPr/>
        </p:nvCxnSpPr>
        <p:spPr>
          <a:xfrm flipH="1">
            <a:off x="5330258" y="1685753"/>
            <a:ext cx="782009" cy="1796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0CC85568-DD93-494E-BE68-6479277AC9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6947" y="1959926"/>
            <a:ext cx="4206253" cy="255258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A58D2F0-B43F-4FB4-B589-1949467BE545}"/>
              </a:ext>
            </a:extLst>
          </p:cNvPr>
          <p:cNvSpPr/>
          <p:nvPr/>
        </p:nvSpPr>
        <p:spPr>
          <a:xfrm>
            <a:off x="2724732" y="2164376"/>
            <a:ext cx="3735607" cy="166086"/>
          </a:xfrm>
          <a:prstGeom prst="rect">
            <a:avLst/>
          </a:prstGeom>
          <a:solidFill>
            <a:srgbClr val="FFFF00">
              <a:alpha val="5098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5916CB2-06FC-492D-A4B1-10B43460D1C6}"/>
              </a:ext>
            </a:extLst>
          </p:cNvPr>
          <p:cNvSpPr/>
          <p:nvPr/>
        </p:nvSpPr>
        <p:spPr>
          <a:xfrm>
            <a:off x="4979509" y="1948871"/>
            <a:ext cx="587524" cy="166086"/>
          </a:xfrm>
          <a:prstGeom prst="rect">
            <a:avLst/>
          </a:prstGeom>
          <a:solidFill>
            <a:srgbClr val="FFFF00">
              <a:alpha val="5098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64576421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534;g60be7dcf1c_0_434">
            <a:extLst>
              <a:ext uri="{FF2B5EF4-FFF2-40B4-BE49-F238E27FC236}">
                <a16:creationId xmlns:a16="http://schemas.microsoft.com/office/drawing/2014/main" id="{A70BC1F3-82D5-47A8-8832-31E83FB440A7}"/>
              </a:ext>
            </a:extLst>
          </p:cNvPr>
          <p:cNvSpPr txBox="1"/>
          <p:nvPr/>
        </p:nvSpPr>
        <p:spPr>
          <a:xfrm>
            <a:off x="663529" y="4649059"/>
            <a:ext cx="8210999" cy="220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⇢ </a:t>
            </a:r>
            <a:r>
              <a:rPr lang="en-GB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Observation 1:</a:t>
            </a: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Different apps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have different flow size distributions.</a:t>
            </a:r>
          </a:p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⇢ </a:t>
            </a:r>
            <a:r>
              <a:rPr lang="en-GB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Observation 2: 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The transmission time of a flow depends on its </a:t>
            </a:r>
            <a:r>
              <a:rPr lang="en-GB" sz="1600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size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</a:p>
          <a:p>
            <a:pPr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⇢ </a:t>
            </a:r>
            <a:r>
              <a:rPr lang="en-GB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Observation 3:</a:t>
            </a: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For small flows, </a:t>
            </a:r>
            <a:r>
              <a:rPr lang="en-GB" sz="1600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flow completion time suffers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if </a:t>
            </a:r>
          </a:p>
          <a:p>
            <a:pPr>
              <a:lnSpc>
                <a:spcPct val="115000"/>
              </a:lnSpc>
            </a:pP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network needs to be </a:t>
            </a:r>
            <a:r>
              <a:rPr lang="en-GB" sz="1600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reconfigured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first.</a:t>
            </a:r>
          </a:p>
          <a:p>
            <a:pPr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⇢ </a:t>
            </a:r>
            <a:r>
              <a:rPr lang="en-GB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Observation 4:</a:t>
            </a: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For large flows, reconfiguration time may </a:t>
            </a:r>
            <a:r>
              <a:rPr lang="en-GB" sz="1600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amortize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 </a:t>
            </a:r>
          </a:p>
          <a:p>
            <a:pPr>
              <a:lnSpc>
                <a:spcPct val="115000"/>
              </a:lnSpc>
            </a:pP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</a:p>
          <a:p>
            <a:pPr>
              <a:lnSpc>
                <a:spcPct val="115000"/>
              </a:lnSpc>
            </a:pP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>
              <a:lnSpc>
                <a:spcPct val="115000"/>
              </a:lnSpc>
            </a:pP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>
              <a:lnSpc>
                <a:spcPct val="115000"/>
              </a:lnSpc>
            </a:pPr>
            <a:endParaRPr lang="de-DE"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" name="Google Shape;1309;g60be7dcf1c_0_222">
            <a:extLst>
              <a:ext uri="{FF2B5EF4-FFF2-40B4-BE49-F238E27FC236}">
                <a16:creationId xmlns:a16="http://schemas.microsoft.com/office/drawing/2014/main" id="{4DE19C73-9916-40CA-87D9-CC4934AE39A5}"/>
              </a:ext>
            </a:extLst>
          </p:cNvPr>
          <p:cNvSpPr txBox="1"/>
          <p:nvPr/>
        </p:nvSpPr>
        <p:spPr>
          <a:xfrm>
            <a:off x="0" y="540000"/>
            <a:ext cx="8170925" cy="55208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14" name="Google Shape;1288;g60be7dcf1c_0_204">
            <a:extLst>
              <a:ext uri="{FF2B5EF4-FFF2-40B4-BE49-F238E27FC236}">
                <a16:creationId xmlns:a16="http://schemas.microsoft.com/office/drawing/2014/main" id="{3A5A658B-C73C-468A-B47B-9E631F9C601D}"/>
              </a:ext>
            </a:extLst>
          </p:cNvPr>
          <p:cNvSpPr txBox="1">
            <a:spLocks/>
          </p:cNvSpPr>
          <p:nvPr/>
        </p:nvSpPr>
        <p:spPr>
          <a:xfrm>
            <a:off x="973075" y="149350"/>
            <a:ext cx="8171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lnSpc>
                <a:spcPct val="115000"/>
              </a:lnSpc>
              <a:buSzPts val="1100"/>
            </a:pPr>
            <a: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Flow Size Matters</a:t>
            </a:r>
            <a:endParaRPr lang="en-GB" sz="2000" dirty="0">
              <a:solidFill>
                <a:schemeClr val="tx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EC2C5C-11B6-4238-9CE4-418CBACFCAD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132</a:t>
            </a:fld>
            <a:endParaRPr lang="de-DE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3F41FB5-85DD-4205-B7C7-7DD88833F5B6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E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E9530C8-2883-496C-AA9C-6A8F448608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6947" y="1959926"/>
            <a:ext cx="4206253" cy="2552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57051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09;g60be7dcf1c_0_222">
            <a:extLst>
              <a:ext uri="{FF2B5EF4-FFF2-40B4-BE49-F238E27FC236}">
                <a16:creationId xmlns:a16="http://schemas.microsoft.com/office/drawing/2014/main" id="{4DE19C73-9916-40CA-87D9-CC4934AE39A5}"/>
              </a:ext>
            </a:extLst>
          </p:cNvPr>
          <p:cNvSpPr txBox="1"/>
          <p:nvPr/>
        </p:nvSpPr>
        <p:spPr>
          <a:xfrm>
            <a:off x="0" y="540000"/>
            <a:ext cx="8170925" cy="55208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14" name="Google Shape;1288;g60be7dcf1c_0_204">
            <a:extLst>
              <a:ext uri="{FF2B5EF4-FFF2-40B4-BE49-F238E27FC236}">
                <a16:creationId xmlns:a16="http://schemas.microsoft.com/office/drawing/2014/main" id="{3A5A658B-C73C-468A-B47B-9E631F9C601D}"/>
              </a:ext>
            </a:extLst>
          </p:cNvPr>
          <p:cNvSpPr txBox="1">
            <a:spLocks/>
          </p:cNvSpPr>
          <p:nvPr/>
        </p:nvSpPr>
        <p:spPr>
          <a:xfrm>
            <a:off x="973075" y="149350"/>
            <a:ext cx="8171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lnSpc>
                <a:spcPct val="115000"/>
              </a:lnSpc>
              <a:buSzPts val="1100"/>
            </a:pPr>
            <a: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Optimal: Cerberus</a:t>
            </a:r>
            <a:endParaRPr lang="en-GB" sz="2000" dirty="0">
              <a:solidFill>
                <a:schemeClr val="tx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7" name="Google Shape;1333;g60be7dcf1c_0_242">
            <a:extLst>
              <a:ext uri="{FF2B5EF4-FFF2-40B4-BE49-F238E27FC236}">
                <a16:creationId xmlns:a16="http://schemas.microsoft.com/office/drawing/2014/main" id="{9D2A14AB-D46C-4186-B829-FC294EB18C6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55376" b="19271"/>
          <a:stretch/>
        </p:blipFill>
        <p:spPr>
          <a:xfrm>
            <a:off x="709497" y="4164110"/>
            <a:ext cx="7134774" cy="1356377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334;g60be7dcf1c_0_242">
            <a:extLst>
              <a:ext uri="{FF2B5EF4-FFF2-40B4-BE49-F238E27FC236}">
                <a16:creationId xmlns:a16="http://schemas.microsoft.com/office/drawing/2014/main" id="{41094315-90A7-4832-94C9-E491B4820C83}"/>
              </a:ext>
            </a:extLst>
          </p:cNvPr>
          <p:cNvSpPr txBox="1"/>
          <p:nvPr/>
        </p:nvSpPr>
        <p:spPr>
          <a:xfrm>
            <a:off x="1057697" y="5474810"/>
            <a:ext cx="5892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" name="Google Shape;1335;g60be7dcf1c_0_242">
            <a:extLst>
              <a:ext uri="{FF2B5EF4-FFF2-40B4-BE49-F238E27FC236}">
                <a16:creationId xmlns:a16="http://schemas.microsoft.com/office/drawing/2014/main" id="{AA8571DF-E5A4-4C54-BEC3-A84AB098EB68}"/>
              </a:ext>
            </a:extLst>
          </p:cNvPr>
          <p:cNvSpPr txBox="1"/>
          <p:nvPr/>
        </p:nvSpPr>
        <p:spPr>
          <a:xfrm>
            <a:off x="1901872" y="5474810"/>
            <a:ext cx="5892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" name="Google Shape;1336;g60be7dcf1c_0_242">
            <a:extLst>
              <a:ext uri="{FF2B5EF4-FFF2-40B4-BE49-F238E27FC236}">
                <a16:creationId xmlns:a16="http://schemas.microsoft.com/office/drawing/2014/main" id="{2E61A26F-39EA-4893-BD82-5424BEE73771}"/>
              </a:ext>
            </a:extLst>
          </p:cNvPr>
          <p:cNvSpPr txBox="1"/>
          <p:nvPr/>
        </p:nvSpPr>
        <p:spPr>
          <a:xfrm>
            <a:off x="2746047" y="5474810"/>
            <a:ext cx="5892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" name="Google Shape;1337;g60be7dcf1c_0_242">
            <a:extLst>
              <a:ext uri="{FF2B5EF4-FFF2-40B4-BE49-F238E27FC236}">
                <a16:creationId xmlns:a16="http://schemas.microsoft.com/office/drawing/2014/main" id="{CAC8192C-B97B-4540-B474-922A73090015}"/>
              </a:ext>
            </a:extLst>
          </p:cNvPr>
          <p:cNvSpPr txBox="1"/>
          <p:nvPr/>
        </p:nvSpPr>
        <p:spPr>
          <a:xfrm>
            <a:off x="3563022" y="5474810"/>
            <a:ext cx="6279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" name="Google Shape;1338;g60be7dcf1c_0_242">
            <a:extLst>
              <a:ext uri="{FF2B5EF4-FFF2-40B4-BE49-F238E27FC236}">
                <a16:creationId xmlns:a16="http://schemas.microsoft.com/office/drawing/2014/main" id="{06F92845-E17C-415B-A31A-53426C61CEEF}"/>
              </a:ext>
            </a:extLst>
          </p:cNvPr>
          <p:cNvSpPr txBox="1"/>
          <p:nvPr/>
        </p:nvSpPr>
        <p:spPr>
          <a:xfrm>
            <a:off x="4418697" y="5474810"/>
            <a:ext cx="5892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" name="Google Shape;1339;g60be7dcf1c_0_242">
            <a:extLst>
              <a:ext uri="{FF2B5EF4-FFF2-40B4-BE49-F238E27FC236}">
                <a16:creationId xmlns:a16="http://schemas.microsoft.com/office/drawing/2014/main" id="{A514D908-BDF2-4EFC-91B5-6F22340181D0}"/>
              </a:ext>
            </a:extLst>
          </p:cNvPr>
          <p:cNvSpPr txBox="1"/>
          <p:nvPr/>
        </p:nvSpPr>
        <p:spPr>
          <a:xfrm>
            <a:off x="5235672" y="5474810"/>
            <a:ext cx="5892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6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" name="Google Shape;1340;g60be7dcf1c_0_242">
            <a:extLst>
              <a:ext uri="{FF2B5EF4-FFF2-40B4-BE49-F238E27FC236}">
                <a16:creationId xmlns:a16="http://schemas.microsoft.com/office/drawing/2014/main" id="{AEB6511B-A494-4AD8-909E-F74EB2051AEE}"/>
              </a:ext>
            </a:extLst>
          </p:cNvPr>
          <p:cNvSpPr txBox="1"/>
          <p:nvPr/>
        </p:nvSpPr>
        <p:spPr>
          <a:xfrm>
            <a:off x="6091347" y="5474810"/>
            <a:ext cx="5505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7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" name="Google Shape;1341;g60be7dcf1c_0_242">
            <a:extLst>
              <a:ext uri="{FF2B5EF4-FFF2-40B4-BE49-F238E27FC236}">
                <a16:creationId xmlns:a16="http://schemas.microsoft.com/office/drawing/2014/main" id="{84A465A6-0E9F-4BA5-9EB1-A1728D3DD470}"/>
              </a:ext>
            </a:extLst>
          </p:cNvPr>
          <p:cNvSpPr txBox="1"/>
          <p:nvPr/>
        </p:nvSpPr>
        <p:spPr>
          <a:xfrm>
            <a:off x="6908322" y="5452285"/>
            <a:ext cx="5892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" name="Freeform 8">
            <a:extLst>
              <a:ext uri="{FF2B5EF4-FFF2-40B4-BE49-F238E27FC236}">
                <a16:creationId xmlns:a16="http://schemas.microsoft.com/office/drawing/2014/main" id="{0AA18176-289A-465F-8516-39B68297D09A}"/>
              </a:ext>
            </a:extLst>
          </p:cNvPr>
          <p:cNvSpPr/>
          <p:nvPr/>
        </p:nvSpPr>
        <p:spPr>
          <a:xfrm>
            <a:off x="1681604" y="1949856"/>
            <a:ext cx="5468558" cy="1207677"/>
          </a:xfrm>
          <a:custGeom>
            <a:avLst/>
            <a:gdLst>
              <a:gd name="connsiteX0" fmla="*/ 0 w 2651765"/>
              <a:gd name="connsiteY0" fmla="*/ 368262 h 2209528"/>
              <a:gd name="connsiteX1" fmla="*/ 368262 w 2651765"/>
              <a:gd name="connsiteY1" fmla="*/ 0 h 2209528"/>
              <a:gd name="connsiteX2" fmla="*/ 2283503 w 2651765"/>
              <a:gd name="connsiteY2" fmla="*/ 0 h 2209528"/>
              <a:gd name="connsiteX3" fmla="*/ 2651765 w 2651765"/>
              <a:gd name="connsiteY3" fmla="*/ 368262 h 2209528"/>
              <a:gd name="connsiteX4" fmla="*/ 2651765 w 2651765"/>
              <a:gd name="connsiteY4" fmla="*/ 1841266 h 2209528"/>
              <a:gd name="connsiteX5" fmla="*/ 2283503 w 2651765"/>
              <a:gd name="connsiteY5" fmla="*/ 2209528 h 2209528"/>
              <a:gd name="connsiteX6" fmla="*/ 368262 w 2651765"/>
              <a:gd name="connsiteY6" fmla="*/ 2209528 h 2209528"/>
              <a:gd name="connsiteX7" fmla="*/ 0 w 2651765"/>
              <a:gd name="connsiteY7" fmla="*/ 1841266 h 2209528"/>
              <a:gd name="connsiteX8" fmla="*/ 0 w 2651765"/>
              <a:gd name="connsiteY8" fmla="*/ 368262 h 2209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51765" h="2209528">
                <a:moveTo>
                  <a:pt x="0" y="368262"/>
                </a:moveTo>
                <a:cubicBezTo>
                  <a:pt x="0" y="164877"/>
                  <a:pt x="164877" y="0"/>
                  <a:pt x="368262" y="0"/>
                </a:cubicBezTo>
                <a:lnTo>
                  <a:pt x="2283503" y="0"/>
                </a:lnTo>
                <a:cubicBezTo>
                  <a:pt x="2486888" y="0"/>
                  <a:pt x="2651765" y="164877"/>
                  <a:pt x="2651765" y="368262"/>
                </a:cubicBezTo>
                <a:lnTo>
                  <a:pt x="2651765" y="1841266"/>
                </a:lnTo>
                <a:cubicBezTo>
                  <a:pt x="2651765" y="2044651"/>
                  <a:pt x="2486888" y="2209528"/>
                  <a:pt x="2283503" y="2209528"/>
                </a:cubicBezTo>
                <a:lnTo>
                  <a:pt x="368262" y="2209528"/>
                </a:lnTo>
                <a:cubicBezTo>
                  <a:pt x="164877" y="2209528"/>
                  <a:pt x="0" y="2044651"/>
                  <a:pt x="0" y="1841266"/>
                </a:cubicBezTo>
                <a:lnTo>
                  <a:pt x="0" y="368262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48830" tIns="248830" rIns="248830" bIns="248830" numCol="1" spcCol="1270" anchor="ctr" anchorCtr="0">
            <a:noAutofit/>
          </a:bodyPr>
          <a:lstStyle/>
          <a:p>
            <a:pPr algn="ctr"/>
            <a:r>
              <a:rPr lang="de-DE" sz="1800" b="1" dirty="0">
                <a:solidFill>
                  <a:schemeClr val="tx1"/>
                </a:solidFill>
                <a:latin typeface="Consolas" panose="020B0609020204030204" pitchFamily="49" charset="0"/>
              </a:rPr>
              <a:t>Optical Switches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CAB9C16-37A9-43F6-88BC-9621E4D0345E}"/>
              </a:ext>
            </a:extLst>
          </p:cNvPr>
          <p:cNvCxnSpPr/>
          <p:nvPr/>
        </p:nvCxnSpPr>
        <p:spPr>
          <a:xfrm flipV="1">
            <a:off x="1391672" y="3194332"/>
            <a:ext cx="825190" cy="9697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8631F36-4EAF-4E17-B82A-6ED1862B81B0}"/>
              </a:ext>
            </a:extLst>
          </p:cNvPr>
          <p:cNvCxnSpPr>
            <a:cxnSpLocks/>
          </p:cNvCxnSpPr>
          <p:nvPr/>
        </p:nvCxnSpPr>
        <p:spPr>
          <a:xfrm flipV="1">
            <a:off x="2216862" y="3194332"/>
            <a:ext cx="347918" cy="9697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1706AE3-EFC4-46DD-A2A4-6627D7DF5405}"/>
              </a:ext>
            </a:extLst>
          </p:cNvPr>
          <p:cNvCxnSpPr>
            <a:cxnSpLocks/>
          </p:cNvCxnSpPr>
          <p:nvPr/>
        </p:nvCxnSpPr>
        <p:spPr>
          <a:xfrm flipV="1">
            <a:off x="3042052" y="3194332"/>
            <a:ext cx="138276" cy="9697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C7800FD-6F5B-45AB-BA9B-8D78122CB838}"/>
              </a:ext>
            </a:extLst>
          </p:cNvPr>
          <p:cNvCxnSpPr>
            <a:cxnSpLocks/>
          </p:cNvCxnSpPr>
          <p:nvPr/>
        </p:nvCxnSpPr>
        <p:spPr>
          <a:xfrm flipV="1">
            <a:off x="3827099" y="3157533"/>
            <a:ext cx="55142" cy="10065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D964B92-CF99-4466-883C-DE614D3D9401}"/>
              </a:ext>
            </a:extLst>
          </p:cNvPr>
          <p:cNvCxnSpPr>
            <a:cxnSpLocks/>
          </p:cNvCxnSpPr>
          <p:nvPr/>
        </p:nvCxnSpPr>
        <p:spPr>
          <a:xfrm flipH="1" flipV="1">
            <a:off x="4634447" y="3157533"/>
            <a:ext cx="75828" cy="10065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3C324BC-8E0E-4330-B120-12E7F57EF53A}"/>
              </a:ext>
            </a:extLst>
          </p:cNvPr>
          <p:cNvCxnSpPr>
            <a:cxnSpLocks/>
          </p:cNvCxnSpPr>
          <p:nvPr/>
        </p:nvCxnSpPr>
        <p:spPr>
          <a:xfrm flipH="1" flipV="1">
            <a:off x="5249995" y="3157533"/>
            <a:ext cx="346440" cy="10433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FBB79C7-3F32-4199-B92E-B7F0C40D16CC}"/>
              </a:ext>
            </a:extLst>
          </p:cNvPr>
          <p:cNvCxnSpPr>
            <a:cxnSpLocks/>
          </p:cNvCxnSpPr>
          <p:nvPr/>
        </p:nvCxnSpPr>
        <p:spPr>
          <a:xfrm flipH="1" flipV="1">
            <a:off x="6040241" y="3150648"/>
            <a:ext cx="346440" cy="10433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1E553DF-C3FA-4E83-B6DF-C2EB3408596A}"/>
              </a:ext>
            </a:extLst>
          </p:cNvPr>
          <p:cNvCxnSpPr>
            <a:cxnSpLocks/>
          </p:cNvCxnSpPr>
          <p:nvPr/>
        </p:nvCxnSpPr>
        <p:spPr>
          <a:xfrm flipH="1" flipV="1">
            <a:off x="6548750" y="3157534"/>
            <a:ext cx="666828" cy="103649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074" name="Picture 2" descr="https://upload.wikimedia.org/wikipedia/commons/1/1a/Herakles_Kerberos_Eurystheus_Louvre_E701.jpg">
            <a:extLst>
              <a:ext uri="{FF2B5EF4-FFF2-40B4-BE49-F238E27FC236}">
                <a16:creationId xmlns:a16="http://schemas.microsoft.com/office/drawing/2014/main" id="{B0EADB3E-20B5-41F6-8B8A-52050E3D0D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7211" y="131800"/>
            <a:ext cx="2074120" cy="1575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F7B8A2-17B3-43CC-A2F6-DF7B1D72F7A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366597" y="6445689"/>
            <a:ext cx="2133600" cy="365100"/>
          </a:xfrm>
        </p:spPr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133</a:t>
            </a:fld>
            <a:endParaRPr lang="de-DE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80FF5A6-4D3C-49E1-B2C2-393CBF05FC8E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E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441678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09;g60be7dcf1c_0_222">
            <a:extLst>
              <a:ext uri="{FF2B5EF4-FFF2-40B4-BE49-F238E27FC236}">
                <a16:creationId xmlns:a16="http://schemas.microsoft.com/office/drawing/2014/main" id="{4DE19C73-9916-40CA-87D9-CC4934AE39A5}"/>
              </a:ext>
            </a:extLst>
          </p:cNvPr>
          <p:cNvSpPr txBox="1"/>
          <p:nvPr/>
        </p:nvSpPr>
        <p:spPr>
          <a:xfrm>
            <a:off x="0" y="540000"/>
            <a:ext cx="8170925" cy="55208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14" name="Google Shape;1288;g60be7dcf1c_0_204">
            <a:extLst>
              <a:ext uri="{FF2B5EF4-FFF2-40B4-BE49-F238E27FC236}">
                <a16:creationId xmlns:a16="http://schemas.microsoft.com/office/drawing/2014/main" id="{3A5A658B-C73C-468A-B47B-9E631F9C601D}"/>
              </a:ext>
            </a:extLst>
          </p:cNvPr>
          <p:cNvSpPr txBox="1">
            <a:spLocks/>
          </p:cNvSpPr>
          <p:nvPr/>
        </p:nvSpPr>
        <p:spPr>
          <a:xfrm>
            <a:off x="973075" y="149350"/>
            <a:ext cx="8171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lnSpc>
                <a:spcPct val="115000"/>
              </a:lnSpc>
              <a:buSzPts val="1100"/>
            </a:pPr>
            <a: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Optimal: Cerberus</a:t>
            </a:r>
            <a:endParaRPr lang="en-GB" sz="2000" dirty="0">
              <a:solidFill>
                <a:schemeClr val="tx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algn="l">
              <a:lnSpc>
                <a:spcPct val="115000"/>
              </a:lnSpc>
              <a:buSzPts val="1100"/>
            </a:pPr>
            <a:endParaRPr lang="en-GB" sz="2000" dirty="0">
              <a:solidFill>
                <a:schemeClr val="tx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7" name="Google Shape;1333;g60be7dcf1c_0_242">
            <a:extLst>
              <a:ext uri="{FF2B5EF4-FFF2-40B4-BE49-F238E27FC236}">
                <a16:creationId xmlns:a16="http://schemas.microsoft.com/office/drawing/2014/main" id="{9D2A14AB-D46C-4186-B829-FC294EB18C6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55376" b="19271"/>
          <a:stretch/>
        </p:blipFill>
        <p:spPr>
          <a:xfrm>
            <a:off x="709497" y="4164110"/>
            <a:ext cx="7134774" cy="1356377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334;g60be7dcf1c_0_242">
            <a:extLst>
              <a:ext uri="{FF2B5EF4-FFF2-40B4-BE49-F238E27FC236}">
                <a16:creationId xmlns:a16="http://schemas.microsoft.com/office/drawing/2014/main" id="{41094315-90A7-4832-94C9-E491B4820C83}"/>
              </a:ext>
            </a:extLst>
          </p:cNvPr>
          <p:cNvSpPr txBox="1"/>
          <p:nvPr/>
        </p:nvSpPr>
        <p:spPr>
          <a:xfrm>
            <a:off x="1057697" y="5474810"/>
            <a:ext cx="5892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" name="Google Shape;1335;g60be7dcf1c_0_242">
            <a:extLst>
              <a:ext uri="{FF2B5EF4-FFF2-40B4-BE49-F238E27FC236}">
                <a16:creationId xmlns:a16="http://schemas.microsoft.com/office/drawing/2014/main" id="{AA8571DF-E5A4-4C54-BEC3-A84AB098EB68}"/>
              </a:ext>
            </a:extLst>
          </p:cNvPr>
          <p:cNvSpPr txBox="1"/>
          <p:nvPr/>
        </p:nvSpPr>
        <p:spPr>
          <a:xfrm>
            <a:off x="1901872" y="5474810"/>
            <a:ext cx="5892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" name="Google Shape;1336;g60be7dcf1c_0_242">
            <a:extLst>
              <a:ext uri="{FF2B5EF4-FFF2-40B4-BE49-F238E27FC236}">
                <a16:creationId xmlns:a16="http://schemas.microsoft.com/office/drawing/2014/main" id="{2E61A26F-39EA-4893-BD82-5424BEE73771}"/>
              </a:ext>
            </a:extLst>
          </p:cNvPr>
          <p:cNvSpPr txBox="1"/>
          <p:nvPr/>
        </p:nvSpPr>
        <p:spPr>
          <a:xfrm>
            <a:off x="2746047" y="5474810"/>
            <a:ext cx="5892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" name="Google Shape;1337;g60be7dcf1c_0_242">
            <a:extLst>
              <a:ext uri="{FF2B5EF4-FFF2-40B4-BE49-F238E27FC236}">
                <a16:creationId xmlns:a16="http://schemas.microsoft.com/office/drawing/2014/main" id="{CAC8192C-B97B-4540-B474-922A73090015}"/>
              </a:ext>
            </a:extLst>
          </p:cNvPr>
          <p:cNvSpPr txBox="1"/>
          <p:nvPr/>
        </p:nvSpPr>
        <p:spPr>
          <a:xfrm>
            <a:off x="3563022" y="5474810"/>
            <a:ext cx="6279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" name="Google Shape;1338;g60be7dcf1c_0_242">
            <a:extLst>
              <a:ext uri="{FF2B5EF4-FFF2-40B4-BE49-F238E27FC236}">
                <a16:creationId xmlns:a16="http://schemas.microsoft.com/office/drawing/2014/main" id="{06F92845-E17C-415B-A31A-53426C61CEEF}"/>
              </a:ext>
            </a:extLst>
          </p:cNvPr>
          <p:cNvSpPr txBox="1"/>
          <p:nvPr/>
        </p:nvSpPr>
        <p:spPr>
          <a:xfrm>
            <a:off x="4418697" y="5474810"/>
            <a:ext cx="5892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" name="Google Shape;1339;g60be7dcf1c_0_242">
            <a:extLst>
              <a:ext uri="{FF2B5EF4-FFF2-40B4-BE49-F238E27FC236}">
                <a16:creationId xmlns:a16="http://schemas.microsoft.com/office/drawing/2014/main" id="{A514D908-BDF2-4EFC-91B5-6F22340181D0}"/>
              </a:ext>
            </a:extLst>
          </p:cNvPr>
          <p:cNvSpPr txBox="1"/>
          <p:nvPr/>
        </p:nvSpPr>
        <p:spPr>
          <a:xfrm>
            <a:off x="5235672" y="5474810"/>
            <a:ext cx="5892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6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" name="Google Shape;1340;g60be7dcf1c_0_242">
            <a:extLst>
              <a:ext uri="{FF2B5EF4-FFF2-40B4-BE49-F238E27FC236}">
                <a16:creationId xmlns:a16="http://schemas.microsoft.com/office/drawing/2014/main" id="{AEB6511B-A494-4AD8-909E-F74EB2051AEE}"/>
              </a:ext>
            </a:extLst>
          </p:cNvPr>
          <p:cNvSpPr txBox="1"/>
          <p:nvPr/>
        </p:nvSpPr>
        <p:spPr>
          <a:xfrm>
            <a:off x="6091347" y="5474810"/>
            <a:ext cx="5505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7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" name="Google Shape;1341;g60be7dcf1c_0_242">
            <a:extLst>
              <a:ext uri="{FF2B5EF4-FFF2-40B4-BE49-F238E27FC236}">
                <a16:creationId xmlns:a16="http://schemas.microsoft.com/office/drawing/2014/main" id="{84A465A6-0E9F-4BA5-9EB1-A1728D3DD470}"/>
              </a:ext>
            </a:extLst>
          </p:cNvPr>
          <p:cNvSpPr txBox="1"/>
          <p:nvPr/>
        </p:nvSpPr>
        <p:spPr>
          <a:xfrm>
            <a:off x="6908322" y="5452285"/>
            <a:ext cx="5892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" name="Freeform 8">
            <a:extLst>
              <a:ext uri="{FF2B5EF4-FFF2-40B4-BE49-F238E27FC236}">
                <a16:creationId xmlns:a16="http://schemas.microsoft.com/office/drawing/2014/main" id="{0AA18176-289A-465F-8516-39B68297D09A}"/>
              </a:ext>
            </a:extLst>
          </p:cNvPr>
          <p:cNvSpPr/>
          <p:nvPr/>
        </p:nvSpPr>
        <p:spPr>
          <a:xfrm>
            <a:off x="1681604" y="1949856"/>
            <a:ext cx="5468558" cy="1207677"/>
          </a:xfrm>
          <a:custGeom>
            <a:avLst/>
            <a:gdLst>
              <a:gd name="connsiteX0" fmla="*/ 0 w 2651765"/>
              <a:gd name="connsiteY0" fmla="*/ 368262 h 2209528"/>
              <a:gd name="connsiteX1" fmla="*/ 368262 w 2651765"/>
              <a:gd name="connsiteY1" fmla="*/ 0 h 2209528"/>
              <a:gd name="connsiteX2" fmla="*/ 2283503 w 2651765"/>
              <a:gd name="connsiteY2" fmla="*/ 0 h 2209528"/>
              <a:gd name="connsiteX3" fmla="*/ 2651765 w 2651765"/>
              <a:gd name="connsiteY3" fmla="*/ 368262 h 2209528"/>
              <a:gd name="connsiteX4" fmla="*/ 2651765 w 2651765"/>
              <a:gd name="connsiteY4" fmla="*/ 1841266 h 2209528"/>
              <a:gd name="connsiteX5" fmla="*/ 2283503 w 2651765"/>
              <a:gd name="connsiteY5" fmla="*/ 2209528 h 2209528"/>
              <a:gd name="connsiteX6" fmla="*/ 368262 w 2651765"/>
              <a:gd name="connsiteY6" fmla="*/ 2209528 h 2209528"/>
              <a:gd name="connsiteX7" fmla="*/ 0 w 2651765"/>
              <a:gd name="connsiteY7" fmla="*/ 1841266 h 2209528"/>
              <a:gd name="connsiteX8" fmla="*/ 0 w 2651765"/>
              <a:gd name="connsiteY8" fmla="*/ 368262 h 2209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51765" h="2209528">
                <a:moveTo>
                  <a:pt x="0" y="368262"/>
                </a:moveTo>
                <a:cubicBezTo>
                  <a:pt x="0" y="164877"/>
                  <a:pt x="164877" y="0"/>
                  <a:pt x="368262" y="0"/>
                </a:cubicBezTo>
                <a:lnTo>
                  <a:pt x="2283503" y="0"/>
                </a:lnTo>
                <a:cubicBezTo>
                  <a:pt x="2486888" y="0"/>
                  <a:pt x="2651765" y="164877"/>
                  <a:pt x="2651765" y="368262"/>
                </a:cubicBezTo>
                <a:lnTo>
                  <a:pt x="2651765" y="1841266"/>
                </a:lnTo>
                <a:cubicBezTo>
                  <a:pt x="2651765" y="2044651"/>
                  <a:pt x="2486888" y="2209528"/>
                  <a:pt x="2283503" y="2209528"/>
                </a:cubicBezTo>
                <a:lnTo>
                  <a:pt x="368262" y="2209528"/>
                </a:lnTo>
                <a:cubicBezTo>
                  <a:pt x="164877" y="2209528"/>
                  <a:pt x="0" y="2044651"/>
                  <a:pt x="0" y="1841266"/>
                </a:cubicBezTo>
                <a:lnTo>
                  <a:pt x="0" y="368262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48830" tIns="248830" rIns="248830" bIns="248830" numCol="1" spcCol="1270" anchor="ctr" anchorCtr="0">
            <a:noAutofit/>
          </a:bodyPr>
          <a:lstStyle/>
          <a:p>
            <a:pPr algn="ctr"/>
            <a:endParaRPr lang="de-DE" sz="1800" b="1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CAB9C16-37A9-43F6-88BC-9621E4D0345E}"/>
              </a:ext>
            </a:extLst>
          </p:cNvPr>
          <p:cNvCxnSpPr/>
          <p:nvPr/>
        </p:nvCxnSpPr>
        <p:spPr>
          <a:xfrm flipV="1">
            <a:off x="1391672" y="3194332"/>
            <a:ext cx="825190" cy="9697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8631F36-4EAF-4E17-B82A-6ED1862B81B0}"/>
              </a:ext>
            </a:extLst>
          </p:cNvPr>
          <p:cNvCxnSpPr>
            <a:cxnSpLocks/>
          </p:cNvCxnSpPr>
          <p:nvPr/>
        </p:nvCxnSpPr>
        <p:spPr>
          <a:xfrm flipV="1">
            <a:off x="2216862" y="3194332"/>
            <a:ext cx="347918" cy="9697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1706AE3-EFC4-46DD-A2A4-6627D7DF5405}"/>
              </a:ext>
            </a:extLst>
          </p:cNvPr>
          <p:cNvCxnSpPr>
            <a:cxnSpLocks/>
          </p:cNvCxnSpPr>
          <p:nvPr/>
        </p:nvCxnSpPr>
        <p:spPr>
          <a:xfrm flipV="1">
            <a:off x="3042052" y="3194332"/>
            <a:ext cx="138276" cy="9697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C7800FD-6F5B-45AB-BA9B-8D78122CB838}"/>
              </a:ext>
            </a:extLst>
          </p:cNvPr>
          <p:cNvCxnSpPr>
            <a:cxnSpLocks/>
          </p:cNvCxnSpPr>
          <p:nvPr/>
        </p:nvCxnSpPr>
        <p:spPr>
          <a:xfrm flipV="1">
            <a:off x="3827099" y="3157533"/>
            <a:ext cx="55142" cy="10065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D964B92-CF99-4466-883C-DE614D3D9401}"/>
              </a:ext>
            </a:extLst>
          </p:cNvPr>
          <p:cNvCxnSpPr>
            <a:cxnSpLocks/>
          </p:cNvCxnSpPr>
          <p:nvPr/>
        </p:nvCxnSpPr>
        <p:spPr>
          <a:xfrm flipH="1" flipV="1">
            <a:off x="4634447" y="3157533"/>
            <a:ext cx="75828" cy="10065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3C324BC-8E0E-4330-B120-12E7F57EF53A}"/>
              </a:ext>
            </a:extLst>
          </p:cNvPr>
          <p:cNvCxnSpPr>
            <a:cxnSpLocks/>
          </p:cNvCxnSpPr>
          <p:nvPr/>
        </p:nvCxnSpPr>
        <p:spPr>
          <a:xfrm flipH="1" flipV="1">
            <a:off x="5249995" y="3157533"/>
            <a:ext cx="346440" cy="10433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FBB79C7-3F32-4199-B92E-B7F0C40D16CC}"/>
              </a:ext>
            </a:extLst>
          </p:cNvPr>
          <p:cNvCxnSpPr>
            <a:cxnSpLocks/>
          </p:cNvCxnSpPr>
          <p:nvPr/>
        </p:nvCxnSpPr>
        <p:spPr>
          <a:xfrm flipH="1" flipV="1">
            <a:off x="6040241" y="3150648"/>
            <a:ext cx="346440" cy="10433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1E553DF-C3FA-4E83-B6DF-C2EB3408596A}"/>
              </a:ext>
            </a:extLst>
          </p:cNvPr>
          <p:cNvCxnSpPr>
            <a:cxnSpLocks/>
          </p:cNvCxnSpPr>
          <p:nvPr/>
        </p:nvCxnSpPr>
        <p:spPr>
          <a:xfrm flipH="1" flipV="1">
            <a:off x="6548750" y="3157534"/>
            <a:ext cx="666828" cy="103649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Freeform 8">
            <a:extLst>
              <a:ext uri="{FF2B5EF4-FFF2-40B4-BE49-F238E27FC236}">
                <a16:creationId xmlns:a16="http://schemas.microsoft.com/office/drawing/2014/main" id="{6AA18E59-A28F-4BEE-A76F-EAC61BFBEA74}"/>
              </a:ext>
            </a:extLst>
          </p:cNvPr>
          <p:cNvSpPr/>
          <p:nvPr/>
        </p:nvSpPr>
        <p:spPr>
          <a:xfrm>
            <a:off x="1947553" y="2094953"/>
            <a:ext cx="1501243" cy="859053"/>
          </a:xfrm>
          <a:custGeom>
            <a:avLst/>
            <a:gdLst>
              <a:gd name="connsiteX0" fmla="*/ 0 w 2651765"/>
              <a:gd name="connsiteY0" fmla="*/ 368262 h 2209528"/>
              <a:gd name="connsiteX1" fmla="*/ 368262 w 2651765"/>
              <a:gd name="connsiteY1" fmla="*/ 0 h 2209528"/>
              <a:gd name="connsiteX2" fmla="*/ 2283503 w 2651765"/>
              <a:gd name="connsiteY2" fmla="*/ 0 h 2209528"/>
              <a:gd name="connsiteX3" fmla="*/ 2651765 w 2651765"/>
              <a:gd name="connsiteY3" fmla="*/ 368262 h 2209528"/>
              <a:gd name="connsiteX4" fmla="*/ 2651765 w 2651765"/>
              <a:gd name="connsiteY4" fmla="*/ 1841266 h 2209528"/>
              <a:gd name="connsiteX5" fmla="*/ 2283503 w 2651765"/>
              <a:gd name="connsiteY5" fmla="*/ 2209528 h 2209528"/>
              <a:gd name="connsiteX6" fmla="*/ 368262 w 2651765"/>
              <a:gd name="connsiteY6" fmla="*/ 2209528 h 2209528"/>
              <a:gd name="connsiteX7" fmla="*/ 0 w 2651765"/>
              <a:gd name="connsiteY7" fmla="*/ 1841266 h 2209528"/>
              <a:gd name="connsiteX8" fmla="*/ 0 w 2651765"/>
              <a:gd name="connsiteY8" fmla="*/ 368262 h 2209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51765" h="2209528">
                <a:moveTo>
                  <a:pt x="0" y="368262"/>
                </a:moveTo>
                <a:cubicBezTo>
                  <a:pt x="0" y="164877"/>
                  <a:pt x="164877" y="0"/>
                  <a:pt x="368262" y="0"/>
                </a:cubicBezTo>
                <a:lnTo>
                  <a:pt x="2283503" y="0"/>
                </a:lnTo>
                <a:cubicBezTo>
                  <a:pt x="2486888" y="0"/>
                  <a:pt x="2651765" y="164877"/>
                  <a:pt x="2651765" y="368262"/>
                </a:cubicBezTo>
                <a:lnTo>
                  <a:pt x="2651765" y="1841266"/>
                </a:lnTo>
                <a:cubicBezTo>
                  <a:pt x="2651765" y="2044651"/>
                  <a:pt x="2486888" y="2209528"/>
                  <a:pt x="2283503" y="2209528"/>
                </a:cubicBezTo>
                <a:lnTo>
                  <a:pt x="368262" y="2209528"/>
                </a:lnTo>
                <a:cubicBezTo>
                  <a:pt x="164877" y="2209528"/>
                  <a:pt x="0" y="2044651"/>
                  <a:pt x="0" y="1841266"/>
                </a:cubicBezTo>
                <a:lnTo>
                  <a:pt x="0" y="368262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48830" tIns="248830" rIns="248830" bIns="248830" numCol="1" spcCol="1270" anchor="ctr" anchorCtr="0">
            <a:noAutofit/>
          </a:bodyPr>
          <a:lstStyle/>
          <a:p>
            <a:pPr algn="ctr"/>
            <a:endParaRPr lang="de-DE" sz="1800" b="1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8" name="Freeform 8">
            <a:extLst>
              <a:ext uri="{FF2B5EF4-FFF2-40B4-BE49-F238E27FC236}">
                <a16:creationId xmlns:a16="http://schemas.microsoft.com/office/drawing/2014/main" id="{8039DA2F-13A2-4C83-85B2-D986CB2C9A10}"/>
              </a:ext>
            </a:extLst>
          </p:cNvPr>
          <p:cNvSpPr/>
          <p:nvPr/>
        </p:nvSpPr>
        <p:spPr>
          <a:xfrm>
            <a:off x="3553849" y="2099653"/>
            <a:ext cx="1501243" cy="859053"/>
          </a:xfrm>
          <a:custGeom>
            <a:avLst/>
            <a:gdLst>
              <a:gd name="connsiteX0" fmla="*/ 0 w 2651765"/>
              <a:gd name="connsiteY0" fmla="*/ 368262 h 2209528"/>
              <a:gd name="connsiteX1" fmla="*/ 368262 w 2651765"/>
              <a:gd name="connsiteY1" fmla="*/ 0 h 2209528"/>
              <a:gd name="connsiteX2" fmla="*/ 2283503 w 2651765"/>
              <a:gd name="connsiteY2" fmla="*/ 0 h 2209528"/>
              <a:gd name="connsiteX3" fmla="*/ 2651765 w 2651765"/>
              <a:gd name="connsiteY3" fmla="*/ 368262 h 2209528"/>
              <a:gd name="connsiteX4" fmla="*/ 2651765 w 2651765"/>
              <a:gd name="connsiteY4" fmla="*/ 1841266 h 2209528"/>
              <a:gd name="connsiteX5" fmla="*/ 2283503 w 2651765"/>
              <a:gd name="connsiteY5" fmla="*/ 2209528 h 2209528"/>
              <a:gd name="connsiteX6" fmla="*/ 368262 w 2651765"/>
              <a:gd name="connsiteY6" fmla="*/ 2209528 h 2209528"/>
              <a:gd name="connsiteX7" fmla="*/ 0 w 2651765"/>
              <a:gd name="connsiteY7" fmla="*/ 1841266 h 2209528"/>
              <a:gd name="connsiteX8" fmla="*/ 0 w 2651765"/>
              <a:gd name="connsiteY8" fmla="*/ 368262 h 2209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51765" h="2209528">
                <a:moveTo>
                  <a:pt x="0" y="368262"/>
                </a:moveTo>
                <a:cubicBezTo>
                  <a:pt x="0" y="164877"/>
                  <a:pt x="164877" y="0"/>
                  <a:pt x="368262" y="0"/>
                </a:cubicBezTo>
                <a:lnTo>
                  <a:pt x="2283503" y="0"/>
                </a:lnTo>
                <a:cubicBezTo>
                  <a:pt x="2486888" y="0"/>
                  <a:pt x="2651765" y="164877"/>
                  <a:pt x="2651765" y="368262"/>
                </a:cubicBezTo>
                <a:lnTo>
                  <a:pt x="2651765" y="1841266"/>
                </a:lnTo>
                <a:cubicBezTo>
                  <a:pt x="2651765" y="2044651"/>
                  <a:pt x="2486888" y="2209528"/>
                  <a:pt x="2283503" y="2209528"/>
                </a:cubicBezTo>
                <a:lnTo>
                  <a:pt x="368262" y="2209528"/>
                </a:lnTo>
                <a:cubicBezTo>
                  <a:pt x="164877" y="2209528"/>
                  <a:pt x="0" y="2044651"/>
                  <a:pt x="0" y="1841266"/>
                </a:cubicBezTo>
                <a:lnTo>
                  <a:pt x="0" y="368262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48830" tIns="248830" rIns="248830" bIns="248830" numCol="1" spcCol="1270" anchor="ctr" anchorCtr="0">
            <a:noAutofit/>
          </a:bodyPr>
          <a:lstStyle/>
          <a:p>
            <a:pPr algn="ctr"/>
            <a:endParaRPr lang="de-DE" sz="1800" b="1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Freeform 8">
            <a:extLst>
              <a:ext uri="{FF2B5EF4-FFF2-40B4-BE49-F238E27FC236}">
                <a16:creationId xmlns:a16="http://schemas.microsoft.com/office/drawing/2014/main" id="{082DD5A5-4C9E-4F8E-B02F-6601A6DD0A27}"/>
              </a:ext>
            </a:extLst>
          </p:cNvPr>
          <p:cNvSpPr/>
          <p:nvPr/>
        </p:nvSpPr>
        <p:spPr>
          <a:xfrm>
            <a:off x="5160145" y="2094953"/>
            <a:ext cx="1501243" cy="859053"/>
          </a:xfrm>
          <a:custGeom>
            <a:avLst/>
            <a:gdLst>
              <a:gd name="connsiteX0" fmla="*/ 0 w 2651765"/>
              <a:gd name="connsiteY0" fmla="*/ 368262 h 2209528"/>
              <a:gd name="connsiteX1" fmla="*/ 368262 w 2651765"/>
              <a:gd name="connsiteY1" fmla="*/ 0 h 2209528"/>
              <a:gd name="connsiteX2" fmla="*/ 2283503 w 2651765"/>
              <a:gd name="connsiteY2" fmla="*/ 0 h 2209528"/>
              <a:gd name="connsiteX3" fmla="*/ 2651765 w 2651765"/>
              <a:gd name="connsiteY3" fmla="*/ 368262 h 2209528"/>
              <a:gd name="connsiteX4" fmla="*/ 2651765 w 2651765"/>
              <a:gd name="connsiteY4" fmla="*/ 1841266 h 2209528"/>
              <a:gd name="connsiteX5" fmla="*/ 2283503 w 2651765"/>
              <a:gd name="connsiteY5" fmla="*/ 2209528 h 2209528"/>
              <a:gd name="connsiteX6" fmla="*/ 368262 w 2651765"/>
              <a:gd name="connsiteY6" fmla="*/ 2209528 h 2209528"/>
              <a:gd name="connsiteX7" fmla="*/ 0 w 2651765"/>
              <a:gd name="connsiteY7" fmla="*/ 1841266 h 2209528"/>
              <a:gd name="connsiteX8" fmla="*/ 0 w 2651765"/>
              <a:gd name="connsiteY8" fmla="*/ 368262 h 2209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51765" h="2209528">
                <a:moveTo>
                  <a:pt x="0" y="368262"/>
                </a:moveTo>
                <a:cubicBezTo>
                  <a:pt x="0" y="164877"/>
                  <a:pt x="164877" y="0"/>
                  <a:pt x="368262" y="0"/>
                </a:cubicBezTo>
                <a:lnTo>
                  <a:pt x="2283503" y="0"/>
                </a:lnTo>
                <a:cubicBezTo>
                  <a:pt x="2486888" y="0"/>
                  <a:pt x="2651765" y="164877"/>
                  <a:pt x="2651765" y="368262"/>
                </a:cubicBezTo>
                <a:lnTo>
                  <a:pt x="2651765" y="1841266"/>
                </a:lnTo>
                <a:cubicBezTo>
                  <a:pt x="2651765" y="2044651"/>
                  <a:pt x="2486888" y="2209528"/>
                  <a:pt x="2283503" y="2209528"/>
                </a:cubicBezTo>
                <a:lnTo>
                  <a:pt x="368262" y="2209528"/>
                </a:lnTo>
                <a:cubicBezTo>
                  <a:pt x="164877" y="2209528"/>
                  <a:pt x="0" y="2044651"/>
                  <a:pt x="0" y="1841266"/>
                </a:cubicBezTo>
                <a:lnTo>
                  <a:pt x="0" y="368262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48830" tIns="248830" rIns="248830" bIns="248830" numCol="1" spcCol="1270" anchor="ctr" anchorCtr="0">
            <a:noAutofit/>
          </a:bodyPr>
          <a:lstStyle/>
          <a:p>
            <a:pPr algn="ctr"/>
            <a:endParaRPr lang="de-DE" sz="1800" b="1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Google Shape;1534;g60be7dcf1c_0_434">
            <a:extLst>
              <a:ext uri="{FF2B5EF4-FFF2-40B4-BE49-F238E27FC236}">
                <a16:creationId xmlns:a16="http://schemas.microsoft.com/office/drawing/2014/main" id="{09FC3FC7-94B9-415E-93D5-4AEA770EE6D8}"/>
              </a:ext>
            </a:extLst>
          </p:cNvPr>
          <p:cNvSpPr txBox="1"/>
          <p:nvPr/>
        </p:nvSpPr>
        <p:spPr>
          <a:xfrm>
            <a:off x="1537427" y="2065708"/>
            <a:ext cx="2417240" cy="545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lnSpc>
                <a:spcPct val="115000"/>
              </a:lnSpc>
            </a:pPr>
            <a:r>
              <a:rPr lang="en-U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K</a:t>
            </a:r>
            <a:r>
              <a:rPr lang="en-US" baseline="-25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</a:t>
            </a:r>
            <a:r>
              <a:rPr lang="en-U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</a:p>
          <a:p>
            <a:pPr lvl="0" algn="ctr">
              <a:lnSpc>
                <a:spcPct val="115000"/>
              </a:lnSpc>
            </a:pPr>
            <a:r>
              <a:rPr lang="en-U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static </a:t>
            </a:r>
          </a:p>
          <a:p>
            <a:pPr lvl="0" algn="ctr">
              <a:lnSpc>
                <a:spcPct val="115000"/>
              </a:lnSpc>
            </a:pPr>
            <a:r>
              <a:rPr lang="en-U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switches</a:t>
            </a:r>
            <a:endParaRPr lang="de-D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" name="Google Shape;1534;g60be7dcf1c_0_434">
            <a:extLst>
              <a:ext uri="{FF2B5EF4-FFF2-40B4-BE49-F238E27FC236}">
                <a16:creationId xmlns:a16="http://schemas.microsoft.com/office/drawing/2014/main" id="{46EA69EA-6A18-457A-8CFA-45EB19F65A48}"/>
              </a:ext>
            </a:extLst>
          </p:cNvPr>
          <p:cNvSpPr txBox="1"/>
          <p:nvPr/>
        </p:nvSpPr>
        <p:spPr>
          <a:xfrm>
            <a:off x="3095850" y="2065707"/>
            <a:ext cx="2417240" cy="545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lnSpc>
                <a:spcPct val="115000"/>
              </a:lnSpc>
            </a:pPr>
            <a:r>
              <a:rPr lang="en-U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K</a:t>
            </a:r>
            <a:r>
              <a:rPr lang="en-US" baseline="-25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</a:t>
            </a:r>
            <a:r>
              <a:rPr lang="en-U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</a:p>
          <a:p>
            <a:pPr lvl="0" algn="ctr">
              <a:lnSpc>
                <a:spcPct val="115000"/>
              </a:lnSpc>
            </a:pPr>
            <a:r>
              <a:rPr lang="en-U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rotor </a:t>
            </a:r>
          </a:p>
          <a:p>
            <a:pPr lvl="0" algn="ctr">
              <a:lnSpc>
                <a:spcPct val="115000"/>
              </a:lnSpc>
            </a:pPr>
            <a:r>
              <a:rPr lang="en-U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switches</a:t>
            </a:r>
            <a:endParaRPr lang="de-D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" name="Google Shape;1534;g60be7dcf1c_0_434">
            <a:extLst>
              <a:ext uri="{FF2B5EF4-FFF2-40B4-BE49-F238E27FC236}">
                <a16:creationId xmlns:a16="http://schemas.microsoft.com/office/drawing/2014/main" id="{B31E94A9-C72F-4157-AB29-B88DDC5DB130}"/>
              </a:ext>
            </a:extLst>
          </p:cNvPr>
          <p:cNvSpPr txBox="1"/>
          <p:nvPr/>
        </p:nvSpPr>
        <p:spPr>
          <a:xfrm>
            <a:off x="4672361" y="2040944"/>
            <a:ext cx="2417240" cy="545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lnSpc>
                <a:spcPct val="115000"/>
              </a:lnSpc>
            </a:pPr>
            <a:r>
              <a:rPr lang="en-US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K</a:t>
            </a:r>
            <a:r>
              <a:rPr lang="en-US" baseline="-250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</a:t>
            </a:r>
            <a:r>
              <a:rPr lang="en-U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</a:p>
          <a:p>
            <a:pPr lvl="0" algn="ctr">
              <a:lnSpc>
                <a:spcPct val="115000"/>
              </a:lnSpc>
            </a:pPr>
            <a:r>
              <a:rPr lang="en-U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demand-aware </a:t>
            </a:r>
          </a:p>
          <a:p>
            <a:pPr lvl="0" algn="ctr">
              <a:lnSpc>
                <a:spcPct val="115000"/>
              </a:lnSpc>
            </a:pPr>
            <a:r>
              <a:rPr lang="en-U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switches</a:t>
            </a:r>
            <a:endParaRPr lang="de-D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33" name="Picture 2" descr="https://upload.wikimedia.org/wikipedia/commons/1/1a/Herakles_Kerberos_Eurystheus_Louvre_E701.jpg">
            <a:extLst>
              <a:ext uri="{FF2B5EF4-FFF2-40B4-BE49-F238E27FC236}">
                <a16:creationId xmlns:a16="http://schemas.microsoft.com/office/drawing/2014/main" id="{81E65043-837D-492A-BC24-5B090CDBD8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7211" y="131800"/>
            <a:ext cx="2074120" cy="1575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8F82D0E-8E38-4288-BBFC-E844FBA31EA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134</a:t>
            </a:fld>
            <a:endParaRPr lang="de-DE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55D95F2-6F78-44C1-BA9C-C4CCC825F51A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E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9476129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09;g60be7dcf1c_0_222">
            <a:extLst>
              <a:ext uri="{FF2B5EF4-FFF2-40B4-BE49-F238E27FC236}">
                <a16:creationId xmlns:a16="http://schemas.microsoft.com/office/drawing/2014/main" id="{4DE19C73-9916-40CA-87D9-CC4934AE39A5}"/>
              </a:ext>
            </a:extLst>
          </p:cNvPr>
          <p:cNvSpPr txBox="1"/>
          <p:nvPr/>
        </p:nvSpPr>
        <p:spPr>
          <a:xfrm>
            <a:off x="0" y="540000"/>
            <a:ext cx="8170925" cy="55208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14" name="Google Shape;1288;g60be7dcf1c_0_204">
            <a:extLst>
              <a:ext uri="{FF2B5EF4-FFF2-40B4-BE49-F238E27FC236}">
                <a16:creationId xmlns:a16="http://schemas.microsoft.com/office/drawing/2014/main" id="{3A5A658B-C73C-468A-B47B-9E631F9C601D}"/>
              </a:ext>
            </a:extLst>
          </p:cNvPr>
          <p:cNvSpPr txBox="1">
            <a:spLocks/>
          </p:cNvSpPr>
          <p:nvPr/>
        </p:nvSpPr>
        <p:spPr>
          <a:xfrm>
            <a:off x="973075" y="149350"/>
            <a:ext cx="8171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lnSpc>
                <a:spcPct val="115000"/>
              </a:lnSpc>
              <a:buSzPts val="1100"/>
            </a:pPr>
            <a: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Optimal: Cerberus</a:t>
            </a:r>
            <a:endParaRPr lang="en-GB" sz="2000" dirty="0">
              <a:solidFill>
                <a:schemeClr val="tx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algn="l">
              <a:lnSpc>
                <a:spcPct val="115000"/>
              </a:lnSpc>
              <a:buSzPts val="1100"/>
            </a:pPr>
            <a:endParaRPr lang="en-GB" sz="2000" dirty="0">
              <a:solidFill>
                <a:schemeClr val="tx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7" name="Google Shape;1333;g60be7dcf1c_0_242">
            <a:extLst>
              <a:ext uri="{FF2B5EF4-FFF2-40B4-BE49-F238E27FC236}">
                <a16:creationId xmlns:a16="http://schemas.microsoft.com/office/drawing/2014/main" id="{9D2A14AB-D46C-4186-B829-FC294EB18C6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55376" b="19271"/>
          <a:stretch/>
        </p:blipFill>
        <p:spPr>
          <a:xfrm>
            <a:off x="709497" y="4164110"/>
            <a:ext cx="7134774" cy="1356377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334;g60be7dcf1c_0_242">
            <a:extLst>
              <a:ext uri="{FF2B5EF4-FFF2-40B4-BE49-F238E27FC236}">
                <a16:creationId xmlns:a16="http://schemas.microsoft.com/office/drawing/2014/main" id="{41094315-90A7-4832-94C9-E491B4820C83}"/>
              </a:ext>
            </a:extLst>
          </p:cNvPr>
          <p:cNvSpPr txBox="1"/>
          <p:nvPr/>
        </p:nvSpPr>
        <p:spPr>
          <a:xfrm>
            <a:off x="1057697" y="5474810"/>
            <a:ext cx="5892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" name="Google Shape;1335;g60be7dcf1c_0_242">
            <a:extLst>
              <a:ext uri="{FF2B5EF4-FFF2-40B4-BE49-F238E27FC236}">
                <a16:creationId xmlns:a16="http://schemas.microsoft.com/office/drawing/2014/main" id="{AA8571DF-E5A4-4C54-BEC3-A84AB098EB68}"/>
              </a:ext>
            </a:extLst>
          </p:cNvPr>
          <p:cNvSpPr txBox="1"/>
          <p:nvPr/>
        </p:nvSpPr>
        <p:spPr>
          <a:xfrm>
            <a:off x="1901872" y="5474810"/>
            <a:ext cx="5892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" name="Google Shape;1336;g60be7dcf1c_0_242">
            <a:extLst>
              <a:ext uri="{FF2B5EF4-FFF2-40B4-BE49-F238E27FC236}">
                <a16:creationId xmlns:a16="http://schemas.microsoft.com/office/drawing/2014/main" id="{2E61A26F-39EA-4893-BD82-5424BEE73771}"/>
              </a:ext>
            </a:extLst>
          </p:cNvPr>
          <p:cNvSpPr txBox="1"/>
          <p:nvPr/>
        </p:nvSpPr>
        <p:spPr>
          <a:xfrm>
            <a:off x="2746047" y="5474810"/>
            <a:ext cx="5892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" name="Google Shape;1337;g60be7dcf1c_0_242">
            <a:extLst>
              <a:ext uri="{FF2B5EF4-FFF2-40B4-BE49-F238E27FC236}">
                <a16:creationId xmlns:a16="http://schemas.microsoft.com/office/drawing/2014/main" id="{CAC8192C-B97B-4540-B474-922A73090015}"/>
              </a:ext>
            </a:extLst>
          </p:cNvPr>
          <p:cNvSpPr txBox="1"/>
          <p:nvPr/>
        </p:nvSpPr>
        <p:spPr>
          <a:xfrm>
            <a:off x="3563022" y="5474810"/>
            <a:ext cx="6279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" name="Google Shape;1338;g60be7dcf1c_0_242">
            <a:extLst>
              <a:ext uri="{FF2B5EF4-FFF2-40B4-BE49-F238E27FC236}">
                <a16:creationId xmlns:a16="http://schemas.microsoft.com/office/drawing/2014/main" id="{06F92845-E17C-415B-A31A-53426C61CEEF}"/>
              </a:ext>
            </a:extLst>
          </p:cNvPr>
          <p:cNvSpPr txBox="1"/>
          <p:nvPr/>
        </p:nvSpPr>
        <p:spPr>
          <a:xfrm>
            <a:off x="4418697" y="5474810"/>
            <a:ext cx="5892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" name="Google Shape;1339;g60be7dcf1c_0_242">
            <a:extLst>
              <a:ext uri="{FF2B5EF4-FFF2-40B4-BE49-F238E27FC236}">
                <a16:creationId xmlns:a16="http://schemas.microsoft.com/office/drawing/2014/main" id="{A514D908-BDF2-4EFC-91B5-6F22340181D0}"/>
              </a:ext>
            </a:extLst>
          </p:cNvPr>
          <p:cNvSpPr txBox="1"/>
          <p:nvPr/>
        </p:nvSpPr>
        <p:spPr>
          <a:xfrm>
            <a:off x="5235672" y="5474810"/>
            <a:ext cx="5892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6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" name="Google Shape;1340;g60be7dcf1c_0_242">
            <a:extLst>
              <a:ext uri="{FF2B5EF4-FFF2-40B4-BE49-F238E27FC236}">
                <a16:creationId xmlns:a16="http://schemas.microsoft.com/office/drawing/2014/main" id="{AEB6511B-A494-4AD8-909E-F74EB2051AEE}"/>
              </a:ext>
            </a:extLst>
          </p:cNvPr>
          <p:cNvSpPr txBox="1"/>
          <p:nvPr/>
        </p:nvSpPr>
        <p:spPr>
          <a:xfrm>
            <a:off x="6091347" y="5474810"/>
            <a:ext cx="5505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7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" name="Google Shape;1341;g60be7dcf1c_0_242">
            <a:extLst>
              <a:ext uri="{FF2B5EF4-FFF2-40B4-BE49-F238E27FC236}">
                <a16:creationId xmlns:a16="http://schemas.microsoft.com/office/drawing/2014/main" id="{84A465A6-0E9F-4BA5-9EB1-A1728D3DD470}"/>
              </a:ext>
            </a:extLst>
          </p:cNvPr>
          <p:cNvSpPr txBox="1"/>
          <p:nvPr/>
        </p:nvSpPr>
        <p:spPr>
          <a:xfrm>
            <a:off x="6908322" y="5452285"/>
            <a:ext cx="5892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" name="Freeform 8">
            <a:extLst>
              <a:ext uri="{FF2B5EF4-FFF2-40B4-BE49-F238E27FC236}">
                <a16:creationId xmlns:a16="http://schemas.microsoft.com/office/drawing/2014/main" id="{0AA18176-289A-465F-8516-39B68297D09A}"/>
              </a:ext>
            </a:extLst>
          </p:cNvPr>
          <p:cNvSpPr/>
          <p:nvPr/>
        </p:nvSpPr>
        <p:spPr>
          <a:xfrm>
            <a:off x="1681604" y="1949856"/>
            <a:ext cx="5468558" cy="1207677"/>
          </a:xfrm>
          <a:custGeom>
            <a:avLst/>
            <a:gdLst>
              <a:gd name="connsiteX0" fmla="*/ 0 w 2651765"/>
              <a:gd name="connsiteY0" fmla="*/ 368262 h 2209528"/>
              <a:gd name="connsiteX1" fmla="*/ 368262 w 2651765"/>
              <a:gd name="connsiteY1" fmla="*/ 0 h 2209528"/>
              <a:gd name="connsiteX2" fmla="*/ 2283503 w 2651765"/>
              <a:gd name="connsiteY2" fmla="*/ 0 h 2209528"/>
              <a:gd name="connsiteX3" fmla="*/ 2651765 w 2651765"/>
              <a:gd name="connsiteY3" fmla="*/ 368262 h 2209528"/>
              <a:gd name="connsiteX4" fmla="*/ 2651765 w 2651765"/>
              <a:gd name="connsiteY4" fmla="*/ 1841266 h 2209528"/>
              <a:gd name="connsiteX5" fmla="*/ 2283503 w 2651765"/>
              <a:gd name="connsiteY5" fmla="*/ 2209528 h 2209528"/>
              <a:gd name="connsiteX6" fmla="*/ 368262 w 2651765"/>
              <a:gd name="connsiteY6" fmla="*/ 2209528 h 2209528"/>
              <a:gd name="connsiteX7" fmla="*/ 0 w 2651765"/>
              <a:gd name="connsiteY7" fmla="*/ 1841266 h 2209528"/>
              <a:gd name="connsiteX8" fmla="*/ 0 w 2651765"/>
              <a:gd name="connsiteY8" fmla="*/ 368262 h 2209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51765" h="2209528">
                <a:moveTo>
                  <a:pt x="0" y="368262"/>
                </a:moveTo>
                <a:cubicBezTo>
                  <a:pt x="0" y="164877"/>
                  <a:pt x="164877" y="0"/>
                  <a:pt x="368262" y="0"/>
                </a:cubicBezTo>
                <a:lnTo>
                  <a:pt x="2283503" y="0"/>
                </a:lnTo>
                <a:cubicBezTo>
                  <a:pt x="2486888" y="0"/>
                  <a:pt x="2651765" y="164877"/>
                  <a:pt x="2651765" y="368262"/>
                </a:cubicBezTo>
                <a:lnTo>
                  <a:pt x="2651765" y="1841266"/>
                </a:lnTo>
                <a:cubicBezTo>
                  <a:pt x="2651765" y="2044651"/>
                  <a:pt x="2486888" y="2209528"/>
                  <a:pt x="2283503" y="2209528"/>
                </a:cubicBezTo>
                <a:lnTo>
                  <a:pt x="368262" y="2209528"/>
                </a:lnTo>
                <a:cubicBezTo>
                  <a:pt x="164877" y="2209528"/>
                  <a:pt x="0" y="2044651"/>
                  <a:pt x="0" y="1841266"/>
                </a:cubicBezTo>
                <a:lnTo>
                  <a:pt x="0" y="368262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48830" tIns="248830" rIns="248830" bIns="248830" numCol="1" spcCol="1270" anchor="ctr" anchorCtr="0">
            <a:noAutofit/>
          </a:bodyPr>
          <a:lstStyle/>
          <a:p>
            <a:pPr algn="ctr"/>
            <a:endParaRPr lang="de-DE" sz="1800" b="1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CAB9C16-37A9-43F6-88BC-9621E4D0345E}"/>
              </a:ext>
            </a:extLst>
          </p:cNvPr>
          <p:cNvCxnSpPr/>
          <p:nvPr/>
        </p:nvCxnSpPr>
        <p:spPr>
          <a:xfrm flipV="1">
            <a:off x="1391672" y="3194332"/>
            <a:ext cx="825190" cy="9697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8631F36-4EAF-4E17-B82A-6ED1862B81B0}"/>
              </a:ext>
            </a:extLst>
          </p:cNvPr>
          <p:cNvCxnSpPr>
            <a:cxnSpLocks/>
          </p:cNvCxnSpPr>
          <p:nvPr/>
        </p:nvCxnSpPr>
        <p:spPr>
          <a:xfrm flipV="1">
            <a:off x="2216862" y="3194332"/>
            <a:ext cx="347918" cy="9697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1706AE3-EFC4-46DD-A2A4-6627D7DF5405}"/>
              </a:ext>
            </a:extLst>
          </p:cNvPr>
          <p:cNvCxnSpPr>
            <a:cxnSpLocks/>
          </p:cNvCxnSpPr>
          <p:nvPr/>
        </p:nvCxnSpPr>
        <p:spPr>
          <a:xfrm flipV="1">
            <a:off x="3042052" y="3194332"/>
            <a:ext cx="138276" cy="9697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C7800FD-6F5B-45AB-BA9B-8D78122CB838}"/>
              </a:ext>
            </a:extLst>
          </p:cNvPr>
          <p:cNvCxnSpPr>
            <a:cxnSpLocks/>
          </p:cNvCxnSpPr>
          <p:nvPr/>
        </p:nvCxnSpPr>
        <p:spPr>
          <a:xfrm flipV="1">
            <a:off x="3827099" y="3157533"/>
            <a:ext cx="55142" cy="10065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D964B92-CF99-4466-883C-DE614D3D9401}"/>
              </a:ext>
            </a:extLst>
          </p:cNvPr>
          <p:cNvCxnSpPr>
            <a:cxnSpLocks/>
          </p:cNvCxnSpPr>
          <p:nvPr/>
        </p:nvCxnSpPr>
        <p:spPr>
          <a:xfrm flipH="1" flipV="1">
            <a:off x="4634447" y="3157533"/>
            <a:ext cx="75828" cy="10065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3C324BC-8E0E-4330-B120-12E7F57EF53A}"/>
              </a:ext>
            </a:extLst>
          </p:cNvPr>
          <p:cNvCxnSpPr>
            <a:cxnSpLocks/>
          </p:cNvCxnSpPr>
          <p:nvPr/>
        </p:nvCxnSpPr>
        <p:spPr>
          <a:xfrm flipH="1" flipV="1">
            <a:off x="5249995" y="3157533"/>
            <a:ext cx="346440" cy="10433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FBB79C7-3F32-4199-B92E-B7F0C40D16CC}"/>
              </a:ext>
            </a:extLst>
          </p:cNvPr>
          <p:cNvCxnSpPr>
            <a:cxnSpLocks/>
          </p:cNvCxnSpPr>
          <p:nvPr/>
        </p:nvCxnSpPr>
        <p:spPr>
          <a:xfrm flipH="1" flipV="1">
            <a:off x="6040241" y="3150648"/>
            <a:ext cx="346440" cy="10433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1E553DF-C3FA-4E83-B6DF-C2EB3408596A}"/>
              </a:ext>
            </a:extLst>
          </p:cNvPr>
          <p:cNvCxnSpPr>
            <a:cxnSpLocks/>
          </p:cNvCxnSpPr>
          <p:nvPr/>
        </p:nvCxnSpPr>
        <p:spPr>
          <a:xfrm flipH="1" flipV="1">
            <a:off x="6548750" y="3157534"/>
            <a:ext cx="666828" cy="103649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Freeform 8">
            <a:extLst>
              <a:ext uri="{FF2B5EF4-FFF2-40B4-BE49-F238E27FC236}">
                <a16:creationId xmlns:a16="http://schemas.microsoft.com/office/drawing/2014/main" id="{6AA18E59-A28F-4BEE-A76F-EAC61BFBEA74}"/>
              </a:ext>
            </a:extLst>
          </p:cNvPr>
          <p:cNvSpPr/>
          <p:nvPr/>
        </p:nvSpPr>
        <p:spPr>
          <a:xfrm>
            <a:off x="1947553" y="2094953"/>
            <a:ext cx="1501243" cy="859053"/>
          </a:xfrm>
          <a:custGeom>
            <a:avLst/>
            <a:gdLst>
              <a:gd name="connsiteX0" fmla="*/ 0 w 2651765"/>
              <a:gd name="connsiteY0" fmla="*/ 368262 h 2209528"/>
              <a:gd name="connsiteX1" fmla="*/ 368262 w 2651765"/>
              <a:gd name="connsiteY1" fmla="*/ 0 h 2209528"/>
              <a:gd name="connsiteX2" fmla="*/ 2283503 w 2651765"/>
              <a:gd name="connsiteY2" fmla="*/ 0 h 2209528"/>
              <a:gd name="connsiteX3" fmla="*/ 2651765 w 2651765"/>
              <a:gd name="connsiteY3" fmla="*/ 368262 h 2209528"/>
              <a:gd name="connsiteX4" fmla="*/ 2651765 w 2651765"/>
              <a:gd name="connsiteY4" fmla="*/ 1841266 h 2209528"/>
              <a:gd name="connsiteX5" fmla="*/ 2283503 w 2651765"/>
              <a:gd name="connsiteY5" fmla="*/ 2209528 h 2209528"/>
              <a:gd name="connsiteX6" fmla="*/ 368262 w 2651765"/>
              <a:gd name="connsiteY6" fmla="*/ 2209528 h 2209528"/>
              <a:gd name="connsiteX7" fmla="*/ 0 w 2651765"/>
              <a:gd name="connsiteY7" fmla="*/ 1841266 h 2209528"/>
              <a:gd name="connsiteX8" fmla="*/ 0 w 2651765"/>
              <a:gd name="connsiteY8" fmla="*/ 368262 h 2209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51765" h="2209528">
                <a:moveTo>
                  <a:pt x="0" y="368262"/>
                </a:moveTo>
                <a:cubicBezTo>
                  <a:pt x="0" y="164877"/>
                  <a:pt x="164877" y="0"/>
                  <a:pt x="368262" y="0"/>
                </a:cubicBezTo>
                <a:lnTo>
                  <a:pt x="2283503" y="0"/>
                </a:lnTo>
                <a:cubicBezTo>
                  <a:pt x="2486888" y="0"/>
                  <a:pt x="2651765" y="164877"/>
                  <a:pt x="2651765" y="368262"/>
                </a:cubicBezTo>
                <a:lnTo>
                  <a:pt x="2651765" y="1841266"/>
                </a:lnTo>
                <a:cubicBezTo>
                  <a:pt x="2651765" y="2044651"/>
                  <a:pt x="2486888" y="2209528"/>
                  <a:pt x="2283503" y="2209528"/>
                </a:cubicBezTo>
                <a:lnTo>
                  <a:pt x="368262" y="2209528"/>
                </a:lnTo>
                <a:cubicBezTo>
                  <a:pt x="164877" y="2209528"/>
                  <a:pt x="0" y="2044651"/>
                  <a:pt x="0" y="1841266"/>
                </a:cubicBezTo>
                <a:lnTo>
                  <a:pt x="0" y="368262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48830" tIns="248830" rIns="248830" bIns="248830" numCol="1" spcCol="1270" anchor="ctr" anchorCtr="0">
            <a:noAutofit/>
          </a:bodyPr>
          <a:lstStyle/>
          <a:p>
            <a:pPr algn="ctr"/>
            <a:endParaRPr lang="de-DE" sz="1800" b="1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8" name="Freeform 8">
            <a:extLst>
              <a:ext uri="{FF2B5EF4-FFF2-40B4-BE49-F238E27FC236}">
                <a16:creationId xmlns:a16="http://schemas.microsoft.com/office/drawing/2014/main" id="{8039DA2F-13A2-4C83-85B2-D986CB2C9A10}"/>
              </a:ext>
            </a:extLst>
          </p:cNvPr>
          <p:cNvSpPr/>
          <p:nvPr/>
        </p:nvSpPr>
        <p:spPr>
          <a:xfrm>
            <a:off x="3553849" y="2099653"/>
            <a:ext cx="1501243" cy="859053"/>
          </a:xfrm>
          <a:custGeom>
            <a:avLst/>
            <a:gdLst>
              <a:gd name="connsiteX0" fmla="*/ 0 w 2651765"/>
              <a:gd name="connsiteY0" fmla="*/ 368262 h 2209528"/>
              <a:gd name="connsiteX1" fmla="*/ 368262 w 2651765"/>
              <a:gd name="connsiteY1" fmla="*/ 0 h 2209528"/>
              <a:gd name="connsiteX2" fmla="*/ 2283503 w 2651765"/>
              <a:gd name="connsiteY2" fmla="*/ 0 h 2209528"/>
              <a:gd name="connsiteX3" fmla="*/ 2651765 w 2651765"/>
              <a:gd name="connsiteY3" fmla="*/ 368262 h 2209528"/>
              <a:gd name="connsiteX4" fmla="*/ 2651765 w 2651765"/>
              <a:gd name="connsiteY4" fmla="*/ 1841266 h 2209528"/>
              <a:gd name="connsiteX5" fmla="*/ 2283503 w 2651765"/>
              <a:gd name="connsiteY5" fmla="*/ 2209528 h 2209528"/>
              <a:gd name="connsiteX6" fmla="*/ 368262 w 2651765"/>
              <a:gd name="connsiteY6" fmla="*/ 2209528 h 2209528"/>
              <a:gd name="connsiteX7" fmla="*/ 0 w 2651765"/>
              <a:gd name="connsiteY7" fmla="*/ 1841266 h 2209528"/>
              <a:gd name="connsiteX8" fmla="*/ 0 w 2651765"/>
              <a:gd name="connsiteY8" fmla="*/ 368262 h 2209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51765" h="2209528">
                <a:moveTo>
                  <a:pt x="0" y="368262"/>
                </a:moveTo>
                <a:cubicBezTo>
                  <a:pt x="0" y="164877"/>
                  <a:pt x="164877" y="0"/>
                  <a:pt x="368262" y="0"/>
                </a:cubicBezTo>
                <a:lnTo>
                  <a:pt x="2283503" y="0"/>
                </a:lnTo>
                <a:cubicBezTo>
                  <a:pt x="2486888" y="0"/>
                  <a:pt x="2651765" y="164877"/>
                  <a:pt x="2651765" y="368262"/>
                </a:cubicBezTo>
                <a:lnTo>
                  <a:pt x="2651765" y="1841266"/>
                </a:lnTo>
                <a:cubicBezTo>
                  <a:pt x="2651765" y="2044651"/>
                  <a:pt x="2486888" y="2209528"/>
                  <a:pt x="2283503" y="2209528"/>
                </a:cubicBezTo>
                <a:lnTo>
                  <a:pt x="368262" y="2209528"/>
                </a:lnTo>
                <a:cubicBezTo>
                  <a:pt x="164877" y="2209528"/>
                  <a:pt x="0" y="2044651"/>
                  <a:pt x="0" y="1841266"/>
                </a:cubicBezTo>
                <a:lnTo>
                  <a:pt x="0" y="368262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48830" tIns="248830" rIns="248830" bIns="248830" numCol="1" spcCol="1270" anchor="ctr" anchorCtr="0">
            <a:noAutofit/>
          </a:bodyPr>
          <a:lstStyle/>
          <a:p>
            <a:pPr algn="ctr"/>
            <a:endParaRPr lang="de-DE" sz="1800" b="1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Freeform 8">
            <a:extLst>
              <a:ext uri="{FF2B5EF4-FFF2-40B4-BE49-F238E27FC236}">
                <a16:creationId xmlns:a16="http://schemas.microsoft.com/office/drawing/2014/main" id="{082DD5A5-4C9E-4F8E-B02F-6601A6DD0A27}"/>
              </a:ext>
            </a:extLst>
          </p:cNvPr>
          <p:cNvSpPr/>
          <p:nvPr/>
        </p:nvSpPr>
        <p:spPr>
          <a:xfrm>
            <a:off x="5160145" y="2094953"/>
            <a:ext cx="1501243" cy="859053"/>
          </a:xfrm>
          <a:custGeom>
            <a:avLst/>
            <a:gdLst>
              <a:gd name="connsiteX0" fmla="*/ 0 w 2651765"/>
              <a:gd name="connsiteY0" fmla="*/ 368262 h 2209528"/>
              <a:gd name="connsiteX1" fmla="*/ 368262 w 2651765"/>
              <a:gd name="connsiteY1" fmla="*/ 0 h 2209528"/>
              <a:gd name="connsiteX2" fmla="*/ 2283503 w 2651765"/>
              <a:gd name="connsiteY2" fmla="*/ 0 h 2209528"/>
              <a:gd name="connsiteX3" fmla="*/ 2651765 w 2651765"/>
              <a:gd name="connsiteY3" fmla="*/ 368262 h 2209528"/>
              <a:gd name="connsiteX4" fmla="*/ 2651765 w 2651765"/>
              <a:gd name="connsiteY4" fmla="*/ 1841266 h 2209528"/>
              <a:gd name="connsiteX5" fmla="*/ 2283503 w 2651765"/>
              <a:gd name="connsiteY5" fmla="*/ 2209528 h 2209528"/>
              <a:gd name="connsiteX6" fmla="*/ 368262 w 2651765"/>
              <a:gd name="connsiteY6" fmla="*/ 2209528 h 2209528"/>
              <a:gd name="connsiteX7" fmla="*/ 0 w 2651765"/>
              <a:gd name="connsiteY7" fmla="*/ 1841266 h 2209528"/>
              <a:gd name="connsiteX8" fmla="*/ 0 w 2651765"/>
              <a:gd name="connsiteY8" fmla="*/ 368262 h 2209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51765" h="2209528">
                <a:moveTo>
                  <a:pt x="0" y="368262"/>
                </a:moveTo>
                <a:cubicBezTo>
                  <a:pt x="0" y="164877"/>
                  <a:pt x="164877" y="0"/>
                  <a:pt x="368262" y="0"/>
                </a:cubicBezTo>
                <a:lnTo>
                  <a:pt x="2283503" y="0"/>
                </a:lnTo>
                <a:cubicBezTo>
                  <a:pt x="2486888" y="0"/>
                  <a:pt x="2651765" y="164877"/>
                  <a:pt x="2651765" y="368262"/>
                </a:cubicBezTo>
                <a:lnTo>
                  <a:pt x="2651765" y="1841266"/>
                </a:lnTo>
                <a:cubicBezTo>
                  <a:pt x="2651765" y="2044651"/>
                  <a:pt x="2486888" y="2209528"/>
                  <a:pt x="2283503" y="2209528"/>
                </a:cubicBezTo>
                <a:lnTo>
                  <a:pt x="368262" y="2209528"/>
                </a:lnTo>
                <a:cubicBezTo>
                  <a:pt x="164877" y="2209528"/>
                  <a:pt x="0" y="2044651"/>
                  <a:pt x="0" y="1841266"/>
                </a:cubicBezTo>
                <a:lnTo>
                  <a:pt x="0" y="368262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48830" tIns="248830" rIns="248830" bIns="248830" numCol="1" spcCol="1270" anchor="ctr" anchorCtr="0">
            <a:noAutofit/>
          </a:bodyPr>
          <a:lstStyle/>
          <a:p>
            <a:pPr algn="ctr"/>
            <a:endParaRPr lang="de-DE" sz="1800" b="1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Google Shape;1534;g60be7dcf1c_0_434">
            <a:extLst>
              <a:ext uri="{FF2B5EF4-FFF2-40B4-BE49-F238E27FC236}">
                <a16:creationId xmlns:a16="http://schemas.microsoft.com/office/drawing/2014/main" id="{09FC3FC7-94B9-415E-93D5-4AEA770EE6D8}"/>
              </a:ext>
            </a:extLst>
          </p:cNvPr>
          <p:cNvSpPr txBox="1"/>
          <p:nvPr/>
        </p:nvSpPr>
        <p:spPr>
          <a:xfrm>
            <a:off x="1537427" y="2065708"/>
            <a:ext cx="2417240" cy="545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lnSpc>
                <a:spcPct val="115000"/>
              </a:lnSpc>
            </a:pPr>
            <a:r>
              <a:rPr lang="en-U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K</a:t>
            </a:r>
            <a:r>
              <a:rPr lang="en-US" baseline="-25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</a:t>
            </a:r>
            <a:r>
              <a:rPr lang="en-U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</a:p>
          <a:p>
            <a:pPr lvl="0" algn="ctr">
              <a:lnSpc>
                <a:spcPct val="115000"/>
              </a:lnSpc>
            </a:pPr>
            <a:r>
              <a:rPr lang="en-U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static </a:t>
            </a:r>
          </a:p>
          <a:p>
            <a:pPr lvl="0" algn="ctr">
              <a:lnSpc>
                <a:spcPct val="115000"/>
              </a:lnSpc>
            </a:pPr>
            <a:r>
              <a:rPr lang="en-U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switches</a:t>
            </a:r>
            <a:endParaRPr lang="de-D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" name="Google Shape;1534;g60be7dcf1c_0_434">
            <a:extLst>
              <a:ext uri="{FF2B5EF4-FFF2-40B4-BE49-F238E27FC236}">
                <a16:creationId xmlns:a16="http://schemas.microsoft.com/office/drawing/2014/main" id="{46EA69EA-6A18-457A-8CFA-45EB19F65A48}"/>
              </a:ext>
            </a:extLst>
          </p:cNvPr>
          <p:cNvSpPr txBox="1"/>
          <p:nvPr/>
        </p:nvSpPr>
        <p:spPr>
          <a:xfrm>
            <a:off x="3095850" y="2065707"/>
            <a:ext cx="2417240" cy="545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lnSpc>
                <a:spcPct val="115000"/>
              </a:lnSpc>
            </a:pPr>
            <a:r>
              <a:rPr lang="en-U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K</a:t>
            </a:r>
            <a:r>
              <a:rPr lang="en-US" baseline="-25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</a:t>
            </a:r>
            <a:r>
              <a:rPr lang="en-U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</a:p>
          <a:p>
            <a:pPr lvl="0" algn="ctr">
              <a:lnSpc>
                <a:spcPct val="115000"/>
              </a:lnSpc>
            </a:pPr>
            <a:r>
              <a:rPr lang="en-U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rotor </a:t>
            </a:r>
          </a:p>
          <a:p>
            <a:pPr lvl="0" algn="ctr">
              <a:lnSpc>
                <a:spcPct val="115000"/>
              </a:lnSpc>
            </a:pPr>
            <a:r>
              <a:rPr lang="en-U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switches</a:t>
            </a:r>
            <a:endParaRPr lang="de-D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" name="Google Shape;1534;g60be7dcf1c_0_434">
            <a:extLst>
              <a:ext uri="{FF2B5EF4-FFF2-40B4-BE49-F238E27FC236}">
                <a16:creationId xmlns:a16="http://schemas.microsoft.com/office/drawing/2014/main" id="{B31E94A9-C72F-4157-AB29-B88DDC5DB130}"/>
              </a:ext>
            </a:extLst>
          </p:cNvPr>
          <p:cNvSpPr txBox="1"/>
          <p:nvPr/>
        </p:nvSpPr>
        <p:spPr>
          <a:xfrm>
            <a:off x="4672361" y="2040944"/>
            <a:ext cx="2417240" cy="545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lnSpc>
                <a:spcPct val="115000"/>
              </a:lnSpc>
            </a:pPr>
            <a:r>
              <a:rPr lang="en-US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K</a:t>
            </a:r>
            <a:r>
              <a:rPr lang="en-US" baseline="-250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</a:t>
            </a:r>
            <a:r>
              <a:rPr lang="en-U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</a:p>
          <a:p>
            <a:pPr lvl="0" algn="ctr">
              <a:lnSpc>
                <a:spcPct val="115000"/>
              </a:lnSpc>
            </a:pPr>
            <a:r>
              <a:rPr lang="en-U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demand-aware </a:t>
            </a:r>
          </a:p>
          <a:p>
            <a:pPr lvl="0" algn="ctr">
              <a:lnSpc>
                <a:spcPct val="115000"/>
              </a:lnSpc>
            </a:pPr>
            <a:r>
              <a:rPr lang="en-U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switches</a:t>
            </a:r>
            <a:endParaRPr lang="de-D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33" name="Picture 2" descr="https://upload.wikimedia.org/wikipedia/commons/1/1a/Herakles_Kerberos_Eurystheus_Louvre_E701.jpg">
            <a:extLst>
              <a:ext uri="{FF2B5EF4-FFF2-40B4-BE49-F238E27FC236}">
                <a16:creationId xmlns:a16="http://schemas.microsoft.com/office/drawing/2014/main" id="{81E65043-837D-492A-BC24-5B090CDBD8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7211" y="131800"/>
            <a:ext cx="2074120" cy="1575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Google Shape;1534;g60be7dcf1c_0_434">
            <a:extLst>
              <a:ext uri="{FF2B5EF4-FFF2-40B4-BE49-F238E27FC236}">
                <a16:creationId xmlns:a16="http://schemas.microsoft.com/office/drawing/2014/main" id="{92160E07-84EB-460F-B6E7-2E20D0B67241}"/>
              </a:ext>
            </a:extLst>
          </p:cNvPr>
          <p:cNvSpPr txBox="1"/>
          <p:nvPr/>
        </p:nvSpPr>
        <p:spPr>
          <a:xfrm>
            <a:off x="1017000" y="5977638"/>
            <a:ext cx="6623101" cy="54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GB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Scheduling: </a:t>
            </a:r>
            <a:r>
              <a:rPr lang="en-GB" sz="1600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Small flows</a:t>
            </a: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go via static switches…</a:t>
            </a: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>
              <a:lnSpc>
                <a:spcPct val="115000"/>
              </a:lnSpc>
            </a:pP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>
              <a:lnSpc>
                <a:spcPct val="115000"/>
              </a:lnSpc>
            </a:pPr>
            <a:endParaRPr lang="de-DE"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21789DEF-1AF2-421F-84A4-E1AFA1568705}"/>
              </a:ext>
            </a:extLst>
          </p:cNvPr>
          <p:cNvSpPr/>
          <p:nvPr/>
        </p:nvSpPr>
        <p:spPr>
          <a:xfrm>
            <a:off x="1404102" y="2504848"/>
            <a:ext cx="1655454" cy="1603452"/>
          </a:xfrm>
          <a:custGeom>
            <a:avLst/>
            <a:gdLst>
              <a:gd name="connsiteX0" fmla="*/ 0 w 1655454"/>
              <a:gd name="connsiteY0" fmla="*/ 1594784 h 1603452"/>
              <a:gd name="connsiteX1" fmla="*/ 1178753 w 1655454"/>
              <a:gd name="connsiteY1" fmla="*/ 1 h 1603452"/>
              <a:gd name="connsiteX2" fmla="*/ 1655454 w 1655454"/>
              <a:gd name="connsiteY2" fmla="*/ 1603452 h 16034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55454" h="1603452">
                <a:moveTo>
                  <a:pt x="0" y="1594784"/>
                </a:moveTo>
                <a:cubicBezTo>
                  <a:pt x="451422" y="796670"/>
                  <a:pt x="902844" y="-1444"/>
                  <a:pt x="1178753" y="1"/>
                </a:cubicBezTo>
                <a:cubicBezTo>
                  <a:pt x="1454662" y="1446"/>
                  <a:pt x="1555058" y="802449"/>
                  <a:pt x="1655454" y="1603452"/>
                </a:cubicBezTo>
              </a:path>
            </a:pathLst>
          </a:custGeom>
          <a:noFill/>
          <a:ln w="38100">
            <a:solidFill>
              <a:schemeClr val="accent1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pic>
        <p:nvPicPr>
          <p:cNvPr id="4098" name="Picture 2" descr="Speedy Gonzales: Die schnellste Maus von Mexiko - Planet Mexiko">
            <a:extLst>
              <a:ext uri="{FF2B5EF4-FFF2-40B4-BE49-F238E27FC236}">
                <a16:creationId xmlns:a16="http://schemas.microsoft.com/office/drawing/2014/main" id="{8B2ED6ED-1831-47E3-BDCB-7F0B15ADEA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054" y="2109023"/>
            <a:ext cx="1321920" cy="880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0CF645-D59C-4924-A249-E56DCE2425A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135</a:t>
            </a:fld>
            <a:endParaRPr lang="de-DE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F2B31DE-EF1A-40E3-A7EB-0BFECCF2D18F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E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5377069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09;g60be7dcf1c_0_222">
            <a:extLst>
              <a:ext uri="{FF2B5EF4-FFF2-40B4-BE49-F238E27FC236}">
                <a16:creationId xmlns:a16="http://schemas.microsoft.com/office/drawing/2014/main" id="{4DE19C73-9916-40CA-87D9-CC4934AE39A5}"/>
              </a:ext>
            </a:extLst>
          </p:cNvPr>
          <p:cNvSpPr txBox="1"/>
          <p:nvPr/>
        </p:nvSpPr>
        <p:spPr>
          <a:xfrm>
            <a:off x="0" y="540000"/>
            <a:ext cx="8170925" cy="55208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14" name="Google Shape;1288;g60be7dcf1c_0_204">
            <a:extLst>
              <a:ext uri="{FF2B5EF4-FFF2-40B4-BE49-F238E27FC236}">
                <a16:creationId xmlns:a16="http://schemas.microsoft.com/office/drawing/2014/main" id="{3A5A658B-C73C-468A-B47B-9E631F9C601D}"/>
              </a:ext>
            </a:extLst>
          </p:cNvPr>
          <p:cNvSpPr txBox="1">
            <a:spLocks/>
          </p:cNvSpPr>
          <p:nvPr/>
        </p:nvSpPr>
        <p:spPr>
          <a:xfrm>
            <a:off x="973075" y="149350"/>
            <a:ext cx="8171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lnSpc>
                <a:spcPct val="115000"/>
              </a:lnSpc>
              <a:buSzPts val="1100"/>
            </a:pPr>
            <a: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Optimal: Cerberus</a:t>
            </a:r>
            <a:endParaRPr lang="en-GB" sz="2000" dirty="0">
              <a:solidFill>
                <a:schemeClr val="tx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algn="l">
              <a:lnSpc>
                <a:spcPct val="115000"/>
              </a:lnSpc>
              <a:buSzPts val="1100"/>
            </a:pPr>
            <a:endParaRPr lang="en-GB" sz="2000" dirty="0">
              <a:solidFill>
                <a:schemeClr val="tx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7" name="Google Shape;1333;g60be7dcf1c_0_242">
            <a:extLst>
              <a:ext uri="{FF2B5EF4-FFF2-40B4-BE49-F238E27FC236}">
                <a16:creationId xmlns:a16="http://schemas.microsoft.com/office/drawing/2014/main" id="{9D2A14AB-D46C-4186-B829-FC294EB18C6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55376" b="19271"/>
          <a:stretch/>
        </p:blipFill>
        <p:spPr>
          <a:xfrm>
            <a:off x="709497" y="4164110"/>
            <a:ext cx="7134774" cy="1356377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334;g60be7dcf1c_0_242">
            <a:extLst>
              <a:ext uri="{FF2B5EF4-FFF2-40B4-BE49-F238E27FC236}">
                <a16:creationId xmlns:a16="http://schemas.microsoft.com/office/drawing/2014/main" id="{41094315-90A7-4832-94C9-E491B4820C83}"/>
              </a:ext>
            </a:extLst>
          </p:cNvPr>
          <p:cNvSpPr txBox="1"/>
          <p:nvPr/>
        </p:nvSpPr>
        <p:spPr>
          <a:xfrm>
            <a:off x="1057697" y="5474810"/>
            <a:ext cx="5892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" name="Google Shape;1335;g60be7dcf1c_0_242">
            <a:extLst>
              <a:ext uri="{FF2B5EF4-FFF2-40B4-BE49-F238E27FC236}">
                <a16:creationId xmlns:a16="http://schemas.microsoft.com/office/drawing/2014/main" id="{AA8571DF-E5A4-4C54-BEC3-A84AB098EB68}"/>
              </a:ext>
            </a:extLst>
          </p:cNvPr>
          <p:cNvSpPr txBox="1"/>
          <p:nvPr/>
        </p:nvSpPr>
        <p:spPr>
          <a:xfrm>
            <a:off x="1901872" y="5474810"/>
            <a:ext cx="5892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" name="Google Shape;1336;g60be7dcf1c_0_242">
            <a:extLst>
              <a:ext uri="{FF2B5EF4-FFF2-40B4-BE49-F238E27FC236}">
                <a16:creationId xmlns:a16="http://schemas.microsoft.com/office/drawing/2014/main" id="{2E61A26F-39EA-4893-BD82-5424BEE73771}"/>
              </a:ext>
            </a:extLst>
          </p:cNvPr>
          <p:cNvSpPr txBox="1"/>
          <p:nvPr/>
        </p:nvSpPr>
        <p:spPr>
          <a:xfrm>
            <a:off x="2746047" y="5474810"/>
            <a:ext cx="5892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" name="Google Shape;1337;g60be7dcf1c_0_242">
            <a:extLst>
              <a:ext uri="{FF2B5EF4-FFF2-40B4-BE49-F238E27FC236}">
                <a16:creationId xmlns:a16="http://schemas.microsoft.com/office/drawing/2014/main" id="{CAC8192C-B97B-4540-B474-922A73090015}"/>
              </a:ext>
            </a:extLst>
          </p:cNvPr>
          <p:cNvSpPr txBox="1"/>
          <p:nvPr/>
        </p:nvSpPr>
        <p:spPr>
          <a:xfrm>
            <a:off x="3563022" y="5474810"/>
            <a:ext cx="6279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" name="Google Shape;1338;g60be7dcf1c_0_242">
            <a:extLst>
              <a:ext uri="{FF2B5EF4-FFF2-40B4-BE49-F238E27FC236}">
                <a16:creationId xmlns:a16="http://schemas.microsoft.com/office/drawing/2014/main" id="{06F92845-E17C-415B-A31A-53426C61CEEF}"/>
              </a:ext>
            </a:extLst>
          </p:cNvPr>
          <p:cNvSpPr txBox="1"/>
          <p:nvPr/>
        </p:nvSpPr>
        <p:spPr>
          <a:xfrm>
            <a:off x="4418697" y="5474810"/>
            <a:ext cx="5892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" name="Google Shape;1339;g60be7dcf1c_0_242">
            <a:extLst>
              <a:ext uri="{FF2B5EF4-FFF2-40B4-BE49-F238E27FC236}">
                <a16:creationId xmlns:a16="http://schemas.microsoft.com/office/drawing/2014/main" id="{A514D908-BDF2-4EFC-91B5-6F22340181D0}"/>
              </a:ext>
            </a:extLst>
          </p:cNvPr>
          <p:cNvSpPr txBox="1"/>
          <p:nvPr/>
        </p:nvSpPr>
        <p:spPr>
          <a:xfrm>
            <a:off x="5235672" y="5474810"/>
            <a:ext cx="5892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6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" name="Google Shape;1340;g60be7dcf1c_0_242">
            <a:extLst>
              <a:ext uri="{FF2B5EF4-FFF2-40B4-BE49-F238E27FC236}">
                <a16:creationId xmlns:a16="http://schemas.microsoft.com/office/drawing/2014/main" id="{AEB6511B-A494-4AD8-909E-F74EB2051AEE}"/>
              </a:ext>
            </a:extLst>
          </p:cNvPr>
          <p:cNvSpPr txBox="1"/>
          <p:nvPr/>
        </p:nvSpPr>
        <p:spPr>
          <a:xfrm>
            <a:off x="6091347" y="5474810"/>
            <a:ext cx="5505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7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" name="Google Shape;1341;g60be7dcf1c_0_242">
            <a:extLst>
              <a:ext uri="{FF2B5EF4-FFF2-40B4-BE49-F238E27FC236}">
                <a16:creationId xmlns:a16="http://schemas.microsoft.com/office/drawing/2014/main" id="{84A465A6-0E9F-4BA5-9EB1-A1728D3DD470}"/>
              </a:ext>
            </a:extLst>
          </p:cNvPr>
          <p:cNvSpPr txBox="1"/>
          <p:nvPr/>
        </p:nvSpPr>
        <p:spPr>
          <a:xfrm>
            <a:off x="6908322" y="5452285"/>
            <a:ext cx="5892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" name="Freeform 8">
            <a:extLst>
              <a:ext uri="{FF2B5EF4-FFF2-40B4-BE49-F238E27FC236}">
                <a16:creationId xmlns:a16="http://schemas.microsoft.com/office/drawing/2014/main" id="{0AA18176-289A-465F-8516-39B68297D09A}"/>
              </a:ext>
            </a:extLst>
          </p:cNvPr>
          <p:cNvSpPr/>
          <p:nvPr/>
        </p:nvSpPr>
        <p:spPr>
          <a:xfrm>
            <a:off x="1681604" y="1949856"/>
            <a:ext cx="5468558" cy="1207677"/>
          </a:xfrm>
          <a:custGeom>
            <a:avLst/>
            <a:gdLst>
              <a:gd name="connsiteX0" fmla="*/ 0 w 2651765"/>
              <a:gd name="connsiteY0" fmla="*/ 368262 h 2209528"/>
              <a:gd name="connsiteX1" fmla="*/ 368262 w 2651765"/>
              <a:gd name="connsiteY1" fmla="*/ 0 h 2209528"/>
              <a:gd name="connsiteX2" fmla="*/ 2283503 w 2651765"/>
              <a:gd name="connsiteY2" fmla="*/ 0 h 2209528"/>
              <a:gd name="connsiteX3" fmla="*/ 2651765 w 2651765"/>
              <a:gd name="connsiteY3" fmla="*/ 368262 h 2209528"/>
              <a:gd name="connsiteX4" fmla="*/ 2651765 w 2651765"/>
              <a:gd name="connsiteY4" fmla="*/ 1841266 h 2209528"/>
              <a:gd name="connsiteX5" fmla="*/ 2283503 w 2651765"/>
              <a:gd name="connsiteY5" fmla="*/ 2209528 h 2209528"/>
              <a:gd name="connsiteX6" fmla="*/ 368262 w 2651765"/>
              <a:gd name="connsiteY6" fmla="*/ 2209528 h 2209528"/>
              <a:gd name="connsiteX7" fmla="*/ 0 w 2651765"/>
              <a:gd name="connsiteY7" fmla="*/ 1841266 h 2209528"/>
              <a:gd name="connsiteX8" fmla="*/ 0 w 2651765"/>
              <a:gd name="connsiteY8" fmla="*/ 368262 h 2209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51765" h="2209528">
                <a:moveTo>
                  <a:pt x="0" y="368262"/>
                </a:moveTo>
                <a:cubicBezTo>
                  <a:pt x="0" y="164877"/>
                  <a:pt x="164877" y="0"/>
                  <a:pt x="368262" y="0"/>
                </a:cubicBezTo>
                <a:lnTo>
                  <a:pt x="2283503" y="0"/>
                </a:lnTo>
                <a:cubicBezTo>
                  <a:pt x="2486888" y="0"/>
                  <a:pt x="2651765" y="164877"/>
                  <a:pt x="2651765" y="368262"/>
                </a:cubicBezTo>
                <a:lnTo>
                  <a:pt x="2651765" y="1841266"/>
                </a:lnTo>
                <a:cubicBezTo>
                  <a:pt x="2651765" y="2044651"/>
                  <a:pt x="2486888" y="2209528"/>
                  <a:pt x="2283503" y="2209528"/>
                </a:cubicBezTo>
                <a:lnTo>
                  <a:pt x="368262" y="2209528"/>
                </a:lnTo>
                <a:cubicBezTo>
                  <a:pt x="164877" y="2209528"/>
                  <a:pt x="0" y="2044651"/>
                  <a:pt x="0" y="1841266"/>
                </a:cubicBezTo>
                <a:lnTo>
                  <a:pt x="0" y="368262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48830" tIns="248830" rIns="248830" bIns="248830" numCol="1" spcCol="1270" anchor="ctr" anchorCtr="0">
            <a:noAutofit/>
          </a:bodyPr>
          <a:lstStyle/>
          <a:p>
            <a:pPr algn="ctr"/>
            <a:endParaRPr lang="de-DE" sz="1800" b="1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CAB9C16-37A9-43F6-88BC-9621E4D0345E}"/>
              </a:ext>
            </a:extLst>
          </p:cNvPr>
          <p:cNvCxnSpPr/>
          <p:nvPr/>
        </p:nvCxnSpPr>
        <p:spPr>
          <a:xfrm flipV="1">
            <a:off x="1391672" y="3194332"/>
            <a:ext cx="825190" cy="9697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8631F36-4EAF-4E17-B82A-6ED1862B81B0}"/>
              </a:ext>
            </a:extLst>
          </p:cNvPr>
          <p:cNvCxnSpPr>
            <a:cxnSpLocks/>
          </p:cNvCxnSpPr>
          <p:nvPr/>
        </p:nvCxnSpPr>
        <p:spPr>
          <a:xfrm flipV="1">
            <a:off x="2216862" y="3194332"/>
            <a:ext cx="347918" cy="9697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1706AE3-EFC4-46DD-A2A4-6627D7DF5405}"/>
              </a:ext>
            </a:extLst>
          </p:cNvPr>
          <p:cNvCxnSpPr>
            <a:cxnSpLocks/>
          </p:cNvCxnSpPr>
          <p:nvPr/>
        </p:nvCxnSpPr>
        <p:spPr>
          <a:xfrm flipV="1">
            <a:off x="3042052" y="3194332"/>
            <a:ext cx="138276" cy="9697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C7800FD-6F5B-45AB-BA9B-8D78122CB838}"/>
              </a:ext>
            </a:extLst>
          </p:cNvPr>
          <p:cNvCxnSpPr>
            <a:cxnSpLocks/>
          </p:cNvCxnSpPr>
          <p:nvPr/>
        </p:nvCxnSpPr>
        <p:spPr>
          <a:xfrm flipV="1">
            <a:off x="3827099" y="3157533"/>
            <a:ext cx="55142" cy="10065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D964B92-CF99-4466-883C-DE614D3D9401}"/>
              </a:ext>
            </a:extLst>
          </p:cNvPr>
          <p:cNvCxnSpPr>
            <a:cxnSpLocks/>
          </p:cNvCxnSpPr>
          <p:nvPr/>
        </p:nvCxnSpPr>
        <p:spPr>
          <a:xfrm flipH="1" flipV="1">
            <a:off x="4634447" y="3157533"/>
            <a:ext cx="75828" cy="10065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3C324BC-8E0E-4330-B120-12E7F57EF53A}"/>
              </a:ext>
            </a:extLst>
          </p:cNvPr>
          <p:cNvCxnSpPr>
            <a:cxnSpLocks/>
          </p:cNvCxnSpPr>
          <p:nvPr/>
        </p:nvCxnSpPr>
        <p:spPr>
          <a:xfrm flipH="1" flipV="1">
            <a:off x="5249995" y="3157533"/>
            <a:ext cx="346440" cy="10433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FBB79C7-3F32-4199-B92E-B7F0C40D16CC}"/>
              </a:ext>
            </a:extLst>
          </p:cNvPr>
          <p:cNvCxnSpPr>
            <a:cxnSpLocks/>
          </p:cNvCxnSpPr>
          <p:nvPr/>
        </p:nvCxnSpPr>
        <p:spPr>
          <a:xfrm flipH="1" flipV="1">
            <a:off x="6040241" y="3150648"/>
            <a:ext cx="346440" cy="10433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1E553DF-C3FA-4E83-B6DF-C2EB3408596A}"/>
              </a:ext>
            </a:extLst>
          </p:cNvPr>
          <p:cNvCxnSpPr>
            <a:cxnSpLocks/>
          </p:cNvCxnSpPr>
          <p:nvPr/>
        </p:nvCxnSpPr>
        <p:spPr>
          <a:xfrm flipH="1" flipV="1">
            <a:off x="6548750" y="3157534"/>
            <a:ext cx="666828" cy="103649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Freeform 8">
            <a:extLst>
              <a:ext uri="{FF2B5EF4-FFF2-40B4-BE49-F238E27FC236}">
                <a16:creationId xmlns:a16="http://schemas.microsoft.com/office/drawing/2014/main" id="{6AA18E59-A28F-4BEE-A76F-EAC61BFBEA74}"/>
              </a:ext>
            </a:extLst>
          </p:cNvPr>
          <p:cNvSpPr/>
          <p:nvPr/>
        </p:nvSpPr>
        <p:spPr>
          <a:xfrm>
            <a:off x="1947553" y="2094953"/>
            <a:ext cx="1501243" cy="859053"/>
          </a:xfrm>
          <a:custGeom>
            <a:avLst/>
            <a:gdLst>
              <a:gd name="connsiteX0" fmla="*/ 0 w 2651765"/>
              <a:gd name="connsiteY0" fmla="*/ 368262 h 2209528"/>
              <a:gd name="connsiteX1" fmla="*/ 368262 w 2651765"/>
              <a:gd name="connsiteY1" fmla="*/ 0 h 2209528"/>
              <a:gd name="connsiteX2" fmla="*/ 2283503 w 2651765"/>
              <a:gd name="connsiteY2" fmla="*/ 0 h 2209528"/>
              <a:gd name="connsiteX3" fmla="*/ 2651765 w 2651765"/>
              <a:gd name="connsiteY3" fmla="*/ 368262 h 2209528"/>
              <a:gd name="connsiteX4" fmla="*/ 2651765 w 2651765"/>
              <a:gd name="connsiteY4" fmla="*/ 1841266 h 2209528"/>
              <a:gd name="connsiteX5" fmla="*/ 2283503 w 2651765"/>
              <a:gd name="connsiteY5" fmla="*/ 2209528 h 2209528"/>
              <a:gd name="connsiteX6" fmla="*/ 368262 w 2651765"/>
              <a:gd name="connsiteY6" fmla="*/ 2209528 h 2209528"/>
              <a:gd name="connsiteX7" fmla="*/ 0 w 2651765"/>
              <a:gd name="connsiteY7" fmla="*/ 1841266 h 2209528"/>
              <a:gd name="connsiteX8" fmla="*/ 0 w 2651765"/>
              <a:gd name="connsiteY8" fmla="*/ 368262 h 2209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51765" h="2209528">
                <a:moveTo>
                  <a:pt x="0" y="368262"/>
                </a:moveTo>
                <a:cubicBezTo>
                  <a:pt x="0" y="164877"/>
                  <a:pt x="164877" y="0"/>
                  <a:pt x="368262" y="0"/>
                </a:cubicBezTo>
                <a:lnTo>
                  <a:pt x="2283503" y="0"/>
                </a:lnTo>
                <a:cubicBezTo>
                  <a:pt x="2486888" y="0"/>
                  <a:pt x="2651765" y="164877"/>
                  <a:pt x="2651765" y="368262"/>
                </a:cubicBezTo>
                <a:lnTo>
                  <a:pt x="2651765" y="1841266"/>
                </a:lnTo>
                <a:cubicBezTo>
                  <a:pt x="2651765" y="2044651"/>
                  <a:pt x="2486888" y="2209528"/>
                  <a:pt x="2283503" y="2209528"/>
                </a:cubicBezTo>
                <a:lnTo>
                  <a:pt x="368262" y="2209528"/>
                </a:lnTo>
                <a:cubicBezTo>
                  <a:pt x="164877" y="2209528"/>
                  <a:pt x="0" y="2044651"/>
                  <a:pt x="0" y="1841266"/>
                </a:cubicBezTo>
                <a:lnTo>
                  <a:pt x="0" y="368262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48830" tIns="248830" rIns="248830" bIns="248830" numCol="1" spcCol="1270" anchor="ctr" anchorCtr="0">
            <a:noAutofit/>
          </a:bodyPr>
          <a:lstStyle/>
          <a:p>
            <a:pPr algn="ctr"/>
            <a:endParaRPr lang="de-DE" sz="1800" b="1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8" name="Freeform 8">
            <a:extLst>
              <a:ext uri="{FF2B5EF4-FFF2-40B4-BE49-F238E27FC236}">
                <a16:creationId xmlns:a16="http://schemas.microsoft.com/office/drawing/2014/main" id="{8039DA2F-13A2-4C83-85B2-D986CB2C9A10}"/>
              </a:ext>
            </a:extLst>
          </p:cNvPr>
          <p:cNvSpPr/>
          <p:nvPr/>
        </p:nvSpPr>
        <p:spPr>
          <a:xfrm>
            <a:off x="3553849" y="2099653"/>
            <a:ext cx="1501243" cy="859053"/>
          </a:xfrm>
          <a:custGeom>
            <a:avLst/>
            <a:gdLst>
              <a:gd name="connsiteX0" fmla="*/ 0 w 2651765"/>
              <a:gd name="connsiteY0" fmla="*/ 368262 h 2209528"/>
              <a:gd name="connsiteX1" fmla="*/ 368262 w 2651765"/>
              <a:gd name="connsiteY1" fmla="*/ 0 h 2209528"/>
              <a:gd name="connsiteX2" fmla="*/ 2283503 w 2651765"/>
              <a:gd name="connsiteY2" fmla="*/ 0 h 2209528"/>
              <a:gd name="connsiteX3" fmla="*/ 2651765 w 2651765"/>
              <a:gd name="connsiteY3" fmla="*/ 368262 h 2209528"/>
              <a:gd name="connsiteX4" fmla="*/ 2651765 w 2651765"/>
              <a:gd name="connsiteY4" fmla="*/ 1841266 h 2209528"/>
              <a:gd name="connsiteX5" fmla="*/ 2283503 w 2651765"/>
              <a:gd name="connsiteY5" fmla="*/ 2209528 h 2209528"/>
              <a:gd name="connsiteX6" fmla="*/ 368262 w 2651765"/>
              <a:gd name="connsiteY6" fmla="*/ 2209528 h 2209528"/>
              <a:gd name="connsiteX7" fmla="*/ 0 w 2651765"/>
              <a:gd name="connsiteY7" fmla="*/ 1841266 h 2209528"/>
              <a:gd name="connsiteX8" fmla="*/ 0 w 2651765"/>
              <a:gd name="connsiteY8" fmla="*/ 368262 h 2209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51765" h="2209528">
                <a:moveTo>
                  <a:pt x="0" y="368262"/>
                </a:moveTo>
                <a:cubicBezTo>
                  <a:pt x="0" y="164877"/>
                  <a:pt x="164877" y="0"/>
                  <a:pt x="368262" y="0"/>
                </a:cubicBezTo>
                <a:lnTo>
                  <a:pt x="2283503" y="0"/>
                </a:lnTo>
                <a:cubicBezTo>
                  <a:pt x="2486888" y="0"/>
                  <a:pt x="2651765" y="164877"/>
                  <a:pt x="2651765" y="368262"/>
                </a:cubicBezTo>
                <a:lnTo>
                  <a:pt x="2651765" y="1841266"/>
                </a:lnTo>
                <a:cubicBezTo>
                  <a:pt x="2651765" y="2044651"/>
                  <a:pt x="2486888" y="2209528"/>
                  <a:pt x="2283503" y="2209528"/>
                </a:cubicBezTo>
                <a:lnTo>
                  <a:pt x="368262" y="2209528"/>
                </a:lnTo>
                <a:cubicBezTo>
                  <a:pt x="164877" y="2209528"/>
                  <a:pt x="0" y="2044651"/>
                  <a:pt x="0" y="1841266"/>
                </a:cubicBezTo>
                <a:lnTo>
                  <a:pt x="0" y="368262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48830" tIns="248830" rIns="248830" bIns="248830" numCol="1" spcCol="1270" anchor="ctr" anchorCtr="0">
            <a:noAutofit/>
          </a:bodyPr>
          <a:lstStyle/>
          <a:p>
            <a:pPr algn="ctr"/>
            <a:endParaRPr lang="de-DE" sz="1800" b="1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Freeform 8">
            <a:extLst>
              <a:ext uri="{FF2B5EF4-FFF2-40B4-BE49-F238E27FC236}">
                <a16:creationId xmlns:a16="http://schemas.microsoft.com/office/drawing/2014/main" id="{082DD5A5-4C9E-4F8E-B02F-6601A6DD0A27}"/>
              </a:ext>
            </a:extLst>
          </p:cNvPr>
          <p:cNvSpPr/>
          <p:nvPr/>
        </p:nvSpPr>
        <p:spPr>
          <a:xfrm>
            <a:off x="5160145" y="2094953"/>
            <a:ext cx="1501243" cy="859053"/>
          </a:xfrm>
          <a:custGeom>
            <a:avLst/>
            <a:gdLst>
              <a:gd name="connsiteX0" fmla="*/ 0 w 2651765"/>
              <a:gd name="connsiteY0" fmla="*/ 368262 h 2209528"/>
              <a:gd name="connsiteX1" fmla="*/ 368262 w 2651765"/>
              <a:gd name="connsiteY1" fmla="*/ 0 h 2209528"/>
              <a:gd name="connsiteX2" fmla="*/ 2283503 w 2651765"/>
              <a:gd name="connsiteY2" fmla="*/ 0 h 2209528"/>
              <a:gd name="connsiteX3" fmla="*/ 2651765 w 2651765"/>
              <a:gd name="connsiteY3" fmla="*/ 368262 h 2209528"/>
              <a:gd name="connsiteX4" fmla="*/ 2651765 w 2651765"/>
              <a:gd name="connsiteY4" fmla="*/ 1841266 h 2209528"/>
              <a:gd name="connsiteX5" fmla="*/ 2283503 w 2651765"/>
              <a:gd name="connsiteY5" fmla="*/ 2209528 h 2209528"/>
              <a:gd name="connsiteX6" fmla="*/ 368262 w 2651765"/>
              <a:gd name="connsiteY6" fmla="*/ 2209528 h 2209528"/>
              <a:gd name="connsiteX7" fmla="*/ 0 w 2651765"/>
              <a:gd name="connsiteY7" fmla="*/ 1841266 h 2209528"/>
              <a:gd name="connsiteX8" fmla="*/ 0 w 2651765"/>
              <a:gd name="connsiteY8" fmla="*/ 368262 h 2209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51765" h="2209528">
                <a:moveTo>
                  <a:pt x="0" y="368262"/>
                </a:moveTo>
                <a:cubicBezTo>
                  <a:pt x="0" y="164877"/>
                  <a:pt x="164877" y="0"/>
                  <a:pt x="368262" y="0"/>
                </a:cubicBezTo>
                <a:lnTo>
                  <a:pt x="2283503" y="0"/>
                </a:lnTo>
                <a:cubicBezTo>
                  <a:pt x="2486888" y="0"/>
                  <a:pt x="2651765" y="164877"/>
                  <a:pt x="2651765" y="368262"/>
                </a:cubicBezTo>
                <a:lnTo>
                  <a:pt x="2651765" y="1841266"/>
                </a:lnTo>
                <a:cubicBezTo>
                  <a:pt x="2651765" y="2044651"/>
                  <a:pt x="2486888" y="2209528"/>
                  <a:pt x="2283503" y="2209528"/>
                </a:cubicBezTo>
                <a:lnTo>
                  <a:pt x="368262" y="2209528"/>
                </a:lnTo>
                <a:cubicBezTo>
                  <a:pt x="164877" y="2209528"/>
                  <a:pt x="0" y="2044651"/>
                  <a:pt x="0" y="1841266"/>
                </a:cubicBezTo>
                <a:lnTo>
                  <a:pt x="0" y="368262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48830" tIns="248830" rIns="248830" bIns="248830" numCol="1" spcCol="1270" anchor="ctr" anchorCtr="0">
            <a:noAutofit/>
          </a:bodyPr>
          <a:lstStyle/>
          <a:p>
            <a:pPr algn="ctr"/>
            <a:endParaRPr lang="de-DE" sz="1800" b="1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Google Shape;1534;g60be7dcf1c_0_434">
            <a:extLst>
              <a:ext uri="{FF2B5EF4-FFF2-40B4-BE49-F238E27FC236}">
                <a16:creationId xmlns:a16="http://schemas.microsoft.com/office/drawing/2014/main" id="{09FC3FC7-94B9-415E-93D5-4AEA770EE6D8}"/>
              </a:ext>
            </a:extLst>
          </p:cNvPr>
          <p:cNvSpPr txBox="1"/>
          <p:nvPr/>
        </p:nvSpPr>
        <p:spPr>
          <a:xfrm>
            <a:off x="1537427" y="2065708"/>
            <a:ext cx="2417240" cy="545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lnSpc>
                <a:spcPct val="115000"/>
              </a:lnSpc>
            </a:pPr>
            <a:r>
              <a:rPr lang="en-U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K</a:t>
            </a:r>
            <a:r>
              <a:rPr lang="en-US" baseline="-25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</a:t>
            </a:r>
            <a:r>
              <a:rPr lang="en-U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</a:p>
          <a:p>
            <a:pPr lvl="0" algn="ctr">
              <a:lnSpc>
                <a:spcPct val="115000"/>
              </a:lnSpc>
            </a:pPr>
            <a:r>
              <a:rPr lang="en-U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static </a:t>
            </a:r>
          </a:p>
          <a:p>
            <a:pPr lvl="0" algn="ctr">
              <a:lnSpc>
                <a:spcPct val="115000"/>
              </a:lnSpc>
            </a:pPr>
            <a:r>
              <a:rPr lang="en-U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switches</a:t>
            </a:r>
            <a:endParaRPr lang="de-D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" name="Google Shape;1534;g60be7dcf1c_0_434">
            <a:extLst>
              <a:ext uri="{FF2B5EF4-FFF2-40B4-BE49-F238E27FC236}">
                <a16:creationId xmlns:a16="http://schemas.microsoft.com/office/drawing/2014/main" id="{46EA69EA-6A18-457A-8CFA-45EB19F65A48}"/>
              </a:ext>
            </a:extLst>
          </p:cNvPr>
          <p:cNvSpPr txBox="1"/>
          <p:nvPr/>
        </p:nvSpPr>
        <p:spPr>
          <a:xfrm>
            <a:off x="3095850" y="2065707"/>
            <a:ext cx="2417240" cy="545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lnSpc>
                <a:spcPct val="115000"/>
              </a:lnSpc>
            </a:pPr>
            <a:r>
              <a:rPr lang="en-U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K</a:t>
            </a:r>
            <a:r>
              <a:rPr lang="en-US" baseline="-25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</a:t>
            </a:r>
            <a:r>
              <a:rPr lang="en-U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</a:p>
          <a:p>
            <a:pPr lvl="0" algn="ctr">
              <a:lnSpc>
                <a:spcPct val="115000"/>
              </a:lnSpc>
            </a:pPr>
            <a:r>
              <a:rPr lang="en-U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rotor </a:t>
            </a:r>
          </a:p>
          <a:p>
            <a:pPr lvl="0" algn="ctr">
              <a:lnSpc>
                <a:spcPct val="115000"/>
              </a:lnSpc>
            </a:pPr>
            <a:r>
              <a:rPr lang="en-U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switches</a:t>
            </a:r>
            <a:endParaRPr lang="de-D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" name="Google Shape;1534;g60be7dcf1c_0_434">
            <a:extLst>
              <a:ext uri="{FF2B5EF4-FFF2-40B4-BE49-F238E27FC236}">
                <a16:creationId xmlns:a16="http://schemas.microsoft.com/office/drawing/2014/main" id="{B31E94A9-C72F-4157-AB29-B88DDC5DB130}"/>
              </a:ext>
            </a:extLst>
          </p:cNvPr>
          <p:cNvSpPr txBox="1"/>
          <p:nvPr/>
        </p:nvSpPr>
        <p:spPr>
          <a:xfrm>
            <a:off x="4672361" y="2040944"/>
            <a:ext cx="2417240" cy="545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lnSpc>
                <a:spcPct val="115000"/>
              </a:lnSpc>
            </a:pPr>
            <a:r>
              <a:rPr lang="en-US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K</a:t>
            </a:r>
            <a:r>
              <a:rPr lang="en-US" baseline="-250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</a:t>
            </a:r>
            <a:r>
              <a:rPr lang="en-U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</a:p>
          <a:p>
            <a:pPr lvl="0" algn="ctr">
              <a:lnSpc>
                <a:spcPct val="115000"/>
              </a:lnSpc>
            </a:pPr>
            <a:r>
              <a:rPr lang="en-U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demand-aware </a:t>
            </a:r>
          </a:p>
          <a:p>
            <a:pPr lvl="0" algn="ctr">
              <a:lnSpc>
                <a:spcPct val="115000"/>
              </a:lnSpc>
            </a:pPr>
            <a:r>
              <a:rPr lang="en-U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switches</a:t>
            </a:r>
            <a:endParaRPr lang="de-D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33" name="Picture 2" descr="https://upload.wikimedia.org/wikipedia/commons/1/1a/Herakles_Kerberos_Eurystheus_Louvre_E701.jpg">
            <a:extLst>
              <a:ext uri="{FF2B5EF4-FFF2-40B4-BE49-F238E27FC236}">
                <a16:creationId xmlns:a16="http://schemas.microsoft.com/office/drawing/2014/main" id="{81E65043-837D-492A-BC24-5B090CDBD8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7211" y="131800"/>
            <a:ext cx="2074120" cy="1575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Google Shape;1534;g60be7dcf1c_0_434">
            <a:extLst>
              <a:ext uri="{FF2B5EF4-FFF2-40B4-BE49-F238E27FC236}">
                <a16:creationId xmlns:a16="http://schemas.microsoft.com/office/drawing/2014/main" id="{92160E07-84EB-460F-B6E7-2E20D0B67241}"/>
              </a:ext>
            </a:extLst>
          </p:cNvPr>
          <p:cNvSpPr txBox="1"/>
          <p:nvPr/>
        </p:nvSpPr>
        <p:spPr>
          <a:xfrm>
            <a:off x="1017000" y="5977638"/>
            <a:ext cx="6623101" cy="54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GB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Scheduling: </a:t>
            </a: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… </a:t>
            </a:r>
            <a:r>
              <a:rPr lang="en-GB" sz="1600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medium flows</a:t>
            </a: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via rotor switches…</a:t>
            </a: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>
              <a:lnSpc>
                <a:spcPct val="115000"/>
              </a:lnSpc>
            </a:pP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>
              <a:lnSpc>
                <a:spcPct val="115000"/>
              </a:lnSpc>
            </a:pPr>
            <a:endParaRPr lang="de-DE"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02003B39-7347-4EDF-8FA1-7F2E862A1BE9}"/>
              </a:ext>
            </a:extLst>
          </p:cNvPr>
          <p:cNvSpPr/>
          <p:nvPr/>
        </p:nvSpPr>
        <p:spPr>
          <a:xfrm>
            <a:off x="1386768" y="2669528"/>
            <a:ext cx="3382856" cy="1490775"/>
          </a:xfrm>
          <a:custGeom>
            <a:avLst/>
            <a:gdLst>
              <a:gd name="connsiteX0" fmla="*/ 0 w 3382856"/>
              <a:gd name="connsiteY0" fmla="*/ 1490775 h 1490775"/>
              <a:gd name="connsiteX1" fmla="*/ 2851541 w 3382856"/>
              <a:gd name="connsiteY1" fmla="*/ 0 h 1490775"/>
              <a:gd name="connsiteX2" fmla="*/ 3375913 w 3382856"/>
              <a:gd name="connsiteY2" fmla="*/ 1486442 h 1490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382856" h="1490775">
                <a:moveTo>
                  <a:pt x="0" y="1490775"/>
                </a:moveTo>
                <a:cubicBezTo>
                  <a:pt x="1144444" y="745748"/>
                  <a:pt x="2288889" y="722"/>
                  <a:pt x="2851541" y="0"/>
                </a:cubicBezTo>
                <a:cubicBezTo>
                  <a:pt x="3414193" y="-722"/>
                  <a:pt x="3395053" y="742860"/>
                  <a:pt x="3375913" y="1486442"/>
                </a:cubicBezTo>
              </a:path>
            </a:pathLst>
          </a:custGeom>
          <a:noFill/>
          <a:ln w="38100">
            <a:solidFill>
              <a:schemeClr val="accent1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0CE03A01-5601-4C59-A18D-D79ABAF23FB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1809" y="2207238"/>
            <a:ext cx="681155" cy="50348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125EEF-00AE-4621-922D-8C94230E3BA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136</a:t>
            </a:fld>
            <a:endParaRPr lang="de-DE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5A1D4AD-BD8B-49C7-A640-A4D534D9ACD2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E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7925401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Freeform 8">
            <a:extLst>
              <a:ext uri="{FF2B5EF4-FFF2-40B4-BE49-F238E27FC236}">
                <a16:creationId xmlns:a16="http://schemas.microsoft.com/office/drawing/2014/main" id="{8ADFEB55-2D54-4348-9C63-C25579D9D8DE}"/>
              </a:ext>
            </a:extLst>
          </p:cNvPr>
          <p:cNvSpPr/>
          <p:nvPr/>
        </p:nvSpPr>
        <p:spPr>
          <a:xfrm>
            <a:off x="1681604" y="1949856"/>
            <a:ext cx="5468558" cy="1207677"/>
          </a:xfrm>
          <a:custGeom>
            <a:avLst/>
            <a:gdLst>
              <a:gd name="connsiteX0" fmla="*/ 0 w 2651765"/>
              <a:gd name="connsiteY0" fmla="*/ 368262 h 2209528"/>
              <a:gd name="connsiteX1" fmla="*/ 368262 w 2651765"/>
              <a:gd name="connsiteY1" fmla="*/ 0 h 2209528"/>
              <a:gd name="connsiteX2" fmla="*/ 2283503 w 2651765"/>
              <a:gd name="connsiteY2" fmla="*/ 0 h 2209528"/>
              <a:gd name="connsiteX3" fmla="*/ 2651765 w 2651765"/>
              <a:gd name="connsiteY3" fmla="*/ 368262 h 2209528"/>
              <a:gd name="connsiteX4" fmla="*/ 2651765 w 2651765"/>
              <a:gd name="connsiteY4" fmla="*/ 1841266 h 2209528"/>
              <a:gd name="connsiteX5" fmla="*/ 2283503 w 2651765"/>
              <a:gd name="connsiteY5" fmla="*/ 2209528 h 2209528"/>
              <a:gd name="connsiteX6" fmla="*/ 368262 w 2651765"/>
              <a:gd name="connsiteY6" fmla="*/ 2209528 h 2209528"/>
              <a:gd name="connsiteX7" fmla="*/ 0 w 2651765"/>
              <a:gd name="connsiteY7" fmla="*/ 1841266 h 2209528"/>
              <a:gd name="connsiteX8" fmla="*/ 0 w 2651765"/>
              <a:gd name="connsiteY8" fmla="*/ 368262 h 2209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51765" h="2209528">
                <a:moveTo>
                  <a:pt x="0" y="368262"/>
                </a:moveTo>
                <a:cubicBezTo>
                  <a:pt x="0" y="164877"/>
                  <a:pt x="164877" y="0"/>
                  <a:pt x="368262" y="0"/>
                </a:cubicBezTo>
                <a:lnTo>
                  <a:pt x="2283503" y="0"/>
                </a:lnTo>
                <a:cubicBezTo>
                  <a:pt x="2486888" y="0"/>
                  <a:pt x="2651765" y="164877"/>
                  <a:pt x="2651765" y="368262"/>
                </a:cubicBezTo>
                <a:lnTo>
                  <a:pt x="2651765" y="1841266"/>
                </a:lnTo>
                <a:cubicBezTo>
                  <a:pt x="2651765" y="2044651"/>
                  <a:pt x="2486888" y="2209528"/>
                  <a:pt x="2283503" y="2209528"/>
                </a:cubicBezTo>
                <a:lnTo>
                  <a:pt x="368262" y="2209528"/>
                </a:lnTo>
                <a:cubicBezTo>
                  <a:pt x="164877" y="2209528"/>
                  <a:pt x="0" y="2044651"/>
                  <a:pt x="0" y="1841266"/>
                </a:cubicBezTo>
                <a:lnTo>
                  <a:pt x="0" y="368262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48830" tIns="248830" rIns="248830" bIns="248830" numCol="1" spcCol="1270" anchor="ctr" anchorCtr="0">
            <a:noAutofit/>
          </a:bodyPr>
          <a:lstStyle/>
          <a:p>
            <a:pPr algn="ctr"/>
            <a:endParaRPr lang="de-DE" sz="1800" b="1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Google Shape;1309;g60be7dcf1c_0_222">
            <a:extLst>
              <a:ext uri="{FF2B5EF4-FFF2-40B4-BE49-F238E27FC236}">
                <a16:creationId xmlns:a16="http://schemas.microsoft.com/office/drawing/2014/main" id="{4DE19C73-9916-40CA-87D9-CC4934AE39A5}"/>
              </a:ext>
            </a:extLst>
          </p:cNvPr>
          <p:cNvSpPr txBox="1"/>
          <p:nvPr/>
        </p:nvSpPr>
        <p:spPr>
          <a:xfrm>
            <a:off x="0" y="540000"/>
            <a:ext cx="8170925" cy="55208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14" name="Google Shape;1288;g60be7dcf1c_0_204">
            <a:extLst>
              <a:ext uri="{FF2B5EF4-FFF2-40B4-BE49-F238E27FC236}">
                <a16:creationId xmlns:a16="http://schemas.microsoft.com/office/drawing/2014/main" id="{3A5A658B-C73C-468A-B47B-9E631F9C601D}"/>
              </a:ext>
            </a:extLst>
          </p:cNvPr>
          <p:cNvSpPr txBox="1">
            <a:spLocks/>
          </p:cNvSpPr>
          <p:nvPr/>
        </p:nvSpPr>
        <p:spPr>
          <a:xfrm>
            <a:off x="973075" y="149350"/>
            <a:ext cx="8171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lnSpc>
                <a:spcPct val="115000"/>
              </a:lnSpc>
              <a:buSzPts val="1100"/>
            </a:pPr>
            <a: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Optimal: Cerberus</a:t>
            </a:r>
            <a:endParaRPr lang="en-GB" sz="2000" dirty="0">
              <a:solidFill>
                <a:schemeClr val="tx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algn="l">
              <a:lnSpc>
                <a:spcPct val="115000"/>
              </a:lnSpc>
              <a:buSzPts val="1100"/>
            </a:pPr>
            <a:endParaRPr lang="en-GB" sz="2000" dirty="0">
              <a:solidFill>
                <a:schemeClr val="tx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7" name="Google Shape;1333;g60be7dcf1c_0_242">
            <a:extLst>
              <a:ext uri="{FF2B5EF4-FFF2-40B4-BE49-F238E27FC236}">
                <a16:creationId xmlns:a16="http://schemas.microsoft.com/office/drawing/2014/main" id="{9D2A14AB-D46C-4186-B829-FC294EB18C6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55376" b="19271"/>
          <a:stretch/>
        </p:blipFill>
        <p:spPr>
          <a:xfrm>
            <a:off x="709497" y="4164110"/>
            <a:ext cx="7134774" cy="1356377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334;g60be7dcf1c_0_242">
            <a:extLst>
              <a:ext uri="{FF2B5EF4-FFF2-40B4-BE49-F238E27FC236}">
                <a16:creationId xmlns:a16="http://schemas.microsoft.com/office/drawing/2014/main" id="{41094315-90A7-4832-94C9-E491B4820C83}"/>
              </a:ext>
            </a:extLst>
          </p:cNvPr>
          <p:cNvSpPr txBox="1"/>
          <p:nvPr/>
        </p:nvSpPr>
        <p:spPr>
          <a:xfrm>
            <a:off x="1057697" y="5474810"/>
            <a:ext cx="5892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" name="Google Shape;1335;g60be7dcf1c_0_242">
            <a:extLst>
              <a:ext uri="{FF2B5EF4-FFF2-40B4-BE49-F238E27FC236}">
                <a16:creationId xmlns:a16="http://schemas.microsoft.com/office/drawing/2014/main" id="{AA8571DF-E5A4-4C54-BEC3-A84AB098EB68}"/>
              </a:ext>
            </a:extLst>
          </p:cNvPr>
          <p:cNvSpPr txBox="1"/>
          <p:nvPr/>
        </p:nvSpPr>
        <p:spPr>
          <a:xfrm>
            <a:off x="1901872" y="5474810"/>
            <a:ext cx="5892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" name="Google Shape;1336;g60be7dcf1c_0_242">
            <a:extLst>
              <a:ext uri="{FF2B5EF4-FFF2-40B4-BE49-F238E27FC236}">
                <a16:creationId xmlns:a16="http://schemas.microsoft.com/office/drawing/2014/main" id="{2E61A26F-39EA-4893-BD82-5424BEE73771}"/>
              </a:ext>
            </a:extLst>
          </p:cNvPr>
          <p:cNvSpPr txBox="1"/>
          <p:nvPr/>
        </p:nvSpPr>
        <p:spPr>
          <a:xfrm>
            <a:off x="2746047" y="5474810"/>
            <a:ext cx="5892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" name="Google Shape;1337;g60be7dcf1c_0_242">
            <a:extLst>
              <a:ext uri="{FF2B5EF4-FFF2-40B4-BE49-F238E27FC236}">
                <a16:creationId xmlns:a16="http://schemas.microsoft.com/office/drawing/2014/main" id="{CAC8192C-B97B-4540-B474-922A73090015}"/>
              </a:ext>
            </a:extLst>
          </p:cNvPr>
          <p:cNvSpPr txBox="1"/>
          <p:nvPr/>
        </p:nvSpPr>
        <p:spPr>
          <a:xfrm>
            <a:off x="3563022" y="5474810"/>
            <a:ext cx="6279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" name="Google Shape;1338;g60be7dcf1c_0_242">
            <a:extLst>
              <a:ext uri="{FF2B5EF4-FFF2-40B4-BE49-F238E27FC236}">
                <a16:creationId xmlns:a16="http://schemas.microsoft.com/office/drawing/2014/main" id="{06F92845-E17C-415B-A31A-53426C61CEEF}"/>
              </a:ext>
            </a:extLst>
          </p:cNvPr>
          <p:cNvSpPr txBox="1"/>
          <p:nvPr/>
        </p:nvSpPr>
        <p:spPr>
          <a:xfrm>
            <a:off x="4418697" y="5474810"/>
            <a:ext cx="5892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" name="Google Shape;1339;g60be7dcf1c_0_242">
            <a:extLst>
              <a:ext uri="{FF2B5EF4-FFF2-40B4-BE49-F238E27FC236}">
                <a16:creationId xmlns:a16="http://schemas.microsoft.com/office/drawing/2014/main" id="{A514D908-BDF2-4EFC-91B5-6F22340181D0}"/>
              </a:ext>
            </a:extLst>
          </p:cNvPr>
          <p:cNvSpPr txBox="1"/>
          <p:nvPr/>
        </p:nvSpPr>
        <p:spPr>
          <a:xfrm>
            <a:off x="5235672" y="5474810"/>
            <a:ext cx="5892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6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" name="Google Shape;1340;g60be7dcf1c_0_242">
            <a:extLst>
              <a:ext uri="{FF2B5EF4-FFF2-40B4-BE49-F238E27FC236}">
                <a16:creationId xmlns:a16="http://schemas.microsoft.com/office/drawing/2014/main" id="{AEB6511B-A494-4AD8-909E-F74EB2051AEE}"/>
              </a:ext>
            </a:extLst>
          </p:cNvPr>
          <p:cNvSpPr txBox="1"/>
          <p:nvPr/>
        </p:nvSpPr>
        <p:spPr>
          <a:xfrm>
            <a:off x="6091347" y="5474810"/>
            <a:ext cx="5505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7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" name="Google Shape;1341;g60be7dcf1c_0_242">
            <a:extLst>
              <a:ext uri="{FF2B5EF4-FFF2-40B4-BE49-F238E27FC236}">
                <a16:creationId xmlns:a16="http://schemas.microsoft.com/office/drawing/2014/main" id="{84A465A6-0E9F-4BA5-9EB1-A1728D3DD470}"/>
              </a:ext>
            </a:extLst>
          </p:cNvPr>
          <p:cNvSpPr txBox="1"/>
          <p:nvPr/>
        </p:nvSpPr>
        <p:spPr>
          <a:xfrm>
            <a:off x="6908322" y="5452285"/>
            <a:ext cx="5892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CAB9C16-37A9-43F6-88BC-9621E4D0345E}"/>
              </a:ext>
            </a:extLst>
          </p:cNvPr>
          <p:cNvCxnSpPr/>
          <p:nvPr/>
        </p:nvCxnSpPr>
        <p:spPr>
          <a:xfrm flipV="1">
            <a:off x="1391672" y="3194332"/>
            <a:ext cx="825190" cy="9697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8631F36-4EAF-4E17-B82A-6ED1862B81B0}"/>
              </a:ext>
            </a:extLst>
          </p:cNvPr>
          <p:cNvCxnSpPr>
            <a:cxnSpLocks/>
          </p:cNvCxnSpPr>
          <p:nvPr/>
        </p:nvCxnSpPr>
        <p:spPr>
          <a:xfrm flipV="1">
            <a:off x="2216862" y="3194332"/>
            <a:ext cx="347918" cy="9697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1706AE3-EFC4-46DD-A2A4-6627D7DF5405}"/>
              </a:ext>
            </a:extLst>
          </p:cNvPr>
          <p:cNvCxnSpPr>
            <a:cxnSpLocks/>
          </p:cNvCxnSpPr>
          <p:nvPr/>
        </p:nvCxnSpPr>
        <p:spPr>
          <a:xfrm flipV="1">
            <a:off x="3042052" y="3194332"/>
            <a:ext cx="138276" cy="9697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C7800FD-6F5B-45AB-BA9B-8D78122CB838}"/>
              </a:ext>
            </a:extLst>
          </p:cNvPr>
          <p:cNvCxnSpPr>
            <a:cxnSpLocks/>
          </p:cNvCxnSpPr>
          <p:nvPr/>
        </p:nvCxnSpPr>
        <p:spPr>
          <a:xfrm flipV="1">
            <a:off x="3827099" y="3157533"/>
            <a:ext cx="55142" cy="10065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D964B92-CF99-4466-883C-DE614D3D9401}"/>
              </a:ext>
            </a:extLst>
          </p:cNvPr>
          <p:cNvCxnSpPr>
            <a:cxnSpLocks/>
          </p:cNvCxnSpPr>
          <p:nvPr/>
        </p:nvCxnSpPr>
        <p:spPr>
          <a:xfrm flipH="1" flipV="1">
            <a:off x="4634447" y="3157533"/>
            <a:ext cx="75828" cy="10065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3C324BC-8E0E-4330-B120-12E7F57EF53A}"/>
              </a:ext>
            </a:extLst>
          </p:cNvPr>
          <p:cNvCxnSpPr>
            <a:cxnSpLocks/>
          </p:cNvCxnSpPr>
          <p:nvPr/>
        </p:nvCxnSpPr>
        <p:spPr>
          <a:xfrm flipH="1" flipV="1">
            <a:off x="5249995" y="3157533"/>
            <a:ext cx="346440" cy="10433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FBB79C7-3F32-4199-B92E-B7F0C40D16CC}"/>
              </a:ext>
            </a:extLst>
          </p:cNvPr>
          <p:cNvCxnSpPr>
            <a:cxnSpLocks/>
          </p:cNvCxnSpPr>
          <p:nvPr/>
        </p:nvCxnSpPr>
        <p:spPr>
          <a:xfrm flipH="1" flipV="1">
            <a:off x="6040241" y="3150648"/>
            <a:ext cx="346440" cy="10433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1E553DF-C3FA-4E83-B6DF-C2EB3408596A}"/>
              </a:ext>
            </a:extLst>
          </p:cNvPr>
          <p:cNvCxnSpPr>
            <a:cxnSpLocks/>
          </p:cNvCxnSpPr>
          <p:nvPr/>
        </p:nvCxnSpPr>
        <p:spPr>
          <a:xfrm flipH="1" flipV="1">
            <a:off x="6548750" y="3157534"/>
            <a:ext cx="666828" cy="103649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Freeform 8">
            <a:extLst>
              <a:ext uri="{FF2B5EF4-FFF2-40B4-BE49-F238E27FC236}">
                <a16:creationId xmlns:a16="http://schemas.microsoft.com/office/drawing/2014/main" id="{6AA18E59-A28F-4BEE-A76F-EAC61BFBEA74}"/>
              </a:ext>
            </a:extLst>
          </p:cNvPr>
          <p:cNvSpPr/>
          <p:nvPr/>
        </p:nvSpPr>
        <p:spPr>
          <a:xfrm>
            <a:off x="1947553" y="2094953"/>
            <a:ext cx="1501243" cy="859053"/>
          </a:xfrm>
          <a:custGeom>
            <a:avLst/>
            <a:gdLst>
              <a:gd name="connsiteX0" fmla="*/ 0 w 2651765"/>
              <a:gd name="connsiteY0" fmla="*/ 368262 h 2209528"/>
              <a:gd name="connsiteX1" fmla="*/ 368262 w 2651765"/>
              <a:gd name="connsiteY1" fmla="*/ 0 h 2209528"/>
              <a:gd name="connsiteX2" fmla="*/ 2283503 w 2651765"/>
              <a:gd name="connsiteY2" fmla="*/ 0 h 2209528"/>
              <a:gd name="connsiteX3" fmla="*/ 2651765 w 2651765"/>
              <a:gd name="connsiteY3" fmla="*/ 368262 h 2209528"/>
              <a:gd name="connsiteX4" fmla="*/ 2651765 w 2651765"/>
              <a:gd name="connsiteY4" fmla="*/ 1841266 h 2209528"/>
              <a:gd name="connsiteX5" fmla="*/ 2283503 w 2651765"/>
              <a:gd name="connsiteY5" fmla="*/ 2209528 h 2209528"/>
              <a:gd name="connsiteX6" fmla="*/ 368262 w 2651765"/>
              <a:gd name="connsiteY6" fmla="*/ 2209528 h 2209528"/>
              <a:gd name="connsiteX7" fmla="*/ 0 w 2651765"/>
              <a:gd name="connsiteY7" fmla="*/ 1841266 h 2209528"/>
              <a:gd name="connsiteX8" fmla="*/ 0 w 2651765"/>
              <a:gd name="connsiteY8" fmla="*/ 368262 h 2209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51765" h="2209528">
                <a:moveTo>
                  <a:pt x="0" y="368262"/>
                </a:moveTo>
                <a:cubicBezTo>
                  <a:pt x="0" y="164877"/>
                  <a:pt x="164877" y="0"/>
                  <a:pt x="368262" y="0"/>
                </a:cubicBezTo>
                <a:lnTo>
                  <a:pt x="2283503" y="0"/>
                </a:lnTo>
                <a:cubicBezTo>
                  <a:pt x="2486888" y="0"/>
                  <a:pt x="2651765" y="164877"/>
                  <a:pt x="2651765" y="368262"/>
                </a:cubicBezTo>
                <a:lnTo>
                  <a:pt x="2651765" y="1841266"/>
                </a:lnTo>
                <a:cubicBezTo>
                  <a:pt x="2651765" y="2044651"/>
                  <a:pt x="2486888" y="2209528"/>
                  <a:pt x="2283503" y="2209528"/>
                </a:cubicBezTo>
                <a:lnTo>
                  <a:pt x="368262" y="2209528"/>
                </a:lnTo>
                <a:cubicBezTo>
                  <a:pt x="164877" y="2209528"/>
                  <a:pt x="0" y="2044651"/>
                  <a:pt x="0" y="1841266"/>
                </a:cubicBezTo>
                <a:lnTo>
                  <a:pt x="0" y="368262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48830" tIns="248830" rIns="248830" bIns="248830" numCol="1" spcCol="1270" anchor="ctr" anchorCtr="0">
            <a:noAutofit/>
          </a:bodyPr>
          <a:lstStyle/>
          <a:p>
            <a:pPr algn="ctr"/>
            <a:endParaRPr lang="de-DE" sz="1800" b="1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8" name="Freeform 8">
            <a:extLst>
              <a:ext uri="{FF2B5EF4-FFF2-40B4-BE49-F238E27FC236}">
                <a16:creationId xmlns:a16="http://schemas.microsoft.com/office/drawing/2014/main" id="{8039DA2F-13A2-4C83-85B2-D986CB2C9A10}"/>
              </a:ext>
            </a:extLst>
          </p:cNvPr>
          <p:cNvSpPr/>
          <p:nvPr/>
        </p:nvSpPr>
        <p:spPr>
          <a:xfrm>
            <a:off x="3553849" y="2099653"/>
            <a:ext cx="1501243" cy="859053"/>
          </a:xfrm>
          <a:custGeom>
            <a:avLst/>
            <a:gdLst>
              <a:gd name="connsiteX0" fmla="*/ 0 w 2651765"/>
              <a:gd name="connsiteY0" fmla="*/ 368262 h 2209528"/>
              <a:gd name="connsiteX1" fmla="*/ 368262 w 2651765"/>
              <a:gd name="connsiteY1" fmla="*/ 0 h 2209528"/>
              <a:gd name="connsiteX2" fmla="*/ 2283503 w 2651765"/>
              <a:gd name="connsiteY2" fmla="*/ 0 h 2209528"/>
              <a:gd name="connsiteX3" fmla="*/ 2651765 w 2651765"/>
              <a:gd name="connsiteY3" fmla="*/ 368262 h 2209528"/>
              <a:gd name="connsiteX4" fmla="*/ 2651765 w 2651765"/>
              <a:gd name="connsiteY4" fmla="*/ 1841266 h 2209528"/>
              <a:gd name="connsiteX5" fmla="*/ 2283503 w 2651765"/>
              <a:gd name="connsiteY5" fmla="*/ 2209528 h 2209528"/>
              <a:gd name="connsiteX6" fmla="*/ 368262 w 2651765"/>
              <a:gd name="connsiteY6" fmla="*/ 2209528 h 2209528"/>
              <a:gd name="connsiteX7" fmla="*/ 0 w 2651765"/>
              <a:gd name="connsiteY7" fmla="*/ 1841266 h 2209528"/>
              <a:gd name="connsiteX8" fmla="*/ 0 w 2651765"/>
              <a:gd name="connsiteY8" fmla="*/ 368262 h 2209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51765" h="2209528">
                <a:moveTo>
                  <a:pt x="0" y="368262"/>
                </a:moveTo>
                <a:cubicBezTo>
                  <a:pt x="0" y="164877"/>
                  <a:pt x="164877" y="0"/>
                  <a:pt x="368262" y="0"/>
                </a:cubicBezTo>
                <a:lnTo>
                  <a:pt x="2283503" y="0"/>
                </a:lnTo>
                <a:cubicBezTo>
                  <a:pt x="2486888" y="0"/>
                  <a:pt x="2651765" y="164877"/>
                  <a:pt x="2651765" y="368262"/>
                </a:cubicBezTo>
                <a:lnTo>
                  <a:pt x="2651765" y="1841266"/>
                </a:lnTo>
                <a:cubicBezTo>
                  <a:pt x="2651765" y="2044651"/>
                  <a:pt x="2486888" y="2209528"/>
                  <a:pt x="2283503" y="2209528"/>
                </a:cubicBezTo>
                <a:lnTo>
                  <a:pt x="368262" y="2209528"/>
                </a:lnTo>
                <a:cubicBezTo>
                  <a:pt x="164877" y="2209528"/>
                  <a:pt x="0" y="2044651"/>
                  <a:pt x="0" y="1841266"/>
                </a:cubicBezTo>
                <a:lnTo>
                  <a:pt x="0" y="368262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48830" tIns="248830" rIns="248830" bIns="248830" numCol="1" spcCol="1270" anchor="ctr" anchorCtr="0">
            <a:noAutofit/>
          </a:bodyPr>
          <a:lstStyle/>
          <a:p>
            <a:pPr algn="ctr"/>
            <a:endParaRPr lang="de-DE" sz="1800" b="1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Freeform 8">
            <a:extLst>
              <a:ext uri="{FF2B5EF4-FFF2-40B4-BE49-F238E27FC236}">
                <a16:creationId xmlns:a16="http://schemas.microsoft.com/office/drawing/2014/main" id="{082DD5A5-4C9E-4F8E-B02F-6601A6DD0A27}"/>
              </a:ext>
            </a:extLst>
          </p:cNvPr>
          <p:cNvSpPr/>
          <p:nvPr/>
        </p:nvSpPr>
        <p:spPr>
          <a:xfrm>
            <a:off x="5160145" y="2094953"/>
            <a:ext cx="1501243" cy="859053"/>
          </a:xfrm>
          <a:custGeom>
            <a:avLst/>
            <a:gdLst>
              <a:gd name="connsiteX0" fmla="*/ 0 w 2651765"/>
              <a:gd name="connsiteY0" fmla="*/ 368262 h 2209528"/>
              <a:gd name="connsiteX1" fmla="*/ 368262 w 2651765"/>
              <a:gd name="connsiteY1" fmla="*/ 0 h 2209528"/>
              <a:gd name="connsiteX2" fmla="*/ 2283503 w 2651765"/>
              <a:gd name="connsiteY2" fmla="*/ 0 h 2209528"/>
              <a:gd name="connsiteX3" fmla="*/ 2651765 w 2651765"/>
              <a:gd name="connsiteY3" fmla="*/ 368262 h 2209528"/>
              <a:gd name="connsiteX4" fmla="*/ 2651765 w 2651765"/>
              <a:gd name="connsiteY4" fmla="*/ 1841266 h 2209528"/>
              <a:gd name="connsiteX5" fmla="*/ 2283503 w 2651765"/>
              <a:gd name="connsiteY5" fmla="*/ 2209528 h 2209528"/>
              <a:gd name="connsiteX6" fmla="*/ 368262 w 2651765"/>
              <a:gd name="connsiteY6" fmla="*/ 2209528 h 2209528"/>
              <a:gd name="connsiteX7" fmla="*/ 0 w 2651765"/>
              <a:gd name="connsiteY7" fmla="*/ 1841266 h 2209528"/>
              <a:gd name="connsiteX8" fmla="*/ 0 w 2651765"/>
              <a:gd name="connsiteY8" fmla="*/ 368262 h 2209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51765" h="2209528">
                <a:moveTo>
                  <a:pt x="0" y="368262"/>
                </a:moveTo>
                <a:cubicBezTo>
                  <a:pt x="0" y="164877"/>
                  <a:pt x="164877" y="0"/>
                  <a:pt x="368262" y="0"/>
                </a:cubicBezTo>
                <a:lnTo>
                  <a:pt x="2283503" y="0"/>
                </a:lnTo>
                <a:cubicBezTo>
                  <a:pt x="2486888" y="0"/>
                  <a:pt x="2651765" y="164877"/>
                  <a:pt x="2651765" y="368262"/>
                </a:cubicBezTo>
                <a:lnTo>
                  <a:pt x="2651765" y="1841266"/>
                </a:lnTo>
                <a:cubicBezTo>
                  <a:pt x="2651765" y="2044651"/>
                  <a:pt x="2486888" y="2209528"/>
                  <a:pt x="2283503" y="2209528"/>
                </a:cubicBezTo>
                <a:lnTo>
                  <a:pt x="368262" y="2209528"/>
                </a:lnTo>
                <a:cubicBezTo>
                  <a:pt x="164877" y="2209528"/>
                  <a:pt x="0" y="2044651"/>
                  <a:pt x="0" y="1841266"/>
                </a:cubicBezTo>
                <a:lnTo>
                  <a:pt x="0" y="368262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48830" tIns="248830" rIns="248830" bIns="248830" numCol="1" spcCol="1270" anchor="ctr" anchorCtr="0">
            <a:noAutofit/>
          </a:bodyPr>
          <a:lstStyle/>
          <a:p>
            <a:pPr algn="ctr"/>
            <a:endParaRPr lang="de-DE" sz="1800" b="1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Google Shape;1534;g60be7dcf1c_0_434">
            <a:extLst>
              <a:ext uri="{FF2B5EF4-FFF2-40B4-BE49-F238E27FC236}">
                <a16:creationId xmlns:a16="http://schemas.microsoft.com/office/drawing/2014/main" id="{09FC3FC7-94B9-415E-93D5-4AEA770EE6D8}"/>
              </a:ext>
            </a:extLst>
          </p:cNvPr>
          <p:cNvSpPr txBox="1"/>
          <p:nvPr/>
        </p:nvSpPr>
        <p:spPr>
          <a:xfrm>
            <a:off x="1537427" y="2065708"/>
            <a:ext cx="2417240" cy="545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lnSpc>
                <a:spcPct val="115000"/>
              </a:lnSpc>
            </a:pPr>
            <a:r>
              <a:rPr lang="en-U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K</a:t>
            </a:r>
            <a:r>
              <a:rPr lang="en-US" baseline="-25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</a:t>
            </a:r>
            <a:r>
              <a:rPr lang="en-U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</a:p>
          <a:p>
            <a:pPr lvl="0" algn="ctr">
              <a:lnSpc>
                <a:spcPct val="115000"/>
              </a:lnSpc>
            </a:pPr>
            <a:r>
              <a:rPr lang="en-U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static </a:t>
            </a:r>
          </a:p>
          <a:p>
            <a:pPr lvl="0" algn="ctr">
              <a:lnSpc>
                <a:spcPct val="115000"/>
              </a:lnSpc>
            </a:pPr>
            <a:r>
              <a:rPr lang="en-U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switches</a:t>
            </a:r>
            <a:endParaRPr lang="de-D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" name="Google Shape;1534;g60be7dcf1c_0_434">
            <a:extLst>
              <a:ext uri="{FF2B5EF4-FFF2-40B4-BE49-F238E27FC236}">
                <a16:creationId xmlns:a16="http://schemas.microsoft.com/office/drawing/2014/main" id="{46EA69EA-6A18-457A-8CFA-45EB19F65A48}"/>
              </a:ext>
            </a:extLst>
          </p:cNvPr>
          <p:cNvSpPr txBox="1"/>
          <p:nvPr/>
        </p:nvSpPr>
        <p:spPr>
          <a:xfrm>
            <a:off x="3095850" y="2065707"/>
            <a:ext cx="2417240" cy="545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lnSpc>
                <a:spcPct val="115000"/>
              </a:lnSpc>
            </a:pPr>
            <a:r>
              <a:rPr lang="en-U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K</a:t>
            </a:r>
            <a:r>
              <a:rPr lang="en-US" baseline="-25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</a:t>
            </a:r>
            <a:r>
              <a:rPr lang="en-U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</a:p>
          <a:p>
            <a:pPr lvl="0" algn="ctr">
              <a:lnSpc>
                <a:spcPct val="115000"/>
              </a:lnSpc>
            </a:pPr>
            <a:r>
              <a:rPr lang="en-U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rotor </a:t>
            </a:r>
          </a:p>
          <a:p>
            <a:pPr lvl="0" algn="ctr">
              <a:lnSpc>
                <a:spcPct val="115000"/>
              </a:lnSpc>
            </a:pPr>
            <a:r>
              <a:rPr lang="en-U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switches</a:t>
            </a:r>
            <a:endParaRPr lang="de-D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" name="Google Shape;1534;g60be7dcf1c_0_434">
            <a:extLst>
              <a:ext uri="{FF2B5EF4-FFF2-40B4-BE49-F238E27FC236}">
                <a16:creationId xmlns:a16="http://schemas.microsoft.com/office/drawing/2014/main" id="{B31E94A9-C72F-4157-AB29-B88DDC5DB130}"/>
              </a:ext>
            </a:extLst>
          </p:cNvPr>
          <p:cNvSpPr txBox="1"/>
          <p:nvPr/>
        </p:nvSpPr>
        <p:spPr>
          <a:xfrm>
            <a:off x="4672361" y="2040944"/>
            <a:ext cx="2417240" cy="545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lnSpc>
                <a:spcPct val="115000"/>
              </a:lnSpc>
            </a:pPr>
            <a:r>
              <a:rPr lang="en-US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K</a:t>
            </a:r>
            <a:r>
              <a:rPr lang="en-US" baseline="-250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</a:t>
            </a:r>
            <a:r>
              <a:rPr lang="en-U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</a:p>
          <a:p>
            <a:pPr lvl="0" algn="ctr">
              <a:lnSpc>
                <a:spcPct val="115000"/>
              </a:lnSpc>
            </a:pPr>
            <a:r>
              <a:rPr lang="en-U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demand-aware </a:t>
            </a:r>
          </a:p>
          <a:p>
            <a:pPr lvl="0" algn="ctr">
              <a:lnSpc>
                <a:spcPct val="115000"/>
              </a:lnSpc>
            </a:pPr>
            <a:r>
              <a:rPr lang="en-U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switches</a:t>
            </a:r>
            <a:endParaRPr lang="de-D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33" name="Picture 2" descr="https://upload.wikimedia.org/wikipedia/commons/1/1a/Herakles_Kerberos_Eurystheus_Louvre_E701.jpg">
            <a:extLst>
              <a:ext uri="{FF2B5EF4-FFF2-40B4-BE49-F238E27FC236}">
                <a16:creationId xmlns:a16="http://schemas.microsoft.com/office/drawing/2014/main" id="{81E65043-837D-492A-BC24-5B090CDBD8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7211" y="131800"/>
            <a:ext cx="2074120" cy="1575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Google Shape;1534;g60be7dcf1c_0_434">
            <a:extLst>
              <a:ext uri="{FF2B5EF4-FFF2-40B4-BE49-F238E27FC236}">
                <a16:creationId xmlns:a16="http://schemas.microsoft.com/office/drawing/2014/main" id="{92160E07-84EB-460F-B6E7-2E20D0B67241}"/>
              </a:ext>
            </a:extLst>
          </p:cNvPr>
          <p:cNvSpPr txBox="1"/>
          <p:nvPr/>
        </p:nvSpPr>
        <p:spPr>
          <a:xfrm>
            <a:off x="1017000" y="5977638"/>
            <a:ext cx="6623101" cy="54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GB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Scheduling: </a:t>
            </a: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… and </a:t>
            </a:r>
            <a:r>
              <a:rPr lang="en-GB" sz="1600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large flows</a:t>
            </a: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via demand-aware switches</a:t>
            </a:r>
          </a:p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(if one available, otherwise via rotor).</a:t>
            </a: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>
              <a:lnSpc>
                <a:spcPct val="115000"/>
              </a:lnSpc>
            </a:pP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>
              <a:lnSpc>
                <a:spcPct val="115000"/>
              </a:lnSpc>
            </a:pPr>
            <a:endParaRPr lang="de-DE"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3EEEADA4-AAE3-4448-B797-ACD023AC6C21}"/>
              </a:ext>
            </a:extLst>
          </p:cNvPr>
          <p:cNvSpPr/>
          <p:nvPr/>
        </p:nvSpPr>
        <p:spPr>
          <a:xfrm>
            <a:off x="1417103" y="2617499"/>
            <a:ext cx="5750753" cy="1512469"/>
          </a:xfrm>
          <a:custGeom>
            <a:avLst/>
            <a:gdLst>
              <a:gd name="connsiteX0" fmla="*/ 0 w 5750753"/>
              <a:gd name="connsiteY0" fmla="*/ 1482133 h 1512469"/>
              <a:gd name="connsiteX1" fmla="*/ 4398654 w 5750753"/>
              <a:gd name="connsiteY1" fmla="*/ 25 h 1512469"/>
              <a:gd name="connsiteX2" fmla="*/ 5750753 w 5750753"/>
              <a:gd name="connsiteY2" fmla="*/ 1512469 h 1512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750753" h="1512469">
                <a:moveTo>
                  <a:pt x="0" y="1482133"/>
                </a:moveTo>
                <a:cubicBezTo>
                  <a:pt x="1720097" y="738551"/>
                  <a:pt x="3440195" y="-5031"/>
                  <a:pt x="4398654" y="25"/>
                </a:cubicBezTo>
                <a:cubicBezTo>
                  <a:pt x="5357113" y="5081"/>
                  <a:pt x="5553933" y="758775"/>
                  <a:pt x="5750753" y="1512469"/>
                </a:cubicBezTo>
              </a:path>
            </a:pathLst>
          </a:custGeom>
          <a:noFill/>
          <a:ln w="38100">
            <a:solidFill>
              <a:schemeClr val="accent1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3143795A-2274-4C01-97D5-774E090365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6681" y="2132332"/>
            <a:ext cx="803830" cy="559466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194D06D-95C1-48C6-99F8-7A5CE305657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137</a:t>
            </a:fld>
            <a:endParaRPr lang="de-DE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358090A-1B62-4C1C-B017-8FEEC1E455B0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E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6355884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Freeform 8">
            <a:extLst>
              <a:ext uri="{FF2B5EF4-FFF2-40B4-BE49-F238E27FC236}">
                <a16:creationId xmlns:a16="http://schemas.microsoft.com/office/drawing/2014/main" id="{8ADFEB55-2D54-4348-9C63-C25579D9D8DE}"/>
              </a:ext>
            </a:extLst>
          </p:cNvPr>
          <p:cNvSpPr/>
          <p:nvPr/>
        </p:nvSpPr>
        <p:spPr>
          <a:xfrm>
            <a:off x="1681604" y="1949856"/>
            <a:ext cx="5468558" cy="1207677"/>
          </a:xfrm>
          <a:custGeom>
            <a:avLst/>
            <a:gdLst>
              <a:gd name="connsiteX0" fmla="*/ 0 w 2651765"/>
              <a:gd name="connsiteY0" fmla="*/ 368262 h 2209528"/>
              <a:gd name="connsiteX1" fmla="*/ 368262 w 2651765"/>
              <a:gd name="connsiteY1" fmla="*/ 0 h 2209528"/>
              <a:gd name="connsiteX2" fmla="*/ 2283503 w 2651765"/>
              <a:gd name="connsiteY2" fmla="*/ 0 h 2209528"/>
              <a:gd name="connsiteX3" fmla="*/ 2651765 w 2651765"/>
              <a:gd name="connsiteY3" fmla="*/ 368262 h 2209528"/>
              <a:gd name="connsiteX4" fmla="*/ 2651765 w 2651765"/>
              <a:gd name="connsiteY4" fmla="*/ 1841266 h 2209528"/>
              <a:gd name="connsiteX5" fmla="*/ 2283503 w 2651765"/>
              <a:gd name="connsiteY5" fmla="*/ 2209528 h 2209528"/>
              <a:gd name="connsiteX6" fmla="*/ 368262 w 2651765"/>
              <a:gd name="connsiteY6" fmla="*/ 2209528 h 2209528"/>
              <a:gd name="connsiteX7" fmla="*/ 0 w 2651765"/>
              <a:gd name="connsiteY7" fmla="*/ 1841266 h 2209528"/>
              <a:gd name="connsiteX8" fmla="*/ 0 w 2651765"/>
              <a:gd name="connsiteY8" fmla="*/ 368262 h 2209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51765" h="2209528">
                <a:moveTo>
                  <a:pt x="0" y="368262"/>
                </a:moveTo>
                <a:cubicBezTo>
                  <a:pt x="0" y="164877"/>
                  <a:pt x="164877" y="0"/>
                  <a:pt x="368262" y="0"/>
                </a:cubicBezTo>
                <a:lnTo>
                  <a:pt x="2283503" y="0"/>
                </a:lnTo>
                <a:cubicBezTo>
                  <a:pt x="2486888" y="0"/>
                  <a:pt x="2651765" y="164877"/>
                  <a:pt x="2651765" y="368262"/>
                </a:cubicBezTo>
                <a:lnTo>
                  <a:pt x="2651765" y="1841266"/>
                </a:lnTo>
                <a:cubicBezTo>
                  <a:pt x="2651765" y="2044651"/>
                  <a:pt x="2486888" y="2209528"/>
                  <a:pt x="2283503" y="2209528"/>
                </a:cubicBezTo>
                <a:lnTo>
                  <a:pt x="368262" y="2209528"/>
                </a:lnTo>
                <a:cubicBezTo>
                  <a:pt x="164877" y="2209528"/>
                  <a:pt x="0" y="2044651"/>
                  <a:pt x="0" y="1841266"/>
                </a:cubicBezTo>
                <a:lnTo>
                  <a:pt x="0" y="368262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48830" tIns="248830" rIns="248830" bIns="248830" numCol="1" spcCol="1270" anchor="ctr" anchorCtr="0">
            <a:noAutofit/>
          </a:bodyPr>
          <a:lstStyle/>
          <a:p>
            <a:pPr algn="ctr"/>
            <a:endParaRPr lang="de-DE" sz="1800" b="1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Google Shape;1309;g60be7dcf1c_0_222">
            <a:extLst>
              <a:ext uri="{FF2B5EF4-FFF2-40B4-BE49-F238E27FC236}">
                <a16:creationId xmlns:a16="http://schemas.microsoft.com/office/drawing/2014/main" id="{4DE19C73-9916-40CA-87D9-CC4934AE39A5}"/>
              </a:ext>
            </a:extLst>
          </p:cNvPr>
          <p:cNvSpPr txBox="1"/>
          <p:nvPr/>
        </p:nvSpPr>
        <p:spPr>
          <a:xfrm>
            <a:off x="0" y="540000"/>
            <a:ext cx="8170925" cy="55208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14" name="Google Shape;1288;g60be7dcf1c_0_204">
            <a:extLst>
              <a:ext uri="{FF2B5EF4-FFF2-40B4-BE49-F238E27FC236}">
                <a16:creationId xmlns:a16="http://schemas.microsoft.com/office/drawing/2014/main" id="{3A5A658B-C73C-468A-B47B-9E631F9C601D}"/>
              </a:ext>
            </a:extLst>
          </p:cNvPr>
          <p:cNvSpPr txBox="1">
            <a:spLocks/>
          </p:cNvSpPr>
          <p:nvPr/>
        </p:nvSpPr>
        <p:spPr>
          <a:xfrm>
            <a:off x="973075" y="149350"/>
            <a:ext cx="8171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lnSpc>
                <a:spcPct val="115000"/>
              </a:lnSpc>
              <a:buSzPts val="1100"/>
            </a:pPr>
            <a: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Optimal: Cerberus</a:t>
            </a:r>
            <a:endParaRPr lang="en-GB" sz="2000" dirty="0">
              <a:solidFill>
                <a:schemeClr val="tx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algn="l">
              <a:lnSpc>
                <a:spcPct val="115000"/>
              </a:lnSpc>
              <a:buSzPts val="1100"/>
            </a:pPr>
            <a:endParaRPr lang="en-GB" sz="2000" dirty="0">
              <a:solidFill>
                <a:schemeClr val="tx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7" name="Google Shape;1333;g60be7dcf1c_0_242">
            <a:extLst>
              <a:ext uri="{FF2B5EF4-FFF2-40B4-BE49-F238E27FC236}">
                <a16:creationId xmlns:a16="http://schemas.microsoft.com/office/drawing/2014/main" id="{9D2A14AB-D46C-4186-B829-FC294EB18C6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55376" b="19271"/>
          <a:stretch/>
        </p:blipFill>
        <p:spPr>
          <a:xfrm>
            <a:off x="709497" y="4164110"/>
            <a:ext cx="7134774" cy="1356377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334;g60be7dcf1c_0_242">
            <a:extLst>
              <a:ext uri="{FF2B5EF4-FFF2-40B4-BE49-F238E27FC236}">
                <a16:creationId xmlns:a16="http://schemas.microsoft.com/office/drawing/2014/main" id="{41094315-90A7-4832-94C9-E491B4820C83}"/>
              </a:ext>
            </a:extLst>
          </p:cNvPr>
          <p:cNvSpPr txBox="1"/>
          <p:nvPr/>
        </p:nvSpPr>
        <p:spPr>
          <a:xfrm>
            <a:off x="1057697" y="5474810"/>
            <a:ext cx="5892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" name="Google Shape;1335;g60be7dcf1c_0_242">
            <a:extLst>
              <a:ext uri="{FF2B5EF4-FFF2-40B4-BE49-F238E27FC236}">
                <a16:creationId xmlns:a16="http://schemas.microsoft.com/office/drawing/2014/main" id="{AA8571DF-E5A4-4C54-BEC3-A84AB098EB68}"/>
              </a:ext>
            </a:extLst>
          </p:cNvPr>
          <p:cNvSpPr txBox="1"/>
          <p:nvPr/>
        </p:nvSpPr>
        <p:spPr>
          <a:xfrm>
            <a:off x="1901872" y="5474810"/>
            <a:ext cx="5892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" name="Google Shape;1336;g60be7dcf1c_0_242">
            <a:extLst>
              <a:ext uri="{FF2B5EF4-FFF2-40B4-BE49-F238E27FC236}">
                <a16:creationId xmlns:a16="http://schemas.microsoft.com/office/drawing/2014/main" id="{2E61A26F-39EA-4893-BD82-5424BEE73771}"/>
              </a:ext>
            </a:extLst>
          </p:cNvPr>
          <p:cNvSpPr txBox="1"/>
          <p:nvPr/>
        </p:nvSpPr>
        <p:spPr>
          <a:xfrm>
            <a:off x="2746047" y="5474810"/>
            <a:ext cx="5892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" name="Google Shape;1337;g60be7dcf1c_0_242">
            <a:extLst>
              <a:ext uri="{FF2B5EF4-FFF2-40B4-BE49-F238E27FC236}">
                <a16:creationId xmlns:a16="http://schemas.microsoft.com/office/drawing/2014/main" id="{CAC8192C-B97B-4540-B474-922A73090015}"/>
              </a:ext>
            </a:extLst>
          </p:cNvPr>
          <p:cNvSpPr txBox="1"/>
          <p:nvPr/>
        </p:nvSpPr>
        <p:spPr>
          <a:xfrm>
            <a:off x="3563022" y="5474810"/>
            <a:ext cx="6279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" name="Google Shape;1338;g60be7dcf1c_0_242">
            <a:extLst>
              <a:ext uri="{FF2B5EF4-FFF2-40B4-BE49-F238E27FC236}">
                <a16:creationId xmlns:a16="http://schemas.microsoft.com/office/drawing/2014/main" id="{06F92845-E17C-415B-A31A-53426C61CEEF}"/>
              </a:ext>
            </a:extLst>
          </p:cNvPr>
          <p:cNvSpPr txBox="1"/>
          <p:nvPr/>
        </p:nvSpPr>
        <p:spPr>
          <a:xfrm>
            <a:off x="4418697" y="5474810"/>
            <a:ext cx="5892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" name="Google Shape;1339;g60be7dcf1c_0_242">
            <a:extLst>
              <a:ext uri="{FF2B5EF4-FFF2-40B4-BE49-F238E27FC236}">
                <a16:creationId xmlns:a16="http://schemas.microsoft.com/office/drawing/2014/main" id="{A514D908-BDF2-4EFC-91B5-6F22340181D0}"/>
              </a:ext>
            </a:extLst>
          </p:cNvPr>
          <p:cNvSpPr txBox="1"/>
          <p:nvPr/>
        </p:nvSpPr>
        <p:spPr>
          <a:xfrm>
            <a:off x="5235672" y="5474810"/>
            <a:ext cx="5892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6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" name="Google Shape;1340;g60be7dcf1c_0_242">
            <a:extLst>
              <a:ext uri="{FF2B5EF4-FFF2-40B4-BE49-F238E27FC236}">
                <a16:creationId xmlns:a16="http://schemas.microsoft.com/office/drawing/2014/main" id="{AEB6511B-A494-4AD8-909E-F74EB2051AEE}"/>
              </a:ext>
            </a:extLst>
          </p:cNvPr>
          <p:cNvSpPr txBox="1"/>
          <p:nvPr/>
        </p:nvSpPr>
        <p:spPr>
          <a:xfrm>
            <a:off x="6091347" y="5474810"/>
            <a:ext cx="5505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7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" name="Google Shape;1341;g60be7dcf1c_0_242">
            <a:extLst>
              <a:ext uri="{FF2B5EF4-FFF2-40B4-BE49-F238E27FC236}">
                <a16:creationId xmlns:a16="http://schemas.microsoft.com/office/drawing/2014/main" id="{84A465A6-0E9F-4BA5-9EB1-A1728D3DD470}"/>
              </a:ext>
            </a:extLst>
          </p:cNvPr>
          <p:cNvSpPr txBox="1"/>
          <p:nvPr/>
        </p:nvSpPr>
        <p:spPr>
          <a:xfrm>
            <a:off x="6908322" y="5452285"/>
            <a:ext cx="5892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CAB9C16-37A9-43F6-88BC-9621E4D0345E}"/>
              </a:ext>
            </a:extLst>
          </p:cNvPr>
          <p:cNvCxnSpPr/>
          <p:nvPr/>
        </p:nvCxnSpPr>
        <p:spPr>
          <a:xfrm flipV="1">
            <a:off x="1391672" y="3194332"/>
            <a:ext cx="825190" cy="9697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8631F36-4EAF-4E17-B82A-6ED1862B81B0}"/>
              </a:ext>
            </a:extLst>
          </p:cNvPr>
          <p:cNvCxnSpPr>
            <a:cxnSpLocks/>
          </p:cNvCxnSpPr>
          <p:nvPr/>
        </p:nvCxnSpPr>
        <p:spPr>
          <a:xfrm flipV="1">
            <a:off x="2216862" y="3194332"/>
            <a:ext cx="347918" cy="9697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1706AE3-EFC4-46DD-A2A4-6627D7DF5405}"/>
              </a:ext>
            </a:extLst>
          </p:cNvPr>
          <p:cNvCxnSpPr>
            <a:cxnSpLocks/>
          </p:cNvCxnSpPr>
          <p:nvPr/>
        </p:nvCxnSpPr>
        <p:spPr>
          <a:xfrm flipV="1">
            <a:off x="3042052" y="3194332"/>
            <a:ext cx="138276" cy="9697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C7800FD-6F5B-45AB-BA9B-8D78122CB838}"/>
              </a:ext>
            </a:extLst>
          </p:cNvPr>
          <p:cNvCxnSpPr>
            <a:cxnSpLocks/>
          </p:cNvCxnSpPr>
          <p:nvPr/>
        </p:nvCxnSpPr>
        <p:spPr>
          <a:xfrm flipV="1">
            <a:off x="3827099" y="3157533"/>
            <a:ext cx="55142" cy="10065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D964B92-CF99-4466-883C-DE614D3D9401}"/>
              </a:ext>
            </a:extLst>
          </p:cNvPr>
          <p:cNvCxnSpPr>
            <a:cxnSpLocks/>
          </p:cNvCxnSpPr>
          <p:nvPr/>
        </p:nvCxnSpPr>
        <p:spPr>
          <a:xfrm flipH="1" flipV="1">
            <a:off x="4634447" y="3157533"/>
            <a:ext cx="75828" cy="10065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3C324BC-8E0E-4330-B120-12E7F57EF53A}"/>
              </a:ext>
            </a:extLst>
          </p:cNvPr>
          <p:cNvCxnSpPr>
            <a:cxnSpLocks/>
          </p:cNvCxnSpPr>
          <p:nvPr/>
        </p:nvCxnSpPr>
        <p:spPr>
          <a:xfrm flipH="1" flipV="1">
            <a:off x="5249995" y="3157533"/>
            <a:ext cx="346440" cy="10433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FBB79C7-3F32-4199-B92E-B7F0C40D16CC}"/>
              </a:ext>
            </a:extLst>
          </p:cNvPr>
          <p:cNvCxnSpPr>
            <a:cxnSpLocks/>
          </p:cNvCxnSpPr>
          <p:nvPr/>
        </p:nvCxnSpPr>
        <p:spPr>
          <a:xfrm flipH="1" flipV="1">
            <a:off x="6040241" y="3150648"/>
            <a:ext cx="346440" cy="10433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1E553DF-C3FA-4E83-B6DF-C2EB3408596A}"/>
              </a:ext>
            </a:extLst>
          </p:cNvPr>
          <p:cNvCxnSpPr>
            <a:cxnSpLocks/>
          </p:cNvCxnSpPr>
          <p:nvPr/>
        </p:nvCxnSpPr>
        <p:spPr>
          <a:xfrm flipH="1" flipV="1">
            <a:off x="6548750" y="3157534"/>
            <a:ext cx="666828" cy="103649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Freeform 8">
            <a:extLst>
              <a:ext uri="{FF2B5EF4-FFF2-40B4-BE49-F238E27FC236}">
                <a16:creationId xmlns:a16="http://schemas.microsoft.com/office/drawing/2014/main" id="{6AA18E59-A28F-4BEE-A76F-EAC61BFBEA74}"/>
              </a:ext>
            </a:extLst>
          </p:cNvPr>
          <p:cNvSpPr/>
          <p:nvPr/>
        </p:nvSpPr>
        <p:spPr>
          <a:xfrm>
            <a:off x="1947553" y="2094953"/>
            <a:ext cx="1501243" cy="859053"/>
          </a:xfrm>
          <a:custGeom>
            <a:avLst/>
            <a:gdLst>
              <a:gd name="connsiteX0" fmla="*/ 0 w 2651765"/>
              <a:gd name="connsiteY0" fmla="*/ 368262 h 2209528"/>
              <a:gd name="connsiteX1" fmla="*/ 368262 w 2651765"/>
              <a:gd name="connsiteY1" fmla="*/ 0 h 2209528"/>
              <a:gd name="connsiteX2" fmla="*/ 2283503 w 2651765"/>
              <a:gd name="connsiteY2" fmla="*/ 0 h 2209528"/>
              <a:gd name="connsiteX3" fmla="*/ 2651765 w 2651765"/>
              <a:gd name="connsiteY3" fmla="*/ 368262 h 2209528"/>
              <a:gd name="connsiteX4" fmla="*/ 2651765 w 2651765"/>
              <a:gd name="connsiteY4" fmla="*/ 1841266 h 2209528"/>
              <a:gd name="connsiteX5" fmla="*/ 2283503 w 2651765"/>
              <a:gd name="connsiteY5" fmla="*/ 2209528 h 2209528"/>
              <a:gd name="connsiteX6" fmla="*/ 368262 w 2651765"/>
              <a:gd name="connsiteY6" fmla="*/ 2209528 h 2209528"/>
              <a:gd name="connsiteX7" fmla="*/ 0 w 2651765"/>
              <a:gd name="connsiteY7" fmla="*/ 1841266 h 2209528"/>
              <a:gd name="connsiteX8" fmla="*/ 0 w 2651765"/>
              <a:gd name="connsiteY8" fmla="*/ 368262 h 2209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51765" h="2209528">
                <a:moveTo>
                  <a:pt x="0" y="368262"/>
                </a:moveTo>
                <a:cubicBezTo>
                  <a:pt x="0" y="164877"/>
                  <a:pt x="164877" y="0"/>
                  <a:pt x="368262" y="0"/>
                </a:cubicBezTo>
                <a:lnTo>
                  <a:pt x="2283503" y="0"/>
                </a:lnTo>
                <a:cubicBezTo>
                  <a:pt x="2486888" y="0"/>
                  <a:pt x="2651765" y="164877"/>
                  <a:pt x="2651765" y="368262"/>
                </a:cubicBezTo>
                <a:lnTo>
                  <a:pt x="2651765" y="1841266"/>
                </a:lnTo>
                <a:cubicBezTo>
                  <a:pt x="2651765" y="2044651"/>
                  <a:pt x="2486888" y="2209528"/>
                  <a:pt x="2283503" y="2209528"/>
                </a:cubicBezTo>
                <a:lnTo>
                  <a:pt x="368262" y="2209528"/>
                </a:lnTo>
                <a:cubicBezTo>
                  <a:pt x="164877" y="2209528"/>
                  <a:pt x="0" y="2044651"/>
                  <a:pt x="0" y="1841266"/>
                </a:cubicBezTo>
                <a:lnTo>
                  <a:pt x="0" y="368262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48830" tIns="248830" rIns="248830" bIns="248830" numCol="1" spcCol="1270" anchor="ctr" anchorCtr="0">
            <a:noAutofit/>
          </a:bodyPr>
          <a:lstStyle/>
          <a:p>
            <a:pPr algn="ctr"/>
            <a:endParaRPr lang="de-DE" sz="1800" b="1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8" name="Freeform 8">
            <a:extLst>
              <a:ext uri="{FF2B5EF4-FFF2-40B4-BE49-F238E27FC236}">
                <a16:creationId xmlns:a16="http://schemas.microsoft.com/office/drawing/2014/main" id="{8039DA2F-13A2-4C83-85B2-D986CB2C9A10}"/>
              </a:ext>
            </a:extLst>
          </p:cNvPr>
          <p:cNvSpPr/>
          <p:nvPr/>
        </p:nvSpPr>
        <p:spPr>
          <a:xfrm>
            <a:off x="3553849" y="2099653"/>
            <a:ext cx="1501243" cy="859053"/>
          </a:xfrm>
          <a:custGeom>
            <a:avLst/>
            <a:gdLst>
              <a:gd name="connsiteX0" fmla="*/ 0 w 2651765"/>
              <a:gd name="connsiteY0" fmla="*/ 368262 h 2209528"/>
              <a:gd name="connsiteX1" fmla="*/ 368262 w 2651765"/>
              <a:gd name="connsiteY1" fmla="*/ 0 h 2209528"/>
              <a:gd name="connsiteX2" fmla="*/ 2283503 w 2651765"/>
              <a:gd name="connsiteY2" fmla="*/ 0 h 2209528"/>
              <a:gd name="connsiteX3" fmla="*/ 2651765 w 2651765"/>
              <a:gd name="connsiteY3" fmla="*/ 368262 h 2209528"/>
              <a:gd name="connsiteX4" fmla="*/ 2651765 w 2651765"/>
              <a:gd name="connsiteY4" fmla="*/ 1841266 h 2209528"/>
              <a:gd name="connsiteX5" fmla="*/ 2283503 w 2651765"/>
              <a:gd name="connsiteY5" fmla="*/ 2209528 h 2209528"/>
              <a:gd name="connsiteX6" fmla="*/ 368262 w 2651765"/>
              <a:gd name="connsiteY6" fmla="*/ 2209528 h 2209528"/>
              <a:gd name="connsiteX7" fmla="*/ 0 w 2651765"/>
              <a:gd name="connsiteY7" fmla="*/ 1841266 h 2209528"/>
              <a:gd name="connsiteX8" fmla="*/ 0 w 2651765"/>
              <a:gd name="connsiteY8" fmla="*/ 368262 h 2209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51765" h="2209528">
                <a:moveTo>
                  <a:pt x="0" y="368262"/>
                </a:moveTo>
                <a:cubicBezTo>
                  <a:pt x="0" y="164877"/>
                  <a:pt x="164877" y="0"/>
                  <a:pt x="368262" y="0"/>
                </a:cubicBezTo>
                <a:lnTo>
                  <a:pt x="2283503" y="0"/>
                </a:lnTo>
                <a:cubicBezTo>
                  <a:pt x="2486888" y="0"/>
                  <a:pt x="2651765" y="164877"/>
                  <a:pt x="2651765" y="368262"/>
                </a:cubicBezTo>
                <a:lnTo>
                  <a:pt x="2651765" y="1841266"/>
                </a:lnTo>
                <a:cubicBezTo>
                  <a:pt x="2651765" y="2044651"/>
                  <a:pt x="2486888" y="2209528"/>
                  <a:pt x="2283503" y="2209528"/>
                </a:cubicBezTo>
                <a:lnTo>
                  <a:pt x="368262" y="2209528"/>
                </a:lnTo>
                <a:cubicBezTo>
                  <a:pt x="164877" y="2209528"/>
                  <a:pt x="0" y="2044651"/>
                  <a:pt x="0" y="1841266"/>
                </a:cubicBezTo>
                <a:lnTo>
                  <a:pt x="0" y="368262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48830" tIns="248830" rIns="248830" bIns="248830" numCol="1" spcCol="1270" anchor="ctr" anchorCtr="0">
            <a:noAutofit/>
          </a:bodyPr>
          <a:lstStyle/>
          <a:p>
            <a:pPr algn="ctr"/>
            <a:endParaRPr lang="de-DE" sz="1800" b="1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Freeform 8">
            <a:extLst>
              <a:ext uri="{FF2B5EF4-FFF2-40B4-BE49-F238E27FC236}">
                <a16:creationId xmlns:a16="http://schemas.microsoft.com/office/drawing/2014/main" id="{082DD5A5-4C9E-4F8E-B02F-6601A6DD0A27}"/>
              </a:ext>
            </a:extLst>
          </p:cNvPr>
          <p:cNvSpPr/>
          <p:nvPr/>
        </p:nvSpPr>
        <p:spPr>
          <a:xfrm>
            <a:off x="5160145" y="2094953"/>
            <a:ext cx="1501243" cy="859053"/>
          </a:xfrm>
          <a:custGeom>
            <a:avLst/>
            <a:gdLst>
              <a:gd name="connsiteX0" fmla="*/ 0 w 2651765"/>
              <a:gd name="connsiteY0" fmla="*/ 368262 h 2209528"/>
              <a:gd name="connsiteX1" fmla="*/ 368262 w 2651765"/>
              <a:gd name="connsiteY1" fmla="*/ 0 h 2209528"/>
              <a:gd name="connsiteX2" fmla="*/ 2283503 w 2651765"/>
              <a:gd name="connsiteY2" fmla="*/ 0 h 2209528"/>
              <a:gd name="connsiteX3" fmla="*/ 2651765 w 2651765"/>
              <a:gd name="connsiteY3" fmla="*/ 368262 h 2209528"/>
              <a:gd name="connsiteX4" fmla="*/ 2651765 w 2651765"/>
              <a:gd name="connsiteY4" fmla="*/ 1841266 h 2209528"/>
              <a:gd name="connsiteX5" fmla="*/ 2283503 w 2651765"/>
              <a:gd name="connsiteY5" fmla="*/ 2209528 h 2209528"/>
              <a:gd name="connsiteX6" fmla="*/ 368262 w 2651765"/>
              <a:gd name="connsiteY6" fmla="*/ 2209528 h 2209528"/>
              <a:gd name="connsiteX7" fmla="*/ 0 w 2651765"/>
              <a:gd name="connsiteY7" fmla="*/ 1841266 h 2209528"/>
              <a:gd name="connsiteX8" fmla="*/ 0 w 2651765"/>
              <a:gd name="connsiteY8" fmla="*/ 368262 h 2209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51765" h="2209528">
                <a:moveTo>
                  <a:pt x="0" y="368262"/>
                </a:moveTo>
                <a:cubicBezTo>
                  <a:pt x="0" y="164877"/>
                  <a:pt x="164877" y="0"/>
                  <a:pt x="368262" y="0"/>
                </a:cubicBezTo>
                <a:lnTo>
                  <a:pt x="2283503" y="0"/>
                </a:lnTo>
                <a:cubicBezTo>
                  <a:pt x="2486888" y="0"/>
                  <a:pt x="2651765" y="164877"/>
                  <a:pt x="2651765" y="368262"/>
                </a:cubicBezTo>
                <a:lnTo>
                  <a:pt x="2651765" y="1841266"/>
                </a:lnTo>
                <a:cubicBezTo>
                  <a:pt x="2651765" y="2044651"/>
                  <a:pt x="2486888" y="2209528"/>
                  <a:pt x="2283503" y="2209528"/>
                </a:cubicBezTo>
                <a:lnTo>
                  <a:pt x="368262" y="2209528"/>
                </a:lnTo>
                <a:cubicBezTo>
                  <a:pt x="164877" y="2209528"/>
                  <a:pt x="0" y="2044651"/>
                  <a:pt x="0" y="1841266"/>
                </a:cubicBezTo>
                <a:lnTo>
                  <a:pt x="0" y="368262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48830" tIns="248830" rIns="248830" bIns="248830" numCol="1" spcCol="1270" anchor="ctr" anchorCtr="0">
            <a:noAutofit/>
          </a:bodyPr>
          <a:lstStyle/>
          <a:p>
            <a:pPr algn="ctr"/>
            <a:endParaRPr lang="de-DE" sz="1800" b="1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Google Shape;1534;g60be7dcf1c_0_434">
            <a:extLst>
              <a:ext uri="{FF2B5EF4-FFF2-40B4-BE49-F238E27FC236}">
                <a16:creationId xmlns:a16="http://schemas.microsoft.com/office/drawing/2014/main" id="{09FC3FC7-94B9-415E-93D5-4AEA770EE6D8}"/>
              </a:ext>
            </a:extLst>
          </p:cNvPr>
          <p:cNvSpPr txBox="1"/>
          <p:nvPr/>
        </p:nvSpPr>
        <p:spPr>
          <a:xfrm>
            <a:off x="1537427" y="2065708"/>
            <a:ext cx="2417240" cy="545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lnSpc>
                <a:spcPct val="115000"/>
              </a:lnSpc>
            </a:pPr>
            <a:r>
              <a:rPr lang="en-U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K</a:t>
            </a:r>
            <a:r>
              <a:rPr lang="en-US" baseline="-25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</a:t>
            </a:r>
            <a:r>
              <a:rPr lang="en-U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</a:p>
          <a:p>
            <a:pPr lvl="0" algn="ctr">
              <a:lnSpc>
                <a:spcPct val="115000"/>
              </a:lnSpc>
            </a:pPr>
            <a:r>
              <a:rPr lang="en-U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static </a:t>
            </a:r>
          </a:p>
          <a:p>
            <a:pPr lvl="0" algn="ctr">
              <a:lnSpc>
                <a:spcPct val="115000"/>
              </a:lnSpc>
            </a:pPr>
            <a:r>
              <a:rPr lang="en-U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switches</a:t>
            </a:r>
            <a:endParaRPr lang="de-D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" name="Google Shape;1534;g60be7dcf1c_0_434">
            <a:extLst>
              <a:ext uri="{FF2B5EF4-FFF2-40B4-BE49-F238E27FC236}">
                <a16:creationId xmlns:a16="http://schemas.microsoft.com/office/drawing/2014/main" id="{46EA69EA-6A18-457A-8CFA-45EB19F65A48}"/>
              </a:ext>
            </a:extLst>
          </p:cNvPr>
          <p:cNvSpPr txBox="1"/>
          <p:nvPr/>
        </p:nvSpPr>
        <p:spPr>
          <a:xfrm>
            <a:off x="3095850" y="2065707"/>
            <a:ext cx="2417240" cy="545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lnSpc>
                <a:spcPct val="115000"/>
              </a:lnSpc>
            </a:pPr>
            <a:r>
              <a:rPr lang="en-U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K</a:t>
            </a:r>
            <a:r>
              <a:rPr lang="en-US" baseline="-25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</a:t>
            </a:r>
            <a:r>
              <a:rPr lang="en-U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</a:p>
          <a:p>
            <a:pPr lvl="0" algn="ctr">
              <a:lnSpc>
                <a:spcPct val="115000"/>
              </a:lnSpc>
            </a:pPr>
            <a:r>
              <a:rPr lang="en-U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rotor </a:t>
            </a:r>
          </a:p>
          <a:p>
            <a:pPr lvl="0" algn="ctr">
              <a:lnSpc>
                <a:spcPct val="115000"/>
              </a:lnSpc>
            </a:pPr>
            <a:r>
              <a:rPr lang="en-U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switches</a:t>
            </a:r>
            <a:endParaRPr lang="de-D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" name="Google Shape;1534;g60be7dcf1c_0_434">
            <a:extLst>
              <a:ext uri="{FF2B5EF4-FFF2-40B4-BE49-F238E27FC236}">
                <a16:creationId xmlns:a16="http://schemas.microsoft.com/office/drawing/2014/main" id="{B31E94A9-C72F-4157-AB29-B88DDC5DB130}"/>
              </a:ext>
            </a:extLst>
          </p:cNvPr>
          <p:cNvSpPr txBox="1"/>
          <p:nvPr/>
        </p:nvSpPr>
        <p:spPr>
          <a:xfrm>
            <a:off x="4672361" y="2040944"/>
            <a:ext cx="2417240" cy="545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lnSpc>
                <a:spcPct val="115000"/>
              </a:lnSpc>
            </a:pPr>
            <a:r>
              <a:rPr lang="en-US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K</a:t>
            </a:r>
            <a:r>
              <a:rPr lang="en-US" baseline="-250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</a:t>
            </a:r>
            <a:r>
              <a:rPr lang="en-U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</a:p>
          <a:p>
            <a:pPr lvl="0" algn="ctr">
              <a:lnSpc>
                <a:spcPct val="115000"/>
              </a:lnSpc>
            </a:pPr>
            <a:r>
              <a:rPr lang="en-U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demand-aware </a:t>
            </a:r>
          </a:p>
          <a:p>
            <a:pPr lvl="0" algn="ctr">
              <a:lnSpc>
                <a:spcPct val="115000"/>
              </a:lnSpc>
            </a:pPr>
            <a:r>
              <a:rPr lang="en-U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switches</a:t>
            </a:r>
            <a:endParaRPr lang="de-D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33" name="Picture 2" descr="https://upload.wikimedia.org/wikipedia/commons/1/1a/Herakles_Kerberos_Eurystheus_Louvre_E701.jpg">
            <a:extLst>
              <a:ext uri="{FF2B5EF4-FFF2-40B4-BE49-F238E27FC236}">
                <a16:creationId xmlns:a16="http://schemas.microsoft.com/office/drawing/2014/main" id="{81E65043-837D-492A-BC24-5B090CDBD8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7211" y="131800"/>
            <a:ext cx="2074120" cy="1575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Google Shape;1534;g60be7dcf1c_0_434">
            <a:extLst>
              <a:ext uri="{FF2B5EF4-FFF2-40B4-BE49-F238E27FC236}">
                <a16:creationId xmlns:a16="http://schemas.microsoft.com/office/drawing/2014/main" id="{92160E07-84EB-460F-B6E7-2E20D0B67241}"/>
              </a:ext>
            </a:extLst>
          </p:cNvPr>
          <p:cNvSpPr txBox="1"/>
          <p:nvPr/>
        </p:nvSpPr>
        <p:spPr>
          <a:xfrm>
            <a:off x="1017000" y="5977638"/>
            <a:ext cx="6623101" cy="54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de-DE" sz="1600" dirty="0" err="1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How</a:t>
            </a:r>
            <a:r>
              <a:rPr lang="de-DE" sz="1600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de-DE" sz="1600" dirty="0" err="1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good</a:t>
            </a:r>
            <a:r>
              <a:rPr lang="de-DE" sz="1600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de-DE" sz="1600" dirty="0" err="1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is</a:t>
            </a:r>
            <a:r>
              <a:rPr lang="de-DE" sz="1600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de-DE" sz="1600" dirty="0" err="1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it</a:t>
            </a:r>
            <a:r>
              <a:rPr lang="de-DE" sz="1600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? 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Open </a:t>
            </a:r>
            <a:r>
              <a:rPr lang="de-DE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problem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 But </a:t>
            </a:r>
            <a:r>
              <a:rPr lang="de-DE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there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de-DE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are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de-DE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bounds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>
              <a:lnSpc>
                <a:spcPct val="115000"/>
              </a:lnSpc>
            </a:pP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>
              <a:lnSpc>
                <a:spcPct val="115000"/>
              </a:lnSpc>
            </a:pPr>
            <a:endParaRPr lang="de-DE"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3EEEADA4-AAE3-4448-B797-ACD023AC6C21}"/>
              </a:ext>
            </a:extLst>
          </p:cNvPr>
          <p:cNvSpPr/>
          <p:nvPr/>
        </p:nvSpPr>
        <p:spPr>
          <a:xfrm>
            <a:off x="1417103" y="2617499"/>
            <a:ext cx="5750753" cy="1512469"/>
          </a:xfrm>
          <a:custGeom>
            <a:avLst/>
            <a:gdLst>
              <a:gd name="connsiteX0" fmla="*/ 0 w 5750753"/>
              <a:gd name="connsiteY0" fmla="*/ 1482133 h 1512469"/>
              <a:gd name="connsiteX1" fmla="*/ 4398654 w 5750753"/>
              <a:gd name="connsiteY1" fmla="*/ 25 h 1512469"/>
              <a:gd name="connsiteX2" fmla="*/ 5750753 w 5750753"/>
              <a:gd name="connsiteY2" fmla="*/ 1512469 h 1512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750753" h="1512469">
                <a:moveTo>
                  <a:pt x="0" y="1482133"/>
                </a:moveTo>
                <a:cubicBezTo>
                  <a:pt x="1720097" y="738551"/>
                  <a:pt x="3440195" y="-5031"/>
                  <a:pt x="4398654" y="25"/>
                </a:cubicBezTo>
                <a:cubicBezTo>
                  <a:pt x="5357113" y="5081"/>
                  <a:pt x="5553933" y="758775"/>
                  <a:pt x="5750753" y="1512469"/>
                </a:cubicBezTo>
              </a:path>
            </a:pathLst>
          </a:custGeom>
          <a:noFill/>
          <a:ln w="38100">
            <a:solidFill>
              <a:schemeClr val="accent1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3143795A-2274-4C01-97D5-774E090365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6681" y="2132332"/>
            <a:ext cx="803830" cy="559466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194D06D-95C1-48C6-99F8-7A5CE305657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138</a:t>
            </a:fld>
            <a:endParaRPr lang="de-DE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358090A-1B62-4C1C-B017-8FEEC1E455B0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E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1743426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Freeform 8">
            <a:extLst>
              <a:ext uri="{FF2B5EF4-FFF2-40B4-BE49-F238E27FC236}">
                <a16:creationId xmlns:a16="http://schemas.microsoft.com/office/drawing/2014/main" id="{8ADFEB55-2D54-4348-9C63-C25579D9D8DE}"/>
              </a:ext>
            </a:extLst>
          </p:cNvPr>
          <p:cNvSpPr/>
          <p:nvPr/>
        </p:nvSpPr>
        <p:spPr>
          <a:xfrm>
            <a:off x="1681604" y="1949856"/>
            <a:ext cx="5468558" cy="1207677"/>
          </a:xfrm>
          <a:custGeom>
            <a:avLst/>
            <a:gdLst>
              <a:gd name="connsiteX0" fmla="*/ 0 w 2651765"/>
              <a:gd name="connsiteY0" fmla="*/ 368262 h 2209528"/>
              <a:gd name="connsiteX1" fmla="*/ 368262 w 2651765"/>
              <a:gd name="connsiteY1" fmla="*/ 0 h 2209528"/>
              <a:gd name="connsiteX2" fmla="*/ 2283503 w 2651765"/>
              <a:gd name="connsiteY2" fmla="*/ 0 h 2209528"/>
              <a:gd name="connsiteX3" fmla="*/ 2651765 w 2651765"/>
              <a:gd name="connsiteY3" fmla="*/ 368262 h 2209528"/>
              <a:gd name="connsiteX4" fmla="*/ 2651765 w 2651765"/>
              <a:gd name="connsiteY4" fmla="*/ 1841266 h 2209528"/>
              <a:gd name="connsiteX5" fmla="*/ 2283503 w 2651765"/>
              <a:gd name="connsiteY5" fmla="*/ 2209528 h 2209528"/>
              <a:gd name="connsiteX6" fmla="*/ 368262 w 2651765"/>
              <a:gd name="connsiteY6" fmla="*/ 2209528 h 2209528"/>
              <a:gd name="connsiteX7" fmla="*/ 0 w 2651765"/>
              <a:gd name="connsiteY7" fmla="*/ 1841266 h 2209528"/>
              <a:gd name="connsiteX8" fmla="*/ 0 w 2651765"/>
              <a:gd name="connsiteY8" fmla="*/ 368262 h 2209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51765" h="2209528">
                <a:moveTo>
                  <a:pt x="0" y="368262"/>
                </a:moveTo>
                <a:cubicBezTo>
                  <a:pt x="0" y="164877"/>
                  <a:pt x="164877" y="0"/>
                  <a:pt x="368262" y="0"/>
                </a:cubicBezTo>
                <a:lnTo>
                  <a:pt x="2283503" y="0"/>
                </a:lnTo>
                <a:cubicBezTo>
                  <a:pt x="2486888" y="0"/>
                  <a:pt x="2651765" y="164877"/>
                  <a:pt x="2651765" y="368262"/>
                </a:cubicBezTo>
                <a:lnTo>
                  <a:pt x="2651765" y="1841266"/>
                </a:lnTo>
                <a:cubicBezTo>
                  <a:pt x="2651765" y="2044651"/>
                  <a:pt x="2486888" y="2209528"/>
                  <a:pt x="2283503" y="2209528"/>
                </a:cubicBezTo>
                <a:lnTo>
                  <a:pt x="368262" y="2209528"/>
                </a:lnTo>
                <a:cubicBezTo>
                  <a:pt x="164877" y="2209528"/>
                  <a:pt x="0" y="2044651"/>
                  <a:pt x="0" y="1841266"/>
                </a:cubicBezTo>
                <a:lnTo>
                  <a:pt x="0" y="368262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48830" tIns="248830" rIns="248830" bIns="248830" numCol="1" spcCol="1270" anchor="ctr" anchorCtr="0">
            <a:noAutofit/>
          </a:bodyPr>
          <a:lstStyle/>
          <a:p>
            <a:pPr algn="ctr"/>
            <a:endParaRPr lang="de-DE" sz="1800" b="1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Google Shape;1309;g60be7dcf1c_0_222">
            <a:extLst>
              <a:ext uri="{FF2B5EF4-FFF2-40B4-BE49-F238E27FC236}">
                <a16:creationId xmlns:a16="http://schemas.microsoft.com/office/drawing/2014/main" id="{4DE19C73-9916-40CA-87D9-CC4934AE39A5}"/>
              </a:ext>
            </a:extLst>
          </p:cNvPr>
          <p:cNvSpPr txBox="1"/>
          <p:nvPr/>
        </p:nvSpPr>
        <p:spPr>
          <a:xfrm>
            <a:off x="0" y="540000"/>
            <a:ext cx="8170925" cy="55208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14" name="Google Shape;1288;g60be7dcf1c_0_204">
            <a:extLst>
              <a:ext uri="{FF2B5EF4-FFF2-40B4-BE49-F238E27FC236}">
                <a16:creationId xmlns:a16="http://schemas.microsoft.com/office/drawing/2014/main" id="{3A5A658B-C73C-468A-B47B-9E631F9C601D}"/>
              </a:ext>
            </a:extLst>
          </p:cNvPr>
          <p:cNvSpPr txBox="1">
            <a:spLocks/>
          </p:cNvSpPr>
          <p:nvPr/>
        </p:nvSpPr>
        <p:spPr>
          <a:xfrm>
            <a:off x="973075" y="149350"/>
            <a:ext cx="8171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lnSpc>
                <a:spcPct val="115000"/>
              </a:lnSpc>
              <a:buSzPts val="1100"/>
            </a:pPr>
            <a: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Optimal: Cerberus</a:t>
            </a:r>
            <a:endParaRPr lang="en-GB" sz="2000" dirty="0">
              <a:solidFill>
                <a:schemeClr val="tx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algn="l">
              <a:lnSpc>
                <a:spcPct val="115000"/>
              </a:lnSpc>
              <a:buSzPts val="1100"/>
            </a:pPr>
            <a:endParaRPr lang="en-GB" sz="2000" dirty="0">
              <a:solidFill>
                <a:schemeClr val="tx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7" name="Google Shape;1333;g60be7dcf1c_0_242">
            <a:extLst>
              <a:ext uri="{FF2B5EF4-FFF2-40B4-BE49-F238E27FC236}">
                <a16:creationId xmlns:a16="http://schemas.microsoft.com/office/drawing/2014/main" id="{9D2A14AB-D46C-4186-B829-FC294EB18C6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55376" b="19271"/>
          <a:stretch/>
        </p:blipFill>
        <p:spPr>
          <a:xfrm>
            <a:off x="709497" y="4164110"/>
            <a:ext cx="7134774" cy="1356377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334;g60be7dcf1c_0_242">
            <a:extLst>
              <a:ext uri="{FF2B5EF4-FFF2-40B4-BE49-F238E27FC236}">
                <a16:creationId xmlns:a16="http://schemas.microsoft.com/office/drawing/2014/main" id="{41094315-90A7-4832-94C9-E491B4820C83}"/>
              </a:ext>
            </a:extLst>
          </p:cNvPr>
          <p:cNvSpPr txBox="1"/>
          <p:nvPr/>
        </p:nvSpPr>
        <p:spPr>
          <a:xfrm>
            <a:off x="1057697" y="5474810"/>
            <a:ext cx="5892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" name="Google Shape;1335;g60be7dcf1c_0_242">
            <a:extLst>
              <a:ext uri="{FF2B5EF4-FFF2-40B4-BE49-F238E27FC236}">
                <a16:creationId xmlns:a16="http://schemas.microsoft.com/office/drawing/2014/main" id="{AA8571DF-E5A4-4C54-BEC3-A84AB098EB68}"/>
              </a:ext>
            </a:extLst>
          </p:cNvPr>
          <p:cNvSpPr txBox="1"/>
          <p:nvPr/>
        </p:nvSpPr>
        <p:spPr>
          <a:xfrm>
            <a:off x="1901872" y="5474810"/>
            <a:ext cx="5892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" name="Google Shape;1336;g60be7dcf1c_0_242">
            <a:extLst>
              <a:ext uri="{FF2B5EF4-FFF2-40B4-BE49-F238E27FC236}">
                <a16:creationId xmlns:a16="http://schemas.microsoft.com/office/drawing/2014/main" id="{2E61A26F-39EA-4893-BD82-5424BEE73771}"/>
              </a:ext>
            </a:extLst>
          </p:cNvPr>
          <p:cNvSpPr txBox="1"/>
          <p:nvPr/>
        </p:nvSpPr>
        <p:spPr>
          <a:xfrm>
            <a:off x="2746047" y="5474810"/>
            <a:ext cx="5892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" name="Google Shape;1337;g60be7dcf1c_0_242">
            <a:extLst>
              <a:ext uri="{FF2B5EF4-FFF2-40B4-BE49-F238E27FC236}">
                <a16:creationId xmlns:a16="http://schemas.microsoft.com/office/drawing/2014/main" id="{CAC8192C-B97B-4540-B474-922A73090015}"/>
              </a:ext>
            </a:extLst>
          </p:cNvPr>
          <p:cNvSpPr txBox="1"/>
          <p:nvPr/>
        </p:nvSpPr>
        <p:spPr>
          <a:xfrm>
            <a:off x="3563022" y="5474810"/>
            <a:ext cx="6279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" name="Google Shape;1338;g60be7dcf1c_0_242">
            <a:extLst>
              <a:ext uri="{FF2B5EF4-FFF2-40B4-BE49-F238E27FC236}">
                <a16:creationId xmlns:a16="http://schemas.microsoft.com/office/drawing/2014/main" id="{06F92845-E17C-415B-A31A-53426C61CEEF}"/>
              </a:ext>
            </a:extLst>
          </p:cNvPr>
          <p:cNvSpPr txBox="1"/>
          <p:nvPr/>
        </p:nvSpPr>
        <p:spPr>
          <a:xfrm>
            <a:off x="4418697" y="5474810"/>
            <a:ext cx="5892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" name="Google Shape;1339;g60be7dcf1c_0_242">
            <a:extLst>
              <a:ext uri="{FF2B5EF4-FFF2-40B4-BE49-F238E27FC236}">
                <a16:creationId xmlns:a16="http://schemas.microsoft.com/office/drawing/2014/main" id="{A514D908-BDF2-4EFC-91B5-6F22340181D0}"/>
              </a:ext>
            </a:extLst>
          </p:cNvPr>
          <p:cNvSpPr txBox="1"/>
          <p:nvPr/>
        </p:nvSpPr>
        <p:spPr>
          <a:xfrm>
            <a:off x="5235672" y="5474810"/>
            <a:ext cx="5892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6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" name="Google Shape;1340;g60be7dcf1c_0_242">
            <a:extLst>
              <a:ext uri="{FF2B5EF4-FFF2-40B4-BE49-F238E27FC236}">
                <a16:creationId xmlns:a16="http://schemas.microsoft.com/office/drawing/2014/main" id="{AEB6511B-A494-4AD8-909E-F74EB2051AEE}"/>
              </a:ext>
            </a:extLst>
          </p:cNvPr>
          <p:cNvSpPr txBox="1"/>
          <p:nvPr/>
        </p:nvSpPr>
        <p:spPr>
          <a:xfrm>
            <a:off x="6091347" y="5474810"/>
            <a:ext cx="5505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7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" name="Google Shape;1341;g60be7dcf1c_0_242">
            <a:extLst>
              <a:ext uri="{FF2B5EF4-FFF2-40B4-BE49-F238E27FC236}">
                <a16:creationId xmlns:a16="http://schemas.microsoft.com/office/drawing/2014/main" id="{84A465A6-0E9F-4BA5-9EB1-A1728D3DD470}"/>
              </a:ext>
            </a:extLst>
          </p:cNvPr>
          <p:cNvSpPr txBox="1"/>
          <p:nvPr/>
        </p:nvSpPr>
        <p:spPr>
          <a:xfrm>
            <a:off x="6908322" y="5452285"/>
            <a:ext cx="5892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rPr lang="en-GB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endParaRPr lang="en-GB" sz="110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CAB9C16-37A9-43F6-88BC-9621E4D0345E}"/>
              </a:ext>
            </a:extLst>
          </p:cNvPr>
          <p:cNvCxnSpPr/>
          <p:nvPr/>
        </p:nvCxnSpPr>
        <p:spPr>
          <a:xfrm flipV="1">
            <a:off x="1391672" y="3194332"/>
            <a:ext cx="825190" cy="9697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8631F36-4EAF-4E17-B82A-6ED1862B81B0}"/>
              </a:ext>
            </a:extLst>
          </p:cNvPr>
          <p:cNvCxnSpPr>
            <a:cxnSpLocks/>
          </p:cNvCxnSpPr>
          <p:nvPr/>
        </p:nvCxnSpPr>
        <p:spPr>
          <a:xfrm flipV="1">
            <a:off x="2216862" y="3194332"/>
            <a:ext cx="347918" cy="9697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1706AE3-EFC4-46DD-A2A4-6627D7DF5405}"/>
              </a:ext>
            </a:extLst>
          </p:cNvPr>
          <p:cNvCxnSpPr>
            <a:cxnSpLocks/>
          </p:cNvCxnSpPr>
          <p:nvPr/>
        </p:nvCxnSpPr>
        <p:spPr>
          <a:xfrm flipV="1">
            <a:off x="3042052" y="3194332"/>
            <a:ext cx="138276" cy="9697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C7800FD-6F5B-45AB-BA9B-8D78122CB838}"/>
              </a:ext>
            </a:extLst>
          </p:cNvPr>
          <p:cNvCxnSpPr>
            <a:cxnSpLocks/>
          </p:cNvCxnSpPr>
          <p:nvPr/>
        </p:nvCxnSpPr>
        <p:spPr>
          <a:xfrm flipV="1">
            <a:off x="3827099" y="3157533"/>
            <a:ext cx="55142" cy="10065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D964B92-CF99-4466-883C-DE614D3D9401}"/>
              </a:ext>
            </a:extLst>
          </p:cNvPr>
          <p:cNvCxnSpPr>
            <a:cxnSpLocks/>
          </p:cNvCxnSpPr>
          <p:nvPr/>
        </p:nvCxnSpPr>
        <p:spPr>
          <a:xfrm flipH="1" flipV="1">
            <a:off x="4634447" y="3157533"/>
            <a:ext cx="75828" cy="10065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3C324BC-8E0E-4330-B120-12E7F57EF53A}"/>
              </a:ext>
            </a:extLst>
          </p:cNvPr>
          <p:cNvCxnSpPr>
            <a:cxnSpLocks/>
          </p:cNvCxnSpPr>
          <p:nvPr/>
        </p:nvCxnSpPr>
        <p:spPr>
          <a:xfrm flipH="1" flipV="1">
            <a:off x="5249995" y="3157533"/>
            <a:ext cx="346440" cy="10433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FBB79C7-3F32-4199-B92E-B7F0C40D16CC}"/>
              </a:ext>
            </a:extLst>
          </p:cNvPr>
          <p:cNvCxnSpPr>
            <a:cxnSpLocks/>
          </p:cNvCxnSpPr>
          <p:nvPr/>
        </p:nvCxnSpPr>
        <p:spPr>
          <a:xfrm flipH="1" flipV="1">
            <a:off x="6040241" y="3150648"/>
            <a:ext cx="346440" cy="10433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1E553DF-C3FA-4E83-B6DF-C2EB3408596A}"/>
              </a:ext>
            </a:extLst>
          </p:cNvPr>
          <p:cNvCxnSpPr>
            <a:cxnSpLocks/>
          </p:cNvCxnSpPr>
          <p:nvPr/>
        </p:nvCxnSpPr>
        <p:spPr>
          <a:xfrm flipH="1" flipV="1">
            <a:off x="6548750" y="3157534"/>
            <a:ext cx="666828" cy="103649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Freeform 8">
            <a:extLst>
              <a:ext uri="{FF2B5EF4-FFF2-40B4-BE49-F238E27FC236}">
                <a16:creationId xmlns:a16="http://schemas.microsoft.com/office/drawing/2014/main" id="{6AA18E59-A28F-4BEE-A76F-EAC61BFBEA74}"/>
              </a:ext>
            </a:extLst>
          </p:cNvPr>
          <p:cNvSpPr/>
          <p:nvPr/>
        </p:nvSpPr>
        <p:spPr>
          <a:xfrm>
            <a:off x="1947553" y="2094953"/>
            <a:ext cx="1501243" cy="859053"/>
          </a:xfrm>
          <a:custGeom>
            <a:avLst/>
            <a:gdLst>
              <a:gd name="connsiteX0" fmla="*/ 0 w 2651765"/>
              <a:gd name="connsiteY0" fmla="*/ 368262 h 2209528"/>
              <a:gd name="connsiteX1" fmla="*/ 368262 w 2651765"/>
              <a:gd name="connsiteY1" fmla="*/ 0 h 2209528"/>
              <a:gd name="connsiteX2" fmla="*/ 2283503 w 2651765"/>
              <a:gd name="connsiteY2" fmla="*/ 0 h 2209528"/>
              <a:gd name="connsiteX3" fmla="*/ 2651765 w 2651765"/>
              <a:gd name="connsiteY3" fmla="*/ 368262 h 2209528"/>
              <a:gd name="connsiteX4" fmla="*/ 2651765 w 2651765"/>
              <a:gd name="connsiteY4" fmla="*/ 1841266 h 2209528"/>
              <a:gd name="connsiteX5" fmla="*/ 2283503 w 2651765"/>
              <a:gd name="connsiteY5" fmla="*/ 2209528 h 2209528"/>
              <a:gd name="connsiteX6" fmla="*/ 368262 w 2651765"/>
              <a:gd name="connsiteY6" fmla="*/ 2209528 h 2209528"/>
              <a:gd name="connsiteX7" fmla="*/ 0 w 2651765"/>
              <a:gd name="connsiteY7" fmla="*/ 1841266 h 2209528"/>
              <a:gd name="connsiteX8" fmla="*/ 0 w 2651765"/>
              <a:gd name="connsiteY8" fmla="*/ 368262 h 2209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51765" h="2209528">
                <a:moveTo>
                  <a:pt x="0" y="368262"/>
                </a:moveTo>
                <a:cubicBezTo>
                  <a:pt x="0" y="164877"/>
                  <a:pt x="164877" y="0"/>
                  <a:pt x="368262" y="0"/>
                </a:cubicBezTo>
                <a:lnTo>
                  <a:pt x="2283503" y="0"/>
                </a:lnTo>
                <a:cubicBezTo>
                  <a:pt x="2486888" y="0"/>
                  <a:pt x="2651765" y="164877"/>
                  <a:pt x="2651765" y="368262"/>
                </a:cubicBezTo>
                <a:lnTo>
                  <a:pt x="2651765" y="1841266"/>
                </a:lnTo>
                <a:cubicBezTo>
                  <a:pt x="2651765" y="2044651"/>
                  <a:pt x="2486888" y="2209528"/>
                  <a:pt x="2283503" y="2209528"/>
                </a:cubicBezTo>
                <a:lnTo>
                  <a:pt x="368262" y="2209528"/>
                </a:lnTo>
                <a:cubicBezTo>
                  <a:pt x="164877" y="2209528"/>
                  <a:pt x="0" y="2044651"/>
                  <a:pt x="0" y="1841266"/>
                </a:cubicBezTo>
                <a:lnTo>
                  <a:pt x="0" y="368262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48830" tIns="248830" rIns="248830" bIns="248830" numCol="1" spcCol="1270" anchor="ctr" anchorCtr="0">
            <a:noAutofit/>
          </a:bodyPr>
          <a:lstStyle/>
          <a:p>
            <a:pPr algn="ctr"/>
            <a:endParaRPr lang="de-DE" sz="1800" b="1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8" name="Freeform 8">
            <a:extLst>
              <a:ext uri="{FF2B5EF4-FFF2-40B4-BE49-F238E27FC236}">
                <a16:creationId xmlns:a16="http://schemas.microsoft.com/office/drawing/2014/main" id="{8039DA2F-13A2-4C83-85B2-D986CB2C9A10}"/>
              </a:ext>
            </a:extLst>
          </p:cNvPr>
          <p:cNvSpPr/>
          <p:nvPr/>
        </p:nvSpPr>
        <p:spPr>
          <a:xfrm>
            <a:off x="3553849" y="2099653"/>
            <a:ext cx="1501243" cy="859053"/>
          </a:xfrm>
          <a:custGeom>
            <a:avLst/>
            <a:gdLst>
              <a:gd name="connsiteX0" fmla="*/ 0 w 2651765"/>
              <a:gd name="connsiteY0" fmla="*/ 368262 h 2209528"/>
              <a:gd name="connsiteX1" fmla="*/ 368262 w 2651765"/>
              <a:gd name="connsiteY1" fmla="*/ 0 h 2209528"/>
              <a:gd name="connsiteX2" fmla="*/ 2283503 w 2651765"/>
              <a:gd name="connsiteY2" fmla="*/ 0 h 2209528"/>
              <a:gd name="connsiteX3" fmla="*/ 2651765 w 2651765"/>
              <a:gd name="connsiteY3" fmla="*/ 368262 h 2209528"/>
              <a:gd name="connsiteX4" fmla="*/ 2651765 w 2651765"/>
              <a:gd name="connsiteY4" fmla="*/ 1841266 h 2209528"/>
              <a:gd name="connsiteX5" fmla="*/ 2283503 w 2651765"/>
              <a:gd name="connsiteY5" fmla="*/ 2209528 h 2209528"/>
              <a:gd name="connsiteX6" fmla="*/ 368262 w 2651765"/>
              <a:gd name="connsiteY6" fmla="*/ 2209528 h 2209528"/>
              <a:gd name="connsiteX7" fmla="*/ 0 w 2651765"/>
              <a:gd name="connsiteY7" fmla="*/ 1841266 h 2209528"/>
              <a:gd name="connsiteX8" fmla="*/ 0 w 2651765"/>
              <a:gd name="connsiteY8" fmla="*/ 368262 h 2209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51765" h="2209528">
                <a:moveTo>
                  <a:pt x="0" y="368262"/>
                </a:moveTo>
                <a:cubicBezTo>
                  <a:pt x="0" y="164877"/>
                  <a:pt x="164877" y="0"/>
                  <a:pt x="368262" y="0"/>
                </a:cubicBezTo>
                <a:lnTo>
                  <a:pt x="2283503" y="0"/>
                </a:lnTo>
                <a:cubicBezTo>
                  <a:pt x="2486888" y="0"/>
                  <a:pt x="2651765" y="164877"/>
                  <a:pt x="2651765" y="368262"/>
                </a:cubicBezTo>
                <a:lnTo>
                  <a:pt x="2651765" y="1841266"/>
                </a:lnTo>
                <a:cubicBezTo>
                  <a:pt x="2651765" y="2044651"/>
                  <a:pt x="2486888" y="2209528"/>
                  <a:pt x="2283503" y="2209528"/>
                </a:cubicBezTo>
                <a:lnTo>
                  <a:pt x="368262" y="2209528"/>
                </a:lnTo>
                <a:cubicBezTo>
                  <a:pt x="164877" y="2209528"/>
                  <a:pt x="0" y="2044651"/>
                  <a:pt x="0" y="1841266"/>
                </a:cubicBezTo>
                <a:lnTo>
                  <a:pt x="0" y="368262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48830" tIns="248830" rIns="248830" bIns="248830" numCol="1" spcCol="1270" anchor="ctr" anchorCtr="0">
            <a:noAutofit/>
          </a:bodyPr>
          <a:lstStyle/>
          <a:p>
            <a:pPr algn="ctr"/>
            <a:endParaRPr lang="de-DE" sz="1800" b="1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Freeform 8">
            <a:extLst>
              <a:ext uri="{FF2B5EF4-FFF2-40B4-BE49-F238E27FC236}">
                <a16:creationId xmlns:a16="http://schemas.microsoft.com/office/drawing/2014/main" id="{082DD5A5-4C9E-4F8E-B02F-6601A6DD0A27}"/>
              </a:ext>
            </a:extLst>
          </p:cNvPr>
          <p:cNvSpPr/>
          <p:nvPr/>
        </p:nvSpPr>
        <p:spPr>
          <a:xfrm>
            <a:off x="5160145" y="2094953"/>
            <a:ext cx="1501243" cy="859053"/>
          </a:xfrm>
          <a:custGeom>
            <a:avLst/>
            <a:gdLst>
              <a:gd name="connsiteX0" fmla="*/ 0 w 2651765"/>
              <a:gd name="connsiteY0" fmla="*/ 368262 h 2209528"/>
              <a:gd name="connsiteX1" fmla="*/ 368262 w 2651765"/>
              <a:gd name="connsiteY1" fmla="*/ 0 h 2209528"/>
              <a:gd name="connsiteX2" fmla="*/ 2283503 w 2651765"/>
              <a:gd name="connsiteY2" fmla="*/ 0 h 2209528"/>
              <a:gd name="connsiteX3" fmla="*/ 2651765 w 2651765"/>
              <a:gd name="connsiteY3" fmla="*/ 368262 h 2209528"/>
              <a:gd name="connsiteX4" fmla="*/ 2651765 w 2651765"/>
              <a:gd name="connsiteY4" fmla="*/ 1841266 h 2209528"/>
              <a:gd name="connsiteX5" fmla="*/ 2283503 w 2651765"/>
              <a:gd name="connsiteY5" fmla="*/ 2209528 h 2209528"/>
              <a:gd name="connsiteX6" fmla="*/ 368262 w 2651765"/>
              <a:gd name="connsiteY6" fmla="*/ 2209528 h 2209528"/>
              <a:gd name="connsiteX7" fmla="*/ 0 w 2651765"/>
              <a:gd name="connsiteY7" fmla="*/ 1841266 h 2209528"/>
              <a:gd name="connsiteX8" fmla="*/ 0 w 2651765"/>
              <a:gd name="connsiteY8" fmla="*/ 368262 h 2209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51765" h="2209528">
                <a:moveTo>
                  <a:pt x="0" y="368262"/>
                </a:moveTo>
                <a:cubicBezTo>
                  <a:pt x="0" y="164877"/>
                  <a:pt x="164877" y="0"/>
                  <a:pt x="368262" y="0"/>
                </a:cubicBezTo>
                <a:lnTo>
                  <a:pt x="2283503" y="0"/>
                </a:lnTo>
                <a:cubicBezTo>
                  <a:pt x="2486888" y="0"/>
                  <a:pt x="2651765" y="164877"/>
                  <a:pt x="2651765" y="368262"/>
                </a:cubicBezTo>
                <a:lnTo>
                  <a:pt x="2651765" y="1841266"/>
                </a:lnTo>
                <a:cubicBezTo>
                  <a:pt x="2651765" y="2044651"/>
                  <a:pt x="2486888" y="2209528"/>
                  <a:pt x="2283503" y="2209528"/>
                </a:cubicBezTo>
                <a:lnTo>
                  <a:pt x="368262" y="2209528"/>
                </a:lnTo>
                <a:cubicBezTo>
                  <a:pt x="164877" y="2209528"/>
                  <a:pt x="0" y="2044651"/>
                  <a:pt x="0" y="1841266"/>
                </a:cubicBezTo>
                <a:lnTo>
                  <a:pt x="0" y="368262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48830" tIns="248830" rIns="248830" bIns="248830" numCol="1" spcCol="1270" anchor="ctr" anchorCtr="0">
            <a:noAutofit/>
          </a:bodyPr>
          <a:lstStyle/>
          <a:p>
            <a:pPr algn="ctr"/>
            <a:endParaRPr lang="de-DE" sz="1800" b="1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Google Shape;1534;g60be7dcf1c_0_434">
            <a:extLst>
              <a:ext uri="{FF2B5EF4-FFF2-40B4-BE49-F238E27FC236}">
                <a16:creationId xmlns:a16="http://schemas.microsoft.com/office/drawing/2014/main" id="{09FC3FC7-94B9-415E-93D5-4AEA770EE6D8}"/>
              </a:ext>
            </a:extLst>
          </p:cNvPr>
          <p:cNvSpPr txBox="1"/>
          <p:nvPr/>
        </p:nvSpPr>
        <p:spPr>
          <a:xfrm>
            <a:off x="1537427" y="2065708"/>
            <a:ext cx="2417240" cy="545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lnSpc>
                <a:spcPct val="115000"/>
              </a:lnSpc>
            </a:pPr>
            <a:r>
              <a:rPr lang="en-U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K</a:t>
            </a:r>
            <a:r>
              <a:rPr lang="en-US" baseline="-25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</a:t>
            </a:r>
            <a:r>
              <a:rPr lang="en-U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</a:p>
          <a:p>
            <a:pPr lvl="0" algn="ctr">
              <a:lnSpc>
                <a:spcPct val="115000"/>
              </a:lnSpc>
            </a:pPr>
            <a:r>
              <a:rPr lang="en-U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static </a:t>
            </a:r>
          </a:p>
          <a:p>
            <a:pPr lvl="0" algn="ctr">
              <a:lnSpc>
                <a:spcPct val="115000"/>
              </a:lnSpc>
            </a:pPr>
            <a:r>
              <a:rPr lang="en-U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switches</a:t>
            </a:r>
            <a:endParaRPr lang="de-D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" name="Google Shape;1534;g60be7dcf1c_0_434">
            <a:extLst>
              <a:ext uri="{FF2B5EF4-FFF2-40B4-BE49-F238E27FC236}">
                <a16:creationId xmlns:a16="http://schemas.microsoft.com/office/drawing/2014/main" id="{46EA69EA-6A18-457A-8CFA-45EB19F65A48}"/>
              </a:ext>
            </a:extLst>
          </p:cNvPr>
          <p:cNvSpPr txBox="1"/>
          <p:nvPr/>
        </p:nvSpPr>
        <p:spPr>
          <a:xfrm>
            <a:off x="3095850" y="2065707"/>
            <a:ext cx="2417240" cy="545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lnSpc>
                <a:spcPct val="115000"/>
              </a:lnSpc>
            </a:pPr>
            <a:r>
              <a:rPr lang="en-U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K</a:t>
            </a:r>
            <a:r>
              <a:rPr lang="en-US" baseline="-25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</a:t>
            </a:r>
            <a:r>
              <a:rPr lang="en-U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</a:p>
          <a:p>
            <a:pPr lvl="0" algn="ctr">
              <a:lnSpc>
                <a:spcPct val="115000"/>
              </a:lnSpc>
            </a:pPr>
            <a:r>
              <a:rPr lang="en-U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rotor </a:t>
            </a:r>
          </a:p>
          <a:p>
            <a:pPr lvl="0" algn="ctr">
              <a:lnSpc>
                <a:spcPct val="115000"/>
              </a:lnSpc>
            </a:pPr>
            <a:r>
              <a:rPr lang="en-U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switches</a:t>
            </a:r>
            <a:endParaRPr lang="de-D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" name="Google Shape;1534;g60be7dcf1c_0_434">
            <a:extLst>
              <a:ext uri="{FF2B5EF4-FFF2-40B4-BE49-F238E27FC236}">
                <a16:creationId xmlns:a16="http://schemas.microsoft.com/office/drawing/2014/main" id="{B31E94A9-C72F-4157-AB29-B88DDC5DB130}"/>
              </a:ext>
            </a:extLst>
          </p:cNvPr>
          <p:cNvSpPr txBox="1"/>
          <p:nvPr/>
        </p:nvSpPr>
        <p:spPr>
          <a:xfrm>
            <a:off x="4672361" y="2040944"/>
            <a:ext cx="2417240" cy="545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lnSpc>
                <a:spcPct val="115000"/>
              </a:lnSpc>
            </a:pPr>
            <a:r>
              <a:rPr lang="en-US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K</a:t>
            </a:r>
            <a:r>
              <a:rPr lang="en-US" baseline="-250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</a:t>
            </a:r>
            <a:r>
              <a:rPr lang="en-U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</a:p>
          <a:p>
            <a:pPr lvl="0" algn="ctr">
              <a:lnSpc>
                <a:spcPct val="115000"/>
              </a:lnSpc>
            </a:pPr>
            <a:r>
              <a:rPr lang="en-U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demand-aware </a:t>
            </a:r>
          </a:p>
          <a:p>
            <a:pPr lvl="0" algn="ctr">
              <a:lnSpc>
                <a:spcPct val="115000"/>
              </a:lnSpc>
            </a:pPr>
            <a:r>
              <a:rPr lang="en-U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switches</a:t>
            </a:r>
            <a:endParaRPr lang="de-D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33" name="Picture 2" descr="https://upload.wikimedia.org/wikipedia/commons/1/1a/Herakles_Kerberos_Eurystheus_Louvre_E701.jpg">
            <a:extLst>
              <a:ext uri="{FF2B5EF4-FFF2-40B4-BE49-F238E27FC236}">
                <a16:creationId xmlns:a16="http://schemas.microsoft.com/office/drawing/2014/main" id="{81E65043-837D-492A-BC24-5B090CDBD8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7211" y="131800"/>
            <a:ext cx="2074120" cy="1575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reeform: Shape 3">
            <a:extLst>
              <a:ext uri="{FF2B5EF4-FFF2-40B4-BE49-F238E27FC236}">
                <a16:creationId xmlns:a16="http://schemas.microsoft.com/office/drawing/2014/main" id="{3EEEADA4-AAE3-4448-B797-ACD023AC6C21}"/>
              </a:ext>
            </a:extLst>
          </p:cNvPr>
          <p:cNvSpPr/>
          <p:nvPr/>
        </p:nvSpPr>
        <p:spPr>
          <a:xfrm>
            <a:off x="1417103" y="2617499"/>
            <a:ext cx="5750753" cy="1512469"/>
          </a:xfrm>
          <a:custGeom>
            <a:avLst/>
            <a:gdLst>
              <a:gd name="connsiteX0" fmla="*/ 0 w 5750753"/>
              <a:gd name="connsiteY0" fmla="*/ 1482133 h 1512469"/>
              <a:gd name="connsiteX1" fmla="*/ 4398654 w 5750753"/>
              <a:gd name="connsiteY1" fmla="*/ 25 h 1512469"/>
              <a:gd name="connsiteX2" fmla="*/ 5750753 w 5750753"/>
              <a:gd name="connsiteY2" fmla="*/ 1512469 h 1512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750753" h="1512469">
                <a:moveTo>
                  <a:pt x="0" y="1482133"/>
                </a:moveTo>
                <a:cubicBezTo>
                  <a:pt x="1720097" y="738551"/>
                  <a:pt x="3440195" y="-5031"/>
                  <a:pt x="4398654" y="25"/>
                </a:cubicBezTo>
                <a:cubicBezTo>
                  <a:pt x="5357113" y="5081"/>
                  <a:pt x="5553933" y="758775"/>
                  <a:pt x="5750753" y="1512469"/>
                </a:cubicBezTo>
              </a:path>
            </a:pathLst>
          </a:custGeom>
          <a:noFill/>
          <a:ln w="38100">
            <a:solidFill>
              <a:schemeClr val="accent1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3143795A-2274-4C01-97D5-774E090365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6681" y="2132332"/>
            <a:ext cx="803830" cy="559466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194D06D-95C1-48C6-99F8-7A5CE305657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139</a:t>
            </a:fld>
            <a:endParaRPr lang="de-DE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358090A-1B62-4C1C-B017-8FEEC1E455B0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E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34" name="Google Shape;1534;g60be7dcf1c_0_434">
            <a:extLst>
              <a:ext uri="{FF2B5EF4-FFF2-40B4-BE49-F238E27FC236}">
                <a16:creationId xmlns:a16="http://schemas.microsoft.com/office/drawing/2014/main" id="{92160E07-84EB-460F-B6E7-2E20D0B67241}"/>
              </a:ext>
            </a:extLst>
          </p:cNvPr>
          <p:cNvSpPr txBox="1"/>
          <p:nvPr/>
        </p:nvSpPr>
        <p:spPr>
          <a:xfrm>
            <a:off x="1017000" y="5977638"/>
            <a:ext cx="6990927" cy="54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de-DE" sz="1600" dirty="0" err="1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How</a:t>
            </a:r>
            <a:r>
              <a:rPr lang="de-DE" sz="1600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de-DE" sz="1600" dirty="0" err="1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good</a:t>
            </a:r>
            <a:r>
              <a:rPr lang="de-DE" sz="1600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de-DE" sz="1600" dirty="0" err="1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is</a:t>
            </a:r>
            <a:r>
              <a:rPr lang="de-DE" sz="1600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de-DE" sz="1600" dirty="0" err="1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it</a:t>
            </a:r>
            <a:r>
              <a:rPr lang="de-DE" sz="1600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? 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Open </a:t>
            </a:r>
            <a:r>
              <a:rPr lang="de-DE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problem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 But </a:t>
            </a:r>
            <a:r>
              <a:rPr lang="de-DE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there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de-DE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are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de-DE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bounds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</a:p>
          <a:p>
            <a:pPr lvl="0">
              <a:lnSpc>
                <a:spcPct val="115000"/>
              </a:lnSpc>
            </a:pPr>
            <a:r>
              <a:rPr lang="de-DE" sz="1600" dirty="0" err="1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How</a:t>
            </a:r>
            <a:r>
              <a:rPr lang="de-DE" sz="1600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de-DE" sz="1600" dirty="0" err="1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to</a:t>
            </a:r>
            <a:r>
              <a:rPr lang="de-DE" sz="1600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de-DE" sz="1600" dirty="0" err="1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realize</a:t>
            </a:r>
            <a:r>
              <a:rPr lang="de-DE" sz="1600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 such an </a:t>
            </a:r>
            <a:r>
              <a:rPr lang="de-DE" sz="1600" dirty="0" err="1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architecture</a:t>
            </a:r>
            <a:r>
              <a:rPr lang="de-DE" sz="1600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?! </a:t>
            </a:r>
            <a:r>
              <a:rPr lang="de-DE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Scalable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de-DE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control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plane?</a:t>
            </a: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>
              <a:lnSpc>
                <a:spcPct val="115000"/>
              </a:lnSpc>
            </a:pP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>
              <a:lnSpc>
                <a:spcPct val="115000"/>
              </a:lnSpc>
            </a:pPr>
            <a:endParaRPr lang="de-DE"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3280534655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6" name="Google Shape;1656;g60be7dcf1c_0_555"/>
          <p:cNvSpPr txBox="1"/>
          <p:nvPr/>
        </p:nvSpPr>
        <p:spPr>
          <a:xfrm>
            <a:off x="0" y="540000"/>
            <a:ext cx="8211000" cy="251010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1657" name="Google Shape;1657;g60be7dcf1c_0_555"/>
          <p:cNvSpPr txBox="1">
            <a:spLocks noGrp="1"/>
          </p:cNvSpPr>
          <p:nvPr>
            <p:ph type="title"/>
          </p:nvPr>
        </p:nvSpPr>
        <p:spPr>
          <a:xfrm>
            <a:off x="973075" y="73150"/>
            <a:ext cx="8171100" cy="272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 dirty="0">
                <a:latin typeface="Consolas"/>
                <a:ea typeface="Consolas"/>
                <a:cs typeface="Consolas"/>
                <a:sym typeface="Consolas"/>
              </a:rPr>
              <a:t>Question:</a:t>
            </a:r>
            <a:r>
              <a:rPr lang="en-GB" sz="4000" dirty="0">
                <a:latin typeface="Consolas"/>
                <a:ea typeface="Consolas"/>
                <a:cs typeface="Consolas"/>
                <a:sym typeface="Consolas"/>
              </a:rPr>
              <a:t>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4000" dirty="0">
                <a:latin typeface="Consolas"/>
                <a:ea typeface="Consolas"/>
                <a:cs typeface="Consolas"/>
                <a:sym typeface="Consolas"/>
              </a:rPr>
              <a:t>How to Quantify </a:t>
            </a:r>
            <a:br>
              <a:rPr lang="en-GB" sz="4000" dirty="0"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4000" dirty="0">
                <a:latin typeface="Consolas"/>
                <a:ea typeface="Consolas"/>
                <a:cs typeface="Consolas"/>
                <a:sym typeface="Consolas"/>
              </a:rPr>
              <a:t>such “Structure” </a:t>
            </a:r>
            <a:br>
              <a:rPr lang="en-GB" sz="4000" dirty="0"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4000" dirty="0">
                <a:latin typeface="Consolas"/>
                <a:ea typeface="Consolas"/>
                <a:cs typeface="Consolas"/>
                <a:sym typeface="Consolas"/>
              </a:rPr>
              <a:t>in the Demand?</a:t>
            </a:r>
            <a:endParaRPr lang="en-GB" sz="4000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F3BFB24-EF9A-4360-BC9C-B28C32282003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E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8137339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7" name="Google Shape;1687;g60be7dcf1c_0_579"/>
          <p:cNvSpPr txBox="1"/>
          <p:nvPr/>
        </p:nvSpPr>
        <p:spPr>
          <a:xfrm>
            <a:off x="0" y="540000"/>
            <a:ext cx="8211000" cy="144000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24" name="Google Shape;1632;g60be7dcf1c_0_529"/>
          <p:cNvSpPr txBox="1">
            <a:spLocks/>
          </p:cNvSpPr>
          <p:nvPr/>
        </p:nvSpPr>
        <p:spPr>
          <a:xfrm>
            <a:off x="973075" y="149350"/>
            <a:ext cx="8171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lnSpc>
                <a:spcPct val="115000"/>
              </a:lnSpc>
              <a:buSzPts val="1100"/>
            </a:pPr>
            <a: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Intuition</a:t>
            </a:r>
            <a:br>
              <a:rPr lang="en-GB" sz="32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2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Which demand has more structure?</a:t>
            </a:r>
          </a:p>
        </p:txBody>
      </p:sp>
      <p:pic>
        <p:nvPicPr>
          <p:cNvPr id="25" name="Grafik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0233" y="3901673"/>
            <a:ext cx="2247975" cy="1621285"/>
          </a:xfrm>
          <a:prstGeom prst="rect">
            <a:avLst/>
          </a:prstGeom>
        </p:spPr>
      </p:pic>
      <p:pic>
        <p:nvPicPr>
          <p:cNvPr id="28" name="Grafik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9439" y="3927332"/>
            <a:ext cx="2261731" cy="1595626"/>
          </a:xfrm>
          <a:prstGeom prst="rect">
            <a:avLst/>
          </a:prstGeom>
        </p:spPr>
      </p:pic>
      <p:sp>
        <p:nvSpPr>
          <p:cNvPr id="29" name="Google Shape;1639;g60be7dcf1c_0_529"/>
          <p:cNvSpPr txBox="1"/>
          <p:nvPr/>
        </p:nvSpPr>
        <p:spPr>
          <a:xfrm>
            <a:off x="3926920" y="4303146"/>
            <a:ext cx="765300" cy="7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 dirty="0">
                <a:solidFill>
                  <a:schemeClr val="tx1"/>
                </a:solidFill>
                <a:latin typeface="Consolas"/>
                <a:ea typeface="Consolas"/>
                <a:cs typeface="Consolas"/>
                <a:sym typeface="Consolas"/>
              </a:rPr>
              <a:t>vs</a:t>
            </a:r>
          </a:p>
        </p:txBody>
      </p:sp>
      <p:sp>
        <p:nvSpPr>
          <p:cNvPr id="31" name="Google Shape;1995;g60be7dcf1c_0_859"/>
          <p:cNvSpPr/>
          <p:nvPr/>
        </p:nvSpPr>
        <p:spPr>
          <a:xfrm rot="18989618" flipH="1">
            <a:off x="6052590" y="3183750"/>
            <a:ext cx="1969469" cy="333474"/>
          </a:xfrm>
          <a:prstGeom prst="homePlate">
            <a:avLst>
              <a:gd name="adj" fmla="val 50000"/>
            </a:avLst>
          </a:prstGeom>
          <a:solidFill>
            <a:srgbClr val="FFFFFF"/>
          </a:solidFill>
          <a:ln w="1905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32" name="Google Shape;1996;g60be7dcf1c_0_859"/>
          <p:cNvSpPr txBox="1"/>
          <p:nvPr/>
        </p:nvSpPr>
        <p:spPr>
          <a:xfrm rot="18990455">
            <a:off x="6069850" y="2884571"/>
            <a:ext cx="2570214" cy="291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Color</a:t>
            </a:r>
            <a:r>
              <a:rPr lang="en-GB" sz="9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communication pair</a:t>
            </a:r>
          </a:p>
        </p:txBody>
      </p:sp>
      <p:sp>
        <p:nvSpPr>
          <p:cNvPr id="11" name="Google Shape;1534;g60be7dcf1c_0_434"/>
          <p:cNvSpPr txBox="1"/>
          <p:nvPr/>
        </p:nvSpPr>
        <p:spPr>
          <a:xfrm>
            <a:off x="973075" y="2443341"/>
            <a:ext cx="5531733" cy="882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⇢ 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Traffic matrices of two different distributed ML applications</a:t>
            </a:r>
          </a:p>
          <a:p>
            <a:pPr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GB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⇀ </a:t>
            </a:r>
            <a:r>
              <a:rPr lang="en-US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GPU-to-GPU</a:t>
            </a:r>
          </a:p>
          <a:p>
            <a:pPr>
              <a:lnSpc>
                <a:spcPct val="115000"/>
              </a:lnSpc>
            </a:pP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lang="de-DE"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" name="Google Shape;1638;g60be7dcf1c_0_529"/>
          <p:cNvSpPr/>
          <p:nvPr/>
        </p:nvSpPr>
        <p:spPr>
          <a:xfrm>
            <a:off x="3859183" y="4206705"/>
            <a:ext cx="935400" cy="9354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</p:txBody>
      </p:sp>
      <p:sp>
        <p:nvSpPr>
          <p:cNvPr id="13" name="Google Shape;1639;g60be7dcf1c_0_529"/>
          <p:cNvSpPr txBox="1"/>
          <p:nvPr/>
        </p:nvSpPr>
        <p:spPr>
          <a:xfrm>
            <a:off x="3942701" y="4303146"/>
            <a:ext cx="765300" cy="7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vs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E0C97B8-7445-4FD7-B63B-C0B35B052DD4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E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0823056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7" name="Google Shape;1687;g60be7dcf1c_0_579"/>
          <p:cNvSpPr txBox="1"/>
          <p:nvPr/>
        </p:nvSpPr>
        <p:spPr>
          <a:xfrm>
            <a:off x="0" y="540000"/>
            <a:ext cx="8211000" cy="144000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24" name="Google Shape;1632;g60be7dcf1c_0_529"/>
          <p:cNvSpPr txBox="1">
            <a:spLocks/>
          </p:cNvSpPr>
          <p:nvPr/>
        </p:nvSpPr>
        <p:spPr>
          <a:xfrm>
            <a:off x="973075" y="149350"/>
            <a:ext cx="8171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lnSpc>
                <a:spcPct val="115000"/>
              </a:lnSpc>
              <a:buSzPts val="1100"/>
            </a:pPr>
            <a: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Intuition</a:t>
            </a:r>
            <a:br>
              <a:rPr lang="en-GB" sz="32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2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Which demand has more structure?</a:t>
            </a:r>
          </a:p>
        </p:txBody>
      </p:sp>
      <p:pic>
        <p:nvPicPr>
          <p:cNvPr id="25" name="Grafik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0233" y="3901673"/>
            <a:ext cx="2247975" cy="1621285"/>
          </a:xfrm>
          <a:prstGeom prst="rect">
            <a:avLst/>
          </a:prstGeom>
        </p:spPr>
      </p:pic>
      <p:pic>
        <p:nvPicPr>
          <p:cNvPr id="28" name="Grafik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9439" y="3927332"/>
            <a:ext cx="2261731" cy="1595626"/>
          </a:xfrm>
          <a:prstGeom prst="rect">
            <a:avLst/>
          </a:prstGeom>
        </p:spPr>
      </p:pic>
      <p:sp>
        <p:nvSpPr>
          <p:cNvPr id="29" name="Google Shape;1639;g60be7dcf1c_0_529"/>
          <p:cNvSpPr txBox="1"/>
          <p:nvPr/>
        </p:nvSpPr>
        <p:spPr>
          <a:xfrm>
            <a:off x="3926920" y="4303146"/>
            <a:ext cx="765300" cy="7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 dirty="0">
                <a:solidFill>
                  <a:schemeClr val="tx1"/>
                </a:solidFill>
                <a:latin typeface="Consolas"/>
                <a:ea typeface="Consolas"/>
                <a:cs typeface="Consolas"/>
                <a:sym typeface="Consolas"/>
              </a:rPr>
              <a:t>vs</a:t>
            </a:r>
          </a:p>
        </p:txBody>
      </p:sp>
      <p:sp>
        <p:nvSpPr>
          <p:cNvPr id="30" name="Google Shape;1534;g60be7dcf1c_0_434"/>
          <p:cNvSpPr txBox="1"/>
          <p:nvPr/>
        </p:nvSpPr>
        <p:spPr>
          <a:xfrm>
            <a:off x="973075" y="2443341"/>
            <a:ext cx="5531733" cy="882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⇢ 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Traffic matrices of two different distributed ML applications</a:t>
            </a:r>
          </a:p>
          <a:p>
            <a:pPr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GB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⇀ </a:t>
            </a:r>
            <a:r>
              <a:rPr lang="en-US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GPU-to-GPU</a:t>
            </a:r>
          </a:p>
          <a:p>
            <a:pPr>
              <a:lnSpc>
                <a:spcPct val="115000"/>
              </a:lnSpc>
            </a:pP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lang="de-DE"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" name="Google Shape;1995;g60be7dcf1c_0_859"/>
          <p:cNvSpPr/>
          <p:nvPr/>
        </p:nvSpPr>
        <p:spPr>
          <a:xfrm rot="18989618" flipH="1">
            <a:off x="6052590" y="3183750"/>
            <a:ext cx="1969469" cy="333474"/>
          </a:xfrm>
          <a:prstGeom prst="homePlate">
            <a:avLst>
              <a:gd name="adj" fmla="val 50000"/>
            </a:avLst>
          </a:prstGeom>
          <a:solidFill>
            <a:srgbClr val="FFFFFF"/>
          </a:solidFill>
          <a:ln w="1905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32" name="Google Shape;1996;g60be7dcf1c_0_859"/>
          <p:cNvSpPr txBox="1"/>
          <p:nvPr/>
        </p:nvSpPr>
        <p:spPr>
          <a:xfrm rot="18990455">
            <a:off x="6069850" y="2884571"/>
            <a:ext cx="2570214" cy="291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Color</a:t>
            </a:r>
            <a:r>
              <a:rPr lang="en-GB" sz="9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communication pair</a:t>
            </a:r>
          </a:p>
        </p:txBody>
      </p:sp>
      <p:sp>
        <p:nvSpPr>
          <p:cNvPr id="11" name="Google Shape;1639;g60be7dcf1c_0_529"/>
          <p:cNvSpPr txBox="1"/>
          <p:nvPr/>
        </p:nvSpPr>
        <p:spPr>
          <a:xfrm>
            <a:off x="882316" y="5651830"/>
            <a:ext cx="3223184" cy="7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b="1" dirty="0">
                <a:solidFill>
                  <a:schemeClr val="tx1"/>
                </a:solidFill>
                <a:latin typeface="Consolas"/>
                <a:ea typeface="Consolas"/>
                <a:cs typeface="Consolas"/>
                <a:sym typeface="Consolas"/>
              </a:rPr>
              <a:t>More uniform</a:t>
            </a:r>
          </a:p>
        </p:txBody>
      </p:sp>
      <p:sp>
        <p:nvSpPr>
          <p:cNvPr id="12" name="Google Shape;1639;g60be7dcf1c_0_529"/>
          <p:cNvSpPr txBox="1"/>
          <p:nvPr/>
        </p:nvSpPr>
        <p:spPr>
          <a:xfrm>
            <a:off x="4692220" y="5651830"/>
            <a:ext cx="3223184" cy="7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b="1" dirty="0">
                <a:solidFill>
                  <a:schemeClr val="tx1"/>
                </a:solidFill>
                <a:latin typeface="Consolas"/>
                <a:ea typeface="Consolas"/>
                <a:cs typeface="Consolas"/>
                <a:sym typeface="Consolas"/>
              </a:rPr>
              <a:t>More structure</a:t>
            </a:r>
          </a:p>
        </p:txBody>
      </p:sp>
      <p:sp>
        <p:nvSpPr>
          <p:cNvPr id="13" name="Google Shape;1638;g60be7dcf1c_0_529"/>
          <p:cNvSpPr/>
          <p:nvPr/>
        </p:nvSpPr>
        <p:spPr>
          <a:xfrm>
            <a:off x="3859183" y="4206705"/>
            <a:ext cx="935400" cy="9354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</p:txBody>
      </p:sp>
      <p:sp>
        <p:nvSpPr>
          <p:cNvPr id="14" name="Google Shape;1639;g60be7dcf1c_0_529"/>
          <p:cNvSpPr txBox="1"/>
          <p:nvPr/>
        </p:nvSpPr>
        <p:spPr>
          <a:xfrm>
            <a:off x="3942701" y="4303146"/>
            <a:ext cx="765300" cy="7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vs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21999B0-B275-409E-97B1-FA159CDECB99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E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7732800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7" name="Google Shape;1687;g60be7dcf1c_0_579"/>
          <p:cNvSpPr txBox="1"/>
          <p:nvPr/>
        </p:nvSpPr>
        <p:spPr>
          <a:xfrm>
            <a:off x="0" y="540000"/>
            <a:ext cx="8211000" cy="144000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24" name="Google Shape;1632;g60be7dcf1c_0_529"/>
          <p:cNvSpPr txBox="1">
            <a:spLocks/>
          </p:cNvSpPr>
          <p:nvPr/>
        </p:nvSpPr>
        <p:spPr>
          <a:xfrm>
            <a:off x="973075" y="149350"/>
            <a:ext cx="8171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lnSpc>
                <a:spcPct val="115000"/>
              </a:lnSpc>
              <a:buSzPts val="1100"/>
            </a:pPr>
            <a: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Intuition</a:t>
            </a:r>
            <a:br>
              <a:rPr lang="en-GB" sz="32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2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Spatial vs temporal structure</a:t>
            </a:r>
          </a:p>
        </p:txBody>
      </p:sp>
      <p:sp>
        <p:nvSpPr>
          <p:cNvPr id="14" name="Google Shape;1534;g60be7dcf1c_0_434"/>
          <p:cNvSpPr txBox="1"/>
          <p:nvPr/>
        </p:nvSpPr>
        <p:spPr>
          <a:xfrm>
            <a:off x="973075" y="2252945"/>
            <a:ext cx="8101977" cy="882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⇢ 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Two different ways to generate same traffic matrix:</a:t>
            </a:r>
          </a:p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⇀ 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Same non-temporal structure</a:t>
            </a:r>
          </a:p>
          <a:p>
            <a:pPr lvl="0">
              <a:lnSpc>
                <a:spcPct val="115000"/>
              </a:lnSpc>
            </a:pP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⇢ 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Which one has more structure?</a:t>
            </a:r>
            <a:endParaRPr lang="de-DE"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5" name="Grafik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927" y="4239209"/>
            <a:ext cx="1796407" cy="1295606"/>
          </a:xfrm>
          <a:prstGeom prst="rect">
            <a:avLst/>
          </a:prstGeom>
        </p:spPr>
      </p:pic>
      <p:sp>
        <p:nvSpPr>
          <p:cNvPr id="16" name="Geschweifte Klammer links 1"/>
          <p:cNvSpPr/>
          <p:nvPr/>
        </p:nvSpPr>
        <p:spPr>
          <a:xfrm>
            <a:off x="3020553" y="3765934"/>
            <a:ext cx="483294" cy="2125919"/>
          </a:xfrm>
          <a:prstGeom prst="lef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7" name="Grafik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1740" y="3837808"/>
            <a:ext cx="3974131" cy="714130"/>
          </a:xfrm>
          <a:prstGeom prst="rect">
            <a:avLst/>
          </a:prstGeom>
        </p:spPr>
      </p:pic>
      <p:pic>
        <p:nvPicPr>
          <p:cNvPr id="18" name="Grafik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81739" y="5323316"/>
            <a:ext cx="3974132" cy="751652"/>
          </a:xfrm>
          <a:prstGeom prst="rect">
            <a:avLst/>
          </a:prstGeom>
        </p:spPr>
      </p:pic>
      <p:sp>
        <p:nvSpPr>
          <p:cNvPr id="19" name="Google Shape;1639;g60be7dcf1c_0_529"/>
          <p:cNvSpPr txBox="1"/>
          <p:nvPr/>
        </p:nvSpPr>
        <p:spPr>
          <a:xfrm>
            <a:off x="5533101" y="4580816"/>
            <a:ext cx="765300" cy="7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 dirty="0">
                <a:solidFill>
                  <a:schemeClr val="tx1"/>
                </a:solidFill>
                <a:latin typeface="Consolas"/>
                <a:ea typeface="Consolas"/>
                <a:cs typeface="Consolas"/>
                <a:sym typeface="Consolas"/>
              </a:rPr>
              <a:t>vs</a:t>
            </a:r>
          </a:p>
        </p:txBody>
      </p:sp>
      <p:sp>
        <p:nvSpPr>
          <p:cNvPr id="11" name="Google Shape;1638;g60be7dcf1c_0_529"/>
          <p:cNvSpPr/>
          <p:nvPr/>
        </p:nvSpPr>
        <p:spPr>
          <a:xfrm>
            <a:off x="5477315" y="4559817"/>
            <a:ext cx="720567" cy="706795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</p:txBody>
      </p:sp>
      <p:sp>
        <p:nvSpPr>
          <p:cNvPr id="12" name="Google Shape;1639;g60be7dcf1c_0_529"/>
          <p:cNvSpPr txBox="1"/>
          <p:nvPr/>
        </p:nvSpPr>
        <p:spPr>
          <a:xfrm>
            <a:off x="5482092" y="4500825"/>
            <a:ext cx="715790" cy="589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vs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F76A7BC-8B26-4F02-B8BF-972C1A880FE4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E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9056960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7" name="Google Shape;1687;g60be7dcf1c_0_579"/>
          <p:cNvSpPr txBox="1"/>
          <p:nvPr/>
        </p:nvSpPr>
        <p:spPr>
          <a:xfrm>
            <a:off x="0" y="540000"/>
            <a:ext cx="8211000" cy="144000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24" name="Google Shape;1632;g60be7dcf1c_0_529"/>
          <p:cNvSpPr txBox="1">
            <a:spLocks/>
          </p:cNvSpPr>
          <p:nvPr/>
        </p:nvSpPr>
        <p:spPr>
          <a:xfrm>
            <a:off x="973075" y="149350"/>
            <a:ext cx="8171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lnSpc>
                <a:spcPct val="115000"/>
              </a:lnSpc>
              <a:buSzPts val="1100"/>
            </a:pPr>
            <a: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Intuition</a:t>
            </a:r>
            <a:br>
              <a:rPr lang="en-GB" sz="32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2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Spatial vs temporal structure</a:t>
            </a:r>
          </a:p>
        </p:txBody>
      </p:sp>
      <p:pic>
        <p:nvPicPr>
          <p:cNvPr id="9" name="Grafik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927" y="4239209"/>
            <a:ext cx="1796407" cy="1295606"/>
          </a:xfrm>
          <a:prstGeom prst="rect">
            <a:avLst/>
          </a:prstGeom>
        </p:spPr>
      </p:pic>
      <p:sp>
        <p:nvSpPr>
          <p:cNvPr id="10" name="Geschweifte Klammer links 1"/>
          <p:cNvSpPr/>
          <p:nvPr/>
        </p:nvSpPr>
        <p:spPr>
          <a:xfrm>
            <a:off x="3020553" y="3765934"/>
            <a:ext cx="483294" cy="2125919"/>
          </a:xfrm>
          <a:prstGeom prst="lef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Google Shape;1534;g60be7dcf1c_0_434"/>
          <p:cNvSpPr txBox="1"/>
          <p:nvPr/>
        </p:nvSpPr>
        <p:spPr>
          <a:xfrm>
            <a:off x="973075" y="2252945"/>
            <a:ext cx="8101977" cy="882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⇢ 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Two different ways to generate same traffic matrix:</a:t>
            </a:r>
          </a:p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⇀ 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Same non-temporal structure</a:t>
            </a:r>
          </a:p>
          <a:p>
            <a:pPr lvl="0">
              <a:lnSpc>
                <a:spcPct val="115000"/>
              </a:lnSpc>
            </a:pP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⇢ 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Which one has more structure?</a:t>
            </a:r>
            <a:endParaRPr lang="de-DE"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" name="Google Shape;1393;g60be7dcf1c_0_286"/>
          <p:cNvSpPr txBox="1"/>
          <p:nvPr/>
        </p:nvSpPr>
        <p:spPr>
          <a:xfrm>
            <a:off x="893653" y="6156905"/>
            <a:ext cx="2828100" cy="531374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16" name="Google Shape;1394;g60be7dcf1c_0_286"/>
          <p:cNvSpPr txBox="1"/>
          <p:nvPr/>
        </p:nvSpPr>
        <p:spPr>
          <a:xfrm>
            <a:off x="1158428" y="6156905"/>
            <a:ext cx="2345419" cy="499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Systematically?</a:t>
            </a:r>
            <a:endParaRPr lang="en-GB" sz="2000" dirty="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7" name="Grafik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1740" y="3837808"/>
            <a:ext cx="3974131" cy="714130"/>
          </a:xfrm>
          <a:prstGeom prst="rect">
            <a:avLst/>
          </a:prstGeom>
        </p:spPr>
      </p:pic>
      <p:pic>
        <p:nvPicPr>
          <p:cNvPr id="18" name="Grafik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81739" y="5323316"/>
            <a:ext cx="3974132" cy="751652"/>
          </a:xfrm>
          <a:prstGeom prst="rect">
            <a:avLst/>
          </a:prstGeom>
        </p:spPr>
      </p:pic>
      <p:sp>
        <p:nvSpPr>
          <p:cNvPr id="19" name="Google Shape;1639;g60be7dcf1c_0_529"/>
          <p:cNvSpPr txBox="1"/>
          <p:nvPr/>
        </p:nvSpPr>
        <p:spPr>
          <a:xfrm>
            <a:off x="5533101" y="4580816"/>
            <a:ext cx="765300" cy="7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 dirty="0">
                <a:solidFill>
                  <a:schemeClr val="tx1"/>
                </a:solidFill>
                <a:latin typeface="Consolas"/>
                <a:ea typeface="Consolas"/>
                <a:cs typeface="Consolas"/>
                <a:sym typeface="Consolas"/>
              </a:rPr>
              <a:t>vs</a:t>
            </a:r>
          </a:p>
        </p:txBody>
      </p:sp>
      <p:sp>
        <p:nvSpPr>
          <p:cNvPr id="20" name="Google Shape;1638;g60be7dcf1c_0_529"/>
          <p:cNvSpPr/>
          <p:nvPr/>
        </p:nvSpPr>
        <p:spPr>
          <a:xfrm>
            <a:off x="5477315" y="4559817"/>
            <a:ext cx="720567" cy="706795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</p:txBody>
      </p:sp>
      <p:sp>
        <p:nvSpPr>
          <p:cNvPr id="21" name="Google Shape;1639;g60be7dcf1c_0_529"/>
          <p:cNvSpPr txBox="1"/>
          <p:nvPr/>
        </p:nvSpPr>
        <p:spPr>
          <a:xfrm>
            <a:off x="5482092" y="4500825"/>
            <a:ext cx="715790" cy="589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vs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70C4458-774B-43F8-998D-EE4FDC638FB5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E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7903663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7" name="Google Shape;1687;g60be7dcf1c_0_579"/>
          <p:cNvSpPr txBox="1"/>
          <p:nvPr/>
        </p:nvSpPr>
        <p:spPr>
          <a:xfrm>
            <a:off x="0" y="540000"/>
            <a:ext cx="8211000" cy="144000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24" name="Google Shape;1632;g60be7dcf1c_0_529"/>
          <p:cNvSpPr txBox="1">
            <a:spLocks/>
          </p:cNvSpPr>
          <p:nvPr/>
        </p:nvSpPr>
        <p:spPr>
          <a:xfrm>
            <a:off x="973075" y="149350"/>
            <a:ext cx="8171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lnSpc>
                <a:spcPct val="115000"/>
              </a:lnSpc>
              <a:buSzPts val="1100"/>
            </a:pPr>
            <a: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Trace Complexity</a:t>
            </a:r>
            <a:br>
              <a:rPr lang="en-GB" sz="32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2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Information-Theoretic Approach </a:t>
            </a:r>
          </a:p>
          <a:p>
            <a:pPr algn="l">
              <a:lnSpc>
                <a:spcPct val="115000"/>
              </a:lnSpc>
              <a:buSzPts val="1100"/>
            </a:pPr>
            <a:r>
              <a:rPr lang="en-GB" sz="2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“</a:t>
            </a:r>
            <a:r>
              <a:rPr lang="en-GB" sz="2000" dirty="0" err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Shuffle&amp;Compress</a:t>
            </a:r>
            <a:r>
              <a:rPr lang="en-GB" sz="2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”</a:t>
            </a:r>
          </a:p>
        </p:txBody>
      </p:sp>
      <p:pic>
        <p:nvPicPr>
          <p:cNvPr id="16" name="Grafik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5363" y="3019952"/>
            <a:ext cx="1207809" cy="1358785"/>
          </a:xfrm>
          <a:prstGeom prst="rect">
            <a:avLst/>
          </a:prstGeom>
        </p:spPr>
      </p:pic>
      <p:sp>
        <p:nvSpPr>
          <p:cNvPr id="32" name="Google Shape;1692;g60be7dcf1c_0_579"/>
          <p:cNvSpPr/>
          <p:nvPr/>
        </p:nvSpPr>
        <p:spPr>
          <a:xfrm rot="5400000">
            <a:off x="936633" y="3608889"/>
            <a:ext cx="1293673" cy="256781"/>
          </a:xfrm>
          <a:prstGeom prst="homePlate">
            <a:avLst>
              <a:gd name="adj" fmla="val 50000"/>
            </a:avLst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 rot="5400000">
            <a:off x="747374" y="3570530"/>
            <a:ext cx="1661825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de-DE" sz="1100" dirty="0">
                <a:solidFill>
                  <a:schemeClr val="tx1"/>
                </a:solidFill>
                <a:latin typeface="Consolas" panose="020B0609020204030204" pitchFamily="49" charset="0"/>
              </a:rPr>
              <a:t>Time</a:t>
            </a:r>
          </a:p>
        </p:txBody>
      </p:sp>
      <p:sp>
        <p:nvSpPr>
          <p:cNvPr id="27" name="Text Placeholder 3"/>
          <p:cNvSpPr txBox="1">
            <a:spLocks/>
          </p:cNvSpPr>
          <p:nvPr/>
        </p:nvSpPr>
        <p:spPr>
          <a:xfrm>
            <a:off x="2320349" y="2359407"/>
            <a:ext cx="1872208" cy="8754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21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de-DE" sz="1100" dirty="0">
                <a:latin typeface="Consolas" panose="020B0609020204030204" pitchFamily="49" charset="0"/>
              </a:rPr>
              <a:t>Original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D42456F-F061-4003-A1E6-7F0011DD2EEF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E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8633071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7" name="Google Shape;1687;g60be7dcf1c_0_579"/>
          <p:cNvSpPr txBox="1"/>
          <p:nvPr/>
        </p:nvSpPr>
        <p:spPr>
          <a:xfrm>
            <a:off x="0" y="540000"/>
            <a:ext cx="8211000" cy="144000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24" name="Google Shape;1632;g60be7dcf1c_0_529"/>
          <p:cNvSpPr txBox="1">
            <a:spLocks/>
          </p:cNvSpPr>
          <p:nvPr/>
        </p:nvSpPr>
        <p:spPr>
          <a:xfrm>
            <a:off x="973075" y="149350"/>
            <a:ext cx="8171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lnSpc>
                <a:spcPct val="115000"/>
              </a:lnSpc>
              <a:buSzPts val="1100"/>
            </a:pPr>
            <a: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Trace Complexity</a:t>
            </a:r>
            <a:br>
              <a:rPr lang="en-GB" sz="32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2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Information-Theoretic Approach </a:t>
            </a:r>
          </a:p>
          <a:p>
            <a:pPr algn="l">
              <a:lnSpc>
                <a:spcPct val="115000"/>
              </a:lnSpc>
              <a:buSzPts val="1100"/>
            </a:pPr>
            <a:r>
              <a:rPr lang="en-GB" sz="2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“</a:t>
            </a:r>
            <a:r>
              <a:rPr lang="en-GB" sz="2000" dirty="0" err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Shuffle&amp;Compress</a:t>
            </a:r>
            <a:r>
              <a:rPr lang="en-GB" sz="2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”</a:t>
            </a:r>
          </a:p>
        </p:txBody>
      </p:sp>
      <p:pic>
        <p:nvPicPr>
          <p:cNvPr id="16" name="Grafik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5363" y="3019952"/>
            <a:ext cx="1207809" cy="1358785"/>
          </a:xfrm>
          <a:prstGeom prst="rect">
            <a:avLst/>
          </a:prstGeom>
        </p:spPr>
      </p:pic>
      <p:pic>
        <p:nvPicPr>
          <p:cNvPr id="17" name="Grafik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7509" y="3029773"/>
            <a:ext cx="1220322" cy="1378196"/>
          </a:xfrm>
          <a:prstGeom prst="rect">
            <a:avLst/>
          </a:prstGeom>
        </p:spPr>
      </p:pic>
      <p:pic>
        <p:nvPicPr>
          <p:cNvPr id="19" name="Grafik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7229" y="3038418"/>
            <a:ext cx="1185345" cy="1340319"/>
          </a:xfrm>
          <a:prstGeom prst="rect">
            <a:avLst/>
          </a:prstGeom>
        </p:spPr>
      </p:pic>
      <p:sp>
        <p:nvSpPr>
          <p:cNvPr id="20" name="Text Placeholder 3"/>
          <p:cNvSpPr txBox="1">
            <a:spLocks/>
          </p:cNvSpPr>
          <p:nvPr/>
        </p:nvSpPr>
        <p:spPr>
          <a:xfrm>
            <a:off x="3676880" y="2368508"/>
            <a:ext cx="1872208" cy="8754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21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de-DE" sz="1100" dirty="0" err="1">
                <a:latin typeface="Consolas" panose="020B0609020204030204" pitchFamily="49" charset="0"/>
              </a:rPr>
              <a:t>Randomize</a:t>
            </a:r>
            <a:r>
              <a:rPr lang="de-DE" sz="1100" dirty="0">
                <a:latin typeface="Consolas" panose="020B0609020204030204" pitchFamily="49" charset="0"/>
              </a:rPr>
              <a:t> </a:t>
            </a:r>
            <a:r>
              <a:rPr lang="de-DE" sz="1100" dirty="0" err="1">
                <a:latin typeface="Consolas" panose="020B0609020204030204" pitchFamily="49" charset="0"/>
              </a:rPr>
              <a:t>rows</a:t>
            </a:r>
            <a:endParaRPr lang="de-DE" sz="1100" dirty="0">
              <a:latin typeface="Consolas" panose="020B0609020204030204" pitchFamily="49" charset="0"/>
            </a:endParaRPr>
          </a:p>
        </p:txBody>
      </p:sp>
      <p:sp>
        <p:nvSpPr>
          <p:cNvPr id="22" name="Text Placeholder 3"/>
          <p:cNvSpPr txBox="1">
            <a:spLocks/>
          </p:cNvSpPr>
          <p:nvPr/>
        </p:nvSpPr>
        <p:spPr>
          <a:xfrm>
            <a:off x="5747705" y="2368508"/>
            <a:ext cx="1872208" cy="8754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21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de-DE" sz="1100" dirty="0">
                <a:latin typeface="Consolas" panose="020B0609020204030204" pitchFamily="49" charset="0"/>
              </a:rPr>
              <a:t>Uniform</a:t>
            </a:r>
          </a:p>
        </p:txBody>
      </p:sp>
      <p:pic>
        <p:nvPicPr>
          <p:cNvPr id="23" name="Picture 2" descr="Image result for fast forward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6234" y="3516409"/>
            <a:ext cx="300646" cy="300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" descr="Image result for fast forward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8995" y="3504069"/>
            <a:ext cx="300646" cy="300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Google Shape;1692;g60be7dcf1c_0_579"/>
          <p:cNvSpPr/>
          <p:nvPr/>
        </p:nvSpPr>
        <p:spPr>
          <a:xfrm flipH="1">
            <a:off x="2166751" y="5470592"/>
            <a:ext cx="4371809" cy="256781"/>
          </a:xfrm>
          <a:prstGeom prst="homePlate">
            <a:avLst>
              <a:gd name="adj" fmla="val 50000"/>
            </a:avLst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075362" y="5465763"/>
            <a:ext cx="2800767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de-DE" sz="1100" dirty="0">
                <a:solidFill>
                  <a:schemeClr val="tx1"/>
                </a:solidFill>
                <a:latin typeface="Consolas" panose="020B0609020204030204" pitchFamily="49" charset="0"/>
              </a:rPr>
              <a:t>More </a:t>
            </a:r>
            <a:r>
              <a:rPr lang="de-DE" sz="1100" dirty="0" err="1">
                <a:solidFill>
                  <a:schemeClr val="tx1"/>
                </a:solidFill>
                <a:latin typeface="Consolas" panose="020B0609020204030204" pitchFamily="49" charset="0"/>
              </a:rPr>
              <a:t>structure</a:t>
            </a:r>
            <a:r>
              <a:rPr lang="de-DE" sz="11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de-DE" sz="1100" dirty="0" err="1">
                <a:solidFill>
                  <a:schemeClr val="tx1"/>
                </a:solidFill>
                <a:latin typeface="Consolas" panose="020B0609020204030204" pitchFamily="49" charset="0"/>
              </a:rPr>
              <a:t>compresses</a:t>
            </a:r>
            <a:r>
              <a:rPr lang="de-DE" sz="11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de-DE" sz="1100" dirty="0" err="1">
                <a:solidFill>
                  <a:schemeClr val="tx1"/>
                </a:solidFill>
                <a:latin typeface="Consolas" panose="020B0609020204030204" pitchFamily="49" charset="0"/>
              </a:rPr>
              <a:t>better</a:t>
            </a:r>
            <a:r>
              <a:rPr lang="de-DE" sz="11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32" name="Google Shape;1692;g60be7dcf1c_0_579"/>
          <p:cNvSpPr/>
          <p:nvPr/>
        </p:nvSpPr>
        <p:spPr>
          <a:xfrm>
            <a:off x="2166751" y="5038272"/>
            <a:ext cx="4371809" cy="256781"/>
          </a:xfrm>
          <a:prstGeom prst="homePlate">
            <a:avLst>
              <a:gd name="adj" fmla="val 50000"/>
            </a:avLst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066655" y="5043690"/>
            <a:ext cx="4572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de-DE" sz="1100" dirty="0" err="1">
                <a:solidFill>
                  <a:schemeClr val="tx1"/>
                </a:solidFill>
                <a:latin typeface="Consolas" panose="020B0609020204030204" pitchFamily="49" charset="0"/>
              </a:rPr>
              <a:t>Increasing</a:t>
            </a:r>
            <a:r>
              <a:rPr lang="de-DE" sz="11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de-DE" sz="1100" dirty="0" err="1">
                <a:solidFill>
                  <a:schemeClr val="tx1"/>
                </a:solidFill>
                <a:latin typeface="Consolas" panose="020B0609020204030204" pitchFamily="49" charset="0"/>
              </a:rPr>
              <a:t>complexity</a:t>
            </a:r>
            <a:r>
              <a:rPr lang="de-DE" sz="11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de-DE" sz="1100" dirty="0" err="1">
                <a:solidFill>
                  <a:schemeClr val="tx1"/>
                </a:solidFill>
                <a:latin typeface="Consolas" panose="020B0609020204030204" pitchFamily="49" charset="0"/>
              </a:rPr>
              <a:t>systematically</a:t>
            </a:r>
            <a:r>
              <a:rPr lang="de-DE" sz="11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de-DE" sz="1100" dirty="0" err="1">
                <a:solidFill>
                  <a:schemeClr val="tx1"/>
                </a:solidFill>
                <a:latin typeface="Consolas" panose="020B0609020204030204" pitchFamily="49" charset="0"/>
              </a:rPr>
              <a:t>randomized</a:t>
            </a:r>
            <a:r>
              <a:rPr lang="de-DE" sz="11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27" name="Text Placeholder 3"/>
          <p:cNvSpPr txBox="1">
            <a:spLocks/>
          </p:cNvSpPr>
          <p:nvPr/>
        </p:nvSpPr>
        <p:spPr>
          <a:xfrm>
            <a:off x="2320349" y="2359407"/>
            <a:ext cx="1872208" cy="8754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21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de-DE" sz="1100" dirty="0">
                <a:latin typeface="Consolas" panose="020B0609020204030204" pitchFamily="49" charset="0"/>
              </a:rPr>
              <a:t>Original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15CEA6E-1015-40FB-AF69-0E00F1217CF6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E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4037763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7" name="Google Shape;1687;g60be7dcf1c_0_579"/>
          <p:cNvSpPr txBox="1"/>
          <p:nvPr/>
        </p:nvSpPr>
        <p:spPr>
          <a:xfrm>
            <a:off x="0" y="540000"/>
            <a:ext cx="8211000" cy="144000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24" name="Google Shape;1632;g60be7dcf1c_0_529"/>
          <p:cNvSpPr txBox="1">
            <a:spLocks/>
          </p:cNvSpPr>
          <p:nvPr/>
        </p:nvSpPr>
        <p:spPr>
          <a:xfrm>
            <a:off x="973075" y="149350"/>
            <a:ext cx="8171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lnSpc>
                <a:spcPct val="115000"/>
              </a:lnSpc>
              <a:buSzPts val="1100"/>
            </a:pPr>
            <a: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Trace Complexity</a:t>
            </a:r>
            <a:br>
              <a:rPr lang="en-GB" sz="32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2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Information-Theoretic Approach </a:t>
            </a:r>
          </a:p>
          <a:p>
            <a:pPr algn="l">
              <a:lnSpc>
                <a:spcPct val="115000"/>
              </a:lnSpc>
              <a:buSzPts val="1100"/>
            </a:pPr>
            <a:r>
              <a:rPr lang="en-GB" sz="2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“</a:t>
            </a:r>
            <a:r>
              <a:rPr lang="en-GB" sz="2000" dirty="0" err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Shuffle&amp;Compress</a:t>
            </a:r>
            <a:r>
              <a:rPr lang="en-GB" sz="2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”</a:t>
            </a:r>
          </a:p>
        </p:txBody>
      </p:sp>
      <p:pic>
        <p:nvPicPr>
          <p:cNvPr id="41" name="Grafik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5363" y="3019952"/>
            <a:ext cx="1207809" cy="1358785"/>
          </a:xfrm>
          <a:prstGeom prst="rect">
            <a:avLst/>
          </a:prstGeom>
        </p:spPr>
      </p:pic>
      <p:pic>
        <p:nvPicPr>
          <p:cNvPr id="42" name="Grafik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7509" y="3029773"/>
            <a:ext cx="1220322" cy="1378196"/>
          </a:xfrm>
          <a:prstGeom prst="rect">
            <a:avLst/>
          </a:prstGeom>
        </p:spPr>
      </p:pic>
      <p:pic>
        <p:nvPicPr>
          <p:cNvPr id="43" name="Grafik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7229" y="3038418"/>
            <a:ext cx="1185345" cy="1340319"/>
          </a:xfrm>
          <a:prstGeom prst="rect">
            <a:avLst/>
          </a:prstGeom>
        </p:spPr>
      </p:pic>
      <p:sp>
        <p:nvSpPr>
          <p:cNvPr id="44" name="Text Placeholder 3"/>
          <p:cNvSpPr txBox="1">
            <a:spLocks/>
          </p:cNvSpPr>
          <p:nvPr/>
        </p:nvSpPr>
        <p:spPr>
          <a:xfrm>
            <a:off x="3676880" y="2368508"/>
            <a:ext cx="1872208" cy="8754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21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de-DE" sz="1100" dirty="0" err="1">
                <a:latin typeface="Consolas" panose="020B0609020204030204" pitchFamily="49" charset="0"/>
              </a:rPr>
              <a:t>Randomize</a:t>
            </a:r>
            <a:r>
              <a:rPr lang="de-DE" sz="1100" dirty="0">
                <a:latin typeface="Consolas" panose="020B0609020204030204" pitchFamily="49" charset="0"/>
              </a:rPr>
              <a:t> </a:t>
            </a:r>
            <a:r>
              <a:rPr lang="de-DE" sz="1100" dirty="0" err="1">
                <a:latin typeface="Consolas" panose="020B0609020204030204" pitchFamily="49" charset="0"/>
              </a:rPr>
              <a:t>rows</a:t>
            </a:r>
            <a:endParaRPr lang="de-DE" sz="1100" dirty="0">
              <a:latin typeface="Consolas" panose="020B0609020204030204" pitchFamily="49" charset="0"/>
            </a:endParaRPr>
          </a:p>
        </p:txBody>
      </p:sp>
      <p:sp>
        <p:nvSpPr>
          <p:cNvPr id="45" name="Text Placeholder 3"/>
          <p:cNvSpPr txBox="1">
            <a:spLocks/>
          </p:cNvSpPr>
          <p:nvPr/>
        </p:nvSpPr>
        <p:spPr>
          <a:xfrm>
            <a:off x="5747705" y="2368508"/>
            <a:ext cx="1872208" cy="8754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21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de-DE" sz="1100" dirty="0">
                <a:latin typeface="Consolas" panose="020B0609020204030204" pitchFamily="49" charset="0"/>
              </a:rPr>
              <a:t>Uniform</a:t>
            </a:r>
          </a:p>
        </p:txBody>
      </p:sp>
      <p:pic>
        <p:nvPicPr>
          <p:cNvPr id="46" name="Picture 2" descr="Image result for fast forward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6234" y="3516409"/>
            <a:ext cx="300646" cy="300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Picture 2" descr="Image result for fast forward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8995" y="3504069"/>
            <a:ext cx="300646" cy="300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8" name="Text Placeholder 3"/>
          <p:cNvSpPr txBox="1">
            <a:spLocks/>
          </p:cNvSpPr>
          <p:nvPr/>
        </p:nvSpPr>
        <p:spPr>
          <a:xfrm>
            <a:off x="2320349" y="2359407"/>
            <a:ext cx="1872208" cy="8754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21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de-DE" sz="1100" dirty="0">
                <a:latin typeface="Consolas" panose="020B0609020204030204" pitchFamily="49" charset="0"/>
              </a:rPr>
              <a:t>Original</a:t>
            </a:r>
          </a:p>
        </p:txBody>
      </p:sp>
      <p:sp>
        <p:nvSpPr>
          <p:cNvPr id="33" name="Google Shape;1393;g60be7dcf1c_0_286"/>
          <p:cNvSpPr txBox="1"/>
          <p:nvPr/>
        </p:nvSpPr>
        <p:spPr>
          <a:xfrm rot="20093413">
            <a:off x="5376139" y="3551525"/>
            <a:ext cx="1346844" cy="330568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34" name="Google Shape;1394;g60be7dcf1c_0_286"/>
          <p:cNvSpPr txBox="1"/>
          <p:nvPr/>
        </p:nvSpPr>
        <p:spPr>
          <a:xfrm rot="20093413">
            <a:off x="5376139" y="3551526"/>
            <a:ext cx="1346844" cy="3305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Remove non-temp.</a:t>
            </a:r>
            <a:endParaRPr lang="en-GB" sz="1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0" name="Google Shape;1393;g60be7dcf1c_0_286"/>
          <p:cNvSpPr txBox="1"/>
          <p:nvPr/>
        </p:nvSpPr>
        <p:spPr>
          <a:xfrm rot="20093413">
            <a:off x="3650070" y="3608982"/>
            <a:ext cx="1346844" cy="330568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51" name="Google Shape;1394;g60be7dcf1c_0_286"/>
          <p:cNvSpPr txBox="1"/>
          <p:nvPr/>
        </p:nvSpPr>
        <p:spPr>
          <a:xfrm rot="20093413">
            <a:off x="3650070" y="3608983"/>
            <a:ext cx="1346844" cy="3305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Remove temporal</a:t>
            </a:r>
            <a:endParaRPr lang="en-GB" sz="1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05847A5-1569-474B-94D6-14C38B217272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E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5073315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7" name="Google Shape;1687;g60be7dcf1c_0_579"/>
          <p:cNvSpPr txBox="1"/>
          <p:nvPr/>
        </p:nvSpPr>
        <p:spPr>
          <a:xfrm>
            <a:off x="0" y="540000"/>
            <a:ext cx="8211000" cy="144000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24" name="Google Shape;1632;g60be7dcf1c_0_529"/>
          <p:cNvSpPr txBox="1">
            <a:spLocks/>
          </p:cNvSpPr>
          <p:nvPr/>
        </p:nvSpPr>
        <p:spPr>
          <a:xfrm>
            <a:off x="973075" y="149350"/>
            <a:ext cx="8171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lnSpc>
                <a:spcPct val="115000"/>
              </a:lnSpc>
              <a:buSzPts val="1100"/>
            </a:pPr>
            <a: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Trace Complexity</a:t>
            </a:r>
            <a:br>
              <a:rPr lang="en-GB" sz="32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2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Information-Theoretic Approach </a:t>
            </a:r>
          </a:p>
          <a:p>
            <a:pPr algn="l">
              <a:lnSpc>
                <a:spcPct val="115000"/>
              </a:lnSpc>
              <a:buSzPts val="1100"/>
            </a:pPr>
            <a:r>
              <a:rPr lang="en-GB" sz="2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“</a:t>
            </a:r>
            <a:r>
              <a:rPr lang="en-GB" sz="2000" dirty="0" err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Shuffle&amp;Compress</a:t>
            </a:r>
            <a:r>
              <a:rPr lang="en-GB" sz="2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”</a:t>
            </a:r>
          </a:p>
        </p:txBody>
      </p:sp>
      <p:sp>
        <p:nvSpPr>
          <p:cNvPr id="35" name="Geschweifte Klammer links 1"/>
          <p:cNvSpPr/>
          <p:nvPr/>
        </p:nvSpPr>
        <p:spPr>
          <a:xfrm rot="16200000">
            <a:off x="3466552" y="5460330"/>
            <a:ext cx="294049" cy="1238048"/>
          </a:xfrm>
          <a:prstGeom prst="leftBrac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6" name="Geschweifte Klammer links 1"/>
          <p:cNvSpPr/>
          <p:nvPr/>
        </p:nvSpPr>
        <p:spPr>
          <a:xfrm rot="16200000">
            <a:off x="5208671" y="5460330"/>
            <a:ext cx="294049" cy="1238048"/>
          </a:xfrm>
          <a:prstGeom prst="leftBrac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8" name="Text Placeholder 3"/>
          <p:cNvSpPr txBox="1">
            <a:spLocks/>
          </p:cNvSpPr>
          <p:nvPr/>
        </p:nvSpPr>
        <p:spPr>
          <a:xfrm>
            <a:off x="2766286" y="5932329"/>
            <a:ext cx="1703963" cy="8754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2100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de-DE" sz="900" dirty="0">
                <a:latin typeface="Consolas" panose="020B0609020204030204" pitchFamily="49" charset="0"/>
              </a:rPr>
              <a:t>Difference in size (entropy)?</a:t>
            </a:r>
          </a:p>
        </p:txBody>
      </p:sp>
      <p:pic>
        <p:nvPicPr>
          <p:cNvPr id="39" name="Grafik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5363" y="3019952"/>
            <a:ext cx="1207809" cy="1358785"/>
          </a:xfrm>
          <a:prstGeom prst="rect">
            <a:avLst/>
          </a:prstGeom>
        </p:spPr>
      </p:pic>
      <p:pic>
        <p:nvPicPr>
          <p:cNvPr id="40" name="Grafik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7509" y="3029773"/>
            <a:ext cx="1220322" cy="1378196"/>
          </a:xfrm>
          <a:prstGeom prst="rect">
            <a:avLst/>
          </a:prstGeom>
        </p:spPr>
      </p:pic>
      <p:pic>
        <p:nvPicPr>
          <p:cNvPr id="46" name="Grafik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7229" y="3038418"/>
            <a:ext cx="1185345" cy="1340319"/>
          </a:xfrm>
          <a:prstGeom prst="rect">
            <a:avLst/>
          </a:prstGeom>
        </p:spPr>
      </p:pic>
      <p:sp>
        <p:nvSpPr>
          <p:cNvPr id="47" name="Text Placeholder 3"/>
          <p:cNvSpPr txBox="1">
            <a:spLocks/>
          </p:cNvSpPr>
          <p:nvPr/>
        </p:nvSpPr>
        <p:spPr>
          <a:xfrm>
            <a:off x="3676880" y="2368508"/>
            <a:ext cx="1872208" cy="8754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21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de-DE" sz="1100" dirty="0" err="1">
                <a:latin typeface="Consolas" panose="020B0609020204030204" pitchFamily="49" charset="0"/>
              </a:rPr>
              <a:t>Randomize</a:t>
            </a:r>
            <a:r>
              <a:rPr lang="de-DE" sz="1100" dirty="0">
                <a:latin typeface="Consolas" panose="020B0609020204030204" pitchFamily="49" charset="0"/>
              </a:rPr>
              <a:t> </a:t>
            </a:r>
            <a:r>
              <a:rPr lang="de-DE" sz="1100" dirty="0" err="1">
                <a:latin typeface="Consolas" panose="020B0609020204030204" pitchFamily="49" charset="0"/>
              </a:rPr>
              <a:t>rows</a:t>
            </a:r>
            <a:endParaRPr lang="de-DE" sz="1100" dirty="0">
              <a:latin typeface="Consolas" panose="020B0609020204030204" pitchFamily="49" charset="0"/>
            </a:endParaRPr>
          </a:p>
        </p:txBody>
      </p:sp>
      <p:sp>
        <p:nvSpPr>
          <p:cNvPr id="48" name="Text Placeholder 3"/>
          <p:cNvSpPr txBox="1">
            <a:spLocks/>
          </p:cNvSpPr>
          <p:nvPr/>
        </p:nvSpPr>
        <p:spPr>
          <a:xfrm>
            <a:off x="5747705" y="2368508"/>
            <a:ext cx="1872208" cy="8754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21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de-DE" sz="1100" dirty="0">
                <a:latin typeface="Consolas" panose="020B0609020204030204" pitchFamily="49" charset="0"/>
              </a:rPr>
              <a:t>Uniform</a:t>
            </a:r>
          </a:p>
        </p:txBody>
      </p:sp>
      <p:pic>
        <p:nvPicPr>
          <p:cNvPr id="49" name="Picture 2" descr="Image result for fast forward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6234" y="3516409"/>
            <a:ext cx="300646" cy="300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" name="Picture 2" descr="Image result for fast forward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8995" y="3504069"/>
            <a:ext cx="300646" cy="300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Text Placeholder 3"/>
          <p:cNvSpPr txBox="1">
            <a:spLocks/>
          </p:cNvSpPr>
          <p:nvPr/>
        </p:nvSpPr>
        <p:spPr>
          <a:xfrm>
            <a:off x="2320349" y="2359407"/>
            <a:ext cx="1872208" cy="8754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21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de-DE" sz="1100" dirty="0">
                <a:latin typeface="Consolas" panose="020B0609020204030204" pitchFamily="49" charset="0"/>
              </a:rPr>
              <a:t>Original</a:t>
            </a:r>
          </a:p>
        </p:txBody>
      </p:sp>
      <p:sp>
        <p:nvSpPr>
          <p:cNvPr id="52" name="Google Shape;1393;g60be7dcf1c_0_286"/>
          <p:cNvSpPr txBox="1"/>
          <p:nvPr/>
        </p:nvSpPr>
        <p:spPr>
          <a:xfrm rot="20093413">
            <a:off x="5376139" y="3551525"/>
            <a:ext cx="1346844" cy="330568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53" name="Google Shape;1394;g60be7dcf1c_0_286"/>
          <p:cNvSpPr txBox="1"/>
          <p:nvPr/>
        </p:nvSpPr>
        <p:spPr>
          <a:xfrm rot="20093413">
            <a:off x="5376139" y="3551526"/>
            <a:ext cx="1346844" cy="3305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Remove non-temp.</a:t>
            </a:r>
            <a:endParaRPr lang="en-GB" sz="1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4" name="Google Shape;1393;g60be7dcf1c_0_286"/>
          <p:cNvSpPr txBox="1"/>
          <p:nvPr/>
        </p:nvSpPr>
        <p:spPr>
          <a:xfrm rot="20093413">
            <a:off x="3650070" y="3608982"/>
            <a:ext cx="1346844" cy="330568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55" name="Google Shape;1394;g60be7dcf1c_0_286"/>
          <p:cNvSpPr txBox="1"/>
          <p:nvPr/>
        </p:nvSpPr>
        <p:spPr>
          <a:xfrm rot="20093413">
            <a:off x="3650070" y="3608983"/>
            <a:ext cx="1346844" cy="3305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Remove temporal</a:t>
            </a:r>
            <a:endParaRPr lang="en-GB" sz="1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8" name="Google Shape;1638;g60be7dcf1c_0_529"/>
          <p:cNvSpPr/>
          <p:nvPr/>
        </p:nvSpPr>
        <p:spPr>
          <a:xfrm>
            <a:off x="2450010" y="5158328"/>
            <a:ext cx="424217" cy="402275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</p:txBody>
      </p:sp>
      <p:sp>
        <p:nvSpPr>
          <p:cNvPr id="60" name="Google Shape;1638;g60be7dcf1c_0_529"/>
          <p:cNvSpPr/>
          <p:nvPr/>
        </p:nvSpPr>
        <p:spPr>
          <a:xfrm>
            <a:off x="3998390" y="5077591"/>
            <a:ext cx="663614" cy="644513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</p:txBody>
      </p:sp>
      <p:sp>
        <p:nvSpPr>
          <p:cNvPr id="61" name="Google Shape;1638;g60be7dcf1c_0_529"/>
          <p:cNvSpPr/>
          <p:nvPr/>
        </p:nvSpPr>
        <p:spPr>
          <a:xfrm>
            <a:off x="5582626" y="4986288"/>
            <a:ext cx="924910" cy="827117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</p:txBody>
      </p:sp>
      <p:sp>
        <p:nvSpPr>
          <p:cNvPr id="62" name="Google Shape;1297;g60be7dcf1c_0_212"/>
          <p:cNvSpPr/>
          <p:nvPr/>
        </p:nvSpPr>
        <p:spPr>
          <a:xfrm rot="16200000" flipH="1">
            <a:off x="2455967" y="4601392"/>
            <a:ext cx="446598" cy="251997"/>
          </a:xfrm>
          <a:prstGeom prst="homePlate">
            <a:avLst>
              <a:gd name="adj" fmla="val 50000"/>
            </a:avLst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64" name="Google Shape;1297;g60be7dcf1c_0_212"/>
          <p:cNvSpPr/>
          <p:nvPr/>
        </p:nvSpPr>
        <p:spPr>
          <a:xfrm rot="16200000" flipH="1">
            <a:off x="4120952" y="4597400"/>
            <a:ext cx="446598" cy="251997"/>
          </a:xfrm>
          <a:prstGeom prst="homePlate">
            <a:avLst>
              <a:gd name="adj" fmla="val 50000"/>
            </a:avLst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65" name="Google Shape;1297;g60be7dcf1c_0_212"/>
          <p:cNvSpPr/>
          <p:nvPr/>
        </p:nvSpPr>
        <p:spPr>
          <a:xfrm rot="16200000" flipH="1">
            <a:off x="5821783" y="4593764"/>
            <a:ext cx="446598" cy="251997"/>
          </a:xfrm>
          <a:prstGeom prst="homePlate">
            <a:avLst>
              <a:gd name="adj" fmla="val 50000"/>
            </a:avLst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66" name="Text Placeholder 3"/>
          <p:cNvSpPr txBox="1">
            <a:spLocks/>
          </p:cNvSpPr>
          <p:nvPr/>
        </p:nvSpPr>
        <p:spPr>
          <a:xfrm>
            <a:off x="693679" y="4585031"/>
            <a:ext cx="793356" cy="2027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de-DE" sz="1100" b="1" dirty="0">
                <a:latin typeface="Consolas" panose="020B0609020204030204" pitchFamily="49" charset="0"/>
              </a:rPr>
              <a:t>Compress</a:t>
            </a:r>
          </a:p>
        </p:txBody>
      </p:sp>
      <p:sp>
        <p:nvSpPr>
          <p:cNvPr id="69" name="Text Placeholder 3"/>
          <p:cNvSpPr txBox="1">
            <a:spLocks/>
          </p:cNvSpPr>
          <p:nvPr/>
        </p:nvSpPr>
        <p:spPr>
          <a:xfrm>
            <a:off x="709583" y="3515529"/>
            <a:ext cx="793356" cy="2027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de-DE" sz="1100" b="1" dirty="0">
                <a:latin typeface="Consolas" panose="020B0609020204030204" pitchFamily="49" charset="0"/>
              </a:rPr>
              <a:t>Shuffle</a:t>
            </a:r>
          </a:p>
        </p:txBody>
      </p:sp>
      <p:sp>
        <p:nvSpPr>
          <p:cNvPr id="71" name="Text Placeholder 3"/>
          <p:cNvSpPr txBox="1">
            <a:spLocks/>
          </p:cNvSpPr>
          <p:nvPr/>
        </p:nvSpPr>
        <p:spPr>
          <a:xfrm>
            <a:off x="4491723" y="5929742"/>
            <a:ext cx="1703963" cy="8754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2100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de-DE" sz="900" dirty="0">
                <a:latin typeface="Consolas" panose="020B0609020204030204" pitchFamily="49" charset="0"/>
              </a:rPr>
              <a:t>Difference in size (entropy)?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D572636-7671-4C68-ADF4-F91FEF455D71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E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4684212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7" name="Google Shape;1687;g60be7dcf1c_0_579"/>
          <p:cNvSpPr txBox="1"/>
          <p:nvPr/>
        </p:nvSpPr>
        <p:spPr>
          <a:xfrm>
            <a:off x="0" y="540000"/>
            <a:ext cx="8211000" cy="144000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24" name="Google Shape;1632;g60be7dcf1c_0_529"/>
          <p:cNvSpPr txBox="1">
            <a:spLocks/>
          </p:cNvSpPr>
          <p:nvPr/>
        </p:nvSpPr>
        <p:spPr>
          <a:xfrm>
            <a:off x="973075" y="149350"/>
            <a:ext cx="8171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lnSpc>
                <a:spcPct val="115000"/>
              </a:lnSpc>
              <a:buSzPts val="1100"/>
            </a:pPr>
            <a: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Trace Complexity</a:t>
            </a:r>
            <a:br>
              <a:rPr lang="en-GB" sz="32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2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Information-Theoretic Approach </a:t>
            </a:r>
          </a:p>
          <a:p>
            <a:pPr algn="l">
              <a:lnSpc>
                <a:spcPct val="115000"/>
              </a:lnSpc>
              <a:buSzPts val="1100"/>
            </a:pPr>
            <a:r>
              <a:rPr lang="en-GB" sz="2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“</a:t>
            </a:r>
            <a:r>
              <a:rPr lang="en-GB" sz="2000" dirty="0" err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Shuffle&amp;Compress</a:t>
            </a:r>
            <a:r>
              <a:rPr lang="en-GB" sz="2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”</a:t>
            </a:r>
          </a:p>
        </p:txBody>
      </p:sp>
      <p:sp>
        <p:nvSpPr>
          <p:cNvPr id="35" name="Geschweifte Klammer links 1"/>
          <p:cNvSpPr/>
          <p:nvPr/>
        </p:nvSpPr>
        <p:spPr>
          <a:xfrm rot="16200000">
            <a:off x="3466552" y="5460330"/>
            <a:ext cx="294049" cy="1238048"/>
          </a:xfrm>
          <a:prstGeom prst="leftBrac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6" name="Geschweifte Klammer links 1"/>
          <p:cNvSpPr/>
          <p:nvPr/>
        </p:nvSpPr>
        <p:spPr>
          <a:xfrm rot="16200000">
            <a:off x="5208671" y="5460330"/>
            <a:ext cx="294049" cy="1238048"/>
          </a:xfrm>
          <a:prstGeom prst="leftBrac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8" name="Text Placeholder 3"/>
          <p:cNvSpPr txBox="1">
            <a:spLocks/>
          </p:cNvSpPr>
          <p:nvPr/>
        </p:nvSpPr>
        <p:spPr>
          <a:xfrm>
            <a:off x="2766286" y="5932329"/>
            <a:ext cx="1703963" cy="8754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2100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de-DE" sz="900" dirty="0">
                <a:latin typeface="Consolas" panose="020B0609020204030204" pitchFamily="49" charset="0"/>
              </a:rPr>
              <a:t>Difference in size (entropy)?</a:t>
            </a:r>
          </a:p>
        </p:txBody>
      </p:sp>
      <p:pic>
        <p:nvPicPr>
          <p:cNvPr id="39" name="Grafik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5363" y="3019952"/>
            <a:ext cx="1207809" cy="1358785"/>
          </a:xfrm>
          <a:prstGeom prst="rect">
            <a:avLst/>
          </a:prstGeom>
        </p:spPr>
      </p:pic>
      <p:pic>
        <p:nvPicPr>
          <p:cNvPr id="40" name="Grafik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7509" y="3029773"/>
            <a:ext cx="1220322" cy="1378196"/>
          </a:xfrm>
          <a:prstGeom prst="rect">
            <a:avLst/>
          </a:prstGeom>
        </p:spPr>
      </p:pic>
      <p:pic>
        <p:nvPicPr>
          <p:cNvPr id="46" name="Grafik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7229" y="3038418"/>
            <a:ext cx="1185345" cy="1340319"/>
          </a:xfrm>
          <a:prstGeom prst="rect">
            <a:avLst/>
          </a:prstGeom>
        </p:spPr>
      </p:pic>
      <p:sp>
        <p:nvSpPr>
          <p:cNvPr id="47" name="Text Placeholder 3"/>
          <p:cNvSpPr txBox="1">
            <a:spLocks/>
          </p:cNvSpPr>
          <p:nvPr/>
        </p:nvSpPr>
        <p:spPr>
          <a:xfrm>
            <a:off x="3676880" y="2368508"/>
            <a:ext cx="1872208" cy="8754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21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de-DE" sz="1100" dirty="0" err="1">
                <a:latin typeface="Consolas" panose="020B0609020204030204" pitchFamily="49" charset="0"/>
              </a:rPr>
              <a:t>Randomize</a:t>
            </a:r>
            <a:r>
              <a:rPr lang="de-DE" sz="1100" dirty="0">
                <a:latin typeface="Consolas" panose="020B0609020204030204" pitchFamily="49" charset="0"/>
              </a:rPr>
              <a:t> </a:t>
            </a:r>
            <a:r>
              <a:rPr lang="de-DE" sz="1100" dirty="0" err="1">
                <a:latin typeface="Consolas" panose="020B0609020204030204" pitchFamily="49" charset="0"/>
              </a:rPr>
              <a:t>rows</a:t>
            </a:r>
            <a:endParaRPr lang="de-DE" sz="1100" dirty="0">
              <a:latin typeface="Consolas" panose="020B0609020204030204" pitchFamily="49" charset="0"/>
            </a:endParaRPr>
          </a:p>
        </p:txBody>
      </p:sp>
      <p:sp>
        <p:nvSpPr>
          <p:cNvPr id="48" name="Text Placeholder 3"/>
          <p:cNvSpPr txBox="1">
            <a:spLocks/>
          </p:cNvSpPr>
          <p:nvPr/>
        </p:nvSpPr>
        <p:spPr>
          <a:xfrm>
            <a:off x="5747705" y="2368508"/>
            <a:ext cx="1872208" cy="8754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21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de-DE" sz="1100" dirty="0">
                <a:latin typeface="Consolas" panose="020B0609020204030204" pitchFamily="49" charset="0"/>
              </a:rPr>
              <a:t>Uniform</a:t>
            </a:r>
          </a:p>
        </p:txBody>
      </p:sp>
      <p:pic>
        <p:nvPicPr>
          <p:cNvPr id="49" name="Picture 2" descr="Image result for fast forward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6234" y="3516409"/>
            <a:ext cx="300646" cy="300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" name="Picture 2" descr="Image result for fast forward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8995" y="3504069"/>
            <a:ext cx="300646" cy="300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Text Placeholder 3"/>
          <p:cNvSpPr txBox="1">
            <a:spLocks/>
          </p:cNvSpPr>
          <p:nvPr/>
        </p:nvSpPr>
        <p:spPr>
          <a:xfrm>
            <a:off x="2320349" y="2359407"/>
            <a:ext cx="1872208" cy="8754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21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de-DE" sz="1100" dirty="0">
                <a:latin typeface="Consolas" panose="020B0609020204030204" pitchFamily="49" charset="0"/>
              </a:rPr>
              <a:t>Original</a:t>
            </a:r>
          </a:p>
        </p:txBody>
      </p:sp>
      <p:sp>
        <p:nvSpPr>
          <p:cNvPr id="52" name="Google Shape;1393;g60be7dcf1c_0_286"/>
          <p:cNvSpPr txBox="1"/>
          <p:nvPr/>
        </p:nvSpPr>
        <p:spPr>
          <a:xfrm rot="20093413">
            <a:off x="5376139" y="3551525"/>
            <a:ext cx="1346844" cy="330568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53" name="Google Shape;1394;g60be7dcf1c_0_286"/>
          <p:cNvSpPr txBox="1"/>
          <p:nvPr/>
        </p:nvSpPr>
        <p:spPr>
          <a:xfrm rot="20093413">
            <a:off x="5376139" y="3551526"/>
            <a:ext cx="1346844" cy="3305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Remove non-temp.</a:t>
            </a:r>
            <a:endParaRPr lang="en-GB" sz="1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4" name="Google Shape;1393;g60be7dcf1c_0_286"/>
          <p:cNvSpPr txBox="1"/>
          <p:nvPr/>
        </p:nvSpPr>
        <p:spPr>
          <a:xfrm rot="20093413">
            <a:off x="3650070" y="3608982"/>
            <a:ext cx="1346844" cy="330568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55" name="Google Shape;1394;g60be7dcf1c_0_286"/>
          <p:cNvSpPr txBox="1"/>
          <p:nvPr/>
        </p:nvSpPr>
        <p:spPr>
          <a:xfrm rot="20093413">
            <a:off x="3650070" y="3608983"/>
            <a:ext cx="1346844" cy="3305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Remove temporal</a:t>
            </a:r>
            <a:endParaRPr lang="en-GB" sz="1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8" name="Google Shape;1638;g60be7dcf1c_0_529"/>
          <p:cNvSpPr/>
          <p:nvPr/>
        </p:nvSpPr>
        <p:spPr>
          <a:xfrm>
            <a:off x="2450010" y="5158328"/>
            <a:ext cx="424217" cy="402275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</p:txBody>
      </p:sp>
      <p:sp>
        <p:nvSpPr>
          <p:cNvPr id="60" name="Google Shape;1638;g60be7dcf1c_0_529"/>
          <p:cNvSpPr/>
          <p:nvPr/>
        </p:nvSpPr>
        <p:spPr>
          <a:xfrm>
            <a:off x="3998390" y="5077591"/>
            <a:ext cx="663614" cy="644513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</p:txBody>
      </p:sp>
      <p:sp>
        <p:nvSpPr>
          <p:cNvPr id="61" name="Google Shape;1638;g60be7dcf1c_0_529"/>
          <p:cNvSpPr/>
          <p:nvPr/>
        </p:nvSpPr>
        <p:spPr>
          <a:xfrm>
            <a:off x="5582626" y="4986288"/>
            <a:ext cx="924910" cy="827117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</p:txBody>
      </p:sp>
      <p:sp>
        <p:nvSpPr>
          <p:cNvPr id="62" name="Google Shape;1297;g60be7dcf1c_0_212"/>
          <p:cNvSpPr/>
          <p:nvPr/>
        </p:nvSpPr>
        <p:spPr>
          <a:xfrm rot="16200000" flipH="1">
            <a:off x="2455967" y="4601392"/>
            <a:ext cx="446598" cy="251997"/>
          </a:xfrm>
          <a:prstGeom prst="homePlate">
            <a:avLst>
              <a:gd name="adj" fmla="val 50000"/>
            </a:avLst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64" name="Google Shape;1297;g60be7dcf1c_0_212"/>
          <p:cNvSpPr/>
          <p:nvPr/>
        </p:nvSpPr>
        <p:spPr>
          <a:xfrm rot="16200000" flipH="1">
            <a:off x="4120952" y="4597400"/>
            <a:ext cx="446598" cy="251997"/>
          </a:xfrm>
          <a:prstGeom prst="homePlate">
            <a:avLst>
              <a:gd name="adj" fmla="val 50000"/>
            </a:avLst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65" name="Google Shape;1297;g60be7dcf1c_0_212"/>
          <p:cNvSpPr/>
          <p:nvPr/>
        </p:nvSpPr>
        <p:spPr>
          <a:xfrm rot="16200000" flipH="1">
            <a:off x="5821783" y="4593764"/>
            <a:ext cx="446598" cy="251997"/>
          </a:xfrm>
          <a:prstGeom prst="homePlate">
            <a:avLst>
              <a:gd name="adj" fmla="val 50000"/>
            </a:avLst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66" name="Text Placeholder 3"/>
          <p:cNvSpPr txBox="1">
            <a:spLocks/>
          </p:cNvSpPr>
          <p:nvPr/>
        </p:nvSpPr>
        <p:spPr>
          <a:xfrm>
            <a:off x="693679" y="4585031"/>
            <a:ext cx="793356" cy="2027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de-DE" sz="1100" b="1" dirty="0">
                <a:latin typeface="Consolas" panose="020B0609020204030204" pitchFamily="49" charset="0"/>
              </a:rPr>
              <a:t>Compress</a:t>
            </a:r>
          </a:p>
        </p:txBody>
      </p:sp>
      <p:sp>
        <p:nvSpPr>
          <p:cNvPr id="69" name="Text Placeholder 3"/>
          <p:cNvSpPr txBox="1">
            <a:spLocks/>
          </p:cNvSpPr>
          <p:nvPr/>
        </p:nvSpPr>
        <p:spPr>
          <a:xfrm>
            <a:off x="709583" y="3515529"/>
            <a:ext cx="793356" cy="2027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de-DE" sz="1100" b="1" dirty="0">
                <a:latin typeface="Consolas" panose="020B0609020204030204" pitchFamily="49" charset="0"/>
              </a:rPr>
              <a:t>Shuffle</a:t>
            </a:r>
          </a:p>
        </p:txBody>
      </p:sp>
      <p:sp>
        <p:nvSpPr>
          <p:cNvPr id="71" name="Text Placeholder 3"/>
          <p:cNvSpPr txBox="1">
            <a:spLocks/>
          </p:cNvSpPr>
          <p:nvPr/>
        </p:nvSpPr>
        <p:spPr>
          <a:xfrm>
            <a:off x="4491723" y="5929742"/>
            <a:ext cx="1703963" cy="8754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2100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de-DE" sz="900" dirty="0">
                <a:latin typeface="Consolas" panose="020B0609020204030204" pitchFamily="49" charset="0"/>
              </a:rPr>
              <a:t>Difference in size (entropy)?</a:t>
            </a:r>
          </a:p>
        </p:txBody>
      </p:sp>
      <p:sp>
        <p:nvSpPr>
          <p:cNvPr id="29" name="Text Placeholder 3"/>
          <p:cNvSpPr txBox="1">
            <a:spLocks/>
          </p:cNvSpPr>
          <p:nvPr/>
        </p:nvSpPr>
        <p:spPr>
          <a:xfrm>
            <a:off x="6837070" y="4079300"/>
            <a:ext cx="2262933" cy="2027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e-DE" sz="1400" b="1" dirty="0">
                <a:latin typeface="Consolas" panose="020B0609020204030204" pitchFamily="49" charset="0"/>
              </a:rPr>
              <a:t>Can be used to define 2-dimensional </a:t>
            </a:r>
            <a:r>
              <a:rPr lang="en-GB" sz="1400" b="1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complexity map</a:t>
            </a:r>
            <a:r>
              <a:rPr lang="de-DE" sz="1400" b="1" dirty="0">
                <a:latin typeface="Consolas" panose="020B0609020204030204" pitchFamily="49" charset="0"/>
              </a:rPr>
              <a:t>! 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987E585-8BC6-4636-9D6D-DB10161076A0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E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5424617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2" name="Google Shape;1682;g60be7dcf1c_0_5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5950" y="2365225"/>
            <a:ext cx="3428276" cy="3428299"/>
          </a:xfrm>
          <a:prstGeom prst="rect">
            <a:avLst/>
          </a:prstGeom>
          <a:noFill/>
          <a:ln>
            <a:noFill/>
          </a:ln>
        </p:spPr>
      </p:pic>
      <p:sp>
        <p:nvSpPr>
          <p:cNvPr id="1683" name="Google Shape;1683;g60be7dcf1c_0_579"/>
          <p:cNvSpPr txBox="1"/>
          <p:nvPr/>
        </p:nvSpPr>
        <p:spPr>
          <a:xfrm>
            <a:off x="1947925" y="2095575"/>
            <a:ext cx="11670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 err="1">
                <a:latin typeface="Consolas"/>
                <a:ea typeface="Consolas"/>
                <a:cs typeface="Consolas"/>
                <a:sym typeface="Consolas"/>
              </a:rPr>
              <a:t>bursty</a:t>
            </a:r>
            <a:endParaRPr lang="en-GB" sz="10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84" name="Google Shape;1684;g60be7dcf1c_0_579"/>
          <p:cNvSpPr txBox="1"/>
          <p:nvPr/>
        </p:nvSpPr>
        <p:spPr>
          <a:xfrm>
            <a:off x="4187225" y="2095575"/>
            <a:ext cx="11670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uniform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85" name="Google Shape;1685;g60be7dcf1c_0_579"/>
          <p:cNvSpPr txBox="1"/>
          <p:nvPr/>
        </p:nvSpPr>
        <p:spPr>
          <a:xfrm rot="-5400000">
            <a:off x="712750" y="4024400"/>
            <a:ext cx="24375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non-temporal complexity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86" name="Google Shape;1686;g60be7dcf1c_0_579"/>
          <p:cNvSpPr txBox="1"/>
          <p:nvPr/>
        </p:nvSpPr>
        <p:spPr>
          <a:xfrm>
            <a:off x="2506238" y="5616875"/>
            <a:ext cx="22677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temporal complexity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87" name="Google Shape;1687;g60be7dcf1c_0_579"/>
          <p:cNvSpPr txBox="1"/>
          <p:nvPr/>
        </p:nvSpPr>
        <p:spPr>
          <a:xfrm>
            <a:off x="0" y="540000"/>
            <a:ext cx="8211000" cy="144000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1688" name="Google Shape;1688;g60be7dcf1c_0_579"/>
          <p:cNvSpPr txBox="1">
            <a:spLocks noGrp="1"/>
          </p:cNvSpPr>
          <p:nvPr>
            <p:ph type="title"/>
          </p:nvPr>
        </p:nvSpPr>
        <p:spPr>
          <a:xfrm>
            <a:off x="973075" y="324175"/>
            <a:ext cx="8171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Our Methodology</a:t>
            </a:r>
            <a:br>
              <a:rPr lang="en-GB" sz="32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Complexity Map</a:t>
            </a:r>
          </a:p>
        </p:txBody>
      </p:sp>
      <p:pic>
        <p:nvPicPr>
          <p:cNvPr id="1691" name="Google Shape;1691;g60be7dcf1c_0_57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80000" y="3847600"/>
            <a:ext cx="574999" cy="568375"/>
          </a:xfrm>
          <a:prstGeom prst="rect">
            <a:avLst/>
          </a:prstGeom>
          <a:noFill/>
          <a:ln>
            <a:noFill/>
          </a:ln>
        </p:spPr>
      </p:pic>
      <p:sp>
        <p:nvSpPr>
          <p:cNvPr id="1692" name="Google Shape;1692;g60be7dcf1c_0_579"/>
          <p:cNvSpPr/>
          <p:nvPr/>
        </p:nvSpPr>
        <p:spPr>
          <a:xfrm flipH="1">
            <a:off x="5242275" y="2255429"/>
            <a:ext cx="1328400" cy="607200"/>
          </a:xfrm>
          <a:prstGeom prst="homePlate">
            <a:avLst>
              <a:gd name="adj" fmla="val 50000"/>
            </a:avLst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1693" name="Google Shape;1693;g60be7dcf1c_0_579"/>
          <p:cNvSpPr txBox="1"/>
          <p:nvPr/>
        </p:nvSpPr>
        <p:spPr>
          <a:xfrm>
            <a:off x="5471775" y="2365213"/>
            <a:ext cx="1142400" cy="6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No structure</a:t>
            </a:r>
          </a:p>
        </p:txBody>
      </p:sp>
      <p:sp>
        <p:nvSpPr>
          <p:cNvPr id="1698" name="Google Shape;1698;g60be7dcf1c_0_579"/>
          <p:cNvSpPr txBox="1"/>
          <p:nvPr/>
        </p:nvSpPr>
        <p:spPr>
          <a:xfrm>
            <a:off x="1924686" y="5139950"/>
            <a:ext cx="17154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 err="1">
                <a:latin typeface="Consolas"/>
                <a:ea typeface="Consolas"/>
                <a:cs typeface="Consolas"/>
                <a:sym typeface="Consolas"/>
              </a:rPr>
              <a:t>bursty</a:t>
            </a: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 &amp; skewed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99" name="Google Shape;1699;g60be7dcf1c_0_579"/>
          <p:cNvSpPr txBox="1"/>
          <p:nvPr/>
        </p:nvSpPr>
        <p:spPr>
          <a:xfrm>
            <a:off x="4294601" y="5279616"/>
            <a:ext cx="8889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skewed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" name="Google Shape;1765;g60be7dcf1c_0_659"/>
          <p:cNvSpPr txBox="1"/>
          <p:nvPr/>
        </p:nvSpPr>
        <p:spPr>
          <a:xfrm>
            <a:off x="5535558" y="3381520"/>
            <a:ext cx="2675442" cy="1340721"/>
          </a:xfrm>
          <a:prstGeom prst="rect">
            <a:avLst/>
          </a:prstGeom>
          <a:solidFill>
            <a:srgbClr val="93C47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27" name="Google Shape;1766;g60be7dcf1c_0_659"/>
          <p:cNvSpPr txBox="1"/>
          <p:nvPr/>
        </p:nvSpPr>
        <p:spPr>
          <a:xfrm>
            <a:off x="5586484" y="3389988"/>
            <a:ext cx="2574877" cy="12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GB"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Our </a:t>
            </a:r>
            <a:r>
              <a:rPr lang="en-GB" sz="13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approach</a:t>
            </a:r>
            <a:r>
              <a:rPr lang="en-GB"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: iterative </a:t>
            </a:r>
            <a:r>
              <a:rPr lang="en-GB" sz="1300" b="1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randomization and compression </a:t>
            </a:r>
            <a:r>
              <a:rPr lang="en-GB"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of trace to identify dimensions of structure.</a:t>
            </a:r>
            <a:endParaRPr lang="en-GB" sz="1300" dirty="0">
              <a:solidFill>
                <a:srgbClr val="CC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55745" y="5971289"/>
            <a:ext cx="898902" cy="54000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3293464" y="6007055"/>
            <a:ext cx="267663" cy="1716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D4A0199-F058-431C-B1D6-62713314C1FA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E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7243666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7" name="Google Shape;1707;g60be7dcf1c_0_60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25950" y="2365225"/>
            <a:ext cx="3428276" cy="3428299"/>
          </a:xfrm>
          <a:prstGeom prst="rect">
            <a:avLst/>
          </a:prstGeom>
          <a:noFill/>
          <a:ln>
            <a:noFill/>
          </a:ln>
        </p:spPr>
      </p:pic>
      <p:sp>
        <p:nvSpPr>
          <p:cNvPr id="1708" name="Google Shape;1708;g60be7dcf1c_0_603"/>
          <p:cNvSpPr txBox="1"/>
          <p:nvPr/>
        </p:nvSpPr>
        <p:spPr>
          <a:xfrm>
            <a:off x="0" y="540000"/>
            <a:ext cx="8211000" cy="144000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1714" name="Google Shape;1714;g60be7dcf1c_0_603"/>
          <p:cNvSpPr txBox="1"/>
          <p:nvPr/>
        </p:nvSpPr>
        <p:spPr>
          <a:xfrm rot="-5400000">
            <a:off x="712750" y="4024400"/>
            <a:ext cx="24375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non-temporal complexity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000" dirty="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715" name="Google Shape;1715;g60be7dcf1c_0_60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80000" y="3847600"/>
            <a:ext cx="574999" cy="568375"/>
          </a:xfrm>
          <a:prstGeom prst="rect">
            <a:avLst/>
          </a:prstGeom>
          <a:noFill/>
          <a:ln>
            <a:noFill/>
          </a:ln>
        </p:spPr>
      </p:pic>
      <p:sp>
        <p:nvSpPr>
          <p:cNvPr id="1716" name="Google Shape;1716;g60be7dcf1c_0_603"/>
          <p:cNvSpPr txBox="1"/>
          <p:nvPr/>
        </p:nvSpPr>
        <p:spPr>
          <a:xfrm>
            <a:off x="2179075" y="2916850"/>
            <a:ext cx="11670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pF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17" name="Google Shape;1717;g60be7dcf1c_0_603"/>
          <p:cNvSpPr txBox="1"/>
          <p:nvPr/>
        </p:nvSpPr>
        <p:spPr>
          <a:xfrm>
            <a:off x="2854875" y="3179125"/>
            <a:ext cx="4938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CNS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18" name="Google Shape;1718;g60be7dcf1c_0_603"/>
          <p:cNvSpPr txBox="1"/>
          <p:nvPr/>
        </p:nvSpPr>
        <p:spPr>
          <a:xfrm>
            <a:off x="3899613" y="3179125"/>
            <a:ext cx="4938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ML</a:t>
            </a:r>
          </a:p>
        </p:txBody>
      </p:sp>
      <p:sp>
        <p:nvSpPr>
          <p:cNvPr id="1719" name="Google Shape;1719;g60be7dcf1c_0_603"/>
          <p:cNvSpPr txBox="1"/>
          <p:nvPr/>
        </p:nvSpPr>
        <p:spPr>
          <a:xfrm>
            <a:off x="4530563" y="3455300"/>
            <a:ext cx="4938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DB</a:t>
            </a:r>
          </a:p>
        </p:txBody>
      </p:sp>
      <p:sp>
        <p:nvSpPr>
          <p:cNvPr id="1720" name="Google Shape;1720;g60be7dcf1c_0_603"/>
          <p:cNvSpPr txBox="1"/>
          <p:nvPr/>
        </p:nvSpPr>
        <p:spPr>
          <a:xfrm>
            <a:off x="4530575" y="3883425"/>
            <a:ext cx="4938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Web</a:t>
            </a:r>
          </a:p>
        </p:txBody>
      </p:sp>
      <p:sp>
        <p:nvSpPr>
          <p:cNvPr id="1721" name="Google Shape;1721;g60be7dcf1c_0_603"/>
          <p:cNvSpPr txBox="1"/>
          <p:nvPr/>
        </p:nvSpPr>
        <p:spPr>
          <a:xfrm>
            <a:off x="4460100" y="4224525"/>
            <a:ext cx="4938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Had</a:t>
            </a:r>
          </a:p>
        </p:txBody>
      </p:sp>
      <p:sp>
        <p:nvSpPr>
          <p:cNvPr id="1722" name="Google Shape;1722;g60be7dcf1c_0_603"/>
          <p:cNvSpPr txBox="1"/>
          <p:nvPr/>
        </p:nvSpPr>
        <p:spPr>
          <a:xfrm>
            <a:off x="2781113" y="4194800"/>
            <a:ext cx="9999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Multi 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Grid</a:t>
            </a:r>
          </a:p>
        </p:txBody>
      </p:sp>
      <p:sp>
        <p:nvSpPr>
          <p:cNvPr id="1725" name="Google Shape;1725;g60be7dcf1c_0_603"/>
          <p:cNvSpPr txBox="1"/>
          <p:nvPr/>
        </p:nvSpPr>
        <p:spPr>
          <a:xfrm>
            <a:off x="2506238" y="5616875"/>
            <a:ext cx="22677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temporal complexity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29" name="Google Shape;1729;g60be7dcf1c_0_603"/>
          <p:cNvSpPr/>
          <p:nvPr/>
        </p:nvSpPr>
        <p:spPr>
          <a:xfrm>
            <a:off x="5566725" y="4840550"/>
            <a:ext cx="1557000" cy="1557000"/>
          </a:xfrm>
          <a:prstGeom prst="ellipse">
            <a:avLst/>
          </a:prstGeom>
          <a:solidFill>
            <a:srgbClr val="93C47D"/>
          </a:solidFill>
          <a:ln w="952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</p:txBody>
      </p:sp>
      <p:sp>
        <p:nvSpPr>
          <p:cNvPr id="1730" name="Google Shape;1730;g60be7dcf1c_0_603"/>
          <p:cNvSpPr txBox="1"/>
          <p:nvPr/>
        </p:nvSpPr>
        <p:spPr>
          <a:xfrm>
            <a:off x="5500362" y="5236925"/>
            <a:ext cx="1623363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Different structures!</a:t>
            </a:r>
          </a:p>
        </p:txBody>
      </p:sp>
      <p:sp>
        <p:nvSpPr>
          <p:cNvPr id="26" name="Google Shape;1683;g60be7dcf1c_0_579"/>
          <p:cNvSpPr txBox="1"/>
          <p:nvPr/>
        </p:nvSpPr>
        <p:spPr>
          <a:xfrm>
            <a:off x="1947925" y="2095575"/>
            <a:ext cx="11670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 err="1">
                <a:latin typeface="Consolas"/>
                <a:ea typeface="Consolas"/>
                <a:cs typeface="Consolas"/>
                <a:sym typeface="Consolas"/>
              </a:rPr>
              <a:t>bursty</a:t>
            </a:r>
            <a:endParaRPr lang="en-GB" sz="10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" name="Google Shape;1684;g60be7dcf1c_0_579"/>
          <p:cNvSpPr txBox="1"/>
          <p:nvPr/>
        </p:nvSpPr>
        <p:spPr>
          <a:xfrm>
            <a:off x="4187225" y="2095575"/>
            <a:ext cx="11670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uniform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" name="Google Shape;1698;g60be7dcf1c_0_579"/>
          <p:cNvSpPr txBox="1"/>
          <p:nvPr/>
        </p:nvSpPr>
        <p:spPr>
          <a:xfrm>
            <a:off x="1924686" y="5139950"/>
            <a:ext cx="17154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 err="1">
                <a:latin typeface="Consolas"/>
                <a:ea typeface="Consolas"/>
                <a:cs typeface="Consolas"/>
                <a:sym typeface="Consolas"/>
              </a:rPr>
              <a:t>bursty</a:t>
            </a: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 &amp; skewed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" name="Google Shape;1699;g60be7dcf1c_0_579"/>
          <p:cNvSpPr txBox="1"/>
          <p:nvPr/>
        </p:nvSpPr>
        <p:spPr>
          <a:xfrm>
            <a:off x="4294601" y="5279616"/>
            <a:ext cx="8889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skewed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" name="Oval 1"/>
          <p:cNvSpPr/>
          <p:nvPr/>
        </p:nvSpPr>
        <p:spPr>
          <a:xfrm>
            <a:off x="2615821" y="4971954"/>
            <a:ext cx="109182" cy="100084"/>
          </a:xfrm>
          <a:prstGeom prst="ellipse">
            <a:avLst/>
          </a:prstGeom>
          <a:solidFill>
            <a:srgbClr val="4610E0"/>
          </a:solidFill>
          <a:ln>
            <a:solidFill>
              <a:srgbClr val="4610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1" name="Google Shape;1718;g60be7dcf1c_0_603"/>
          <p:cNvSpPr txBox="1"/>
          <p:nvPr/>
        </p:nvSpPr>
        <p:spPr>
          <a:xfrm>
            <a:off x="2615821" y="4864274"/>
            <a:ext cx="4938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NN</a:t>
            </a:r>
          </a:p>
        </p:txBody>
      </p:sp>
      <p:sp>
        <p:nvSpPr>
          <p:cNvPr id="37" name="Google Shape;1765;g60be7dcf1c_0_659"/>
          <p:cNvSpPr txBox="1"/>
          <p:nvPr/>
        </p:nvSpPr>
        <p:spPr>
          <a:xfrm>
            <a:off x="5535558" y="3381520"/>
            <a:ext cx="2675442" cy="1340721"/>
          </a:xfrm>
          <a:prstGeom prst="rect">
            <a:avLst/>
          </a:prstGeom>
          <a:solidFill>
            <a:srgbClr val="93C47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pic>
        <p:nvPicPr>
          <p:cNvPr id="39" name="Picture 3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55745" y="5975483"/>
            <a:ext cx="898902" cy="540000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3293464" y="6007055"/>
            <a:ext cx="267663" cy="1716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Google Shape;1692;g60be7dcf1c_0_579"/>
          <p:cNvSpPr/>
          <p:nvPr/>
        </p:nvSpPr>
        <p:spPr>
          <a:xfrm flipH="1">
            <a:off x="5242275" y="2255429"/>
            <a:ext cx="1328400" cy="607200"/>
          </a:xfrm>
          <a:prstGeom prst="homePlate">
            <a:avLst>
              <a:gd name="adj" fmla="val 50000"/>
            </a:avLst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33" name="Google Shape;1693;g60be7dcf1c_0_579"/>
          <p:cNvSpPr txBox="1"/>
          <p:nvPr/>
        </p:nvSpPr>
        <p:spPr>
          <a:xfrm>
            <a:off x="5471775" y="2365213"/>
            <a:ext cx="1142400" cy="6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No structure</a:t>
            </a:r>
          </a:p>
        </p:txBody>
      </p:sp>
      <p:sp>
        <p:nvSpPr>
          <p:cNvPr id="36" name="Google Shape;1688;g60be7dcf1c_0_579"/>
          <p:cNvSpPr txBox="1">
            <a:spLocks noGrp="1"/>
          </p:cNvSpPr>
          <p:nvPr>
            <p:ph type="title"/>
          </p:nvPr>
        </p:nvSpPr>
        <p:spPr>
          <a:xfrm>
            <a:off x="973075" y="324175"/>
            <a:ext cx="8171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Our Methodology</a:t>
            </a:r>
            <a:br>
              <a:rPr lang="en-GB" sz="32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Complexity Map</a:t>
            </a:r>
          </a:p>
        </p:txBody>
      </p:sp>
      <p:sp>
        <p:nvSpPr>
          <p:cNvPr id="40" name="Google Shape;1766;g60be7dcf1c_0_659"/>
          <p:cNvSpPr txBox="1"/>
          <p:nvPr/>
        </p:nvSpPr>
        <p:spPr>
          <a:xfrm>
            <a:off x="5586484" y="3389988"/>
            <a:ext cx="2574877" cy="12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GB"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Our </a:t>
            </a:r>
            <a:r>
              <a:rPr lang="en-GB" sz="13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approach</a:t>
            </a:r>
            <a:r>
              <a:rPr lang="en-GB"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: iterative </a:t>
            </a:r>
            <a:r>
              <a:rPr lang="en-GB" sz="1300" b="1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randomization and compression </a:t>
            </a:r>
            <a:r>
              <a:rPr lang="en-GB"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of trace to identify dimensions of structure.</a:t>
            </a:r>
            <a:endParaRPr lang="en-GB" sz="1300" dirty="0">
              <a:solidFill>
                <a:srgbClr val="CC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307D686-0F11-4FAD-B418-A3990611B64A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E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9652382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7" name="Google Shape;1767;g60be7dcf1c_0_65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25950" y="2365225"/>
            <a:ext cx="3428276" cy="3428299"/>
          </a:xfrm>
          <a:prstGeom prst="rect">
            <a:avLst/>
          </a:prstGeom>
          <a:noFill/>
          <a:ln>
            <a:noFill/>
          </a:ln>
        </p:spPr>
      </p:pic>
      <p:sp>
        <p:nvSpPr>
          <p:cNvPr id="1768" name="Google Shape;1768;g60be7dcf1c_0_659"/>
          <p:cNvSpPr txBox="1"/>
          <p:nvPr/>
        </p:nvSpPr>
        <p:spPr>
          <a:xfrm rot="-5400000">
            <a:off x="712750" y="4024400"/>
            <a:ext cx="24375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non-temporal complexity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69" name="Google Shape;1769;g60be7dcf1c_0_659"/>
          <p:cNvSpPr txBox="1"/>
          <p:nvPr/>
        </p:nvSpPr>
        <p:spPr>
          <a:xfrm>
            <a:off x="2179075" y="2916850"/>
            <a:ext cx="11670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pF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70" name="Google Shape;1770;g60be7dcf1c_0_659"/>
          <p:cNvSpPr txBox="1"/>
          <p:nvPr/>
        </p:nvSpPr>
        <p:spPr>
          <a:xfrm>
            <a:off x="2854875" y="3179125"/>
            <a:ext cx="4938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CNS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71" name="Google Shape;1771;g60be7dcf1c_0_659"/>
          <p:cNvSpPr txBox="1"/>
          <p:nvPr/>
        </p:nvSpPr>
        <p:spPr>
          <a:xfrm>
            <a:off x="3899613" y="3179125"/>
            <a:ext cx="4938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ML</a:t>
            </a:r>
          </a:p>
        </p:txBody>
      </p:sp>
      <p:sp>
        <p:nvSpPr>
          <p:cNvPr id="1772" name="Google Shape;1772;g60be7dcf1c_0_659"/>
          <p:cNvSpPr txBox="1"/>
          <p:nvPr/>
        </p:nvSpPr>
        <p:spPr>
          <a:xfrm>
            <a:off x="4530563" y="3455300"/>
            <a:ext cx="4938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DB</a:t>
            </a:r>
          </a:p>
        </p:txBody>
      </p:sp>
      <p:sp>
        <p:nvSpPr>
          <p:cNvPr id="1773" name="Google Shape;1773;g60be7dcf1c_0_659"/>
          <p:cNvSpPr txBox="1"/>
          <p:nvPr/>
        </p:nvSpPr>
        <p:spPr>
          <a:xfrm>
            <a:off x="4530575" y="3883425"/>
            <a:ext cx="4938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Web</a:t>
            </a:r>
          </a:p>
        </p:txBody>
      </p:sp>
      <p:sp>
        <p:nvSpPr>
          <p:cNvPr id="1774" name="Google Shape;1774;g60be7dcf1c_0_659"/>
          <p:cNvSpPr txBox="1"/>
          <p:nvPr/>
        </p:nvSpPr>
        <p:spPr>
          <a:xfrm>
            <a:off x="4460100" y="4224525"/>
            <a:ext cx="4938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Had</a:t>
            </a:r>
          </a:p>
        </p:txBody>
      </p:sp>
      <p:sp>
        <p:nvSpPr>
          <p:cNvPr id="1775" name="Google Shape;1775;g60be7dcf1c_0_659"/>
          <p:cNvSpPr txBox="1"/>
          <p:nvPr/>
        </p:nvSpPr>
        <p:spPr>
          <a:xfrm>
            <a:off x="2781113" y="4194800"/>
            <a:ext cx="9999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Multi 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Grid</a:t>
            </a:r>
          </a:p>
        </p:txBody>
      </p:sp>
      <p:sp>
        <p:nvSpPr>
          <p:cNvPr id="1778" name="Google Shape;1778;g60be7dcf1c_0_659"/>
          <p:cNvSpPr txBox="1"/>
          <p:nvPr/>
        </p:nvSpPr>
        <p:spPr>
          <a:xfrm>
            <a:off x="2506238" y="5616875"/>
            <a:ext cx="22677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temporal complexity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79" name="Google Shape;1779;g60be7dcf1c_0_659"/>
          <p:cNvSpPr txBox="1"/>
          <p:nvPr/>
        </p:nvSpPr>
        <p:spPr>
          <a:xfrm>
            <a:off x="0" y="540000"/>
            <a:ext cx="8211000" cy="144000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pic>
        <p:nvPicPr>
          <p:cNvPr id="1785" name="Google Shape;1785;g60be7dcf1c_0_65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80000" y="3847600"/>
            <a:ext cx="574999" cy="56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7" name="Google Shape;1787;g60be7dcf1c_0_659"/>
          <p:cNvPicPr preferRelativeResize="0"/>
          <p:nvPr/>
        </p:nvPicPr>
        <p:blipFill rotWithShape="1">
          <a:blip r:embed="rId5">
            <a:alphaModFix/>
          </a:blip>
          <a:srcRect l="2082" t="23315" r="2397" b="4476"/>
          <a:stretch/>
        </p:blipFill>
        <p:spPr>
          <a:xfrm>
            <a:off x="1080000" y="5472750"/>
            <a:ext cx="1593603" cy="924799"/>
          </a:xfrm>
          <a:prstGeom prst="rect">
            <a:avLst/>
          </a:prstGeom>
          <a:noFill/>
          <a:ln w="952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788" name="Google Shape;1788;g60be7dcf1c_0_659"/>
          <p:cNvPicPr preferRelativeResize="0"/>
          <p:nvPr/>
        </p:nvPicPr>
        <p:blipFill rotWithShape="1">
          <a:blip r:embed="rId6">
            <a:alphaModFix/>
          </a:blip>
          <a:srcRect b="11520"/>
          <a:stretch/>
        </p:blipFill>
        <p:spPr>
          <a:xfrm>
            <a:off x="5271850" y="2197875"/>
            <a:ext cx="1448572" cy="961175"/>
          </a:xfrm>
          <a:prstGeom prst="rect">
            <a:avLst/>
          </a:prstGeom>
          <a:noFill/>
          <a:ln w="952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791" name="Google Shape;1791;g60be7dcf1c_0_659"/>
          <p:cNvSpPr/>
          <p:nvPr/>
        </p:nvSpPr>
        <p:spPr>
          <a:xfrm rot="2431833">
            <a:off x="3535857" y="2503885"/>
            <a:ext cx="258956" cy="2777831"/>
          </a:xfrm>
          <a:prstGeom prst="upDownArrow">
            <a:avLst>
              <a:gd name="adj1" fmla="val 50000"/>
              <a:gd name="adj2" fmla="val 50000"/>
            </a:avLst>
          </a:prstGeom>
          <a:solidFill>
            <a:srgbClr val="93C47D"/>
          </a:solidFill>
          <a:ln w="952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</p:txBody>
      </p:sp>
      <p:sp>
        <p:nvSpPr>
          <p:cNvPr id="1792" name="Google Shape;1792;g60be7dcf1c_0_659"/>
          <p:cNvSpPr/>
          <p:nvPr/>
        </p:nvSpPr>
        <p:spPr>
          <a:xfrm>
            <a:off x="2095496" y="3519125"/>
            <a:ext cx="1148700" cy="1148700"/>
          </a:xfrm>
          <a:prstGeom prst="ellipse">
            <a:avLst/>
          </a:prstGeom>
          <a:solidFill>
            <a:srgbClr val="93C47D"/>
          </a:solidFill>
          <a:ln w="952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</p:txBody>
      </p:sp>
      <p:sp>
        <p:nvSpPr>
          <p:cNvPr id="1793" name="Google Shape;1793;g60be7dcf1c_0_659"/>
          <p:cNvSpPr txBox="1"/>
          <p:nvPr/>
        </p:nvSpPr>
        <p:spPr>
          <a:xfrm>
            <a:off x="1964825" y="3765086"/>
            <a:ext cx="1435200" cy="5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Potential gain!</a:t>
            </a:r>
          </a:p>
        </p:txBody>
      </p:sp>
      <p:sp>
        <p:nvSpPr>
          <p:cNvPr id="31" name="Google Shape;1698;g60be7dcf1c_0_579"/>
          <p:cNvSpPr txBox="1"/>
          <p:nvPr/>
        </p:nvSpPr>
        <p:spPr>
          <a:xfrm>
            <a:off x="1924686" y="5139950"/>
            <a:ext cx="17154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 err="1">
                <a:latin typeface="Consolas"/>
                <a:ea typeface="Consolas"/>
                <a:cs typeface="Consolas"/>
                <a:sym typeface="Consolas"/>
              </a:rPr>
              <a:t>bursty</a:t>
            </a: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 &amp; skewed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" name="Google Shape;1699;g60be7dcf1c_0_579"/>
          <p:cNvSpPr txBox="1"/>
          <p:nvPr/>
        </p:nvSpPr>
        <p:spPr>
          <a:xfrm>
            <a:off x="4294601" y="5279616"/>
            <a:ext cx="8889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skewed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" name="Google Shape;1683;g60be7dcf1c_0_579"/>
          <p:cNvSpPr txBox="1"/>
          <p:nvPr/>
        </p:nvSpPr>
        <p:spPr>
          <a:xfrm>
            <a:off x="1947925" y="2095575"/>
            <a:ext cx="11670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 err="1">
                <a:latin typeface="Consolas"/>
                <a:ea typeface="Consolas"/>
                <a:cs typeface="Consolas"/>
                <a:sym typeface="Consolas"/>
              </a:rPr>
              <a:t>bursty</a:t>
            </a:r>
            <a:endParaRPr lang="en-GB" sz="10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" name="Google Shape;1684;g60be7dcf1c_0_579"/>
          <p:cNvSpPr txBox="1"/>
          <p:nvPr/>
        </p:nvSpPr>
        <p:spPr>
          <a:xfrm>
            <a:off x="4187225" y="2095575"/>
            <a:ext cx="11670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uniform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2615821" y="4971954"/>
            <a:ext cx="109182" cy="100084"/>
          </a:xfrm>
          <a:prstGeom prst="ellipse">
            <a:avLst/>
          </a:prstGeom>
          <a:solidFill>
            <a:srgbClr val="4610E0"/>
          </a:solidFill>
          <a:ln>
            <a:solidFill>
              <a:srgbClr val="4610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6" name="Google Shape;1718;g60be7dcf1c_0_603"/>
          <p:cNvSpPr txBox="1"/>
          <p:nvPr/>
        </p:nvSpPr>
        <p:spPr>
          <a:xfrm>
            <a:off x="2615821" y="4864274"/>
            <a:ext cx="4938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NN</a:t>
            </a:r>
          </a:p>
        </p:txBody>
      </p:sp>
      <p:pic>
        <p:nvPicPr>
          <p:cNvPr id="42" name="Picture 4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55745" y="5975483"/>
            <a:ext cx="898902" cy="540000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3293464" y="6007055"/>
            <a:ext cx="267663" cy="1716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Google Shape;1729;g60be7dcf1c_0_603"/>
          <p:cNvSpPr/>
          <p:nvPr/>
        </p:nvSpPr>
        <p:spPr>
          <a:xfrm>
            <a:off x="5566725" y="4840550"/>
            <a:ext cx="1557000" cy="1557000"/>
          </a:xfrm>
          <a:prstGeom prst="ellipse">
            <a:avLst/>
          </a:prstGeom>
          <a:solidFill>
            <a:srgbClr val="93C47D"/>
          </a:solidFill>
          <a:ln w="952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</p:txBody>
      </p:sp>
      <p:sp>
        <p:nvSpPr>
          <p:cNvPr id="52" name="Google Shape;1730;g60be7dcf1c_0_603"/>
          <p:cNvSpPr txBox="1"/>
          <p:nvPr/>
        </p:nvSpPr>
        <p:spPr>
          <a:xfrm>
            <a:off x="5500362" y="5236925"/>
            <a:ext cx="1623363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Different structures!</a:t>
            </a:r>
          </a:p>
        </p:txBody>
      </p:sp>
      <p:sp>
        <p:nvSpPr>
          <p:cNvPr id="44" name="Google Shape;1765;g60be7dcf1c_0_659"/>
          <p:cNvSpPr txBox="1"/>
          <p:nvPr/>
        </p:nvSpPr>
        <p:spPr>
          <a:xfrm>
            <a:off x="5535558" y="3381520"/>
            <a:ext cx="2675442" cy="1340721"/>
          </a:xfrm>
          <a:prstGeom prst="rect">
            <a:avLst/>
          </a:prstGeom>
          <a:solidFill>
            <a:srgbClr val="93C47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45" name="Google Shape;1688;g60be7dcf1c_0_579"/>
          <p:cNvSpPr txBox="1">
            <a:spLocks noGrp="1"/>
          </p:cNvSpPr>
          <p:nvPr>
            <p:ph type="title"/>
          </p:nvPr>
        </p:nvSpPr>
        <p:spPr>
          <a:xfrm>
            <a:off x="973075" y="324175"/>
            <a:ext cx="8171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Our Methodology</a:t>
            </a:r>
            <a:br>
              <a:rPr lang="en-GB" sz="32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Complexity Map</a:t>
            </a:r>
          </a:p>
        </p:txBody>
      </p:sp>
      <p:sp>
        <p:nvSpPr>
          <p:cNvPr id="46" name="Google Shape;1766;g60be7dcf1c_0_659"/>
          <p:cNvSpPr txBox="1"/>
          <p:nvPr/>
        </p:nvSpPr>
        <p:spPr>
          <a:xfrm>
            <a:off x="5586484" y="3389988"/>
            <a:ext cx="2574877" cy="12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GB"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Our </a:t>
            </a:r>
            <a:r>
              <a:rPr lang="en-GB" sz="13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approach</a:t>
            </a:r>
            <a:r>
              <a:rPr lang="en-GB"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: iterative </a:t>
            </a:r>
            <a:r>
              <a:rPr lang="en-GB" sz="1300" b="1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randomization and compression </a:t>
            </a:r>
            <a:r>
              <a:rPr lang="en-GB"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of trace to identify dimensions of structure.</a:t>
            </a:r>
            <a:endParaRPr lang="en-GB" sz="1300" dirty="0">
              <a:solidFill>
                <a:srgbClr val="CC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2F3755C-C28D-4760-9057-C16A625C9CE4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E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9077660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9" name="Google Shape;1779;g60be7dcf1c_0_659"/>
          <p:cNvSpPr txBox="1"/>
          <p:nvPr/>
        </p:nvSpPr>
        <p:spPr>
          <a:xfrm>
            <a:off x="0" y="540000"/>
            <a:ext cx="8211000" cy="144000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45" name="Google Shape;1688;g60be7dcf1c_0_579"/>
          <p:cNvSpPr txBox="1">
            <a:spLocks noGrp="1"/>
          </p:cNvSpPr>
          <p:nvPr>
            <p:ph type="title"/>
          </p:nvPr>
        </p:nvSpPr>
        <p:spPr>
          <a:xfrm>
            <a:off x="973075" y="324175"/>
            <a:ext cx="8171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Further Reading</a:t>
            </a:r>
            <a:br>
              <a:rPr lang="en-GB" sz="32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ACM SIGMETRICS 2020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3980" y="2327450"/>
            <a:ext cx="4863734" cy="3909199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188A95C-C90B-4E7F-9F3A-2EC774B33C58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E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8764787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7">
          <a:extLst>
            <a:ext uri="{FF2B5EF4-FFF2-40B4-BE49-F238E27FC236}">
              <a16:creationId xmlns:a16="http://schemas.microsoft.com/office/drawing/2014/main" id="{C51FCA8A-671F-0266-BACC-4755EB0BB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8" name="Google Shape;1798;g60be7dcf1c_0_691">
            <a:extLst>
              <a:ext uri="{FF2B5EF4-FFF2-40B4-BE49-F238E27FC236}">
                <a16:creationId xmlns:a16="http://schemas.microsoft.com/office/drawing/2014/main" id="{7FF5CC83-156B-D7BE-E534-1F514AA2DE13}"/>
              </a:ext>
            </a:extLst>
          </p:cNvPr>
          <p:cNvSpPr txBox="1"/>
          <p:nvPr/>
        </p:nvSpPr>
        <p:spPr>
          <a:xfrm>
            <a:off x="0" y="540000"/>
            <a:ext cx="8211000" cy="251010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1799" name="Google Shape;1799;g60be7dcf1c_0_691">
            <a:extLst>
              <a:ext uri="{FF2B5EF4-FFF2-40B4-BE49-F238E27FC236}">
                <a16:creationId xmlns:a16="http://schemas.microsoft.com/office/drawing/2014/main" id="{0E46E071-3389-00B9-2CC4-1AC04C9CB2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3075" y="73150"/>
            <a:ext cx="8171100" cy="272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 dirty="0">
                <a:latin typeface="Consolas"/>
                <a:ea typeface="Consolas"/>
                <a:cs typeface="Consolas"/>
                <a:sym typeface="Consolas"/>
              </a:rPr>
              <a:t>The Natural Question:</a:t>
            </a:r>
            <a:r>
              <a:rPr lang="en-GB" sz="4000" dirty="0">
                <a:latin typeface="Consolas"/>
                <a:ea typeface="Consolas"/>
                <a:cs typeface="Consolas"/>
                <a:sym typeface="Consolas"/>
              </a:rPr>
              <a:t>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4000" dirty="0">
                <a:latin typeface="Consolas"/>
                <a:ea typeface="Consolas"/>
                <a:cs typeface="Consolas"/>
                <a:sym typeface="Consolas"/>
              </a:rPr>
              <a:t>Given This Structure, </a:t>
            </a:r>
            <a:br>
              <a:rPr lang="en-GB" sz="4000" dirty="0"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4000" dirty="0">
                <a:latin typeface="Consolas"/>
                <a:ea typeface="Consolas"/>
                <a:cs typeface="Consolas"/>
                <a:sym typeface="Consolas"/>
              </a:rPr>
              <a:t>What Can Be Achieved?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4000" dirty="0">
                <a:latin typeface="Consolas"/>
                <a:ea typeface="Consolas"/>
                <a:cs typeface="Consolas"/>
                <a:sym typeface="Consolas"/>
              </a:rPr>
              <a:t>Metrics and Algorithms?</a:t>
            </a:r>
            <a:endParaRPr lang="en-GB" sz="4000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" name="Google Shape;1660;g60be7dcf1c_0_555">
            <a:extLst>
              <a:ext uri="{FF2B5EF4-FFF2-40B4-BE49-F238E27FC236}">
                <a16:creationId xmlns:a16="http://schemas.microsoft.com/office/drawing/2014/main" id="{855D7A62-559B-9575-2554-01E3C68470B0}"/>
              </a:ext>
            </a:extLst>
          </p:cNvPr>
          <p:cNvSpPr txBox="1"/>
          <p:nvPr/>
        </p:nvSpPr>
        <p:spPr>
          <a:xfrm>
            <a:off x="973075" y="3532626"/>
            <a:ext cx="7557300" cy="9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 first insight: entropy of the demand.</a:t>
            </a:r>
          </a:p>
        </p:txBody>
      </p:sp>
      <p:sp>
        <p:nvSpPr>
          <p:cNvPr id="2" name="Rectangle 25">
            <a:extLst>
              <a:ext uri="{FF2B5EF4-FFF2-40B4-BE49-F238E27FC236}">
                <a16:creationId xmlns:a16="http://schemas.microsoft.com/office/drawing/2014/main" id="{2A7F00C4-7FAB-E4D4-5BA7-6BF34FDB5343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E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4774987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5">
          <a:extLst>
            <a:ext uri="{FF2B5EF4-FFF2-40B4-BE49-F238E27FC236}">
              <a16:creationId xmlns:a16="http://schemas.microsoft.com/office/drawing/2014/main" id="{5F92772B-33FC-E25E-D8B9-E1711A380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7" name="Google Shape;1807;g60be7dcf1c_0_698">
            <a:extLst>
              <a:ext uri="{FF2B5EF4-FFF2-40B4-BE49-F238E27FC236}">
                <a16:creationId xmlns:a16="http://schemas.microsoft.com/office/drawing/2014/main" id="{2E5B2551-5758-56A5-DDDE-088E967C85E3}"/>
              </a:ext>
            </a:extLst>
          </p:cNvPr>
          <p:cNvSpPr/>
          <p:nvPr/>
        </p:nvSpPr>
        <p:spPr>
          <a:xfrm>
            <a:off x="2768275" y="3257150"/>
            <a:ext cx="1368600" cy="1048800"/>
          </a:xfrm>
          <a:prstGeom prst="rect">
            <a:avLst/>
          </a:prstGeom>
          <a:noFill/>
          <a:ln w="952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</p:txBody>
      </p:sp>
      <p:sp>
        <p:nvSpPr>
          <p:cNvPr id="1808" name="Google Shape;1808;g60be7dcf1c_0_698">
            <a:extLst>
              <a:ext uri="{FF2B5EF4-FFF2-40B4-BE49-F238E27FC236}">
                <a16:creationId xmlns:a16="http://schemas.microsoft.com/office/drawing/2014/main" id="{9464EFC4-4D15-17BA-376D-57F6DA9A8D79}"/>
              </a:ext>
            </a:extLst>
          </p:cNvPr>
          <p:cNvSpPr/>
          <p:nvPr/>
        </p:nvSpPr>
        <p:spPr>
          <a:xfrm>
            <a:off x="1080000" y="3257150"/>
            <a:ext cx="1368600" cy="1048800"/>
          </a:xfrm>
          <a:prstGeom prst="rect">
            <a:avLst/>
          </a:prstGeom>
          <a:noFill/>
          <a:ln w="952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</p:txBody>
      </p:sp>
      <p:sp>
        <p:nvSpPr>
          <p:cNvPr id="1809" name="Google Shape;1809;g60be7dcf1c_0_698">
            <a:extLst>
              <a:ext uri="{FF2B5EF4-FFF2-40B4-BE49-F238E27FC236}">
                <a16:creationId xmlns:a16="http://schemas.microsoft.com/office/drawing/2014/main" id="{14B8FFA2-966F-4C26-0DDA-700C782BA220}"/>
              </a:ext>
            </a:extLst>
          </p:cNvPr>
          <p:cNvSpPr txBox="1"/>
          <p:nvPr/>
        </p:nvSpPr>
        <p:spPr>
          <a:xfrm>
            <a:off x="0" y="540000"/>
            <a:ext cx="8211000" cy="181410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1810" name="Google Shape;1810;g60be7dcf1c_0_698">
            <a:extLst>
              <a:ext uri="{FF2B5EF4-FFF2-40B4-BE49-F238E27FC236}">
                <a16:creationId xmlns:a16="http://schemas.microsoft.com/office/drawing/2014/main" id="{D65E5853-1475-0E27-7F41-9B88477AE8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3075" y="324175"/>
            <a:ext cx="8171100" cy="18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Insight:</a:t>
            </a:r>
            <a:br>
              <a:rPr lang="en-GB" sz="32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Connection to </a:t>
            </a:r>
            <a:b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4000" dirty="0" err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Datastructures</a:t>
            </a:r>
            <a:endParaRPr lang="en-GB" sz="4000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813" name="Google Shape;1813;g60be7dcf1c_0_698">
            <a:extLst>
              <a:ext uri="{FF2B5EF4-FFF2-40B4-BE49-F238E27FC236}">
                <a16:creationId xmlns:a16="http://schemas.microsoft.com/office/drawing/2014/main" id="{49DBFB71-4E70-3307-C47F-B08ECDCB3BB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2713" y="3526492"/>
            <a:ext cx="1203169" cy="5633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4" name="Google Shape;1814;g60be7dcf1c_0_698">
            <a:extLst>
              <a:ext uri="{FF2B5EF4-FFF2-40B4-BE49-F238E27FC236}">
                <a16:creationId xmlns:a16="http://schemas.microsoft.com/office/drawing/2014/main" id="{06F7232E-86DE-B0FC-59A7-BD1D0039E9E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910888" y="3423313"/>
            <a:ext cx="1083375" cy="769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5" name="Google Shape;1815;g60be7dcf1c_0_698">
            <a:extLst>
              <a:ext uri="{FF2B5EF4-FFF2-40B4-BE49-F238E27FC236}">
                <a16:creationId xmlns:a16="http://schemas.microsoft.com/office/drawing/2014/main" id="{19C64909-7F1D-49C7-B2A2-8931B7FE3BA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79475" y="3388688"/>
            <a:ext cx="1680974" cy="804350"/>
          </a:xfrm>
          <a:prstGeom prst="rect">
            <a:avLst/>
          </a:prstGeom>
          <a:noFill/>
          <a:ln>
            <a:noFill/>
          </a:ln>
        </p:spPr>
      </p:pic>
      <p:sp>
        <p:nvSpPr>
          <p:cNvPr id="1816" name="Google Shape;1816;g60be7dcf1c_0_698">
            <a:extLst>
              <a:ext uri="{FF2B5EF4-FFF2-40B4-BE49-F238E27FC236}">
                <a16:creationId xmlns:a16="http://schemas.microsoft.com/office/drawing/2014/main" id="{952D0B53-C407-4303-5B02-EEA7515D20BB}"/>
              </a:ext>
            </a:extLst>
          </p:cNvPr>
          <p:cNvSpPr txBox="1"/>
          <p:nvPr/>
        </p:nvSpPr>
        <p:spPr>
          <a:xfrm>
            <a:off x="973074" y="2727575"/>
            <a:ext cx="1257525" cy="4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Traditional BST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17" name="Google Shape;1817;g60be7dcf1c_0_698">
            <a:extLst>
              <a:ext uri="{FF2B5EF4-FFF2-40B4-BE49-F238E27FC236}">
                <a16:creationId xmlns:a16="http://schemas.microsoft.com/office/drawing/2014/main" id="{13CF9BA2-96EA-ADEE-3A1F-E977606C6023}"/>
              </a:ext>
            </a:extLst>
          </p:cNvPr>
          <p:cNvSpPr txBox="1"/>
          <p:nvPr/>
        </p:nvSpPr>
        <p:spPr>
          <a:xfrm>
            <a:off x="2661349" y="2727575"/>
            <a:ext cx="1332913" cy="4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Demand-aware BST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18" name="Google Shape;1818;g60be7dcf1c_0_698">
            <a:extLst>
              <a:ext uri="{FF2B5EF4-FFF2-40B4-BE49-F238E27FC236}">
                <a16:creationId xmlns:a16="http://schemas.microsoft.com/office/drawing/2014/main" id="{381617AE-C012-34C9-A8E3-778EF749999F}"/>
              </a:ext>
            </a:extLst>
          </p:cNvPr>
          <p:cNvSpPr/>
          <p:nvPr/>
        </p:nvSpPr>
        <p:spPr>
          <a:xfrm>
            <a:off x="4456575" y="3257150"/>
            <a:ext cx="2013600" cy="1048800"/>
          </a:xfrm>
          <a:prstGeom prst="rect">
            <a:avLst/>
          </a:prstGeom>
          <a:noFill/>
          <a:ln w="952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</p:txBody>
      </p:sp>
      <p:sp>
        <p:nvSpPr>
          <p:cNvPr id="1819" name="Google Shape;1819;g60be7dcf1c_0_698">
            <a:extLst>
              <a:ext uri="{FF2B5EF4-FFF2-40B4-BE49-F238E27FC236}">
                <a16:creationId xmlns:a16="http://schemas.microsoft.com/office/drawing/2014/main" id="{84CA43D9-AAD5-CC10-64D1-207CBFE13685}"/>
              </a:ext>
            </a:extLst>
          </p:cNvPr>
          <p:cNvSpPr txBox="1"/>
          <p:nvPr/>
        </p:nvSpPr>
        <p:spPr>
          <a:xfrm>
            <a:off x="4349649" y="2727575"/>
            <a:ext cx="1582577" cy="4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Self-adjusting BST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25" name="Google Shape;1825;g60be7dcf1c_0_698">
            <a:extLst>
              <a:ext uri="{FF2B5EF4-FFF2-40B4-BE49-F238E27FC236}">
                <a16:creationId xmlns:a16="http://schemas.microsoft.com/office/drawing/2014/main" id="{770D29B2-033F-E86D-A284-D4B408A884EC}"/>
              </a:ext>
            </a:extLst>
          </p:cNvPr>
          <p:cNvSpPr/>
          <p:nvPr/>
        </p:nvSpPr>
        <p:spPr>
          <a:xfrm>
            <a:off x="1332676" y="4449900"/>
            <a:ext cx="4631396" cy="273900"/>
          </a:xfrm>
          <a:prstGeom prst="homePlate">
            <a:avLst>
              <a:gd name="adj" fmla="val 50000"/>
            </a:avLst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1826" name="Google Shape;1826;g60be7dcf1c_0_698">
            <a:extLst>
              <a:ext uri="{FF2B5EF4-FFF2-40B4-BE49-F238E27FC236}">
                <a16:creationId xmlns:a16="http://schemas.microsoft.com/office/drawing/2014/main" id="{554FE75E-9475-7B2D-7F8A-B73E9D7DE65A}"/>
              </a:ext>
            </a:extLst>
          </p:cNvPr>
          <p:cNvSpPr txBox="1"/>
          <p:nvPr/>
        </p:nvSpPr>
        <p:spPr>
          <a:xfrm>
            <a:off x="1349147" y="4412825"/>
            <a:ext cx="2781575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More structure: improved </a:t>
            </a:r>
            <a:r>
              <a:rPr lang="en-GB" sz="1000" b="1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access cost</a:t>
            </a:r>
          </a:p>
        </p:txBody>
      </p:sp>
      <p:sp>
        <p:nvSpPr>
          <p:cNvPr id="2" name="Rectangle 25">
            <a:extLst>
              <a:ext uri="{FF2B5EF4-FFF2-40B4-BE49-F238E27FC236}">
                <a16:creationId xmlns:a16="http://schemas.microsoft.com/office/drawing/2014/main" id="{6162140C-79F0-81CD-4B57-9D5F0E60BA2B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E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6411284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5">
          <a:extLst>
            <a:ext uri="{FF2B5EF4-FFF2-40B4-BE49-F238E27FC236}">
              <a16:creationId xmlns:a16="http://schemas.microsoft.com/office/drawing/2014/main" id="{512C972C-74ED-E514-0D20-69E5D781C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7" name="Google Shape;1807;g60be7dcf1c_0_698">
            <a:extLst>
              <a:ext uri="{FF2B5EF4-FFF2-40B4-BE49-F238E27FC236}">
                <a16:creationId xmlns:a16="http://schemas.microsoft.com/office/drawing/2014/main" id="{42517D11-A4E8-1184-80DC-E1D2FC5361F8}"/>
              </a:ext>
            </a:extLst>
          </p:cNvPr>
          <p:cNvSpPr/>
          <p:nvPr/>
        </p:nvSpPr>
        <p:spPr>
          <a:xfrm>
            <a:off x="2768275" y="3257150"/>
            <a:ext cx="1368600" cy="1048800"/>
          </a:xfrm>
          <a:prstGeom prst="rect">
            <a:avLst/>
          </a:prstGeom>
          <a:noFill/>
          <a:ln w="952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</p:txBody>
      </p:sp>
      <p:sp>
        <p:nvSpPr>
          <p:cNvPr id="1808" name="Google Shape;1808;g60be7dcf1c_0_698">
            <a:extLst>
              <a:ext uri="{FF2B5EF4-FFF2-40B4-BE49-F238E27FC236}">
                <a16:creationId xmlns:a16="http://schemas.microsoft.com/office/drawing/2014/main" id="{62BCC5EE-2D93-D28F-08CB-4F82606F4076}"/>
              </a:ext>
            </a:extLst>
          </p:cNvPr>
          <p:cNvSpPr/>
          <p:nvPr/>
        </p:nvSpPr>
        <p:spPr>
          <a:xfrm>
            <a:off x="1080000" y="3257150"/>
            <a:ext cx="1368600" cy="1048800"/>
          </a:xfrm>
          <a:prstGeom prst="rect">
            <a:avLst/>
          </a:prstGeom>
          <a:noFill/>
          <a:ln w="952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</p:txBody>
      </p:sp>
      <p:sp>
        <p:nvSpPr>
          <p:cNvPr id="1809" name="Google Shape;1809;g60be7dcf1c_0_698">
            <a:extLst>
              <a:ext uri="{FF2B5EF4-FFF2-40B4-BE49-F238E27FC236}">
                <a16:creationId xmlns:a16="http://schemas.microsoft.com/office/drawing/2014/main" id="{8CA48412-9110-4CB3-91F2-831632B2A5E1}"/>
              </a:ext>
            </a:extLst>
          </p:cNvPr>
          <p:cNvSpPr txBox="1"/>
          <p:nvPr/>
        </p:nvSpPr>
        <p:spPr>
          <a:xfrm>
            <a:off x="0" y="540000"/>
            <a:ext cx="8211000" cy="181410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1810" name="Google Shape;1810;g60be7dcf1c_0_698">
            <a:extLst>
              <a:ext uri="{FF2B5EF4-FFF2-40B4-BE49-F238E27FC236}">
                <a16:creationId xmlns:a16="http://schemas.microsoft.com/office/drawing/2014/main" id="{1C23EF0E-79CB-8B16-3502-1B5E625BD0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3075" y="324175"/>
            <a:ext cx="8171100" cy="18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l">
              <a:buSzPts val="1100"/>
            </a:pPr>
            <a:r>
              <a:rPr lang="en-GB" sz="2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Insight:</a:t>
            </a:r>
            <a:br>
              <a:rPr lang="en-GB" sz="32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Connection to </a:t>
            </a:r>
            <a:b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4000" dirty="0" err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Datastructures</a:t>
            </a:r>
            <a: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&amp; Coding</a:t>
            </a:r>
          </a:p>
        </p:txBody>
      </p:sp>
      <p:pic>
        <p:nvPicPr>
          <p:cNvPr id="1813" name="Google Shape;1813;g60be7dcf1c_0_698">
            <a:extLst>
              <a:ext uri="{FF2B5EF4-FFF2-40B4-BE49-F238E27FC236}">
                <a16:creationId xmlns:a16="http://schemas.microsoft.com/office/drawing/2014/main" id="{701263CA-62BA-FBC2-606B-A79CACB8FC2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2713" y="3526492"/>
            <a:ext cx="1203169" cy="5633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4" name="Google Shape;1814;g60be7dcf1c_0_698">
            <a:extLst>
              <a:ext uri="{FF2B5EF4-FFF2-40B4-BE49-F238E27FC236}">
                <a16:creationId xmlns:a16="http://schemas.microsoft.com/office/drawing/2014/main" id="{E39B6E6F-D854-D32B-7E84-E384736C632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910888" y="3423313"/>
            <a:ext cx="1083375" cy="769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5" name="Google Shape;1815;g60be7dcf1c_0_698">
            <a:extLst>
              <a:ext uri="{FF2B5EF4-FFF2-40B4-BE49-F238E27FC236}">
                <a16:creationId xmlns:a16="http://schemas.microsoft.com/office/drawing/2014/main" id="{F35F144D-FD87-4BF2-C5FC-1B500B22DEF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79475" y="3388688"/>
            <a:ext cx="1680974" cy="804350"/>
          </a:xfrm>
          <a:prstGeom prst="rect">
            <a:avLst/>
          </a:prstGeom>
          <a:noFill/>
          <a:ln>
            <a:noFill/>
          </a:ln>
        </p:spPr>
      </p:pic>
      <p:sp>
        <p:nvSpPr>
          <p:cNvPr id="1816" name="Google Shape;1816;g60be7dcf1c_0_698">
            <a:extLst>
              <a:ext uri="{FF2B5EF4-FFF2-40B4-BE49-F238E27FC236}">
                <a16:creationId xmlns:a16="http://schemas.microsoft.com/office/drawing/2014/main" id="{A76D37CC-6228-8D4B-2ECA-AAA8828C34D9}"/>
              </a:ext>
            </a:extLst>
          </p:cNvPr>
          <p:cNvSpPr txBox="1"/>
          <p:nvPr/>
        </p:nvSpPr>
        <p:spPr>
          <a:xfrm>
            <a:off x="973074" y="2727575"/>
            <a:ext cx="1547213" cy="4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Traditional BST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(Worst-case coding)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17" name="Google Shape;1817;g60be7dcf1c_0_698">
            <a:extLst>
              <a:ext uri="{FF2B5EF4-FFF2-40B4-BE49-F238E27FC236}">
                <a16:creationId xmlns:a16="http://schemas.microsoft.com/office/drawing/2014/main" id="{0536AB22-BBB8-BF52-BFF9-9C0BA155D566}"/>
              </a:ext>
            </a:extLst>
          </p:cNvPr>
          <p:cNvSpPr txBox="1"/>
          <p:nvPr/>
        </p:nvSpPr>
        <p:spPr>
          <a:xfrm>
            <a:off x="2661349" y="2727575"/>
            <a:ext cx="1332913" cy="4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Demand-aware BST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(Huffman coding)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18" name="Google Shape;1818;g60be7dcf1c_0_698">
            <a:extLst>
              <a:ext uri="{FF2B5EF4-FFF2-40B4-BE49-F238E27FC236}">
                <a16:creationId xmlns:a16="http://schemas.microsoft.com/office/drawing/2014/main" id="{AC04AAD8-5D5F-01E4-4748-F98764A65B93}"/>
              </a:ext>
            </a:extLst>
          </p:cNvPr>
          <p:cNvSpPr/>
          <p:nvPr/>
        </p:nvSpPr>
        <p:spPr>
          <a:xfrm>
            <a:off x="4456575" y="3257150"/>
            <a:ext cx="2013600" cy="1048800"/>
          </a:xfrm>
          <a:prstGeom prst="rect">
            <a:avLst/>
          </a:prstGeom>
          <a:noFill/>
          <a:ln w="952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</p:txBody>
      </p:sp>
      <p:sp>
        <p:nvSpPr>
          <p:cNvPr id="1819" name="Google Shape;1819;g60be7dcf1c_0_698">
            <a:extLst>
              <a:ext uri="{FF2B5EF4-FFF2-40B4-BE49-F238E27FC236}">
                <a16:creationId xmlns:a16="http://schemas.microsoft.com/office/drawing/2014/main" id="{DF14F54B-609F-2E0B-155A-CB1A4DDCD297}"/>
              </a:ext>
            </a:extLst>
          </p:cNvPr>
          <p:cNvSpPr txBox="1"/>
          <p:nvPr/>
        </p:nvSpPr>
        <p:spPr>
          <a:xfrm>
            <a:off x="4349649" y="2727575"/>
            <a:ext cx="1910800" cy="4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Self-adjusting BST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(Dynamic Huffman coding)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25" name="Google Shape;1825;g60be7dcf1c_0_698">
            <a:extLst>
              <a:ext uri="{FF2B5EF4-FFF2-40B4-BE49-F238E27FC236}">
                <a16:creationId xmlns:a16="http://schemas.microsoft.com/office/drawing/2014/main" id="{87C3E938-97DA-69D6-996D-17C420654581}"/>
              </a:ext>
            </a:extLst>
          </p:cNvPr>
          <p:cNvSpPr/>
          <p:nvPr/>
        </p:nvSpPr>
        <p:spPr>
          <a:xfrm>
            <a:off x="1332676" y="4449900"/>
            <a:ext cx="4631396" cy="273900"/>
          </a:xfrm>
          <a:prstGeom prst="homePlate">
            <a:avLst>
              <a:gd name="adj" fmla="val 50000"/>
            </a:avLst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1826" name="Google Shape;1826;g60be7dcf1c_0_698">
            <a:extLst>
              <a:ext uri="{FF2B5EF4-FFF2-40B4-BE49-F238E27FC236}">
                <a16:creationId xmlns:a16="http://schemas.microsoft.com/office/drawing/2014/main" id="{7EF884B3-C32C-F714-9B58-02B90201A050}"/>
              </a:ext>
            </a:extLst>
          </p:cNvPr>
          <p:cNvSpPr txBox="1"/>
          <p:nvPr/>
        </p:nvSpPr>
        <p:spPr>
          <a:xfrm>
            <a:off x="1349147" y="4412825"/>
            <a:ext cx="4405659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GB" sz="1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More structure: improved </a:t>
            </a:r>
            <a:r>
              <a:rPr lang="en-GB" sz="1000" b="1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access cost </a:t>
            </a:r>
            <a:r>
              <a:rPr lang="en-GB" sz="1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 shorter </a:t>
            </a:r>
            <a:r>
              <a:rPr lang="en-GB" sz="1000" b="1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codes</a:t>
            </a:r>
          </a:p>
        </p:txBody>
      </p:sp>
      <p:sp>
        <p:nvSpPr>
          <p:cNvPr id="2" name="Rectangle 25">
            <a:extLst>
              <a:ext uri="{FF2B5EF4-FFF2-40B4-BE49-F238E27FC236}">
                <a16:creationId xmlns:a16="http://schemas.microsoft.com/office/drawing/2014/main" id="{67B94F03-DE59-D9C6-D641-15B1AFE7D1E6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E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7327295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5">
          <a:extLst>
            <a:ext uri="{FF2B5EF4-FFF2-40B4-BE49-F238E27FC236}">
              <a16:creationId xmlns:a16="http://schemas.microsoft.com/office/drawing/2014/main" id="{5FDA4231-2A53-B97B-C648-F53097AB0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7" name="Google Shape;1807;g60be7dcf1c_0_698">
            <a:extLst>
              <a:ext uri="{FF2B5EF4-FFF2-40B4-BE49-F238E27FC236}">
                <a16:creationId xmlns:a16="http://schemas.microsoft.com/office/drawing/2014/main" id="{3D8DCFB5-9EE1-9622-DED6-9A8A4D8683D9}"/>
              </a:ext>
            </a:extLst>
          </p:cNvPr>
          <p:cNvSpPr/>
          <p:nvPr/>
        </p:nvSpPr>
        <p:spPr>
          <a:xfrm>
            <a:off x="2768275" y="3257150"/>
            <a:ext cx="1368600" cy="1048800"/>
          </a:xfrm>
          <a:prstGeom prst="rect">
            <a:avLst/>
          </a:prstGeom>
          <a:noFill/>
          <a:ln w="952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</p:txBody>
      </p:sp>
      <p:sp>
        <p:nvSpPr>
          <p:cNvPr id="1808" name="Google Shape;1808;g60be7dcf1c_0_698">
            <a:extLst>
              <a:ext uri="{FF2B5EF4-FFF2-40B4-BE49-F238E27FC236}">
                <a16:creationId xmlns:a16="http://schemas.microsoft.com/office/drawing/2014/main" id="{7AB2D3BD-5873-122F-650A-8F6B95EFDCDC}"/>
              </a:ext>
            </a:extLst>
          </p:cNvPr>
          <p:cNvSpPr/>
          <p:nvPr/>
        </p:nvSpPr>
        <p:spPr>
          <a:xfrm>
            <a:off x="1080000" y="3257150"/>
            <a:ext cx="1368600" cy="1048800"/>
          </a:xfrm>
          <a:prstGeom prst="rect">
            <a:avLst/>
          </a:prstGeom>
          <a:noFill/>
          <a:ln w="952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</p:txBody>
      </p:sp>
      <p:sp>
        <p:nvSpPr>
          <p:cNvPr id="1809" name="Google Shape;1809;g60be7dcf1c_0_698">
            <a:extLst>
              <a:ext uri="{FF2B5EF4-FFF2-40B4-BE49-F238E27FC236}">
                <a16:creationId xmlns:a16="http://schemas.microsoft.com/office/drawing/2014/main" id="{60389B45-8E25-B2BF-1B9F-9BC24F2BE145}"/>
              </a:ext>
            </a:extLst>
          </p:cNvPr>
          <p:cNvSpPr txBox="1"/>
          <p:nvPr/>
        </p:nvSpPr>
        <p:spPr>
          <a:xfrm>
            <a:off x="0" y="540000"/>
            <a:ext cx="8211000" cy="181410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1810" name="Google Shape;1810;g60be7dcf1c_0_698">
            <a:extLst>
              <a:ext uri="{FF2B5EF4-FFF2-40B4-BE49-F238E27FC236}">
                <a16:creationId xmlns:a16="http://schemas.microsoft.com/office/drawing/2014/main" id="{D535C368-ADE4-182F-1543-BB21BD561F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3075" y="324175"/>
            <a:ext cx="8171100" cy="18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l">
              <a:buSzPts val="1100"/>
            </a:pPr>
            <a:r>
              <a:rPr lang="en-GB" sz="2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Insight:</a:t>
            </a:r>
            <a:br>
              <a:rPr lang="en-GB" sz="32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Connection to </a:t>
            </a:r>
            <a:b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4000" dirty="0" err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Datastructures</a:t>
            </a:r>
            <a: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&amp; Coding</a:t>
            </a:r>
          </a:p>
        </p:txBody>
      </p:sp>
      <p:pic>
        <p:nvPicPr>
          <p:cNvPr id="1813" name="Google Shape;1813;g60be7dcf1c_0_698">
            <a:extLst>
              <a:ext uri="{FF2B5EF4-FFF2-40B4-BE49-F238E27FC236}">
                <a16:creationId xmlns:a16="http://schemas.microsoft.com/office/drawing/2014/main" id="{85B22F6D-077F-D56E-2C02-AB3E5E857B7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2713" y="3526492"/>
            <a:ext cx="1203169" cy="5633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4" name="Google Shape;1814;g60be7dcf1c_0_698">
            <a:extLst>
              <a:ext uri="{FF2B5EF4-FFF2-40B4-BE49-F238E27FC236}">
                <a16:creationId xmlns:a16="http://schemas.microsoft.com/office/drawing/2014/main" id="{CC39BF75-1BC5-4E1C-3A20-46679F1F2BB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910888" y="3423313"/>
            <a:ext cx="1083375" cy="769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5" name="Google Shape;1815;g60be7dcf1c_0_698">
            <a:extLst>
              <a:ext uri="{FF2B5EF4-FFF2-40B4-BE49-F238E27FC236}">
                <a16:creationId xmlns:a16="http://schemas.microsoft.com/office/drawing/2014/main" id="{7A02A5E3-D599-F378-A93B-8B49AA0A0DA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79475" y="3388688"/>
            <a:ext cx="1680974" cy="804350"/>
          </a:xfrm>
          <a:prstGeom prst="rect">
            <a:avLst/>
          </a:prstGeom>
          <a:noFill/>
          <a:ln>
            <a:noFill/>
          </a:ln>
        </p:spPr>
      </p:pic>
      <p:sp>
        <p:nvSpPr>
          <p:cNvPr id="1816" name="Google Shape;1816;g60be7dcf1c_0_698">
            <a:extLst>
              <a:ext uri="{FF2B5EF4-FFF2-40B4-BE49-F238E27FC236}">
                <a16:creationId xmlns:a16="http://schemas.microsoft.com/office/drawing/2014/main" id="{E8A5C357-0A02-8ED5-2BCF-A81B8774CA1F}"/>
              </a:ext>
            </a:extLst>
          </p:cNvPr>
          <p:cNvSpPr txBox="1"/>
          <p:nvPr/>
        </p:nvSpPr>
        <p:spPr>
          <a:xfrm>
            <a:off x="973074" y="2727575"/>
            <a:ext cx="1547213" cy="4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Traditional BST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(Worst-case coding)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17" name="Google Shape;1817;g60be7dcf1c_0_698">
            <a:extLst>
              <a:ext uri="{FF2B5EF4-FFF2-40B4-BE49-F238E27FC236}">
                <a16:creationId xmlns:a16="http://schemas.microsoft.com/office/drawing/2014/main" id="{92F38BEB-2D53-42FF-8A4E-F160A5A403E3}"/>
              </a:ext>
            </a:extLst>
          </p:cNvPr>
          <p:cNvSpPr txBox="1"/>
          <p:nvPr/>
        </p:nvSpPr>
        <p:spPr>
          <a:xfrm>
            <a:off x="2661349" y="2727575"/>
            <a:ext cx="1332913" cy="4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Demand-aware BST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(Huffman coding)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18" name="Google Shape;1818;g60be7dcf1c_0_698">
            <a:extLst>
              <a:ext uri="{FF2B5EF4-FFF2-40B4-BE49-F238E27FC236}">
                <a16:creationId xmlns:a16="http://schemas.microsoft.com/office/drawing/2014/main" id="{629118B2-606C-C228-64FB-BC24B1D433F5}"/>
              </a:ext>
            </a:extLst>
          </p:cNvPr>
          <p:cNvSpPr/>
          <p:nvPr/>
        </p:nvSpPr>
        <p:spPr>
          <a:xfrm>
            <a:off x="4456575" y="3257150"/>
            <a:ext cx="2013600" cy="1048800"/>
          </a:xfrm>
          <a:prstGeom prst="rect">
            <a:avLst/>
          </a:prstGeom>
          <a:noFill/>
          <a:ln w="952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</p:txBody>
      </p:sp>
      <p:sp>
        <p:nvSpPr>
          <p:cNvPr id="1819" name="Google Shape;1819;g60be7dcf1c_0_698">
            <a:extLst>
              <a:ext uri="{FF2B5EF4-FFF2-40B4-BE49-F238E27FC236}">
                <a16:creationId xmlns:a16="http://schemas.microsoft.com/office/drawing/2014/main" id="{844F683C-0F18-ED0C-4D33-7265A22CF4E3}"/>
              </a:ext>
            </a:extLst>
          </p:cNvPr>
          <p:cNvSpPr txBox="1"/>
          <p:nvPr/>
        </p:nvSpPr>
        <p:spPr>
          <a:xfrm>
            <a:off x="4349649" y="2727575"/>
            <a:ext cx="1910800" cy="4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Self-adjusting BST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(Dynamic Huffman coding)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25" name="Google Shape;1825;g60be7dcf1c_0_698">
            <a:extLst>
              <a:ext uri="{FF2B5EF4-FFF2-40B4-BE49-F238E27FC236}">
                <a16:creationId xmlns:a16="http://schemas.microsoft.com/office/drawing/2014/main" id="{FE72E45B-8C81-401D-D36F-AC1A64A92CE3}"/>
              </a:ext>
            </a:extLst>
          </p:cNvPr>
          <p:cNvSpPr/>
          <p:nvPr/>
        </p:nvSpPr>
        <p:spPr>
          <a:xfrm>
            <a:off x="1332676" y="4449900"/>
            <a:ext cx="4631396" cy="273900"/>
          </a:xfrm>
          <a:prstGeom prst="homePlate">
            <a:avLst>
              <a:gd name="adj" fmla="val 50000"/>
            </a:avLst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1826" name="Google Shape;1826;g60be7dcf1c_0_698">
            <a:extLst>
              <a:ext uri="{FF2B5EF4-FFF2-40B4-BE49-F238E27FC236}">
                <a16:creationId xmlns:a16="http://schemas.microsoft.com/office/drawing/2014/main" id="{D0D56E14-AA58-B4C8-8691-297E5F6CAA2E}"/>
              </a:ext>
            </a:extLst>
          </p:cNvPr>
          <p:cNvSpPr txBox="1"/>
          <p:nvPr/>
        </p:nvSpPr>
        <p:spPr>
          <a:xfrm>
            <a:off x="1349147" y="4412825"/>
            <a:ext cx="4405659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GB" sz="1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More structure: improved </a:t>
            </a:r>
            <a:r>
              <a:rPr lang="en-GB" sz="1000" b="1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access cost </a:t>
            </a:r>
            <a:r>
              <a:rPr lang="en-GB" sz="1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 shorter </a:t>
            </a:r>
            <a:r>
              <a:rPr lang="en-GB" sz="1000" b="1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codes</a:t>
            </a:r>
          </a:p>
        </p:txBody>
      </p:sp>
      <p:sp>
        <p:nvSpPr>
          <p:cNvPr id="17" name="Google Shape;1806;g60be7dcf1c_0_698">
            <a:extLst>
              <a:ext uri="{FF2B5EF4-FFF2-40B4-BE49-F238E27FC236}">
                <a16:creationId xmlns:a16="http://schemas.microsoft.com/office/drawing/2014/main" id="{E51D8BC9-801D-693D-1264-A50952BF4F2C}"/>
              </a:ext>
            </a:extLst>
          </p:cNvPr>
          <p:cNvSpPr/>
          <p:nvPr/>
        </p:nvSpPr>
        <p:spPr>
          <a:xfrm>
            <a:off x="4456575" y="4867750"/>
            <a:ext cx="2013600" cy="1048800"/>
          </a:xfrm>
          <a:prstGeom prst="rect">
            <a:avLst/>
          </a:prstGeom>
          <a:noFill/>
          <a:ln w="952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</p:txBody>
      </p:sp>
      <p:sp>
        <p:nvSpPr>
          <p:cNvPr id="18" name="Google Shape;1820;g60be7dcf1c_0_698">
            <a:extLst>
              <a:ext uri="{FF2B5EF4-FFF2-40B4-BE49-F238E27FC236}">
                <a16:creationId xmlns:a16="http://schemas.microsoft.com/office/drawing/2014/main" id="{1207B9AA-0443-07AB-885E-105CB375187D}"/>
              </a:ext>
            </a:extLst>
          </p:cNvPr>
          <p:cNvSpPr/>
          <p:nvPr/>
        </p:nvSpPr>
        <p:spPr>
          <a:xfrm>
            <a:off x="2768275" y="4867750"/>
            <a:ext cx="1368600" cy="1048800"/>
          </a:xfrm>
          <a:prstGeom prst="rect">
            <a:avLst/>
          </a:prstGeom>
          <a:noFill/>
          <a:ln w="952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</p:txBody>
      </p:sp>
      <p:sp>
        <p:nvSpPr>
          <p:cNvPr id="19" name="Google Shape;1821;g60be7dcf1c_0_698">
            <a:extLst>
              <a:ext uri="{FF2B5EF4-FFF2-40B4-BE49-F238E27FC236}">
                <a16:creationId xmlns:a16="http://schemas.microsoft.com/office/drawing/2014/main" id="{849ECAF7-762C-0D23-9CC3-167F9E9E3A0F}"/>
              </a:ext>
            </a:extLst>
          </p:cNvPr>
          <p:cNvSpPr/>
          <p:nvPr/>
        </p:nvSpPr>
        <p:spPr>
          <a:xfrm>
            <a:off x="1080000" y="4867750"/>
            <a:ext cx="1368600" cy="1048800"/>
          </a:xfrm>
          <a:prstGeom prst="rect">
            <a:avLst/>
          </a:prstGeom>
          <a:noFill/>
          <a:ln w="952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</p:txBody>
      </p:sp>
      <p:pic>
        <p:nvPicPr>
          <p:cNvPr id="20" name="Google Shape;1822;g60be7dcf1c_0_698">
            <a:extLst>
              <a:ext uri="{FF2B5EF4-FFF2-40B4-BE49-F238E27FC236}">
                <a16:creationId xmlns:a16="http://schemas.microsoft.com/office/drawing/2014/main" id="{4C22CF4F-2E75-13FE-4943-AFE7FF06D4B2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332676" y="5007585"/>
            <a:ext cx="787772" cy="7691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1823;g60be7dcf1c_0_698">
            <a:extLst>
              <a:ext uri="{FF2B5EF4-FFF2-40B4-BE49-F238E27FC236}">
                <a16:creationId xmlns:a16="http://schemas.microsoft.com/office/drawing/2014/main" id="{B641FCD8-4C72-A452-3970-8809A6C16465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103674" y="5020213"/>
            <a:ext cx="649750" cy="74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1824;g60be7dcf1c_0_698">
            <a:extLst>
              <a:ext uri="{FF2B5EF4-FFF2-40B4-BE49-F238E27FC236}">
                <a16:creationId xmlns:a16="http://schemas.microsoft.com/office/drawing/2014/main" id="{E91DA337-6F6D-555A-7777-7B4C0C0EC7E7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820825" y="5009338"/>
            <a:ext cx="1290926" cy="805876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1827;g60be7dcf1c_0_698">
            <a:extLst>
              <a:ext uri="{FF2B5EF4-FFF2-40B4-BE49-F238E27FC236}">
                <a16:creationId xmlns:a16="http://schemas.microsoft.com/office/drawing/2014/main" id="{6C8950E7-CFDE-B413-AA19-DF3B831634B0}"/>
              </a:ext>
            </a:extLst>
          </p:cNvPr>
          <p:cNvSpPr/>
          <p:nvPr/>
        </p:nvSpPr>
        <p:spPr>
          <a:xfrm>
            <a:off x="2520286" y="6055000"/>
            <a:ext cx="2097207" cy="273900"/>
          </a:xfrm>
          <a:prstGeom prst="homePlate">
            <a:avLst>
              <a:gd name="adj" fmla="val 50000"/>
            </a:avLst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24" name="Google Shape;1828;g60be7dcf1c_0_698">
            <a:extLst>
              <a:ext uri="{FF2B5EF4-FFF2-40B4-BE49-F238E27FC236}">
                <a16:creationId xmlns:a16="http://schemas.microsoft.com/office/drawing/2014/main" id="{7A7C7F31-E6D2-FFFA-F86C-F6FE694D5418}"/>
              </a:ext>
            </a:extLst>
          </p:cNvPr>
          <p:cNvSpPr txBox="1"/>
          <p:nvPr/>
        </p:nvSpPr>
        <p:spPr>
          <a:xfrm>
            <a:off x="2768274" y="6013364"/>
            <a:ext cx="4116063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Similar </a:t>
            </a:r>
            <a:r>
              <a:rPr lang="en-GB" sz="1000" b="1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benefits</a:t>
            </a:r>
            <a:r>
              <a:rPr lang="en-GB" sz="1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?</a:t>
            </a:r>
          </a:p>
        </p:txBody>
      </p:sp>
      <p:sp>
        <p:nvSpPr>
          <p:cNvPr id="2" name="Rectangle 25">
            <a:extLst>
              <a:ext uri="{FF2B5EF4-FFF2-40B4-BE49-F238E27FC236}">
                <a16:creationId xmlns:a16="http://schemas.microsoft.com/office/drawing/2014/main" id="{1AF1FE82-5C4B-E436-ADAA-064F6E8E4766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E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6800182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5">
          <a:extLst>
            <a:ext uri="{FF2B5EF4-FFF2-40B4-BE49-F238E27FC236}">
              <a16:creationId xmlns:a16="http://schemas.microsoft.com/office/drawing/2014/main" id="{EFB9C674-BAE6-FF4F-8137-2A516C1C6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7" name="Google Shape;1807;g60be7dcf1c_0_698">
            <a:extLst>
              <a:ext uri="{FF2B5EF4-FFF2-40B4-BE49-F238E27FC236}">
                <a16:creationId xmlns:a16="http://schemas.microsoft.com/office/drawing/2014/main" id="{4B193217-3394-8202-63CF-F2BBAABC44C3}"/>
              </a:ext>
            </a:extLst>
          </p:cNvPr>
          <p:cNvSpPr/>
          <p:nvPr/>
        </p:nvSpPr>
        <p:spPr>
          <a:xfrm>
            <a:off x="2768275" y="3257150"/>
            <a:ext cx="1368600" cy="1048800"/>
          </a:xfrm>
          <a:prstGeom prst="rect">
            <a:avLst/>
          </a:prstGeom>
          <a:noFill/>
          <a:ln w="952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</p:txBody>
      </p:sp>
      <p:sp>
        <p:nvSpPr>
          <p:cNvPr id="1808" name="Google Shape;1808;g60be7dcf1c_0_698">
            <a:extLst>
              <a:ext uri="{FF2B5EF4-FFF2-40B4-BE49-F238E27FC236}">
                <a16:creationId xmlns:a16="http://schemas.microsoft.com/office/drawing/2014/main" id="{527449BC-C24A-F2F5-FD15-FFC4597E758D}"/>
              </a:ext>
            </a:extLst>
          </p:cNvPr>
          <p:cNvSpPr/>
          <p:nvPr/>
        </p:nvSpPr>
        <p:spPr>
          <a:xfrm>
            <a:off x="1080000" y="3257150"/>
            <a:ext cx="1368600" cy="1048800"/>
          </a:xfrm>
          <a:prstGeom prst="rect">
            <a:avLst/>
          </a:prstGeom>
          <a:noFill/>
          <a:ln w="952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</p:txBody>
      </p:sp>
      <p:sp>
        <p:nvSpPr>
          <p:cNvPr id="1809" name="Google Shape;1809;g60be7dcf1c_0_698">
            <a:extLst>
              <a:ext uri="{FF2B5EF4-FFF2-40B4-BE49-F238E27FC236}">
                <a16:creationId xmlns:a16="http://schemas.microsoft.com/office/drawing/2014/main" id="{341E5ED4-548E-D204-A8BA-85343AE0FBEE}"/>
              </a:ext>
            </a:extLst>
          </p:cNvPr>
          <p:cNvSpPr txBox="1"/>
          <p:nvPr/>
        </p:nvSpPr>
        <p:spPr>
          <a:xfrm>
            <a:off x="0" y="540000"/>
            <a:ext cx="8211000" cy="181410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1810" name="Google Shape;1810;g60be7dcf1c_0_698">
            <a:extLst>
              <a:ext uri="{FF2B5EF4-FFF2-40B4-BE49-F238E27FC236}">
                <a16:creationId xmlns:a16="http://schemas.microsoft.com/office/drawing/2014/main" id="{635CC3A1-4769-DE55-A9EF-C46D6F0099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3075" y="324175"/>
            <a:ext cx="8171100" cy="18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l">
              <a:buSzPts val="1100"/>
            </a:pPr>
            <a:r>
              <a:rPr lang="en-GB" sz="2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Insight:</a:t>
            </a:r>
            <a:br>
              <a:rPr lang="en-GB" sz="32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Connection to </a:t>
            </a:r>
            <a:b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4000" dirty="0" err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Datastructures</a:t>
            </a:r>
            <a: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&amp; Coding</a:t>
            </a:r>
          </a:p>
        </p:txBody>
      </p:sp>
      <p:pic>
        <p:nvPicPr>
          <p:cNvPr id="1813" name="Google Shape;1813;g60be7dcf1c_0_698">
            <a:extLst>
              <a:ext uri="{FF2B5EF4-FFF2-40B4-BE49-F238E27FC236}">
                <a16:creationId xmlns:a16="http://schemas.microsoft.com/office/drawing/2014/main" id="{D992646D-D916-3253-1768-F7F2C5011AC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2713" y="3526492"/>
            <a:ext cx="1203169" cy="5633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4" name="Google Shape;1814;g60be7dcf1c_0_698">
            <a:extLst>
              <a:ext uri="{FF2B5EF4-FFF2-40B4-BE49-F238E27FC236}">
                <a16:creationId xmlns:a16="http://schemas.microsoft.com/office/drawing/2014/main" id="{B5778063-24C3-78A6-67F5-A68C0F81006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910888" y="3423313"/>
            <a:ext cx="1083375" cy="769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5" name="Google Shape;1815;g60be7dcf1c_0_698">
            <a:extLst>
              <a:ext uri="{FF2B5EF4-FFF2-40B4-BE49-F238E27FC236}">
                <a16:creationId xmlns:a16="http://schemas.microsoft.com/office/drawing/2014/main" id="{C045D40E-F83A-031C-B729-4BD68D711560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79475" y="3388688"/>
            <a:ext cx="1680974" cy="804350"/>
          </a:xfrm>
          <a:prstGeom prst="rect">
            <a:avLst/>
          </a:prstGeom>
          <a:noFill/>
          <a:ln>
            <a:noFill/>
          </a:ln>
        </p:spPr>
      </p:pic>
      <p:sp>
        <p:nvSpPr>
          <p:cNvPr id="1816" name="Google Shape;1816;g60be7dcf1c_0_698">
            <a:extLst>
              <a:ext uri="{FF2B5EF4-FFF2-40B4-BE49-F238E27FC236}">
                <a16:creationId xmlns:a16="http://schemas.microsoft.com/office/drawing/2014/main" id="{4B34CEAD-06D5-94A5-C72D-EC5B8DB87966}"/>
              </a:ext>
            </a:extLst>
          </p:cNvPr>
          <p:cNvSpPr txBox="1"/>
          <p:nvPr/>
        </p:nvSpPr>
        <p:spPr>
          <a:xfrm>
            <a:off x="973074" y="2727575"/>
            <a:ext cx="1547213" cy="4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Traditional BST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(Worst-case coding)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17" name="Google Shape;1817;g60be7dcf1c_0_698">
            <a:extLst>
              <a:ext uri="{FF2B5EF4-FFF2-40B4-BE49-F238E27FC236}">
                <a16:creationId xmlns:a16="http://schemas.microsoft.com/office/drawing/2014/main" id="{9D87E38C-E05A-3E02-BBD1-7370BA8D9EA3}"/>
              </a:ext>
            </a:extLst>
          </p:cNvPr>
          <p:cNvSpPr txBox="1"/>
          <p:nvPr/>
        </p:nvSpPr>
        <p:spPr>
          <a:xfrm>
            <a:off x="2661349" y="2727575"/>
            <a:ext cx="1332913" cy="4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Demand-aware BST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(Huffman coding)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18" name="Google Shape;1818;g60be7dcf1c_0_698">
            <a:extLst>
              <a:ext uri="{FF2B5EF4-FFF2-40B4-BE49-F238E27FC236}">
                <a16:creationId xmlns:a16="http://schemas.microsoft.com/office/drawing/2014/main" id="{B849FE46-A39D-74E0-566D-2D9144F006E6}"/>
              </a:ext>
            </a:extLst>
          </p:cNvPr>
          <p:cNvSpPr/>
          <p:nvPr/>
        </p:nvSpPr>
        <p:spPr>
          <a:xfrm>
            <a:off x="4456575" y="3257150"/>
            <a:ext cx="2013600" cy="1048800"/>
          </a:xfrm>
          <a:prstGeom prst="rect">
            <a:avLst/>
          </a:prstGeom>
          <a:noFill/>
          <a:ln w="952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</p:txBody>
      </p:sp>
      <p:sp>
        <p:nvSpPr>
          <p:cNvPr id="1819" name="Google Shape;1819;g60be7dcf1c_0_698">
            <a:extLst>
              <a:ext uri="{FF2B5EF4-FFF2-40B4-BE49-F238E27FC236}">
                <a16:creationId xmlns:a16="http://schemas.microsoft.com/office/drawing/2014/main" id="{937AE084-DA01-05A6-09AD-20FB17810215}"/>
              </a:ext>
            </a:extLst>
          </p:cNvPr>
          <p:cNvSpPr txBox="1"/>
          <p:nvPr/>
        </p:nvSpPr>
        <p:spPr>
          <a:xfrm>
            <a:off x="4349649" y="2727575"/>
            <a:ext cx="1910800" cy="4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Self-adjusting BST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(Dynamic Huffman coding)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25" name="Google Shape;1825;g60be7dcf1c_0_698">
            <a:extLst>
              <a:ext uri="{FF2B5EF4-FFF2-40B4-BE49-F238E27FC236}">
                <a16:creationId xmlns:a16="http://schemas.microsoft.com/office/drawing/2014/main" id="{3C37278E-6344-C392-0CCB-4302AB0085E1}"/>
              </a:ext>
            </a:extLst>
          </p:cNvPr>
          <p:cNvSpPr/>
          <p:nvPr/>
        </p:nvSpPr>
        <p:spPr>
          <a:xfrm>
            <a:off x="1332676" y="4449900"/>
            <a:ext cx="4631396" cy="273900"/>
          </a:xfrm>
          <a:prstGeom prst="homePlate">
            <a:avLst>
              <a:gd name="adj" fmla="val 50000"/>
            </a:avLst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1826" name="Google Shape;1826;g60be7dcf1c_0_698">
            <a:extLst>
              <a:ext uri="{FF2B5EF4-FFF2-40B4-BE49-F238E27FC236}">
                <a16:creationId xmlns:a16="http://schemas.microsoft.com/office/drawing/2014/main" id="{6E3D5C73-39D2-38CA-0B23-FB0A603E0914}"/>
              </a:ext>
            </a:extLst>
          </p:cNvPr>
          <p:cNvSpPr txBox="1"/>
          <p:nvPr/>
        </p:nvSpPr>
        <p:spPr>
          <a:xfrm>
            <a:off x="1349147" y="4412825"/>
            <a:ext cx="4405659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GB" sz="1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More structure: improved </a:t>
            </a:r>
            <a:r>
              <a:rPr lang="en-GB" sz="1000" b="1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access cost </a:t>
            </a:r>
            <a:r>
              <a:rPr lang="en-GB" sz="1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 shorter </a:t>
            </a:r>
            <a:r>
              <a:rPr lang="en-GB" sz="1000" b="1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codes</a:t>
            </a:r>
          </a:p>
        </p:txBody>
      </p:sp>
      <p:sp>
        <p:nvSpPr>
          <p:cNvPr id="17" name="Google Shape;1806;g60be7dcf1c_0_698">
            <a:extLst>
              <a:ext uri="{FF2B5EF4-FFF2-40B4-BE49-F238E27FC236}">
                <a16:creationId xmlns:a16="http://schemas.microsoft.com/office/drawing/2014/main" id="{9F79A0DA-DDE6-A7E4-77E3-A60C79878F6E}"/>
              </a:ext>
            </a:extLst>
          </p:cNvPr>
          <p:cNvSpPr/>
          <p:nvPr/>
        </p:nvSpPr>
        <p:spPr>
          <a:xfrm>
            <a:off x="4456575" y="4867750"/>
            <a:ext cx="2013600" cy="1048800"/>
          </a:xfrm>
          <a:prstGeom prst="rect">
            <a:avLst/>
          </a:prstGeom>
          <a:noFill/>
          <a:ln w="952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</p:txBody>
      </p:sp>
      <p:sp>
        <p:nvSpPr>
          <p:cNvPr id="18" name="Google Shape;1820;g60be7dcf1c_0_698">
            <a:extLst>
              <a:ext uri="{FF2B5EF4-FFF2-40B4-BE49-F238E27FC236}">
                <a16:creationId xmlns:a16="http://schemas.microsoft.com/office/drawing/2014/main" id="{A8A93FF7-524A-2AFA-9E6B-F03A4074745E}"/>
              </a:ext>
            </a:extLst>
          </p:cNvPr>
          <p:cNvSpPr/>
          <p:nvPr/>
        </p:nvSpPr>
        <p:spPr>
          <a:xfrm>
            <a:off x="2768275" y="4867750"/>
            <a:ext cx="1368600" cy="1048800"/>
          </a:xfrm>
          <a:prstGeom prst="rect">
            <a:avLst/>
          </a:prstGeom>
          <a:noFill/>
          <a:ln w="952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</p:txBody>
      </p:sp>
      <p:sp>
        <p:nvSpPr>
          <p:cNvPr id="19" name="Google Shape;1821;g60be7dcf1c_0_698">
            <a:extLst>
              <a:ext uri="{FF2B5EF4-FFF2-40B4-BE49-F238E27FC236}">
                <a16:creationId xmlns:a16="http://schemas.microsoft.com/office/drawing/2014/main" id="{30017637-8A22-6B7B-4449-D97B83987E54}"/>
              </a:ext>
            </a:extLst>
          </p:cNvPr>
          <p:cNvSpPr/>
          <p:nvPr/>
        </p:nvSpPr>
        <p:spPr>
          <a:xfrm>
            <a:off x="1080000" y="4867750"/>
            <a:ext cx="1368600" cy="1048800"/>
          </a:xfrm>
          <a:prstGeom prst="rect">
            <a:avLst/>
          </a:prstGeom>
          <a:noFill/>
          <a:ln w="952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</p:txBody>
      </p:sp>
      <p:pic>
        <p:nvPicPr>
          <p:cNvPr id="20" name="Google Shape;1822;g60be7dcf1c_0_698">
            <a:extLst>
              <a:ext uri="{FF2B5EF4-FFF2-40B4-BE49-F238E27FC236}">
                <a16:creationId xmlns:a16="http://schemas.microsoft.com/office/drawing/2014/main" id="{3C903149-EB2D-3E68-058F-9E519DA77010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332676" y="5007585"/>
            <a:ext cx="787772" cy="7691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1823;g60be7dcf1c_0_698">
            <a:extLst>
              <a:ext uri="{FF2B5EF4-FFF2-40B4-BE49-F238E27FC236}">
                <a16:creationId xmlns:a16="http://schemas.microsoft.com/office/drawing/2014/main" id="{F49278A1-D213-2956-1275-389CB3201A82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103674" y="5020213"/>
            <a:ext cx="649750" cy="74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1824;g60be7dcf1c_0_698">
            <a:extLst>
              <a:ext uri="{FF2B5EF4-FFF2-40B4-BE49-F238E27FC236}">
                <a16:creationId xmlns:a16="http://schemas.microsoft.com/office/drawing/2014/main" id="{C2280794-50F0-2903-5686-45EDC3CB72E8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820825" y="5009338"/>
            <a:ext cx="1290926" cy="805876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1829;g60be7dcf1c_0_698">
            <a:extLst>
              <a:ext uri="{FF2B5EF4-FFF2-40B4-BE49-F238E27FC236}">
                <a16:creationId xmlns:a16="http://schemas.microsoft.com/office/drawing/2014/main" id="{A7F30B1F-1842-53E2-A9DD-640CD4D62A44}"/>
              </a:ext>
            </a:extLst>
          </p:cNvPr>
          <p:cNvSpPr txBox="1"/>
          <p:nvPr/>
        </p:nvSpPr>
        <p:spPr>
          <a:xfrm>
            <a:off x="7160526" y="2828992"/>
            <a:ext cx="1515181" cy="675900"/>
          </a:xfrm>
          <a:prstGeom prst="rect">
            <a:avLst/>
          </a:prstGeom>
          <a:solidFill>
            <a:srgbClr val="93C47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31" name="Google Shape;1830;g60be7dcf1c_0_698">
            <a:extLst>
              <a:ext uri="{FF2B5EF4-FFF2-40B4-BE49-F238E27FC236}">
                <a16:creationId xmlns:a16="http://schemas.microsoft.com/office/drawing/2014/main" id="{E71F5B79-9DE7-5BBF-B512-5CD677B964B9}"/>
              </a:ext>
            </a:extLst>
          </p:cNvPr>
          <p:cNvSpPr txBox="1"/>
          <p:nvPr/>
        </p:nvSpPr>
        <p:spPr>
          <a:xfrm>
            <a:off x="7181646" y="2879167"/>
            <a:ext cx="2303700" cy="7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More than 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an analogy!</a:t>
            </a:r>
            <a:endParaRPr lang="en-GB" sz="1200" dirty="0">
              <a:solidFill>
                <a:srgbClr val="CC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" name="Google Shape;1827;g60be7dcf1c_0_698">
            <a:extLst>
              <a:ext uri="{FF2B5EF4-FFF2-40B4-BE49-F238E27FC236}">
                <a16:creationId xmlns:a16="http://schemas.microsoft.com/office/drawing/2014/main" id="{567DD0C8-551A-7FA0-56C6-02626846BCA8}"/>
              </a:ext>
            </a:extLst>
          </p:cNvPr>
          <p:cNvSpPr/>
          <p:nvPr/>
        </p:nvSpPr>
        <p:spPr>
          <a:xfrm>
            <a:off x="2520286" y="6055000"/>
            <a:ext cx="2097207" cy="273900"/>
          </a:xfrm>
          <a:prstGeom prst="homePlate">
            <a:avLst>
              <a:gd name="adj" fmla="val 50000"/>
            </a:avLst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29" name="Google Shape;1828;g60be7dcf1c_0_698">
            <a:extLst>
              <a:ext uri="{FF2B5EF4-FFF2-40B4-BE49-F238E27FC236}">
                <a16:creationId xmlns:a16="http://schemas.microsoft.com/office/drawing/2014/main" id="{0F13E257-555B-240C-EA59-C719AF1166F2}"/>
              </a:ext>
            </a:extLst>
          </p:cNvPr>
          <p:cNvSpPr txBox="1"/>
          <p:nvPr/>
        </p:nvSpPr>
        <p:spPr>
          <a:xfrm>
            <a:off x="2768274" y="6013364"/>
            <a:ext cx="4116063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Similar </a:t>
            </a:r>
            <a:r>
              <a:rPr lang="en-GB" sz="1000" b="1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benefits</a:t>
            </a:r>
            <a:r>
              <a:rPr lang="en-GB" sz="1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?</a:t>
            </a:r>
          </a:p>
        </p:txBody>
      </p:sp>
      <p:sp>
        <p:nvSpPr>
          <p:cNvPr id="2" name="Rectangle 25">
            <a:extLst>
              <a:ext uri="{FF2B5EF4-FFF2-40B4-BE49-F238E27FC236}">
                <a16:creationId xmlns:a16="http://schemas.microsoft.com/office/drawing/2014/main" id="{EA50A783-40F1-AC89-5316-2E87497EF3D1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E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2082288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5">
          <a:extLst>
            <a:ext uri="{FF2B5EF4-FFF2-40B4-BE49-F238E27FC236}">
              <a16:creationId xmlns:a16="http://schemas.microsoft.com/office/drawing/2014/main" id="{C39A4701-E70D-3BA1-D746-7618E6EDB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7" name="Google Shape;1807;g60be7dcf1c_0_698">
            <a:extLst>
              <a:ext uri="{FF2B5EF4-FFF2-40B4-BE49-F238E27FC236}">
                <a16:creationId xmlns:a16="http://schemas.microsoft.com/office/drawing/2014/main" id="{FFE86ECB-F32B-7A8C-03D0-653EA3091DE9}"/>
              </a:ext>
            </a:extLst>
          </p:cNvPr>
          <p:cNvSpPr/>
          <p:nvPr/>
        </p:nvSpPr>
        <p:spPr>
          <a:xfrm>
            <a:off x="2768275" y="3257150"/>
            <a:ext cx="1368600" cy="1048800"/>
          </a:xfrm>
          <a:prstGeom prst="rect">
            <a:avLst/>
          </a:prstGeom>
          <a:noFill/>
          <a:ln w="952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</p:txBody>
      </p:sp>
      <p:sp>
        <p:nvSpPr>
          <p:cNvPr id="1808" name="Google Shape;1808;g60be7dcf1c_0_698">
            <a:extLst>
              <a:ext uri="{FF2B5EF4-FFF2-40B4-BE49-F238E27FC236}">
                <a16:creationId xmlns:a16="http://schemas.microsoft.com/office/drawing/2014/main" id="{DF548429-045A-6F98-BE64-77DB7DF6FFA8}"/>
              </a:ext>
            </a:extLst>
          </p:cNvPr>
          <p:cNvSpPr/>
          <p:nvPr/>
        </p:nvSpPr>
        <p:spPr>
          <a:xfrm>
            <a:off x="1080000" y="3257150"/>
            <a:ext cx="1368600" cy="1048800"/>
          </a:xfrm>
          <a:prstGeom prst="rect">
            <a:avLst/>
          </a:prstGeom>
          <a:noFill/>
          <a:ln w="952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</p:txBody>
      </p:sp>
      <p:sp>
        <p:nvSpPr>
          <p:cNvPr id="1809" name="Google Shape;1809;g60be7dcf1c_0_698">
            <a:extLst>
              <a:ext uri="{FF2B5EF4-FFF2-40B4-BE49-F238E27FC236}">
                <a16:creationId xmlns:a16="http://schemas.microsoft.com/office/drawing/2014/main" id="{4B5F5718-DE96-84A4-C55D-8A789B548F24}"/>
              </a:ext>
            </a:extLst>
          </p:cNvPr>
          <p:cNvSpPr txBox="1"/>
          <p:nvPr/>
        </p:nvSpPr>
        <p:spPr>
          <a:xfrm>
            <a:off x="0" y="540000"/>
            <a:ext cx="8211000" cy="181410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1810" name="Google Shape;1810;g60be7dcf1c_0_698">
            <a:extLst>
              <a:ext uri="{FF2B5EF4-FFF2-40B4-BE49-F238E27FC236}">
                <a16:creationId xmlns:a16="http://schemas.microsoft.com/office/drawing/2014/main" id="{6B9250B8-B039-3F5D-A5C3-DCC0033EF3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3075" y="324175"/>
            <a:ext cx="8171100" cy="18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l">
              <a:buSzPts val="1100"/>
            </a:pPr>
            <a:r>
              <a:rPr lang="en-GB" sz="2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Insight:</a:t>
            </a:r>
            <a:br>
              <a:rPr lang="en-GB" sz="32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Connection to </a:t>
            </a:r>
            <a:b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4000" dirty="0" err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Datastructures</a:t>
            </a:r>
            <a: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&amp; Coding</a:t>
            </a:r>
          </a:p>
        </p:txBody>
      </p:sp>
      <p:pic>
        <p:nvPicPr>
          <p:cNvPr id="1813" name="Google Shape;1813;g60be7dcf1c_0_698">
            <a:extLst>
              <a:ext uri="{FF2B5EF4-FFF2-40B4-BE49-F238E27FC236}">
                <a16:creationId xmlns:a16="http://schemas.microsoft.com/office/drawing/2014/main" id="{315F534A-7AD7-49A0-CBBF-39CAFDC5EF8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2713" y="3526492"/>
            <a:ext cx="1203169" cy="5633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4" name="Google Shape;1814;g60be7dcf1c_0_698">
            <a:extLst>
              <a:ext uri="{FF2B5EF4-FFF2-40B4-BE49-F238E27FC236}">
                <a16:creationId xmlns:a16="http://schemas.microsoft.com/office/drawing/2014/main" id="{4A5B323B-BA70-C89C-CC23-EC191B2D5BB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910888" y="3423313"/>
            <a:ext cx="1083375" cy="769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5" name="Google Shape;1815;g60be7dcf1c_0_698">
            <a:extLst>
              <a:ext uri="{FF2B5EF4-FFF2-40B4-BE49-F238E27FC236}">
                <a16:creationId xmlns:a16="http://schemas.microsoft.com/office/drawing/2014/main" id="{D176347F-D65B-F8FE-9F04-D8226D6ADE6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79475" y="3388688"/>
            <a:ext cx="1680974" cy="804350"/>
          </a:xfrm>
          <a:prstGeom prst="rect">
            <a:avLst/>
          </a:prstGeom>
          <a:noFill/>
          <a:ln>
            <a:noFill/>
          </a:ln>
        </p:spPr>
      </p:pic>
      <p:sp>
        <p:nvSpPr>
          <p:cNvPr id="1816" name="Google Shape;1816;g60be7dcf1c_0_698">
            <a:extLst>
              <a:ext uri="{FF2B5EF4-FFF2-40B4-BE49-F238E27FC236}">
                <a16:creationId xmlns:a16="http://schemas.microsoft.com/office/drawing/2014/main" id="{EC5E0772-A1C4-D36A-137F-A0DCEF519E2F}"/>
              </a:ext>
            </a:extLst>
          </p:cNvPr>
          <p:cNvSpPr txBox="1"/>
          <p:nvPr/>
        </p:nvSpPr>
        <p:spPr>
          <a:xfrm>
            <a:off x="973074" y="2727575"/>
            <a:ext cx="1547213" cy="4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Traditional BST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(Worst-case coding)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17" name="Google Shape;1817;g60be7dcf1c_0_698">
            <a:extLst>
              <a:ext uri="{FF2B5EF4-FFF2-40B4-BE49-F238E27FC236}">
                <a16:creationId xmlns:a16="http://schemas.microsoft.com/office/drawing/2014/main" id="{1C21314A-4124-0B7E-F3F0-DBF72B69FD86}"/>
              </a:ext>
            </a:extLst>
          </p:cNvPr>
          <p:cNvSpPr txBox="1"/>
          <p:nvPr/>
        </p:nvSpPr>
        <p:spPr>
          <a:xfrm>
            <a:off x="2661349" y="2727575"/>
            <a:ext cx="1332913" cy="4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Demand-aware BST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(Huffman coding)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18" name="Google Shape;1818;g60be7dcf1c_0_698">
            <a:extLst>
              <a:ext uri="{FF2B5EF4-FFF2-40B4-BE49-F238E27FC236}">
                <a16:creationId xmlns:a16="http://schemas.microsoft.com/office/drawing/2014/main" id="{DA4A92D2-B2F5-42F6-0756-9F2745E61C4D}"/>
              </a:ext>
            </a:extLst>
          </p:cNvPr>
          <p:cNvSpPr/>
          <p:nvPr/>
        </p:nvSpPr>
        <p:spPr>
          <a:xfrm>
            <a:off x="4456575" y="3257150"/>
            <a:ext cx="2013600" cy="1048800"/>
          </a:xfrm>
          <a:prstGeom prst="rect">
            <a:avLst/>
          </a:prstGeom>
          <a:noFill/>
          <a:ln w="952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</p:txBody>
      </p:sp>
      <p:sp>
        <p:nvSpPr>
          <p:cNvPr id="1819" name="Google Shape;1819;g60be7dcf1c_0_698">
            <a:extLst>
              <a:ext uri="{FF2B5EF4-FFF2-40B4-BE49-F238E27FC236}">
                <a16:creationId xmlns:a16="http://schemas.microsoft.com/office/drawing/2014/main" id="{1684F35B-C21B-33B9-03DD-7CEA7D79A17B}"/>
              </a:ext>
            </a:extLst>
          </p:cNvPr>
          <p:cNvSpPr txBox="1"/>
          <p:nvPr/>
        </p:nvSpPr>
        <p:spPr>
          <a:xfrm>
            <a:off x="4349649" y="2727575"/>
            <a:ext cx="1910800" cy="4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Self-adjusting BST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(Dynamic Huffman coding)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" name="Google Shape;1806;g60be7dcf1c_0_698">
            <a:extLst>
              <a:ext uri="{FF2B5EF4-FFF2-40B4-BE49-F238E27FC236}">
                <a16:creationId xmlns:a16="http://schemas.microsoft.com/office/drawing/2014/main" id="{9361DCFC-CFAE-2A21-684B-75C1C65E5054}"/>
              </a:ext>
            </a:extLst>
          </p:cNvPr>
          <p:cNvSpPr/>
          <p:nvPr/>
        </p:nvSpPr>
        <p:spPr>
          <a:xfrm>
            <a:off x="4456575" y="4867750"/>
            <a:ext cx="2013600" cy="1048800"/>
          </a:xfrm>
          <a:prstGeom prst="rect">
            <a:avLst/>
          </a:prstGeom>
          <a:noFill/>
          <a:ln w="952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</p:txBody>
      </p:sp>
      <p:sp>
        <p:nvSpPr>
          <p:cNvPr id="18" name="Google Shape;1820;g60be7dcf1c_0_698">
            <a:extLst>
              <a:ext uri="{FF2B5EF4-FFF2-40B4-BE49-F238E27FC236}">
                <a16:creationId xmlns:a16="http://schemas.microsoft.com/office/drawing/2014/main" id="{D8D13658-5AFD-2F51-7406-EB08D354A975}"/>
              </a:ext>
            </a:extLst>
          </p:cNvPr>
          <p:cNvSpPr/>
          <p:nvPr/>
        </p:nvSpPr>
        <p:spPr>
          <a:xfrm>
            <a:off x="2768275" y="4867750"/>
            <a:ext cx="1368600" cy="1048800"/>
          </a:xfrm>
          <a:prstGeom prst="rect">
            <a:avLst/>
          </a:prstGeom>
          <a:noFill/>
          <a:ln w="952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</p:txBody>
      </p:sp>
      <p:sp>
        <p:nvSpPr>
          <p:cNvPr id="19" name="Google Shape;1821;g60be7dcf1c_0_698">
            <a:extLst>
              <a:ext uri="{FF2B5EF4-FFF2-40B4-BE49-F238E27FC236}">
                <a16:creationId xmlns:a16="http://schemas.microsoft.com/office/drawing/2014/main" id="{12C0C6C7-B090-C1E3-FFBE-E307A8BD9EB7}"/>
              </a:ext>
            </a:extLst>
          </p:cNvPr>
          <p:cNvSpPr/>
          <p:nvPr/>
        </p:nvSpPr>
        <p:spPr>
          <a:xfrm>
            <a:off x="1080000" y="4867750"/>
            <a:ext cx="1368600" cy="1048800"/>
          </a:xfrm>
          <a:prstGeom prst="rect">
            <a:avLst/>
          </a:prstGeom>
          <a:noFill/>
          <a:ln w="952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</p:txBody>
      </p:sp>
      <p:pic>
        <p:nvPicPr>
          <p:cNvPr id="20" name="Google Shape;1822;g60be7dcf1c_0_698">
            <a:extLst>
              <a:ext uri="{FF2B5EF4-FFF2-40B4-BE49-F238E27FC236}">
                <a16:creationId xmlns:a16="http://schemas.microsoft.com/office/drawing/2014/main" id="{81E722A3-9A1F-466B-2ABE-C4C9218A9AEE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332676" y="5007585"/>
            <a:ext cx="787772" cy="7691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1823;g60be7dcf1c_0_698">
            <a:extLst>
              <a:ext uri="{FF2B5EF4-FFF2-40B4-BE49-F238E27FC236}">
                <a16:creationId xmlns:a16="http://schemas.microsoft.com/office/drawing/2014/main" id="{E56FD4B5-3C7B-555F-A60A-C1961A7E5687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103674" y="5020213"/>
            <a:ext cx="649750" cy="74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1824;g60be7dcf1c_0_698">
            <a:extLst>
              <a:ext uri="{FF2B5EF4-FFF2-40B4-BE49-F238E27FC236}">
                <a16:creationId xmlns:a16="http://schemas.microsoft.com/office/drawing/2014/main" id="{9CAF0E8B-2683-EE91-EE24-589212C67C65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820825" y="5009338"/>
            <a:ext cx="1290926" cy="805876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1829;g60be7dcf1c_0_698">
            <a:extLst>
              <a:ext uri="{FF2B5EF4-FFF2-40B4-BE49-F238E27FC236}">
                <a16:creationId xmlns:a16="http://schemas.microsoft.com/office/drawing/2014/main" id="{E38F42D0-9E50-2C30-6208-7E26753F4216}"/>
              </a:ext>
            </a:extLst>
          </p:cNvPr>
          <p:cNvSpPr txBox="1"/>
          <p:nvPr/>
        </p:nvSpPr>
        <p:spPr>
          <a:xfrm>
            <a:off x="7160526" y="2828992"/>
            <a:ext cx="1515181" cy="675900"/>
          </a:xfrm>
          <a:prstGeom prst="rect">
            <a:avLst/>
          </a:prstGeom>
          <a:solidFill>
            <a:srgbClr val="93C47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26" name="Google Shape;1830;g60be7dcf1c_0_698">
            <a:extLst>
              <a:ext uri="{FF2B5EF4-FFF2-40B4-BE49-F238E27FC236}">
                <a16:creationId xmlns:a16="http://schemas.microsoft.com/office/drawing/2014/main" id="{05CFFB4F-0E21-2E4C-E4FA-B03FC9744AA7}"/>
              </a:ext>
            </a:extLst>
          </p:cNvPr>
          <p:cNvSpPr txBox="1"/>
          <p:nvPr/>
        </p:nvSpPr>
        <p:spPr>
          <a:xfrm>
            <a:off x="7181646" y="2879167"/>
            <a:ext cx="2303700" cy="7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More than 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an analogy!</a:t>
            </a:r>
            <a:endParaRPr lang="en-GB" sz="1200" dirty="0">
              <a:solidFill>
                <a:srgbClr val="CC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" name="Google Shape;1854;g60be7dcf1c_0_726">
            <a:extLst>
              <a:ext uri="{FF2B5EF4-FFF2-40B4-BE49-F238E27FC236}">
                <a16:creationId xmlns:a16="http://schemas.microsoft.com/office/drawing/2014/main" id="{A852E9D2-EABC-5EDC-4915-032125A91EE4}"/>
              </a:ext>
            </a:extLst>
          </p:cNvPr>
          <p:cNvSpPr/>
          <p:nvPr/>
        </p:nvSpPr>
        <p:spPr>
          <a:xfrm rot="5400000">
            <a:off x="3252650" y="4458725"/>
            <a:ext cx="399900" cy="273900"/>
          </a:xfrm>
          <a:prstGeom prst="homePlate">
            <a:avLst>
              <a:gd name="adj" fmla="val 50000"/>
            </a:avLst>
          </a:prstGeom>
          <a:solidFill>
            <a:srgbClr val="93C47D"/>
          </a:solidFill>
          <a:ln w="952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28" name="Google Shape;1855;g60be7dcf1c_0_726">
            <a:extLst>
              <a:ext uri="{FF2B5EF4-FFF2-40B4-BE49-F238E27FC236}">
                <a16:creationId xmlns:a16="http://schemas.microsoft.com/office/drawing/2014/main" id="{EA024AFD-EC85-0BAD-2FB5-4CF2D52CBD6C}"/>
              </a:ext>
            </a:extLst>
          </p:cNvPr>
          <p:cNvSpPr/>
          <p:nvPr/>
        </p:nvSpPr>
        <p:spPr>
          <a:xfrm rot="5400000">
            <a:off x="5263425" y="4458725"/>
            <a:ext cx="399900" cy="273900"/>
          </a:xfrm>
          <a:prstGeom prst="homePlate">
            <a:avLst>
              <a:gd name="adj" fmla="val 50000"/>
            </a:avLst>
          </a:prstGeom>
          <a:solidFill>
            <a:srgbClr val="93C47D"/>
          </a:solidFill>
          <a:ln w="952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29" name="Google Shape;1827;g60be7dcf1c_0_698">
            <a:extLst>
              <a:ext uri="{FF2B5EF4-FFF2-40B4-BE49-F238E27FC236}">
                <a16:creationId xmlns:a16="http://schemas.microsoft.com/office/drawing/2014/main" id="{C35EDD3B-EAC3-ABF9-B7BA-BC0E456C3F5D}"/>
              </a:ext>
            </a:extLst>
          </p:cNvPr>
          <p:cNvSpPr/>
          <p:nvPr/>
        </p:nvSpPr>
        <p:spPr>
          <a:xfrm>
            <a:off x="2230600" y="6055000"/>
            <a:ext cx="2509950" cy="273900"/>
          </a:xfrm>
          <a:prstGeom prst="homePlate">
            <a:avLst>
              <a:gd name="adj" fmla="val 50000"/>
            </a:avLst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30" name="Google Shape;1828;g60be7dcf1c_0_698">
            <a:extLst>
              <a:ext uri="{FF2B5EF4-FFF2-40B4-BE49-F238E27FC236}">
                <a16:creationId xmlns:a16="http://schemas.microsoft.com/office/drawing/2014/main" id="{978BFFE0-B8EF-D8C8-13F2-D884AA8ED365}"/>
              </a:ext>
            </a:extLst>
          </p:cNvPr>
          <p:cNvSpPr txBox="1"/>
          <p:nvPr/>
        </p:nvSpPr>
        <p:spPr>
          <a:xfrm>
            <a:off x="2281738" y="6013364"/>
            <a:ext cx="460260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Reduced expected </a:t>
            </a:r>
            <a:r>
              <a:rPr lang="en-GB" sz="1000" b="1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route lengths</a:t>
            </a:r>
            <a:r>
              <a:rPr lang="en-GB" sz="1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!</a:t>
            </a:r>
          </a:p>
        </p:txBody>
      </p:sp>
      <p:sp>
        <p:nvSpPr>
          <p:cNvPr id="31" name="Google Shape;1891;g60be7dcf1c_0_753">
            <a:extLst>
              <a:ext uri="{FF2B5EF4-FFF2-40B4-BE49-F238E27FC236}">
                <a16:creationId xmlns:a16="http://schemas.microsoft.com/office/drawing/2014/main" id="{9C748D0C-9FFD-BF21-FB28-7D9CDC9623E9}"/>
              </a:ext>
            </a:extLst>
          </p:cNvPr>
          <p:cNvSpPr/>
          <p:nvPr/>
        </p:nvSpPr>
        <p:spPr>
          <a:xfrm>
            <a:off x="6119975" y="3162121"/>
            <a:ext cx="777600" cy="777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</p:txBody>
      </p:sp>
      <p:sp>
        <p:nvSpPr>
          <p:cNvPr id="32" name="Google Shape;1892;g60be7dcf1c_0_753">
            <a:extLst>
              <a:ext uri="{FF2B5EF4-FFF2-40B4-BE49-F238E27FC236}">
                <a16:creationId xmlns:a16="http://schemas.microsoft.com/office/drawing/2014/main" id="{FBFDD4D1-06F9-2AFD-AC84-FDCB97FA9991}"/>
              </a:ext>
            </a:extLst>
          </p:cNvPr>
          <p:cNvSpPr txBox="1"/>
          <p:nvPr/>
        </p:nvSpPr>
        <p:spPr>
          <a:xfrm>
            <a:off x="6111750" y="3313921"/>
            <a:ext cx="7878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 b="1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entropy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rate?</a:t>
            </a:r>
          </a:p>
        </p:txBody>
      </p:sp>
      <p:sp>
        <p:nvSpPr>
          <p:cNvPr id="33" name="Google Shape;1893;g60be7dcf1c_0_753">
            <a:extLst>
              <a:ext uri="{FF2B5EF4-FFF2-40B4-BE49-F238E27FC236}">
                <a16:creationId xmlns:a16="http://schemas.microsoft.com/office/drawing/2014/main" id="{9100A6A5-AAE4-E688-E6E0-62B425C4B42B}"/>
              </a:ext>
            </a:extLst>
          </p:cNvPr>
          <p:cNvSpPr/>
          <p:nvPr/>
        </p:nvSpPr>
        <p:spPr>
          <a:xfrm>
            <a:off x="3436650" y="3162121"/>
            <a:ext cx="777600" cy="777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</p:txBody>
      </p:sp>
      <p:sp>
        <p:nvSpPr>
          <p:cNvPr id="34" name="Google Shape;1894;g60be7dcf1c_0_753">
            <a:extLst>
              <a:ext uri="{FF2B5EF4-FFF2-40B4-BE49-F238E27FC236}">
                <a16:creationId xmlns:a16="http://schemas.microsoft.com/office/drawing/2014/main" id="{F2A8C426-D322-7722-341B-B26C9B5E7DB6}"/>
              </a:ext>
            </a:extLst>
          </p:cNvPr>
          <p:cNvSpPr txBox="1"/>
          <p:nvPr/>
        </p:nvSpPr>
        <p:spPr>
          <a:xfrm>
            <a:off x="3428425" y="3374496"/>
            <a:ext cx="7878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entropy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000" b="1" dirty="0">
              <a:solidFill>
                <a:srgbClr val="CC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" name="Google Shape;1895;g60be7dcf1c_0_753">
            <a:extLst>
              <a:ext uri="{FF2B5EF4-FFF2-40B4-BE49-F238E27FC236}">
                <a16:creationId xmlns:a16="http://schemas.microsoft.com/office/drawing/2014/main" id="{8CFC9D9B-C6BE-24C3-E916-07F6BDA34450}"/>
              </a:ext>
            </a:extLst>
          </p:cNvPr>
          <p:cNvSpPr/>
          <p:nvPr/>
        </p:nvSpPr>
        <p:spPr>
          <a:xfrm>
            <a:off x="1881775" y="3162121"/>
            <a:ext cx="777600" cy="777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</p:txBody>
      </p:sp>
      <p:sp>
        <p:nvSpPr>
          <p:cNvPr id="36" name="Google Shape;1896;g60be7dcf1c_0_753">
            <a:extLst>
              <a:ext uri="{FF2B5EF4-FFF2-40B4-BE49-F238E27FC236}">
                <a16:creationId xmlns:a16="http://schemas.microsoft.com/office/drawing/2014/main" id="{5792ED27-B74D-E408-4FAF-6AC5D555EE19}"/>
              </a:ext>
            </a:extLst>
          </p:cNvPr>
          <p:cNvSpPr txBox="1"/>
          <p:nvPr/>
        </p:nvSpPr>
        <p:spPr>
          <a:xfrm>
            <a:off x="1873550" y="3374496"/>
            <a:ext cx="7878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log n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000" b="1" dirty="0">
              <a:solidFill>
                <a:srgbClr val="CC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" name="Google Shape;1891;g60be7dcf1c_0_753">
            <a:extLst>
              <a:ext uri="{FF2B5EF4-FFF2-40B4-BE49-F238E27FC236}">
                <a16:creationId xmlns:a16="http://schemas.microsoft.com/office/drawing/2014/main" id="{80963401-09E8-C74C-9820-8013D4434FDD}"/>
              </a:ext>
            </a:extLst>
          </p:cNvPr>
          <p:cNvSpPr/>
          <p:nvPr/>
        </p:nvSpPr>
        <p:spPr>
          <a:xfrm>
            <a:off x="6119975" y="4672608"/>
            <a:ext cx="777600" cy="777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</p:txBody>
      </p:sp>
      <p:sp>
        <p:nvSpPr>
          <p:cNvPr id="38" name="Google Shape;1892;g60be7dcf1c_0_753">
            <a:extLst>
              <a:ext uri="{FF2B5EF4-FFF2-40B4-BE49-F238E27FC236}">
                <a16:creationId xmlns:a16="http://schemas.microsoft.com/office/drawing/2014/main" id="{E5F68502-FC2B-7843-B05C-EBE1F2AD60A1}"/>
              </a:ext>
            </a:extLst>
          </p:cNvPr>
          <p:cNvSpPr txBox="1"/>
          <p:nvPr/>
        </p:nvSpPr>
        <p:spPr>
          <a:xfrm>
            <a:off x="6111750" y="4824408"/>
            <a:ext cx="7878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 b="1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entropy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rate?</a:t>
            </a:r>
          </a:p>
        </p:txBody>
      </p:sp>
      <p:sp>
        <p:nvSpPr>
          <p:cNvPr id="39" name="Google Shape;1893;g60be7dcf1c_0_753">
            <a:extLst>
              <a:ext uri="{FF2B5EF4-FFF2-40B4-BE49-F238E27FC236}">
                <a16:creationId xmlns:a16="http://schemas.microsoft.com/office/drawing/2014/main" id="{E9982A91-0013-1E67-16B8-D34B56829C05}"/>
              </a:ext>
            </a:extLst>
          </p:cNvPr>
          <p:cNvSpPr/>
          <p:nvPr/>
        </p:nvSpPr>
        <p:spPr>
          <a:xfrm>
            <a:off x="3436650" y="4672608"/>
            <a:ext cx="777600" cy="777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</p:txBody>
      </p:sp>
      <p:sp>
        <p:nvSpPr>
          <p:cNvPr id="40" name="Google Shape;1894;g60be7dcf1c_0_753">
            <a:extLst>
              <a:ext uri="{FF2B5EF4-FFF2-40B4-BE49-F238E27FC236}">
                <a16:creationId xmlns:a16="http://schemas.microsoft.com/office/drawing/2014/main" id="{BA29794F-E68D-99C9-5966-A6F99CD7446E}"/>
              </a:ext>
            </a:extLst>
          </p:cNvPr>
          <p:cNvSpPr txBox="1"/>
          <p:nvPr/>
        </p:nvSpPr>
        <p:spPr>
          <a:xfrm>
            <a:off x="3428425" y="4884983"/>
            <a:ext cx="7878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entropy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000" b="1" dirty="0">
              <a:solidFill>
                <a:srgbClr val="CC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" name="Google Shape;1895;g60be7dcf1c_0_753">
            <a:extLst>
              <a:ext uri="{FF2B5EF4-FFF2-40B4-BE49-F238E27FC236}">
                <a16:creationId xmlns:a16="http://schemas.microsoft.com/office/drawing/2014/main" id="{A7CE68DC-D4EF-2549-ECFD-8E687980E755}"/>
              </a:ext>
            </a:extLst>
          </p:cNvPr>
          <p:cNvSpPr/>
          <p:nvPr/>
        </p:nvSpPr>
        <p:spPr>
          <a:xfrm>
            <a:off x="1881775" y="4672608"/>
            <a:ext cx="777600" cy="777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</p:txBody>
      </p:sp>
      <p:sp>
        <p:nvSpPr>
          <p:cNvPr id="42" name="Google Shape;1896;g60be7dcf1c_0_753">
            <a:extLst>
              <a:ext uri="{FF2B5EF4-FFF2-40B4-BE49-F238E27FC236}">
                <a16:creationId xmlns:a16="http://schemas.microsoft.com/office/drawing/2014/main" id="{E8BC038D-6A9E-583C-5710-1E0BFEA76BB5}"/>
              </a:ext>
            </a:extLst>
          </p:cNvPr>
          <p:cNvSpPr txBox="1"/>
          <p:nvPr/>
        </p:nvSpPr>
        <p:spPr>
          <a:xfrm>
            <a:off x="1873550" y="4884983"/>
            <a:ext cx="7878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log n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000" b="1" dirty="0">
              <a:solidFill>
                <a:srgbClr val="CC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3" name="Google Shape;1858;g60be7dcf1c_0_726">
            <a:extLst>
              <a:ext uri="{FF2B5EF4-FFF2-40B4-BE49-F238E27FC236}">
                <a16:creationId xmlns:a16="http://schemas.microsoft.com/office/drawing/2014/main" id="{4287FBA6-012D-C610-F060-7FD04E1BC735}"/>
              </a:ext>
            </a:extLst>
          </p:cNvPr>
          <p:cNvSpPr txBox="1"/>
          <p:nvPr/>
        </p:nvSpPr>
        <p:spPr>
          <a:xfrm>
            <a:off x="6928380" y="3853964"/>
            <a:ext cx="2118188" cy="7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 u="sng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Generalize methodology: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 b="1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... </a:t>
            </a:r>
            <a:r>
              <a:rPr lang="de-DE" sz="1200" b="1" dirty="0" err="1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and</a:t>
            </a:r>
            <a:r>
              <a:rPr lang="en-GB" sz="1200" b="1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 transfer entropy bounds and algorithms of data-structures to networks. </a:t>
            </a:r>
          </a:p>
        </p:txBody>
      </p:sp>
      <p:sp>
        <p:nvSpPr>
          <p:cNvPr id="44" name="Google Shape;1858;g60be7dcf1c_0_726">
            <a:extLst>
              <a:ext uri="{FF2B5EF4-FFF2-40B4-BE49-F238E27FC236}">
                <a16:creationId xmlns:a16="http://schemas.microsoft.com/office/drawing/2014/main" id="{C127877F-95E1-95AA-AEBC-5951F4646084}"/>
              </a:ext>
            </a:extLst>
          </p:cNvPr>
          <p:cNvSpPr txBox="1"/>
          <p:nvPr/>
        </p:nvSpPr>
        <p:spPr>
          <a:xfrm>
            <a:off x="6950156" y="5028415"/>
            <a:ext cx="2074635" cy="7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 u="sng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First result: 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Demand-aware networks of asymptotically optimal route lengths. </a:t>
            </a:r>
          </a:p>
        </p:txBody>
      </p:sp>
      <p:sp>
        <p:nvSpPr>
          <p:cNvPr id="45" name="Google Shape;1854;g60be7dcf1c_0_726">
            <a:extLst>
              <a:ext uri="{FF2B5EF4-FFF2-40B4-BE49-F238E27FC236}">
                <a16:creationId xmlns:a16="http://schemas.microsoft.com/office/drawing/2014/main" id="{037EC835-FD67-D3D3-F41B-5F653703531B}"/>
              </a:ext>
            </a:extLst>
          </p:cNvPr>
          <p:cNvSpPr/>
          <p:nvPr/>
        </p:nvSpPr>
        <p:spPr>
          <a:xfrm rot="5400000">
            <a:off x="1614537" y="4471457"/>
            <a:ext cx="399900" cy="273900"/>
          </a:xfrm>
          <a:prstGeom prst="homePlate">
            <a:avLst>
              <a:gd name="adj" fmla="val 50000"/>
            </a:avLst>
          </a:prstGeom>
          <a:solidFill>
            <a:srgbClr val="93C47D"/>
          </a:solidFill>
          <a:ln w="952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2" name="Rectangle 25">
            <a:extLst>
              <a:ext uri="{FF2B5EF4-FFF2-40B4-BE49-F238E27FC236}">
                <a16:creationId xmlns:a16="http://schemas.microsoft.com/office/drawing/2014/main" id="{C6E7FDA4-BB45-8D15-8728-61BA0ADD1938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E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4065705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0">
          <a:extLst>
            <a:ext uri="{FF2B5EF4-FFF2-40B4-BE49-F238E27FC236}">
              <a16:creationId xmlns:a16="http://schemas.microsoft.com/office/drawing/2014/main" id="{09886CDA-C363-2171-2042-ED6FA4207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1580;g60be7dcf1c_0_473">
            <a:extLst>
              <a:ext uri="{FF2B5EF4-FFF2-40B4-BE49-F238E27FC236}">
                <a16:creationId xmlns:a16="http://schemas.microsoft.com/office/drawing/2014/main" id="{EDB559A9-3299-1562-826D-FD95E1035FF4}"/>
              </a:ext>
            </a:extLst>
          </p:cNvPr>
          <p:cNvSpPr txBox="1"/>
          <p:nvPr/>
        </p:nvSpPr>
        <p:spPr>
          <a:xfrm>
            <a:off x="0" y="540000"/>
            <a:ext cx="8211000" cy="144000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4E6F13-827A-30B7-54EA-99B8547BF198}"/>
              </a:ext>
            </a:extLst>
          </p:cNvPr>
          <p:cNvSpPr txBox="1"/>
          <p:nvPr/>
        </p:nvSpPr>
        <p:spPr>
          <a:xfrm rot="16200000">
            <a:off x="188278" y="3923238"/>
            <a:ext cx="8803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Consolas" panose="020B0609020204030204" pitchFamily="49" charset="0"/>
                <a:ea typeface="Cambria Math" panose="02040503050406030204" pitchFamily="18" charset="0"/>
              </a:rPr>
              <a:t>Sources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62B581-F981-4DBC-BD04-99780B79299A}"/>
              </a:ext>
            </a:extLst>
          </p:cNvPr>
          <p:cNvSpPr txBox="1"/>
          <p:nvPr/>
        </p:nvSpPr>
        <p:spPr>
          <a:xfrm>
            <a:off x="1984616" y="2181340"/>
            <a:ext cx="13773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Consolas" panose="020B0609020204030204" pitchFamily="49" charset="0"/>
              </a:rPr>
              <a:t>Destinations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123AC073-B4D7-AE6F-3CE1-BAF107CB35C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231395" y="2808081"/>
              <a:ext cx="3002909" cy="264477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8987">
                      <a:extLst>
                        <a:ext uri="{9D8B030D-6E8A-4147-A177-3AD203B41FA5}">
                          <a16:colId xmlns:a16="http://schemas.microsoft.com/office/drawing/2014/main" val="3864413765"/>
                        </a:ext>
                      </a:extLst>
                    </a:gridCol>
                    <a:gridCol w="428987">
                      <a:extLst>
                        <a:ext uri="{9D8B030D-6E8A-4147-A177-3AD203B41FA5}">
                          <a16:colId xmlns:a16="http://schemas.microsoft.com/office/drawing/2014/main" val="3806580306"/>
                        </a:ext>
                      </a:extLst>
                    </a:gridCol>
                    <a:gridCol w="428987">
                      <a:extLst>
                        <a:ext uri="{9D8B030D-6E8A-4147-A177-3AD203B41FA5}">
                          <a16:colId xmlns:a16="http://schemas.microsoft.com/office/drawing/2014/main" val="123248972"/>
                        </a:ext>
                      </a:extLst>
                    </a:gridCol>
                    <a:gridCol w="428987">
                      <a:extLst>
                        <a:ext uri="{9D8B030D-6E8A-4147-A177-3AD203B41FA5}">
                          <a16:colId xmlns:a16="http://schemas.microsoft.com/office/drawing/2014/main" val="1797807495"/>
                        </a:ext>
                      </a:extLst>
                    </a:gridCol>
                    <a:gridCol w="428987">
                      <a:extLst>
                        <a:ext uri="{9D8B030D-6E8A-4147-A177-3AD203B41FA5}">
                          <a16:colId xmlns:a16="http://schemas.microsoft.com/office/drawing/2014/main" val="3083318154"/>
                        </a:ext>
                      </a:extLst>
                    </a:gridCol>
                    <a:gridCol w="428987">
                      <a:extLst>
                        <a:ext uri="{9D8B030D-6E8A-4147-A177-3AD203B41FA5}">
                          <a16:colId xmlns:a16="http://schemas.microsoft.com/office/drawing/2014/main" val="3343020069"/>
                        </a:ext>
                      </a:extLst>
                    </a:gridCol>
                    <a:gridCol w="428987">
                      <a:extLst>
                        <a:ext uri="{9D8B030D-6E8A-4147-A177-3AD203B41FA5}">
                          <a16:colId xmlns:a16="http://schemas.microsoft.com/office/drawing/2014/main" val="340397575"/>
                        </a:ext>
                      </a:extLst>
                    </a:gridCol>
                  </a:tblGrid>
                  <a:tr h="34044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05930682"/>
                      </a:ext>
                    </a:extLst>
                  </a:tr>
                  <a:tr h="34044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3934695"/>
                      </a:ext>
                    </a:extLst>
                  </a:tr>
                  <a:tr h="34044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b="0" dirty="0">
                            <a:solidFill>
                              <a:schemeClr val="bg1">
                                <a:lumMod val="65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b="0" dirty="0">
                            <a:solidFill>
                              <a:schemeClr val="bg1">
                                <a:lumMod val="65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21555389"/>
                      </a:ext>
                    </a:extLst>
                  </a:tr>
                  <a:tr h="34044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b="0" dirty="0">
                            <a:solidFill>
                              <a:schemeClr val="bg1">
                                <a:lumMod val="65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4670812"/>
                      </a:ext>
                    </a:extLst>
                  </a:tr>
                  <a:tr h="34044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dirty="0">
                            <a:solidFill>
                              <a:schemeClr val="bg1">
                                <a:lumMod val="65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8825016"/>
                      </a:ext>
                    </a:extLst>
                  </a:tr>
                  <a:tr h="34044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01367391"/>
                      </a:ext>
                    </a:extLst>
                  </a:tr>
                  <a:tr h="340442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2736237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70043434"/>
                  </p:ext>
                </p:extLst>
              </p:nvPr>
            </p:nvGraphicFramePr>
            <p:xfrm>
              <a:off x="1231395" y="2808081"/>
              <a:ext cx="3002909" cy="264477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8987">
                      <a:extLst>
                        <a:ext uri="{9D8B030D-6E8A-4147-A177-3AD203B41FA5}">
                          <a16:colId xmlns:a16="http://schemas.microsoft.com/office/drawing/2014/main" val="3864413765"/>
                        </a:ext>
                      </a:extLst>
                    </a:gridCol>
                    <a:gridCol w="428987">
                      <a:extLst>
                        <a:ext uri="{9D8B030D-6E8A-4147-A177-3AD203B41FA5}">
                          <a16:colId xmlns:a16="http://schemas.microsoft.com/office/drawing/2014/main" val="3806580306"/>
                        </a:ext>
                      </a:extLst>
                    </a:gridCol>
                    <a:gridCol w="428987">
                      <a:extLst>
                        <a:ext uri="{9D8B030D-6E8A-4147-A177-3AD203B41FA5}">
                          <a16:colId xmlns:a16="http://schemas.microsoft.com/office/drawing/2014/main" val="123248972"/>
                        </a:ext>
                      </a:extLst>
                    </a:gridCol>
                    <a:gridCol w="428987">
                      <a:extLst>
                        <a:ext uri="{9D8B030D-6E8A-4147-A177-3AD203B41FA5}">
                          <a16:colId xmlns:a16="http://schemas.microsoft.com/office/drawing/2014/main" val="1797807495"/>
                        </a:ext>
                      </a:extLst>
                    </a:gridCol>
                    <a:gridCol w="428987">
                      <a:extLst>
                        <a:ext uri="{9D8B030D-6E8A-4147-A177-3AD203B41FA5}">
                          <a16:colId xmlns:a16="http://schemas.microsoft.com/office/drawing/2014/main" val="3083318154"/>
                        </a:ext>
                      </a:extLst>
                    </a:gridCol>
                    <a:gridCol w="428987">
                      <a:extLst>
                        <a:ext uri="{9D8B030D-6E8A-4147-A177-3AD203B41FA5}">
                          <a16:colId xmlns:a16="http://schemas.microsoft.com/office/drawing/2014/main" val="3343020069"/>
                        </a:ext>
                      </a:extLst>
                    </a:gridCol>
                    <a:gridCol w="428987">
                      <a:extLst>
                        <a:ext uri="{9D8B030D-6E8A-4147-A177-3AD203B41FA5}">
                          <a16:colId xmlns:a16="http://schemas.microsoft.com/office/drawing/2014/main" val="340397575"/>
                        </a:ext>
                      </a:extLst>
                    </a:gridCol>
                  </a:tblGrid>
                  <a:tr h="37782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1408" t="-3226" r="-498592" b="-6112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4286" t="-3226" r="-405714" b="-6112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00000" t="-3226" r="-300000" b="-6112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05714" t="-3226" r="-204286" b="-6112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98592" t="-3226" r="-101408" b="-6112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607143" t="-3226" r="-2857" b="-6112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05930682"/>
                      </a:ext>
                    </a:extLst>
                  </a:tr>
                  <a:tr h="377825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857" t="-103226" r="-607143" b="-5112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4286" t="-103226" r="-405714" b="-5112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607143" t="-103226" r="-2857" b="-5112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3934695"/>
                      </a:ext>
                    </a:extLst>
                  </a:tr>
                  <a:tr h="377825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857" t="-203226" r="-607143" b="-4112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1408" t="-203226" r="-498592" b="-4112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00000" t="-203226" r="-300000" b="-4112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607143" t="-203226" r="-2857" b="-4112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21555389"/>
                      </a:ext>
                    </a:extLst>
                  </a:tr>
                  <a:tr h="377825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857" t="-298413" r="-607143" b="-3047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4286" t="-298413" r="-405714" b="-3047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05714" t="-298413" r="-204286" b="-3047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4670812"/>
                      </a:ext>
                    </a:extLst>
                  </a:tr>
                  <a:tr h="377825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857" t="-404839" r="-607143" b="-2096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4286" t="-404839" r="-405714" b="-2096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00000" t="-404839" r="-300000" b="-2096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8825016"/>
                      </a:ext>
                    </a:extLst>
                  </a:tr>
                  <a:tr h="377825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857" t="-504839" r="-607143" b="-1096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607143" t="-504839" r="-2857" b="-1096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01367391"/>
                      </a:ext>
                    </a:extLst>
                  </a:tr>
                  <a:tr h="377825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857" t="-604839" r="-607143" b="-96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1408" t="-604839" r="-498592" b="-96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4286" t="-604839" r="-405714" b="-96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98592" t="-604839" r="-101408" b="-96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2736237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55C568D4-9FD9-3B1B-6B8E-424087ACDB60}"/>
              </a:ext>
            </a:extLst>
          </p:cNvPr>
          <p:cNvSpPr txBox="1"/>
          <p:nvPr/>
        </p:nvSpPr>
        <p:spPr>
          <a:xfrm>
            <a:off x="898208" y="2766270"/>
            <a:ext cx="284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1F60DC-19D4-087A-483D-B63FF44F68CA}"/>
              </a:ext>
            </a:extLst>
          </p:cNvPr>
          <p:cNvSpPr txBox="1"/>
          <p:nvPr/>
        </p:nvSpPr>
        <p:spPr>
          <a:xfrm>
            <a:off x="901800" y="3189026"/>
            <a:ext cx="284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199395-1084-9E8D-11FC-81F023171A3B}"/>
              </a:ext>
            </a:extLst>
          </p:cNvPr>
          <p:cNvSpPr txBox="1"/>
          <p:nvPr/>
        </p:nvSpPr>
        <p:spPr>
          <a:xfrm>
            <a:off x="898208" y="3558358"/>
            <a:ext cx="284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99E35A-7143-B30D-9C77-34B90228C957}"/>
              </a:ext>
            </a:extLst>
          </p:cNvPr>
          <p:cNvSpPr txBox="1"/>
          <p:nvPr/>
        </p:nvSpPr>
        <p:spPr>
          <a:xfrm>
            <a:off x="898208" y="3945802"/>
            <a:ext cx="284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4E17E1-3C1A-3E09-AF8A-5BEFCEA15C04}"/>
              </a:ext>
            </a:extLst>
          </p:cNvPr>
          <p:cNvSpPr txBox="1"/>
          <p:nvPr/>
        </p:nvSpPr>
        <p:spPr>
          <a:xfrm>
            <a:off x="910223" y="4320706"/>
            <a:ext cx="284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67AEDA7-996F-75BE-5AA0-947CC4EC3E33}"/>
              </a:ext>
            </a:extLst>
          </p:cNvPr>
          <p:cNvSpPr txBox="1"/>
          <p:nvPr/>
        </p:nvSpPr>
        <p:spPr>
          <a:xfrm>
            <a:off x="910223" y="4690038"/>
            <a:ext cx="284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E91058-0011-459B-EB87-2E2D0E3A458B}"/>
              </a:ext>
            </a:extLst>
          </p:cNvPr>
          <p:cNvSpPr txBox="1"/>
          <p:nvPr/>
        </p:nvSpPr>
        <p:spPr>
          <a:xfrm>
            <a:off x="919219" y="5095126"/>
            <a:ext cx="284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D3B055F-DC66-9AFC-1760-06708EDEF489}"/>
              </a:ext>
            </a:extLst>
          </p:cNvPr>
          <p:cNvSpPr txBox="1"/>
          <p:nvPr/>
        </p:nvSpPr>
        <p:spPr>
          <a:xfrm>
            <a:off x="1289011" y="2436226"/>
            <a:ext cx="284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35D692F-CF39-CA27-3A3B-0B08027E2128}"/>
              </a:ext>
            </a:extLst>
          </p:cNvPr>
          <p:cNvSpPr txBox="1"/>
          <p:nvPr/>
        </p:nvSpPr>
        <p:spPr>
          <a:xfrm>
            <a:off x="1679814" y="2446300"/>
            <a:ext cx="284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B3A0926-2675-92BF-1CC4-30214D8A2A64}"/>
              </a:ext>
            </a:extLst>
          </p:cNvPr>
          <p:cNvSpPr txBox="1"/>
          <p:nvPr/>
        </p:nvSpPr>
        <p:spPr>
          <a:xfrm>
            <a:off x="2123601" y="2446300"/>
            <a:ext cx="284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9BA4C4A-E460-BC89-3D4B-60D086C6E762}"/>
              </a:ext>
            </a:extLst>
          </p:cNvPr>
          <p:cNvSpPr txBox="1"/>
          <p:nvPr/>
        </p:nvSpPr>
        <p:spPr>
          <a:xfrm>
            <a:off x="2572089" y="2436226"/>
            <a:ext cx="284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8490C49-C72E-2344-17CD-4A27E006D328}"/>
              </a:ext>
            </a:extLst>
          </p:cNvPr>
          <p:cNvSpPr txBox="1"/>
          <p:nvPr/>
        </p:nvSpPr>
        <p:spPr>
          <a:xfrm>
            <a:off x="3015482" y="2436226"/>
            <a:ext cx="284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B966A7B-7C7F-A3D6-6555-6F4FC9E57F41}"/>
              </a:ext>
            </a:extLst>
          </p:cNvPr>
          <p:cNvSpPr txBox="1"/>
          <p:nvPr/>
        </p:nvSpPr>
        <p:spPr>
          <a:xfrm>
            <a:off x="3405777" y="2446300"/>
            <a:ext cx="284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0F1B832-F76B-C881-9B4F-8F69C9DF8595}"/>
              </a:ext>
            </a:extLst>
          </p:cNvPr>
          <p:cNvSpPr txBox="1"/>
          <p:nvPr/>
        </p:nvSpPr>
        <p:spPr>
          <a:xfrm>
            <a:off x="3859564" y="2446300"/>
            <a:ext cx="284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7</a:t>
            </a:r>
          </a:p>
        </p:txBody>
      </p:sp>
      <p:pic>
        <p:nvPicPr>
          <p:cNvPr id="22" name="Picture 2" descr="Image result for fast forward">
            <a:extLst>
              <a:ext uri="{FF2B5EF4-FFF2-40B4-BE49-F238E27FC236}">
                <a16:creationId xmlns:a16="http://schemas.microsoft.com/office/drawing/2014/main" id="{0F6DA329-30EF-DAE0-7126-20C7090095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2175" y="3816495"/>
            <a:ext cx="475309" cy="475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5496C163-B53C-0913-86D0-013D6D060A10}"/>
              </a:ext>
            </a:extLst>
          </p:cNvPr>
          <p:cNvSpPr txBox="1"/>
          <p:nvPr/>
        </p:nvSpPr>
        <p:spPr>
          <a:xfrm>
            <a:off x="4826016" y="4253102"/>
            <a:ext cx="284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</a:p>
        </p:txBody>
      </p:sp>
      <p:grpSp>
        <p:nvGrpSpPr>
          <p:cNvPr id="1879" name="Group 1878">
            <a:extLst>
              <a:ext uri="{FF2B5EF4-FFF2-40B4-BE49-F238E27FC236}">
                <a16:creationId xmlns:a16="http://schemas.microsoft.com/office/drawing/2014/main" id="{D8EE7C81-2B78-AF77-1FAF-43E477B148EC}"/>
              </a:ext>
            </a:extLst>
          </p:cNvPr>
          <p:cNvGrpSpPr/>
          <p:nvPr/>
        </p:nvGrpSpPr>
        <p:grpSpPr>
          <a:xfrm>
            <a:off x="5010780" y="2347058"/>
            <a:ext cx="3184258" cy="3388533"/>
            <a:chOff x="5010780" y="2347058"/>
            <a:chExt cx="3184258" cy="3388533"/>
          </a:xfrm>
        </p:grpSpPr>
        <p:cxnSp>
          <p:nvCxnSpPr>
            <p:cNvPr id="23" name="Gerader Verbinder 22">
              <a:extLst>
                <a:ext uri="{FF2B5EF4-FFF2-40B4-BE49-F238E27FC236}">
                  <a16:creationId xmlns:a16="http://schemas.microsoft.com/office/drawing/2014/main" id="{465F8E2F-6600-B947-9B8A-B560F374AD72}"/>
                </a:ext>
              </a:extLst>
            </p:cNvPr>
            <p:cNvCxnSpPr>
              <a:cxnSpLocks/>
              <a:stCxn id="35" idx="5"/>
              <a:endCxn id="36" idx="1"/>
            </p:cNvCxnSpPr>
            <p:nvPr/>
          </p:nvCxnSpPr>
          <p:spPr>
            <a:xfrm>
              <a:off x="6569475" y="2851296"/>
              <a:ext cx="912722" cy="36661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Gerader Verbinder 22">
              <a:extLst>
                <a:ext uri="{FF2B5EF4-FFF2-40B4-BE49-F238E27FC236}">
                  <a16:creationId xmlns:a16="http://schemas.microsoft.com/office/drawing/2014/main" id="{80AFF9FD-993C-2588-4C63-F0514DF5E131}"/>
                </a:ext>
              </a:extLst>
            </p:cNvPr>
            <p:cNvCxnSpPr>
              <a:stCxn id="36" idx="0"/>
              <a:endCxn id="38" idx="4"/>
            </p:cNvCxnSpPr>
            <p:nvPr/>
          </p:nvCxnSpPr>
          <p:spPr>
            <a:xfrm flipH="1">
              <a:off x="7257975" y="3186273"/>
              <a:ext cx="300598" cy="215346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Gerader Verbinder 22">
              <a:extLst>
                <a:ext uri="{FF2B5EF4-FFF2-40B4-BE49-F238E27FC236}">
                  <a16:creationId xmlns:a16="http://schemas.microsoft.com/office/drawing/2014/main" id="{5C8941CC-0DFD-8BE1-6180-3E596E8E9656}"/>
                </a:ext>
              </a:extLst>
            </p:cNvPr>
            <p:cNvCxnSpPr>
              <a:cxnSpLocks/>
              <a:stCxn id="37" idx="3"/>
              <a:endCxn id="38" idx="7"/>
            </p:cNvCxnSpPr>
            <p:nvPr/>
          </p:nvCxnSpPr>
          <p:spPr>
            <a:xfrm flipH="1">
              <a:off x="7334351" y="4499522"/>
              <a:ext cx="408610" cy="65582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Gerader Verbinder 22">
              <a:extLst>
                <a:ext uri="{FF2B5EF4-FFF2-40B4-BE49-F238E27FC236}">
                  <a16:creationId xmlns:a16="http://schemas.microsoft.com/office/drawing/2014/main" id="{E1D11F0A-7144-B4E3-68E5-C64FFCBE04DE}"/>
                </a:ext>
              </a:extLst>
            </p:cNvPr>
            <p:cNvCxnSpPr>
              <a:stCxn id="39" idx="2"/>
              <a:endCxn id="38" idx="6"/>
            </p:cNvCxnSpPr>
            <p:nvPr/>
          </p:nvCxnSpPr>
          <p:spPr>
            <a:xfrm>
              <a:off x="5634896" y="5231726"/>
              <a:ext cx="173109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Gerader Verbinder 22">
              <a:extLst>
                <a:ext uri="{FF2B5EF4-FFF2-40B4-BE49-F238E27FC236}">
                  <a16:creationId xmlns:a16="http://schemas.microsoft.com/office/drawing/2014/main" id="{9DC233F2-4795-B7A3-BEDC-D056B451CA4A}"/>
                </a:ext>
              </a:extLst>
            </p:cNvPr>
            <p:cNvCxnSpPr>
              <a:cxnSpLocks/>
              <a:stCxn id="40" idx="0"/>
              <a:endCxn id="41" idx="0"/>
            </p:cNvCxnSpPr>
            <p:nvPr/>
          </p:nvCxnSpPr>
          <p:spPr>
            <a:xfrm flipV="1">
              <a:off x="5192318" y="3186273"/>
              <a:ext cx="201210" cy="111921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Gerader Verbinder 22">
              <a:extLst>
                <a:ext uri="{FF2B5EF4-FFF2-40B4-BE49-F238E27FC236}">
                  <a16:creationId xmlns:a16="http://schemas.microsoft.com/office/drawing/2014/main" id="{2F1A5661-3FE4-2D57-D618-94B1C768BAEE}"/>
                </a:ext>
              </a:extLst>
            </p:cNvPr>
            <p:cNvCxnSpPr>
              <a:cxnSpLocks/>
              <a:stCxn id="40" idx="7"/>
              <a:endCxn id="48" idx="2"/>
            </p:cNvCxnSpPr>
            <p:nvPr/>
          </p:nvCxnSpPr>
          <p:spPr>
            <a:xfrm flipV="1">
              <a:off x="5268694" y="2716390"/>
              <a:ext cx="1231747" cy="162073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Gerader Verbinder 22">
              <a:extLst>
                <a:ext uri="{FF2B5EF4-FFF2-40B4-BE49-F238E27FC236}">
                  <a16:creationId xmlns:a16="http://schemas.microsoft.com/office/drawing/2014/main" id="{6427867C-DF8C-5E4E-AA64-72E607A534ED}"/>
                </a:ext>
              </a:extLst>
            </p:cNvPr>
            <p:cNvCxnSpPr>
              <a:stCxn id="41" idx="2"/>
              <a:endCxn id="36" idx="6"/>
            </p:cNvCxnSpPr>
            <p:nvPr/>
          </p:nvCxnSpPr>
          <p:spPr>
            <a:xfrm>
              <a:off x="5285516" y="3294285"/>
              <a:ext cx="238106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Gerader Verbinder 22">
              <a:extLst>
                <a:ext uri="{FF2B5EF4-FFF2-40B4-BE49-F238E27FC236}">
                  <a16:creationId xmlns:a16="http://schemas.microsoft.com/office/drawing/2014/main" id="{9059B4FC-1805-E5B9-44F6-480595CCFA98}"/>
                </a:ext>
              </a:extLst>
            </p:cNvPr>
            <p:cNvCxnSpPr>
              <a:cxnSpLocks/>
              <a:stCxn id="35" idx="4"/>
              <a:endCxn id="39" idx="4"/>
            </p:cNvCxnSpPr>
            <p:nvPr/>
          </p:nvCxnSpPr>
          <p:spPr>
            <a:xfrm flipH="1">
              <a:off x="5742908" y="2882932"/>
              <a:ext cx="750191" cy="24568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Gerader Verbinder 22">
              <a:extLst>
                <a:ext uri="{FF2B5EF4-FFF2-40B4-BE49-F238E27FC236}">
                  <a16:creationId xmlns:a16="http://schemas.microsoft.com/office/drawing/2014/main" id="{1874032A-53D1-9450-817F-0F10745C2E22}"/>
                </a:ext>
              </a:extLst>
            </p:cNvPr>
            <p:cNvCxnSpPr>
              <a:cxnSpLocks/>
              <a:stCxn id="37" idx="2"/>
              <a:endCxn id="40" idx="6"/>
            </p:cNvCxnSpPr>
            <p:nvPr/>
          </p:nvCxnSpPr>
          <p:spPr>
            <a:xfrm flipH="1" flipV="1">
              <a:off x="5300330" y="4413504"/>
              <a:ext cx="2410995" cy="964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Gerader Verbinder 22">
              <a:extLst>
                <a:ext uri="{FF2B5EF4-FFF2-40B4-BE49-F238E27FC236}">
                  <a16:creationId xmlns:a16="http://schemas.microsoft.com/office/drawing/2014/main" id="{6FBC11F7-474B-DB7F-FE4C-B02554BD3861}"/>
                </a:ext>
              </a:extLst>
            </p:cNvPr>
            <p:cNvCxnSpPr>
              <a:stCxn id="41" idx="0"/>
              <a:endCxn id="39" idx="5"/>
            </p:cNvCxnSpPr>
            <p:nvPr/>
          </p:nvCxnSpPr>
          <p:spPr>
            <a:xfrm>
              <a:off x="5393528" y="3186273"/>
              <a:ext cx="425756" cy="212182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Oval 44">
              <a:extLst>
                <a:ext uri="{FF2B5EF4-FFF2-40B4-BE49-F238E27FC236}">
                  <a16:creationId xmlns:a16="http://schemas.microsoft.com/office/drawing/2014/main" id="{202C260C-F58A-FE73-1B00-B039079F286E}"/>
                </a:ext>
              </a:extLst>
            </p:cNvPr>
            <p:cNvSpPr/>
            <p:nvPr/>
          </p:nvSpPr>
          <p:spPr>
            <a:xfrm>
              <a:off x="6385087" y="2666908"/>
              <a:ext cx="216024" cy="216024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/>
                </a:solidFill>
              </a:endParaRPr>
            </a:p>
          </p:txBody>
        </p:sp>
        <p:sp>
          <p:nvSpPr>
            <p:cNvPr id="36" name="Oval 44">
              <a:extLst>
                <a:ext uri="{FF2B5EF4-FFF2-40B4-BE49-F238E27FC236}">
                  <a16:creationId xmlns:a16="http://schemas.microsoft.com/office/drawing/2014/main" id="{ADC4D65F-BA46-1201-5C49-D76120A911CC}"/>
                </a:ext>
              </a:extLst>
            </p:cNvPr>
            <p:cNvSpPr/>
            <p:nvPr/>
          </p:nvSpPr>
          <p:spPr>
            <a:xfrm>
              <a:off x="7450561" y="3186273"/>
              <a:ext cx="216024" cy="216024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/>
                </a:solidFill>
              </a:endParaRPr>
            </a:p>
          </p:txBody>
        </p:sp>
        <p:sp>
          <p:nvSpPr>
            <p:cNvPr id="37" name="Oval 44">
              <a:extLst>
                <a:ext uri="{FF2B5EF4-FFF2-40B4-BE49-F238E27FC236}">
                  <a16:creationId xmlns:a16="http://schemas.microsoft.com/office/drawing/2014/main" id="{05C2CBA7-9164-2A75-2B93-C0C0A00DE43C}"/>
                </a:ext>
              </a:extLst>
            </p:cNvPr>
            <p:cNvSpPr/>
            <p:nvPr/>
          </p:nvSpPr>
          <p:spPr>
            <a:xfrm>
              <a:off x="7711325" y="4315134"/>
              <a:ext cx="216024" cy="216024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/>
                </a:solidFill>
              </a:endParaRPr>
            </a:p>
          </p:txBody>
        </p:sp>
        <p:sp>
          <p:nvSpPr>
            <p:cNvPr id="38" name="Oval 44">
              <a:extLst>
                <a:ext uri="{FF2B5EF4-FFF2-40B4-BE49-F238E27FC236}">
                  <a16:creationId xmlns:a16="http://schemas.microsoft.com/office/drawing/2014/main" id="{AEECDCE8-4A55-7EA9-1C98-4FF3BE4A44AB}"/>
                </a:ext>
              </a:extLst>
            </p:cNvPr>
            <p:cNvSpPr/>
            <p:nvPr/>
          </p:nvSpPr>
          <p:spPr>
            <a:xfrm>
              <a:off x="7149963" y="5123714"/>
              <a:ext cx="216024" cy="216024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/>
                </a:solidFill>
              </a:endParaRPr>
            </a:p>
          </p:txBody>
        </p:sp>
        <p:sp>
          <p:nvSpPr>
            <p:cNvPr id="39" name="Oval 44">
              <a:extLst>
                <a:ext uri="{FF2B5EF4-FFF2-40B4-BE49-F238E27FC236}">
                  <a16:creationId xmlns:a16="http://schemas.microsoft.com/office/drawing/2014/main" id="{64EFC95A-3131-13A0-DC3A-E3F5F4914835}"/>
                </a:ext>
              </a:extLst>
            </p:cNvPr>
            <p:cNvSpPr/>
            <p:nvPr/>
          </p:nvSpPr>
          <p:spPr>
            <a:xfrm>
              <a:off x="5634896" y="5123714"/>
              <a:ext cx="216024" cy="216024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/>
                </a:solidFill>
              </a:endParaRPr>
            </a:p>
          </p:txBody>
        </p:sp>
        <p:sp>
          <p:nvSpPr>
            <p:cNvPr id="40" name="Oval 44">
              <a:extLst>
                <a:ext uri="{FF2B5EF4-FFF2-40B4-BE49-F238E27FC236}">
                  <a16:creationId xmlns:a16="http://schemas.microsoft.com/office/drawing/2014/main" id="{725F0380-CD19-05C7-E757-30D128AAB713}"/>
                </a:ext>
              </a:extLst>
            </p:cNvPr>
            <p:cNvSpPr/>
            <p:nvPr/>
          </p:nvSpPr>
          <p:spPr>
            <a:xfrm>
              <a:off x="5084306" y="4305492"/>
              <a:ext cx="216024" cy="216024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/>
                </a:solidFill>
              </a:endParaRPr>
            </a:p>
          </p:txBody>
        </p:sp>
        <p:sp>
          <p:nvSpPr>
            <p:cNvPr id="41" name="Oval 44">
              <a:extLst>
                <a:ext uri="{FF2B5EF4-FFF2-40B4-BE49-F238E27FC236}">
                  <a16:creationId xmlns:a16="http://schemas.microsoft.com/office/drawing/2014/main" id="{16187483-9315-94BC-DC3F-BAF43D986441}"/>
                </a:ext>
              </a:extLst>
            </p:cNvPr>
            <p:cNvSpPr/>
            <p:nvPr/>
          </p:nvSpPr>
          <p:spPr>
            <a:xfrm>
              <a:off x="5285516" y="3186273"/>
              <a:ext cx="216024" cy="216024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/>
                </a:solidFill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2F7284C6-A4F8-B966-FDF6-F9BA361795FE}"/>
                </a:ext>
              </a:extLst>
            </p:cNvPr>
            <p:cNvSpPr txBox="1"/>
            <p:nvPr/>
          </p:nvSpPr>
          <p:spPr>
            <a:xfrm>
              <a:off x="5010780" y="3124953"/>
              <a:ext cx="2849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1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B21AE584-30A0-8B96-08FB-59FBC5B90A65}"/>
                </a:ext>
              </a:extLst>
            </p:cNvPr>
            <p:cNvSpPr txBox="1"/>
            <p:nvPr/>
          </p:nvSpPr>
          <p:spPr>
            <a:xfrm>
              <a:off x="5599407" y="5366068"/>
              <a:ext cx="2849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3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304468D8-0C4D-128A-8CB9-4AF3E0DD79D3}"/>
                </a:ext>
              </a:extLst>
            </p:cNvPr>
            <p:cNvSpPr txBox="1"/>
            <p:nvPr/>
          </p:nvSpPr>
          <p:spPr>
            <a:xfrm>
              <a:off x="7133636" y="5366633"/>
              <a:ext cx="316925" cy="3689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4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A1CFA7AD-ED95-916A-CEF1-B5EAEFF36D92}"/>
                </a:ext>
              </a:extLst>
            </p:cNvPr>
            <p:cNvSpPr txBox="1"/>
            <p:nvPr/>
          </p:nvSpPr>
          <p:spPr>
            <a:xfrm>
              <a:off x="7933528" y="4260892"/>
              <a:ext cx="2615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5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7154657-CFDF-FD4A-91CA-439AC96FBFF9}"/>
                </a:ext>
              </a:extLst>
            </p:cNvPr>
            <p:cNvSpPr txBox="1"/>
            <p:nvPr/>
          </p:nvSpPr>
          <p:spPr>
            <a:xfrm>
              <a:off x="7697933" y="3135602"/>
              <a:ext cx="2615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6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5314A6DB-9808-4838-5C7A-BAA38E4CD509}"/>
                </a:ext>
              </a:extLst>
            </p:cNvPr>
            <p:cNvSpPr txBox="1"/>
            <p:nvPr/>
          </p:nvSpPr>
          <p:spPr>
            <a:xfrm>
              <a:off x="6369686" y="2347058"/>
              <a:ext cx="2615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7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45F3F3B9-0D15-44F9-0D77-F4D6227C833C}"/>
                  </a:ext>
                </a:extLst>
              </p:cNvPr>
              <p:cNvSpPr txBox="1"/>
              <p:nvPr/>
            </p:nvSpPr>
            <p:spPr>
              <a:xfrm>
                <a:off x="1808426" y="5941229"/>
                <a:ext cx="129614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IN" sz="2400" b="0" i="0" smtClean="0">
                          <a:latin typeface="Cambria Math"/>
                        </a:rPr>
                        <m:t>E</m:t>
                      </m:r>
                      <m:r>
                        <m:rPr>
                          <m:sty m:val="p"/>
                        </m:rPr>
                        <a:rPr lang="de-DE" sz="2400" b="0" i="0" smtClean="0">
                          <a:latin typeface="Cambria Math" panose="02040503050406030204" pitchFamily="18" charset="0"/>
                        </a:rPr>
                        <m:t>R</m:t>
                      </m:r>
                      <m:r>
                        <m:rPr>
                          <m:sty m:val="p"/>
                        </m:rPr>
                        <a:rPr lang="en-IN" sz="2400" b="0" i="0" smtClean="0">
                          <a:latin typeface="Cambria Math"/>
                        </a:rPr>
                        <m:t>L</m:t>
                      </m:r>
                      <m:d>
                        <m:dPr>
                          <m:ctrlPr>
                            <a:rPr lang="en-IN" sz="2400" i="0" dirty="0">
                              <a:latin typeface="Brush Script MT" panose="03060802040406070304" pitchFamily="66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IN" sz="2400" i="0" dirty="0">
                              <a:latin typeface="Brush Script MT" panose="03060802040406070304" pitchFamily="66" charset="0"/>
                            </a:rPr>
                            <m:t>D</m:t>
                          </m:r>
                          <m:r>
                            <m:rPr>
                              <m:nor/>
                            </m:rPr>
                            <a:rPr lang="en-IN" sz="24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,N</m:t>
                          </m:r>
                        </m:e>
                      </m:d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8426" y="5941229"/>
                <a:ext cx="1296144" cy="461665"/>
              </a:xfrm>
              <a:prstGeom prst="rect">
                <a:avLst/>
              </a:prstGeom>
              <a:blipFill>
                <a:blip r:embed="rId5"/>
                <a:stretch>
                  <a:fillRect l="-1415" r="-3302" b="-10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D144AEA1-7010-4F44-4CA7-2B33CFD56F5D}"/>
                  </a:ext>
                </a:extLst>
              </p:cNvPr>
              <p:cNvSpPr txBox="1"/>
              <p:nvPr/>
            </p:nvSpPr>
            <p:spPr>
              <a:xfrm>
                <a:off x="3093838" y="5739233"/>
                <a:ext cx="3544625" cy="10668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IN" sz="2400" i="1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IN" sz="2400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IN" sz="2400">
                              <a:latin typeface="Cambria Math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IN" sz="2400">
                              <a:latin typeface="Cambria Math"/>
                              <a:ea typeface="Cambria Math" panose="02040503050406030204" pitchFamily="18" charset="0"/>
                            </a:rPr>
                            <m:t>u</m:t>
                          </m:r>
                          <m:r>
                            <a:rPr lang="en-IN" sz="2400">
                              <a:latin typeface="Cambria Math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IN" sz="2400">
                              <a:latin typeface="Cambria Math"/>
                              <a:ea typeface="Cambria Math" panose="02040503050406030204" pitchFamily="18" charset="0"/>
                            </a:rPr>
                            <m:t>v</m:t>
                          </m:r>
                          <m:r>
                            <a:rPr lang="en-IN" sz="2400">
                              <a:latin typeface="Cambria Math"/>
                              <a:ea typeface="Cambria Math" panose="02040503050406030204" pitchFamily="18" charset="0"/>
                            </a:rPr>
                            <m:t>)∈</m:t>
                          </m:r>
                          <m:r>
                            <m:rPr>
                              <m:nor/>
                            </m:rPr>
                            <a:rPr lang="en-IN" sz="2400" i="0" dirty="0">
                              <a:latin typeface="Brush Script MT" panose="03060802040406070304" pitchFamily="66" charset="0"/>
                            </a:rPr>
                            <m:t>D</m:t>
                          </m:r>
                        </m:sub>
                        <m:sup/>
                        <m:e>
                          <m:r>
                            <m:rPr>
                              <m:sty m:val="p"/>
                            </m:rPr>
                            <a:rPr lang="en-IN" sz="2400" dirty="0">
                              <a:latin typeface="Cambria Math"/>
                            </a:rPr>
                            <m:t>p</m:t>
                          </m:r>
                          <m:d>
                            <m:dPr>
                              <m:ctrlPr>
                                <a:rPr lang="en-IN" sz="2400" dirty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IN" sz="2400" dirty="0">
                                  <a:latin typeface="Cambria Math"/>
                                </a:rPr>
                                <m:t>u</m:t>
                              </m:r>
                              <m:r>
                                <a:rPr lang="en-IN" sz="2400" dirty="0">
                                  <a:latin typeface="Cambria Math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IN" sz="2400" dirty="0">
                                  <a:latin typeface="Cambria Math"/>
                                </a:rPr>
                                <m:t>v</m:t>
                              </m:r>
                            </m:e>
                          </m:d>
                          <m:r>
                            <a:rPr lang="en-IN" sz="2400" dirty="0">
                              <a:latin typeface="Cambria Math"/>
                              <a:ea typeface="Cambria Math"/>
                            </a:rPr>
                            <m:t>∙</m:t>
                          </m:r>
                          <m:r>
                            <m:rPr>
                              <m:sty m:val="p"/>
                            </m:rPr>
                            <a:rPr lang="en-IN" sz="2400" dirty="0">
                              <a:latin typeface="Cambria Math"/>
                            </a:rPr>
                            <m:t>d</m:t>
                          </m:r>
                          <m:r>
                            <m:rPr>
                              <m:sty m:val="p"/>
                            </m:rPr>
                            <a:rPr lang="en-IN" sz="2400" baseline="-25000" dirty="0">
                              <a:latin typeface="Cambria Math"/>
                            </a:rPr>
                            <m:t>N</m:t>
                          </m:r>
                          <m:r>
                            <a:rPr lang="en-IN" sz="2400" dirty="0">
                              <a:latin typeface="Cambria Math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IN" sz="2400" dirty="0">
                              <a:latin typeface="Cambria Math"/>
                            </a:rPr>
                            <m:t>u</m:t>
                          </m:r>
                          <m:r>
                            <a:rPr lang="en-IN" sz="2400" dirty="0">
                              <a:latin typeface="Cambria Math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IN" sz="2400" dirty="0">
                              <a:latin typeface="Cambria Math"/>
                            </a:rPr>
                            <m:t>v</m:t>
                          </m:r>
                          <m:r>
                            <a:rPr lang="en-IN" sz="2400" i="1" dirty="0">
                              <a:latin typeface="Cambria Math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52" name="TextBox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3838" y="5739233"/>
                <a:ext cx="3544625" cy="106689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Google Shape;1810;g60be7dcf1c_0_698">
            <a:extLst>
              <a:ext uri="{FF2B5EF4-FFF2-40B4-BE49-F238E27FC236}">
                <a16:creationId xmlns:a16="http://schemas.microsoft.com/office/drawing/2014/main" id="{25CA7594-7B12-160A-9199-344C0C4446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3075" y="324175"/>
            <a:ext cx="5870638" cy="18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l">
              <a:buSzPts val="1100"/>
            </a:pPr>
            <a:r>
              <a:rPr lang="en-GB" sz="2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Case Study “Route Lengths”</a:t>
            </a:r>
            <a:br>
              <a:rPr lang="en-GB" sz="32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Constant-Degree Demand-Aware Network</a:t>
            </a:r>
          </a:p>
        </p:txBody>
      </p:sp>
      <p:sp>
        <p:nvSpPr>
          <p:cNvPr id="2" name="Rectangle 25">
            <a:extLst>
              <a:ext uri="{FF2B5EF4-FFF2-40B4-BE49-F238E27FC236}">
                <a16:creationId xmlns:a16="http://schemas.microsoft.com/office/drawing/2014/main" id="{D0868550-F239-1519-83F2-8FDF4E7F8255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E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4992493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0">
          <a:extLst>
            <a:ext uri="{FF2B5EF4-FFF2-40B4-BE49-F238E27FC236}">
              <a16:creationId xmlns:a16="http://schemas.microsoft.com/office/drawing/2014/main" id="{4DDED92C-39C9-979E-2DFD-EDB163D19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1580;g60be7dcf1c_0_473">
            <a:extLst>
              <a:ext uri="{FF2B5EF4-FFF2-40B4-BE49-F238E27FC236}">
                <a16:creationId xmlns:a16="http://schemas.microsoft.com/office/drawing/2014/main" id="{81D7FB45-1BB7-5FF4-9FA2-A78D24CF0A93}"/>
              </a:ext>
            </a:extLst>
          </p:cNvPr>
          <p:cNvSpPr txBox="1"/>
          <p:nvPr/>
        </p:nvSpPr>
        <p:spPr>
          <a:xfrm>
            <a:off x="0" y="540000"/>
            <a:ext cx="8211000" cy="144000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E223E0-7E10-11BC-81C7-813655CDD96D}"/>
              </a:ext>
            </a:extLst>
          </p:cNvPr>
          <p:cNvSpPr txBox="1"/>
          <p:nvPr/>
        </p:nvSpPr>
        <p:spPr>
          <a:xfrm rot="16200000">
            <a:off x="188278" y="3923238"/>
            <a:ext cx="8803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Consolas" panose="020B0609020204030204" pitchFamily="49" charset="0"/>
                <a:ea typeface="Cambria Math" panose="02040503050406030204" pitchFamily="18" charset="0"/>
              </a:rPr>
              <a:t>Sources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846F47-EEE1-4450-BE2B-67DAB3F55C81}"/>
              </a:ext>
            </a:extLst>
          </p:cNvPr>
          <p:cNvSpPr txBox="1"/>
          <p:nvPr/>
        </p:nvSpPr>
        <p:spPr>
          <a:xfrm>
            <a:off x="1984616" y="2181340"/>
            <a:ext cx="13773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Consolas" panose="020B0609020204030204" pitchFamily="49" charset="0"/>
              </a:rPr>
              <a:t>Destinations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7FAACC25-2D42-2E8F-871B-97BC67257E8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231395" y="2808081"/>
              <a:ext cx="3002909" cy="264477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8987">
                      <a:extLst>
                        <a:ext uri="{9D8B030D-6E8A-4147-A177-3AD203B41FA5}">
                          <a16:colId xmlns:a16="http://schemas.microsoft.com/office/drawing/2014/main" val="3864413765"/>
                        </a:ext>
                      </a:extLst>
                    </a:gridCol>
                    <a:gridCol w="428987">
                      <a:extLst>
                        <a:ext uri="{9D8B030D-6E8A-4147-A177-3AD203B41FA5}">
                          <a16:colId xmlns:a16="http://schemas.microsoft.com/office/drawing/2014/main" val="3806580306"/>
                        </a:ext>
                      </a:extLst>
                    </a:gridCol>
                    <a:gridCol w="428987">
                      <a:extLst>
                        <a:ext uri="{9D8B030D-6E8A-4147-A177-3AD203B41FA5}">
                          <a16:colId xmlns:a16="http://schemas.microsoft.com/office/drawing/2014/main" val="123248972"/>
                        </a:ext>
                      </a:extLst>
                    </a:gridCol>
                    <a:gridCol w="428987">
                      <a:extLst>
                        <a:ext uri="{9D8B030D-6E8A-4147-A177-3AD203B41FA5}">
                          <a16:colId xmlns:a16="http://schemas.microsoft.com/office/drawing/2014/main" val="1797807495"/>
                        </a:ext>
                      </a:extLst>
                    </a:gridCol>
                    <a:gridCol w="428987">
                      <a:extLst>
                        <a:ext uri="{9D8B030D-6E8A-4147-A177-3AD203B41FA5}">
                          <a16:colId xmlns:a16="http://schemas.microsoft.com/office/drawing/2014/main" val="3083318154"/>
                        </a:ext>
                      </a:extLst>
                    </a:gridCol>
                    <a:gridCol w="428987">
                      <a:extLst>
                        <a:ext uri="{9D8B030D-6E8A-4147-A177-3AD203B41FA5}">
                          <a16:colId xmlns:a16="http://schemas.microsoft.com/office/drawing/2014/main" val="3343020069"/>
                        </a:ext>
                      </a:extLst>
                    </a:gridCol>
                    <a:gridCol w="428987">
                      <a:extLst>
                        <a:ext uri="{9D8B030D-6E8A-4147-A177-3AD203B41FA5}">
                          <a16:colId xmlns:a16="http://schemas.microsoft.com/office/drawing/2014/main" val="340397575"/>
                        </a:ext>
                      </a:extLst>
                    </a:gridCol>
                  </a:tblGrid>
                  <a:tr h="34044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05930682"/>
                      </a:ext>
                    </a:extLst>
                  </a:tr>
                  <a:tr h="34044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3934695"/>
                      </a:ext>
                    </a:extLst>
                  </a:tr>
                  <a:tr h="34044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b="0" dirty="0">
                            <a:solidFill>
                              <a:schemeClr val="bg1">
                                <a:lumMod val="65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b="0" dirty="0">
                            <a:solidFill>
                              <a:schemeClr val="bg1">
                                <a:lumMod val="65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21555389"/>
                      </a:ext>
                    </a:extLst>
                  </a:tr>
                  <a:tr h="34044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b="0" dirty="0">
                            <a:solidFill>
                              <a:schemeClr val="bg1">
                                <a:lumMod val="65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4670812"/>
                      </a:ext>
                    </a:extLst>
                  </a:tr>
                  <a:tr h="34044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dirty="0">
                            <a:solidFill>
                              <a:schemeClr val="bg1">
                                <a:lumMod val="65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8825016"/>
                      </a:ext>
                    </a:extLst>
                  </a:tr>
                  <a:tr h="34044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01367391"/>
                      </a:ext>
                    </a:extLst>
                  </a:tr>
                  <a:tr h="340442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2736237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70043434"/>
                  </p:ext>
                </p:extLst>
              </p:nvPr>
            </p:nvGraphicFramePr>
            <p:xfrm>
              <a:off x="1231395" y="2808081"/>
              <a:ext cx="3002909" cy="264477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8987">
                      <a:extLst>
                        <a:ext uri="{9D8B030D-6E8A-4147-A177-3AD203B41FA5}">
                          <a16:colId xmlns:a16="http://schemas.microsoft.com/office/drawing/2014/main" val="3864413765"/>
                        </a:ext>
                      </a:extLst>
                    </a:gridCol>
                    <a:gridCol w="428987">
                      <a:extLst>
                        <a:ext uri="{9D8B030D-6E8A-4147-A177-3AD203B41FA5}">
                          <a16:colId xmlns:a16="http://schemas.microsoft.com/office/drawing/2014/main" val="3806580306"/>
                        </a:ext>
                      </a:extLst>
                    </a:gridCol>
                    <a:gridCol w="428987">
                      <a:extLst>
                        <a:ext uri="{9D8B030D-6E8A-4147-A177-3AD203B41FA5}">
                          <a16:colId xmlns:a16="http://schemas.microsoft.com/office/drawing/2014/main" val="123248972"/>
                        </a:ext>
                      </a:extLst>
                    </a:gridCol>
                    <a:gridCol w="428987">
                      <a:extLst>
                        <a:ext uri="{9D8B030D-6E8A-4147-A177-3AD203B41FA5}">
                          <a16:colId xmlns:a16="http://schemas.microsoft.com/office/drawing/2014/main" val="1797807495"/>
                        </a:ext>
                      </a:extLst>
                    </a:gridCol>
                    <a:gridCol w="428987">
                      <a:extLst>
                        <a:ext uri="{9D8B030D-6E8A-4147-A177-3AD203B41FA5}">
                          <a16:colId xmlns:a16="http://schemas.microsoft.com/office/drawing/2014/main" val="3083318154"/>
                        </a:ext>
                      </a:extLst>
                    </a:gridCol>
                    <a:gridCol w="428987">
                      <a:extLst>
                        <a:ext uri="{9D8B030D-6E8A-4147-A177-3AD203B41FA5}">
                          <a16:colId xmlns:a16="http://schemas.microsoft.com/office/drawing/2014/main" val="3343020069"/>
                        </a:ext>
                      </a:extLst>
                    </a:gridCol>
                    <a:gridCol w="428987">
                      <a:extLst>
                        <a:ext uri="{9D8B030D-6E8A-4147-A177-3AD203B41FA5}">
                          <a16:colId xmlns:a16="http://schemas.microsoft.com/office/drawing/2014/main" val="340397575"/>
                        </a:ext>
                      </a:extLst>
                    </a:gridCol>
                  </a:tblGrid>
                  <a:tr h="37782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1408" t="-3226" r="-498592" b="-6112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4286" t="-3226" r="-405714" b="-6112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00000" t="-3226" r="-300000" b="-6112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05714" t="-3226" r="-204286" b="-6112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98592" t="-3226" r="-101408" b="-6112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607143" t="-3226" r="-2857" b="-6112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05930682"/>
                      </a:ext>
                    </a:extLst>
                  </a:tr>
                  <a:tr h="377825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857" t="-103226" r="-607143" b="-5112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4286" t="-103226" r="-405714" b="-5112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607143" t="-103226" r="-2857" b="-5112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3934695"/>
                      </a:ext>
                    </a:extLst>
                  </a:tr>
                  <a:tr h="377825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857" t="-203226" r="-607143" b="-4112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1408" t="-203226" r="-498592" b="-4112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00000" t="-203226" r="-300000" b="-4112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607143" t="-203226" r="-2857" b="-4112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21555389"/>
                      </a:ext>
                    </a:extLst>
                  </a:tr>
                  <a:tr h="377825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857" t="-298413" r="-607143" b="-3047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4286" t="-298413" r="-405714" b="-3047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05714" t="-298413" r="-204286" b="-3047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4670812"/>
                      </a:ext>
                    </a:extLst>
                  </a:tr>
                  <a:tr h="377825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857" t="-404839" r="-607143" b="-2096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4286" t="-404839" r="-405714" b="-2096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00000" t="-404839" r="-300000" b="-2096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8825016"/>
                      </a:ext>
                    </a:extLst>
                  </a:tr>
                  <a:tr h="377825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857" t="-504839" r="-607143" b="-1096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607143" t="-504839" r="-2857" b="-1096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01367391"/>
                      </a:ext>
                    </a:extLst>
                  </a:tr>
                  <a:tr h="377825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857" t="-604839" r="-607143" b="-96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1408" t="-604839" r="-498592" b="-96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4286" t="-604839" r="-405714" b="-96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98592" t="-604839" r="-101408" b="-96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2736237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F453864C-7F8B-2DE8-855E-B24F3C94EB04}"/>
              </a:ext>
            </a:extLst>
          </p:cNvPr>
          <p:cNvSpPr txBox="1"/>
          <p:nvPr/>
        </p:nvSpPr>
        <p:spPr>
          <a:xfrm>
            <a:off x="898208" y="2766270"/>
            <a:ext cx="284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8EAAD4-19A5-F721-4BE9-05FF1ED38E3D}"/>
              </a:ext>
            </a:extLst>
          </p:cNvPr>
          <p:cNvSpPr txBox="1"/>
          <p:nvPr/>
        </p:nvSpPr>
        <p:spPr>
          <a:xfrm>
            <a:off x="901800" y="3189026"/>
            <a:ext cx="284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D5CA3C-5E8C-56CF-BEC8-8CEAA4053A6E}"/>
              </a:ext>
            </a:extLst>
          </p:cNvPr>
          <p:cNvSpPr txBox="1"/>
          <p:nvPr/>
        </p:nvSpPr>
        <p:spPr>
          <a:xfrm>
            <a:off x="898208" y="3558358"/>
            <a:ext cx="284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35EB90-21BB-4934-CF00-CE1618165B94}"/>
              </a:ext>
            </a:extLst>
          </p:cNvPr>
          <p:cNvSpPr txBox="1"/>
          <p:nvPr/>
        </p:nvSpPr>
        <p:spPr>
          <a:xfrm>
            <a:off x="898208" y="3945802"/>
            <a:ext cx="284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6B02F7-2B0A-E165-CD71-F37484C1EEE4}"/>
              </a:ext>
            </a:extLst>
          </p:cNvPr>
          <p:cNvSpPr txBox="1"/>
          <p:nvPr/>
        </p:nvSpPr>
        <p:spPr>
          <a:xfrm>
            <a:off x="910223" y="4320706"/>
            <a:ext cx="284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CD104E-3133-CE27-67A8-AED91EFE51AB}"/>
              </a:ext>
            </a:extLst>
          </p:cNvPr>
          <p:cNvSpPr txBox="1"/>
          <p:nvPr/>
        </p:nvSpPr>
        <p:spPr>
          <a:xfrm>
            <a:off x="910223" y="4690038"/>
            <a:ext cx="284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0E1E2EB-7CF4-CF3A-2DB1-D4954F9FBAF0}"/>
              </a:ext>
            </a:extLst>
          </p:cNvPr>
          <p:cNvSpPr txBox="1"/>
          <p:nvPr/>
        </p:nvSpPr>
        <p:spPr>
          <a:xfrm>
            <a:off x="919219" y="5095126"/>
            <a:ext cx="284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60B49EB-0F39-32A2-D1F7-80EF707CAA2E}"/>
              </a:ext>
            </a:extLst>
          </p:cNvPr>
          <p:cNvSpPr txBox="1"/>
          <p:nvPr/>
        </p:nvSpPr>
        <p:spPr>
          <a:xfrm>
            <a:off x="1289011" y="2436226"/>
            <a:ext cx="284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01DFF23-6207-0E80-253D-121E7A01FA0C}"/>
              </a:ext>
            </a:extLst>
          </p:cNvPr>
          <p:cNvSpPr txBox="1"/>
          <p:nvPr/>
        </p:nvSpPr>
        <p:spPr>
          <a:xfrm>
            <a:off x="1679814" y="2446300"/>
            <a:ext cx="284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03CF8BD-A89F-77EF-BA97-BA3EBAC1F400}"/>
              </a:ext>
            </a:extLst>
          </p:cNvPr>
          <p:cNvSpPr txBox="1"/>
          <p:nvPr/>
        </p:nvSpPr>
        <p:spPr>
          <a:xfrm>
            <a:off x="2123601" y="2446300"/>
            <a:ext cx="284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8A61CC6-1647-290A-5C13-25C3AEB1C34F}"/>
              </a:ext>
            </a:extLst>
          </p:cNvPr>
          <p:cNvSpPr txBox="1"/>
          <p:nvPr/>
        </p:nvSpPr>
        <p:spPr>
          <a:xfrm>
            <a:off x="2572089" y="2436226"/>
            <a:ext cx="284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E51388A-2CDF-552A-8431-5BB2DAD03628}"/>
              </a:ext>
            </a:extLst>
          </p:cNvPr>
          <p:cNvSpPr txBox="1"/>
          <p:nvPr/>
        </p:nvSpPr>
        <p:spPr>
          <a:xfrm>
            <a:off x="3015482" y="2436226"/>
            <a:ext cx="284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0F70B3D-5059-F997-CA30-A2CF85EC90D7}"/>
              </a:ext>
            </a:extLst>
          </p:cNvPr>
          <p:cNvSpPr txBox="1"/>
          <p:nvPr/>
        </p:nvSpPr>
        <p:spPr>
          <a:xfrm>
            <a:off x="3405777" y="2446300"/>
            <a:ext cx="284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6644DD9-6FE6-5A1F-170F-EA7DADE80452}"/>
              </a:ext>
            </a:extLst>
          </p:cNvPr>
          <p:cNvSpPr txBox="1"/>
          <p:nvPr/>
        </p:nvSpPr>
        <p:spPr>
          <a:xfrm>
            <a:off x="3859564" y="2446300"/>
            <a:ext cx="284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7</a:t>
            </a:r>
          </a:p>
        </p:txBody>
      </p:sp>
      <p:pic>
        <p:nvPicPr>
          <p:cNvPr id="22" name="Picture 2" descr="Image result for fast forward">
            <a:extLst>
              <a:ext uri="{FF2B5EF4-FFF2-40B4-BE49-F238E27FC236}">
                <a16:creationId xmlns:a16="http://schemas.microsoft.com/office/drawing/2014/main" id="{928E5D9A-8019-BFFE-DE57-53159616B6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2175" y="3816495"/>
            <a:ext cx="475309" cy="475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3155F467-06E1-E93A-C00C-8CC214C9CC2B}"/>
              </a:ext>
            </a:extLst>
          </p:cNvPr>
          <p:cNvSpPr txBox="1"/>
          <p:nvPr/>
        </p:nvSpPr>
        <p:spPr>
          <a:xfrm>
            <a:off x="4826016" y="4253102"/>
            <a:ext cx="284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</a:p>
        </p:txBody>
      </p:sp>
      <p:grpSp>
        <p:nvGrpSpPr>
          <p:cNvPr id="1879" name="Group 1878">
            <a:extLst>
              <a:ext uri="{FF2B5EF4-FFF2-40B4-BE49-F238E27FC236}">
                <a16:creationId xmlns:a16="http://schemas.microsoft.com/office/drawing/2014/main" id="{AEE38DC2-734D-22A0-C76B-5E3AABDF5031}"/>
              </a:ext>
            </a:extLst>
          </p:cNvPr>
          <p:cNvGrpSpPr/>
          <p:nvPr/>
        </p:nvGrpSpPr>
        <p:grpSpPr>
          <a:xfrm>
            <a:off x="5010780" y="2347058"/>
            <a:ext cx="3184258" cy="3388533"/>
            <a:chOff x="5010780" y="2347058"/>
            <a:chExt cx="3184258" cy="3388533"/>
          </a:xfrm>
        </p:grpSpPr>
        <p:cxnSp>
          <p:nvCxnSpPr>
            <p:cNvPr id="23" name="Gerader Verbinder 22">
              <a:extLst>
                <a:ext uri="{FF2B5EF4-FFF2-40B4-BE49-F238E27FC236}">
                  <a16:creationId xmlns:a16="http://schemas.microsoft.com/office/drawing/2014/main" id="{AD031500-74D6-C1AA-20BF-E933515BDD38}"/>
                </a:ext>
              </a:extLst>
            </p:cNvPr>
            <p:cNvCxnSpPr>
              <a:cxnSpLocks/>
              <a:stCxn id="35" idx="5"/>
              <a:endCxn id="36" idx="1"/>
            </p:cNvCxnSpPr>
            <p:nvPr/>
          </p:nvCxnSpPr>
          <p:spPr>
            <a:xfrm>
              <a:off x="6569475" y="2851296"/>
              <a:ext cx="912722" cy="36661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Gerader Verbinder 22">
              <a:extLst>
                <a:ext uri="{FF2B5EF4-FFF2-40B4-BE49-F238E27FC236}">
                  <a16:creationId xmlns:a16="http://schemas.microsoft.com/office/drawing/2014/main" id="{3E87B75E-7090-F44C-C7EF-328DF1B80EB3}"/>
                </a:ext>
              </a:extLst>
            </p:cNvPr>
            <p:cNvCxnSpPr>
              <a:stCxn id="36" idx="0"/>
              <a:endCxn id="38" idx="4"/>
            </p:cNvCxnSpPr>
            <p:nvPr/>
          </p:nvCxnSpPr>
          <p:spPr>
            <a:xfrm flipH="1">
              <a:off x="7257975" y="3186273"/>
              <a:ext cx="300598" cy="215346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Gerader Verbinder 22">
              <a:extLst>
                <a:ext uri="{FF2B5EF4-FFF2-40B4-BE49-F238E27FC236}">
                  <a16:creationId xmlns:a16="http://schemas.microsoft.com/office/drawing/2014/main" id="{80809768-D851-2E8C-5C0C-2D964664537D}"/>
                </a:ext>
              </a:extLst>
            </p:cNvPr>
            <p:cNvCxnSpPr>
              <a:cxnSpLocks/>
              <a:stCxn id="37" idx="3"/>
              <a:endCxn id="38" idx="7"/>
            </p:cNvCxnSpPr>
            <p:nvPr/>
          </p:nvCxnSpPr>
          <p:spPr>
            <a:xfrm flipH="1">
              <a:off x="7334351" y="4499522"/>
              <a:ext cx="408610" cy="65582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Gerader Verbinder 22">
              <a:extLst>
                <a:ext uri="{FF2B5EF4-FFF2-40B4-BE49-F238E27FC236}">
                  <a16:creationId xmlns:a16="http://schemas.microsoft.com/office/drawing/2014/main" id="{2577014A-07F3-34A6-3D71-9DEDCA14299A}"/>
                </a:ext>
              </a:extLst>
            </p:cNvPr>
            <p:cNvCxnSpPr>
              <a:stCxn id="39" idx="2"/>
              <a:endCxn id="38" idx="6"/>
            </p:cNvCxnSpPr>
            <p:nvPr/>
          </p:nvCxnSpPr>
          <p:spPr>
            <a:xfrm>
              <a:off x="5634896" y="5231726"/>
              <a:ext cx="173109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Gerader Verbinder 22">
              <a:extLst>
                <a:ext uri="{FF2B5EF4-FFF2-40B4-BE49-F238E27FC236}">
                  <a16:creationId xmlns:a16="http://schemas.microsoft.com/office/drawing/2014/main" id="{C21512B9-86B1-B330-46E3-CF58332CDBDD}"/>
                </a:ext>
              </a:extLst>
            </p:cNvPr>
            <p:cNvCxnSpPr>
              <a:cxnSpLocks/>
              <a:stCxn id="40" idx="0"/>
              <a:endCxn id="41" idx="0"/>
            </p:cNvCxnSpPr>
            <p:nvPr/>
          </p:nvCxnSpPr>
          <p:spPr>
            <a:xfrm flipV="1">
              <a:off x="5192318" y="3186273"/>
              <a:ext cx="201210" cy="111921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Gerader Verbinder 22">
              <a:extLst>
                <a:ext uri="{FF2B5EF4-FFF2-40B4-BE49-F238E27FC236}">
                  <a16:creationId xmlns:a16="http://schemas.microsoft.com/office/drawing/2014/main" id="{D5DE8004-2DD9-1347-0AE8-2CADB426D924}"/>
                </a:ext>
              </a:extLst>
            </p:cNvPr>
            <p:cNvCxnSpPr>
              <a:cxnSpLocks/>
              <a:stCxn id="40" idx="7"/>
              <a:endCxn id="48" idx="2"/>
            </p:cNvCxnSpPr>
            <p:nvPr/>
          </p:nvCxnSpPr>
          <p:spPr>
            <a:xfrm flipV="1">
              <a:off x="5268694" y="2716390"/>
              <a:ext cx="1231747" cy="162073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Gerader Verbinder 22">
              <a:extLst>
                <a:ext uri="{FF2B5EF4-FFF2-40B4-BE49-F238E27FC236}">
                  <a16:creationId xmlns:a16="http://schemas.microsoft.com/office/drawing/2014/main" id="{A542F6BC-3835-C63A-2BCE-23C13B55C689}"/>
                </a:ext>
              </a:extLst>
            </p:cNvPr>
            <p:cNvCxnSpPr>
              <a:stCxn id="41" idx="2"/>
              <a:endCxn id="36" idx="6"/>
            </p:cNvCxnSpPr>
            <p:nvPr/>
          </p:nvCxnSpPr>
          <p:spPr>
            <a:xfrm>
              <a:off x="5285516" y="3294285"/>
              <a:ext cx="238106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Gerader Verbinder 22">
              <a:extLst>
                <a:ext uri="{FF2B5EF4-FFF2-40B4-BE49-F238E27FC236}">
                  <a16:creationId xmlns:a16="http://schemas.microsoft.com/office/drawing/2014/main" id="{24600959-52B8-BB58-0AC3-9F26E829E50B}"/>
                </a:ext>
              </a:extLst>
            </p:cNvPr>
            <p:cNvCxnSpPr>
              <a:cxnSpLocks/>
              <a:stCxn id="35" idx="4"/>
              <a:endCxn id="39" idx="4"/>
            </p:cNvCxnSpPr>
            <p:nvPr/>
          </p:nvCxnSpPr>
          <p:spPr>
            <a:xfrm flipH="1">
              <a:off x="5742908" y="2882932"/>
              <a:ext cx="750191" cy="24568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Gerader Verbinder 22">
              <a:extLst>
                <a:ext uri="{FF2B5EF4-FFF2-40B4-BE49-F238E27FC236}">
                  <a16:creationId xmlns:a16="http://schemas.microsoft.com/office/drawing/2014/main" id="{98ECAD1E-9767-3582-9123-581C5147BCD7}"/>
                </a:ext>
              </a:extLst>
            </p:cNvPr>
            <p:cNvCxnSpPr>
              <a:cxnSpLocks/>
              <a:stCxn id="37" idx="2"/>
              <a:endCxn id="40" idx="6"/>
            </p:cNvCxnSpPr>
            <p:nvPr/>
          </p:nvCxnSpPr>
          <p:spPr>
            <a:xfrm flipH="1" flipV="1">
              <a:off x="5300330" y="4413504"/>
              <a:ext cx="2410995" cy="964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Gerader Verbinder 22">
              <a:extLst>
                <a:ext uri="{FF2B5EF4-FFF2-40B4-BE49-F238E27FC236}">
                  <a16:creationId xmlns:a16="http://schemas.microsoft.com/office/drawing/2014/main" id="{17DEF5DA-75EB-ED3A-3CCD-22D7B7F5910E}"/>
                </a:ext>
              </a:extLst>
            </p:cNvPr>
            <p:cNvCxnSpPr>
              <a:stCxn id="41" idx="0"/>
              <a:endCxn id="39" idx="5"/>
            </p:cNvCxnSpPr>
            <p:nvPr/>
          </p:nvCxnSpPr>
          <p:spPr>
            <a:xfrm>
              <a:off x="5393528" y="3186273"/>
              <a:ext cx="425756" cy="212182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Oval 44">
              <a:extLst>
                <a:ext uri="{FF2B5EF4-FFF2-40B4-BE49-F238E27FC236}">
                  <a16:creationId xmlns:a16="http://schemas.microsoft.com/office/drawing/2014/main" id="{F5C90ADF-2C7E-302E-275B-2DD2E9420005}"/>
                </a:ext>
              </a:extLst>
            </p:cNvPr>
            <p:cNvSpPr/>
            <p:nvPr/>
          </p:nvSpPr>
          <p:spPr>
            <a:xfrm>
              <a:off x="6385087" y="2666908"/>
              <a:ext cx="216024" cy="216024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/>
                </a:solidFill>
              </a:endParaRPr>
            </a:p>
          </p:txBody>
        </p:sp>
        <p:sp>
          <p:nvSpPr>
            <p:cNvPr id="36" name="Oval 44">
              <a:extLst>
                <a:ext uri="{FF2B5EF4-FFF2-40B4-BE49-F238E27FC236}">
                  <a16:creationId xmlns:a16="http://schemas.microsoft.com/office/drawing/2014/main" id="{9CD4D049-A8AF-5649-F9A6-D84CFFF34A17}"/>
                </a:ext>
              </a:extLst>
            </p:cNvPr>
            <p:cNvSpPr/>
            <p:nvPr/>
          </p:nvSpPr>
          <p:spPr>
            <a:xfrm>
              <a:off x="7450561" y="3186273"/>
              <a:ext cx="216024" cy="216024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/>
                </a:solidFill>
              </a:endParaRPr>
            </a:p>
          </p:txBody>
        </p:sp>
        <p:sp>
          <p:nvSpPr>
            <p:cNvPr id="37" name="Oval 44">
              <a:extLst>
                <a:ext uri="{FF2B5EF4-FFF2-40B4-BE49-F238E27FC236}">
                  <a16:creationId xmlns:a16="http://schemas.microsoft.com/office/drawing/2014/main" id="{EC975879-E9A8-8C2E-6B4B-CBFAD9494C14}"/>
                </a:ext>
              </a:extLst>
            </p:cNvPr>
            <p:cNvSpPr/>
            <p:nvPr/>
          </p:nvSpPr>
          <p:spPr>
            <a:xfrm>
              <a:off x="7711325" y="4315134"/>
              <a:ext cx="216024" cy="216024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/>
                </a:solidFill>
              </a:endParaRPr>
            </a:p>
          </p:txBody>
        </p:sp>
        <p:sp>
          <p:nvSpPr>
            <p:cNvPr id="38" name="Oval 44">
              <a:extLst>
                <a:ext uri="{FF2B5EF4-FFF2-40B4-BE49-F238E27FC236}">
                  <a16:creationId xmlns:a16="http://schemas.microsoft.com/office/drawing/2014/main" id="{B9587F80-DF00-4089-4987-03B236F3E518}"/>
                </a:ext>
              </a:extLst>
            </p:cNvPr>
            <p:cNvSpPr/>
            <p:nvPr/>
          </p:nvSpPr>
          <p:spPr>
            <a:xfrm>
              <a:off x="7149963" y="5123714"/>
              <a:ext cx="216024" cy="216024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/>
                </a:solidFill>
              </a:endParaRPr>
            </a:p>
          </p:txBody>
        </p:sp>
        <p:sp>
          <p:nvSpPr>
            <p:cNvPr id="39" name="Oval 44">
              <a:extLst>
                <a:ext uri="{FF2B5EF4-FFF2-40B4-BE49-F238E27FC236}">
                  <a16:creationId xmlns:a16="http://schemas.microsoft.com/office/drawing/2014/main" id="{D2467BC2-9F7F-3420-0A89-171DC4B04C8C}"/>
                </a:ext>
              </a:extLst>
            </p:cNvPr>
            <p:cNvSpPr/>
            <p:nvPr/>
          </p:nvSpPr>
          <p:spPr>
            <a:xfrm>
              <a:off x="5634896" y="5123714"/>
              <a:ext cx="216024" cy="216024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/>
                </a:solidFill>
              </a:endParaRPr>
            </a:p>
          </p:txBody>
        </p:sp>
        <p:sp>
          <p:nvSpPr>
            <p:cNvPr id="40" name="Oval 44">
              <a:extLst>
                <a:ext uri="{FF2B5EF4-FFF2-40B4-BE49-F238E27FC236}">
                  <a16:creationId xmlns:a16="http://schemas.microsoft.com/office/drawing/2014/main" id="{9ABDEEF0-3344-D669-53D7-AAB9380A78E0}"/>
                </a:ext>
              </a:extLst>
            </p:cNvPr>
            <p:cNvSpPr/>
            <p:nvPr/>
          </p:nvSpPr>
          <p:spPr>
            <a:xfrm>
              <a:off x="5084306" y="4305492"/>
              <a:ext cx="216024" cy="216024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/>
                </a:solidFill>
              </a:endParaRPr>
            </a:p>
          </p:txBody>
        </p:sp>
        <p:sp>
          <p:nvSpPr>
            <p:cNvPr id="41" name="Oval 44">
              <a:extLst>
                <a:ext uri="{FF2B5EF4-FFF2-40B4-BE49-F238E27FC236}">
                  <a16:creationId xmlns:a16="http://schemas.microsoft.com/office/drawing/2014/main" id="{2826788A-BE0F-2658-D339-544CA785F0C4}"/>
                </a:ext>
              </a:extLst>
            </p:cNvPr>
            <p:cNvSpPr/>
            <p:nvPr/>
          </p:nvSpPr>
          <p:spPr>
            <a:xfrm>
              <a:off x="5285516" y="3186273"/>
              <a:ext cx="216024" cy="216024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/>
                </a:solidFill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5825417-CD05-49B4-DFE3-EAFFC473DADC}"/>
                </a:ext>
              </a:extLst>
            </p:cNvPr>
            <p:cNvSpPr txBox="1"/>
            <p:nvPr/>
          </p:nvSpPr>
          <p:spPr>
            <a:xfrm>
              <a:off x="5010780" y="3124953"/>
              <a:ext cx="2849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1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B889DDA0-64C9-2219-1A0D-51FCA9EAAFBE}"/>
                </a:ext>
              </a:extLst>
            </p:cNvPr>
            <p:cNvSpPr txBox="1"/>
            <p:nvPr/>
          </p:nvSpPr>
          <p:spPr>
            <a:xfrm>
              <a:off x="5599407" y="5366068"/>
              <a:ext cx="2849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3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FAAA5BFB-FA82-F161-EB63-D735C150AF47}"/>
                </a:ext>
              </a:extLst>
            </p:cNvPr>
            <p:cNvSpPr txBox="1"/>
            <p:nvPr/>
          </p:nvSpPr>
          <p:spPr>
            <a:xfrm>
              <a:off x="7133636" y="5366633"/>
              <a:ext cx="316925" cy="3689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4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FF2873EB-E24A-B9A9-4EF4-22242F54381A}"/>
                </a:ext>
              </a:extLst>
            </p:cNvPr>
            <p:cNvSpPr txBox="1"/>
            <p:nvPr/>
          </p:nvSpPr>
          <p:spPr>
            <a:xfrm>
              <a:off x="7933528" y="4260892"/>
              <a:ext cx="2615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5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81EABEDD-FC59-331F-1A4A-60EB765B44DE}"/>
                </a:ext>
              </a:extLst>
            </p:cNvPr>
            <p:cNvSpPr txBox="1"/>
            <p:nvPr/>
          </p:nvSpPr>
          <p:spPr>
            <a:xfrm>
              <a:off x="7697933" y="3135602"/>
              <a:ext cx="2615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6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67ECCAB1-551C-DFC2-567F-605216356BA8}"/>
                </a:ext>
              </a:extLst>
            </p:cNvPr>
            <p:cNvSpPr txBox="1"/>
            <p:nvPr/>
          </p:nvSpPr>
          <p:spPr>
            <a:xfrm>
              <a:off x="6369686" y="2347058"/>
              <a:ext cx="2615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7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85A81D2A-8327-EBE6-FCB6-348B230A1D5F}"/>
                  </a:ext>
                </a:extLst>
              </p:cNvPr>
              <p:cNvSpPr txBox="1"/>
              <p:nvPr/>
            </p:nvSpPr>
            <p:spPr>
              <a:xfrm>
                <a:off x="1808426" y="5941229"/>
                <a:ext cx="129614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IN" sz="2400" b="0" i="0" smtClean="0">
                          <a:latin typeface="Cambria Math"/>
                        </a:rPr>
                        <m:t>E</m:t>
                      </m:r>
                      <m:r>
                        <m:rPr>
                          <m:sty m:val="p"/>
                        </m:rPr>
                        <a:rPr lang="de-DE" sz="2400" b="0" i="0" smtClean="0">
                          <a:latin typeface="Cambria Math" panose="02040503050406030204" pitchFamily="18" charset="0"/>
                        </a:rPr>
                        <m:t>R</m:t>
                      </m:r>
                      <m:r>
                        <m:rPr>
                          <m:sty m:val="p"/>
                        </m:rPr>
                        <a:rPr lang="en-IN" sz="2400" b="0" i="0" smtClean="0">
                          <a:latin typeface="Cambria Math"/>
                        </a:rPr>
                        <m:t>L</m:t>
                      </m:r>
                      <m:d>
                        <m:dPr>
                          <m:ctrlPr>
                            <a:rPr lang="en-IN" sz="2400" i="0" dirty="0">
                              <a:latin typeface="Brush Script MT" panose="03060802040406070304" pitchFamily="66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IN" sz="2400" i="0" dirty="0">
                              <a:latin typeface="Brush Script MT" panose="03060802040406070304" pitchFamily="66" charset="0"/>
                            </a:rPr>
                            <m:t>D</m:t>
                          </m:r>
                          <m:r>
                            <m:rPr>
                              <m:nor/>
                            </m:rPr>
                            <a:rPr lang="en-IN" sz="24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,N</m:t>
                          </m:r>
                        </m:e>
                      </m:d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8426" y="5941229"/>
                <a:ext cx="1296144" cy="461665"/>
              </a:xfrm>
              <a:prstGeom prst="rect">
                <a:avLst/>
              </a:prstGeom>
              <a:blipFill>
                <a:blip r:embed="rId5"/>
                <a:stretch>
                  <a:fillRect l="-1415" r="-3302" b="-10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74D22377-0954-79FB-A9DB-7151FEE1978A}"/>
                  </a:ext>
                </a:extLst>
              </p:cNvPr>
              <p:cNvSpPr txBox="1"/>
              <p:nvPr/>
            </p:nvSpPr>
            <p:spPr>
              <a:xfrm>
                <a:off x="3093838" y="5739233"/>
                <a:ext cx="3544625" cy="10668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IN" sz="2400" i="1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IN" sz="2400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IN" sz="2400">
                              <a:latin typeface="Cambria Math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IN" sz="2400">
                              <a:latin typeface="Cambria Math"/>
                              <a:ea typeface="Cambria Math" panose="02040503050406030204" pitchFamily="18" charset="0"/>
                            </a:rPr>
                            <m:t>u</m:t>
                          </m:r>
                          <m:r>
                            <a:rPr lang="en-IN" sz="2400">
                              <a:latin typeface="Cambria Math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IN" sz="2400">
                              <a:latin typeface="Cambria Math"/>
                              <a:ea typeface="Cambria Math" panose="02040503050406030204" pitchFamily="18" charset="0"/>
                            </a:rPr>
                            <m:t>v</m:t>
                          </m:r>
                          <m:r>
                            <a:rPr lang="en-IN" sz="2400">
                              <a:latin typeface="Cambria Math"/>
                              <a:ea typeface="Cambria Math" panose="02040503050406030204" pitchFamily="18" charset="0"/>
                            </a:rPr>
                            <m:t>)∈</m:t>
                          </m:r>
                          <m:r>
                            <m:rPr>
                              <m:nor/>
                            </m:rPr>
                            <a:rPr lang="en-IN" sz="2400" i="0" dirty="0">
                              <a:latin typeface="Brush Script MT" panose="03060802040406070304" pitchFamily="66" charset="0"/>
                            </a:rPr>
                            <m:t>D</m:t>
                          </m:r>
                        </m:sub>
                        <m:sup/>
                        <m:e>
                          <m:r>
                            <m:rPr>
                              <m:sty m:val="p"/>
                            </m:rPr>
                            <a:rPr lang="en-IN" sz="2400" dirty="0">
                              <a:latin typeface="Cambria Math"/>
                            </a:rPr>
                            <m:t>p</m:t>
                          </m:r>
                          <m:d>
                            <m:dPr>
                              <m:ctrlPr>
                                <a:rPr lang="en-IN" sz="2400" dirty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IN" sz="2400" dirty="0">
                                  <a:latin typeface="Cambria Math"/>
                                </a:rPr>
                                <m:t>u</m:t>
                              </m:r>
                              <m:r>
                                <a:rPr lang="en-IN" sz="2400" dirty="0">
                                  <a:latin typeface="Cambria Math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IN" sz="2400" dirty="0">
                                  <a:latin typeface="Cambria Math"/>
                                </a:rPr>
                                <m:t>v</m:t>
                              </m:r>
                            </m:e>
                          </m:d>
                          <m:r>
                            <a:rPr lang="en-IN" sz="2400" dirty="0">
                              <a:latin typeface="Cambria Math"/>
                              <a:ea typeface="Cambria Math"/>
                            </a:rPr>
                            <m:t>∙</m:t>
                          </m:r>
                          <m:r>
                            <m:rPr>
                              <m:sty m:val="p"/>
                            </m:rPr>
                            <a:rPr lang="en-IN" sz="2400" dirty="0">
                              <a:latin typeface="Cambria Math"/>
                            </a:rPr>
                            <m:t>d</m:t>
                          </m:r>
                          <m:r>
                            <m:rPr>
                              <m:sty m:val="p"/>
                            </m:rPr>
                            <a:rPr lang="en-IN" sz="2400" baseline="-25000" dirty="0">
                              <a:latin typeface="Cambria Math"/>
                            </a:rPr>
                            <m:t>N</m:t>
                          </m:r>
                          <m:r>
                            <a:rPr lang="en-IN" sz="2400" dirty="0">
                              <a:latin typeface="Cambria Math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IN" sz="2400" dirty="0">
                              <a:latin typeface="Cambria Math"/>
                            </a:rPr>
                            <m:t>u</m:t>
                          </m:r>
                          <m:r>
                            <a:rPr lang="en-IN" sz="2400" dirty="0">
                              <a:latin typeface="Cambria Math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IN" sz="2400" dirty="0">
                              <a:latin typeface="Cambria Math"/>
                            </a:rPr>
                            <m:t>v</m:t>
                          </m:r>
                          <m:r>
                            <a:rPr lang="en-IN" sz="2400" i="1" dirty="0">
                              <a:latin typeface="Cambria Math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52" name="TextBox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3838" y="5739233"/>
                <a:ext cx="3544625" cy="106689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Google Shape;1810;g60be7dcf1c_0_698">
            <a:extLst>
              <a:ext uri="{FF2B5EF4-FFF2-40B4-BE49-F238E27FC236}">
                <a16:creationId xmlns:a16="http://schemas.microsoft.com/office/drawing/2014/main" id="{96AD8F31-F2AA-4DCC-7B8D-AC0562F864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3075" y="324175"/>
            <a:ext cx="5870638" cy="18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l">
              <a:buSzPts val="1100"/>
            </a:pPr>
            <a:r>
              <a:rPr lang="en-GB" sz="2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Case Study “Route Lengths”</a:t>
            </a:r>
            <a:br>
              <a:rPr lang="en-GB" sz="32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Constant-Degree Demand-Aware Network</a:t>
            </a:r>
          </a:p>
        </p:txBody>
      </p:sp>
      <p:sp>
        <p:nvSpPr>
          <p:cNvPr id="49" name="Google Shape;1827;g60be7dcf1c_0_698">
            <a:extLst>
              <a:ext uri="{FF2B5EF4-FFF2-40B4-BE49-F238E27FC236}">
                <a16:creationId xmlns:a16="http://schemas.microsoft.com/office/drawing/2014/main" id="{06459F8C-85AC-C33C-178A-134837B1522B}"/>
              </a:ext>
            </a:extLst>
          </p:cNvPr>
          <p:cNvSpPr/>
          <p:nvPr/>
        </p:nvSpPr>
        <p:spPr>
          <a:xfrm rot="11785300">
            <a:off x="5774409" y="6370574"/>
            <a:ext cx="546781" cy="212292"/>
          </a:xfrm>
          <a:prstGeom prst="homePlate">
            <a:avLst>
              <a:gd name="adj" fmla="val 50000"/>
            </a:avLst>
          </a:prstGeom>
          <a:solidFill>
            <a:schemeClr val="bg1"/>
          </a:solidFill>
          <a:ln w="1905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53" name="Google Shape;1828;g60be7dcf1c_0_698">
            <a:extLst>
              <a:ext uri="{FF2B5EF4-FFF2-40B4-BE49-F238E27FC236}">
                <a16:creationId xmlns:a16="http://schemas.microsoft.com/office/drawing/2014/main" id="{662BDB90-8900-5FF3-F425-88E613C49593}"/>
              </a:ext>
            </a:extLst>
          </p:cNvPr>
          <p:cNvSpPr txBox="1"/>
          <p:nvPr/>
        </p:nvSpPr>
        <p:spPr>
          <a:xfrm rot="988382">
            <a:off x="5857049" y="6302755"/>
            <a:ext cx="408562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DAN</a:t>
            </a:r>
          </a:p>
        </p:txBody>
      </p:sp>
      <p:sp>
        <p:nvSpPr>
          <p:cNvPr id="55" name="Google Shape;1827;g60be7dcf1c_0_698">
            <a:extLst>
              <a:ext uri="{FF2B5EF4-FFF2-40B4-BE49-F238E27FC236}">
                <a16:creationId xmlns:a16="http://schemas.microsoft.com/office/drawing/2014/main" id="{ECF70D3E-FA9F-B54C-108D-C694251A03C5}"/>
              </a:ext>
            </a:extLst>
          </p:cNvPr>
          <p:cNvSpPr/>
          <p:nvPr/>
        </p:nvSpPr>
        <p:spPr>
          <a:xfrm rot="11785300">
            <a:off x="4805150" y="6435899"/>
            <a:ext cx="841181" cy="210596"/>
          </a:xfrm>
          <a:prstGeom prst="homePlate">
            <a:avLst>
              <a:gd name="adj" fmla="val 50000"/>
            </a:avLst>
          </a:prstGeom>
          <a:solidFill>
            <a:schemeClr val="bg1"/>
          </a:solidFill>
          <a:ln w="1905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56" name="Google Shape;1828;g60be7dcf1c_0_698">
            <a:extLst>
              <a:ext uri="{FF2B5EF4-FFF2-40B4-BE49-F238E27FC236}">
                <a16:creationId xmlns:a16="http://schemas.microsoft.com/office/drawing/2014/main" id="{D88975B5-AB68-904D-7230-FD8D20C4EA40}"/>
              </a:ext>
            </a:extLst>
          </p:cNvPr>
          <p:cNvSpPr txBox="1"/>
          <p:nvPr/>
        </p:nvSpPr>
        <p:spPr>
          <a:xfrm rot="988382">
            <a:off x="4940926" y="6374051"/>
            <a:ext cx="632307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Demand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8BFCA88-424B-766D-2CEA-1AE549AC6937}"/>
              </a:ext>
            </a:extLst>
          </p:cNvPr>
          <p:cNvSpPr txBox="1"/>
          <p:nvPr/>
        </p:nvSpPr>
        <p:spPr>
          <a:xfrm>
            <a:off x="1804094" y="6345500"/>
            <a:ext cx="16754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dirty="0">
                <a:solidFill>
                  <a:srgbClr val="C00000"/>
                </a:solidFill>
                <a:latin typeface="Consolas" panose="020B0609020204030204" pitchFamily="49" charset="0"/>
              </a:rPr>
              <a:t>Expected Route </a:t>
            </a:r>
          </a:p>
          <a:p>
            <a:pPr algn="ctr"/>
            <a:r>
              <a:rPr lang="en-IN" dirty="0">
                <a:solidFill>
                  <a:srgbClr val="C00000"/>
                </a:solidFill>
                <a:latin typeface="Consolas" panose="020B0609020204030204" pitchFamily="49" charset="0"/>
              </a:rPr>
              <a:t>Length</a:t>
            </a:r>
          </a:p>
        </p:txBody>
      </p:sp>
      <p:sp>
        <p:nvSpPr>
          <p:cNvPr id="2" name="Rectangle 25">
            <a:extLst>
              <a:ext uri="{FF2B5EF4-FFF2-40B4-BE49-F238E27FC236}">
                <a16:creationId xmlns:a16="http://schemas.microsoft.com/office/drawing/2014/main" id="{D4245492-C722-6372-1075-0DFE664190AB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E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817773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0">
          <a:extLst>
            <a:ext uri="{FF2B5EF4-FFF2-40B4-BE49-F238E27FC236}">
              <a16:creationId xmlns:a16="http://schemas.microsoft.com/office/drawing/2014/main" id="{A5E4E69F-80CA-7AA0-44B3-23473F1E8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1580;g60be7dcf1c_0_473">
            <a:extLst>
              <a:ext uri="{FF2B5EF4-FFF2-40B4-BE49-F238E27FC236}">
                <a16:creationId xmlns:a16="http://schemas.microsoft.com/office/drawing/2014/main" id="{CEF36222-D10D-AD2B-9550-B4D358DA1C5D}"/>
              </a:ext>
            </a:extLst>
          </p:cNvPr>
          <p:cNvSpPr txBox="1"/>
          <p:nvPr/>
        </p:nvSpPr>
        <p:spPr>
          <a:xfrm>
            <a:off x="0" y="540000"/>
            <a:ext cx="8211000" cy="144000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F38034-3649-4E29-403F-72B8E48BA9FC}"/>
              </a:ext>
            </a:extLst>
          </p:cNvPr>
          <p:cNvSpPr txBox="1"/>
          <p:nvPr/>
        </p:nvSpPr>
        <p:spPr>
          <a:xfrm rot="16200000">
            <a:off x="188278" y="3923238"/>
            <a:ext cx="8803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Consolas" panose="020B0609020204030204" pitchFamily="49" charset="0"/>
                <a:ea typeface="Cambria Math" panose="02040503050406030204" pitchFamily="18" charset="0"/>
              </a:rPr>
              <a:t>Sources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587A2B-32F8-C03E-EC03-C68DB6D5DEE9}"/>
              </a:ext>
            </a:extLst>
          </p:cNvPr>
          <p:cNvSpPr txBox="1"/>
          <p:nvPr/>
        </p:nvSpPr>
        <p:spPr>
          <a:xfrm>
            <a:off x="1984616" y="2181340"/>
            <a:ext cx="13773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Consolas" panose="020B0609020204030204" pitchFamily="49" charset="0"/>
              </a:rPr>
              <a:t>Destinations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333EC05B-DC84-CC10-5E1B-D9D11D2A215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231395" y="2808081"/>
              <a:ext cx="3002909" cy="264477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8987">
                      <a:extLst>
                        <a:ext uri="{9D8B030D-6E8A-4147-A177-3AD203B41FA5}">
                          <a16:colId xmlns:a16="http://schemas.microsoft.com/office/drawing/2014/main" val="3864413765"/>
                        </a:ext>
                      </a:extLst>
                    </a:gridCol>
                    <a:gridCol w="428987">
                      <a:extLst>
                        <a:ext uri="{9D8B030D-6E8A-4147-A177-3AD203B41FA5}">
                          <a16:colId xmlns:a16="http://schemas.microsoft.com/office/drawing/2014/main" val="3806580306"/>
                        </a:ext>
                      </a:extLst>
                    </a:gridCol>
                    <a:gridCol w="428987">
                      <a:extLst>
                        <a:ext uri="{9D8B030D-6E8A-4147-A177-3AD203B41FA5}">
                          <a16:colId xmlns:a16="http://schemas.microsoft.com/office/drawing/2014/main" val="123248972"/>
                        </a:ext>
                      </a:extLst>
                    </a:gridCol>
                    <a:gridCol w="428987">
                      <a:extLst>
                        <a:ext uri="{9D8B030D-6E8A-4147-A177-3AD203B41FA5}">
                          <a16:colId xmlns:a16="http://schemas.microsoft.com/office/drawing/2014/main" val="1797807495"/>
                        </a:ext>
                      </a:extLst>
                    </a:gridCol>
                    <a:gridCol w="428987">
                      <a:extLst>
                        <a:ext uri="{9D8B030D-6E8A-4147-A177-3AD203B41FA5}">
                          <a16:colId xmlns:a16="http://schemas.microsoft.com/office/drawing/2014/main" val="3083318154"/>
                        </a:ext>
                      </a:extLst>
                    </a:gridCol>
                    <a:gridCol w="428987">
                      <a:extLst>
                        <a:ext uri="{9D8B030D-6E8A-4147-A177-3AD203B41FA5}">
                          <a16:colId xmlns:a16="http://schemas.microsoft.com/office/drawing/2014/main" val="3343020069"/>
                        </a:ext>
                      </a:extLst>
                    </a:gridCol>
                    <a:gridCol w="428987">
                      <a:extLst>
                        <a:ext uri="{9D8B030D-6E8A-4147-A177-3AD203B41FA5}">
                          <a16:colId xmlns:a16="http://schemas.microsoft.com/office/drawing/2014/main" val="340397575"/>
                        </a:ext>
                      </a:extLst>
                    </a:gridCol>
                  </a:tblGrid>
                  <a:tr h="34044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05930682"/>
                      </a:ext>
                    </a:extLst>
                  </a:tr>
                  <a:tr h="34044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3934695"/>
                      </a:ext>
                    </a:extLst>
                  </a:tr>
                  <a:tr h="34044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b="0" dirty="0">
                            <a:solidFill>
                              <a:schemeClr val="bg1">
                                <a:lumMod val="65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b="0" dirty="0">
                            <a:solidFill>
                              <a:schemeClr val="bg1">
                                <a:lumMod val="65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21555389"/>
                      </a:ext>
                    </a:extLst>
                  </a:tr>
                  <a:tr h="34044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b="0" dirty="0">
                            <a:solidFill>
                              <a:schemeClr val="bg1">
                                <a:lumMod val="65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4670812"/>
                      </a:ext>
                    </a:extLst>
                  </a:tr>
                  <a:tr h="34044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dirty="0">
                            <a:solidFill>
                              <a:schemeClr val="bg1">
                                <a:lumMod val="65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8825016"/>
                      </a:ext>
                    </a:extLst>
                  </a:tr>
                  <a:tr h="34044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01367391"/>
                      </a:ext>
                    </a:extLst>
                  </a:tr>
                  <a:tr h="340442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2736237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/>
              <p:cNvGraphicFramePr>
                <a:graphicFrameLocks noGrp="1"/>
              </p:cNvGraphicFramePr>
              <p:nvPr/>
            </p:nvGraphicFramePr>
            <p:xfrm>
              <a:off x="1231395" y="2808081"/>
              <a:ext cx="3002909" cy="264477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8987">
                      <a:extLst>
                        <a:ext uri="{9D8B030D-6E8A-4147-A177-3AD203B41FA5}">
                          <a16:colId xmlns:a16="http://schemas.microsoft.com/office/drawing/2014/main" val="3864413765"/>
                        </a:ext>
                      </a:extLst>
                    </a:gridCol>
                    <a:gridCol w="428987">
                      <a:extLst>
                        <a:ext uri="{9D8B030D-6E8A-4147-A177-3AD203B41FA5}">
                          <a16:colId xmlns:a16="http://schemas.microsoft.com/office/drawing/2014/main" val="3806580306"/>
                        </a:ext>
                      </a:extLst>
                    </a:gridCol>
                    <a:gridCol w="428987">
                      <a:extLst>
                        <a:ext uri="{9D8B030D-6E8A-4147-A177-3AD203B41FA5}">
                          <a16:colId xmlns:a16="http://schemas.microsoft.com/office/drawing/2014/main" val="123248972"/>
                        </a:ext>
                      </a:extLst>
                    </a:gridCol>
                    <a:gridCol w="428987">
                      <a:extLst>
                        <a:ext uri="{9D8B030D-6E8A-4147-A177-3AD203B41FA5}">
                          <a16:colId xmlns:a16="http://schemas.microsoft.com/office/drawing/2014/main" val="1797807495"/>
                        </a:ext>
                      </a:extLst>
                    </a:gridCol>
                    <a:gridCol w="428987">
                      <a:extLst>
                        <a:ext uri="{9D8B030D-6E8A-4147-A177-3AD203B41FA5}">
                          <a16:colId xmlns:a16="http://schemas.microsoft.com/office/drawing/2014/main" val="3083318154"/>
                        </a:ext>
                      </a:extLst>
                    </a:gridCol>
                    <a:gridCol w="428987">
                      <a:extLst>
                        <a:ext uri="{9D8B030D-6E8A-4147-A177-3AD203B41FA5}">
                          <a16:colId xmlns:a16="http://schemas.microsoft.com/office/drawing/2014/main" val="3343020069"/>
                        </a:ext>
                      </a:extLst>
                    </a:gridCol>
                    <a:gridCol w="428987">
                      <a:extLst>
                        <a:ext uri="{9D8B030D-6E8A-4147-A177-3AD203B41FA5}">
                          <a16:colId xmlns:a16="http://schemas.microsoft.com/office/drawing/2014/main" val="340397575"/>
                        </a:ext>
                      </a:extLst>
                    </a:gridCol>
                  </a:tblGrid>
                  <a:tr h="37782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1408" t="-3226" r="-498592" b="-6112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4286" t="-3226" r="-405714" b="-6112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00000" t="-3226" r="-300000" b="-6112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05714" t="-3226" r="-204286" b="-6112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98592" t="-3226" r="-101408" b="-6112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607143" t="-3226" r="-2857" b="-6112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05930682"/>
                      </a:ext>
                    </a:extLst>
                  </a:tr>
                  <a:tr h="377825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857" t="-103226" r="-607143" b="-5112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4286" t="-103226" r="-405714" b="-5112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607143" t="-103226" r="-2857" b="-5112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3934695"/>
                      </a:ext>
                    </a:extLst>
                  </a:tr>
                  <a:tr h="377825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857" t="-203226" r="-607143" b="-4112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1408" t="-203226" r="-498592" b="-4112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00000" t="-203226" r="-300000" b="-4112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607143" t="-203226" r="-2857" b="-4112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21555389"/>
                      </a:ext>
                    </a:extLst>
                  </a:tr>
                  <a:tr h="377825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857" t="-298413" r="-607143" b="-3047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4286" t="-298413" r="-405714" b="-3047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05714" t="-298413" r="-204286" b="-3047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4670812"/>
                      </a:ext>
                    </a:extLst>
                  </a:tr>
                  <a:tr h="377825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857" t="-404839" r="-607143" b="-2096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4286" t="-404839" r="-405714" b="-2096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00000" t="-404839" r="-300000" b="-2096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8825016"/>
                      </a:ext>
                    </a:extLst>
                  </a:tr>
                  <a:tr h="377825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857" t="-504839" r="-607143" b="-1096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607143" t="-504839" r="-2857" b="-1096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01367391"/>
                      </a:ext>
                    </a:extLst>
                  </a:tr>
                  <a:tr h="377825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857" t="-604839" r="-607143" b="-96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1408" t="-604839" r="-498592" b="-96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4286" t="-604839" r="-405714" b="-96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98592" t="-604839" r="-101408" b="-96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2736237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1B9247DF-E3C1-7E97-0370-B295B08DDE98}"/>
              </a:ext>
            </a:extLst>
          </p:cNvPr>
          <p:cNvSpPr txBox="1"/>
          <p:nvPr/>
        </p:nvSpPr>
        <p:spPr>
          <a:xfrm>
            <a:off x="898208" y="2766270"/>
            <a:ext cx="284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7AE3A9-EE57-A4B8-3C87-0AFAFA8E3DD6}"/>
              </a:ext>
            </a:extLst>
          </p:cNvPr>
          <p:cNvSpPr txBox="1"/>
          <p:nvPr/>
        </p:nvSpPr>
        <p:spPr>
          <a:xfrm>
            <a:off x="901800" y="3189026"/>
            <a:ext cx="284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3D7FEE-79B0-236B-A965-4376903E6498}"/>
              </a:ext>
            </a:extLst>
          </p:cNvPr>
          <p:cNvSpPr txBox="1"/>
          <p:nvPr/>
        </p:nvSpPr>
        <p:spPr>
          <a:xfrm>
            <a:off x="898208" y="3558358"/>
            <a:ext cx="284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39A127-5C8E-9546-70ED-2EFEB6BEE084}"/>
              </a:ext>
            </a:extLst>
          </p:cNvPr>
          <p:cNvSpPr txBox="1"/>
          <p:nvPr/>
        </p:nvSpPr>
        <p:spPr>
          <a:xfrm>
            <a:off x="898208" y="3945802"/>
            <a:ext cx="284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F5EA8C-98E0-4E92-25E2-00FEE9F1EE5F}"/>
              </a:ext>
            </a:extLst>
          </p:cNvPr>
          <p:cNvSpPr txBox="1"/>
          <p:nvPr/>
        </p:nvSpPr>
        <p:spPr>
          <a:xfrm>
            <a:off x="910223" y="4320706"/>
            <a:ext cx="284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4459A49-5994-B695-BE92-7D2BA43DED02}"/>
              </a:ext>
            </a:extLst>
          </p:cNvPr>
          <p:cNvSpPr txBox="1"/>
          <p:nvPr/>
        </p:nvSpPr>
        <p:spPr>
          <a:xfrm>
            <a:off x="910223" y="4690038"/>
            <a:ext cx="284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407C833-C820-4B54-8680-E6D7072F6923}"/>
              </a:ext>
            </a:extLst>
          </p:cNvPr>
          <p:cNvSpPr txBox="1"/>
          <p:nvPr/>
        </p:nvSpPr>
        <p:spPr>
          <a:xfrm>
            <a:off x="919219" y="5095126"/>
            <a:ext cx="284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506C945-334C-FDF4-E9D3-C6FEEBEB36FF}"/>
              </a:ext>
            </a:extLst>
          </p:cNvPr>
          <p:cNvSpPr txBox="1"/>
          <p:nvPr/>
        </p:nvSpPr>
        <p:spPr>
          <a:xfrm>
            <a:off x="1289011" y="2436226"/>
            <a:ext cx="284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B0E1F3F-FBA5-0388-2242-E76EFF968AEB}"/>
              </a:ext>
            </a:extLst>
          </p:cNvPr>
          <p:cNvSpPr txBox="1"/>
          <p:nvPr/>
        </p:nvSpPr>
        <p:spPr>
          <a:xfrm>
            <a:off x="1679814" y="2446300"/>
            <a:ext cx="284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38473B9-E11A-B11A-EE73-AB65D748DCE4}"/>
              </a:ext>
            </a:extLst>
          </p:cNvPr>
          <p:cNvSpPr txBox="1"/>
          <p:nvPr/>
        </p:nvSpPr>
        <p:spPr>
          <a:xfrm>
            <a:off x="2123601" y="2446300"/>
            <a:ext cx="284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5783D80-C4BB-6552-6EDB-05CBD3CAD91D}"/>
              </a:ext>
            </a:extLst>
          </p:cNvPr>
          <p:cNvSpPr txBox="1"/>
          <p:nvPr/>
        </p:nvSpPr>
        <p:spPr>
          <a:xfrm>
            <a:off x="2572089" y="2436226"/>
            <a:ext cx="284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FAA086-E6F8-FE42-A92F-AB649FFD93C4}"/>
              </a:ext>
            </a:extLst>
          </p:cNvPr>
          <p:cNvSpPr txBox="1"/>
          <p:nvPr/>
        </p:nvSpPr>
        <p:spPr>
          <a:xfrm>
            <a:off x="3015482" y="2436226"/>
            <a:ext cx="284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C7BCADB-BF7D-86B9-499E-0E95BFB967DF}"/>
              </a:ext>
            </a:extLst>
          </p:cNvPr>
          <p:cNvSpPr txBox="1"/>
          <p:nvPr/>
        </p:nvSpPr>
        <p:spPr>
          <a:xfrm>
            <a:off x="3405777" y="2446300"/>
            <a:ext cx="284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4AB84CF-82D7-82ED-A33B-6258DF6C2D3E}"/>
              </a:ext>
            </a:extLst>
          </p:cNvPr>
          <p:cNvSpPr txBox="1"/>
          <p:nvPr/>
        </p:nvSpPr>
        <p:spPr>
          <a:xfrm>
            <a:off x="3859564" y="2446300"/>
            <a:ext cx="284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7</a:t>
            </a:r>
          </a:p>
        </p:txBody>
      </p:sp>
      <p:pic>
        <p:nvPicPr>
          <p:cNvPr id="22" name="Picture 2" descr="Image result for fast forward">
            <a:extLst>
              <a:ext uri="{FF2B5EF4-FFF2-40B4-BE49-F238E27FC236}">
                <a16:creationId xmlns:a16="http://schemas.microsoft.com/office/drawing/2014/main" id="{720F54C2-CBB0-8227-627D-A422B73FC0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2175" y="3816495"/>
            <a:ext cx="475309" cy="475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B55527F4-2EA1-9DFF-BDD2-5EB177154EAB}"/>
                  </a:ext>
                </a:extLst>
              </p:cNvPr>
              <p:cNvSpPr txBox="1"/>
              <p:nvPr/>
            </p:nvSpPr>
            <p:spPr>
              <a:xfrm>
                <a:off x="1808426" y="5941229"/>
                <a:ext cx="129614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IN" sz="2400" b="0" i="0" smtClean="0">
                          <a:latin typeface="Cambria Math"/>
                        </a:rPr>
                        <m:t>E</m:t>
                      </m:r>
                      <m:r>
                        <m:rPr>
                          <m:sty m:val="p"/>
                        </m:rPr>
                        <a:rPr lang="de-DE" sz="2400" b="0" i="0" smtClean="0">
                          <a:latin typeface="Cambria Math" panose="02040503050406030204" pitchFamily="18" charset="0"/>
                        </a:rPr>
                        <m:t>R</m:t>
                      </m:r>
                      <m:r>
                        <m:rPr>
                          <m:sty m:val="p"/>
                        </m:rPr>
                        <a:rPr lang="en-IN" sz="2400" b="0" i="0" smtClean="0">
                          <a:latin typeface="Cambria Math"/>
                        </a:rPr>
                        <m:t>L</m:t>
                      </m:r>
                      <m:d>
                        <m:dPr>
                          <m:ctrlPr>
                            <a:rPr lang="en-IN" sz="2400" i="0" dirty="0">
                              <a:latin typeface="Brush Script MT" panose="03060802040406070304" pitchFamily="66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IN" sz="2400" i="0" dirty="0">
                              <a:latin typeface="Brush Script MT" panose="03060802040406070304" pitchFamily="66" charset="0"/>
                            </a:rPr>
                            <m:t>D</m:t>
                          </m:r>
                          <m:r>
                            <m:rPr>
                              <m:nor/>
                            </m:rPr>
                            <a:rPr lang="en-IN" sz="24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,N</m:t>
                          </m:r>
                        </m:e>
                      </m:d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8426" y="5941229"/>
                <a:ext cx="1296144" cy="461665"/>
              </a:xfrm>
              <a:prstGeom prst="rect">
                <a:avLst/>
              </a:prstGeom>
              <a:blipFill>
                <a:blip r:embed="rId5"/>
                <a:stretch>
                  <a:fillRect l="-1415" r="-3302" b="-10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E0C889B-75A7-AD09-96C7-6C455EC8757D}"/>
                  </a:ext>
                </a:extLst>
              </p:cNvPr>
              <p:cNvSpPr txBox="1"/>
              <p:nvPr/>
            </p:nvSpPr>
            <p:spPr>
              <a:xfrm>
                <a:off x="3093838" y="5739233"/>
                <a:ext cx="3544625" cy="10668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IN" sz="2400" i="1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IN" sz="2400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IN" sz="2400">
                              <a:latin typeface="Cambria Math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IN" sz="2400">
                              <a:latin typeface="Cambria Math"/>
                              <a:ea typeface="Cambria Math" panose="02040503050406030204" pitchFamily="18" charset="0"/>
                            </a:rPr>
                            <m:t>u</m:t>
                          </m:r>
                          <m:r>
                            <a:rPr lang="en-IN" sz="2400">
                              <a:latin typeface="Cambria Math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IN" sz="2400">
                              <a:latin typeface="Cambria Math"/>
                              <a:ea typeface="Cambria Math" panose="02040503050406030204" pitchFamily="18" charset="0"/>
                            </a:rPr>
                            <m:t>v</m:t>
                          </m:r>
                          <m:r>
                            <a:rPr lang="en-IN" sz="2400">
                              <a:latin typeface="Cambria Math"/>
                              <a:ea typeface="Cambria Math" panose="02040503050406030204" pitchFamily="18" charset="0"/>
                            </a:rPr>
                            <m:t>)∈</m:t>
                          </m:r>
                          <m:r>
                            <m:rPr>
                              <m:nor/>
                            </m:rPr>
                            <a:rPr lang="en-IN" sz="2400" i="0" dirty="0">
                              <a:latin typeface="Brush Script MT" panose="03060802040406070304" pitchFamily="66" charset="0"/>
                            </a:rPr>
                            <m:t>D</m:t>
                          </m:r>
                        </m:sub>
                        <m:sup/>
                        <m:e>
                          <m:r>
                            <m:rPr>
                              <m:sty m:val="p"/>
                            </m:rPr>
                            <a:rPr lang="en-IN" sz="2400" dirty="0">
                              <a:latin typeface="Cambria Math"/>
                            </a:rPr>
                            <m:t>p</m:t>
                          </m:r>
                          <m:d>
                            <m:dPr>
                              <m:ctrlPr>
                                <a:rPr lang="en-IN" sz="2400" dirty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IN" sz="2400" dirty="0">
                                  <a:latin typeface="Cambria Math"/>
                                </a:rPr>
                                <m:t>u</m:t>
                              </m:r>
                              <m:r>
                                <a:rPr lang="en-IN" sz="2400" dirty="0">
                                  <a:latin typeface="Cambria Math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IN" sz="2400" dirty="0">
                                  <a:latin typeface="Cambria Math"/>
                                </a:rPr>
                                <m:t>v</m:t>
                              </m:r>
                            </m:e>
                          </m:d>
                          <m:r>
                            <a:rPr lang="en-IN" sz="2400" dirty="0">
                              <a:latin typeface="Cambria Math"/>
                              <a:ea typeface="Cambria Math"/>
                            </a:rPr>
                            <m:t>∙</m:t>
                          </m:r>
                          <m:r>
                            <m:rPr>
                              <m:sty m:val="p"/>
                            </m:rPr>
                            <a:rPr lang="en-IN" sz="2400" dirty="0">
                              <a:latin typeface="Cambria Math"/>
                            </a:rPr>
                            <m:t>d</m:t>
                          </m:r>
                          <m:r>
                            <m:rPr>
                              <m:sty m:val="p"/>
                            </m:rPr>
                            <a:rPr lang="en-IN" sz="2400" baseline="-25000" dirty="0">
                              <a:latin typeface="Cambria Math"/>
                            </a:rPr>
                            <m:t>N</m:t>
                          </m:r>
                          <m:r>
                            <a:rPr lang="en-IN" sz="2400" dirty="0">
                              <a:latin typeface="Cambria Math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IN" sz="2400" dirty="0">
                              <a:latin typeface="Cambria Math"/>
                            </a:rPr>
                            <m:t>u</m:t>
                          </m:r>
                          <m:r>
                            <a:rPr lang="en-IN" sz="2400" dirty="0">
                              <a:latin typeface="Cambria Math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IN" sz="2400" dirty="0">
                              <a:latin typeface="Cambria Math"/>
                            </a:rPr>
                            <m:t>v</m:t>
                          </m:r>
                          <m:r>
                            <a:rPr lang="en-IN" sz="2400" i="1" dirty="0">
                              <a:latin typeface="Cambria Math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52" name="TextBox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3838" y="5739233"/>
                <a:ext cx="3544625" cy="106689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Gerader Verbinder 22">
            <a:extLst>
              <a:ext uri="{FF2B5EF4-FFF2-40B4-BE49-F238E27FC236}">
                <a16:creationId xmlns:a16="http://schemas.microsoft.com/office/drawing/2014/main" id="{014A903D-D4B1-8B66-E5E2-73F18DCD5DE5}"/>
              </a:ext>
            </a:extLst>
          </p:cNvPr>
          <p:cNvCxnSpPr>
            <a:cxnSpLocks/>
            <a:stCxn id="71" idx="7"/>
            <a:endCxn id="70" idx="4"/>
          </p:cNvCxnSpPr>
          <p:nvPr/>
        </p:nvCxnSpPr>
        <p:spPr>
          <a:xfrm flipV="1">
            <a:off x="7334351" y="4531158"/>
            <a:ext cx="484986" cy="624192"/>
          </a:xfrm>
          <a:prstGeom prst="line">
            <a:avLst/>
          </a:prstGeom>
          <a:ln w="76200">
            <a:solidFill>
              <a:srgbClr val="FFC000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Google Shape;1827;g60be7dcf1c_0_698">
            <a:extLst>
              <a:ext uri="{FF2B5EF4-FFF2-40B4-BE49-F238E27FC236}">
                <a16:creationId xmlns:a16="http://schemas.microsoft.com/office/drawing/2014/main" id="{BBE03129-D48C-F451-89DC-FAA74D7D94FB}"/>
              </a:ext>
            </a:extLst>
          </p:cNvPr>
          <p:cNvSpPr/>
          <p:nvPr/>
        </p:nvSpPr>
        <p:spPr>
          <a:xfrm rot="18978480">
            <a:off x="1529956" y="4738990"/>
            <a:ext cx="1717883" cy="273900"/>
          </a:xfrm>
          <a:prstGeom prst="homePlate">
            <a:avLst>
              <a:gd name="adj" fmla="val 50000"/>
            </a:avLst>
          </a:prstGeom>
          <a:solidFill>
            <a:schemeClr val="bg1"/>
          </a:solidFill>
          <a:ln w="1905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54" name="Google Shape;1828;g60be7dcf1c_0_698">
            <a:extLst>
              <a:ext uri="{FF2B5EF4-FFF2-40B4-BE49-F238E27FC236}">
                <a16:creationId xmlns:a16="http://schemas.microsoft.com/office/drawing/2014/main" id="{8007B3BC-6346-4265-9947-008808538C16}"/>
              </a:ext>
            </a:extLst>
          </p:cNvPr>
          <p:cNvSpPr txBox="1"/>
          <p:nvPr/>
        </p:nvSpPr>
        <p:spPr>
          <a:xfrm rot="18978480">
            <a:off x="1678562" y="4720128"/>
            <a:ext cx="1343124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Much from 4 to 5</a:t>
            </a:r>
          </a:p>
        </p:txBody>
      </p:sp>
      <p:sp>
        <p:nvSpPr>
          <p:cNvPr id="56" name="Google Shape;1827;g60be7dcf1c_0_698">
            <a:extLst>
              <a:ext uri="{FF2B5EF4-FFF2-40B4-BE49-F238E27FC236}">
                <a16:creationId xmlns:a16="http://schemas.microsoft.com/office/drawing/2014/main" id="{5C090901-AC3D-9BDE-1A94-B94BCBF69C95}"/>
              </a:ext>
            </a:extLst>
          </p:cNvPr>
          <p:cNvSpPr/>
          <p:nvPr/>
        </p:nvSpPr>
        <p:spPr>
          <a:xfrm rot="11785300">
            <a:off x="7766479" y="5035577"/>
            <a:ext cx="926692" cy="257018"/>
          </a:xfrm>
          <a:prstGeom prst="homePlate">
            <a:avLst>
              <a:gd name="adj" fmla="val 50000"/>
            </a:avLst>
          </a:prstGeom>
          <a:solidFill>
            <a:schemeClr val="bg1"/>
          </a:solidFill>
          <a:ln w="1905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55" name="Google Shape;1828;g60be7dcf1c_0_698">
            <a:extLst>
              <a:ext uri="{FF2B5EF4-FFF2-40B4-BE49-F238E27FC236}">
                <a16:creationId xmlns:a16="http://schemas.microsoft.com/office/drawing/2014/main" id="{69820413-177B-B43C-7352-C16E117E1D17}"/>
              </a:ext>
            </a:extLst>
          </p:cNvPr>
          <p:cNvSpPr txBox="1"/>
          <p:nvPr/>
        </p:nvSpPr>
        <p:spPr>
          <a:xfrm rot="988382">
            <a:off x="7893081" y="5004005"/>
            <a:ext cx="78753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Add link</a:t>
            </a:r>
          </a:p>
        </p:txBody>
      </p:sp>
      <p:sp>
        <p:nvSpPr>
          <p:cNvPr id="57" name="Google Shape;1810;g60be7dcf1c_0_698">
            <a:extLst>
              <a:ext uri="{FF2B5EF4-FFF2-40B4-BE49-F238E27FC236}">
                <a16:creationId xmlns:a16="http://schemas.microsoft.com/office/drawing/2014/main" id="{93A51F88-C442-649A-FAE4-3D3B7C20138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3075" y="324175"/>
            <a:ext cx="5870638" cy="18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l">
              <a:buSzPts val="1100"/>
            </a:pPr>
            <a:r>
              <a:rPr lang="en-GB" sz="2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Case Study “Route Lengths”</a:t>
            </a:r>
            <a:br>
              <a:rPr lang="en-GB" sz="32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Constant-Degree Demand-Aware Network</a:t>
            </a:r>
          </a:p>
        </p:txBody>
      </p:sp>
      <p:cxnSp>
        <p:nvCxnSpPr>
          <p:cNvPr id="58" name="Gerader Verbinder 22">
            <a:extLst>
              <a:ext uri="{FF2B5EF4-FFF2-40B4-BE49-F238E27FC236}">
                <a16:creationId xmlns:a16="http://schemas.microsoft.com/office/drawing/2014/main" id="{42BB5D32-AA50-A98A-7403-8B90F255ECB7}"/>
              </a:ext>
            </a:extLst>
          </p:cNvPr>
          <p:cNvCxnSpPr>
            <a:cxnSpLocks/>
            <a:stCxn id="68" idx="5"/>
            <a:endCxn id="69" idx="1"/>
          </p:cNvCxnSpPr>
          <p:nvPr/>
        </p:nvCxnSpPr>
        <p:spPr>
          <a:xfrm>
            <a:off x="6569475" y="2851296"/>
            <a:ext cx="912722" cy="3666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Gerader Verbinder 22">
            <a:extLst>
              <a:ext uri="{FF2B5EF4-FFF2-40B4-BE49-F238E27FC236}">
                <a16:creationId xmlns:a16="http://schemas.microsoft.com/office/drawing/2014/main" id="{4BAC25FE-C80C-6EF2-E14B-5259A066052F}"/>
              </a:ext>
            </a:extLst>
          </p:cNvPr>
          <p:cNvCxnSpPr>
            <a:stCxn id="69" idx="0"/>
            <a:endCxn id="71" idx="4"/>
          </p:cNvCxnSpPr>
          <p:nvPr/>
        </p:nvCxnSpPr>
        <p:spPr>
          <a:xfrm flipH="1">
            <a:off x="7257975" y="3186273"/>
            <a:ext cx="300598" cy="21534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Gerader Verbinder 22">
            <a:extLst>
              <a:ext uri="{FF2B5EF4-FFF2-40B4-BE49-F238E27FC236}">
                <a16:creationId xmlns:a16="http://schemas.microsoft.com/office/drawing/2014/main" id="{F92D2328-F770-6004-FD65-4FC0A0F707E1}"/>
              </a:ext>
            </a:extLst>
          </p:cNvPr>
          <p:cNvCxnSpPr>
            <a:cxnSpLocks/>
            <a:stCxn id="70" idx="4"/>
            <a:endCxn id="71" idx="7"/>
          </p:cNvCxnSpPr>
          <p:nvPr/>
        </p:nvCxnSpPr>
        <p:spPr>
          <a:xfrm flipH="1">
            <a:off x="7334351" y="4531158"/>
            <a:ext cx="484986" cy="6241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Gerader Verbinder 22">
            <a:extLst>
              <a:ext uri="{FF2B5EF4-FFF2-40B4-BE49-F238E27FC236}">
                <a16:creationId xmlns:a16="http://schemas.microsoft.com/office/drawing/2014/main" id="{1F755D24-17C0-6163-32CB-2541F27165C9}"/>
              </a:ext>
            </a:extLst>
          </p:cNvPr>
          <p:cNvCxnSpPr>
            <a:stCxn id="72" idx="2"/>
            <a:endCxn id="71" idx="6"/>
          </p:cNvCxnSpPr>
          <p:nvPr/>
        </p:nvCxnSpPr>
        <p:spPr>
          <a:xfrm>
            <a:off x="5634896" y="5231726"/>
            <a:ext cx="17310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Gerader Verbinder 22">
            <a:extLst>
              <a:ext uri="{FF2B5EF4-FFF2-40B4-BE49-F238E27FC236}">
                <a16:creationId xmlns:a16="http://schemas.microsoft.com/office/drawing/2014/main" id="{E57132B5-0F2F-9018-5069-AB8A2573FE27}"/>
              </a:ext>
            </a:extLst>
          </p:cNvPr>
          <p:cNvCxnSpPr>
            <a:cxnSpLocks/>
            <a:stCxn id="73" idx="0"/>
            <a:endCxn id="74" idx="0"/>
          </p:cNvCxnSpPr>
          <p:nvPr/>
        </p:nvCxnSpPr>
        <p:spPr>
          <a:xfrm flipV="1">
            <a:off x="5192318" y="3186273"/>
            <a:ext cx="201210" cy="111921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Gerader Verbinder 22">
            <a:extLst>
              <a:ext uri="{FF2B5EF4-FFF2-40B4-BE49-F238E27FC236}">
                <a16:creationId xmlns:a16="http://schemas.microsoft.com/office/drawing/2014/main" id="{5BF4A934-7650-FD83-0B91-BB9B8B869B54}"/>
              </a:ext>
            </a:extLst>
          </p:cNvPr>
          <p:cNvCxnSpPr>
            <a:cxnSpLocks/>
            <a:stCxn id="73" idx="7"/>
            <a:endCxn id="81" idx="2"/>
          </p:cNvCxnSpPr>
          <p:nvPr/>
        </p:nvCxnSpPr>
        <p:spPr>
          <a:xfrm flipV="1">
            <a:off x="5268694" y="2716390"/>
            <a:ext cx="1231747" cy="16207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Gerader Verbinder 22">
            <a:extLst>
              <a:ext uri="{FF2B5EF4-FFF2-40B4-BE49-F238E27FC236}">
                <a16:creationId xmlns:a16="http://schemas.microsoft.com/office/drawing/2014/main" id="{513D5CAB-E00C-EA00-E1EA-7B025C4CCE84}"/>
              </a:ext>
            </a:extLst>
          </p:cNvPr>
          <p:cNvCxnSpPr>
            <a:stCxn id="74" idx="2"/>
            <a:endCxn id="69" idx="6"/>
          </p:cNvCxnSpPr>
          <p:nvPr/>
        </p:nvCxnSpPr>
        <p:spPr>
          <a:xfrm>
            <a:off x="5285516" y="3294285"/>
            <a:ext cx="238106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Gerader Verbinder 22">
            <a:extLst>
              <a:ext uri="{FF2B5EF4-FFF2-40B4-BE49-F238E27FC236}">
                <a16:creationId xmlns:a16="http://schemas.microsoft.com/office/drawing/2014/main" id="{CF0FCD0B-5B1B-2E81-3FC2-B3CFDD60786E}"/>
              </a:ext>
            </a:extLst>
          </p:cNvPr>
          <p:cNvCxnSpPr>
            <a:cxnSpLocks/>
            <a:stCxn id="68" idx="4"/>
            <a:endCxn id="72" idx="4"/>
          </p:cNvCxnSpPr>
          <p:nvPr/>
        </p:nvCxnSpPr>
        <p:spPr>
          <a:xfrm flipH="1">
            <a:off x="5742908" y="2882932"/>
            <a:ext cx="750191" cy="24568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Gerader Verbinder 22">
            <a:extLst>
              <a:ext uri="{FF2B5EF4-FFF2-40B4-BE49-F238E27FC236}">
                <a16:creationId xmlns:a16="http://schemas.microsoft.com/office/drawing/2014/main" id="{09C825BA-3CEE-6BE6-3833-D329B06E2163}"/>
              </a:ext>
            </a:extLst>
          </p:cNvPr>
          <p:cNvCxnSpPr>
            <a:cxnSpLocks/>
            <a:stCxn id="70" idx="2"/>
            <a:endCxn id="73" idx="6"/>
          </p:cNvCxnSpPr>
          <p:nvPr/>
        </p:nvCxnSpPr>
        <p:spPr>
          <a:xfrm flipH="1" flipV="1">
            <a:off x="5300330" y="4413504"/>
            <a:ext cx="2410995" cy="964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Gerader Verbinder 22">
            <a:extLst>
              <a:ext uri="{FF2B5EF4-FFF2-40B4-BE49-F238E27FC236}">
                <a16:creationId xmlns:a16="http://schemas.microsoft.com/office/drawing/2014/main" id="{D1B965F8-0ED7-72B5-693B-4FDA6D2B249C}"/>
              </a:ext>
            </a:extLst>
          </p:cNvPr>
          <p:cNvCxnSpPr>
            <a:stCxn id="74" idx="0"/>
            <a:endCxn id="72" idx="5"/>
          </p:cNvCxnSpPr>
          <p:nvPr/>
        </p:nvCxnSpPr>
        <p:spPr>
          <a:xfrm>
            <a:off x="5393528" y="3186273"/>
            <a:ext cx="425756" cy="21218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Oval 44">
            <a:extLst>
              <a:ext uri="{FF2B5EF4-FFF2-40B4-BE49-F238E27FC236}">
                <a16:creationId xmlns:a16="http://schemas.microsoft.com/office/drawing/2014/main" id="{A3FC1A25-6C2E-360D-2C72-FBEF306FA4C7}"/>
              </a:ext>
            </a:extLst>
          </p:cNvPr>
          <p:cNvSpPr/>
          <p:nvPr/>
        </p:nvSpPr>
        <p:spPr>
          <a:xfrm>
            <a:off x="6385087" y="2666908"/>
            <a:ext cx="216024" cy="21602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69" name="Oval 44">
            <a:extLst>
              <a:ext uri="{FF2B5EF4-FFF2-40B4-BE49-F238E27FC236}">
                <a16:creationId xmlns:a16="http://schemas.microsoft.com/office/drawing/2014/main" id="{6B12CE72-0416-5EF0-600C-BCF67F02A0E9}"/>
              </a:ext>
            </a:extLst>
          </p:cNvPr>
          <p:cNvSpPr/>
          <p:nvPr/>
        </p:nvSpPr>
        <p:spPr>
          <a:xfrm>
            <a:off x="7450561" y="3186273"/>
            <a:ext cx="216024" cy="21602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70" name="Oval 44">
            <a:extLst>
              <a:ext uri="{FF2B5EF4-FFF2-40B4-BE49-F238E27FC236}">
                <a16:creationId xmlns:a16="http://schemas.microsoft.com/office/drawing/2014/main" id="{B96EC186-0CA7-5C9C-3B2D-8A02886DDFDD}"/>
              </a:ext>
            </a:extLst>
          </p:cNvPr>
          <p:cNvSpPr/>
          <p:nvPr/>
        </p:nvSpPr>
        <p:spPr>
          <a:xfrm>
            <a:off x="7711325" y="4315134"/>
            <a:ext cx="216024" cy="21602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71" name="Oval 44">
            <a:extLst>
              <a:ext uri="{FF2B5EF4-FFF2-40B4-BE49-F238E27FC236}">
                <a16:creationId xmlns:a16="http://schemas.microsoft.com/office/drawing/2014/main" id="{D42927E2-CD64-B63B-5787-8767ED7BF6D0}"/>
              </a:ext>
            </a:extLst>
          </p:cNvPr>
          <p:cNvSpPr/>
          <p:nvPr/>
        </p:nvSpPr>
        <p:spPr>
          <a:xfrm>
            <a:off x="7149963" y="5123714"/>
            <a:ext cx="216024" cy="21602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72" name="Oval 44">
            <a:extLst>
              <a:ext uri="{FF2B5EF4-FFF2-40B4-BE49-F238E27FC236}">
                <a16:creationId xmlns:a16="http://schemas.microsoft.com/office/drawing/2014/main" id="{3D9013D2-408D-CA2A-A019-BA0051B618ED}"/>
              </a:ext>
            </a:extLst>
          </p:cNvPr>
          <p:cNvSpPr/>
          <p:nvPr/>
        </p:nvSpPr>
        <p:spPr>
          <a:xfrm>
            <a:off x="5634896" y="5123714"/>
            <a:ext cx="216024" cy="21602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73" name="Oval 44">
            <a:extLst>
              <a:ext uri="{FF2B5EF4-FFF2-40B4-BE49-F238E27FC236}">
                <a16:creationId xmlns:a16="http://schemas.microsoft.com/office/drawing/2014/main" id="{EA549C95-15BE-5B1C-0BDE-CA19CFCE2B14}"/>
              </a:ext>
            </a:extLst>
          </p:cNvPr>
          <p:cNvSpPr/>
          <p:nvPr/>
        </p:nvSpPr>
        <p:spPr>
          <a:xfrm>
            <a:off x="5084306" y="4305492"/>
            <a:ext cx="216024" cy="21602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74" name="Oval 44">
            <a:extLst>
              <a:ext uri="{FF2B5EF4-FFF2-40B4-BE49-F238E27FC236}">
                <a16:creationId xmlns:a16="http://schemas.microsoft.com/office/drawing/2014/main" id="{6EE1A394-3067-9898-6AC5-0167B3DB5FA5}"/>
              </a:ext>
            </a:extLst>
          </p:cNvPr>
          <p:cNvSpPr/>
          <p:nvPr/>
        </p:nvSpPr>
        <p:spPr>
          <a:xfrm>
            <a:off x="5285516" y="3186273"/>
            <a:ext cx="216024" cy="21602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C721FE6-D893-1011-EC24-3F55B3315523}"/>
              </a:ext>
            </a:extLst>
          </p:cNvPr>
          <p:cNvSpPr txBox="1"/>
          <p:nvPr/>
        </p:nvSpPr>
        <p:spPr>
          <a:xfrm>
            <a:off x="5010780" y="3124953"/>
            <a:ext cx="284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E438BD4-F492-1665-13B5-E1FC7DE5ED05}"/>
              </a:ext>
            </a:extLst>
          </p:cNvPr>
          <p:cNvSpPr txBox="1"/>
          <p:nvPr/>
        </p:nvSpPr>
        <p:spPr>
          <a:xfrm>
            <a:off x="4826016" y="4253102"/>
            <a:ext cx="284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FEB2A3C-391C-D9BB-21F3-A877798AF0DA}"/>
              </a:ext>
            </a:extLst>
          </p:cNvPr>
          <p:cNvSpPr txBox="1"/>
          <p:nvPr/>
        </p:nvSpPr>
        <p:spPr>
          <a:xfrm>
            <a:off x="5599407" y="5366068"/>
            <a:ext cx="284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3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BBF12FC-765A-3D55-03B9-2ADAE7F2977A}"/>
              </a:ext>
            </a:extLst>
          </p:cNvPr>
          <p:cNvSpPr txBox="1"/>
          <p:nvPr/>
        </p:nvSpPr>
        <p:spPr>
          <a:xfrm>
            <a:off x="7133636" y="5366633"/>
            <a:ext cx="316925" cy="368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4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3E4F193-B74E-66E0-0D56-DB911976FFBB}"/>
              </a:ext>
            </a:extLst>
          </p:cNvPr>
          <p:cNvSpPr txBox="1"/>
          <p:nvPr/>
        </p:nvSpPr>
        <p:spPr>
          <a:xfrm>
            <a:off x="7933528" y="4260892"/>
            <a:ext cx="2615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5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C010541-A206-0454-9701-A09A8A4FC42C}"/>
              </a:ext>
            </a:extLst>
          </p:cNvPr>
          <p:cNvSpPr txBox="1"/>
          <p:nvPr/>
        </p:nvSpPr>
        <p:spPr>
          <a:xfrm>
            <a:off x="7697933" y="3135602"/>
            <a:ext cx="2615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6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14CBB09-20DF-AD23-51E2-C965D031B65F}"/>
              </a:ext>
            </a:extLst>
          </p:cNvPr>
          <p:cNvSpPr txBox="1"/>
          <p:nvPr/>
        </p:nvSpPr>
        <p:spPr>
          <a:xfrm>
            <a:off x="6369686" y="2347058"/>
            <a:ext cx="2615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7</a:t>
            </a:r>
          </a:p>
        </p:txBody>
      </p:sp>
      <p:sp>
        <p:nvSpPr>
          <p:cNvPr id="2" name="Rectangle 25">
            <a:extLst>
              <a:ext uri="{FF2B5EF4-FFF2-40B4-BE49-F238E27FC236}">
                <a16:creationId xmlns:a16="http://schemas.microsoft.com/office/drawing/2014/main" id="{FBECDC83-E04F-2677-2B7A-E3649E3581A3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E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3154161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0">
          <a:extLst>
            <a:ext uri="{FF2B5EF4-FFF2-40B4-BE49-F238E27FC236}">
              <a16:creationId xmlns:a16="http://schemas.microsoft.com/office/drawing/2014/main" id="{22F055A1-2C8C-6E62-30BD-8982B4531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roup 59">
            <a:extLst>
              <a:ext uri="{FF2B5EF4-FFF2-40B4-BE49-F238E27FC236}">
                <a16:creationId xmlns:a16="http://schemas.microsoft.com/office/drawing/2014/main" id="{E7D5D603-A9AA-AB07-D70C-B9B3BCFA0C81}"/>
              </a:ext>
            </a:extLst>
          </p:cNvPr>
          <p:cNvGrpSpPr/>
          <p:nvPr/>
        </p:nvGrpSpPr>
        <p:grpSpPr>
          <a:xfrm>
            <a:off x="5010780" y="2347058"/>
            <a:ext cx="3184258" cy="3388533"/>
            <a:chOff x="5010780" y="2347058"/>
            <a:chExt cx="3184258" cy="3388533"/>
          </a:xfrm>
        </p:grpSpPr>
        <p:cxnSp>
          <p:nvCxnSpPr>
            <p:cNvPr id="61" name="Gerader Verbinder 22">
              <a:extLst>
                <a:ext uri="{FF2B5EF4-FFF2-40B4-BE49-F238E27FC236}">
                  <a16:creationId xmlns:a16="http://schemas.microsoft.com/office/drawing/2014/main" id="{BD534C2C-469E-2A5C-00BB-E3D774C00652}"/>
                </a:ext>
              </a:extLst>
            </p:cNvPr>
            <p:cNvCxnSpPr>
              <a:cxnSpLocks/>
              <a:stCxn id="71" idx="5"/>
              <a:endCxn id="72" idx="1"/>
            </p:cNvCxnSpPr>
            <p:nvPr/>
          </p:nvCxnSpPr>
          <p:spPr>
            <a:xfrm>
              <a:off x="6569475" y="2851296"/>
              <a:ext cx="912722" cy="36661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Gerader Verbinder 22">
              <a:extLst>
                <a:ext uri="{FF2B5EF4-FFF2-40B4-BE49-F238E27FC236}">
                  <a16:creationId xmlns:a16="http://schemas.microsoft.com/office/drawing/2014/main" id="{499054DA-0D04-9EC6-B8DA-C8FFC12E6A09}"/>
                </a:ext>
              </a:extLst>
            </p:cNvPr>
            <p:cNvCxnSpPr>
              <a:stCxn id="72" idx="0"/>
              <a:endCxn id="74" idx="4"/>
            </p:cNvCxnSpPr>
            <p:nvPr/>
          </p:nvCxnSpPr>
          <p:spPr>
            <a:xfrm flipH="1">
              <a:off x="7257975" y="3186273"/>
              <a:ext cx="300598" cy="215346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Gerader Verbinder 22">
              <a:extLst>
                <a:ext uri="{FF2B5EF4-FFF2-40B4-BE49-F238E27FC236}">
                  <a16:creationId xmlns:a16="http://schemas.microsoft.com/office/drawing/2014/main" id="{A28AF9E9-5684-F5FC-DE36-5B51C207DEEF}"/>
                </a:ext>
              </a:extLst>
            </p:cNvPr>
            <p:cNvCxnSpPr>
              <a:cxnSpLocks/>
              <a:stCxn id="73" idx="3"/>
              <a:endCxn id="74" idx="7"/>
            </p:cNvCxnSpPr>
            <p:nvPr/>
          </p:nvCxnSpPr>
          <p:spPr>
            <a:xfrm flipH="1">
              <a:off x="7334351" y="4499522"/>
              <a:ext cx="408610" cy="65582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Gerader Verbinder 22">
              <a:extLst>
                <a:ext uri="{FF2B5EF4-FFF2-40B4-BE49-F238E27FC236}">
                  <a16:creationId xmlns:a16="http://schemas.microsoft.com/office/drawing/2014/main" id="{B885006D-4E2D-CDFF-821A-D94981AB755A}"/>
                </a:ext>
              </a:extLst>
            </p:cNvPr>
            <p:cNvCxnSpPr>
              <a:stCxn id="75" idx="2"/>
              <a:endCxn id="74" idx="6"/>
            </p:cNvCxnSpPr>
            <p:nvPr/>
          </p:nvCxnSpPr>
          <p:spPr>
            <a:xfrm>
              <a:off x="5634896" y="5231726"/>
              <a:ext cx="173109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Gerader Verbinder 22">
              <a:extLst>
                <a:ext uri="{FF2B5EF4-FFF2-40B4-BE49-F238E27FC236}">
                  <a16:creationId xmlns:a16="http://schemas.microsoft.com/office/drawing/2014/main" id="{DC5356CC-DD3B-EB44-4281-85FD7920EA02}"/>
                </a:ext>
              </a:extLst>
            </p:cNvPr>
            <p:cNvCxnSpPr>
              <a:cxnSpLocks/>
              <a:stCxn id="76" idx="0"/>
              <a:endCxn id="77" idx="0"/>
            </p:cNvCxnSpPr>
            <p:nvPr/>
          </p:nvCxnSpPr>
          <p:spPr>
            <a:xfrm flipV="1">
              <a:off x="5192318" y="3186273"/>
              <a:ext cx="201210" cy="111921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Gerader Verbinder 22">
              <a:extLst>
                <a:ext uri="{FF2B5EF4-FFF2-40B4-BE49-F238E27FC236}">
                  <a16:creationId xmlns:a16="http://schemas.microsoft.com/office/drawing/2014/main" id="{57144DDC-BD65-A1F5-0D48-C07B7DB56F5F}"/>
                </a:ext>
              </a:extLst>
            </p:cNvPr>
            <p:cNvCxnSpPr>
              <a:cxnSpLocks/>
              <a:stCxn id="76" idx="7"/>
              <a:endCxn id="83" idx="2"/>
            </p:cNvCxnSpPr>
            <p:nvPr/>
          </p:nvCxnSpPr>
          <p:spPr>
            <a:xfrm flipV="1">
              <a:off x="5268694" y="2716390"/>
              <a:ext cx="1231747" cy="162073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Gerader Verbinder 22">
              <a:extLst>
                <a:ext uri="{FF2B5EF4-FFF2-40B4-BE49-F238E27FC236}">
                  <a16:creationId xmlns:a16="http://schemas.microsoft.com/office/drawing/2014/main" id="{4D40207A-6988-8D5D-60D0-A111B64B7127}"/>
                </a:ext>
              </a:extLst>
            </p:cNvPr>
            <p:cNvCxnSpPr>
              <a:stCxn id="77" idx="2"/>
              <a:endCxn id="72" idx="6"/>
            </p:cNvCxnSpPr>
            <p:nvPr/>
          </p:nvCxnSpPr>
          <p:spPr>
            <a:xfrm>
              <a:off x="5285516" y="3294285"/>
              <a:ext cx="238106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Gerader Verbinder 22">
              <a:extLst>
                <a:ext uri="{FF2B5EF4-FFF2-40B4-BE49-F238E27FC236}">
                  <a16:creationId xmlns:a16="http://schemas.microsoft.com/office/drawing/2014/main" id="{8C357E8F-BA54-358D-936E-C12124C043D6}"/>
                </a:ext>
              </a:extLst>
            </p:cNvPr>
            <p:cNvCxnSpPr>
              <a:cxnSpLocks/>
              <a:stCxn id="71" idx="4"/>
              <a:endCxn id="75" idx="4"/>
            </p:cNvCxnSpPr>
            <p:nvPr/>
          </p:nvCxnSpPr>
          <p:spPr>
            <a:xfrm flipH="1">
              <a:off x="5742908" y="2882932"/>
              <a:ext cx="750191" cy="24568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Gerader Verbinder 22">
              <a:extLst>
                <a:ext uri="{FF2B5EF4-FFF2-40B4-BE49-F238E27FC236}">
                  <a16:creationId xmlns:a16="http://schemas.microsoft.com/office/drawing/2014/main" id="{B8F97C56-EFB9-0D90-3D82-37FBF63065DD}"/>
                </a:ext>
              </a:extLst>
            </p:cNvPr>
            <p:cNvCxnSpPr>
              <a:cxnSpLocks/>
              <a:stCxn id="73" idx="2"/>
              <a:endCxn id="76" idx="6"/>
            </p:cNvCxnSpPr>
            <p:nvPr/>
          </p:nvCxnSpPr>
          <p:spPr>
            <a:xfrm flipH="1" flipV="1">
              <a:off x="5300330" y="4413504"/>
              <a:ext cx="2410995" cy="964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Gerader Verbinder 22">
              <a:extLst>
                <a:ext uri="{FF2B5EF4-FFF2-40B4-BE49-F238E27FC236}">
                  <a16:creationId xmlns:a16="http://schemas.microsoft.com/office/drawing/2014/main" id="{B396448F-EC2C-1822-77AA-582E7E0AE09A}"/>
                </a:ext>
              </a:extLst>
            </p:cNvPr>
            <p:cNvCxnSpPr>
              <a:stCxn id="77" idx="0"/>
              <a:endCxn id="75" idx="5"/>
            </p:cNvCxnSpPr>
            <p:nvPr/>
          </p:nvCxnSpPr>
          <p:spPr>
            <a:xfrm>
              <a:off x="5393528" y="3186273"/>
              <a:ext cx="425756" cy="212182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Oval 44">
              <a:extLst>
                <a:ext uri="{FF2B5EF4-FFF2-40B4-BE49-F238E27FC236}">
                  <a16:creationId xmlns:a16="http://schemas.microsoft.com/office/drawing/2014/main" id="{70302CB7-538B-0C16-A5E5-9F709A04CAC4}"/>
                </a:ext>
              </a:extLst>
            </p:cNvPr>
            <p:cNvSpPr/>
            <p:nvPr/>
          </p:nvSpPr>
          <p:spPr>
            <a:xfrm>
              <a:off x="6385087" y="2666908"/>
              <a:ext cx="216024" cy="216024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/>
                </a:solidFill>
              </a:endParaRPr>
            </a:p>
          </p:txBody>
        </p:sp>
        <p:sp>
          <p:nvSpPr>
            <p:cNvPr id="72" name="Oval 44">
              <a:extLst>
                <a:ext uri="{FF2B5EF4-FFF2-40B4-BE49-F238E27FC236}">
                  <a16:creationId xmlns:a16="http://schemas.microsoft.com/office/drawing/2014/main" id="{D3949F7A-62D8-7B2D-B278-2E0E1720E42D}"/>
                </a:ext>
              </a:extLst>
            </p:cNvPr>
            <p:cNvSpPr/>
            <p:nvPr/>
          </p:nvSpPr>
          <p:spPr>
            <a:xfrm>
              <a:off x="7450561" y="3186273"/>
              <a:ext cx="216024" cy="216024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/>
                </a:solidFill>
              </a:endParaRPr>
            </a:p>
          </p:txBody>
        </p:sp>
        <p:sp>
          <p:nvSpPr>
            <p:cNvPr id="73" name="Oval 44">
              <a:extLst>
                <a:ext uri="{FF2B5EF4-FFF2-40B4-BE49-F238E27FC236}">
                  <a16:creationId xmlns:a16="http://schemas.microsoft.com/office/drawing/2014/main" id="{B6FF55E4-1814-CB7D-19EE-25FB9A023477}"/>
                </a:ext>
              </a:extLst>
            </p:cNvPr>
            <p:cNvSpPr/>
            <p:nvPr/>
          </p:nvSpPr>
          <p:spPr>
            <a:xfrm>
              <a:off x="7711325" y="4315134"/>
              <a:ext cx="216024" cy="216024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/>
                </a:solidFill>
              </a:endParaRPr>
            </a:p>
          </p:txBody>
        </p:sp>
        <p:sp>
          <p:nvSpPr>
            <p:cNvPr id="74" name="Oval 44">
              <a:extLst>
                <a:ext uri="{FF2B5EF4-FFF2-40B4-BE49-F238E27FC236}">
                  <a16:creationId xmlns:a16="http://schemas.microsoft.com/office/drawing/2014/main" id="{490A325A-922E-9E6F-75F0-E33783C506CB}"/>
                </a:ext>
              </a:extLst>
            </p:cNvPr>
            <p:cNvSpPr/>
            <p:nvPr/>
          </p:nvSpPr>
          <p:spPr>
            <a:xfrm>
              <a:off x="7149963" y="5123714"/>
              <a:ext cx="216024" cy="216024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/>
                </a:solidFill>
              </a:endParaRPr>
            </a:p>
          </p:txBody>
        </p:sp>
        <p:sp>
          <p:nvSpPr>
            <p:cNvPr id="75" name="Oval 44">
              <a:extLst>
                <a:ext uri="{FF2B5EF4-FFF2-40B4-BE49-F238E27FC236}">
                  <a16:creationId xmlns:a16="http://schemas.microsoft.com/office/drawing/2014/main" id="{4C4058C1-9435-91D2-5B56-C71D477766A6}"/>
                </a:ext>
              </a:extLst>
            </p:cNvPr>
            <p:cNvSpPr/>
            <p:nvPr/>
          </p:nvSpPr>
          <p:spPr>
            <a:xfrm>
              <a:off x="5634896" y="5123714"/>
              <a:ext cx="216024" cy="216024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/>
                </a:solidFill>
              </a:endParaRPr>
            </a:p>
          </p:txBody>
        </p:sp>
        <p:sp>
          <p:nvSpPr>
            <p:cNvPr id="76" name="Oval 44">
              <a:extLst>
                <a:ext uri="{FF2B5EF4-FFF2-40B4-BE49-F238E27FC236}">
                  <a16:creationId xmlns:a16="http://schemas.microsoft.com/office/drawing/2014/main" id="{BE9EC1F6-05AD-52AD-045B-0E65FADFDC39}"/>
                </a:ext>
              </a:extLst>
            </p:cNvPr>
            <p:cNvSpPr/>
            <p:nvPr/>
          </p:nvSpPr>
          <p:spPr>
            <a:xfrm>
              <a:off x="5084306" y="4305492"/>
              <a:ext cx="216024" cy="216024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/>
                </a:solidFill>
              </a:endParaRPr>
            </a:p>
          </p:txBody>
        </p:sp>
        <p:sp>
          <p:nvSpPr>
            <p:cNvPr id="77" name="Oval 44">
              <a:extLst>
                <a:ext uri="{FF2B5EF4-FFF2-40B4-BE49-F238E27FC236}">
                  <a16:creationId xmlns:a16="http://schemas.microsoft.com/office/drawing/2014/main" id="{8A42AC4B-53C0-13B1-539F-EC41A95949A6}"/>
                </a:ext>
              </a:extLst>
            </p:cNvPr>
            <p:cNvSpPr/>
            <p:nvPr/>
          </p:nvSpPr>
          <p:spPr>
            <a:xfrm>
              <a:off x="5285516" y="3186273"/>
              <a:ext cx="216024" cy="216024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/>
                </a:solidFill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37488690-EC53-5204-2B09-FE0FF8B47B93}"/>
                </a:ext>
              </a:extLst>
            </p:cNvPr>
            <p:cNvSpPr txBox="1"/>
            <p:nvPr/>
          </p:nvSpPr>
          <p:spPr>
            <a:xfrm>
              <a:off x="5010780" y="3124953"/>
              <a:ext cx="2849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1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750C0B22-A1BD-DF6D-67D1-C656D4A61DBE}"/>
                </a:ext>
              </a:extLst>
            </p:cNvPr>
            <p:cNvSpPr txBox="1"/>
            <p:nvPr/>
          </p:nvSpPr>
          <p:spPr>
            <a:xfrm>
              <a:off x="5599407" y="5366068"/>
              <a:ext cx="2849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3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8667DFC2-D3C8-E2B9-3555-9FC287A607F2}"/>
                </a:ext>
              </a:extLst>
            </p:cNvPr>
            <p:cNvSpPr txBox="1"/>
            <p:nvPr/>
          </p:nvSpPr>
          <p:spPr>
            <a:xfrm>
              <a:off x="7133636" y="5366633"/>
              <a:ext cx="316925" cy="3689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4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E3301C0B-BFFF-41FD-21A0-5DC3CD33EFC1}"/>
                </a:ext>
              </a:extLst>
            </p:cNvPr>
            <p:cNvSpPr txBox="1"/>
            <p:nvPr/>
          </p:nvSpPr>
          <p:spPr>
            <a:xfrm>
              <a:off x="7933528" y="4260892"/>
              <a:ext cx="2615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5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DDB4C8E2-FDC1-46B8-7DAD-80C855AACEC6}"/>
                </a:ext>
              </a:extLst>
            </p:cNvPr>
            <p:cNvSpPr txBox="1"/>
            <p:nvPr/>
          </p:nvSpPr>
          <p:spPr>
            <a:xfrm>
              <a:off x="7697933" y="3135602"/>
              <a:ext cx="2615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6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03A3739F-984F-8CD0-CAB3-FCFBBFD648F6}"/>
                </a:ext>
              </a:extLst>
            </p:cNvPr>
            <p:cNvSpPr txBox="1"/>
            <p:nvPr/>
          </p:nvSpPr>
          <p:spPr>
            <a:xfrm>
              <a:off x="6369686" y="2347058"/>
              <a:ext cx="2615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7</a:t>
              </a:r>
            </a:p>
          </p:txBody>
        </p:sp>
      </p:grpSp>
      <p:sp>
        <p:nvSpPr>
          <p:cNvPr id="27" name="Google Shape;1580;g60be7dcf1c_0_473">
            <a:extLst>
              <a:ext uri="{FF2B5EF4-FFF2-40B4-BE49-F238E27FC236}">
                <a16:creationId xmlns:a16="http://schemas.microsoft.com/office/drawing/2014/main" id="{CBD6C335-468E-EE5E-5407-4DDB74451E1E}"/>
              </a:ext>
            </a:extLst>
          </p:cNvPr>
          <p:cNvSpPr txBox="1"/>
          <p:nvPr/>
        </p:nvSpPr>
        <p:spPr>
          <a:xfrm>
            <a:off x="0" y="540000"/>
            <a:ext cx="8211000" cy="144000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7FB184-9AD8-74F7-98DA-D87CB832057D}"/>
              </a:ext>
            </a:extLst>
          </p:cNvPr>
          <p:cNvSpPr txBox="1"/>
          <p:nvPr/>
        </p:nvSpPr>
        <p:spPr>
          <a:xfrm rot="16200000">
            <a:off x="188278" y="3923238"/>
            <a:ext cx="8803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Consolas" panose="020B0609020204030204" pitchFamily="49" charset="0"/>
                <a:ea typeface="Cambria Math" panose="02040503050406030204" pitchFamily="18" charset="0"/>
              </a:rPr>
              <a:t>Sources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208787-FF78-F8C8-5152-D5E405C5E499}"/>
              </a:ext>
            </a:extLst>
          </p:cNvPr>
          <p:cNvSpPr txBox="1"/>
          <p:nvPr/>
        </p:nvSpPr>
        <p:spPr>
          <a:xfrm>
            <a:off x="1984616" y="2181340"/>
            <a:ext cx="13773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Consolas" panose="020B0609020204030204" pitchFamily="49" charset="0"/>
              </a:rPr>
              <a:t>Destinations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2C096AE5-5777-EBC5-FD50-E6B9BCEDE1D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231395" y="2808081"/>
              <a:ext cx="3002909" cy="264477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8987">
                      <a:extLst>
                        <a:ext uri="{9D8B030D-6E8A-4147-A177-3AD203B41FA5}">
                          <a16:colId xmlns:a16="http://schemas.microsoft.com/office/drawing/2014/main" val="3864413765"/>
                        </a:ext>
                      </a:extLst>
                    </a:gridCol>
                    <a:gridCol w="428987">
                      <a:extLst>
                        <a:ext uri="{9D8B030D-6E8A-4147-A177-3AD203B41FA5}">
                          <a16:colId xmlns:a16="http://schemas.microsoft.com/office/drawing/2014/main" val="3806580306"/>
                        </a:ext>
                      </a:extLst>
                    </a:gridCol>
                    <a:gridCol w="428987">
                      <a:extLst>
                        <a:ext uri="{9D8B030D-6E8A-4147-A177-3AD203B41FA5}">
                          <a16:colId xmlns:a16="http://schemas.microsoft.com/office/drawing/2014/main" val="123248972"/>
                        </a:ext>
                      </a:extLst>
                    </a:gridCol>
                    <a:gridCol w="428987">
                      <a:extLst>
                        <a:ext uri="{9D8B030D-6E8A-4147-A177-3AD203B41FA5}">
                          <a16:colId xmlns:a16="http://schemas.microsoft.com/office/drawing/2014/main" val="1797807495"/>
                        </a:ext>
                      </a:extLst>
                    </a:gridCol>
                    <a:gridCol w="428987">
                      <a:extLst>
                        <a:ext uri="{9D8B030D-6E8A-4147-A177-3AD203B41FA5}">
                          <a16:colId xmlns:a16="http://schemas.microsoft.com/office/drawing/2014/main" val="3083318154"/>
                        </a:ext>
                      </a:extLst>
                    </a:gridCol>
                    <a:gridCol w="428987">
                      <a:extLst>
                        <a:ext uri="{9D8B030D-6E8A-4147-A177-3AD203B41FA5}">
                          <a16:colId xmlns:a16="http://schemas.microsoft.com/office/drawing/2014/main" val="3343020069"/>
                        </a:ext>
                      </a:extLst>
                    </a:gridCol>
                    <a:gridCol w="428987">
                      <a:extLst>
                        <a:ext uri="{9D8B030D-6E8A-4147-A177-3AD203B41FA5}">
                          <a16:colId xmlns:a16="http://schemas.microsoft.com/office/drawing/2014/main" val="340397575"/>
                        </a:ext>
                      </a:extLst>
                    </a:gridCol>
                  </a:tblGrid>
                  <a:tr h="34044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05930682"/>
                      </a:ext>
                    </a:extLst>
                  </a:tr>
                  <a:tr h="34044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3934695"/>
                      </a:ext>
                    </a:extLst>
                  </a:tr>
                  <a:tr h="34044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b="0" dirty="0">
                            <a:solidFill>
                              <a:schemeClr val="bg1">
                                <a:lumMod val="65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b="0" dirty="0">
                            <a:solidFill>
                              <a:schemeClr val="bg1">
                                <a:lumMod val="65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21555389"/>
                      </a:ext>
                    </a:extLst>
                  </a:tr>
                  <a:tr h="34044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b="0" dirty="0">
                            <a:solidFill>
                              <a:schemeClr val="bg1">
                                <a:lumMod val="65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4670812"/>
                      </a:ext>
                    </a:extLst>
                  </a:tr>
                  <a:tr h="34044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dirty="0">
                            <a:solidFill>
                              <a:schemeClr val="bg1">
                                <a:lumMod val="65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8825016"/>
                      </a:ext>
                    </a:extLst>
                  </a:tr>
                  <a:tr h="34044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01367391"/>
                      </a:ext>
                    </a:extLst>
                  </a:tr>
                  <a:tr h="340442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2736237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/>
              <p:cNvGraphicFramePr>
                <a:graphicFrameLocks noGrp="1"/>
              </p:cNvGraphicFramePr>
              <p:nvPr/>
            </p:nvGraphicFramePr>
            <p:xfrm>
              <a:off x="1231395" y="2808081"/>
              <a:ext cx="3002909" cy="264477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8987">
                      <a:extLst>
                        <a:ext uri="{9D8B030D-6E8A-4147-A177-3AD203B41FA5}">
                          <a16:colId xmlns:a16="http://schemas.microsoft.com/office/drawing/2014/main" val="3864413765"/>
                        </a:ext>
                      </a:extLst>
                    </a:gridCol>
                    <a:gridCol w="428987">
                      <a:extLst>
                        <a:ext uri="{9D8B030D-6E8A-4147-A177-3AD203B41FA5}">
                          <a16:colId xmlns:a16="http://schemas.microsoft.com/office/drawing/2014/main" val="3806580306"/>
                        </a:ext>
                      </a:extLst>
                    </a:gridCol>
                    <a:gridCol w="428987">
                      <a:extLst>
                        <a:ext uri="{9D8B030D-6E8A-4147-A177-3AD203B41FA5}">
                          <a16:colId xmlns:a16="http://schemas.microsoft.com/office/drawing/2014/main" val="123248972"/>
                        </a:ext>
                      </a:extLst>
                    </a:gridCol>
                    <a:gridCol w="428987">
                      <a:extLst>
                        <a:ext uri="{9D8B030D-6E8A-4147-A177-3AD203B41FA5}">
                          <a16:colId xmlns:a16="http://schemas.microsoft.com/office/drawing/2014/main" val="1797807495"/>
                        </a:ext>
                      </a:extLst>
                    </a:gridCol>
                    <a:gridCol w="428987">
                      <a:extLst>
                        <a:ext uri="{9D8B030D-6E8A-4147-A177-3AD203B41FA5}">
                          <a16:colId xmlns:a16="http://schemas.microsoft.com/office/drawing/2014/main" val="3083318154"/>
                        </a:ext>
                      </a:extLst>
                    </a:gridCol>
                    <a:gridCol w="428987">
                      <a:extLst>
                        <a:ext uri="{9D8B030D-6E8A-4147-A177-3AD203B41FA5}">
                          <a16:colId xmlns:a16="http://schemas.microsoft.com/office/drawing/2014/main" val="3343020069"/>
                        </a:ext>
                      </a:extLst>
                    </a:gridCol>
                    <a:gridCol w="428987">
                      <a:extLst>
                        <a:ext uri="{9D8B030D-6E8A-4147-A177-3AD203B41FA5}">
                          <a16:colId xmlns:a16="http://schemas.microsoft.com/office/drawing/2014/main" val="340397575"/>
                        </a:ext>
                      </a:extLst>
                    </a:gridCol>
                  </a:tblGrid>
                  <a:tr h="37782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1408" t="-3226" r="-498592" b="-6112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4286" t="-3226" r="-405714" b="-6112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00000" t="-3226" r="-300000" b="-6112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05714" t="-3226" r="-204286" b="-6112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98592" t="-3226" r="-101408" b="-6112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607143" t="-3226" r="-2857" b="-6112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05930682"/>
                      </a:ext>
                    </a:extLst>
                  </a:tr>
                  <a:tr h="377825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857" t="-103226" r="-607143" b="-5112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4286" t="-103226" r="-405714" b="-5112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607143" t="-103226" r="-2857" b="-5112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3934695"/>
                      </a:ext>
                    </a:extLst>
                  </a:tr>
                  <a:tr h="377825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857" t="-203226" r="-607143" b="-4112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1408" t="-203226" r="-498592" b="-4112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00000" t="-203226" r="-300000" b="-4112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607143" t="-203226" r="-2857" b="-4112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21555389"/>
                      </a:ext>
                    </a:extLst>
                  </a:tr>
                  <a:tr h="377825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857" t="-298413" r="-607143" b="-3047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4286" t="-298413" r="-405714" b="-3047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05714" t="-298413" r="-204286" b="-3047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4670812"/>
                      </a:ext>
                    </a:extLst>
                  </a:tr>
                  <a:tr h="377825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857" t="-404839" r="-607143" b="-2096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4286" t="-404839" r="-405714" b="-2096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00000" t="-404839" r="-300000" b="-2096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8825016"/>
                      </a:ext>
                    </a:extLst>
                  </a:tr>
                  <a:tr h="377825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857" t="-504839" r="-607143" b="-1096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607143" t="-504839" r="-2857" b="-1096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01367391"/>
                      </a:ext>
                    </a:extLst>
                  </a:tr>
                  <a:tr h="377825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857" t="-604839" r="-607143" b="-96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1408" t="-604839" r="-498592" b="-96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4286" t="-604839" r="-405714" b="-96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98592" t="-604839" r="-101408" b="-96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2736237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E2ED7EF0-6CA1-29C4-E4B9-3F0B44B7F435}"/>
              </a:ext>
            </a:extLst>
          </p:cNvPr>
          <p:cNvSpPr txBox="1"/>
          <p:nvPr/>
        </p:nvSpPr>
        <p:spPr>
          <a:xfrm>
            <a:off x="898208" y="2766270"/>
            <a:ext cx="284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D25B8E-DA8E-58A3-FCA9-131BACD2640E}"/>
              </a:ext>
            </a:extLst>
          </p:cNvPr>
          <p:cNvSpPr txBox="1"/>
          <p:nvPr/>
        </p:nvSpPr>
        <p:spPr>
          <a:xfrm>
            <a:off x="901800" y="3189026"/>
            <a:ext cx="284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DE02CD-40E4-9FA6-64AB-A9453AB63096}"/>
              </a:ext>
            </a:extLst>
          </p:cNvPr>
          <p:cNvSpPr txBox="1"/>
          <p:nvPr/>
        </p:nvSpPr>
        <p:spPr>
          <a:xfrm>
            <a:off x="898208" y="3558358"/>
            <a:ext cx="284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58EAC3-8AA0-1DFF-19A6-3452BC55F6A3}"/>
              </a:ext>
            </a:extLst>
          </p:cNvPr>
          <p:cNvSpPr txBox="1"/>
          <p:nvPr/>
        </p:nvSpPr>
        <p:spPr>
          <a:xfrm>
            <a:off x="898208" y="3945802"/>
            <a:ext cx="284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E74718-03F8-51BE-91A4-9FB1E23AEAB9}"/>
              </a:ext>
            </a:extLst>
          </p:cNvPr>
          <p:cNvSpPr txBox="1"/>
          <p:nvPr/>
        </p:nvSpPr>
        <p:spPr>
          <a:xfrm>
            <a:off x="910223" y="4320706"/>
            <a:ext cx="284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9041868-3D80-B789-A37A-1FB9C44B1BC1}"/>
              </a:ext>
            </a:extLst>
          </p:cNvPr>
          <p:cNvSpPr txBox="1"/>
          <p:nvPr/>
        </p:nvSpPr>
        <p:spPr>
          <a:xfrm>
            <a:off x="910223" y="4690038"/>
            <a:ext cx="284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78076C9-D37A-C38B-8464-943DDAD20E3A}"/>
              </a:ext>
            </a:extLst>
          </p:cNvPr>
          <p:cNvSpPr txBox="1"/>
          <p:nvPr/>
        </p:nvSpPr>
        <p:spPr>
          <a:xfrm>
            <a:off x="919219" y="5095126"/>
            <a:ext cx="284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278D6F-3CD9-B1DB-4C32-4F65E5479B4E}"/>
              </a:ext>
            </a:extLst>
          </p:cNvPr>
          <p:cNvSpPr txBox="1"/>
          <p:nvPr/>
        </p:nvSpPr>
        <p:spPr>
          <a:xfrm>
            <a:off x="1289011" y="2436226"/>
            <a:ext cx="284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1DF993F-78CD-26A9-6108-A8B6526B5C5E}"/>
              </a:ext>
            </a:extLst>
          </p:cNvPr>
          <p:cNvSpPr txBox="1"/>
          <p:nvPr/>
        </p:nvSpPr>
        <p:spPr>
          <a:xfrm>
            <a:off x="1679814" y="2446300"/>
            <a:ext cx="284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9670DB-F959-B601-CDFC-E929B3ED8421}"/>
              </a:ext>
            </a:extLst>
          </p:cNvPr>
          <p:cNvSpPr txBox="1"/>
          <p:nvPr/>
        </p:nvSpPr>
        <p:spPr>
          <a:xfrm>
            <a:off x="2123601" y="2446300"/>
            <a:ext cx="284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A0871A2-7948-0E45-AF84-E22682B53C45}"/>
              </a:ext>
            </a:extLst>
          </p:cNvPr>
          <p:cNvSpPr txBox="1"/>
          <p:nvPr/>
        </p:nvSpPr>
        <p:spPr>
          <a:xfrm>
            <a:off x="2572089" y="2436226"/>
            <a:ext cx="284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277B3FF-492D-3600-F654-56DD5F6C086D}"/>
              </a:ext>
            </a:extLst>
          </p:cNvPr>
          <p:cNvSpPr txBox="1"/>
          <p:nvPr/>
        </p:nvSpPr>
        <p:spPr>
          <a:xfrm>
            <a:off x="3015482" y="2436226"/>
            <a:ext cx="284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93108F7-18B8-4F81-5E50-9DF1DBFBC301}"/>
              </a:ext>
            </a:extLst>
          </p:cNvPr>
          <p:cNvSpPr txBox="1"/>
          <p:nvPr/>
        </p:nvSpPr>
        <p:spPr>
          <a:xfrm>
            <a:off x="3405777" y="2446300"/>
            <a:ext cx="284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A310E73-FA1B-1E3A-6759-C53548E2F514}"/>
              </a:ext>
            </a:extLst>
          </p:cNvPr>
          <p:cNvSpPr txBox="1"/>
          <p:nvPr/>
        </p:nvSpPr>
        <p:spPr>
          <a:xfrm>
            <a:off x="3859564" y="2446300"/>
            <a:ext cx="284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7</a:t>
            </a:r>
          </a:p>
        </p:txBody>
      </p:sp>
      <p:pic>
        <p:nvPicPr>
          <p:cNvPr id="22" name="Picture 2" descr="Image result for fast forward">
            <a:extLst>
              <a:ext uri="{FF2B5EF4-FFF2-40B4-BE49-F238E27FC236}">
                <a16:creationId xmlns:a16="http://schemas.microsoft.com/office/drawing/2014/main" id="{D102293C-D554-9CEA-7A77-67C187517B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2175" y="3816495"/>
            <a:ext cx="475309" cy="475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5D9D63FF-772A-CF52-D9E9-965D86EE81B7}"/>
                  </a:ext>
                </a:extLst>
              </p:cNvPr>
              <p:cNvSpPr txBox="1"/>
              <p:nvPr/>
            </p:nvSpPr>
            <p:spPr>
              <a:xfrm>
                <a:off x="1808426" y="5941229"/>
                <a:ext cx="129614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IN" sz="2400" b="0" i="0" smtClean="0">
                          <a:latin typeface="Cambria Math"/>
                        </a:rPr>
                        <m:t>E</m:t>
                      </m:r>
                      <m:r>
                        <m:rPr>
                          <m:sty m:val="p"/>
                        </m:rPr>
                        <a:rPr lang="de-DE" sz="2400" b="0" i="0" smtClean="0">
                          <a:latin typeface="Cambria Math" panose="02040503050406030204" pitchFamily="18" charset="0"/>
                        </a:rPr>
                        <m:t>R</m:t>
                      </m:r>
                      <m:r>
                        <m:rPr>
                          <m:sty m:val="p"/>
                        </m:rPr>
                        <a:rPr lang="en-IN" sz="2400" b="0" i="0" smtClean="0">
                          <a:latin typeface="Cambria Math"/>
                        </a:rPr>
                        <m:t>L</m:t>
                      </m:r>
                      <m:d>
                        <m:dPr>
                          <m:ctrlPr>
                            <a:rPr lang="en-IN" sz="2400" i="0" dirty="0">
                              <a:latin typeface="Brush Script MT" panose="03060802040406070304" pitchFamily="66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IN" sz="2400" i="0" dirty="0">
                              <a:latin typeface="Brush Script MT" panose="03060802040406070304" pitchFamily="66" charset="0"/>
                            </a:rPr>
                            <m:t>D</m:t>
                          </m:r>
                          <m:r>
                            <m:rPr>
                              <m:nor/>
                            </m:rPr>
                            <a:rPr lang="en-IN" sz="24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,N</m:t>
                          </m:r>
                        </m:e>
                      </m:d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8426" y="5941229"/>
                <a:ext cx="1296144" cy="461665"/>
              </a:xfrm>
              <a:prstGeom prst="rect">
                <a:avLst/>
              </a:prstGeom>
              <a:blipFill>
                <a:blip r:embed="rId5"/>
                <a:stretch>
                  <a:fillRect l="-1415" r="-3302" b="-10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199ABE97-13C1-CE85-5DCB-952CD5F4A350}"/>
                  </a:ext>
                </a:extLst>
              </p:cNvPr>
              <p:cNvSpPr txBox="1"/>
              <p:nvPr/>
            </p:nvSpPr>
            <p:spPr>
              <a:xfrm>
                <a:off x="3093838" y="5739233"/>
                <a:ext cx="3544625" cy="10668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IN" sz="2400" i="1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IN" sz="2400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IN" sz="2400">
                              <a:latin typeface="Cambria Math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IN" sz="2400">
                              <a:latin typeface="Cambria Math"/>
                              <a:ea typeface="Cambria Math" panose="02040503050406030204" pitchFamily="18" charset="0"/>
                            </a:rPr>
                            <m:t>u</m:t>
                          </m:r>
                          <m:r>
                            <a:rPr lang="en-IN" sz="2400">
                              <a:latin typeface="Cambria Math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IN" sz="2400">
                              <a:latin typeface="Cambria Math"/>
                              <a:ea typeface="Cambria Math" panose="02040503050406030204" pitchFamily="18" charset="0"/>
                            </a:rPr>
                            <m:t>v</m:t>
                          </m:r>
                          <m:r>
                            <a:rPr lang="en-IN" sz="2400">
                              <a:latin typeface="Cambria Math"/>
                              <a:ea typeface="Cambria Math" panose="02040503050406030204" pitchFamily="18" charset="0"/>
                            </a:rPr>
                            <m:t>)∈</m:t>
                          </m:r>
                          <m:r>
                            <m:rPr>
                              <m:nor/>
                            </m:rPr>
                            <a:rPr lang="en-IN" sz="2400" i="0" dirty="0">
                              <a:latin typeface="Brush Script MT" panose="03060802040406070304" pitchFamily="66" charset="0"/>
                            </a:rPr>
                            <m:t>D</m:t>
                          </m:r>
                        </m:sub>
                        <m:sup/>
                        <m:e>
                          <m:r>
                            <m:rPr>
                              <m:sty m:val="p"/>
                            </m:rPr>
                            <a:rPr lang="en-IN" sz="2400" dirty="0">
                              <a:latin typeface="Cambria Math"/>
                            </a:rPr>
                            <m:t>p</m:t>
                          </m:r>
                          <m:d>
                            <m:dPr>
                              <m:ctrlPr>
                                <a:rPr lang="en-IN" sz="2400" dirty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IN" sz="2400" dirty="0">
                                  <a:latin typeface="Cambria Math"/>
                                </a:rPr>
                                <m:t>u</m:t>
                              </m:r>
                              <m:r>
                                <a:rPr lang="en-IN" sz="2400" dirty="0">
                                  <a:latin typeface="Cambria Math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IN" sz="2400" dirty="0">
                                  <a:latin typeface="Cambria Math"/>
                                </a:rPr>
                                <m:t>v</m:t>
                              </m:r>
                            </m:e>
                          </m:d>
                          <m:r>
                            <a:rPr lang="en-IN" sz="2400" dirty="0">
                              <a:latin typeface="Cambria Math"/>
                              <a:ea typeface="Cambria Math"/>
                            </a:rPr>
                            <m:t>∙</m:t>
                          </m:r>
                          <m:r>
                            <m:rPr>
                              <m:sty m:val="p"/>
                            </m:rPr>
                            <a:rPr lang="en-IN" sz="2400" dirty="0">
                              <a:latin typeface="Cambria Math"/>
                            </a:rPr>
                            <m:t>d</m:t>
                          </m:r>
                          <m:r>
                            <m:rPr>
                              <m:sty m:val="p"/>
                            </m:rPr>
                            <a:rPr lang="en-IN" sz="2400" baseline="-25000" dirty="0">
                              <a:latin typeface="Cambria Math"/>
                            </a:rPr>
                            <m:t>N</m:t>
                          </m:r>
                          <m:r>
                            <a:rPr lang="en-IN" sz="2400" dirty="0">
                              <a:latin typeface="Cambria Math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IN" sz="2400" dirty="0">
                              <a:latin typeface="Cambria Math"/>
                            </a:rPr>
                            <m:t>u</m:t>
                          </m:r>
                          <m:r>
                            <a:rPr lang="en-IN" sz="2400" dirty="0">
                              <a:latin typeface="Cambria Math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IN" sz="2400" dirty="0">
                              <a:latin typeface="Cambria Math"/>
                            </a:rPr>
                            <m:t>v</m:t>
                          </m:r>
                          <m:r>
                            <a:rPr lang="en-IN" sz="2400" i="1" dirty="0">
                              <a:latin typeface="Cambria Math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52" name="TextBox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3838" y="5739233"/>
                <a:ext cx="3544625" cy="106689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Gerader Verbinder 22">
            <a:extLst>
              <a:ext uri="{FF2B5EF4-FFF2-40B4-BE49-F238E27FC236}">
                <a16:creationId xmlns:a16="http://schemas.microsoft.com/office/drawing/2014/main" id="{8526D339-FC9A-4AB8-1C82-A1AB571FEB2B}"/>
              </a:ext>
            </a:extLst>
          </p:cNvPr>
          <p:cNvCxnSpPr>
            <a:cxnSpLocks/>
            <a:stCxn id="76" idx="7"/>
            <a:endCxn id="71" idx="3"/>
          </p:cNvCxnSpPr>
          <p:nvPr/>
        </p:nvCxnSpPr>
        <p:spPr>
          <a:xfrm flipV="1">
            <a:off x="5268694" y="2851296"/>
            <a:ext cx="1148029" cy="1485832"/>
          </a:xfrm>
          <a:prstGeom prst="line">
            <a:avLst/>
          </a:prstGeom>
          <a:ln w="76200">
            <a:solidFill>
              <a:srgbClr val="FFC000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Google Shape;1827;g60be7dcf1c_0_698">
            <a:extLst>
              <a:ext uri="{FF2B5EF4-FFF2-40B4-BE49-F238E27FC236}">
                <a16:creationId xmlns:a16="http://schemas.microsoft.com/office/drawing/2014/main" id="{D5DC12BC-26D3-4F8C-2E84-C82B9B7458DC}"/>
              </a:ext>
            </a:extLst>
          </p:cNvPr>
          <p:cNvSpPr/>
          <p:nvPr/>
        </p:nvSpPr>
        <p:spPr>
          <a:xfrm rot="2188282">
            <a:off x="109420" y="2053500"/>
            <a:ext cx="1313140" cy="583234"/>
          </a:xfrm>
          <a:prstGeom prst="homePlate">
            <a:avLst>
              <a:gd name="adj" fmla="val 50000"/>
            </a:avLst>
          </a:prstGeom>
          <a:solidFill>
            <a:schemeClr val="bg1"/>
          </a:solidFill>
          <a:ln w="1905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54" name="Google Shape;1828;g60be7dcf1c_0_698">
            <a:extLst>
              <a:ext uri="{FF2B5EF4-FFF2-40B4-BE49-F238E27FC236}">
                <a16:creationId xmlns:a16="http://schemas.microsoft.com/office/drawing/2014/main" id="{3AAA4EC1-69C7-A495-E43C-A8C3A7E6862B}"/>
              </a:ext>
            </a:extLst>
          </p:cNvPr>
          <p:cNvSpPr txBox="1"/>
          <p:nvPr/>
        </p:nvSpPr>
        <p:spPr>
          <a:xfrm rot="2188282">
            <a:off x="304488" y="2049946"/>
            <a:ext cx="988792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Communicated with many</a:t>
            </a:r>
          </a:p>
        </p:txBody>
      </p:sp>
      <p:sp>
        <p:nvSpPr>
          <p:cNvPr id="56" name="Google Shape;1827;g60be7dcf1c_0_698">
            <a:extLst>
              <a:ext uri="{FF2B5EF4-FFF2-40B4-BE49-F238E27FC236}">
                <a16:creationId xmlns:a16="http://schemas.microsoft.com/office/drawing/2014/main" id="{3430AA12-626D-2E7D-8AC2-CB9700866DE7}"/>
              </a:ext>
            </a:extLst>
          </p:cNvPr>
          <p:cNvSpPr/>
          <p:nvPr/>
        </p:nvSpPr>
        <p:spPr>
          <a:xfrm rot="11785300">
            <a:off x="5964572" y="3769265"/>
            <a:ext cx="926692" cy="257018"/>
          </a:xfrm>
          <a:prstGeom prst="homePlate">
            <a:avLst>
              <a:gd name="adj" fmla="val 50000"/>
            </a:avLst>
          </a:prstGeom>
          <a:solidFill>
            <a:schemeClr val="bg1"/>
          </a:solidFill>
          <a:ln w="1905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55" name="Google Shape;1828;g60be7dcf1c_0_698">
            <a:extLst>
              <a:ext uri="{FF2B5EF4-FFF2-40B4-BE49-F238E27FC236}">
                <a16:creationId xmlns:a16="http://schemas.microsoft.com/office/drawing/2014/main" id="{FFD11829-2DF6-4762-BB1F-6C4BC83E8BDF}"/>
              </a:ext>
            </a:extLst>
          </p:cNvPr>
          <p:cNvSpPr txBox="1"/>
          <p:nvPr/>
        </p:nvSpPr>
        <p:spPr>
          <a:xfrm rot="988382">
            <a:off x="6091174" y="3737693"/>
            <a:ext cx="78753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indirect</a:t>
            </a:r>
          </a:p>
        </p:txBody>
      </p:sp>
      <p:cxnSp>
        <p:nvCxnSpPr>
          <p:cNvPr id="59" name="Gerader Verbinder 22">
            <a:extLst>
              <a:ext uri="{FF2B5EF4-FFF2-40B4-BE49-F238E27FC236}">
                <a16:creationId xmlns:a16="http://schemas.microsoft.com/office/drawing/2014/main" id="{44FE3E6E-52B3-99D7-1462-BC0F54DE923A}"/>
              </a:ext>
            </a:extLst>
          </p:cNvPr>
          <p:cNvCxnSpPr>
            <a:cxnSpLocks/>
            <a:stCxn id="76" idx="0"/>
          </p:cNvCxnSpPr>
          <p:nvPr/>
        </p:nvCxnSpPr>
        <p:spPr>
          <a:xfrm flipV="1">
            <a:off x="5192318" y="3386740"/>
            <a:ext cx="191138" cy="918752"/>
          </a:xfrm>
          <a:prstGeom prst="line">
            <a:avLst/>
          </a:prstGeom>
          <a:ln w="76200">
            <a:solidFill>
              <a:srgbClr val="FFC000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Google Shape;1810;g60be7dcf1c_0_698">
            <a:extLst>
              <a:ext uri="{FF2B5EF4-FFF2-40B4-BE49-F238E27FC236}">
                <a16:creationId xmlns:a16="http://schemas.microsoft.com/office/drawing/2014/main" id="{722B58E9-532B-16D5-725F-5D8E505B3FC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3075" y="324175"/>
            <a:ext cx="5870638" cy="18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l">
              <a:buSzPts val="1100"/>
            </a:pPr>
            <a:r>
              <a:rPr lang="en-GB" sz="2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Case Study “Route Lengths”</a:t>
            </a:r>
            <a:br>
              <a:rPr lang="en-GB" sz="32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Constant-Degree Demand-Aware Network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A882739-2C9E-3F81-4F8F-656F83E5200F}"/>
              </a:ext>
            </a:extLst>
          </p:cNvPr>
          <p:cNvSpPr txBox="1"/>
          <p:nvPr/>
        </p:nvSpPr>
        <p:spPr>
          <a:xfrm>
            <a:off x="4826016" y="4253102"/>
            <a:ext cx="284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</a:p>
        </p:txBody>
      </p:sp>
      <p:sp>
        <p:nvSpPr>
          <p:cNvPr id="2" name="Rectangle 25">
            <a:extLst>
              <a:ext uri="{FF2B5EF4-FFF2-40B4-BE49-F238E27FC236}">
                <a16:creationId xmlns:a16="http://schemas.microsoft.com/office/drawing/2014/main" id="{C7F59846-7976-7A89-B18A-C0D615942547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E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7762553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0">
          <a:extLst>
            <a:ext uri="{FF2B5EF4-FFF2-40B4-BE49-F238E27FC236}">
              <a16:creationId xmlns:a16="http://schemas.microsoft.com/office/drawing/2014/main" id="{9FF0EE2C-FF2B-C162-A9EA-E569949AA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roup 57">
            <a:extLst>
              <a:ext uri="{FF2B5EF4-FFF2-40B4-BE49-F238E27FC236}">
                <a16:creationId xmlns:a16="http://schemas.microsoft.com/office/drawing/2014/main" id="{45AC09A9-5818-2D70-0F65-CD3571703AB4}"/>
              </a:ext>
            </a:extLst>
          </p:cNvPr>
          <p:cNvGrpSpPr/>
          <p:nvPr/>
        </p:nvGrpSpPr>
        <p:grpSpPr>
          <a:xfrm>
            <a:off x="5010780" y="2347058"/>
            <a:ext cx="3184258" cy="3388533"/>
            <a:chOff x="5010780" y="2347058"/>
            <a:chExt cx="3184258" cy="3388533"/>
          </a:xfrm>
        </p:grpSpPr>
        <p:cxnSp>
          <p:nvCxnSpPr>
            <p:cNvPr id="60" name="Gerader Verbinder 22">
              <a:extLst>
                <a:ext uri="{FF2B5EF4-FFF2-40B4-BE49-F238E27FC236}">
                  <a16:creationId xmlns:a16="http://schemas.microsoft.com/office/drawing/2014/main" id="{476C6EAC-BD24-87A8-5CBA-BCE1E67937ED}"/>
                </a:ext>
              </a:extLst>
            </p:cNvPr>
            <p:cNvCxnSpPr>
              <a:cxnSpLocks/>
              <a:stCxn id="70" idx="5"/>
              <a:endCxn id="71" idx="1"/>
            </p:cNvCxnSpPr>
            <p:nvPr/>
          </p:nvCxnSpPr>
          <p:spPr>
            <a:xfrm>
              <a:off x="6569475" y="2851296"/>
              <a:ext cx="912722" cy="36661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Gerader Verbinder 22">
              <a:extLst>
                <a:ext uri="{FF2B5EF4-FFF2-40B4-BE49-F238E27FC236}">
                  <a16:creationId xmlns:a16="http://schemas.microsoft.com/office/drawing/2014/main" id="{97F671DA-B030-6D30-128A-0D229769D35C}"/>
                </a:ext>
              </a:extLst>
            </p:cNvPr>
            <p:cNvCxnSpPr>
              <a:stCxn id="71" idx="0"/>
              <a:endCxn id="73" idx="4"/>
            </p:cNvCxnSpPr>
            <p:nvPr/>
          </p:nvCxnSpPr>
          <p:spPr>
            <a:xfrm flipH="1">
              <a:off x="7257975" y="3186273"/>
              <a:ext cx="300598" cy="215346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Gerader Verbinder 22">
              <a:extLst>
                <a:ext uri="{FF2B5EF4-FFF2-40B4-BE49-F238E27FC236}">
                  <a16:creationId xmlns:a16="http://schemas.microsoft.com/office/drawing/2014/main" id="{36AAFB4C-EF94-042F-B03B-D104ADE68F8B}"/>
                </a:ext>
              </a:extLst>
            </p:cNvPr>
            <p:cNvCxnSpPr>
              <a:cxnSpLocks/>
              <a:stCxn id="72" idx="3"/>
              <a:endCxn id="73" idx="7"/>
            </p:cNvCxnSpPr>
            <p:nvPr/>
          </p:nvCxnSpPr>
          <p:spPr>
            <a:xfrm flipH="1">
              <a:off x="7334351" y="4499522"/>
              <a:ext cx="408610" cy="65582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Gerader Verbinder 22">
              <a:extLst>
                <a:ext uri="{FF2B5EF4-FFF2-40B4-BE49-F238E27FC236}">
                  <a16:creationId xmlns:a16="http://schemas.microsoft.com/office/drawing/2014/main" id="{A40CA26A-6A1D-44D3-92F2-E4C16413E18C}"/>
                </a:ext>
              </a:extLst>
            </p:cNvPr>
            <p:cNvCxnSpPr>
              <a:stCxn id="74" idx="2"/>
              <a:endCxn id="73" idx="6"/>
            </p:cNvCxnSpPr>
            <p:nvPr/>
          </p:nvCxnSpPr>
          <p:spPr>
            <a:xfrm>
              <a:off x="5634896" y="5231726"/>
              <a:ext cx="173109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Gerader Verbinder 22">
              <a:extLst>
                <a:ext uri="{FF2B5EF4-FFF2-40B4-BE49-F238E27FC236}">
                  <a16:creationId xmlns:a16="http://schemas.microsoft.com/office/drawing/2014/main" id="{CF258525-0303-DD02-1E0F-0FABC224DC5C}"/>
                </a:ext>
              </a:extLst>
            </p:cNvPr>
            <p:cNvCxnSpPr>
              <a:cxnSpLocks/>
              <a:stCxn id="75" idx="0"/>
              <a:endCxn id="76" idx="0"/>
            </p:cNvCxnSpPr>
            <p:nvPr/>
          </p:nvCxnSpPr>
          <p:spPr>
            <a:xfrm flipV="1">
              <a:off x="5192318" y="3186273"/>
              <a:ext cx="201210" cy="111921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Gerader Verbinder 22">
              <a:extLst>
                <a:ext uri="{FF2B5EF4-FFF2-40B4-BE49-F238E27FC236}">
                  <a16:creationId xmlns:a16="http://schemas.microsoft.com/office/drawing/2014/main" id="{946ABDAF-5BC8-72D5-2809-6456C80CBF9E}"/>
                </a:ext>
              </a:extLst>
            </p:cNvPr>
            <p:cNvCxnSpPr>
              <a:cxnSpLocks/>
              <a:stCxn id="75" idx="7"/>
              <a:endCxn id="82" idx="2"/>
            </p:cNvCxnSpPr>
            <p:nvPr/>
          </p:nvCxnSpPr>
          <p:spPr>
            <a:xfrm flipV="1">
              <a:off x="5268694" y="2716390"/>
              <a:ext cx="1231747" cy="162073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Gerader Verbinder 22">
              <a:extLst>
                <a:ext uri="{FF2B5EF4-FFF2-40B4-BE49-F238E27FC236}">
                  <a16:creationId xmlns:a16="http://schemas.microsoft.com/office/drawing/2014/main" id="{5FD684B5-31B9-B48D-A03A-2431636AF012}"/>
                </a:ext>
              </a:extLst>
            </p:cNvPr>
            <p:cNvCxnSpPr>
              <a:stCxn id="76" idx="2"/>
              <a:endCxn id="71" idx="6"/>
            </p:cNvCxnSpPr>
            <p:nvPr/>
          </p:nvCxnSpPr>
          <p:spPr>
            <a:xfrm>
              <a:off x="5285516" y="3294285"/>
              <a:ext cx="238106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Gerader Verbinder 22">
              <a:extLst>
                <a:ext uri="{FF2B5EF4-FFF2-40B4-BE49-F238E27FC236}">
                  <a16:creationId xmlns:a16="http://schemas.microsoft.com/office/drawing/2014/main" id="{5B335C82-05B8-8CE3-4CE4-941B6745B5EA}"/>
                </a:ext>
              </a:extLst>
            </p:cNvPr>
            <p:cNvCxnSpPr>
              <a:cxnSpLocks/>
              <a:stCxn id="70" idx="4"/>
              <a:endCxn id="74" idx="4"/>
            </p:cNvCxnSpPr>
            <p:nvPr/>
          </p:nvCxnSpPr>
          <p:spPr>
            <a:xfrm flipH="1">
              <a:off x="5742908" y="2882932"/>
              <a:ext cx="750191" cy="24568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Gerader Verbinder 22">
              <a:extLst>
                <a:ext uri="{FF2B5EF4-FFF2-40B4-BE49-F238E27FC236}">
                  <a16:creationId xmlns:a16="http://schemas.microsoft.com/office/drawing/2014/main" id="{1F0E3C3F-2462-1055-EA20-A6F85AB6FD49}"/>
                </a:ext>
              </a:extLst>
            </p:cNvPr>
            <p:cNvCxnSpPr>
              <a:cxnSpLocks/>
              <a:stCxn id="72" idx="2"/>
              <a:endCxn id="75" idx="6"/>
            </p:cNvCxnSpPr>
            <p:nvPr/>
          </p:nvCxnSpPr>
          <p:spPr>
            <a:xfrm flipH="1" flipV="1">
              <a:off x="5300330" y="4413504"/>
              <a:ext cx="2410995" cy="964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Gerader Verbinder 22">
              <a:extLst>
                <a:ext uri="{FF2B5EF4-FFF2-40B4-BE49-F238E27FC236}">
                  <a16:creationId xmlns:a16="http://schemas.microsoft.com/office/drawing/2014/main" id="{B0039CCD-B257-C921-E01C-DD50C9B6888C}"/>
                </a:ext>
              </a:extLst>
            </p:cNvPr>
            <p:cNvCxnSpPr>
              <a:stCxn id="76" idx="0"/>
              <a:endCxn id="74" idx="5"/>
            </p:cNvCxnSpPr>
            <p:nvPr/>
          </p:nvCxnSpPr>
          <p:spPr>
            <a:xfrm>
              <a:off x="5393528" y="3186273"/>
              <a:ext cx="425756" cy="212182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Oval 44">
              <a:extLst>
                <a:ext uri="{FF2B5EF4-FFF2-40B4-BE49-F238E27FC236}">
                  <a16:creationId xmlns:a16="http://schemas.microsoft.com/office/drawing/2014/main" id="{2C6DB5A4-DB3E-71DA-F1F0-F5CF54A4A5E1}"/>
                </a:ext>
              </a:extLst>
            </p:cNvPr>
            <p:cNvSpPr/>
            <p:nvPr/>
          </p:nvSpPr>
          <p:spPr>
            <a:xfrm>
              <a:off x="6385087" y="2666908"/>
              <a:ext cx="216024" cy="216024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/>
                </a:solidFill>
              </a:endParaRPr>
            </a:p>
          </p:txBody>
        </p:sp>
        <p:sp>
          <p:nvSpPr>
            <p:cNvPr id="71" name="Oval 44">
              <a:extLst>
                <a:ext uri="{FF2B5EF4-FFF2-40B4-BE49-F238E27FC236}">
                  <a16:creationId xmlns:a16="http://schemas.microsoft.com/office/drawing/2014/main" id="{351F599A-A1E4-2713-314A-50144CBC5900}"/>
                </a:ext>
              </a:extLst>
            </p:cNvPr>
            <p:cNvSpPr/>
            <p:nvPr/>
          </p:nvSpPr>
          <p:spPr>
            <a:xfrm>
              <a:off x="7450561" y="3186273"/>
              <a:ext cx="216024" cy="216024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/>
                </a:solidFill>
              </a:endParaRPr>
            </a:p>
          </p:txBody>
        </p:sp>
        <p:sp>
          <p:nvSpPr>
            <p:cNvPr id="72" name="Oval 44">
              <a:extLst>
                <a:ext uri="{FF2B5EF4-FFF2-40B4-BE49-F238E27FC236}">
                  <a16:creationId xmlns:a16="http://schemas.microsoft.com/office/drawing/2014/main" id="{B6A8EDB0-6890-EE98-7C35-575E35C8126E}"/>
                </a:ext>
              </a:extLst>
            </p:cNvPr>
            <p:cNvSpPr/>
            <p:nvPr/>
          </p:nvSpPr>
          <p:spPr>
            <a:xfrm>
              <a:off x="7711325" y="4315134"/>
              <a:ext cx="216024" cy="216024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/>
                </a:solidFill>
              </a:endParaRPr>
            </a:p>
          </p:txBody>
        </p:sp>
        <p:sp>
          <p:nvSpPr>
            <p:cNvPr id="73" name="Oval 44">
              <a:extLst>
                <a:ext uri="{FF2B5EF4-FFF2-40B4-BE49-F238E27FC236}">
                  <a16:creationId xmlns:a16="http://schemas.microsoft.com/office/drawing/2014/main" id="{5C1BB1FB-94F6-AE74-96EB-D58A2118A8A2}"/>
                </a:ext>
              </a:extLst>
            </p:cNvPr>
            <p:cNvSpPr/>
            <p:nvPr/>
          </p:nvSpPr>
          <p:spPr>
            <a:xfrm>
              <a:off x="7149963" y="5123714"/>
              <a:ext cx="216024" cy="216024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/>
                </a:solidFill>
              </a:endParaRPr>
            </a:p>
          </p:txBody>
        </p:sp>
        <p:sp>
          <p:nvSpPr>
            <p:cNvPr id="74" name="Oval 44">
              <a:extLst>
                <a:ext uri="{FF2B5EF4-FFF2-40B4-BE49-F238E27FC236}">
                  <a16:creationId xmlns:a16="http://schemas.microsoft.com/office/drawing/2014/main" id="{56F0C82F-4167-E3D0-38C7-FC48D3386BFE}"/>
                </a:ext>
              </a:extLst>
            </p:cNvPr>
            <p:cNvSpPr/>
            <p:nvPr/>
          </p:nvSpPr>
          <p:spPr>
            <a:xfrm>
              <a:off x="5634896" y="5123714"/>
              <a:ext cx="216024" cy="216024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/>
                </a:solidFill>
              </a:endParaRPr>
            </a:p>
          </p:txBody>
        </p:sp>
        <p:sp>
          <p:nvSpPr>
            <p:cNvPr id="75" name="Oval 44">
              <a:extLst>
                <a:ext uri="{FF2B5EF4-FFF2-40B4-BE49-F238E27FC236}">
                  <a16:creationId xmlns:a16="http://schemas.microsoft.com/office/drawing/2014/main" id="{70D15F7C-0B13-B385-AD7C-7EF09B24C204}"/>
                </a:ext>
              </a:extLst>
            </p:cNvPr>
            <p:cNvSpPr/>
            <p:nvPr/>
          </p:nvSpPr>
          <p:spPr>
            <a:xfrm>
              <a:off x="5084306" y="4305492"/>
              <a:ext cx="216024" cy="216024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/>
                </a:solidFill>
              </a:endParaRPr>
            </a:p>
          </p:txBody>
        </p:sp>
        <p:sp>
          <p:nvSpPr>
            <p:cNvPr id="76" name="Oval 44">
              <a:extLst>
                <a:ext uri="{FF2B5EF4-FFF2-40B4-BE49-F238E27FC236}">
                  <a16:creationId xmlns:a16="http://schemas.microsoft.com/office/drawing/2014/main" id="{6DBDD094-5CAC-1B2A-3D20-3CF602676114}"/>
                </a:ext>
              </a:extLst>
            </p:cNvPr>
            <p:cNvSpPr/>
            <p:nvPr/>
          </p:nvSpPr>
          <p:spPr>
            <a:xfrm>
              <a:off x="5285516" y="3186273"/>
              <a:ext cx="216024" cy="216024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/>
                </a:solidFill>
              </a:endParaRP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BB99AF9D-8DD3-392E-5312-3575B0FD317C}"/>
                </a:ext>
              </a:extLst>
            </p:cNvPr>
            <p:cNvSpPr txBox="1"/>
            <p:nvPr/>
          </p:nvSpPr>
          <p:spPr>
            <a:xfrm>
              <a:off x="5010780" y="3124953"/>
              <a:ext cx="2849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1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D3FEDFBB-E508-7A7B-E5D8-7ED5D02E320E}"/>
                </a:ext>
              </a:extLst>
            </p:cNvPr>
            <p:cNvSpPr txBox="1"/>
            <p:nvPr/>
          </p:nvSpPr>
          <p:spPr>
            <a:xfrm>
              <a:off x="5599407" y="5366068"/>
              <a:ext cx="2849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3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7F5FB017-3548-8DA5-BCCE-E93FDD1975BE}"/>
                </a:ext>
              </a:extLst>
            </p:cNvPr>
            <p:cNvSpPr txBox="1"/>
            <p:nvPr/>
          </p:nvSpPr>
          <p:spPr>
            <a:xfrm>
              <a:off x="7133636" y="5366633"/>
              <a:ext cx="316925" cy="3689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4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108302ED-23C1-9BFC-BBA8-F5F541690432}"/>
                </a:ext>
              </a:extLst>
            </p:cNvPr>
            <p:cNvSpPr txBox="1"/>
            <p:nvPr/>
          </p:nvSpPr>
          <p:spPr>
            <a:xfrm>
              <a:off x="7933528" y="4260892"/>
              <a:ext cx="2615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5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B043E217-20BF-0634-BF8F-DC898B73F2D7}"/>
                </a:ext>
              </a:extLst>
            </p:cNvPr>
            <p:cNvSpPr txBox="1"/>
            <p:nvPr/>
          </p:nvSpPr>
          <p:spPr>
            <a:xfrm>
              <a:off x="7697933" y="3135602"/>
              <a:ext cx="2615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6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CF073FBF-C0EF-35CF-317C-A5F08F960773}"/>
                </a:ext>
              </a:extLst>
            </p:cNvPr>
            <p:cNvSpPr txBox="1"/>
            <p:nvPr/>
          </p:nvSpPr>
          <p:spPr>
            <a:xfrm>
              <a:off x="6369686" y="2347058"/>
              <a:ext cx="2615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7</a:t>
              </a:r>
            </a:p>
          </p:txBody>
        </p:sp>
      </p:grpSp>
      <p:sp>
        <p:nvSpPr>
          <p:cNvPr id="27" name="Google Shape;1580;g60be7dcf1c_0_473">
            <a:extLst>
              <a:ext uri="{FF2B5EF4-FFF2-40B4-BE49-F238E27FC236}">
                <a16:creationId xmlns:a16="http://schemas.microsoft.com/office/drawing/2014/main" id="{704E9000-0EAE-D3DD-6CF7-9AF315A31E96}"/>
              </a:ext>
            </a:extLst>
          </p:cNvPr>
          <p:cNvSpPr txBox="1"/>
          <p:nvPr/>
        </p:nvSpPr>
        <p:spPr>
          <a:xfrm>
            <a:off x="0" y="540000"/>
            <a:ext cx="8211000" cy="144000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927479-E7D0-0BE1-64A5-26EB1CD7E352}"/>
              </a:ext>
            </a:extLst>
          </p:cNvPr>
          <p:cNvSpPr txBox="1"/>
          <p:nvPr/>
        </p:nvSpPr>
        <p:spPr>
          <a:xfrm rot="16200000">
            <a:off x="188278" y="3923238"/>
            <a:ext cx="8803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Consolas" panose="020B0609020204030204" pitchFamily="49" charset="0"/>
                <a:ea typeface="Cambria Math" panose="02040503050406030204" pitchFamily="18" charset="0"/>
              </a:rPr>
              <a:t>Sources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401676-1219-B149-3C10-2385B314E194}"/>
              </a:ext>
            </a:extLst>
          </p:cNvPr>
          <p:cNvSpPr txBox="1"/>
          <p:nvPr/>
        </p:nvSpPr>
        <p:spPr>
          <a:xfrm>
            <a:off x="1984616" y="2181340"/>
            <a:ext cx="13773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Consolas" panose="020B0609020204030204" pitchFamily="49" charset="0"/>
              </a:rPr>
              <a:t>Destinations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9FB61D6E-0381-7916-8E05-5172BA1D68D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231395" y="2808081"/>
              <a:ext cx="3002909" cy="264477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8987">
                      <a:extLst>
                        <a:ext uri="{9D8B030D-6E8A-4147-A177-3AD203B41FA5}">
                          <a16:colId xmlns:a16="http://schemas.microsoft.com/office/drawing/2014/main" val="3864413765"/>
                        </a:ext>
                      </a:extLst>
                    </a:gridCol>
                    <a:gridCol w="428987">
                      <a:extLst>
                        <a:ext uri="{9D8B030D-6E8A-4147-A177-3AD203B41FA5}">
                          <a16:colId xmlns:a16="http://schemas.microsoft.com/office/drawing/2014/main" val="3806580306"/>
                        </a:ext>
                      </a:extLst>
                    </a:gridCol>
                    <a:gridCol w="428987">
                      <a:extLst>
                        <a:ext uri="{9D8B030D-6E8A-4147-A177-3AD203B41FA5}">
                          <a16:colId xmlns:a16="http://schemas.microsoft.com/office/drawing/2014/main" val="123248972"/>
                        </a:ext>
                      </a:extLst>
                    </a:gridCol>
                    <a:gridCol w="428987">
                      <a:extLst>
                        <a:ext uri="{9D8B030D-6E8A-4147-A177-3AD203B41FA5}">
                          <a16:colId xmlns:a16="http://schemas.microsoft.com/office/drawing/2014/main" val="1797807495"/>
                        </a:ext>
                      </a:extLst>
                    </a:gridCol>
                    <a:gridCol w="428987">
                      <a:extLst>
                        <a:ext uri="{9D8B030D-6E8A-4147-A177-3AD203B41FA5}">
                          <a16:colId xmlns:a16="http://schemas.microsoft.com/office/drawing/2014/main" val="3083318154"/>
                        </a:ext>
                      </a:extLst>
                    </a:gridCol>
                    <a:gridCol w="428987">
                      <a:extLst>
                        <a:ext uri="{9D8B030D-6E8A-4147-A177-3AD203B41FA5}">
                          <a16:colId xmlns:a16="http://schemas.microsoft.com/office/drawing/2014/main" val="3343020069"/>
                        </a:ext>
                      </a:extLst>
                    </a:gridCol>
                    <a:gridCol w="428987">
                      <a:extLst>
                        <a:ext uri="{9D8B030D-6E8A-4147-A177-3AD203B41FA5}">
                          <a16:colId xmlns:a16="http://schemas.microsoft.com/office/drawing/2014/main" val="340397575"/>
                        </a:ext>
                      </a:extLst>
                    </a:gridCol>
                  </a:tblGrid>
                  <a:tr h="34044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05930682"/>
                      </a:ext>
                    </a:extLst>
                  </a:tr>
                  <a:tr h="34044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3934695"/>
                      </a:ext>
                    </a:extLst>
                  </a:tr>
                  <a:tr h="34044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b="0" dirty="0">
                            <a:solidFill>
                              <a:schemeClr val="bg1">
                                <a:lumMod val="65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b="0" dirty="0">
                            <a:solidFill>
                              <a:schemeClr val="bg1">
                                <a:lumMod val="65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21555389"/>
                      </a:ext>
                    </a:extLst>
                  </a:tr>
                  <a:tr h="34044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b="0" dirty="0">
                            <a:solidFill>
                              <a:schemeClr val="bg1">
                                <a:lumMod val="65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4670812"/>
                      </a:ext>
                    </a:extLst>
                  </a:tr>
                  <a:tr h="34044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dirty="0">
                            <a:solidFill>
                              <a:schemeClr val="bg1">
                                <a:lumMod val="65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8825016"/>
                      </a:ext>
                    </a:extLst>
                  </a:tr>
                  <a:tr h="34044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01367391"/>
                      </a:ext>
                    </a:extLst>
                  </a:tr>
                  <a:tr h="340442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2736237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/>
              <p:cNvGraphicFramePr>
                <a:graphicFrameLocks noGrp="1"/>
              </p:cNvGraphicFramePr>
              <p:nvPr/>
            </p:nvGraphicFramePr>
            <p:xfrm>
              <a:off x="1231395" y="2808081"/>
              <a:ext cx="3002909" cy="264477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8987">
                      <a:extLst>
                        <a:ext uri="{9D8B030D-6E8A-4147-A177-3AD203B41FA5}">
                          <a16:colId xmlns:a16="http://schemas.microsoft.com/office/drawing/2014/main" val="3864413765"/>
                        </a:ext>
                      </a:extLst>
                    </a:gridCol>
                    <a:gridCol w="428987">
                      <a:extLst>
                        <a:ext uri="{9D8B030D-6E8A-4147-A177-3AD203B41FA5}">
                          <a16:colId xmlns:a16="http://schemas.microsoft.com/office/drawing/2014/main" val="3806580306"/>
                        </a:ext>
                      </a:extLst>
                    </a:gridCol>
                    <a:gridCol w="428987">
                      <a:extLst>
                        <a:ext uri="{9D8B030D-6E8A-4147-A177-3AD203B41FA5}">
                          <a16:colId xmlns:a16="http://schemas.microsoft.com/office/drawing/2014/main" val="123248972"/>
                        </a:ext>
                      </a:extLst>
                    </a:gridCol>
                    <a:gridCol w="428987">
                      <a:extLst>
                        <a:ext uri="{9D8B030D-6E8A-4147-A177-3AD203B41FA5}">
                          <a16:colId xmlns:a16="http://schemas.microsoft.com/office/drawing/2014/main" val="1797807495"/>
                        </a:ext>
                      </a:extLst>
                    </a:gridCol>
                    <a:gridCol w="428987">
                      <a:extLst>
                        <a:ext uri="{9D8B030D-6E8A-4147-A177-3AD203B41FA5}">
                          <a16:colId xmlns:a16="http://schemas.microsoft.com/office/drawing/2014/main" val="3083318154"/>
                        </a:ext>
                      </a:extLst>
                    </a:gridCol>
                    <a:gridCol w="428987">
                      <a:extLst>
                        <a:ext uri="{9D8B030D-6E8A-4147-A177-3AD203B41FA5}">
                          <a16:colId xmlns:a16="http://schemas.microsoft.com/office/drawing/2014/main" val="3343020069"/>
                        </a:ext>
                      </a:extLst>
                    </a:gridCol>
                    <a:gridCol w="428987">
                      <a:extLst>
                        <a:ext uri="{9D8B030D-6E8A-4147-A177-3AD203B41FA5}">
                          <a16:colId xmlns:a16="http://schemas.microsoft.com/office/drawing/2014/main" val="340397575"/>
                        </a:ext>
                      </a:extLst>
                    </a:gridCol>
                  </a:tblGrid>
                  <a:tr h="37782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1408" t="-3226" r="-498592" b="-6112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4286" t="-3226" r="-405714" b="-6112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00000" t="-3226" r="-300000" b="-6112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05714" t="-3226" r="-204286" b="-6112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98592" t="-3226" r="-101408" b="-6112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607143" t="-3226" r="-2857" b="-6112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05930682"/>
                      </a:ext>
                    </a:extLst>
                  </a:tr>
                  <a:tr h="377825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857" t="-103226" r="-607143" b="-5112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4286" t="-103226" r="-405714" b="-5112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607143" t="-103226" r="-2857" b="-5112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3934695"/>
                      </a:ext>
                    </a:extLst>
                  </a:tr>
                  <a:tr h="377825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857" t="-203226" r="-607143" b="-4112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1408" t="-203226" r="-498592" b="-4112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00000" t="-203226" r="-300000" b="-4112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607143" t="-203226" r="-2857" b="-4112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21555389"/>
                      </a:ext>
                    </a:extLst>
                  </a:tr>
                  <a:tr h="377825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857" t="-298413" r="-607143" b="-3047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4286" t="-298413" r="-405714" b="-3047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05714" t="-298413" r="-204286" b="-3047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4670812"/>
                      </a:ext>
                    </a:extLst>
                  </a:tr>
                  <a:tr h="377825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857" t="-404839" r="-607143" b="-2096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4286" t="-404839" r="-405714" b="-2096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00000" t="-404839" r="-300000" b="-2096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8825016"/>
                      </a:ext>
                    </a:extLst>
                  </a:tr>
                  <a:tr h="377825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857" t="-504839" r="-607143" b="-1096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607143" t="-504839" r="-2857" b="-1096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01367391"/>
                      </a:ext>
                    </a:extLst>
                  </a:tr>
                  <a:tr h="377825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857" t="-604839" r="-607143" b="-96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1408" t="-604839" r="-498592" b="-96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4286" t="-604839" r="-405714" b="-96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98592" t="-604839" r="-101408" b="-96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2736237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F6135A0C-70D3-FD10-6F3B-43D1511B670A}"/>
              </a:ext>
            </a:extLst>
          </p:cNvPr>
          <p:cNvSpPr txBox="1"/>
          <p:nvPr/>
        </p:nvSpPr>
        <p:spPr>
          <a:xfrm>
            <a:off x="898208" y="2766270"/>
            <a:ext cx="284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A309FF-7C70-316E-956F-19F010B63A1B}"/>
              </a:ext>
            </a:extLst>
          </p:cNvPr>
          <p:cNvSpPr txBox="1"/>
          <p:nvPr/>
        </p:nvSpPr>
        <p:spPr>
          <a:xfrm>
            <a:off x="901800" y="3189026"/>
            <a:ext cx="284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851FD4-5E5D-56A7-E7AB-44FC9137E8B7}"/>
              </a:ext>
            </a:extLst>
          </p:cNvPr>
          <p:cNvSpPr txBox="1"/>
          <p:nvPr/>
        </p:nvSpPr>
        <p:spPr>
          <a:xfrm>
            <a:off x="898208" y="3558358"/>
            <a:ext cx="284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1F9331-1B2F-84F7-DB35-1DF747D310E4}"/>
              </a:ext>
            </a:extLst>
          </p:cNvPr>
          <p:cNvSpPr txBox="1"/>
          <p:nvPr/>
        </p:nvSpPr>
        <p:spPr>
          <a:xfrm>
            <a:off x="898208" y="3945802"/>
            <a:ext cx="284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BF16D3E-E8BF-0818-3A8E-3BF45A03ECC7}"/>
              </a:ext>
            </a:extLst>
          </p:cNvPr>
          <p:cNvSpPr txBox="1"/>
          <p:nvPr/>
        </p:nvSpPr>
        <p:spPr>
          <a:xfrm>
            <a:off x="910223" y="4320706"/>
            <a:ext cx="284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AA251B4-4466-8AF1-A87C-79A7DE66D179}"/>
              </a:ext>
            </a:extLst>
          </p:cNvPr>
          <p:cNvSpPr txBox="1"/>
          <p:nvPr/>
        </p:nvSpPr>
        <p:spPr>
          <a:xfrm>
            <a:off x="910223" y="4690038"/>
            <a:ext cx="284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09B6A87-D6C0-019A-8D31-C6EB296A0B0F}"/>
              </a:ext>
            </a:extLst>
          </p:cNvPr>
          <p:cNvSpPr txBox="1"/>
          <p:nvPr/>
        </p:nvSpPr>
        <p:spPr>
          <a:xfrm>
            <a:off x="919219" y="5095126"/>
            <a:ext cx="284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87AD073-E7F0-A612-9F46-10B86A93431B}"/>
              </a:ext>
            </a:extLst>
          </p:cNvPr>
          <p:cNvSpPr txBox="1"/>
          <p:nvPr/>
        </p:nvSpPr>
        <p:spPr>
          <a:xfrm>
            <a:off x="1289011" y="2436226"/>
            <a:ext cx="284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F4FAA42-2D5C-1D71-36B2-A74981BD9604}"/>
              </a:ext>
            </a:extLst>
          </p:cNvPr>
          <p:cNvSpPr txBox="1"/>
          <p:nvPr/>
        </p:nvSpPr>
        <p:spPr>
          <a:xfrm>
            <a:off x="1679814" y="2446300"/>
            <a:ext cx="284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37E4475-D544-9D84-0446-77D63345A017}"/>
              </a:ext>
            </a:extLst>
          </p:cNvPr>
          <p:cNvSpPr txBox="1"/>
          <p:nvPr/>
        </p:nvSpPr>
        <p:spPr>
          <a:xfrm>
            <a:off x="2123601" y="2446300"/>
            <a:ext cx="284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8886590-170F-0C59-3E24-FBFFC49C0A6B}"/>
              </a:ext>
            </a:extLst>
          </p:cNvPr>
          <p:cNvSpPr txBox="1"/>
          <p:nvPr/>
        </p:nvSpPr>
        <p:spPr>
          <a:xfrm>
            <a:off x="2572089" y="2436226"/>
            <a:ext cx="284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17D7D99-096A-8F94-FEAE-DDEDC55AF536}"/>
              </a:ext>
            </a:extLst>
          </p:cNvPr>
          <p:cNvSpPr txBox="1"/>
          <p:nvPr/>
        </p:nvSpPr>
        <p:spPr>
          <a:xfrm>
            <a:off x="3015482" y="2436226"/>
            <a:ext cx="284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EDD98C3-8D6C-43DE-BA3E-FA13F517702D}"/>
              </a:ext>
            </a:extLst>
          </p:cNvPr>
          <p:cNvSpPr txBox="1"/>
          <p:nvPr/>
        </p:nvSpPr>
        <p:spPr>
          <a:xfrm>
            <a:off x="3405777" y="2446300"/>
            <a:ext cx="284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8431AA4-912A-E231-F6CE-C1387B48BB33}"/>
              </a:ext>
            </a:extLst>
          </p:cNvPr>
          <p:cNvSpPr txBox="1"/>
          <p:nvPr/>
        </p:nvSpPr>
        <p:spPr>
          <a:xfrm>
            <a:off x="3859564" y="2446300"/>
            <a:ext cx="284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7</a:t>
            </a:r>
          </a:p>
        </p:txBody>
      </p:sp>
      <p:pic>
        <p:nvPicPr>
          <p:cNvPr id="22" name="Picture 2" descr="Image result for fast forward">
            <a:extLst>
              <a:ext uri="{FF2B5EF4-FFF2-40B4-BE49-F238E27FC236}">
                <a16:creationId xmlns:a16="http://schemas.microsoft.com/office/drawing/2014/main" id="{2557F561-3DB5-5EB7-7ADF-D807A375D2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2175" y="3816495"/>
            <a:ext cx="475309" cy="475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5A875729-871E-41EA-5562-ABF892A33CA4}"/>
                  </a:ext>
                </a:extLst>
              </p:cNvPr>
              <p:cNvSpPr txBox="1"/>
              <p:nvPr/>
            </p:nvSpPr>
            <p:spPr>
              <a:xfrm>
                <a:off x="1808426" y="5941229"/>
                <a:ext cx="129614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IN" sz="2400" b="0" i="0" smtClean="0">
                          <a:latin typeface="Cambria Math"/>
                        </a:rPr>
                        <m:t>E</m:t>
                      </m:r>
                      <m:r>
                        <m:rPr>
                          <m:sty m:val="p"/>
                        </m:rPr>
                        <a:rPr lang="de-DE" sz="2400" b="0" i="0" smtClean="0">
                          <a:latin typeface="Cambria Math" panose="02040503050406030204" pitchFamily="18" charset="0"/>
                        </a:rPr>
                        <m:t>R</m:t>
                      </m:r>
                      <m:r>
                        <m:rPr>
                          <m:sty m:val="p"/>
                        </m:rPr>
                        <a:rPr lang="en-IN" sz="2400" b="0" i="0" smtClean="0">
                          <a:latin typeface="Cambria Math"/>
                        </a:rPr>
                        <m:t>L</m:t>
                      </m:r>
                      <m:d>
                        <m:dPr>
                          <m:ctrlPr>
                            <a:rPr lang="en-IN" sz="2400" i="0" dirty="0">
                              <a:latin typeface="Brush Script MT" panose="03060802040406070304" pitchFamily="66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IN" sz="2400" i="0" dirty="0">
                              <a:latin typeface="Brush Script MT" panose="03060802040406070304" pitchFamily="66" charset="0"/>
                            </a:rPr>
                            <m:t>D</m:t>
                          </m:r>
                          <m:r>
                            <m:rPr>
                              <m:nor/>
                            </m:rPr>
                            <a:rPr lang="en-IN" sz="24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,N</m:t>
                          </m:r>
                        </m:e>
                      </m:d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8426" y="5941229"/>
                <a:ext cx="1296144" cy="461665"/>
              </a:xfrm>
              <a:prstGeom prst="rect">
                <a:avLst/>
              </a:prstGeom>
              <a:blipFill>
                <a:blip r:embed="rId5"/>
                <a:stretch>
                  <a:fillRect l="-1415" r="-3302" b="-10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E8874161-9FAF-7354-48BD-1AE40EF5D519}"/>
                  </a:ext>
                </a:extLst>
              </p:cNvPr>
              <p:cNvSpPr txBox="1"/>
              <p:nvPr/>
            </p:nvSpPr>
            <p:spPr>
              <a:xfrm>
                <a:off x="3093838" y="5739233"/>
                <a:ext cx="3544625" cy="10668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IN" sz="2400" i="1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IN" sz="2400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IN" sz="2400">
                              <a:latin typeface="Cambria Math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IN" sz="2400">
                              <a:latin typeface="Cambria Math"/>
                              <a:ea typeface="Cambria Math" panose="02040503050406030204" pitchFamily="18" charset="0"/>
                            </a:rPr>
                            <m:t>u</m:t>
                          </m:r>
                          <m:r>
                            <a:rPr lang="en-IN" sz="2400">
                              <a:latin typeface="Cambria Math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IN" sz="2400">
                              <a:latin typeface="Cambria Math"/>
                              <a:ea typeface="Cambria Math" panose="02040503050406030204" pitchFamily="18" charset="0"/>
                            </a:rPr>
                            <m:t>v</m:t>
                          </m:r>
                          <m:r>
                            <a:rPr lang="en-IN" sz="2400">
                              <a:latin typeface="Cambria Math"/>
                              <a:ea typeface="Cambria Math" panose="02040503050406030204" pitchFamily="18" charset="0"/>
                            </a:rPr>
                            <m:t>)∈</m:t>
                          </m:r>
                          <m:r>
                            <m:rPr>
                              <m:nor/>
                            </m:rPr>
                            <a:rPr lang="en-IN" sz="2400" i="0" dirty="0">
                              <a:latin typeface="Brush Script MT" panose="03060802040406070304" pitchFamily="66" charset="0"/>
                            </a:rPr>
                            <m:t>D</m:t>
                          </m:r>
                        </m:sub>
                        <m:sup/>
                        <m:e>
                          <m:r>
                            <m:rPr>
                              <m:sty m:val="p"/>
                            </m:rPr>
                            <a:rPr lang="en-IN" sz="2400" dirty="0">
                              <a:latin typeface="Cambria Math"/>
                            </a:rPr>
                            <m:t>p</m:t>
                          </m:r>
                          <m:d>
                            <m:dPr>
                              <m:ctrlPr>
                                <a:rPr lang="en-IN" sz="2400" dirty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IN" sz="2400" dirty="0">
                                  <a:latin typeface="Cambria Math"/>
                                </a:rPr>
                                <m:t>u</m:t>
                              </m:r>
                              <m:r>
                                <a:rPr lang="en-IN" sz="2400" dirty="0">
                                  <a:latin typeface="Cambria Math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IN" sz="2400" dirty="0">
                                  <a:latin typeface="Cambria Math"/>
                                </a:rPr>
                                <m:t>v</m:t>
                              </m:r>
                            </m:e>
                          </m:d>
                          <m:r>
                            <a:rPr lang="en-IN" sz="2400" dirty="0">
                              <a:latin typeface="Cambria Math"/>
                              <a:ea typeface="Cambria Math"/>
                            </a:rPr>
                            <m:t>∙</m:t>
                          </m:r>
                          <m:r>
                            <m:rPr>
                              <m:sty m:val="p"/>
                            </m:rPr>
                            <a:rPr lang="en-IN" sz="2400" dirty="0">
                              <a:latin typeface="Cambria Math"/>
                            </a:rPr>
                            <m:t>d</m:t>
                          </m:r>
                          <m:r>
                            <m:rPr>
                              <m:sty m:val="p"/>
                            </m:rPr>
                            <a:rPr lang="en-IN" sz="2400" baseline="-25000" dirty="0">
                              <a:latin typeface="Cambria Math"/>
                            </a:rPr>
                            <m:t>N</m:t>
                          </m:r>
                          <m:r>
                            <a:rPr lang="en-IN" sz="2400" dirty="0">
                              <a:latin typeface="Cambria Math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IN" sz="2400" dirty="0">
                              <a:latin typeface="Cambria Math"/>
                            </a:rPr>
                            <m:t>u</m:t>
                          </m:r>
                          <m:r>
                            <a:rPr lang="en-IN" sz="2400" dirty="0">
                              <a:latin typeface="Cambria Math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IN" sz="2400" dirty="0">
                              <a:latin typeface="Cambria Math"/>
                            </a:rPr>
                            <m:t>v</m:t>
                          </m:r>
                          <m:r>
                            <a:rPr lang="en-IN" sz="2400" i="1" dirty="0">
                              <a:latin typeface="Cambria Math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52" name="TextBox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3838" y="5739233"/>
                <a:ext cx="3544625" cy="106689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Google Shape;1827;g60be7dcf1c_0_698">
            <a:extLst>
              <a:ext uri="{FF2B5EF4-FFF2-40B4-BE49-F238E27FC236}">
                <a16:creationId xmlns:a16="http://schemas.microsoft.com/office/drawing/2014/main" id="{8AC38FCC-9414-482F-6FFD-CA32964D37EC}"/>
              </a:ext>
            </a:extLst>
          </p:cNvPr>
          <p:cNvSpPr/>
          <p:nvPr/>
        </p:nvSpPr>
        <p:spPr>
          <a:xfrm rot="2188282">
            <a:off x="2310669" y="3373446"/>
            <a:ext cx="1313140" cy="583234"/>
          </a:xfrm>
          <a:prstGeom prst="homePlate">
            <a:avLst>
              <a:gd name="adj" fmla="val 50000"/>
            </a:avLst>
          </a:prstGeom>
          <a:solidFill>
            <a:schemeClr val="bg1"/>
          </a:solidFill>
          <a:ln w="1905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54" name="Google Shape;1828;g60be7dcf1c_0_698">
            <a:extLst>
              <a:ext uri="{FF2B5EF4-FFF2-40B4-BE49-F238E27FC236}">
                <a16:creationId xmlns:a16="http://schemas.microsoft.com/office/drawing/2014/main" id="{454A5913-C7E0-24DD-A7A9-6A2CA70E9776}"/>
              </a:ext>
            </a:extLst>
          </p:cNvPr>
          <p:cNvSpPr txBox="1"/>
          <p:nvPr/>
        </p:nvSpPr>
        <p:spPr>
          <a:xfrm rot="2188282">
            <a:off x="2408116" y="3371871"/>
            <a:ext cx="1035027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Don’t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communicate</a:t>
            </a:r>
          </a:p>
        </p:txBody>
      </p:sp>
      <p:sp>
        <p:nvSpPr>
          <p:cNvPr id="56" name="Google Shape;1827;g60be7dcf1c_0_698">
            <a:extLst>
              <a:ext uri="{FF2B5EF4-FFF2-40B4-BE49-F238E27FC236}">
                <a16:creationId xmlns:a16="http://schemas.microsoft.com/office/drawing/2014/main" id="{19070E56-6459-C59C-28DF-891457106212}"/>
              </a:ext>
            </a:extLst>
          </p:cNvPr>
          <p:cNvSpPr/>
          <p:nvPr/>
        </p:nvSpPr>
        <p:spPr>
          <a:xfrm rot="11785300">
            <a:off x="7660864" y="3768973"/>
            <a:ext cx="728287" cy="361447"/>
          </a:xfrm>
          <a:prstGeom prst="homePlate">
            <a:avLst>
              <a:gd name="adj" fmla="val 50000"/>
            </a:avLst>
          </a:prstGeom>
          <a:solidFill>
            <a:schemeClr val="bg1"/>
          </a:solidFill>
          <a:ln w="1905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55" name="Google Shape;1828;g60be7dcf1c_0_698">
            <a:extLst>
              <a:ext uri="{FF2B5EF4-FFF2-40B4-BE49-F238E27FC236}">
                <a16:creationId xmlns:a16="http://schemas.microsoft.com/office/drawing/2014/main" id="{D8413D72-4D91-4B28-D7A4-34BA54B0B28E}"/>
              </a:ext>
            </a:extLst>
          </p:cNvPr>
          <p:cNvSpPr txBox="1"/>
          <p:nvPr/>
        </p:nvSpPr>
        <p:spPr>
          <a:xfrm rot="988382">
            <a:off x="7824571" y="3755615"/>
            <a:ext cx="885827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Makes sense</a:t>
            </a:r>
          </a:p>
        </p:txBody>
      </p:sp>
      <p:cxnSp>
        <p:nvCxnSpPr>
          <p:cNvPr id="59" name="Gerader Verbinder 22">
            <a:extLst>
              <a:ext uri="{FF2B5EF4-FFF2-40B4-BE49-F238E27FC236}">
                <a16:creationId xmlns:a16="http://schemas.microsoft.com/office/drawing/2014/main" id="{9309AD62-6CC2-4B0D-7EB2-CF8FA7B3FB04}"/>
              </a:ext>
            </a:extLst>
          </p:cNvPr>
          <p:cNvCxnSpPr>
            <a:cxnSpLocks/>
            <a:stCxn id="73" idx="0"/>
            <a:endCxn id="71" idx="4"/>
          </p:cNvCxnSpPr>
          <p:nvPr/>
        </p:nvCxnSpPr>
        <p:spPr>
          <a:xfrm flipV="1">
            <a:off x="7257975" y="3402297"/>
            <a:ext cx="300598" cy="1721417"/>
          </a:xfrm>
          <a:prstGeom prst="line">
            <a:avLst/>
          </a:prstGeom>
          <a:ln w="76200">
            <a:solidFill>
              <a:srgbClr val="FFC000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Google Shape;1810;g60be7dcf1c_0_698">
            <a:extLst>
              <a:ext uri="{FF2B5EF4-FFF2-40B4-BE49-F238E27FC236}">
                <a16:creationId xmlns:a16="http://schemas.microsoft.com/office/drawing/2014/main" id="{1277FCEA-600B-B36C-64B4-34B4505301E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3075" y="324175"/>
            <a:ext cx="5870638" cy="18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l">
              <a:buSzPts val="1100"/>
            </a:pPr>
            <a:r>
              <a:rPr lang="en-GB" sz="2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Case Study “Route Lengths”</a:t>
            </a:r>
            <a:br>
              <a:rPr lang="en-GB" sz="32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Constant-Degree Demand-Aware Network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9D39492-298F-96D6-3E69-8F4CEEE20EBC}"/>
              </a:ext>
            </a:extLst>
          </p:cNvPr>
          <p:cNvSpPr txBox="1"/>
          <p:nvPr/>
        </p:nvSpPr>
        <p:spPr>
          <a:xfrm>
            <a:off x="4826016" y="4253102"/>
            <a:ext cx="284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</a:p>
        </p:txBody>
      </p:sp>
      <p:sp>
        <p:nvSpPr>
          <p:cNvPr id="2" name="Rectangle 25">
            <a:extLst>
              <a:ext uri="{FF2B5EF4-FFF2-40B4-BE49-F238E27FC236}">
                <a16:creationId xmlns:a16="http://schemas.microsoft.com/office/drawing/2014/main" id="{32B45E5F-A04F-0326-D0AA-D9B1739F0D89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E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7359247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0">
          <a:extLst>
            <a:ext uri="{FF2B5EF4-FFF2-40B4-BE49-F238E27FC236}">
              <a16:creationId xmlns:a16="http://schemas.microsoft.com/office/drawing/2014/main" id="{1EF59236-E962-6467-21B7-9E4FAD070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1580;g60be7dcf1c_0_473">
            <a:extLst>
              <a:ext uri="{FF2B5EF4-FFF2-40B4-BE49-F238E27FC236}">
                <a16:creationId xmlns:a16="http://schemas.microsoft.com/office/drawing/2014/main" id="{F7754DB2-A31E-61E1-1272-49EA8D9638CB}"/>
              </a:ext>
            </a:extLst>
          </p:cNvPr>
          <p:cNvSpPr txBox="1"/>
          <p:nvPr/>
        </p:nvSpPr>
        <p:spPr>
          <a:xfrm>
            <a:off x="0" y="540000"/>
            <a:ext cx="8211000" cy="865144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8A907A-74E0-595D-61C9-9234452CBE7F}"/>
              </a:ext>
            </a:extLst>
          </p:cNvPr>
          <p:cNvSpPr txBox="1"/>
          <p:nvPr/>
        </p:nvSpPr>
        <p:spPr>
          <a:xfrm rot="16200000">
            <a:off x="188278" y="3923238"/>
            <a:ext cx="8803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Consolas" panose="020B0609020204030204" pitchFamily="49" charset="0"/>
                <a:ea typeface="Cambria Math" panose="02040503050406030204" pitchFamily="18" charset="0"/>
              </a:rPr>
              <a:t>Sources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9B93B7-B8FA-1AE7-268B-6C7A47B447BE}"/>
              </a:ext>
            </a:extLst>
          </p:cNvPr>
          <p:cNvSpPr txBox="1"/>
          <p:nvPr/>
        </p:nvSpPr>
        <p:spPr>
          <a:xfrm>
            <a:off x="1984616" y="2181340"/>
            <a:ext cx="13773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Consolas" panose="020B0609020204030204" pitchFamily="49" charset="0"/>
              </a:rPr>
              <a:t>Destinations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3EC9B677-692D-2DA6-7D59-50D3DBDD93B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231395" y="2808081"/>
              <a:ext cx="3002909" cy="264477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8987">
                      <a:extLst>
                        <a:ext uri="{9D8B030D-6E8A-4147-A177-3AD203B41FA5}">
                          <a16:colId xmlns:a16="http://schemas.microsoft.com/office/drawing/2014/main" val="3864413765"/>
                        </a:ext>
                      </a:extLst>
                    </a:gridCol>
                    <a:gridCol w="428987">
                      <a:extLst>
                        <a:ext uri="{9D8B030D-6E8A-4147-A177-3AD203B41FA5}">
                          <a16:colId xmlns:a16="http://schemas.microsoft.com/office/drawing/2014/main" val="3806580306"/>
                        </a:ext>
                      </a:extLst>
                    </a:gridCol>
                    <a:gridCol w="428987">
                      <a:extLst>
                        <a:ext uri="{9D8B030D-6E8A-4147-A177-3AD203B41FA5}">
                          <a16:colId xmlns:a16="http://schemas.microsoft.com/office/drawing/2014/main" val="123248972"/>
                        </a:ext>
                      </a:extLst>
                    </a:gridCol>
                    <a:gridCol w="428987">
                      <a:extLst>
                        <a:ext uri="{9D8B030D-6E8A-4147-A177-3AD203B41FA5}">
                          <a16:colId xmlns:a16="http://schemas.microsoft.com/office/drawing/2014/main" val="1797807495"/>
                        </a:ext>
                      </a:extLst>
                    </a:gridCol>
                    <a:gridCol w="428987">
                      <a:extLst>
                        <a:ext uri="{9D8B030D-6E8A-4147-A177-3AD203B41FA5}">
                          <a16:colId xmlns:a16="http://schemas.microsoft.com/office/drawing/2014/main" val="3083318154"/>
                        </a:ext>
                      </a:extLst>
                    </a:gridCol>
                    <a:gridCol w="428987">
                      <a:extLst>
                        <a:ext uri="{9D8B030D-6E8A-4147-A177-3AD203B41FA5}">
                          <a16:colId xmlns:a16="http://schemas.microsoft.com/office/drawing/2014/main" val="3343020069"/>
                        </a:ext>
                      </a:extLst>
                    </a:gridCol>
                    <a:gridCol w="428987">
                      <a:extLst>
                        <a:ext uri="{9D8B030D-6E8A-4147-A177-3AD203B41FA5}">
                          <a16:colId xmlns:a16="http://schemas.microsoft.com/office/drawing/2014/main" val="340397575"/>
                        </a:ext>
                      </a:extLst>
                    </a:gridCol>
                  </a:tblGrid>
                  <a:tr h="34044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05930682"/>
                      </a:ext>
                    </a:extLst>
                  </a:tr>
                  <a:tr h="34044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3934695"/>
                      </a:ext>
                    </a:extLst>
                  </a:tr>
                  <a:tr h="34044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b="0" dirty="0">
                            <a:solidFill>
                              <a:schemeClr val="bg1">
                                <a:lumMod val="65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b="0" dirty="0">
                            <a:solidFill>
                              <a:schemeClr val="bg1">
                                <a:lumMod val="65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21555389"/>
                      </a:ext>
                    </a:extLst>
                  </a:tr>
                  <a:tr h="34044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b="0" dirty="0">
                            <a:solidFill>
                              <a:schemeClr val="bg1">
                                <a:lumMod val="65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4670812"/>
                      </a:ext>
                    </a:extLst>
                  </a:tr>
                  <a:tr h="34044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dirty="0">
                            <a:solidFill>
                              <a:schemeClr val="bg1">
                                <a:lumMod val="65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8825016"/>
                      </a:ext>
                    </a:extLst>
                  </a:tr>
                  <a:tr h="34044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01367391"/>
                      </a:ext>
                    </a:extLst>
                  </a:tr>
                  <a:tr h="340442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2736237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/>
              <p:cNvGraphicFramePr>
                <a:graphicFrameLocks noGrp="1"/>
              </p:cNvGraphicFramePr>
              <p:nvPr/>
            </p:nvGraphicFramePr>
            <p:xfrm>
              <a:off x="1231395" y="2808081"/>
              <a:ext cx="3002909" cy="264477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8987">
                      <a:extLst>
                        <a:ext uri="{9D8B030D-6E8A-4147-A177-3AD203B41FA5}">
                          <a16:colId xmlns:a16="http://schemas.microsoft.com/office/drawing/2014/main" val="3864413765"/>
                        </a:ext>
                      </a:extLst>
                    </a:gridCol>
                    <a:gridCol w="428987">
                      <a:extLst>
                        <a:ext uri="{9D8B030D-6E8A-4147-A177-3AD203B41FA5}">
                          <a16:colId xmlns:a16="http://schemas.microsoft.com/office/drawing/2014/main" val="3806580306"/>
                        </a:ext>
                      </a:extLst>
                    </a:gridCol>
                    <a:gridCol w="428987">
                      <a:extLst>
                        <a:ext uri="{9D8B030D-6E8A-4147-A177-3AD203B41FA5}">
                          <a16:colId xmlns:a16="http://schemas.microsoft.com/office/drawing/2014/main" val="123248972"/>
                        </a:ext>
                      </a:extLst>
                    </a:gridCol>
                    <a:gridCol w="428987">
                      <a:extLst>
                        <a:ext uri="{9D8B030D-6E8A-4147-A177-3AD203B41FA5}">
                          <a16:colId xmlns:a16="http://schemas.microsoft.com/office/drawing/2014/main" val="1797807495"/>
                        </a:ext>
                      </a:extLst>
                    </a:gridCol>
                    <a:gridCol w="428987">
                      <a:extLst>
                        <a:ext uri="{9D8B030D-6E8A-4147-A177-3AD203B41FA5}">
                          <a16:colId xmlns:a16="http://schemas.microsoft.com/office/drawing/2014/main" val="3083318154"/>
                        </a:ext>
                      </a:extLst>
                    </a:gridCol>
                    <a:gridCol w="428987">
                      <a:extLst>
                        <a:ext uri="{9D8B030D-6E8A-4147-A177-3AD203B41FA5}">
                          <a16:colId xmlns:a16="http://schemas.microsoft.com/office/drawing/2014/main" val="3343020069"/>
                        </a:ext>
                      </a:extLst>
                    </a:gridCol>
                    <a:gridCol w="428987">
                      <a:extLst>
                        <a:ext uri="{9D8B030D-6E8A-4147-A177-3AD203B41FA5}">
                          <a16:colId xmlns:a16="http://schemas.microsoft.com/office/drawing/2014/main" val="340397575"/>
                        </a:ext>
                      </a:extLst>
                    </a:gridCol>
                  </a:tblGrid>
                  <a:tr h="37782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1408" t="-3226" r="-498592" b="-6112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4286" t="-3226" r="-405714" b="-6112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00000" t="-3226" r="-300000" b="-6112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05714" t="-3226" r="-204286" b="-6112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98592" t="-3226" r="-101408" b="-6112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607143" t="-3226" r="-2857" b="-6112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05930682"/>
                      </a:ext>
                    </a:extLst>
                  </a:tr>
                  <a:tr h="377825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857" t="-103226" r="-607143" b="-5112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4286" t="-103226" r="-405714" b="-5112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607143" t="-103226" r="-2857" b="-5112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3934695"/>
                      </a:ext>
                    </a:extLst>
                  </a:tr>
                  <a:tr h="377825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857" t="-203226" r="-607143" b="-4112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1408" t="-203226" r="-498592" b="-4112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00000" t="-203226" r="-300000" b="-4112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607143" t="-203226" r="-2857" b="-4112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21555389"/>
                      </a:ext>
                    </a:extLst>
                  </a:tr>
                  <a:tr h="377825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857" t="-298413" r="-607143" b="-3047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4286" t="-298413" r="-405714" b="-3047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05714" t="-298413" r="-204286" b="-3047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4670812"/>
                      </a:ext>
                    </a:extLst>
                  </a:tr>
                  <a:tr h="377825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857" t="-404839" r="-607143" b="-2096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4286" t="-404839" r="-405714" b="-2096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00000" t="-404839" r="-300000" b="-2096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8825016"/>
                      </a:ext>
                    </a:extLst>
                  </a:tr>
                  <a:tr h="377825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857" t="-504839" r="-607143" b="-1096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607143" t="-504839" r="-2857" b="-1096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01367391"/>
                      </a:ext>
                    </a:extLst>
                  </a:tr>
                  <a:tr h="377825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857" t="-604839" r="-607143" b="-96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1408" t="-604839" r="-498592" b="-96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4286" t="-604839" r="-405714" b="-96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98592" t="-604839" r="-101408" b="-96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2736237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BA4BB5BD-F007-1205-CF2D-AC7EE5E3836F}"/>
              </a:ext>
            </a:extLst>
          </p:cNvPr>
          <p:cNvSpPr txBox="1"/>
          <p:nvPr/>
        </p:nvSpPr>
        <p:spPr>
          <a:xfrm>
            <a:off x="898208" y="2766270"/>
            <a:ext cx="284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C55C4A-3132-4AF2-C27A-B778887A30E4}"/>
              </a:ext>
            </a:extLst>
          </p:cNvPr>
          <p:cNvSpPr txBox="1"/>
          <p:nvPr/>
        </p:nvSpPr>
        <p:spPr>
          <a:xfrm>
            <a:off x="901800" y="3189026"/>
            <a:ext cx="284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7F01BB-779A-B92A-B014-A750AE55E311}"/>
              </a:ext>
            </a:extLst>
          </p:cNvPr>
          <p:cNvSpPr txBox="1"/>
          <p:nvPr/>
        </p:nvSpPr>
        <p:spPr>
          <a:xfrm>
            <a:off x="898208" y="3558358"/>
            <a:ext cx="284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C13D62-1B66-D9E5-5BAB-56EF053E07EE}"/>
              </a:ext>
            </a:extLst>
          </p:cNvPr>
          <p:cNvSpPr txBox="1"/>
          <p:nvPr/>
        </p:nvSpPr>
        <p:spPr>
          <a:xfrm>
            <a:off x="898208" y="3945802"/>
            <a:ext cx="284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7D8A2B-4044-9021-0F75-9A8C03370451}"/>
              </a:ext>
            </a:extLst>
          </p:cNvPr>
          <p:cNvSpPr txBox="1"/>
          <p:nvPr/>
        </p:nvSpPr>
        <p:spPr>
          <a:xfrm>
            <a:off x="910223" y="4320706"/>
            <a:ext cx="284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01603D7-0C80-CD84-2171-94F7524FE21B}"/>
              </a:ext>
            </a:extLst>
          </p:cNvPr>
          <p:cNvSpPr txBox="1"/>
          <p:nvPr/>
        </p:nvSpPr>
        <p:spPr>
          <a:xfrm>
            <a:off x="910223" y="4690038"/>
            <a:ext cx="284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DC6AD08-77D5-9CAF-CE2C-E1FBDEB3D2AA}"/>
              </a:ext>
            </a:extLst>
          </p:cNvPr>
          <p:cNvSpPr txBox="1"/>
          <p:nvPr/>
        </p:nvSpPr>
        <p:spPr>
          <a:xfrm>
            <a:off x="1289011" y="2436226"/>
            <a:ext cx="284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771DE7C-DA2E-C6F2-79FB-17A17C05E02D}"/>
              </a:ext>
            </a:extLst>
          </p:cNvPr>
          <p:cNvSpPr txBox="1"/>
          <p:nvPr/>
        </p:nvSpPr>
        <p:spPr>
          <a:xfrm>
            <a:off x="1679814" y="2446300"/>
            <a:ext cx="284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E91B94B-72C7-096C-4D7C-B87FD11FD150}"/>
              </a:ext>
            </a:extLst>
          </p:cNvPr>
          <p:cNvSpPr txBox="1"/>
          <p:nvPr/>
        </p:nvSpPr>
        <p:spPr>
          <a:xfrm>
            <a:off x="2123601" y="2446300"/>
            <a:ext cx="284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66CB733-1A26-502F-DC50-483EF53BDF66}"/>
              </a:ext>
            </a:extLst>
          </p:cNvPr>
          <p:cNvSpPr txBox="1"/>
          <p:nvPr/>
        </p:nvSpPr>
        <p:spPr>
          <a:xfrm>
            <a:off x="2572089" y="2436226"/>
            <a:ext cx="284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3B4E349-CECE-39CE-1DC6-B5635E10ECB3}"/>
              </a:ext>
            </a:extLst>
          </p:cNvPr>
          <p:cNvSpPr txBox="1"/>
          <p:nvPr/>
        </p:nvSpPr>
        <p:spPr>
          <a:xfrm>
            <a:off x="3015482" y="2436226"/>
            <a:ext cx="284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CA92781-1C6F-BCFB-0954-5A030CF3A363}"/>
              </a:ext>
            </a:extLst>
          </p:cNvPr>
          <p:cNvSpPr txBox="1"/>
          <p:nvPr/>
        </p:nvSpPr>
        <p:spPr>
          <a:xfrm>
            <a:off x="3405777" y="2446300"/>
            <a:ext cx="284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E7EEF69-A05B-51D2-0920-2D2473ABCD65}"/>
              </a:ext>
            </a:extLst>
          </p:cNvPr>
          <p:cNvSpPr txBox="1"/>
          <p:nvPr/>
        </p:nvSpPr>
        <p:spPr>
          <a:xfrm>
            <a:off x="3859564" y="2446300"/>
            <a:ext cx="284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7</a:t>
            </a:r>
          </a:p>
        </p:txBody>
      </p:sp>
      <p:sp>
        <p:nvSpPr>
          <p:cNvPr id="49" name="Isosceles Triangle 7">
            <a:extLst>
              <a:ext uri="{FF2B5EF4-FFF2-40B4-BE49-F238E27FC236}">
                <a16:creationId xmlns:a16="http://schemas.microsoft.com/office/drawing/2014/main" id="{FB4FBBD7-68BC-22AC-CC78-0CB97A02FE33}"/>
              </a:ext>
            </a:extLst>
          </p:cNvPr>
          <p:cNvSpPr/>
          <p:nvPr/>
        </p:nvSpPr>
        <p:spPr>
          <a:xfrm>
            <a:off x="5936729" y="2791922"/>
            <a:ext cx="1152128" cy="958469"/>
          </a:xfrm>
          <a:prstGeom prst="triangle">
            <a:avLst/>
          </a:prstGeom>
          <a:gradFill>
            <a:gsLst>
              <a:gs pos="29993">
                <a:srgbClr val="0070C0"/>
              </a:gs>
              <a:gs pos="48316">
                <a:srgbClr val="00B0F0"/>
              </a:gs>
              <a:gs pos="0">
                <a:srgbClr val="5E9EFF"/>
              </a:gs>
              <a:gs pos="70000">
                <a:srgbClr val="C4D6EB"/>
              </a:gs>
              <a:gs pos="100000">
                <a:srgbClr val="FFEBFA"/>
              </a:gs>
            </a:gsLst>
            <a:lin ang="5400000" scaled="0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159EE2EC-461C-C549-27B0-273F90C24D70}"/>
              </a:ext>
            </a:extLst>
          </p:cNvPr>
          <p:cNvSpPr/>
          <p:nvPr/>
        </p:nvSpPr>
        <p:spPr>
          <a:xfrm>
            <a:off x="898208" y="3126328"/>
            <a:ext cx="3541533" cy="459633"/>
          </a:xfrm>
          <a:prstGeom prst="roundRect">
            <a:avLst/>
          </a:prstGeom>
          <a:solidFill>
            <a:schemeClr val="accent5">
              <a:lumMod val="60000"/>
              <a:lumOff val="40000"/>
              <a:alpha val="40000"/>
            </a:schemeClr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F713DD5C-05CB-B1A0-3820-F4FC3B665B56}"/>
              </a:ext>
            </a:extLst>
          </p:cNvPr>
          <p:cNvCxnSpPr/>
          <p:nvPr/>
        </p:nvCxnSpPr>
        <p:spPr>
          <a:xfrm>
            <a:off x="4550643" y="3356145"/>
            <a:ext cx="1386086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603CD021-8EC7-0948-DBD4-1FEDCFB3E07E}"/>
              </a:ext>
            </a:extLst>
          </p:cNvPr>
          <p:cNvSpPr txBox="1"/>
          <p:nvPr/>
        </p:nvSpPr>
        <p:spPr>
          <a:xfrm>
            <a:off x="5898624" y="3920369"/>
            <a:ext cx="14766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Consolas" panose="020B0609020204030204" pitchFamily="49" charset="0"/>
              </a:rPr>
              <a:t>Huffman tree:</a:t>
            </a:r>
          </a:p>
          <a:p>
            <a:r>
              <a:rPr lang="en-IN" dirty="0">
                <a:latin typeface="Consolas" panose="020B0609020204030204" pitchFamily="49" charset="0"/>
              </a:rPr>
              <a:t>“</a:t>
            </a:r>
            <a:r>
              <a:rPr lang="en-GB" b="1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ego-tree</a:t>
            </a:r>
            <a:r>
              <a:rPr lang="en-IN" dirty="0">
                <a:latin typeface="Consolas" panose="020B0609020204030204" pitchFamily="49" charset="0"/>
              </a:rPr>
              <a:t>”</a:t>
            </a:r>
          </a:p>
        </p:txBody>
      </p:sp>
      <p:sp>
        <p:nvSpPr>
          <p:cNvPr id="55" name="Google Shape;1688;g60be7dcf1c_0_579">
            <a:extLst>
              <a:ext uri="{FF2B5EF4-FFF2-40B4-BE49-F238E27FC236}">
                <a16:creationId xmlns:a16="http://schemas.microsoft.com/office/drawing/2014/main" id="{770B9005-99FE-525D-B291-3EEB050636B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0223" y="554281"/>
            <a:ext cx="8171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Algorithm: Idea</a:t>
            </a:r>
          </a:p>
        </p:txBody>
      </p:sp>
      <p:sp>
        <p:nvSpPr>
          <p:cNvPr id="2" name="Rectangle 25">
            <a:extLst>
              <a:ext uri="{FF2B5EF4-FFF2-40B4-BE49-F238E27FC236}">
                <a16:creationId xmlns:a16="http://schemas.microsoft.com/office/drawing/2014/main" id="{E6CD0AAB-BD6B-4DF3-07F1-159D1C401019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E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6710816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0">
          <a:extLst>
            <a:ext uri="{FF2B5EF4-FFF2-40B4-BE49-F238E27FC236}">
              <a16:creationId xmlns:a16="http://schemas.microsoft.com/office/drawing/2014/main" id="{2C828D51-C93D-FDD3-F081-A7E1DABBC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1580;g60be7dcf1c_0_473">
            <a:extLst>
              <a:ext uri="{FF2B5EF4-FFF2-40B4-BE49-F238E27FC236}">
                <a16:creationId xmlns:a16="http://schemas.microsoft.com/office/drawing/2014/main" id="{871439D8-6DEC-88B5-AE65-806860F76A9F}"/>
              </a:ext>
            </a:extLst>
          </p:cNvPr>
          <p:cNvSpPr txBox="1"/>
          <p:nvPr/>
        </p:nvSpPr>
        <p:spPr>
          <a:xfrm>
            <a:off x="0" y="540000"/>
            <a:ext cx="8211000" cy="865144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F5F25E-67DF-AA30-D1ED-E65669646236}"/>
              </a:ext>
            </a:extLst>
          </p:cNvPr>
          <p:cNvSpPr txBox="1"/>
          <p:nvPr/>
        </p:nvSpPr>
        <p:spPr>
          <a:xfrm rot="16200000">
            <a:off x="188278" y="3923238"/>
            <a:ext cx="8803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Consolas" panose="020B0609020204030204" pitchFamily="49" charset="0"/>
                <a:ea typeface="Cambria Math" panose="02040503050406030204" pitchFamily="18" charset="0"/>
              </a:rPr>
              <a:t>Sources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B1D197-00C4-8D84-7279-C9F41079B916}"/>
              </a:ext>
            </a:extLst>
          </p:cNvPr>
          <p:cNvSpPr txBox="1"/>
          <p:nvPr/>
        </p:nvSpPr>
        <p:spPr>
          <a:xfrm>
            <a:off x="1984616" y="2181340"/>
            <a:ext cx="13773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Consolas" panose="020B0609020204030204" pitchFamily="49" charset="0"/>
              </a:rPr>
              <a:t>Destinations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27404539-8334-9472-3808-91ED3B02307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231395" y="2808081"/>
              <a:ext cx="3002909" cy="264477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8987">
                      <a:extLst>
                        <a:ext uri="{9D8B030D-6E8A-4147-A177-3AD203B41FA5}">
                          <a16:colId xmlns:a16="http://schemas.microsoft.com/office/drawing/2014/main" val="3864413765"/>
                        </a:ext>
                      </a:extLst>
                    </a:gridCol>
                    <a:gridCol w="428987">
                      <a:extLst>
                        <a:ext uri="{9D8B030D-6E8A-4147-A177-3AD203B41FA5}">
                          <a16:colId xmlns:a16="http://schemas.microsoft.com/office/drawing/2014/main" val="3806580306"/>
                        </a:ext>
                      </a:extLst>
                    </a:gridCol>
                    <a:gridCol w="428987">
                      <a:extLst>
                        <a:ext uri="{9D8B030D-6E8A-4147-A177-3AD203B41FA5}">
                          <a16:colId xmlns:a16="http://schemas.microsoft.com/office/drawing/2014/main" val="123248972"/>
                        </a:ext>
                      </a:extLst>
                    </a:gridCol>
                    <a:gridCol w="428987">
                      <a:extLst>
                        <a:ext uri="{9D8B030D-6E8A-4147-A177-3AD203B41FA5}">
                          <a16:colId xmlns:a16="http://schemas.microsoft.com/office/drawing/2014/main" val="1797807495"/>
                        </a:ext>
                      </a:extLst>
                    </a:gridCol>
                    <a:gridCol w="428987">
                      <a:extLst>
                        <a:ext uri="{9D8B030D-6E8A-4147-A177-3AD203B41FA5}">
                          <a16:colId xmlns:a16="http://schemas.microsoft.com/office/drawing/2014/main" val="3083318154"/>
                        </a:ext>
                      </a:extLst>
                    </a:gridCol>
                    <a:gridCol w="428987">
                      <a:extLst>
                        <a:ext uri="{9D8B030D-6E8A-4147-A177-3AD203B41FA5}">
                          <a16:colId xmlns:a16="http://schemas.microsoft.com/office/drawing/2014/main" val="3343020069"/>
                        </a:ext>
                      </a:extLst>
                    </a:gridCol>
                    <a:gridCol w="428987">
                      <a:extLst>
                        <a:ext uri="{9D8B030D-6E8A-4147-A177-3AD203B41FA5}">
                          <a16:colId xmlns:a16="http://schemas.microsoft.com/office/drawing/2014/main" val="340397575"/>
                        </a:ext>
                      </a:extLst>
                    </a:gridCol>
                  </a:tblGrid>
                  <a:tr h="34044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05930682"/>
                      </a:ext>
                    </a:extLst>
                  </a:tr>
                  <a:tr h="34044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3934695"/>
                      </a:ext>
                    </a:extLst>
                  </a:tr>
                  <a:tr h="34044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b="0" dirty="0">
                            <a:solidFill>
                              <a:schemeClr val="bg1">
                                <a:lumMod val="65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b="0" dirty="0">
                            <a:solidFill>
                              <a:schemeClr val="bg1">
                                <a:lumMod val="65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21555389"/>
                      </a:ext>
                    </a:extLst>
                  </a:tr>
                  <a:tr h="34044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b="0" dirty="0">
                            <a:solidFill>
                              <a:schemeClr val="bg1">
                                <a:lumMod val="65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4670812"/>
                      </a:ext>
                    </a:extLst>
                  </a:tr>
                  <a:tr h="34044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dirty="0">
                            <a:solidFill>
                              <a:schemeClr val="bg1">
                                <a:lumMod val="65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8825016"/>
                      </a:ext>
                    </a:extLst>
                  </a:tr>
                  <a:tr h="34044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01367391"/>
                      </a:ext>
                    </a:extLst>
                  </a:tr>
                  <a:tr h="340442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de-DE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2736237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/>
              <p:cNvGraphicFramePr>
                <a:graphicFrameLocks noGrp="1"/>
              </p:cNvGraphicFramePr>
              <p:nvPr/>
            </p:nvGraphicFramePr>
            <p:xfrm>
              <a:off x="1231395" y="2808081"/>
              <a:ext cx="3002909" cy="264477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8987">
                      <a:extLst>
                        <a:ext uri="{9D8B030D-6E8A-4147-A177-3AD203B41FA5}">
                          <a16:colId xmlns:a16="http://schemas.microsoft.com/office/drawing/2014/main" val="3864413765"/>
                        </a:ext>
                      </a:extLst>
                    </a:gridCol>
                    <a:gridCol w="428987">
                      <a:extLst>
                        <a:ext uri="{9D8B030D-6E8A-4147-A177-3AD203B41FA5}">
                          <a16:colId xmlns:a16="http://schemas.microsoft.com/office/drawing/2014/main" val="3806580306"/>
                        </a:ext>
                      </a:extLst>
                    </a:gridCol>
                    <a:gridCol w="428987">
                      <a:extLst>
                        <a:ext uri="{9D8B030D-6E8A-4147-A177-3AD203B41FA5}">
                          <a16:colId xmlns:a16="http://schemas.microsoft.com/office/drawing/2014/main" val="123248972"/>
                        </a:ext>
                      </a:extLst>
                    </a:gridCol>
                    <a:gridCol w="428987">
                      <a:extLst>
                        <a:ext uri="{9D8B030D-6E8A-4147-A177-3AD203B41FA5}">
                          <a16:colId xmlns:a16="http://schemas.microsoft.com/office/drawing/2014/main" val="1797807495"/>
                        </a:ext>
                      </a:extLst>
                    </a:gridCol>
                    <a:gridCol w="428987">
                      <a:extLst>
                        <a:ext uri="{9D8B030D-6E8A-4147-A177-3AD203B41FA5}">
                          <a16:colId xmlns:a16="http://schemas.microsoft.com/office/drawing/2014/main" val="3083318154"/>
                        </a:ext>
                      </a:extLst>
                    </a:gridCol>
                    <a:gridCol w="428987">
                      <a:extLst>
                        <a:ext uri="{9D8B030D-6E8A-4147-A177-3AD203B41FA5}">
                          <a16:colId xmlns:a16="http://schemas.microsoft.com/office/drawing/2014/main" val="3343020069"/>
                        </a:ext>
                      </a:extLst>
                    </a:gridCol>
                    <a:gridCol w="428987">
                      <a:extLst>
                        <a:ext uri="{9D8B030D-6E8A-4147-A177-3AD203B41FA5}">
                          <a16:colId xmlns:a16="http://schemas.microsoft.com/office/drawing/2014/main" val="340397575"/>
                        </a:ext>
                      </a:extLst>
                    </a:gridCol>
                  </a:tblGrid>
                  <a:tr h="37782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1408" t="-3226" r="-498592" b="-6112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4286" t="-3226" r="-405714" b="-6112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00000" t="-3226" r="-300000" b="-6112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05714" t="-3226" r="-204286" b="-6112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98592" t="-3226" r="-101408" b="-6112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607143" t="-3226" r="-2857" b="-6112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05930682"/>
                      </a:ext>
                    </a:extLst>
                  </a:tr>
                  <a:tr h="377825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857" t="-103226" r="-607143" b="-5112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4286" t="-103226" r="-405714" b="-5112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607143" t="-103226" r="-2857" b="-5112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3934695"/>
                      </a:ext>
                    </a:extLst>
                  </a:tr>
                  <a:tr h="377825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857" t="-203226" r="-607143" b="-4112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1408" t="-203226" r="-498592" b="-4112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00000" t="-203226" r="-300000" b="-4112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607143" t="-203226" r="-2857" b="-4112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21555389"/>
                      </a:ext>
                    </a:extLst>
                  </a:tr>
                  <a:tr h="377825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857" t="-298413" r="-607143" b="-3047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4286" t="-298413" r="-405714" b="-3047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05714" t="-298413" r="-204286" b="-3047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b="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4670812"/>
                      </a:ext>
                    </a:extLst>
                  </a:tr>
                  <a:tr h="377825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857" t="-404839" r="-607143" b="-2096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4286" t="-404839" r="-405714" b="-2096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00000" t="-404839" r="-300000" b="-2096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8825016"/>
                      </a:ext>
                    </a:extLst>
                  </a:tr>
                  <a:tr h="377825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857" t="-504839" r="-607143" b="-1096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607143" t="-504839" r="-2857" b="-1096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01367391"/>
                      </a:ext>
                    </a:extLst>
                  </a:tr>
                  <a:tr h="377825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857" t="-604839" r="-607143" b="-96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1408" t="-604839" r="-498592" b="-96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4286" t="-604839" r="-405714" b="-96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98592" t="-604839" r="-101408" b="-96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6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de-DE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2736237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C7988FB7-7B1A-E72F-7773-FA2AE69E4E27}"/>
              </a:ext>
            </a:extLst>
          </p:cNvPr>
          <p:cNvSpPr txBox="1"/>
          <p:nvPr/>
        </p:nvSpPr>
        <p:spPr>
          <a:xfrm>
            <a:off x="898208" y="2766270"/>
            <a:ext cx="284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4A2180-3E28-E262-9078-2F5788339E6A}"/>
              </a:ext>
            </a:extLst>
          </p:cNvPr>
          <p:cNvSpPr txBox="1"/>
          <p:nvPr/>
        </p:nvSpPr>
        <p:spPr>
          <a:xfrm>
            <a:off x="901800" y="3189026"/>
            <a:ext cx="284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42BB2B-D5A2-BFE2-2399-497042C3EA09}"/>
              </a:ext>
            </a:extLst>
          </p:cNvPr>
          <p:cNvSpPr txBox="1"/>
          <p:nvPr/>
        </p:nvSpPr>
        <p:spPr>
          <a:xfrm>
            <a:off x="898208" y="3558358"/>
            <a:ext cx="284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6B8E71-6D5D-320F-C2DE-B33ADBED645D}"/>
              </a:ext>
            </a:extLst>
          </p:cNvPr>
          <p:cNvSpPr txBox="1"/>
          <p:nvPr/>
        </p:nvSpPr>
        <p:spPr>
          <a:xfrm>
            <a:off x="898208" y="3945802"/>
            <a:ext cx="284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418BE4D-080C-45D5-FEC0-0B194151AAAD}"/>
              </a:ext>
            </a:extLst>
          </p:cNvPr>
          <p:cNvSpPr txBox="1"/>
          <p:nvPr/>
        </p:nvSpPr>
        <p:spPr>
          <a:xfrm>
            <a:off x="910223" y="4320706"/>
            <a:ext cx="284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26A693-85B7-E15F-0515-0A2E557F94DC}"/>
              </a:ext>
            </a:extLst>
          </p:cNvPr>
          <p:cNvSpPr txBox="1"/>
          <p:nvPr/>
        </p:nvSpPr>
        <p:spPr>
          <a:xfrm>
            <a:off x="910223" y="4690038"/>
            <a:ext cx="284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D923B7F-F56E-287C-6D67-851E7C1C8712}"/>
              </a:ext>
            </a:extLst>
          </p:cNvPr>
          <p:cNvSpPr txBox="1"/>
          <p:nvPr/>
        </p:nvSpPr>
        <p:spPr>
          <a:xfrm>
            <a:off x="1289011" y="2436226"/>
            <a:ext cx="284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5EB7DA6-9F96-58FD-288F-F8791FC79C6C}"/>
              </a:ext>
            </a:extLst>
          </p:cNvPr>
          <p:cNvSpPr txBox="1"/>
          <p:nvPr/>
        </p:nvSpPr>
        <p:spPr>
          <a:xfrm>
            <a:off x="1679814" y="2446300"/>
            <a:ext cx="284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54FDA00-4025-62BC-9B33-6B87A544A319}"/>
              </a:ext>
            </a:extLst>
          </p:cNvPr>
          <p:cNvSpPr txBox="1"/>
          <p:nvPr/>
        </p:nvSpPr>
        <p:spPr>
          <a:xfrm>
            <a:off x="2123601" y="2446300"/>
            <a:ext cx="284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3EFACA5-1066-2770-857F-46315245333F}"/>
              </a:ext>
            </a:extLst>
          </p:cNvPr>
          <p:cNvSpPr txBox="1"/>
          <p:nvPr/>
        </p:nvSpPr>
        <p:spPr>
          <a:xfrm>
            <a:off x="2572089" y="2436226"/>
            <a:ext cx="284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848B499-721C-0470-5E0A-68508F383672}"/>
              </a:ext>
            </a:extLst>
          </p:cNvPr>
          <p:cNvSpPr txBox="1"/>
          <p:nvPr/>
        </p:nvSpPr>
        <p:spPr>
          <a:xfrm>
            <a:off x="3015482" y="2436226"/>
            <a:ext cx="284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81358FA-F90F-A9BA-816E-59836D745D21}"/>
              </a:ext>
            </a:extLst>
          </p:cNvPr>
          <p:cNvSpPr txBox="1"/>
          <p:nvPr/>
        </p:nvSpPr>
        <p:spPr>
          <a:xfrm>
            <a:off x="3405777" y="2446300"/>
            <a:ext cx="284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C61145B-C7AB-8841-C8ED-3CB93662EDC9}"/>
              </a:ext>
            </a:extLst>
          </p:cNvPr>
          <p:cNvSpPr txBox="1"/>
          <p:nvPr/>
        </p:nvSpPr>
        <p:spPr>
          <a:xfrm>
            <a:off x="3859564" y="2446300"/>
            <a:ext cx="284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7</a:t>
            </a:r>
          </a:p>
        </p:txBody>
      </p:sp>
      <p:sp>
        <p:nvSpPr>
          <p:cNvPr id="49" name="Isosceles Triangle 7">
            <a:extLst>
              <a:ext uri="{FF2B5EF4-FFF2-40B4-BE49-F238E27FC236}">
                <a16:creationId xmlns:a16="http://schemas.microsoft.com/office/drawing/2014/main" id="{74A0B221-74A7-41D5-D304-95D9F101015B}"/>
              </a:ext>
            </a:extLst>
          </p:cNvPr>
          <p:cNvSpPr/>
          <p:nvPr/>
        </p:nvSpPr>
        <p:spPr>
          <a:xfrm>
            <a:off x="5936729" y="2791922"/>
            <a:ext cx="1152128" cy="958469"/>
          </a:xfrm>
          <a:prstGeom prst="triangle">
            <a:avLst/>
          </a:prstGeom>
          <a:gradFill>
            <a:gsLst>
              <a:gs pos="29993">
                <a:srgbClr val="0070C0"/>
              </a:gs>
              <a:gs pos="48316">
                <a:srgbClr val="00B0F0"/>
              </a:gs>
              <a:gs pos="0">
                <a:srgbClr val="5E9EFF"/>
              </a:gs>
              <a:gs pos="70000">
                <a:srgbClr val="C4D6EB"/>
              </a:gs>
              <a:gs pos="100000">
                <a:srgbClr val="FFEBFA"/>
              </a:gs>
            </a:gsLst>
            <a:lin ang="5400000" scaled="0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06410B4A-FEFD-4B24-8E7A-D6BB940A0728}"/>
              </a:ext>
            </a:extLst>
          </p:cNvPr>
          <p:cNvSpPr/>
          <p:nvPr/>
        </p:nvSpPr>
        <p:spPr>
          <a:xfrm>
            <a:off x="898208" y="3126328"/>
            <a:ext cx="3541533" cy="459633"/>
          </a:xfrm>
          <a:prstGeom prst="roundRect">
            <a:avLst/>
          </a:prstGeom>
          <a:solidFill>
            <a:schemeClr val="accent5">
              <a:lumMod val="60000"/>
              <a:lumOff val="40000"/>
              <a:alpha val="40000"/>
            </a:schemeClr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7B047FE0-8D54-0253-3C50-7D4032E5D53A}"/>
              </a:ext>
            </a:extLst>
          </p:cNvPr>
          <p:cNvCxnSpPr/>
          <p:nvPr/>
        </p:nvCxnSpPr>
        <p:spPr>
          <a:xfrm>
            <a:off x="4550643" y="3356145"/>
            <a:ext cx="1386086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7F47437F-DD09-E0C3-46B1-F190D2F92BDE}"/>
              </a:ext>
            </a:extLst>
          </p:cNvPr>
          <p:cNvSpPr txBox="1"/>
          <p:nvPr/>
        </p:nvSpPr>
        <p:spPr>
          <a:xfrm>
            <a:off x="5898624" y="3920369"/>
            <a:ext cx="14766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Consolas" panose="020B0609020204030204" pitchFamily="49" charset="0"/>
              </a:rPr>
              <a:t>Huffman tree:</a:t>
            </a:r>
          </a:p>
          <a:p>
            <a:r>
              <a:rPr lang="en-IN" dirty="0">
                <a:latin typeface="Consolas" panose="020B0609020204030204" pitchFamily="49" charset="0"/>
              </a:rPr>
              <a:t>“</a:t>
            </a:r>
            <a:r>
              <a:rPr lang="en-GB" b="1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ego-tree</a:t>
            </a:r>
            <a:r>
              <a:rPr lang="en-IN" dirty="0">
                <a:latin typeface="Consolas" panose="020B0609020204030204" pitchFamily="49" charset="0"/>
              </a:rPr>
              <a:t>”</a:t>
            </a:r>
          </a:p>
        </p:txBody>
      </p:sp>
      <p:sp>
        <p:nvSpPr>
          <p:cNvPr id="55" name="Google Shape;1688;g60be7dcf1c_0_579">
            <a:extLst>
              <a:ext uri="{FF2B5EF4-FFF2-40B4-BE49-F238E27FC236}">
                <a16:creationId xmlns:a16="http://schemas.microsoft.com/office/drawing/2014/main" id="{1E816CA0-4D74-032E-832E-20878AB5EE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0223" y="554281"/>
            <a:ext cx="8171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Algorithm: Idea</a:t>
            </a:r>
          </a:p>
        </p:txBody>
      </p:sp>
      <p:sp>
        <p:nvSpPr>
          <p:cNvPr id="24" name="Google Shape;1729;g60be7dcf1c_0_603">
            <a:extLst>
              <a:ext uri="{FF2B5EF4-FFF2-40B4-BE49-F238E27FC236}">
                <a16:creationId xmlns:a16="http://schemas.microsoft.com/office/drawing/2014/main" id="{E779A784-FC77-1187-E26B-2E5AB84A3813}"/>
              </a:ext>
            </a:extLst>
          </p:cNvPr>
          <p:cNvSpPr/>
          <p:nvPr/>
        </p:nvSpPr>
        <p:spPr>
          <a:xfrm>
            <a:off x="5874678" y="4845032"/>
            <a:ext cx="1557000" cy="1557000"/>
          </a:xfrm>
          <a:prstGeom prst="ellipse">
            <a:avLst/>
          </a:prstGeom>
          <a:solidFill>
            <a:srgbClr val="93C47D"/>
          </a:solidFill>
          <a:ln w="952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/>
          </a:p>
        </p:txBody>
      </p:sp>
      <p:sp>
        <p:nvSpPr>
          <p:cNvPr id="25" name="Google Shape;1730;g60be7dcf1c_0_603">
            <a:extLst>
              <a:ext uri="{FF2B5EF4-FFF2-40B4-BE49-F238E27FC236}">
                <a16:creationId xmlns:a16="http://schemas.microsoft.com/office/drawing/2014/main" id="{CA704652-5677-0911-3BC3-D9E0B17E14FA}"/>
              </a:ext>
            </a:extLst>
          </p:cNvPr>
          <p:cNvSpPr txBox="1"/>
          <p:nvPr/>
        </p:nvSpPr>
        <p:spPr>
          <a:xfrm>
            <a:off x="5808315" y="5241407"/>
            <a:ext cx="1623363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Cost: Entropy!</a:t>
            </a:r>
          </a:p>
        </p:txBody>
      </p:sp>
      <p:sp>
        <p:nvSpPr>
          <p:cNvPr id="2" name="Rectangle 25">
            <a:extLst>
              <a:ext uri="{FF2B5EF4-FFF2-40B4-BE49-F238E27FC236}">
                <a16:creationId xmlns:a16="http://schemas.microsoft.com/office/drawing/2014/main" id="{E758F598-E93E-432D-7C1F-41224A84A453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E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3055610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0">
          <a:extLst>
            <a:ext uri="{FF2B5EF4-FFF2-40B4-BE49-F238E27FC236}">
              <a16:creationId xmlns:a16="http://schemas.microsoft.com/office/drawing/2014/main" id="{C8E8090E-A37A-68AE-59AB-A947DE89C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1580;g60be7dcf1c_0_473">
            <a:extLst>
              <a:ext uri="{FF2B5EF4-FFF2-40B4-BE49-F238E27FC236}">
                <a16:creationId xmlns:a16="http://schemas.microsoft.com/office/drawing/2014/main" id="{1D6251A6-C2CA-B628-8750-94567269EAB5}"/>
              </a:ext>
            </a:extLst>
          </p:cNvPr>
          <p:cNvSpPr txBox="1"/>
          <p:nvPr/>
        </p:nvSpPr>
        <p:spPr>
          <a:xfrm>
            <a:off x="0" y="540000"/>
            <a:ext cx="8211000" cy="865144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49" name="Google Shape;1534;g60be7dcf1c_0_434">
            <a:extLst>
              <a:ext uri="{FF2B5EF4-FFF2-40B4-BE49-F238E27FC236}">
                <a16:creationId xmlns:a16="http://schemas.microsoft.com/office/drawing/2014/main" id="{562CC16E-C16F-E9A1-7078-E00DD5F4018D}"/>
              </a:ext>
            </a:extLst>
          </p:cNvPr>
          <p:cNvSpPr txBox="1"/>
          <p:nvPr/>
        </p:nvSpPr>
        <p:spPr>
          <a:xfrm>
            <a:off x="1137424" y="2354007"/>
            <a:ext cx="2836203" cy="882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⇢ 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Idea for algorithm:</a:t>
            </a:r>
          </a:p>
          <a:p>
            <a:pPr lvl="0">
              <a:lnSpc>
                <a:spcPct val="115000"/>
              </a:lnSpc>
            </a:pPr>
            <a:r>
              <a:rPr lang="en-GB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⇀ </a:t>
            </a:r>
            <a:r>
              <a:rPr lang="en-US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Union of trees</a:t>
            </a:r>
          </a:p>
          <a:p>
            <a:pPr lvl="0">
              <a:lnSpc>
                <a:spcPct val="115000"/>
              </a:lnSpc>
            </a:pPr>
            <a:r>
              <a:rPr lang="en-GB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⇀ </a:t>
            </a:r>
            <a:r>
              <a:rPr lang="en-US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Reduce degree</a:t>
            </a:r>
          </a:p>
          <a:p>
            <a:pPr lvl="0">
              <a:lnSpc>
                <a:spcPct val="115000"/>
              </a:lnSpc>
            </a:pPr>
            <a:r>
              <a:rPr lang="en-GB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⇀ </a:t>
            </a:r>
            <a:r>
              <a:rPr lang="en-US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But keep distances</a:t>
            </a: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⇢ </a:t>
            </a:r>
            <a:r>
              <a:rPr lang="en-US" sz="1600" dirty="0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Ok for sparse demands</a:t>
            </a:r>
          </a:p>
          <a:p>
            <a:pPr lvl="0">
              <a:lnSpc>
                <a:spcPct val="115000"/>
              </a:lnSpc>
            </a:pPr>
            <a:r>
              <a:rPr lang="en-GB" sz="1200" dirty="0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 ⇀ </a:t>
            </a:r>
            <a:r>
              <a:rPr lang="en-US" sz="1200" dirty="0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not everyone gets tree </a:t>
            </a:r>
          </a:p>
          <a:p>
            <a:pPr lvl="0">
              <a:lnSpc>
                <a:spcPct val="115000"/>
              </a:lnSpc>
            </a:pPr>
            <a:r>
              <a:rPr lang="en-US" sz="1200" dirty="0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200" dirty="0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⇀ </a:t>
            </a:r>
            <a:r>
              <a:rPr lang="en-US" sz="1200" dirty="0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helper nodes</a:t>
            </a:r>
          </a:p>
          <a:p>
            <a:pPr lvl="0">
              <a:lnSpc>
                <a:spcPct val="115000"/>
              </a:lnSpc>
            </a:pPr>
            <a:endParaRPr lang="en-US"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de-DE"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5" name="Google Shape;1688;g60be7dcf1c_0_579">
            <a:extLst>
              <a:ext uri="{FF2B5EF4-FFF2-40B4-BE49-F238E27FC236}">
                <a16:creationId xmlns:a16="http://schemas.microsoft.com/office/drawing/2014/main" id="{0888BDA8-83C9-33B6-14FE-BEFD735928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0223" y="554281"/>
            <a:ext cx="8171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Entropy Upper Bound</a:t>
            </a:r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F8ACA447-4498-C1BD-42F9-E90603F0C7E7}"/>
              </a:ext>
            </a:extLst>
          </p:cNvPr>
          <p:cNvSpPr/>
          <p:nvPr/>
        </p:nvSpPr>
        <p:spPr>
          <a:xfrm>
            <a:off x="5233767" y="2192329"/>
            <a:ext cx="720080" cy="720080"/>
          </a:xfrm>
          <a:prstGeom prst="triangle">
            <a:avLst/>
          </a:prstGeom>
          <a:gradFill>
            <a:gsLst>
              <a:gs pos="0">
                <a:srgbClr val="E6DCAC"/>
              </a:gs>
              <a:gs pos="12000">
                <a:srgbClr val="FFC000"/>
              </a:gs>
              <a:gs pos="30000">
                <a:srgbClr val="FFC000"/>
              </a:gs>
              <a:gs pos="45000">
                <a:srgbClr val="FFFF00"/>
              </a:gs>
              <a:gs pos="77000">
                <a:srgbClr val="C7AC4C"/>
              </a:gs>
              <a:gs pos="100000">
                <a:srgbClr val="E6DCAC"/>
              </a:gs>
            </a:gsLst>
            <a:lin ang="5400000" scaled="0"/>
          </a:gra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AE37331F-AAC7-6891-A4D2-A81472938FE5}"/>
              </a:ext>
            </a:extLst>
          </p:cNvPr>
          <p:cNvSpPr/>
          <p:nvPr/>
        </p:nvSpPr>
        <p:spPr>
          <a:xfrm>
            <a:off x="4657703" y="2624377"/>
            <a:ext cx="720080" cy="720080"/>
          </a:xfrm>
          <a:prstGeom prst="triangle">
            <a:avLst/>
          </a:prstGeom>
          <a:gradFill>
            <a:gsLst>
              <a:gs pos="29993">
                <a:srgbClr val="0070C0"/>
              </a:gs>
              <a:gs pos="48316">
                <a:srgbClr val="00B0F0"/>
              </a:gs>
              <a:gs pos="0">
                <a:srgbClr val="5E9EFF"/>
              </a:gs>
              <a:gs pos="70000">
                <a:srgbClr val="C4D6EB"/>
              </a:gs>
              <a:gs pos="100000">
                <a:srgbClr val="FFEBFA"/>
              </a:gs>
            </a:gsLst>
            <a:lin ang="5400000" scaled="0"/>
          </a:gra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951F4518-E791-E53E-AFF9-5AC309F4E0ED}"/>
              </a:ext>
            </a:extLst>
          </p:cNvPr>
          <p:cNvSpPr/>
          <p:nvPr/>
        </p:nvSpPr>
        <p:spPr>
          <a:xfrm>
            <a:off x="4153647" y="3200441"/>
            <a:ext cx="720080" cy="720080"/>
          </a:xfrm>
          <a:prstGeom prst="triangle">
            <a:avLst/>
          </a:prstGeom>
          <a:gradFill>
            <a:gsLst>
              <a:gs pos="0">
                <a:srgbClr val="E6DCAC"/>
              </a:gs>
              <a:gs pos="12000">
                <a:srgbClr val="FFC000"/>
              </a:gs>
              <a:gs pos="30000">
                <a:srgbClr val="FFC000"/>
              </a:gs>
              <a:gs pos="45000">
                <a:srgbClr val="FFFF00"/>
              </a:gs>
              <a:gs pos="77000">
                <a:srgbClr val="C7AC4C"/>
              </a:gs>
              <a:gs pos="100000">
                <a:srgbClr val="E6DCAC"/>
              </a:gs>
            </a:gsLst>
            <a:lin ang="5400000" scaled="0"/>
          </a:gra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05E8A750-444B-0A40-6346-79639837EC89}"/>
              </a:ext>
            </a:extLst>
          </p:cNvPr>
          <p:cNvSpPr/>
          <p:nvPr/>
        </p:nvSpPr>
        <p:spPr>
          <a:xfrm>
            <a:off x="4081639" y="3992529"/>
            <a:ext cx="720080" cy="720080"/>
          </a:xfrm>
          <a:prstGeom prst="triangle">
            <a:avLst/>
          </a:prstGeom>
          <a:gradFill>
            <a:gsLst>
              <a:gs pos="29993">
                <a:srgbClr val="0070C0"/>
              </a:gs>
              <a:gs pos="48316">
                <a:srgbClr val="00B0F0"/>
              </a:gs>
              <a:gs pos="0">
                <a:srgbClr val="5E9EFF"/>
              </a:gs>
              <a:gs pos="70000">
                <a:srgbClr val="C4D6EB"/>
              </a:gs>
              <a:gs pos="100000">
                <a:srgbClr val="FFEBFA"/>
              </a:gs>
            </a:gsLst>
            <a:lin ang="5400000" scaled="0"/>
          </a:gra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Isosceles Triangle 30">
            <a:extLst>
              <a:ext uri="{FF2B5EF4-FFF2-40B4-BE49-F238E27FC236}">
                <a16:creationId xmlns:a16="http://schemas.microsoft.com/office/drawing/2014/main" id="{D66A0AD2-CCC1-E184-AB19-52CFC4D5FB5A}"/>
              </a:ext>
            </a:extLst>
          </p:cNvPr>
          <p:cNvSpPr/>
          <p:nvPr/>
        </p:nvSpPr>
        <p:spPr>
          <a:xfrm>
            <a:off x="4513687" y="4712609"/>
            <a:ext cx="720080" cy="720080"/>
          </a:xfrm>
          <a:prstGeom prst="triangle">
            <a:avLst/>
          </a:prstGeom>
          <a:gradFill>
            <a:gsLst>
              <a:gs pos="0">
                <a:srgbClr val="E6DCAC"/>
              </a:gs>
              <a:gs pos="12000">
                <a:srgbClr val="FFC000"/>
              </a:gs>
              <a:gs pos="30000">
                <a:srgbClr val="FFC000"/>
              </a:gs>
              <a:gs pos="45000">
                <a:srgbClr val="FFFF00"/>
              </a:gs>
              <a:gs pos="77000">
                <a:srgbClr val="C7AC4C"/>
              </a:gs>
              <a:gs pos="100000">
                <a:srgbClr val="E6DCAC"/>
              </a:gs>
            </a:gsLst>
            <a:lin ang="5400000" scaled="0"/>
          </a:gra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Isosceles Triangle 34">
            <a:extLst>
              <a:ext uri="{FF2B5EF4-FFF2-40B4-BE49-F238E27FC236}">
                <a16:creationId xmlns:a16="http://schemas.microsoft.com/office/drawing/2014/main" id="{58AFCE73-4592-9159-D0A2-FD76A74D1345}"/>
              </a:ext>
            </a:extLst>
          </p:cNvPr>
          <p:cNvSpPr/>
          <p:nvPr/>
        </p:nvSpPr>
        <p:spPr>
          <a:xfrm>
            <a:off x="5089751" y="5144657"/>
            <a:ext cx="720080" cy="720080"/>
          </a:xfrm>
          <a:prstGeom prst="triangle">
            <a:avLst/>
          </a:prstGeom>
          <a:gradFill>
            <a:gsLst>
              <a:gs pos="29993">
                <a:srgbClr val="0070C0"/>
              </a:gs>
              <a:gs pos="48316">
                <a:srgbClr val="00B0F0"/>
              </a:gs>
              <a:gs pos="0">
                <a:srgbClr val="5E9EFF"/>
              </a:gs>
              <a:gs pos="70000">
                <a:srgbClr val="C4D6EB"/>
              </a:gs>
              <a:gs pos="100000">
                <a:srgbClr val="FFEBFA"/>
              </a:gs>
            </a:gsLst>
            <a:lin ang="5400000" scaled="0"/>
          </a:gra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Isosceles Triangle 35">
            <a:extLst>
              <a:ext uri="{FF2B5EF4-FFF2-40B4-BE49-F238E27FC236}">
                <a16:creationId xmlns:a16="http://schemas.microsoft.com/office/drawing/2014/main" id="{8B838F0C-118C-239F-57F7-50E5198E95BC}"/>
              </a:ext>
            </a:extLst>
          </p:cNvPr>
          <p:cNvSpPr/>
          <p:nvPr/>
        </p:nvSpPr>
        <p:spPr>
          <a:xfrm>
            <a:off x="5881839" y="5288673"/>
            <a:ext cx="720080" cy="720080"/>
          </a:xfrm>
          <a:prstGeom prst="triangle">
            <a:avLst/>
          </a:prstGeom>
          <a:gradFill>
            <a:gsLst>
              <a:gs pos="0">
                <a:srgbClr val="E6DCAC"/>
              </a:gs>
              <a:gs pos="12000">
                <a:srgbClr val="FFC000"/>
              </a:gs>
              <a:gs pos="30000">
                <a:srgbClr val="FFC000"/>
              </a:gs>
              <a:gs pos="45000">
                <a:srgbClr val="FFFF00"/>
              </a:gs>
              <a:gs pos="77000">
                <a:srgbClr val="C7AC4C"/>
              </a:gs>
              <a:gs pos="100000">
                <a:srgbClr val="E6DCAC"/>
              </a:gs>
            </a:gsLst>
            <a:lin ang="5400000" scaled="0"/>
          </a:gra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8754E886-B549-118E-5B01-D2DEF10143FD}"/>
              </a:ext>
            </a:extLst>
          </p:cNvPr>
          <p:cNvCxnSpPr/>
          <p:nvPr/>
        </p:nvCxnSpPr>
        <p:spPr>
          <a:xfrm flipH="1" flipV="1">
            <a:off x="5809831" y="3056425"/>
            <a:ext cx="486122" cy="504056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FB55057C-1A1E-C22B-3376-2026F27C803B}"/>
              </a:ext>
            </a:extLst>
          </p:cNvPr>
          <p:cNvCxnSpPr/>
          <p:nvPr/>
        </p:nvCxnSpPr>
        <p:spPr>
          <a:xfrm flipH="1" flipV="1">
            <a:off x="5449791" y="3344457"/>
            <a:ext cx="846162" cy="43204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2B419CF6-820C-78FE-2E8F-BA6EA62CAB60}"/>
              </a:ext>
            </a:extLst>
          </p:cNvPr>
          <p:cNvCxnSpPr/>
          <p:nvPr/>
        </p:nvCxnSpPr>
        <p:spPr>
          <a:xfrm flipH="1" flipV="1">
            <a:off x="4873727" y="3776505"/>
            <a:ext cx="1422226" cy="216024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67F4E7F8-83FF-34ED-B374-4F2782B190C2}"/>
              </a:ext>
            </a:extLst>
          </p:cNvPr>
          <p:cNvCxnSpPr/>
          <p:nvPr/>
        </p:nvCxnSpPr>
        <p:spPr>
          <a:xfrm flipH="1">
            <a:off x="4801719" y="4222828"/>
            <a:ext cx="1494234" cy="165745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94F27E52-8AB1-545B-C585-F5C786D43FC4}"/>
              </a:ext>
            </a:extLst>
          </p:cNvPr>
          <p:cNvCxnSpPr/>
          <p:nvPr/>
        </p:nvCxnSpPr>
        <p:spPr>
          <a:xfrm flipH="1">
            <a:off x="5089751" y="4424577"/>
            <a:ext cx="1206202" cy="504056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EDE2BB22-9646-3B22-27EF-6B662E331F39}"/>
              </a:ext>
            </a:extLst>
          </p:cNvPr>
          <p:cNvCxnSpPr/>
          <p:nvPr/>
        </p:nvCxnSpPr>
        <p:spPr>
          <a:xfrm flipH="1">
            <a:off x="5593807" y="4676605"/>
            <a:ext cx="702146" cy="61206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9A643F30-2A09-352A-3A69-880EEA5B14EF}"/>
              </a:ext>
            </a:extLst>
          </p:cNvPr>
          <p:cNvCxnSpPr/>
          <p:nvPr/>
        </p:nvCxnSpPr>
        <p:spPr>
          <a:xfrm flipH="1">
            <a:off x="6295953" y="4928633"/>
            <a:ext cx="89942" cy="36004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7" name="Picture 56">
            <a:extLst>
              <a:ext uri="{FF2B5EF4-FFF2-40B4-BE49-F238E27FC236}">
                <a16:creationId xmlns:a16="http://schemas.microsoft.com/office/drawing/2014/main" id="{3F0E5852-A455-962A-D0F4-6E83A510B4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4544" y="3416465"/>
            <a:ext cx="1570602" cy="1427820"/>
          </a:xfrm>
          <a:prstGeom prst="rect">
            <a:avLst/>
          </a:prstGeom>
        </p:spPr>
      </p:pic>
      <p:sp>
        <p:nvSpPr>
          <p:cNvPr id="58" name="Rounded Rectangle 41">
            <a:extLst>
              <a:ext uri="{FF2B5EF4-FFF2-40B4-BE49-F238E27FC236}">
                <a16:creationId xmlns:a16="http://schemas.microsoft.com/office/drawing/2014/main" id="{692BEE0F-CE5F-BA08-6724-0E5B057E3D27}"/>
              </a:ext>
            </a:extLst>
          </p:cNvPr>
          <p:cNvSpPr/>
          <p:nvPr/>
        </p:nvSpPr>
        <p:spPr>
          <a:xfrm>
            <a:off x="6414544" y="3576771"/>
            <a:ext cx="1656184" cy="144016"/>
          </a:xfrm>
          <a:prstGeom prst="roundRect">
            <a:avLst/>
          </a:prstGeom>
          <a:solidFill>
            <a:srgbClr val="FFC000">
              <a:alpha val="40000"/>
            </a:srgbClr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9" name="Rounded Rectangle 42">
            <a:extLst>
              <a:ext uri="{FF2B5EF4-FFF2-40B4-BE49-F238E27FC236}">
                <a16:creationId xmlns:a16="http://schemas.microsoft.com/office/drawing/2014/main" id="{A6EC956A-BE5B-D20C-7884-C984415CCEEC}"/>
              </a:ext>
            </a:extLst>
          </p:cNvPr>
          <p:cNvSpPr/>
          <p:nvPr/>
        </p:nvSpPr>
        <p:spPr>
          <a:xfrm>
            <a:off x="6414544" y="3932446"/>
            <a:ext cx="1656184" cy="144016"/>
          </a:xfrm>
          <a:prstGeom prst="roundRect">
            <a:avLst/>
          </a:prstGeom>
          <a:solidFill>
            <a:srgbClr val="FFC000">
              <a:alpha val="40000"/>
            </a:srgbClr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0" name="Rounded Rectangle 43">
            <a:extLst>
              <a:ext uri="{FF2B5EF4-FFF2-40B4-BE49-F238E27FC236}">
                <a16:creationId xmlns:a16="http://schemas.microsoft.com/office/drawing/2014/main" id="{1C190632-FE73-DF23-BE6F-B2CBF0E0E117}"/>
              </a:ext>
            </a:extLst>
          </p:cNvPr>
          <p:cNvSpPr/>
          <p:nvPr/>
        </p:nvSpPr>
        <p:spPr>
          <a:xfrm>
            <a:off x="6414544" y="4284241"/>
            <a:ext cx="1656184" cy="144016"/>
          </a:xfrm>
          <a:prstGeom prst="roundRect">
            <a:avLst/>
          </a:prstGeom>
          <a:solidFill>
            <a:srgbClr val="FFC000">
              <a:alpha val="40000"/>
            </a:srgbClr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1" name="Rounded Rectangle 44">
            <a:extLst>
              <a:ext uri="{FF2B5EF4-FFF2-40B4-BE49-F238E27FC236}">
                <a16:creationId xmlns:a16="http://schemas.microsoft.com/office/drawing/2014/main" id="{033E2629-D8FA-6BD0-4174-C97C1A99440D}"/>
              </a:ext>
            </a:extLst>
          </p:cNvPr>
          <p:cNvSpPr/>
          <p:nvPr/>
        </p:nvSpPr>
        <p:spPr>
          <a:xfrm>
            <a:off x="6414544" y="4636036"/>
            <a:ext cx="1656184" cy="144016"/>
          </a:xfrm>
          <a:prstGeom prst="roundRect">
            <a:avLst/>
          </a:prstGeom>
          <a:solidFill>
            <a:srgbClr val="FFC000">
              <a:alpha val="40000"/>
            </a:srgbClr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2" name="Rounded Rectangle 45">
            <a:extLst>
              <a:ext uri="{FF2B5EF4-FFF2-40B4-BE49-F238E27FC236}">
                <a16:creationId xmlns:a16="http://schemas.microsoft.com/office/drawing/2014/main" id="{6BD73142-6D1E-B9BB-F1DF-D86D15265DF1}"/>
              </a:ext>
            </a:extLst>
          </p:cNvPr>
          <p:cNvSpPr/>
          <p:nvPr/>
        </p:nvSpPr>
        <p:spPr>
          <a:xfrm>
            <a:off x="6414544" y="3752668"/>
            <a:ext cx="1656184" cy="144016"/>
          </a:xfrm>
          <a:prstGeom prst="roundRect">
            <a:avLst/>
          </a:prstGeom>
          <a:solidFill>
            <a:schemeClr val="accent5">
              <a:lumMod val="40000"/>
              <a:lumOff val="60000"/>
              <a:alpha val="40000"/>
            </a:schemeClr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3" name="Rounded Rectangle 46">
            <a:extLst>
              <a:ext uri="{FF2B5EF4-FFF2-40B4-BE49-F238E27FC236}">
                <a16:creationId xmlns:a16="http://schemas.microsoft.com/office/drawing/2014/main" id="{2B2A6793-4425-3150-BC99-016D6B2F3895}"/>
              </a:ext>
            </a:extLst>
          </p:cNvPr>
          <p:cNvSpPr/>
          <p:nvPr/>
        </p:nvSpPr>
        <p:spPr>
          <a:xfrm>
            <a:off x="6414544" y="4111321"/>
            <a:ext cx="1656184" cy="144016"/>
          </a:xfrm>
          <a:prstGeom prst="roundRect">
            <a:avLst/>
          </a:prstGeom>
          <a:solidFill>
            <a:schemeClr val="accent5">
              <a:lumMod val="40000"/>
              <a:lumOff val="60000"/>
              <a:alpha val="40000"/>
            </a:schemeClr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4" name="Rounded Rectangle 47">
            <a:extLst>
              <a:ext uri="{FF2B5EF4-FFF2-40B4-BE49-F238E27FC236}">
                <a16:creationId xmlns:a16="http://schemas.microsoft.com/office/drawing/2014/main" id="{7D12129A-2073-7111-0742-8F7ADD8C85F9}"/>
              </a:ext>
            </a:extLst>
          </p:cNvPr>
          <p:cNvSpPr/>
          <p:nvPr/>
        </p:nvSpPr>
        <p:spPr>
          <a:xfrm>
            <a:off x="6414544" y="4456721"/>
            <a:ext cx="1656184" cy="144016"/>
          </a:xfrm>
          <a:prstGeom prst="roundRect">
            <a:avLst/>
          </a:prstGeom>
          <a:solidFill>
            <a:schemeClr val="accent5">
              <a:lumMod val="40000"/>
              <a:lumOff val="60000"/>
              <a:alpha val="40000"/>
            </a:schemeClr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Rectangle 25">
            <a:extLst>
              <a:ext uri="{FF2B5EF4-FFF2-40B4-BE49-F238E27FC236}">
                <a16:creationId xmlns:a16="http://schemas.microsoft.com/office/drawing/2014/main" id="{C5AFFE7C-61FE-D44A-F584-5E97376DECD6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E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2492186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0">
          <a:extLst>
            <a:ext uri="{FF2B5EF4-FFF2-40B4-BE49-F238E27FC236}">
              <a16:creationId xmlns:a16="http://schemas.microsoft.com/office/drawing/2014/main" id="{96441D79-E9D5-9061-830F-FA39522E2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1580;g60be7dcf1c_0_473">
            <a:extLst>
              <a:ext uri="{FF2B5EF4-FFF2-40B4-BE49-F238E27FC236}">
                <a16:creationId xmlns:a16="http://schemas.microsoft.com/office/drawing/2014/main" id="{969EA2BC-858C-FD93-07C7-05DA5DA62884}"/>
              </a:ext>
            </a:extLst>
          </p:cNvPr>
          <p:cNvSpPr txBox="1"/>
          <p:nvPr/>
        </p:nvSpPr>
        <p:spPr>
          <a:xfrm>
            <a:off x="0" y="540000"/>
            <a:ext cx="8211000" cy="865144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1CBA6190-D59B-B0D8-B193-E05357D0FBAE}"/>
              </a:ext>
            </a:extLst>
          </p:cNvPr>
          <p:cNvSpPr/>
          <p:nvPr/>
        </p:nvSpPr>
        <p:spPr>
          <a:xfrm>
            <a:off x="5233767" y="2192329"/>
            <a:ext cx="720080" cy="720080"/>
          </a:xfrm>
          <a:prstGeom prst="triangle">
            <a:avLst/>
          </a:prstGeom>
          <a:gradFill>
            <a:gsLst>
              <a:gs pos="0">
                <a:srgbClr val="E6DCAC"/>
              </a:gs>
              <a:gs pos="12000">
                <a:srgbClr val="FFC000"/>
              </a:gs>
              <a:gs pos="30000">
                <a:srgbClr val="FFC000"/>
              </a:gs>
              <a:gs pos="45000">
                <a:srgbClr val="FFFF00"/>
              </a:gs>
              <a:gs pos="77000">
                <a:srgbClr val="C7AC4C"/>
              </a:gs>
              <a:gs pos="100000">
                <a:srgbClr val="E6DCAC"/>
              </a:gs>
            </a:gsLst>
            <a:lin ang="5400000" scaled="0"/>
          </a:gra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3C2C42F2-076E-9A48-8217-1D0D3031A0D7}"/>
              </a:ext>
            </a:extLst>
          </p:cNvPr>
          <p:cNvSpPr/>
          <p:nvPr/>
        </p:nvSpPr>
        <p:spPr>
          <a:xfrm>
            <a:off x="4081639" y="3992529"/>
            <a:ext cx="720080" cy="720080"/>
          </a:xfrm>
          <a:prstGeom prst="triangle">
            <a:avLst/>
          </a:prstGeom>
          <a:gradFill>
            <a:gsLst>
              <a:gs pos="29993">
                <a:srgbClr val="0070C0"/>
              </a:gs>
              <a:gs pos="48316">
                <a:srgbClr val="00B0F0"/>
              </a:gs>
              <a:gs pos="0">
                <a:srgbClr val="5E9EFF"/>
              </a:gs>
              <a:gs pos="70000">
                <a:srgbClr val="C4D6EB"/>
              </a:gs>
              <a:gs pos="100000">
                <a:srgbClr val="FFEBFA"/>
              </a:gs>
            </a:gsLst>
            <a:lin ang="5400000" scaled="0"/>
          </a:gra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8F9EF477-E443-212B-805F-7838F1A0D185}"/>
              </a:ext>
            </a:extLst>
          </p:cNvPr>
          <p:cNvSpPr/>
          <p:nvPr/>
        </p:nvSpPr>
        <p:spPr>
          <a:xfrm>
            <a:off x="5089751" y="5144657"/>
            <a:ext cx="720080" cy="720080"/>
          </a:xfrm>
          <a:prstGeom prst="triangle">
            <a:avLst/>
          </a:prstGeom>
          <a:gradFill>
            <a:gsLst>
              <a:gs pos="29993">
                <a:srgbClr val="0070C0"/>
              </a:gs>
              <a:gs pos="48316">
                <a:srgbClr val="00B0F0"/>
              </a:gs>
              <a:gs pos="0">
                <a:srgbClr val="5E9EFF"/>
              </a:gs>
              <a:gs pos="70000">
                <a:srgbClr val="C4D6EB"/>
              </a:gs>
              <a:gs pos="100000">
                <a:srgbClr val="FFEBFA"/>
              </a:gs>
            </a:gsLst>
            <a:lin ang="5400000" scaled="0"/>
          </a:gra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CC55FB77-34FE-CDD3-43AD-C89241F9BE1D}"/>
              </a:ext>
            </a:extLst>
          </p:cNvPr>
          <p:cNvSpPr/>
          <p:nvPr/>
        </p:nvSpPr>
        <p:spPr>
          <a:xfrm>
            <a:off x="5881839" y="5288673"/>
            <a:ext cx="720080" cy="720080"/>
          </a:xfrm>
          <a:prstGeom prst="triangle">
            <a:avLst/>
          </a:prstGeom>
          <a:gradFill>
            <a:gsLst>
              <a:gs pos="0">
                <a:srgbClr val="E6DCAC"/>
              </a:gs>
              <a:gs pos="12000">
                <a:srgbClr val="FFC000"/>
              </a:gs>
              <a:gs pos="30000">
                <a:srgbClr val="FFC000"/>
              </a:gs>
              <a:gs pos="45000">
                <a:srgbClr val="FFFF00"/>
              </a:gs>
              <a:gs pos="77000">
                <a:srgbClr val="C7AC4C"/>
              </a:gs>
              <a:gs pos="100000">
                <a:srgbClr val="E6DCAC"/>
              </a:gs>
            </a:gsLst>
            <a:lin ang="5400000" scaled="0"/>
          </a:gra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CAAAF2D-D6F9-D7DC-B54A-CACB0AC59804}"/>
              </a:ext>
            </a:extLst>
          </p:cNvPr>
          <p:cNvCxnSpPr/>
          <p:nvPr/>
        </p:nvCxnSpPr>
        <p:spPr>
          <a:xfrm flipH="1" flipV="1">
            <a:off x="5809831" y="3056425"/>
            <a:ext cx="486122" cy="504056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D4AFA8D7-9FDF-2808-9216-2C0C28DF8D04}"/>
              </a:ext>
            </a:extLst>
          </p:cNvPr>
          <p:cNvCxnSpPr/>
          <p:nvPr/>
        </p:nvCxnSpPr>
        <p:spPr>
          <a:xfrm flipH="1">
            <a:off x="4801719" y="4222828"/>
            <a:ext cx="1494234" cy="165745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B86A36F-61AE-9FF0-E219-451DCC3EAF07}"/>
              </a:ext>
            </a:extLst>
          </p:cNvPr>
          <p:cNvCxnSpPr/>
          <p:nvPr/>
        </p:nvCxnSpPr>
        <p:spPr>
          <a:xfrm flipH="1">
            <a:off x="5593807" y="4676605"/>
            <a:ext cx="702146" cy="61206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932038C-ED22-8957-CDF8-4AA0482D54FD}"/>
              </a:ext>
            </a:extLst>
          </p:cNvPr>
          <p:cNvCxnSpPr/>
          <p:nvPr/>
        </p:nvCxnSpPr>
        <p:spPr>
          <a:xfrm flipH="1">
            <a:off x="6295953" y="4928633"/>
            <a:ext cx="89942" cy="36004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Picture 40">
            <a:extLst>
              <a:ext uri="{FF2B5EF4-FFF2-40B4-BE49-F238E27FC236}">
                <a16:creationId xmlns:a16="http://schemas.microsoft.com/office/drawing/2014/main" id="{886230FA-733C-BF0C-8EE6-9447C94332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4544" y="3416465"/>
            <a:ext cx="1570602" cy="1427820"/>
          </a:xfrm>
          <a:prstGeom prst="rect">
            <a:avLst/>
          </a:prstGeom>
        </p:spPr>
      </p:pic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98398B3C-E1F8-9580-3F7A-17E930F827B2}"/>
              </a:ext>
            </a:extLst>
          </p:cNvPr>
          <p:cNvSpPr/>
          <p:nvPr/>
        </p:nvSpPr>
        <p:spPr>
          <a:xfrm>
            <a:off x="6414544" y="3576771"/>
            <a:ext cx="1656184" cy="144016"/>
          </a:xfrm>
          <a:prstGeom prst="roundRect">
            <a:avLst/>
          </a:prstGeom>
          <a:solidFill>
            <a:srgbClr val="FFC000">
              <a:alpha val="40000"/>
            </a:srgbClr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A36095BF-7EC0-823E-F22E-5CB97DD27113}"/>
              </a:ext>
            </a:extLst>
          </p:cNvPr>
          <p:cNvSpPr/>
          <p:nvPr/>
        </p:nvSpPr>
        <p:spPr>
          <a:xfrm>
            <a:off x="6414544" y="3932446"/>
            <a:ext cx="1656184" cy="144016"/>
          </a:xfrm>
          <a:prstGeom prst="roundRect">
            <a:avLst/>
          </a:prstGeom>
          <a:solidFill>
            <a:srgbClr val="FFC000">
              <a:alpha val="40000"/>
            </a:srgbClr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01D0ED43-3E55-BA30-B42D-0D6F0CAD7877}"/>
              </a:ext>
            </a:extLst>
          </p:cNvPr>
          <p:cNvSpPr/>
          <p:nvPr/>
        </p:nvSpPr>
        <p:spPr>
          <a:xfrm>
            <a:off x="6414544" y="4284241"/>
            <a:ext cx="1656184" cy="144016"/>
          </a:xfrm>
          <a:prstGeom prst="roundRect">
            <a:avLst/>
          </a:prstGeom>
          <a:solidFill>
            <a:srgbClr val="FFC000">
              <a:alpha val="40000"/>
            </a:srgbClr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67EFAC87-957E-7975-A050-95ED11A53AD5}"/>
              </a:ext>
            </a:extLst>
          </p:cNvPr>
          <p:cNvSpPr/>
          <p:nvPr/>
        </p:nvSpPr>
        <p:spPr>
          <a:xfrm>
            <a:off x="6414544" y="4636036"/>
            <a:ext cx="1656184" cy="144016"/>
          </a:xfrm>
          <a:prstGeom prst="roundRect">
            <a:avLst/>
          </a:prstGeom>
          <a:solidFill>
            <a:srgbClr val="FFC000">
              <a:alpha val="40000"/>
            </a:srgbClr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AE8AB1C9-ACCE-8E3B-F51F-D85715CC9F80}"/>
              </a:ext>
            </a:extLst>
          </p:cNvPr>
          <p:cNvSpPr/>
          <p:nvPr/>
        </p:nvSpPr>
        <p:spPr>
          <a:xfrm>
            <a:off x="6414544" y="3752668"/>
            <a:ext cx="1656184" cy="144016"/>
          </a:xfrm>
          <a:prstGeom prst="roundRect">
            <a:avLst/>
          </a:prstGeom>
          <a:solidFill>
            <a:schemeClr val="accent5">
              <a:lumMod val="40000"/>
              <a:lumOff val="60000"/>
              <a:alpha val="40000"/>
            </a:schemeClr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3A24C4A9-164C-B8B0-CCEE-B8778DC59833}"/>
              </a:ext>
            </a:extLst>
          </p:cNvPr>
          <p:cNvSpPr/>
          <p:nvPr/>
        </p:nvSpPr>
        <p:spPr>
          <a:xfrm>
            <a:off x="6414544" y="4111321"/>
            <a:ext cx="1656184" cy="144016"/>
          </a:xfrm>
          <a:prstGeom prst="roundRect">
            <a:avLst/>
          </a:prstGeom>
          <a:solidFill>
            <a:schemeClr val="accent5">
              <a:lumMod val="40000"/>
              <a:lumOff val="60000"/>
              <a:alpha val="40000"/>
            </a:schemeClr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6019D4F8-54A7-B5D5-F41D-77DF5B48626B}"/>
              </a:ext>
            </a:extLst>
          </p:cNvPr>
          <p:cNvSpPr/>
          <p:nvPr/>
        </p:nvSpPr>
        <p:spPr>
          <a:xfrm>
            <a:off x="6414544" y="4456721"/>
            <a:ext cx="1656184" cy="144016"/>
          </a:xfrm>
          <a:prstGeom prst="roundRect">
            <a:avLst/>
          </a:prstGeom>
          <a:solidFill>
            <a:schemeClr val="accent5">
              <a:lumMod val="40000"/>
              <a:lumOff val="60000"/>
              <a:alpha val="40000"/>
            </a:schemeClr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9" name="Google Shape;1534;g60be7dcf1c_0_434">
            <a:extLst>
              <a:ext uri="{FF2B5EF4-FFF2-40B4-BE49-F238E27FC236}">
                <a16:creationId xmlns:a16="http://schemas.microsoft.com/office/drawing/2014/main" id="{B77353AB-1018-D751-309A-E0A3C1BAD91D}"/>
              </a:ext>
            </a:extLst>
          </p:cNvPr>
          <p:cNvSpPr txBox="1"/>
          <p:nvPr/>
        </p:nvSpPr>
        <p:spPr>
          <a:xfrm>
            <a:off x="1137424" y="2354007"/>
            <a:ext cx="2836203" cy="882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⇢ 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Idea for algorithm:</a:t>
            </a:r>
          </a:p>
          <a:p>
            <a:pPr lvl="0">
              <a:lnSpc>
                <a:spcPct val="115000"/>
              </a:lnSpc>
            </a:pPr>
            <a:r>
              <a:rPr lang="en-GB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⇀ </a:t>
            </a:r>
            <a:r>
              <a:rPr lang="en-US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Union of trees</a:t>
            </a:r>
          </a:p>
          <a:p>
            <a:pPr lvl="0">
              <a:lnSpc>
                <a:spcPct val="115000"/>
              </a:lnSpc>
            </a:pPr>
            <a:r>
              <a:rPr lang="en-GB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⇀ </a:t>
            </a:r>
            <a:r>
              <a:rPr lang="en-US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Reduce degree</a:t>
            </a:r>
          </a:p>
          <a:p>
            <a:pPr lvl="0">
              <a:lnSpc>
                <a:spcPct val="115000"/>
              </a:lnSpc>
            </a:pPr>
            <a:r>
              <a:rPr lang="en-GB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⇀ </a:t>
            </a:r>
            <a:r>
              <a:rPr lang="en-US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But keep distances</a:t>
            </a: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⇢ 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Ok for sparse demands</a:t>
            </a:r>
          </a:p>
          <a:p>
            <a:pPr lvl="0">
              <a:lnSpc>
                <a:spcPct val="115000"/>
              </a:lnSpc>
            </a:pPr>
            <a:r>
              <a:rPr lang="en-GB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⇀ </a:t>
            </a:r>
            <a:r>
              <a:rPr lang="en-US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Not everyone gets tree </a:t>
            </a:r>
          </a:p>
          <a:p>
            <a:pPr lvl="0">
              <a:lnSpc>
                <a:spcPct val="115000"/>
              </a:lnSpc>
            </a:pPr>
            <a:r>
              <a:rPr lang="en-US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⇀ </a:t>
            </a:r>
            <a:r>
              <a:rPr lang="en-US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Helper nodes</a:t>
            </a:r>
          </a:p>
          <a:p>
            <a:pPr lvl="0">
              <a:lnSpc>
                <a:spcPct val="115000"/>
              </a:lnSpc>
            </a:pPr>
            <a:endParaRPr lang="en-US"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de-DE"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5" name="Google Shape;1688;g60be7dcf1c_0_579">
            <a:extLst>
              <a:ext uri="{FF2B5EF4-FFF2-40B4-BE49-F238E27FC236}">
                <a16:creationId xmlns:a16="http://schemas.microsoft.com/office/drawing/2014/main" id="{89338A49-7739-5A66-1047-5217244DE1A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0223" y="554281"/>
            <a:ext cx="8171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Entropy Upper Bound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5644DF04-E13B-24AB-0917-7E892E82C5E0}"/>
              </a:ext>
            </a:extLst>
          </p:cNvPr>
          <p:cNvSpPr/>
          <p:nvPr/>
        </p:nvSpPr>
        <p:spPr>
          <a:xfrm>
            <a:off x="4496586" y="5144657"/>
            <a:ext cx="150828" cy="13173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</a:pPr>
            <a:endParaRPr lang="en-IL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24D7684-1D37-83E4-9529-C69C970DA4B2}"/>
              </a:ext>
            </a:extLst>
          </p:cNvPr>
          <p:cNvCxnSpPr>
            <a:stCxn id="2" idx="1"/>
            <a:endCxn id="30" idx="3"/>
          </p:cNvCxnSpPr>
          <p:nvPr/>
        </p:nvCxnSpPr>
        <p:spPr>
          <a:xfrm flipH="1" flipV="1">
            <a:off x="4441679" y="4712609"/>
            <a:ext cx="76995" cy="4513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6626B75-0BB7-DF2A-CA58-85BFC134CBF9}"/>
              </a:ext>
            </a:extLst>
          </p:cNvPr>
          <p:cNvCxnSpPr>
            <a:stCxn id="2" idx="5"/>
            <a:endCxn id="32" idx="1"/>
          </p:cNvCxnSpPr>
          <p:nvPr/>
        </p:nvCxnSpPr>
        <p:spPr>
          <a:xfrm>
            <a:off x="4625326" y="5257103"/>
            <a:ext cx="644445" cy="2475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5">
            <a:extLst>
              <a:ext uri="{FF2B5EF4-FFF2-40B4-BE49-F238E27FC236}">
                <a16:creationId xmlns:a16="http://schemas.microsoft.com/office/drawing/2014/main" id="{8FFBAA6D-D628-8D9F-0B60-A868B4B6A4CF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E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1024570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0">
          <a:extLst>
            <a:ext uri="{FF2B5EF4-FFF2-40B4-BE49-F238E27FC236}">
              <a16:creationId xmlns:a16="http://schemas.microsoft.com/office/drawing/2014/main" id="{111AFFAD-BC39-6878-215E-6014B028F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1580;g60be7dcf1c_0_473">
            <a:extLst>
              <a:ext uri="{FF2B5EF4-FFF2-40B4-BE49-F238E27FC236}">
                <a16:creationId xmlns:a16="http://schemas.microsoft.com/office/drawing/2014/main" id="{98D81F2E-D3F3-26FD-0196-F41CF221954E}"/>
              </a:ext>
            </a:extLst>
          </p:cNvPr>
          <p:cNvSpPr txBox="1"/>
          <p:nvPr/>
        </p:nvSpPr>
        <p:spPr>
          <a:xfrm>
            <a:off x="0" y="540000"/>
            <a:ext cx="8211000" cy="865144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210D0FE0-20DF-D9F8-6DB7-AE022E3A1C13}"/>
              </a:ext>
            </a:extLst>
          </p:cNvPr>
          <p:cNvSpPr/>
          <p:nvPr/>
        </p:nvSpPr>
        <p:spPr>
          <a:xfrm>
            <a:off x="5233767" y="2192329"/>
            <a:ext cx="720080" cy="720080"/>
          </a:xfrm>
          <a:prstGeom prst="triangle">
            <a:avLst/>
          </a:prstGeom>
          <a:gradFill>
            <a:gsLst>
              <a:gs pos="0">
                <a:srgbClr val="E6DCAC"/>
              </a:gs>
              <a:gs pos="12000">
                <a:srgbClr val="FFC000"/>
              </a:gs>
              <a:gs pos="30000">
                <a:srgbClr val="FFC000"/>
              </a:gs>
              <a:gs pos="45000">
                <a:srgbClr val="FFFF00"/>
              </a:gs>
              <a:gs pos="77000">
                <a:srgbClr val="C7AC4C"/>
              </a:gs>
              <a:gs pos="100000">
                <a:srgbClr val="E6DCAC"/>
              </a:gs>
            </a:gsLst>
            <a:lin ang="5400000" scaled="0"/>
          </a:gra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28AE42A3-DA21-824A-1CCB-6C5119221F4D}"/>
              </a:ext>
            </a:extLst>
          </p:cNvPr>
          <p:cNvSpPr/>
          <p:nvPr/>
        </p:nvSpPr>
        <p:spPr>
          <a:xfrm>
            <a:off x="4081639" y="3992529"/>
            <a:ext cx="720080" cy="720080"/>
          </a:xfrm>
          <a:prstGeom prst="triangle">
            <a:avLst/>
          </a:prstGeom>
          <a:gradFill>
            <a:gsLst>
              <a:gs pos="29993">
                <a:srgbClr val="0070C0"/>
              </a:gs>
              <a:gs pos="48316">
                <a:srgbClr val="00B0F0"/>
              </a:gs>
              <a:gs pos="0">
                <a:srgbClr val="5E9EFF"/>
              </a:gs>
              <a:gs pos="70000">
                <a:srgbClr val="C4D6EB"/>
              </a:gs>
              <a:gs pos="100000">
                <a:srgbClr val="FFEBFA"/>
              </a:gs>
            </a:gsLst>
            <a:lin ang="5400000" scaled="0"/>
          </a:gra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C558D3A5-00EB-EEA7-68FF-10F806801AB3}"/>
              </a:ext>
            </a:extLst>
          </p:cNvPr>
          <p:cNvSpPr/>
          <p:nvPr/>
        </p:nvSpPr>
        <p:spPr>
          <a:xfrm>
            <a:off x="5089751" y="5144657"/>
            <a:ext cx="720080" cy="720080"/>
          </a:xfrm>
          <a:prstGeom prst="triangle">
            <a:avLst/>
          </a:prstGeom>
          <a:gradFill>
            <a:gsLst>
              <a:gs pos="29993">
                <a:srgbClr val="0070C0"/>
              </a:gs>
              <a:gs pos="48316">
                <a:srgbClr val="00B0F0"/>
              </a:gs>
              <a:gs pos="0">
                <a:srgbClr val="5E9EFF"/>
              </a:gs>
              <a:gs pos="70000">
                <a:srgbClr val="C4D6EB"/>
              </a:gs>
              <a:gs pos="100000">
                <a:srgbClr val="FFEBFA"/>
              </a:gs>
            </a:gsLst>
            <a:lin ang="5400000" scaled="0"/>
          </a:gra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27F11B0B-3E34-2EC0-6DAB-77F42C2E641D}"/>
              </a:ext>
            </a:extLst>
          </p:cNvPr>
          <p:cNvSpPr/>
          <p:nvPr/>
        </p:nvSpPr>
        <p:spPr>
          <a:xfrm>
            <a:off x="5881839" y="5288673"/>
            <a:ext cx="720080" cy="720080"/>
          </a:xfrm>
          <a:prstGeom prst="triangle">
            <a:avLst/>
          </a:prstGeom>
          <a:gradFill>
            <a:gsLst>
              <a:gs pos="0">
                <a:srgbClr val="E6DCAC"/>
              </a:gs>
              <a:gs pos="12000">
                <a:srgbClr val="FFC000"/>
              </a:gs>
              <a:gs pos="30000">
                <a:srgbClr val="FFC000"/>
              </a:gs>
              <a:gs pos="45000">
                <a:srgbClr val="FFFF00"/>
              </a:gs>
              <a:gs pos="77000">
                <a:srgbClr val="C7AC4C"/>
              </a:gs>
              <a:gs pos="100000">
                <a:srgbClr val="E6DCAC"/>
              </a:gs>
            </a:gsLst>
            <a:lin ang="5400000" scaled="0"/>
          </a:gra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6B72831-C2FA-4A49-BEE6-45A4082692FD}"/>
              </a:ext>
            </a:extLst>
          </p:cNvPr>
          <p:cNvCxnSpPr/>
          <p:nvPr/>
        </p:nvCxnSpPr>
        <p:spPr>
          <a:xfrm flipH="1" flipV="1">
            <a:off x="5809831" y="3056425"/>
            <a:ext cx="486122" cy="504056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4B5ED7F-BBF8-F0C6-BA8A-27D36F130C6D}"/>
              </a:ext>
            </a:extLst>
          </p:cNvPr>
          <p:cNvCxnSpPr/>
          <p:nvPr/>
        </p:nvCxnSpPr>
        <p:spPr>
          <a:xfrm flipH="1">
            <a:off x="4801719" y="4222828"/>
            <a:ext cx="1494234" cy="165745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D5496255-C380-8808-7580-5FBC22CB90EC}"/>
              </a:ext>
            </a:extLst>
          </p:cNvPr>
          <p:cNvCxnSpPr/>
          <p:nvPr/>
        </p:nvCxnSpPr>
        <p:spPr>
          <a:xfrm flipH="1">
            <a:off x="5593807" y="4676605"/>
            <a:ext cx="702146" cy="61206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93E992AB-9FCF-FE24-929A-1E75D0B0F7CC}"/>
              </a:ext>
            </a:extLst>
          </p:cNvPr>
          <p:cNvCxnSpPr/>
          <p:nvPr/>
        </p:nvCxnSpPr>
        <p:spPr>
          <a:xfrm flipH="1">
            <a:off x="6295953" y="4928633"/>
            <a:ext cx="89942" cy="36004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Picture 40">
            <a:extLst>
              <a:ext uri="{FF2B5EF4-FFF2-40B4-BE49-F238E27FC236}">
                <a16:creationId xmlns:a16="http://schemas.microsoft.com/office/drawing/2014/main" id="{0B3001A5-1749-6223-9C20-73248D15CE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4544" y="3416465"/>
            <a:ext cx="1570602" cy="1427820"/>
          </a:xfrm>
          <a:prstGeom prst="rect">
            <a:avLst/>
          </a:prstGeom>
        </p:spPr>
      </p:pic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23F14737-2E37-B521-CB3D-8803EA34D125}"/>
              </a:ext>
            </a:extLst>
          </p:cNvPr>
          <p:cNvSpPr/>
          <p:nvPr/>
        </p:nvSpPr>
        <p:spPr>
          <a:xfrm>
            <a:off x="6414544" y="3576771"/>
            <a:ext cx="1656184" cy="144016"/>
          </a:xfrm>
          <a:prstGeom prst="roundRect">
            <a:avLst/>
          </a:prstGeom>
          <a:solidFill>
            <a:srgbClr val="FFC000">
              <a:alpha val="40000"/>
            </a:srgbClr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C71C2AC7-2FCB-0620-A127-04A456650660}"/>
              </a:ext>
            </a:extLst>
          </p:cNvPr>
          <p:cNvSpPr/>
          <p:nvPr/>
        </p:nvSpPr>
        <p:spPr>
          <a:xfrm>
            <a:off x="6414544" y="3932446"/>
            <a:ext cx="1656184" cy="144016"/>
          </a:xfrm>
          <a:prstGeom prst="roundRect">
            <a:avLst/>
          </a:prstGeom>
          <a:solidFill>
            <a:srgbClr val="FFC000">
              <a:alpha val="40000"/>
            </a:srgbClr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784C94B8-C2BF-E68C-3CC2-FD13C7FCBF26}"/>
              </a:ext>
            </a:extLst>
          </p:cNvPr>
          <p:cNvSpPr/>
          <p:nvPr/>
        </p:nvSpPr>
        <p:spPr>
          <a:xfrm>
            <a:off x="6414544" y="4284241"/>
            <a:ext cx="1656184" cy="144016"/>
          </a:xfrm>
          <a:prstGeom prst="roundRect">
            <a:avLst/>
          </a:prstGeom>
          <a:solidFill>
            <a:srgbClr val="FFC000">
              <a:alpha val="40000"/>
            </a:srgbClr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D837AB75-561A-739D-9009-9BF77C65E153}"/>
              </a:ext>
            </a:extLst>
          </p:cNvPr>
          <p:cNvSpPr/>
          <p:nvPr/>
        </p:nvSpPr>
        <p:spPr>
          <a:xfrm>
            <a:off x="6414544" y="4636036"/>
            <a:ext cx="1656184" cy="144016"/>
          </a:xfrm>
          <a:prstGeom prst="roundRect">
            <a:avLst/>
          </a:prstGeom>
          <a:solidFill>
            <a:srgbClr val="FFC000">
              <a:alpha val="40000"/>
            </a:srgbClr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489E97CB-FE94-DBD0-896D-A259CC8F2EB8}"/>
              </a:ext>
            </a:extLst>
          </p:cNvPr>
          <p:cNvSpPr/>
          <p:nvPr/>
        </p:nvSpPr>
        <p:spPr>
          <a:xfrm>
            <a:off x="6414544" y="3752668"/>
            <a:ext cx="1656184" cy="144016"/>
          </a:xfrm>
          <a:prstGeom prst="roundRect">
            <a:avLst/>
          </a:prstGeom>
          <a:solidFill>
            <a:schemeClr val="accent5">
              <a:lumMod val="40000"/>
              <a:lumOff val="60000"/>
              <a:alpha val="40000"/>
            </a:schemeClr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50E4342E-13E1-F688-4228-E676196D07AA}"/>
              </a:ext>
            </a:extLst>
          </p:cNvPr>
          <p:cNvSpPr/>
          <p:nvPr/>
        </p:nvSpPr>
        <p:spPr>
          <a:xfrm>
            <a:off x="6414544" y="4111321"/>
            <a:ext cx="1656184" cy="144016"/>
          </a:xfrm>
          <a:prstGeom prst="roundRect">
            <a:avLst/>
          </a:prstGeom>
          <a:solidFill>
            <a:schemeClr val="accent5">
              <a:lumMod val="40000"/>
              <a:lumOff val="60000"/>
              <a:alpha val="40000"/>
            </a:schemeClr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2BF75C02-BA4E-354C-744D-DFA31ABE90CB}"/>
              </a:ext>
            </a:extLst>
          </p:cNvPr>
          <p:cNvSpPr/>
          <p:nvPr/>
        </p:nvSpPr>
        <p:spPr>
          <a:xfrm>
            <a:off x="6414544" y="4456721"/>
            <a:ext cx="1656184" cy="144016"/>
          </a:xfrm>
          <a:prstGeom prst="roundRect">
            <a:avLst/>
          </a:prstGeom>
          <a:solidFill>
            <a:schemeClr val="accent5">
              <a:lumMod val="40000"/>
              <a:lumOff val="60000"/>
              <a:alpha val="40000"/>
            </a:schemeClr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5" name="Google Shape;1688;g60be7dcf1c_0_579">
            <a:extLst>
              <a:ext uri="{FF2B5EF4-FFF2-40B4-BE49-F238E27FC236}">
                <a16:creationId xmlns:a16="http://schemas.microsoft.com/office/drawing/2014/main" id="{1DB95885-30F0-4836-EFAA-2A0BE593FA9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0223" y="554281"/>
            <a:ext cx="8171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Entropy Upper Bound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526E6D14-9240-59CC-1822-9BF4F8F3EA4A}"/>
              </a:ext>
            </a:extLst>
          </p:cNvPr>
          <p:cNvSpPr/>
          <p:nvPr/>
        </p:nvSpPr>
        <p:spPr>
          <a:xfrm>
            <a:off x="4496586" y="5144657"/>
            <a:ext cx="150828" cy="13173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</a:pPr>
            <a:endParaRPr lang="en-IL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41DAFBF-B010-49BF-6E18-02AD88033D9C}"/>
              </a:ext>
            </a:extLst>
          </p:cNvPr>
          <p:cNvCxnSpPr>
            <a:stCxn id="2" idx="1"/>
            <a:endCxn id="30" idx="3"/>
          </p:cNvCxnSpPr>
          <p:nvPr/>
        </p:nvCxnSpPr>
        <p:spPr>
          <a:xfrm flipH="1" flipV="1">
            <a:off x="4441679" y="4712609"/>
            <a:ext cx="76995" cy="4513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8FF0A93-0414-8FF3-E8DF-1EEF75E78E50}"/>
              </a:ext>
            </a:extLst>
          </p:cNvPr>
          <p:cNvCxnSpPr>
            <a:stCxn id="2" idx="5"/>
            <a:endCxn id="32" idx="1"/>
          </p:cNvCxnSpPr>
          <p:nvPr/>
        </p:nvCxnSpPr>
        <p:spPr>
          <a:xfrm>
            <a:off x="4625326" y="5257103"/>
            <a:ext cx="644445" cy="2475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Google Shape;1729;g60be7dcf1c_0_603">
            <a:extLst>
              <a:ext uri="{FF2B5EF4-FFF2-40B4-BE49-F238E27FC236}">
                <a16:creationId xmlns:a16="http://schemas.microsoft.com/office/drawing/2014/main" id="{98C1F24F-9BCA-AA3D-3BE4-EB4286E59B6F}"/>
              </a:ext>
            </a:extLst>
          </p:cNvPr>
          <p:cNvSpPr/>
          <p:nvPr/>
        </p:nvSpPr>
        <p:spPr>
          <a:xfrm>
            <a:off x="1499870" y="2294631"/>
            <a:ext cx="1866676" cy="1781492"/>
          </a:xfrm>
          <a:prstGeom prst="ellipse">
            <a:avLst/>
          </a:prstGeom>
          <a:solidFill>
            <a:srgbClr val="93C47D"/>
          </a:solidFill>
          <a:ln w="952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/>
          </a:p>
        </p:txBody>
      </p:sp>
      <p:sp>
        <p:nvSpPr>
          <p:cNvPr id="27" name="Google Shape;1730;g60be7dcf1c_0_603">
            <a:extLst>
              <a:ext uri="{FF2B5EF4-FFF2-40B4-BE49-F238E27FC236}">
                <a16:creationId xmlns:a16="http://schemas.microsoft.com/office/drawing/2014/main" id="{54343683-1504-4B69-5178-5008F170C6D7}"/>
              </a:ext>
            </a:extLst>
          </p:cNvPr>
          <p:cNvSpPr txBox="1"/>
          <p:nvPr/>
        </p:nvSpPr>
        <p:spPr>
          <a:xfrm>
            <a:off x="1615576" y="2570109"/>
            <a:ext cx="1623363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lnSpc>
                <a:spcPct val="115000"/>
              </a:lnSpc>
            </a:pPr>
            <a:r>
              <a:rPr lang="en-GB" sz="1600" b="1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Gives upper bound of conditional entropy*</a:t>
            </a:r>
          </a:p>
        </p:txBody>
      </p:sp>
      <p:sp>
        <p:nvSpPr>
          <p:cNvPr id="3" name="Google Shape;1730;g60be7dcf1c_0_603">
            <a:extLst>
              <a:ext uri="{FF2B5EF4-FFF2-40B4-BE49-F238E27FC236}">
                <a16:creationId xmlns:a16="http://schemas.microsoft.com/office/drawing/2014/main" id="{D342C891-4AA1-1C1B-6D56-5E648A4D10D0}"/>
              </a:ext>
            </a:extLst>
          </p:cNvPr>
          <p:cNvSpPr txBox="1"/>
          <p:nvPr/>
        </p:nvSpPr>
        <p:spPr>
          <a:xfrm>
            <a:off x="6601919" y="6491589"/>
            <a:ext cx="2156753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lnSpc>
                <a:spcPct val="115000"/>
              </a:lnSpc>
            </a:pPr>
            <a:r>
              <a:rPr lang="en-US" sz="1600" i="1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*O(H(X|Y)+H(Y|X)</a:t>
            </a:r>
            <a:endParaRPr lang="en-GB" sz="1600" b="1" dirty="0">
              <a:solidFill>
                <a:srgbClr val="CC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2941534793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0">
          <a:extLst>
            <a:ext uri="{FF2B5EF4-FFF2-40B4-BE49-F238E27FC236}">
              <a16:creationId xmlns:a16="http://schemas.microsoft.com/office/drawing/2014/main" id="{142EA16F-7601-DD53-A31D-5767E72B7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1580;g60be7dcf1c_0_473">
            <a:extLst>
              <a:ext uri="{FF2B5EF4-FFF2-40B4-BE49-F238E27FC236}">
                <a16:creationId xmlns:a16="http://schemas.microsoft.com/office/drawing/2014/main" id="{77AB48C2-F139-F205-133A-6BF076861D4D}"/>
              </a:ext>
            </a:extLst>
          </p:cNvPr>
          <p:cNvSpPr txBox="1"/>
          <p:nvPr/>
        </p:nvSpPr>
        <p:spPr>
          <a:xfrm>
            <a:off x="0" y="540000"/>
            <a:ext cx="8211000" cy="865144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B4FC854A-C984-382B-2815-B42FBBC0DA68}"/>
              </a:ext>
            </a:extLst>
          </p:cNvPr>
          <p:cNvSpPr/>
          <p:nvPr/>
        </p:nvSpPr>
        <p:spPr>
          <a:xfrm>
            <a:off x="5233767" y="2192329"/>
            <a:ext cx="720080" cy="720080"/>
          </a:xfrm>
          <a:prstGeom prst="triangle">
            <a:avLst/>
          </a:prstGeom>
          <a:gradFill>
            <a:gsLst>
              <a:gs pos="0">
                <a:srgbClr val="E6DCAC"/>
              </a:gs>
              <a:gs pos="12000">
                <a:srgbClr val="FFC000"/>
              </a:gs>
              <a:gs pos="30000">
                <a:srgbClr val="FFC000"/>
              </a:gs>
              <a:gs pos="45000">
                <a:srgbClr val="FFFF00"/>
              </a:gs>
              <a:gs pos="77000">
                <a:srgbClr val="C7AC4C"/>
              </a:gs>
              <a:gs pos="100000">
                <a:srgbClr val="E6DCAC"/>
              </a:gs>
            </a:gsLst>
            <a:lin ang="5400000" scaled="0"/>
          </a:gra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AE2AA5E0-E855-E4ED-EED7-5377F9C89873}"/>
              </a:ext>
            </a:extLst>
          </p:cNvPr>
          <p:cNvSpPr/>
          <p:nvPr/>
        </p:nvSpPr>
        <p:spPr>
          <a:xfrm>
            <a:off x="4081639" y="3992529"/>
            <a:ext cx="720080" cy="720080"/>
          </a:xfrm>
          <a:prstGeom prst="triangle">
            <a:avLst/>
          </a:prstGeom>
          <a:gradFill>
            <a:gsLst>
              <a:gs pos="29993">
                <a:srgbClr val="0070C0"/>
              </a:gs>
              <a:gs pos="48316">
                <a:srgbClr val="00B0F0"/>
              </a:gs>
              <a:gs pos="0">
                <a:srgbClr val="5E9EFF"/>
              </a:gs>
              <a:gs pos="70000">
                <a:srgbClr val="C4D6EB"/>
              </a:gs>
              <a:gs pos="100000">
                <a:srgbClr val="FFEBFA"/>
              </a:gs>
            </a:gsLst>
            <a:lin ang="5400000" scaled="0"/>
          </a:gra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A8C1B5DD-FFCC-2020-CA7A-EAADF154778D}"/>
              </a:ext>
            </a:extLst>
          </p:cNvPr>
          <p:cNvSpPr/>
          <p:nvPr/>
        </p:nvSpPr>
        <p:spPr>
          <a:xfrm>
            <a:off x="5089751" y="5144657"/>
            <a:ext cx="720080" cy="720080"/>
          </a:xfrm>
          <a:prstGeom prst="triangle">
            <a:avLst/>
          </a:prstGeom>
          <a:gradFill>
            <a:gsLst>
              <a:gs pos="29993">
                <a:srgbClr val="0070C0"/>
              </a:gs>
              <a:gs pos="48316">
                <a:srgbClr val="00B0F0"/>
              </a:gs>
              <a:gs pos="0">
                <a:srgbClr val="5E9EFF"/>
              </a:gs>
              <a:gs pos="70000">
                <a:srgbClr val="C4D6EB"/>
              </a:gs>
              <a:gs pos="100000">
                <a:srgbClr val="FFEBFA"/>
              </a:gs>
            </a:gsLst>
            <a:lin ang="5400000" scaled="0"/>
          </a:gra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310DA6C5-C65A-EEB2-F059-0E819B3ACBF9}"/>
              </a:ext>
            </a:extLst>
          </p:cNvPr>
          <p:cNvSpPr/>
          <p:nvPr/>
        </p:nvSpPr>
        <p:spPr>
          <a:xfrm>
            <a:off x="5881839" y="5288673"/>
            <a:ext cx="720080" cy="720080"/>
          </a:xfrm>
          <a:prstGeom prst="triangle">
            <a:avLst/>
          </a:prstGeom>
          <a:gradFill>
            <a:gsLst>
              <a:gs pos="0">
                <a:srgbClr val="E6DCAC"/>
              </a:gs>
              <a:gs pos="12000">
                <a:srgbClr val="FFC000"/>
              </a:gs>
              <a:gs pos="30000">
                <a:srgbClr val="FFC000"/>
              </a:gs>
              <a:gs pos="45000">
                <a:srgbClr val="FFFF00"/>
              </a:gs>
              <a:gs pos="77000">
                <a:srgbClr val="C7AC4C"/>
              </a:gs>
              <a:gs pos="100000">
                <a:srgbClr val="E6DCAC"/>
              </a:gs>
            </a:gsLst>
            <a:lin ang="5400000" scaled="0"/>
          </a:gra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E5D347F-9B60-A899-2D6E-400A69EE569B}"/>
              </a:ext>
            </a:extLst>
          </p:cNvPr>
          <p:cNvCxnSpPr/>
          <p:nvPr/>
        </p:nvCxnSpPr>
        <p:spPr>
          <a:xfrm flipH="1" flipV="1">
            <a:off x="5809831" y="3056425"/>
            <a:ext cx="486122" cy="504056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AC2A223C-0BAC-FB3E-5E05-4B4B5FE95360}"/>
              </a:ext>
            </a:extLst>
          </p:cNvPr>
          <p:cNvCxnSpPr/>
          <p:nvPr/>
        </p:nvCxnSpPr>
        <p:spPr>
          <a:xfrm flipH="1">
            <a:off x="4801719" y="4222828"/>
            <a:ext cx="1494234" cy="165745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664A962C-3201-16FE-3F55-66FF7D5E954B}"/>
              </a:ext>
            </a:extLst>
          </p:cNvPr>
          <p:cNvCxnSpPr/>
          <p:nvPr/>
        </p:nvCxnSpPr>
        <p:spPr>
          <a:xfrm flipH="1">
            <a:off x="5593807" y="4676605"/>
            <a:ext cx="702146" cy="61206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E15938B-066A-15BD-B1B5-82A62B616984}"/>
              </a:ext>
            </a:extLst>
          </p:cNvPr>
          <p:cNvCxnSpPr/>
          <p:nvPr/>
        </p:nvCxnSpPr>
        <p:spPr>
          <a:xfrm flipH="1">
            <a:off x="6295953" y="4928633"/>
            <a:ext cx="89942" cy="36004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Picture 40">
            <a:extLst>
              <a:ext uri="{FF2B5EF4-FFF2-40B4-BE49-F238E27FC236}">
                <a16:creationId xmlns:a16="http://schemas.microsoft.com/office/drawing/2014/main" id="{B703E5C7-8375-58F7-C450-B99D2D54CD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4544" y="3416465"/>
            <a:ext cx="1570602" cy="1427820"/>
          </a:xfrm>
          <a:prstGeom prst="rect">
            <a:avLst/>
          </a:prstGeom>
        </p:spPr>
      </p:pic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0E5338E9-BB4D-3F65-77C9-F44544700A2C}"/>
              </a:ext>
            </a:extLst>
          </p:cNvPr>
          <p:cNvSpPr/>
          <p:nvPr/>
        </p:nvSpPr>
        <p:spPr>
          <a:xfrm>
            <a:off x="6414544" y="3576771"/>
            <a:ext cx="1656184" cy="144016"/>
          </a:xfrm>
          <a:prstGeom prst="roundRect">
            <a:avLst/>
          </a:prstGeom>
          <a:solidFill>
            <a:srgbClr val="FFC000">
              <a:alpha val="40000"/>
            </a:srgbClr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8F18A004-6960-DEA4-B6ED-32353A6E8F8C}"/>
              </a:ext>
            </a:extLst>
          </p:cNvPr>
          <p:cNvSpPr/>
          <p:nvPr/>
        </p:nvSpPr>
        <p:spPr>
          <a:xfrm>
            <a:off x="6414544" y="3932446"/>
            <a:ext cx="1656184" cy="144016"/>
          </a:xfrm>
          <a:prstGeom prst="roundRect">
            <a:avLst/>
          </a:prstGeom>
          <a:solidFill>
            <a:srgbClr val="FFC000">
              <a:alpha val="40000"/>
            </a:srgbClr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5AC11179-0335-8271-582F-00CCDEFAE173}"/>
              </a:ext>
            </a:extLst>
          </p:cNvPr>
          <p:cNvSpPr/>
          <p:nvPr/>
        </p:nvSpPr>
        <p:spPr>
          <a:xfrm>
            <a:off x="6414544" y="4284241"/>
            <a:ext cx="1656184" cy="144016"/>
          </a:xfrm>
          <a:prstGeom prst="roundRect">
            <a:avLst/>
          </a:prstGeom>
          <a:solidFill>
            <a:srgbClr val="FFC000">
              <a:alpha val="40000"/>
            </a:srgbClr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7328B03A-8D5D-B7E1-88D4-0966197B75C1}"/>
              </a:ext>
            </a:extLst>
          </p:cNvPr>
          <p:cNvSpPr/>
          <p:nvPr/>
        </p:nvSpPr>
        <p:spPr>
          <a:xfrm>
            <a:off x="6414544" y="4636036"/>
            <a:ext cx="1656184" cy="144016"/>
          </a:xfrm>
          <a:prstGeom prst="roundRect">
            <a:avLst/>
          </a:prstGeom>
          <a:solidFill>
            <a:srgbClr val="FFC000">
              <a:alpha val="40000"/>
            </a:srgbClr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7668E33F-005B-4AD5-E08D-1948CC4DDDD3}"/>
              </a:ext>
            </a:extLst>
          </p:cNvPr>
          <p:cNvSpPr/>
          <p:nvPr/>
        </p:nvSpPr>
        <p:spPr>
          <a:xfrm>
            <a:off x="6414544" y="3752668"/>
            <a:ext cx="1656184" cy="144016"/>
          </a:xfrm>
          <a:prstGeom prst="roundRect">
            <a:avLst/>
          </a:prstGeom>
          <a:solidFill>
            <a:schemeClr val="accent5">
              <a:lumMod val="40000"/>
              <a:lumOff val="60000"/>
              <a:alpha val="40000"/>
            </a:schemeClr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7E34388B-1609-29AD-70C9-0EB878C37392}"/>
              </a:ext>
            </a:extLst>
          </p:cNvPr>
          <p:cNvSpPr/>
          <p:nvPr/>
        </p:nvSpPr>
        <p:spPr>
          <a:xfrm>
            <a:off x="6414544" y="4111321"/>
            <a:ext cx="1656184" cy="144016"/>
          </a:xfrm>
          <a:prstGeom prst="roundRect">
            <a:avLst/>
          </a:prstGeom>
          <a:solidFill>
            <a:schemeClr val="accent5">
              <a:lumMod val="40000"/>
              <a:lumOff val="60000"/>
              <a:alpha val="40000"/>
            </a:schemeClr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F2EA14F9-BF86-480C-FBE5-F77F63E47441}"/>
              </a:ext>
            </a:extLst>
          </p:cNvPr>
          <p:cNvSpPr/>
          <p:nvPr/>
        </p:nvSpPr>
        <p:spPr>
          <a:xfrm>
            <a:off x="6414544" y="4456721"/>
            <a:ext cx="1656184" cy="144016"/>
          </a:xfrm>
          <a:prstGeom prst="roundRect">
            <a:avLst/>
          </a:prstGeom>
          <a:solidFill>
            <a:schemeClr val="accent5">
              <a:lumMod val="40000"/>
              <a:lumOff val="60000"/>
              <a:alpha val="40000"/>
            </a:schemeClr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5" name="Google Shape;1688;g60be7dcf1c_0_579">
            <a:extLst>
              <a:ext uri="{FF2B5EF4-FFF2-40B4-BE49-F238E27FC236}">
                <a16:creationId xmlns:a16="http://schemas.microsoft.com/office/drawing/2014/main" id="{A84AC98E-46E5-B1D6-4557-4FE7137116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0223" y="554281"/>
            <a:ext cx="8171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Entropy Upper Bound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D32E348F-957A-A87D-514B-DB09F72CA89B}"/>
              </a:ext>
            </a:extLst>
          </p:cNvPr>
          <p:cNvSpPr/>
          <p:nvPr/>
        </p:nvSpPr>
        <p:spPr>
          <a:xfrm>
            <a:off x="4496586" y="5144657"/>
            <a:ext cx="150828" cy="13173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</a:pPr>
            <a:endParaRPr lang="en-IL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56F1C5A-F7CD-09BA-13E0-8E60347B5DE3}"/>
              </a:ext>
            </a:extLst>
          </p:cNvPr>
          <p:cNvCxnSpPr>
            <a:stCxn id="2" idx="1"/>
            <a:endCxn id="30" idx="3"/>
          </p:cNvCxnSpPr>
          <p:nvPr/>
        </p:nvCxnSpPr>
        <p:spPr>
          <a:xfrm flipH="1" flipV="1">
            <a:off x="4441679" y="4712609"/>
            <a:ext cx="76995" cy="4513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79F4F74-460C-A134-4CA1-8CE96FD96239}"/>
              </a:ext>
            </a:extLst>
          </p:cNvPr>
          <p:cNvCxnSpPr>
            <a:stCxn id="2" idx="5"/>
            <a:endCxn id="32" idx="1"/>
          </p:cNvCxnSpPr>
          <p:nvPr/>
        </p:nvCxnSpPr>
        <p:spPr>
          <a:xfrm>
            <a:off x="4625326" y="5257103"/>
            <a:ext cx="644445" cy="2475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Google Shape;1729;g60be7dcf1c_0_603">
            <a:extLst>
              <a:ext uri="{FF2B5EF4-FFF2-40B4-BE49-F238E27FC236}">
                <a16:creationId xmlns:a16="http://schemas.microsoft.com/office/drawing/2014/main" id="{DB6311D1-00E4-7588-D692-1F3A1E753A86}"/>
              </a:ext>
            </a:extLst>
          </p:cNvPr>
          <p:cNvSpPr/>
          <p:nvPr/>
        </p:nvSpPr>
        <p:spPr>
          <a:xfrm>
            <a:off x="1499870" y="2294631"/>
            <a:ext cx="1866676" cy="1781492"/>
          </a:xfrm>
          <a:prstGeom prst="ellipse">
            <a:avLst/>
          </a:prstGeom>
          <a:solidFill>
            <a:srgbClr val="93C47D"/>
          </a:solidFill>
          <a:ln w="952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/>
          </a:p>
        </p:txBody>
      </p:sp>
      <p:sp>
        <p:nvSpPr>
          <p:cNvPr id="27" name="Google Shape;1730;g60be7dcf1c_0_603">
            <a:extLst>
              <a:ext uri="{FF2B5EF4-FFF2-40B4-BE49-F238E27FC236}">
                <a16:creationId xmlns:a16="http://schemas.microsoft.com/office/drawing/2014/main" id="{AAA55670-F08F-F4F8-4B6F-AF41491A928C}"/>
              </a:ext>
            </a:extLst>
          </p:cNvPr>
          <p:cNvSpPr txBox="1"/>
          <p:nvPr/>
        </p:nvSpPr>
        <p:spPr>
          <a:xfrm>
            <a:off x="1615576" y="2570109"/>
            <a:ext cx="1623363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lnSpc>
                <a:spcPct val="115000"/>
              </a:lnSpc>
            </a:pPr>
            <a:r>
              <a:rPr lang="en-GB" sz="1600" b="1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Gives upper bound of conditional entropy*</a:t>
            </a:r>
          </a:p>
        </p:txBody>
      </p:sp>
      <p:sp>
        <p:nvSpPr>
          <p:cNvPr id="3" name="Google Shape;1730;g60be7dcf1c_0_603">
            <a:extLst>
              <a:ext uri="{FF2B5EF4-FFF2-40B4-BE49-F238E27FC236}">
                <a16:creationId xmlns:a16="http://schemas.microsoft.com/office/drawing/2014/main" id="{0753664E-81C0-7630-B9C3-C6DC2F9AF1E5}"/>
              </a:ext>
            </a:extLst>
          </p:cNvPr>
          <p:cNvSpPr txBox="1"/>
          <p:nvPr/>
        </p:nvSpPr>
        <p:spPr>
          <a:xfrm>
            <a:off x="6601919" y="6491589"/>
            <a:ext cx="2156753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lnSpc>
                <a:spcPct val="115000"/>
              </a:lnSpc>
            </a:pPr>
            <a:r>
              <a:rPr lang="en-US" sz="1600" i="1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*O(H(X|Y)+H(Y|X)</a:t>
            </a:r>
            <a:endParaRPr lang="en-GB" sz="1600" b="1" dirty="0">
              <a:solidFill>
                <a:srgbClr val="CC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" name="Google Shape;1729;g60be7dcf1c_0_603">
            <a:extLst>
              <a:ext uri="{FF2B5EF4-FFF2-40B4-BE49-F238E27FC236}">
                <a16:creationId xmlns:a16="http://schemas.microsoft.com/office/drawing/2014/main" id="{588D33DC-F10F-71DF-FC2C-82ABC6AB52B9}"/>
              </a:ext>
            </a:extLst>
          </p:cNvPr>
          <p:cNvSpPr/>
          <p:nvPr/>
        </p:nvSpPr>
        <p:spPr>
          <a:xfrm>
            <a:off x="1499870" y="4621733"/>
            <a:ext cx="1866676" cy="1781492"/>
          </a:xfrm>
          <a:prstGeom prst="ellipse">
            <a:avLst/>
          </a:prstGeom>
          <a:solidFill>
            <a:srgbClr val="93C47D"/>
          </a:solidFill>
          <a:ln w="952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/>
          </a:p>
        </p:txBody>
      </p:sp>
      <p:sp>
        <p:nvSpPr>
          <p:cNvPr id="7" name="Google Shape;1730;g60be7dcf1c_0_603">
            <a:extLst>
              <a:ext uri="{FF2B5EF4-FFF2-40B4-BE49-F238E27FC236}">
                <a16:creationId xmlns:a16="http://schemas.microsoft.com/office/drawing/2014/main" id="{B693F913-69C0-6F72-EF55-22657FE317BB}"/>
              </a:ext>
            </a:extLst>
          </p:cNvPr>
          <p:cNvSpPr txBox="1"/>
          <p:nvPr/>
        </p:nvSpPr>
        <p:spPr>
          <a:xfrm>
            <a:off x="1615576" y="4866389"/>
            <a:ext cx="1623363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Matching lower bound for sparse demands!</a:t>
            </a:r>
          </a:p>
        </p:txBody>
      </p:sp>
    </p:spTree>
    <p:extLst>
      <p:ext uri="{BB962C8B-B14F-4D97-AF65-F5344CB8AC3E}">
        <p14:creationId xmlns:p14="http://schemas.microsoft.com/office/powerpoint/2010/main" val="1586564726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0">
          <a:extLst>
            <a:ext uri="{FF2B5EF4-FFF2-40B4-BE49-F238E27FC236}">
              <a16:creationId xmlns:a16="http://schemas.microsoft.com/office/drawing/2014/main" id="{ABB28B73-657E-B3E5-CBC3-33DD450A0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1580;g60be7dcf1c_0_473">
            <a:extLst>
              <a:ext uri="{FF2B5EF4-FFF2-40B4-BE49-F238E27FC236}">
                <a16:creationId xmlns:a16="http://schemas.microsoft.com/office/drawing/2014/main" id="{FEB9F421-DC8C-F6C6-0C3A-09D967DA278B}"/>
              </a:ext>
            </a:extLst>
          </p:cNvPr>
          <p:cNvSpPr txBox="1"/>
          <p:nvPr/>
        </p:nvSpPr>
        <p:spPr>
          <a:xfrm>
            <a:off x="0" y="540000"/>
            <a:ext cx="8211000" cy="865144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619692B8-503B-727E-CC2A-BE8990EAA3A9}"/>
              </a:ext>
            </a:extLst>
          </p:cNvPr>
          <p:cNvSpPr/>
          <p:nvPr/>
        </p:nvSpPr>
        <p:spPr>
          <a:xfrm>
            <a:off x="5233767" y="2192329"/>
            <a:ext cx="720080" cy="720080"/>
          </a:xfrm>
          <a:prstGeom prst="triangle">
            <a:avLst/>
          </a:prstGeom>
          <a:gradFill>
            <a:gsLst>
              <a:gs pos="0">
                <a:srgbClr val="E6DCAC"/>
              </a:gs>
              <a:gs pos="12000">
                <a:srgbClr val="FFC000"/>
              </a:gs>
              <a:gs pos="30000">
                <a:srgbClr val="FFC000"/>
              </a:gs>
              <a:gs pos="45000">
                <a:srgbClr val="FFFF00"/>
              </a:gs>
              <a:gs pos="77000">
                <a:srgbClr val="C7AC4C"/>
              </a:gs>
              <a:gs pos="100000">
                <a:srgbClr val="E6DCAC"/>
              </a:gs>
            </a:gsLst>
            <a:lin ang="5400000" scaled="0"/>
          </a:gra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6460D4F1-DE45-3249-9E3E-46CBD41B8077}"/>
              </a:ext>
            </a:extLst>
          </p:cNvPr>
          <p:cNvSpPr/>
          <p:nvPr/>
        </p:nvSpPr>
        <p:spPr>
          <a:xfrm>
            <a:off x="4081639" y="3992529"/>
            <a:ext cx="720080" cy="720080"/>
          </a:xfrm>
          <a:prstGeom prst="triangle">
            <a:avLst/>
          </a:prstGeom>
          <a:gradFill>
            <a:gsLst>
              <a:gs pos="29993">
                <a:srgbClr val="0070C0"/>
              </a:gs>
              <a:gs pos="48316">
                <a:srgbClr val="00B0F0"/>
              </a:gs>
              <a:gs pos="0">
                <a:srgbClr val="5E9EFF"/>
              </a:gs>
              <a:gs pos="70000">
                <a:srgbClr val="C4D6EB"/>
              </a:gs>
              <a:gs pos="100000">
                <a:srgbClr val="FFEBFA"/>
              </a:gs>
            </a:gsLst>
            <a:lin ang="5400000" scaled="0"/>
          </a:gra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9A86812D-9BDD-4960-5148-3D51EA49479D}"/>
              </a:ext>
            </a:extLst>
          </p:cNvPr>
          <p:cNvSpPr/>
          <p:nvPr/>
        </p:nvSpPr>
        <p:spPr>
          <a:xfrm>
            <a:off x="5089751" y="5144657"/>
            <a:ext cx="720080" cy="720080"/>
          </a:xfrm>
          <a:prstGeom prst="triangle">
            <a:avLst/>
          </a:prstGeom>
          <a:gradFill>
            <a:gsLst>
              <a:gs pos="29993">
                <a:srgbClr val="0070C0"/>
              </a:gs>
              <a:gs pos="48316">
                <a:srgbClr val="00B0F0"/>
              </a:gs>
              <a:gs pos="0">
                <a:srgbClr val="5E9EFF"/>
              </a:gs>
              <a:gs pos="70000">
                <a:srgbClr val="C4D6EB"/>
              </a:gs>
              <a:gs pos="100000">
                <a:srgbClr val="FFEBFA"/>
              </a:gs>
            </a:gsLst>
            <a:lin ang="5400000" scaled="0"/>
          </a:gra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60A8379B-ED17-91FF-7694-F9B58FD4877F}"/>
              </a:ext>
            </a:extLst>
          </p:cNvPr>
          <p:cNvSpPr/>
          <p:nvPr/>
        </p:nvSpPr>
        <p:spPr>
          <a:xfrm>
            <a:off x="5881839" y="5288673"/>
            <a:ext cx="720080" cy="720080"/>
          </a:xfrm>
          <a:prstGeom prst="triangle">
            <a:avLst/>
          </a:prstGeom>
          <a:gradFill>
            <a:gsLst>
              <a:gs pos="0">
                <a:srgbClr val="E6DCAC"/>
              </a:gs>
              <a:gs pos="12000">
                <a:srgbClr val="FFC000"/>
              </a:gs>
              <a:gs pos="30000">
                <a:srgbClr val="FFC000"/>
              </a:gs>
              <a:gs pos="45000">
                <a:srgbClr val="FFFF00"/>
              </a:gs>
              <a:gs pos="77000">
                <a:srgbClr val="C7AC4C"/>
              </a:gs>
              <a:gs pos="100000">
                <a:srgbClr val="E6DCAC"/>
              </a:gs>
            </a:gsLst>
            <a:lin ang="5400000" scaled="0"/>
          </a:gra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929320B-4287-A0A0-5FA9-513018798B94}"/>
              </a:ext>
            </a:extLst>
          </p:cNvPr>
          <p:cNvCxnSpPr/>
          <p:nvPr/>
        </p:nvCxnSpPr>
        <p:spPr>
          <a:xfrm flipH="1" flipV="1">
            <a:off x="5809831" y="3056425"/>
            <a:ext cx="486122" cy="504056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924AA8CD-891B-4916-8090-824CAFE0EDE8}"/>
              </a:ext>
            </a:extLst>
          </p:cNvPr>
          <p:cNvCxnSpPr/>
          <p:nvPr/>
        </p:nvCxnSpPr>
        <p:spPr>
          <a:xfrm flipH="1">
            <a:off x="4801719" y="4222828"/>
            <a:ext cx="1494234" cy="165745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F574AE3-3AD1-8488-CB7B-B862AEAA610F}"/>
              </a:ext>
            </a:extLst>
          </p:cNvPr>
          <p:cNvCxnSpPr/>
          <p:nvPr/>
        </p:nvCxnSpPr>
        <p:spPr>
          <a:xfrm flipH="1">
            <a:off x="5593807" y="4676605"/>
            <a:ext cx="702146" cy="61206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7EFE2F8-8D6E-E894-C2B3-708AF2A9AF8E}"/>
              </a:ext>
            </a:extLst>
          </p:cNvPr>
          <p:cNvCxnSpPr/>
          <p:nvPr/>
        </p:nvCxnSpPr>
        <p:spPr>
          <a:xfrm flipH="1">
            <a:off x="6295953" y="4928633"/>
            <a:ext cx="89942" cy="36004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Picture 40">
            <a:extLst>
              <a:ext uri="{FF2B5EF4-FFF2-40B4-BE49-F238E27FC236}">
                <a16:creationId xmlns:a16="http://schemas.microsoft.com/office/drawing/2014/main" id="{F1D6E9A1-BA90-86A0-1FDA-838678F6EB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4544" y="3416465"/>
            <a:ext cx="1570602" cy="1427820"/>
          </a:xfrm>
          <a:prstGeom prst="rect">
            <a:avLst/>
          </a:prstGeom>
        </p:spPr>
      </p:pic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0D48EDF7-86EE-D207-C988-426068E3DDB8}"/>
              </a:ext>
            </a:extLst>
          </p:cNvPr>
          <p:cNvSpPr/>
          <p:nvPr/>
        </p:nvSpPr>
        <p:spPr>
          <a:xfrm>
            <a:off x="6414544" y="3576771"/>
            <a:ext cx="1656184" cy="144016"/>
          </a:xfrm>
          <a:prstGeom prst="roundRect">
            <a:avLst/>
          </a:prstGeom>
          <a:solidFill>
            <a:srgbClr val="FFC000">
              <a:alpha val="40000"/>
            </a:srgbClr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73525D08-539B-8D73-5B58-674A99503BC6}"/>
              </a:ext>
            </a:extLst>
          </p:cNvPr>
          <p:cNvSpPr/>
          <p:nvPr/>
        </p:nvSpPr>
        <p:spPr>
          <a:xfrm>
            <a:off x="6414544" y="3932446"/>
            <a:ext cx="1656184" cy="144016"/>
          </a:xfrm>
          <a:prstGeom prst="roundRect">
            <a:avLst/>
          </a:prstGeom>
          <a:solidFill>
            <a:srgbClr val="FFC000">
              <a:alpha val="40000"/>
            </a:srgbClr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8FD1343C-06B3-5C95-C251-B5CC8CFF7343}"/>
              </a:ext>
            </a:extLst>
          </p:cNvPr>
          <p:cNvSpPr/>
          <p:nvPr/>
        </p:nvSpPr>
        <p:spPr>
          <a:xfrm>
            <a:off x="6414544" y="4284241"/>
            <a:ext cx="1656184" cy="144016"/>
          </a:xfrm>
          <a:prstGeom prst="roundRect">
            <a:avLst/>
          </a:prstGeom>
          <a:solidFill>
            <a:srgbClr val="FFC000">
              <a:alpha val="40000"/>
            </a:srgbClr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20B54B81-FE17-6A36-A378-16833C3BF32D}"/>
              </a:ext>
            </a:extLst>
          </p:cNvPr>
          <p:cNvSpPr/>
          <p:nvPr/>
        </p:nvSpPr>
        <p:spPr>
          <a:xfrm>
            <a:off x="6414544" y="4636036"/>
            <a:ext cx="1656184" cy="144016"/>
          </a:xfrm>
          <a:prstGeom prst="roundRect">
            <a:avLst/>
          </a:prstGeom>
          <a:solidFill>
            <a:srgbClr val="FFC000">
              <a:alpha val="40000"/>
            </a:srgbClr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47A911E8-D9D0-65B9-E0FA-9411AFB7E9C7}"/>
              </a:ext>
            </a:extLst>
          </p:cNvPr>
          <p:cNvSpPr/>
          <p:nvPr/>
        </p:nvSpPr>
        <p:spPr>
          <a:xfrm>
            <a:off x="6414544" y="3752668"/>
            <a:ext cx="1656184" cy="144016"/>
          </a:xfrm>
          <a:prstGeom prst="roundRect">
            <a:avLst/>
          </a:prstGeom>
          <a:solidFill>
            <a:schemeClr val="accent5">
              <a:lumMod val="40000"/>
              <a:lumOff val="60000"/>
              <a:alpha val="40000"/>
            </a:schemeClr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565FFC67-F499-6F28-B211-38CA15AF06B3}"/>
              </a:ext>
            </a:extLst>
          </p:cNvPr>
          <p:cNvSpPr/>
          <p:nvPr/>
        </p:nvSpPr>
        <p:spPr>
          <a:xfrm>
            <a:off x="6414544" y="4111321"/>
            <a:ext cx="1656184" cy="144016"/>
          </a:xfrm>
          <a:prstGeom prst="roundRect">
            <a:avLst/>
          </a:prstGeom>
          <a:solidFill>
            <a:schemeClr val="accent5">
              <a:lumMod val="40000"/>
              <a:lumOff val="60000"/>
              <a:alpha val="40000"/>
            </a:schemeClr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7B401C0A-8144-8D82-CEAC-6FD9E085D0B2}"/>
              </a:ext>
            </a:extLst>
          </p:cNvPr>
          <p:cNvSpPr/>
          <p:nvPr/>
        </p:nvSpPr>
        <p:spPr>
          <a:xfrm>
            <a:off x="6414544" y="4456721"/>
            <a:ext cx="1656184" cy="144016"/>
          </a:xfrm>
          <a:prstGeom prst="roundRect">
            <a:avLst/>
          </a:prstGeom>
          <a:solidFill>
            <a:schemeClr val="accent5">
              <a:lumMod val="40000"/>
              <a:lumOff val="60000"/>
              <a:alpha val="40000"/>
            </a:schemeClr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5" name="Google Shape;1688;g60be7dcf1c_0_579">
            <a:extLst>
              <a:ext uri="{FF2B5EF4-FFF2-40B4-BE49-F238E27FC236}">
                <a16:creationId xmlns:a16="http://schemas.microsoft.com/office/drawing/2014/main" id="{6963A40C-5CE2-8724-2998-F44D331634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0223" y="554281"/>
            <a:ext cx="8171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Entropy Upper Bound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228F8DC6-B1F3-5B4F-D205-6380D4333041}"/>
              </a:ext>
            </a:extLst>
          </p:cNvPr>
          <p:cNvSpPr/>
          <p:nvPr/>
        </p:nvSpPr>
        <p:spPr>
          <a:xfrm>
            <a:off x="4496586" y="5144657"/>
            <a:ext cx="150828" cy="13173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</a:pPr>
            <a:endParaRPr lang="en-IL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FD67284-BFC7-529F-CD0F-9250388B9025}"/>
              </a:ext>
            </a:extLst>
          </p:cNvPr>
          <p:cNvCxnSpPr>
            <a:stCxn id="2" idx="1"/>
            <a:endCxn id="30" idx="3"/>
          </p:cNvCxnSpPr>
          <p:nvPr/>
        </p:nvCxnSpPr>
        <p:spPr>
          <a:xfrm flipH="1" flipV="1">
            <a:off x="4441679" y="4712609"/>
            <a:ext cx="76995" cy="4513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6FBE4C5-A3D4-3931-FCD8-6BDDF23586FA}"/>
              </a:ext>
            </a:extLst>
          </p:cNvPr>
          <p:cNvCxnSpPr>
            <a:stCxn id="2" idx="5"/>
            <a:endCxn id="32" idx="1"/>
          </p:cNvCxnSpPr>
          <p:nvPr/>
        </p:nvCxnSpPr>
        <p:spPr>
          <a:xfrm>
            <a:off x="4625326" y="5257103"/>
            <a:ext cx="644445" cy="2475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Google Shape;1729;g60be7dcf1c_0_603">
            <a:extLst>
              <a:ext uri="{FF2B5EF4-FFF2-40B4-BE49-F238E27FC236}">
                <a16:creationId xmlns:a16="http://schemas.microsoft.com/office/drawing/2014/main" id="{F964945D-D92D-E577-B185-5CF6BE405715}"/>
              </a:ext>
            </a:extLst>
          </p:cNvPr>
          <p:cNvSpPr/>
          <p:nvPr/>
        </p:nvSpPr>
        <p:spPr>
          <a:xfrm>
            <a:off x="1499870" y="2294631"/>
            <a:ext cx="1866676" cy="1781492"/>
          </a:xfrm>
          <a:prstGeom prst="ellipse">
            <a:avLst/>
          </a:prstGeom>
          <a:solidFill>
            <a:srgbClr val="93C47D"/>
          </a:solidFill>
          <a:ln w="952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/>
          </a:p>
        </p:txBody>
      </p:sp>
      <p:sp>
        <p:nvSpPr>
          <p:cNvPr id="27" name="Google Shape;1730;g60be7dcf1c_0_603">
            <a:extLst>
              <a:ext uri="{FF2B5EF4-FFF2-40B4-BE49-F238E27FC236}">
                <a16:creationId xmlns:a16="http://schemas.microsoft.com/office/drawing/2014/main" id="{0AD7BD64-FF97-9811-74AF-808C6F415C23}"/>
              </a:ext>
            </a:extLst>
          </p:cNvPr>
          <p:cNvSpPr txBox="1"/>
          <p:nvPr/>
        </p:nvSpPr>
        <p:spPr>
          <a:xfrm>
            <a:off x="1615576" y="2570109"/>
            <a:ext cx="1623363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lnSpc>
                <a:spcPct val="115000"/>
              </a:lnSpc>
            </a:pPr>
            <a:r>
              <a:rPr lang="en-GB" sz="1600" b="1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Gives upper bound of conditional entropy*</a:t>
            </a:r>
          </a:p>
        </p:txBody>
      </p:sp>
      <p:sp>
        <p:nvSpPr>
          <p:cNvPr id="5" name="Google Shape;1729;g60be7dcf1c_0_603">
            <a:extLst>
              <a:ext uri="{FF2B5EF4-FFF2-40B4-BE49-F238E27FC236}">
                <a16:creationId xmlns:a16="http://schemas.microsoft.com/office/drawing/2014/main" id="{9FC28BFC-B154-7B48-F6F0-4C239D221BD2}"/>
              </a:ext>
            </a:extLst>
          </p:cNvPr>
          <p:cNvSpPr/>
          <p:nvPr/>
        </p:nvSpPr>
        <p:spPr>
          <a:xfrm>
            <a:off x="1499870" y="4621733"/>
            <a:ext cx="1866676" cy="1781492"/>
          </a:xfrm>
          <a:prstGeom prst="ellipse">
            <a:avLst/>
          </a:prstGeom>
          <a:solidFill>
            <a:srgbClr val="93C47D"/>
          </a:solidFill>
          <a:ln w="952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/>
          </a:p>
        </p:txBody>
      </p:sp>
      <p:sp>
        <p:nvSpPr>
          <p:cNvPr id="7" name="Google Shape;1730;g60be7dcf1c_0_603">
            <a:extLst>
              <a:ext uri="{FF2B5EF4-FFF2-40B4-BE49-F238E27FC236}">
                <a16:creationId xmlns:a16="http://schemas.microsoft.com/office/drawing/2014/main" id="{F056224A-7B89-530E-1E54-8CA1C2B41ECA}"/>
              </a:ext>
            </a:extLst>
          </p:cNvPr>
          <p:cNvSpPr txBox="1"/>
          <p:nvPr/>
        </p:nvSpPr>
        <p:spPr>
          <a:xfrm>
            <a:off x="1615576" y="4866389"/>
            <a:ext cx="1623363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Matching lower bound for sparse demands!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0FB45384-FE45-7F8F-EA5A-CAB99B4B2339}"/>
              </a:ext>
            </a:extLst>
          </p:cNvPr>
          <p:cNvSpPr txBox="1"/>
          <p:nvPr/>
        </p:nvSpPr>
        <p:spPr>
          <a:xfrm>
            <a:off x="6992976" y="5276396"/>
            <a:ext cx="215675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Tight for sparse demands!</a:t>
            </a:r>
            <a:endParaRPr lang="de-DE" sz="2000" dirty="0"/>
          </a:p>
        </p:txBody>
      </p:sp>
      <p:sp>
        <p:nvSpPr>
          <p:cNvPr id="10" name="Google Shape;1730;g60be7dcf1c_0_603">
            <a:extLst>
              <a:ext uri="{FF2B5EF4-FFF2-40B4-BE49-F238E27FC236}">
                <a16:creationId xmlns:a16="http://schemas.microsoft.com/office/drawing/2014/main" id="{79600A2D-BFA9-36D0-5F32-B0C729ED02B2}"/>
              </a:ext>
            </a:extLst>
          </p:cNvPr>
          <p:cNvSpPr txBox="1"/>
          <p:nvPr/>
        </p:nvSpPr>
        <p:spPr>
          <a:xfrm>
            <a:off x="6601919" y="6491589"/>
            <a:ext cx="2156753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lnSpc>
                <a:spcPct val="115000"/>
              </a:lnSpc>
            </a:pPr>
            <a:r>
              <a:rPr lang="en-US" sz="1600" i="1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*O(H(X|Y)+H(Y|X)</a:t>
            </a:r>
            <a:endParaRPr lang="en-GB" sz="1600" b="1" dirty="0">
              <a:solidFill>
                <a:srgbClr val="CC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808228685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0">
          <a:extLst>
            <a:ext uri="{FF2B5EF4-FFF2-40B4-BE49-F238E27FC236}">
              <a16:creationId xmlns:a16="http://schemas.microsoft.com/office/drawing/2014/main" id="{3F3A48C4-2DCD-7662-46C8-44E20EB16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6" name="Gerader Verbinder 22">
            <a:extLst>
              <a:ext uri="{FF2B5EF4-FFF2-40B4-BE49-F238E27FC236}">
                <a16:creationId xmlns:a16="http://schemas.microsoft.com/office/drawing/2014/main" id="{13219928-D83D-AEFB-649F-2EAFF67966AF}"/>
              </a:ext>
            </a:extLst>
          </p:cNvPr>
          <p:cNvCxnSpPr/>
          <p:nvPr/>
        </p:nvCxnSpPr>
        <p:spPr>
          <a:xfrm flipV="1">
            <a:off x="6229904" y="3844136"/>
            <a:ext cx="1206505" cy="564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Gerader Verbinder 22">
            <a:extLst>
              <a:ext uri="{FF2B5EF4-FFF2-40B4-BE49-F238E27FC236}">
                <a16:creationId xmlns:a16="http://schemas.microsoft.com/office/drawing/2014/main" id="{B1856778-8622-747A-F9AC-84089248F666}"/>
              </a:ext>
            </a:extLst>
          </p:cNvPr>
          <p:cNvCxnSpPr>
            <a:stCxn id="111" idx="3"/>
            <a:endCxn id="112" idx="7"/>
          </p:cNvCxnSpPr>
          <p:nvPr/>
        </p:nvCxnSpPr>
        <p:spPr>
          <a:xfrm flipV="1">
            <a:off x="5389257" y="2776316"/>
            <a:ext cx="634012" cy="57154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Gerader Verbinder 22">
            <a:extLst>
              <a:ext uri="{FF2B5EF4-FFF2-40B4-BE49-F238E27FC236}">
                <a16:creationId xmlns:a16="http://schemas.microsoft.com/office/drawing/2014/main" id="{37F85B8C-0F9C-B891-62C7-A12D61B7C030}"/>
              </a:ext>
            </a:extLst>
          </p:cNvPr>
          <p:cNvCxnSpPr>
            <a:stCxn id="114" idx="1"/>
          </p:cNvCxnSpPr>
          <p:nvPr/>
        </p:nvCxnSpPr>
        <p:spPr>
          <a:xfrm flipH="1" flipV="1">
            <a:off x="5536480" y="3229333"/>
            <a:ext cx="707042" cy="57121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Gerader Verbinder 22">
            <a:extLst>
              <a:ext uri="{FF2B5EF4-FFF2-40B4-BE49-F238E27FC236}">
                <a16:creationId xmlns:a16="http://schemas.microsoft.com/office/drawing/2014/main" id="{AD202662-F342-5D53-C5CD-D006300257A0}"/>
              </a:ext>
            </a:extLst>
          </p:cNvPr>
          <p:cNvCxnSpPr/>
          <p:nvPr/>
        </p:nvCxnSpPr>
        <p:spPr>
          <a:xfrm flipH="1" flipV="1">
            <a:off x="5881445" y="2807560"/>
            <a:ext cx="823252" cy="4274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Google Shape;1580;g60be7dcf1c_0_473">
            <a:extLst>
              <a:ext uri="{FF2B5EF4-FFF2-40B4-BE49-F238E27FC236}">
                <a16:creationId xmlns:a16="http://schemas.microsoft.com/office/drawing/2014/main" id="{CD20F4AE-3A82-5E84-E277-59F9FAB427E5}"/>
              </a:ext>
            </a:extLst>
          </p:cNvPr>
          <p:cNvSpPr txBox="1"/>
          <p:nvPr/>
        </p:nvSpPr>
        <p:spPr>
          <a:xfrm>
            <a:off x="0" y="540000"/>
            <a:ext cx="8211000" cy="144000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57" name="Google Shape;1810;g60be7dcf1c_0_698">
            <a:extLst>
              <a:ext uri="{FF2B5EF4-FFF2-40B4-BE49-F238E27FC236}">
                <a16:creationId xmlns:a16="http://schemas.microsoft.com/office/drawing/2014/main" id="{926334D0-A087-19C2-E88A-E6C41BDFB5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3075" y="324175"/>
            <a:ext cx="6954274" cy="18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l">
              <a:buSzPts val="1100"/>
            </a:pPr>
            <a:r>
              <a:rPr lang="en-GB" sz="2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Related Problem:</a:t>
            </a:r>
            <a:br>
              <a:rPr lang="en-GB" sz="2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Virtual Network Embedding Problem (VNEP)</a:t>
            </a:r>
          </a:p>
        </p:txBody>
      </p:sp>
      <p:sp>
        <p:nvSpPr>
          <p:cNvPr id="111" name="Oval 44">
            <a:extLst>
              <a:ext uri="{FF2B5EF4-FFF2-40B4-BE49-F238E27FC236}">
                <a16:creationId xmlns:a16="http://schemas.microsoft.com/office/drawing/2014/main" id="{79996276-E189-90EA-1AAB-21440BE41784}"/>
              </a:ext>
            </a:extLst>
          </p:cNvPr>
          <p:cNvSpPr/>
          <p:nvPr/>
        </p:nvSpPr>
        <p:spPr>
          <a:xfrm>
            <a:off x="5357621" y="3163471"/>
            <a:ext cx="216024" cy="21602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12" name="Oval 44">
            <a:extLst>
              <a:ext uri="{FF2B5EF4-FFF2-40B4-BE49-F238E27FC236}">
                <a16:creationId xmlns:a16="http://schemas.microsoft.com/office/drawing/2014/main" id="{A9B5DAE5-D6F9-D41D-66DB-488B0A48A38A}"/>
              </a:ext>
            </a:extLst>
          </p:cNvPr>
          <p:cNvSpPr/>
          <p:nvPr/>
        </p:nvSpPr>
        <p:spPr>
          <a:xfrm>
            <a:off x="5838881" y="2744680"/>
            <a:ext cx="216024" cy="21602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13" name="Oval 44">
            <a:extLst>
              <a:ext uri="{FF2B5EF4-FFF2-40B4-BE49-F238E27FC236}">
                <a16:creationId xmlns:a16="http://schemas.microsoft.com/office/drawing/2014/main" id="{5E37D13B-C487-A949-A4C7-5B114DAA40C3}"/>
              </a:ext>
            </a:extLst>
          </p:cNvPr>
          <p:cNvSpPr/>
          <p:nvPr/>
        </p:nvSpPr>
        <p:spPr>
          <a:xfrm>
            <a:off x="6662133" y="3172084"/>
            <a:ext cx="216024" cy="21602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14" name="Oval 44">
            <a:extLst>
              <a:ext uri="{FF2B5EF4-FFF2-40B4-BE49-F238E27FC236}">
                <a16:creationId xmlns:a16="http://schemas.microsoft.com/office/drawing/2014/main" id="{E7EEBBB0-51E8-818B-6CE8-0ADFD3FAB6F0}"/>
              </a:ext>
            </a:extLst>
          </p:cNvPr>
          <p:cNvSpPr/>
          <p:nvPr/>
        </p:nvSpPr>
        <p:spPr>
          <a:xfrm>
            <a:off x="6211886" y="3768914"/>
            <a:ext cx="216024" cy="21602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17" name="Oval 44">
            <a:extLst>
              <a:ext uri="{FF2B5EF4-FFF2-40B4-BE49-F238E27FC236}">
                <a16:creationId xmlns:a16="http://schemas.microsoft.com/office/drawing/2014/main" id="{AB3821AC-40A5-A22D-1317-C7F126D646E4}"/>
              </a:ext>
            </a:extLst>
          </p:cNvPr>
          <p:cNvSpPr/>
          <p:nvPr/>
        </p:nvSpPr>
        <p:spPr>
          <a:xfrm>
            <a:off x="7258432" y="2744680"/>
            <a:ext cx="216024" cy="21602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18" name="Oval 44">
            <a:extLst>
              <a:ext uri="{FF2B5EF4-FFF2-40B4-BE49-F238E27FC236}">
                <a16:creationId xmlns:a16="http://schemas.microsoft.com/office/drawing/2014/main" id="{AC3F0EFD-72D1-1B57-29F0-9022A08D786B}"/>
              </a:ext>
            </a:extLst>
          </p:cNvPr>
          <p:cNvSpPr/>
          <p:nvPr/>
        </p:nvSpPr>
        <p:spPr>
          <a:xfrm>
            <a:off x="7463043" y="3725986"/>
            <a:ext cx="216024" cy="21602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cxnSp>
        <p:nvCxnSpPr>
          <p:cNvPr id="120" name="Gerader Verbinder 22">
            <a:extLst>
              <a:ext uri="{FF2B5EF4-FFF2-40B4-BE49-F238E27FC236}">
                <a16:creationId xmlns:a16="http://schemas.microsoft.com/office/drawing/2014/main" id="{94214D62-7231-0AD1-D64B-E588B6B204DC}"/>
              </a:ext>
            </a:extLst>
          </p:cNvPr>
          <p:cNvCxnSpPr>
            <a:stCxn id="114" idx="7"/>
            <a:endCxn id="113" idx="3"/>
          </p:cNvCxnSpPr>
          <p:nvPr/>
        </p:nvCxnSpPr>
        <p:spPr>
          <a:xfrm flipV="1">
            <a:off x="6396274" y="3356472"/>
            <a:ext cx="297495" cy="44407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Gerader Verbinder 22">
            <a:extLst>
              <a:ext uri="{FF2B5EF4-FFF2-40B4-BE49-F238E27FC236}">
                <a16:creationId xmlns:a16="http://schemas.microsoft.com/office/drawing/2014/main" id="{C22BF75D-FCC5-B6A7-9F2D-24D564BA5345}"/>
              </a:ext>
            </a:extLst>
          </p:cNvPr>
          <p:cNvCxnSpPr>
            <a:endCxn id="117" idx="3"/>
          </p:cNvCxnSpPr>
          <p:nvPr/>
        </p:nvCxnSpPr>
        <p:spPr>
          <a:xfrm flipV="1">
            <a:off x="6878157" y="2929068"/>
            <a:ext cx="411911" cy="30002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Gerader Verbinder 22">
            <a:extLst>
              <a:ext uri="{FF2B5EF4-FFF2-40B4-BE49-F238E27FC236}">
                <a16:creationId xmlns:a16="http://schemas.microsoft.com/office/drawing/2014/main" id="{F30931C9-8016-A0AE-18AE-D48E6927F46D}"/>
              </a:ext>
            </a:extLst>
          </p:cNvPr>
          <p:cNvCxnSpPr>
            <a:stCxn id="118" idx="0"/>
            <a:endCxn id="117" idx="4"/>
          </p:cNvCxnSpPr>
          <p:nvPr/>
        </p:nvCxnSpPr>
        <p:spPr>
          <a:xfrm flipH="1" flipV="1">
            <a:off x="7366444" y="2960704"/>
            <a:ext cx="204611" cy="7652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Gerader Verbinder 22">
            <a:extLst>
              <a:ext uri="{FF2B5EF4-FFF2-40B4-BE49-F238E27FC236}">
                <a16:creationId xmlns:a16="http://schemas.microsoft.com/office/drawing/2014/main" id="{D49AA0E6-0AAD-1EAC-5F1B-50B54736BAC1}"/>
              </a:ext>
            </a:extLst>
          </p:cNvPr>
          <p:cNvCxnSpPr>
            <a:endCxn id="135" idx="6"/>
          </p:cNvCxnSpPr>
          <p:nvPr/>
        </p:nvCxnSpPr>
        <p:spPr>
          <a:xfrm>
            <a:off x="5440034" y="4966244"/>
            <a:ext cx="25293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Oval 44">
            <a:extLst>
              <a:ext uri="{FF2B5EF4-FFF2-40B4-BE49-F238E27FC236}">
                <a16:creationId xmlns:a16="http://schemas.microsoft.com/office/drawing/2014/main" id="{AF01A31C-66A2-5F35-AE55-0F64A8ECE94C}"/>
              </a:ext>
            </a:extLst>
          </p:cNvPr>
          <p:cNvSpPr/>
          <p:nvPr/>
        </p:nvSpPr>
        <p:spPr>
          <a:xfrm>
            <a:off x="5332022" y="4858232"/>
            <a:ext cx="216024" cy="21602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28" name="Oval 44">
            <a:extLst>
              <a:ext uri="{FF2B5EF4-FFF2-40B4-BE49-F238E27FC236}">
                <a16:creationId xmlns:a16="http://schemas.microsoft.com/office/drawing/2014/main" id="{EED00EA2-0AF3-2322-46A6-0465081259C9}"/>
              </a:ext>
            </a:extLst>
          </p:cNvPr>
          <p:cNvSpPr/>
          <p:nvPr/>
        </p:nvSpPr>
        <p:spPr>
          <a:xfrm>
            <a:off x="5809921" y="4858232"/>
            <a:ext cx="216024" cy="21602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30" name="Oval 44">
            <a:extLst>
              <a:ext uri="{FF2B5EF4-FFF2-40B4-BE49-F238E27FC236}">
                <a16:creationId xmlns:a16="http://schemas.microsoft.com/office/drawing/2014/main" id="{E26BEFD8-6136-9B92-8271-E852BC67096B}"/>
              </a:ext>
            </a:extLst>
          </p:cNvPr>
          <p:cNvSpPr/>
          <p:nvPr/>
        </p:nvSpPr>
        <p:spPr>
          <a:xfrm>
            <a:off x="6300031" y="4858232"/>
            <a:ext cx="216024" cy="21602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32" name="Oval 44">
            <a:extLst>
              <a:ext uri="{FF2B5EF4-FFF2-40B4-BE49-F238E27FC236}">
                <a16:creationId xmlns:a16="http://schemas.microsoft.com/office/drawing/2014/main" id="{605851FD-5C43-ABCD-7331-994FEBA2E8FB}"/>
              </a:ext>
            </a:extLst>
          </p:cNvPr>
          <p:cNvSpPr/>
          <p:nvPr/>
        </p:nvSpPr>
        <p:spPr>
          <a:xfrm>
            <a:off x="6773115" y="4858232"/>
            <a:ext cx="216024" cy="21602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33" name="Oval 44">
            <a:extLst>
              <a:ext uri="{FF2B5EF4-FFF2-40B4-BE49-F238E27FC236}">
                <a16:creationId xmlns:a16="http://schemas.microsoft.com/office/drawing/2014/main" id="{AAEAE5BF-8A65-4A8A-9032-9AB92B704C0D}"/>
              </a:ext>
            </a:extLst>
          </p:cNvPr>
          <p:cNvSpPr/>
          <p:nvPr/>
        </p:nvSpPr>
        <p:spPr>
          <a:xfrm>
            <a:off x="7263225" y="4858232"/>
            <a:ext cx="216024" cy="21602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35" name="Oval 44">
            <a:extLst>
              <a:ext uri="{FF2B5EF4-FFF2-40B4-BE49-F238E27FC236}">
                <a16:creationId xmlns:a16="http://schemas.microsoft.com/office/drawing/2014/main" id="{8DD58A4E-9F33-AEAE-0813-40B575C445AB}"/>
              </a:ext>
            </a:extLst>
          </p:cNvPr>
          <p:cNvSpPr/>
          <p:nvPr/>
        </p:nvSpPr>
        <p:spPr>
          <a:xfrm>
            <a:off x="7753335" y="4858232"/>
            <a:ext cx="216024" cy="21602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2" name="Down Arrow 1">
            <a:extLst>
              <a:ext uri="{FF2B5EF4-FFF2-40B4-BE49-F238E27FC236}">
                <a16:creationId xmlns:a16="http://schemas.microsoft.com/office/drawing/2014/main" id="{FC84107D-1CEC-527C-D231-8401363E5A90}"/>
              </a:ext>
            </a:extLst>
          </p:cNvPr>
          <p:cNvSpPr/>
          <p:nvPr/>
        </p:nvSpPr>
        <p:spPr>
          <a:xfrm>
            <a:off x="5112190" y="4225222"/>
            <a:ext cx="3185013" cy="465702"/>
          </a:xfrm>
          <a:prstGeom prst="down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4" name="Google Shape;1817;g60be7dcf1c_0_698">
            <a:extLst>
              <a:ext uri="{FF2B5EF4-FFF2-40B4-BE49-F238E27FC236}">
                <a16:creationId xmlns:a16="http://schemas.microsoft.com/office/drawing/2014/main" id="{C55CCFE1-575B-0D01-B546-49F662D71DC9}"/>
              </a:ext>
            </a:extLst>
          </p:cNvPr>
          <p:cNvSpPr txBox="1"/>
          <p:nvPr/>
        </p:nvSpPr>
        <p:spPr>
          <a:xfrm>
            <a:off x="5890001" y="4222323"/>
            <a:ext cx="1704421" cy="348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GB" b="1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Embedding?</a:t>
            </a:r>
            <a:endParaRPr lang="en-GB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" name="Google Shape;1534;g60be7dcf1c_0_434">
            <a:extLst>
              <a:ext uri="{FF2B5EF4-FFF2-40B4-BE49-F238E27FC236}">
                <a16:creationId xmlns:a16="http://schemas.microsoft.com/office/drawing/2014/main" id="{312DBC25-F4A2-6B4E-C5BD-D1239835AE02}"/>
              </a:ext>
            </a:extLst>
          </p:cNvPr>
          <p:cNvSpPr txBox="1"/>
          <p:nvPr/>
        </p:nvSpPr>
        <p:spPr>
          <a:xfrm>
            <a:off x="887106" y="2561058"/>
            <a:ext cx="3585673" cy="882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Example </a:t>
            </a:r>
            <a:r>
              <a:rPr lang="en-AT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△=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2: A Minium Linear Arrangement (</a:t>
            </a:r>
            <a:r>
              <a:rPr lang="en-GB" sz="1600" b="1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MLA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Problem</a:t>
            </a:r>
          </a:p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⇀ 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Minimizes sum of virtual  </a:t>
            </a:r>
          </a:p>
          <a:p>
            <a:pPr lvl="0">
              <a:lnSpc>
                <a:spcPct val="115000"/>
              </a:lnSpc>
            </a:pP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edges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D14E453-D968-7128-D874-F0F8FC9AF1A2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E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7301775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0">
          <a:extLst>
            <a:ext uri="{FF2B5EF4-FFF2-40B4-BE49-F238E27FC236}">
              <a16:creationId xmlns:a16="http://schemas.microsoft.com/office/drawing/2014/main" id="{2D9F4431-1AD9-5B2A-8953-22DCF7024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6" name="Gerader Verbinder 22">
            <a:extLst>
              <a:ext uri="{FF2B5EF4-FFF2-40B4-BE49-F238E27FC236}">
                <a16:creationId xmlns:a16="http://schemas.microsoft.com/office/drawing/2014/main" id="{86380F8B-8EA4-76AE-185F-855D3D217ACB}"/>
              </a:ext>
            </a:extLst>
          </p:cNvPr>
          <p:cNvCxnSpPr/>
          <p:nvPr/>
        </p:nvCxnSpPr>
        <p:spPr>
          <a:xfrm flipV="1">
            <a:off x="6229904" y="3844136"/>
            <a:ext cx="1206505" cy="564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Gerader Verbinder 22">
            <a:extLst>
              <a:ext uri="{FF2B5EF4-FFF2-40B4-BE49-F238E27FC236}">
                <a16:creationId xmlns:a16="http://schemas.microsoft.com/office/drawing/2014/main" id="{A29F28FA-04C4-552F-3A80-04070C764ABF}"/>
              </a:ext>
            </a:extLst>
          </p:cNvPr>
          <p:cNvCxnSpPr>
            <a:stCxn id="111" idx="3"/>
            <a:endCxn id="112" idx="7"/>
          </p:cNvCxnSpPr>
          <p:nvPr/>
        </p:nvCxnSpPr>
        <p:spPr>
          <a:xfrm flipV="1">
            <a:off x="5389257" y="2776316"/>
            <a:ext cx="634012" cy="57154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Gerader Verbinder 22">
            <a:extLst>
              <a:ext uri="{FF2B5EF4-FFF2-40B4-BE49-F238E27FC236}">
                <a16:creationId xmlns:a16="http://schemas.microsoft.com/office/drawing/2014/main" id="{FC5E5AA8-7B6E-878B-4DBA-164BC543F03D}"/>
              </a:ext>
            </a:extLst>
          </p:cNvPr>
          <p:cNvCxnSpPr>
            <a:stCxn id="114" idx="1"/>
          </p:cNvCxnSpPr>
          <p:nvPr/>
        </p:nvCxnSpPr>
        <p:spPr>
          <a:xfrm flipH="1" flipV="1">
            <a:off x="5536480" y="3229333"/>
            <a:ext cx="707042" cy="57121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Gerader Verbinder 22">
            <a:extLst>
              <a:ext uri="{FF2B5EF4-FFF2-40B4-BE49-F238E27FC236}">
                <a16:creationId xmlns:a16="http://schemas.microsoft.com/office/drawing/2014/main" id="{6E927C92-67B1-5C01-9FDF-E5F1F30C9491}"/>
              </a:ext>
            </a:extLst>
          </p:cNvPr>
          <p:cNvCxnSpPr/>
          <p:nvPr/>
        </p:nvCxnSpPr>
        <p:spPr>
          <a:xfrm flipH="1" flipV="1">
            <a:off x="5881445" y="2807560"/>
            <a:ext cx="823252" cy="4274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Google Shape;1580;g60be7dcf1c_0_473">
            <a:extLst>
              <a:ext uri="{FF2B5EF4-FFF2-40B4-BE49-F238E27FC236}">
                <a16:creationId xmlns:a16="http://schemas.microsoft.com/office/drawing/2014/main" id="{CE198900-BA18-1BB2-BFED-A2F70ED43A36}"/>
              </a:ext>
            </a:extLst>
          </p:cNvPr>
          <p:cNvSpPr txBox="1"/>
          <p:nvPr/>
        </p:nvSpPr>
        <p:spPr>
          <a:xfrm>
            <a:off x="0" y="540000"/>
            <a:ext cx="8211000" cy="144000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57" name="Google Shape;1810;g60be7dcf1c_0_698">
            <a:extLst>
              <a:ext uri="{FF2B5EF4-FFF2-40B4-BE49-F238E27FC236}">
                <a16:creationId xmlns:a16="http://schemas.microsoft.com/office/drawing/2014/main" id="{379E1DD3-08AC-2C15-9773-D340801A1E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3075" y="324175"/>
            <a:ext cx="6954274" cy="18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l">
              <a:buSzPts val="1100"/>
            </a:pPr>
            <a:r>
              <a:rPr lang="en-GB" sz="2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Related Problem: </a:t>
            </a:r>
            <a:br>
              <a:rPr lang="en-GB" sz="2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Virtual Network Embedding Problem (VNEP)</a:t>
            </a:r>
          </a:p>
        </p:txBody>
      </p:sp>
      <p:cxnSp>
        <p:nvCxnSpPr>
          <p:cNvPr id="109" name="Gerader Verbinder 22">
            <a:extLst>
              <a:ext uri="{FF2B5EF4-FFF2-40B4-BE49-F238E27FC236}">
                <a16:creationId xmlns:a16="http://schemas.microsoft.com/office/drawing/2014/main" id="{737B6D6A-6025-7963-CAAE-8A93A56A5883}"/>
              </a:ext>
            </a:extLst>
          </p:cNvPr>
          <p:cNvCxnSpPr>
            <a:cxnSpLocks/>
            <a:stCxn id="111" idx="7"/>
          </p:cNvCxnSpPr>
          <p:nvPr/>
        </p:nvCxnSpPr>
        <p:spPr>
          <a:xfrm flipV="1">
            <a:off x="5542009" y="2909174"/>
            <a:ext cx="330371" cy="285933"/>
          </a:xfrm>
          <a:prstGeom prst="line">
            <a:avLst/>
          </a:prstGeom>
          <a:ln w="76200">
            <a:solidFill>
              <a:srgbClr val="FFC000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Oval 44">
            <a:extLst>
              <a:ext uri="{FF2B5EF4-FFF2-40B4-BE49-F238E27FC236}">
                <a16:creationId xmlns:a16="http://schemas.microsoft.com/office/drawing/2014/main" id="{593C169C-DB7E-AB37-A7C2-2D0F6E95D204}"/>
              </a:ext>
            </a:extLst>
          </p:cNvPr>
          <p:cNvSpPr/>
          <p:nvPr/>
        </p:nvSpPr>
        <p:spPr>
          <a:xfrm>
            <a:off x="5357621" y="3163471"/>
            <a:ext cx="216024" cy="21602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12" name="Oval 44">
            <a:extLst>
              <a:ext uri="{FF2B5EF4-FFF2-40B4-BE49-F238E27FC236}">
                <a16:creationId xmlns:a16="http://schemas.microsoft.com/office/drawing/2014/main" id="{755A7743-CED1-C799-02B7-1DE87DE10506}"/>
              </a:ext>
            </a:extLst>
          </p:cNvPr>
          <p:cNvSpPr/>
          <p:nvPr/>
        </p:nvSpPr>
        <p:spPr>
          <a:xfrm>
            <a:off x="5838881" y="2744680"/>
            <a:ext cx="216024" cy="21602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13" name="Oval 44">
            <a:extLst>
              <a:ext uri="{FF2B5EF4-FFF2-40B4-BE49-F238E27FC236}">
                <a16:creationId xmlns:a16="http://schemas.microsoft.com/office/drawing/2014/main" id="{B5A335B1-1BDA-9AFA-2B87-1EDE663E6FE0}"/>
              </a:ext>
            </a:extLst>
          </p:cNvPr>
          <p:cNvSpPr/>
          <p:nvPr/>
        </p:nvSpPr>
        <p:spPr>
          <a:xfrm>
            <a:off x="6662133" y="3172084"/>
            <a:ext cx="216024" cy="21602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14" name="Oval 44">
            <a:extLst>
              <a:ext uri="{FF2B5EF4-FFF2-40B4-BE49-F238E27FC236}">
                <a16:creationId xmlns:a16="http://schemas.microsoft.com/office/drawing/2014/main" id="{41A8CA3D-E417-03CB-C018-842600614920}"/>
              </a:ext>
            </a:extLst>
          </p:cNvPr>
          <p:cNvSpPr/>
          <p:nvPr/>
        </p:nvSpPr>
        <p:spPr>
          <a:xfrm>
            <a:off x="6211886" y="3768914"/>
            <a:ext cx="216024" cy="21602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17" name="Oval 44">
            <a:extLst>
              <a:ext uri="{FF2B5EF4-FFF2-40B4-BE49-F238E27FC236}">
                <a16:creationId xmlns:a16="http://schemas.microsoft.com/office/drawing/2014/main" id="{668752DC-ACD5-4EC5-15E1-1387390B36E6}"/>
              </a:ext>
            </a:extLst>
          </p:cNvPr>
          <p:cNvSpPr/>
          <p:nvPr/>
        </p:nvSpPr>
        <p:spPr>
          <a:xfrm>
            <a:off x="7258432" y="2744680"/>
            <a:ext cx="216024" cy="21602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18" name="Oval 44">
            <a:extLst>
              <a:ext uri="{FF2B5EF4-FFF2-40B4-BE49-F238E27FC236}">
                <a16:creationId xmlns:a16="http://schemas.microsoft.com/office/drawing/2014/main" id="{19B69D27-436B-B782-D829-6FD5F2733AF8}"/>
              </a:ext>
            </a:extLst>
          </p:cNvPr>
          <p:cNvSpPr/>
          <p:nvPr/>
        </p:nvSpPr>
        <p:spPr>
          <a:xfrm>
            <a:off x="7463043" y="3725986"/>
            <a:ext cx="216024" cy="21602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cxnSp>
        <p:nvCxnSpPr>
          <p:cNvPr id="120" name="Gerader Verbinder 22">
            <a:extLst>
              <a:ext uri="{FF2B5EF4-FFF2-40B4-BE49-F238E27FC236}">
                <a16:creationId xmlns:a16="http://schemas.microsoft.com/office/drawing/2014/main" id="{A624DAA5-4058-47F2-9A3D-B9AB2F606B03}"/>
              </a:ext>
            </a:extLst>
          </p:cNvPr>
          <p:cNvCxnSpPr>
            <a:stCxn id="114" idx="7"/>
            <a:endCxn id="113" idx="3"/>
          </p:cNvCxnSpPr>
          <p:nvPr/>
        </p:nvCxnSpPr>
        <p:spPr>
          <a:xfrm flipV="1">
            <a:off x="6396274" y="3356472"/>
            <a:ext cx="297495" cy="44407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Gerader Verbinder 22">
            <a:extLst>
              <a:ext uri="{FF2B5EF4-FFF2-40B4-BE49-F238E27FC236}">
                <a16:creationId xmlns:a16="http://schemas.microsoft.com/office/drawing/2014/main" id="{5950819F-6EFA-E9DC-681C-FF32E44AEBBE}"/>
              </a:ext>
            </a:extLst>
          </p:cNvPr>
          <p:cNvCxnSpPr>
            <a:endCxn id="117" idx="3"/>
          </p:cNvCxnSpPr>
          <p:nvPr/>
        </p:nvCxnSpPr>
        <p:spPr>
          <a:xfrm flipV="1">
            <a:off x="6878157" y="2929068"/>
            <a:ext cx="411911" cy="30002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Gerader Verbinder 22">
            <a:extLst>
              <a:ext uri="{FF2B5EF4-FFF2-40B4-BE49-F238E27FC236}">
                <a16:creationId xmlns:a16="http://schemas.microsoft.com/office/drawing/2014/main" id="{E56AC9DF-FFDB-0A3F-79A9-D5194ED5ECD9}"/>
              </a:ext>
            </a:extLst>
          </p:cNvPr>
          <p:cNvCxnSpPr>
            <a:stCxn id="118" idx="0"/>
            <a:endCxn id="117" idx="4"/>
          </p:cNvCxnSpPr>
          <p:nvPr/>
        </p:nvCxnSpPr>
        <p:spPr>
          <a:xfrm flipH="1" flipV="1">
            <a:off x="7366444" y="2960704"/>
            <a:ext cx="204611" cy="7652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Gerader Verbinder 22">
            <a:extLst>
              <a:ext uri="{FF2B5EF4-FFF2-40B4-BE49-F238E27FC236}">
                <a16:creationId xmlns:a16="http://schemas.microsoft.com/office/drawing/2014/main" id="{0C42903D-A130-3A0F-6121-49C3BDE64D2C}"/>
              </a:ext>
            </a:extLst>
          </p:cNvPr>
          <p:cNvCxnSpPr>
            <a:endCxn id="135" idx="6"/>
          </p:cNvCxnSpPr>
          <p:nvPr/>
        </p:nvCxnSpPr>
        <p:spPr>
          <a:xfrm>
            <a:off x="5440034" y="4966244"/>
            <a:ext cx="25293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Oval 44">
            <a:extLst>
              <a:ext uri="{FF2B5EF4-FFF2-40B4-BE49-F238E27FC236}">
                <a16:creationId xmlns:a16="http://schemas.microsoft.com/office/drawing/2014/main" id="{C76BC37C-A3C8-B888-4E43-A1BC3A1EBFFF}"/>
              </a:ext>
            </a:extLst>
          </p:cNvPr>
          <p:cNvSpPr/>
          <p:nvPr/>
        </p:nvSpPr>
        <p:spPr>
          <a:xfrm>
            <a:off x="5332022" y="4858232"/>
            <a:ext cx="216024" cy="21602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28" name="Oval 44">
            <a:extLst>
              <a:ext uri="{FF2B5EF4-FFF2-40B4-BE49-F238E27FC236}">
                <a16:creationId xmlns:a16="http://schemas.microsoft.com/office/drawing/2014/main" id="{52FF009C-ED44-B406-869F-F438ED5BAF92}"/>
              </a:ext>
            </a:extLst>
          </p:cNvPr>
          <p:cNvSpPr/>
          <p:nvPr/>
        </p:nvSpPr>
        <p:spPr>
          <a:xfrm>
            <a:off x="5809921" y="4858232"/>
            <a:ext cx="216024" cy="21602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30" name="Oval 44">
            <a:extLst>
              <a:ext uri="{FF2B5EF4-FFF2-40B4-BE49-F238E27FC236}">
                <a16:creationId xmlns:a16="http://schemas.microsoft.com/office/drawing/2014/main" id="{79F0A3BB-D827-411B-BB02-D38F44B91A63}"/>
              </a:ext>
            </a:extLst>
          </p:cNvPr>
          <p:cNvSpPr/>
          <p:nvPr/>
        </p:nvSpPr>
        <p:spPr>
          <a:xfrm>
            <a:off x="6300031" y="4858232"/>
            <a:ext cx="216024" cy="21602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32" name="Oval 44">
            <a:extLst>
              <a:ext uri="{FF2B5EF4-FFF2-40B4-BE49-F238E27FC236}">
                <a16:creationId xmlns:a16="http://schemas.microsoft.com/office/drawing/2014/main" id="{68775EF8-21A3-8F8D-88FE-91330C5E885E}"/>
              </a:ext>
            </a:extLst>
          </p:cNvPr>
          <p:cNvSpPr/>
          <p:nvPr/>
        </p:nvSpPr>
        <p:spPr>
          <a:xfrm>
            <a:off x="6773115" y="4858232"/>
            <a:ext cx="216024" cy="21602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33" name="Oval 44">
            <a:extLst>
              <a:ext uri="{FF2B5EF4-FFF2-40B4-BE49-F238E27FC236}">
                <a16:creationId xmlns:a16="http://schemas.microsoft.com/office/drawing/2014/main" id="{A447E857-589A-40EC-1FBA-137BF2D829DA}"/>
              </a:ext>
            </a:extLst>
          </p:cNvPr>
          <p:cNvSpPr/>
          <p:nvPr/>
        </p:nvSpPr>
        <p:spPr>
          <a:xfrm>
            <a:off x="7263225" y="4858232"/>
            <a:ext cx="216024" cy="21602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35" name="Oval 44">
            <a:extLst>
              <a:ext uri="{FF2B5EF4-FFF2-40B4-BE49-F238E27FC236}">
                <a16:creationId xmlns:a16="http://schemas.microsoft.com/office/drawing/2014/main" id="{5CCC8C96-3ADB-B29B-F1C8-E6DCFF1F6721}"/>
              </a:ext>
            </a:extLst>
          </p:cNvPr>
          <p:cNvSpPr/>
          <p:nvPr/>
        </p:nvSpPr>
        <p:spPr>
          <a:xfrm>
            <a:off x="7753335" y="4858232"/>
            <a:ext cx="216024" cy="21602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cxnSp>
        <p:nvCxnSpPr>
          <p:cNvPr id="136" name="Gerader Verbinder 22">
            <a:extLst>
              <a:ext uri="{FF2B5EF4-FFF2-40B4-BE49-F238E27FC236}">
                <a16:creationId xmlns:a16="http://schemas.microsoft.com/office/drawing/2014/main" id="{C92EB147-69FB-BBB5-346F-14F8EC895E9B}"/>
              </a:ext>
            </a:extLst>
          </p:cNvPr>
          <p:cNvCxnSpPr>
            <a:stCxn id="127" idx="0"/>
            <a:endCxn id="111" idx="4"/>
          </p:cNvCxnSpPr>
          <p:nvPr/>
        </p:nvCxnSpPr>
        <p:spPr>
          <a:xfrm flipV="1">
            <a:off x="5440034" y="3379495"/>
            <a:ext cx="25599" cy="1478737"/>
          </a:xfrm>
          <a:prstGeom prst="line">
            <a:avLst/>
          </a:prstGeom>
          <a:ln>
            <a:solidFill>
              <a:schemeClr val="tx1"/>
            </a:solidFill>
            <a:prstDash val="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Gerader Verbinder 22">
            <a:extLst>
              <a:ext uri="{FF2B5EF4-FFF2-40B4-BE49-F238E27FC236}">
                <a16:creationId xmlns:a16="http://schemas.microsoft.com/office/drawing/2014/main" id="{32757DFA-8BD6-C555-0563-61F2A7F676A3}"/>
              </a:ext>
            </a:extLst>
          </p:cNvPr>
          <p:cNvCxnSpPr>
            <a:endCxn id="112" idx="4"/>
          </p:cNvCxnSpPr>
          <p:nvPr/>
        </p:nvCxnSpPr>
        <p:spPr>
          <a:xfrm flipH="1" flipV="1">
            <a:off x="5946893" y="2960704"/>
            <a:ext cx="1788709" cy="1819114"/>
          </a:xfrm>
          <a:prstGeom prst="line">
            <a:avLst/>
          </a:prstGeom>
          <a:ln>
            <a:solidFill>
              <a:schemeClr val="tx1"/>
            </a:solidFill>
            <a:prstDash val="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Gerader Verbinder 22">
            <a:extLst>
              <a:ext uri="{FF2B5EF4-FFF2-40B4-BE49-F238E27FC236}">
                <a16:creationId xmlns:a16="http://schemas.microsoft.com/office/drawing/2014/main" id="{025DD426-B547-F01B-A1B7-91B86BFBF433}"/>
              </a:ext>
            </a:extLst>
          </p:cNvPr>
          <p:cNvCxnSpPr>
            <a:stCxn id="130" idx="0"/>
          </p:cNvCxnSpPr>
          <p:nvPr/>
        </p:nvCxnSpPr>
        <p:spPr>
          <a:xfrm flipH="1" flipV="1">
            <a:off x="6325138" y="3988501"/>
            <a:ext cx="82905" cy="869731"/>
          </a:xfrm>
          <a:prstGeom prst="line">
            <a:avLst/>
          </a:prstGeom>
          <a:ln>
            <a:solidFill>
              <a:schemeClr val="tx1"/>
            </a:solidFill>
            <a:prstDash val="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Gerader Verbinder 22">
            <a:extLst>
              <a:ext uri="{FF2B5EF4-FFF2-40B4-BE49-F238E27FC236}">
                <a16:creationId xmlns:a16="http://schemas.microsoft.com/office/drawing/2014/main" id="{A4610D63-E3F6-F679-A62F-36C8DC4FFEFE}"/>
              </a:ext>
            </a:extLst>
          </p:cNvPr>
          <p:cNvCxnSpPr>
            <a:stCxn id="132" idx="0"/>
          </p:cNvCxnSpPr>
          <p:nvPr/>
        </p:nvCxnSpPr>
        <p:spPr>
          <a:xfrm flipH="1" flipV="1">
            <a:off x="6776549" y="3356473"/>
            <a:ext cx="104578" cy="1501759"/>
          </a:xfrm>
          <a:prstGeom prst="line">
            <a:avLst/>
          </a:prstGeom>
          <a:ln>
            <a:solidFill>
              <a:schemeClr val="tx1"/>
            </a:solidFill>
            <a:prstDash val="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Gerader Verbinder 22">
            <a:extLst>
              <a:ext uri="{FF2B5EF4-FFF2-40B4-BE49-F238E27FC236}">
                <a16:creationId xmlns:a16="http://schemas.microsoft.com/office/drawing/2014/main" id="{8D705C64-7792-E94B-D091-33C1AA529B1C}"/>
              </a:ext>
            </a:extLst>
          </p:cNvPr>
          <p:cNvCxnSpPr>
            <a:stCxn id="133" idx="0"/>
            <a:endCxn id="117" idx="4"/>
          </p:cNvCxnSpPr>
          <p:nvPr/>
        </p:nvCxnSpPr>
        <p:spPr>
          <a:xfrm flipH="1" flipV="1">
            <a:off x="7366444" y="2960704"/>
            <a:ext cx="4793" cy="1897528"/>
          </a:xfrm>
          <a:prstGeom prst="line">
            <a:avLst/>
          </a:prstGeom>
          <a:ln>
            <a:solidFill>
              <a:schemeClr val="tx1"/>
            </a:solidFill>
            <a:prstDash val="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Gerader Verbinder 22">
            <a:extLst>
              <a:ext uri="{FF2B5EF4-FFF2-40B4-BE49-F238E27FC236}">
                <a16:creationId xmlns:a16="http://schemas.microsoft.com/office/drawing/2014/main" id="{924C8CFC-2DD0-8997-B1C0-B4D93AAF0D6A}"/>
              </a:ext>
            </a:extLst>
          </p:cNvPr>
          <p:cNvCxnSpPr>
            <a:stCxn id="128" idx="0"/>
            <a:endCxn id="118" idx="3"/>
          </p:cNvCxnSpPr>
          <p:nvPr/>
        </p:nvCxnSpPr>
        <p:spPr>
          <a:xfrm flipV="1">
            <a:off x="5917933" y="3910374"/>
            <a:ext cx="1576746" cy="947858"/>
          </a:xfrm>
          <a:prstGeom prst="line">
            <a:avLst/>
          </a:prstGeom>
          <a:ln>
            <a:solidFill>
              <a:schemeClr val="tx1"/>
            </a:solidFill>
            <a:prstDash val="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Google Shape;1817;g60be7dcf1c_0_698">
            <a:extLst>
              <a:ext uri="{FF2B5EF4-FFF2-40B4-BE49-F238E27FC236}">
                <a16:creationId xmlns:a16="http://schemas.microsoft.com/office/drawing/2014/main" id="{102D04F8-6CE3-C921-5377-0949A4E5AC03}"/>
              </a:ext>
            </a:extLst>
          </p:cNvPr>
          <p:cNvSpPr txBox="1"/>
          <p:nvPr/>
        </p:nvSpPr>
        <p:spPr>
          <a:xfrm>
            <a:off x="5070563" y="2729538"/>
            <a:ext cx="696600" cy="332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GB" sz="1000" b="1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cost 5</a:t>
            </a:r>
            <a:endParaRPr lang="en-GB" sz="1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" name="Google Shape;1817;g60be7dcf1c_0_698">
            <a:extLst>
              <a:ext uri="{FF2B5EF4-FFF2-40B4-BE49-F238E27FC236}">
                <a16:creationId xmlns:a16="http://schemas.microsoft.com/office/drawing/2014/main" id="{C44E096B-A709-B4DC-D0E1-BD7F5661602D}"/>
              </a:ext>
            </a:extLst>
          </p:cNvPr>
          <p:cNvSpPr txBox="1"/>
          <p:nvPr/>
        </p:nvSpPr>
        <p:spPr>
          <a:xfrm>
            <a:off x="7735602" y="3510445"/>
            <a:ext cx="1475098" cy="516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GB" sz="2400" i="1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Bad!</a:t>
            </a:r>
            <a:endParaRPr lang="en-GB" sz="2400" i="1" dirty="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8" name="Gerader Verbinder 22">
            <a:extLst>
              <a:ext uri="{FF2B5EF4-FFF2-40B4-BE49-F238E27FC236}">
                <a16:creationId xmlns:a16="http://schemas.microsoft.com/office/drawing/2014/main" id="{C04BBE0B-1DC2-EB96-8982-263CE92CB43D}"/>
              </a:ext>
            </a:extLst>
          </p:cNvPr>
          <p:cNvCxnSpPr>
            <a:cxnSpLocks/>
            <a:stCxn id="127" idx="6"/>
            <a:endCxn id="135" idx="2"/>
          </p:cNvCxnSpPr>
          <p:nvPr/>
        </p:nvCxnSpPr>
        <p:spPr>
          <a:xfrm>
            <a:off x="5548046" y="4966244"/>
            <a:ext cx="2205289" cy="0"/>
          </a:xfrm>
          <a:prstGeom prst="line">
            <a:avLst/>
          </a:prstGeom>
          <a:ln w="76200">
            <a:solidFill>
              <a:srgbClr val="FFC000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Google Shape;1534;g60be7dcf1c_0_434">
            <a:extLst>
              <a:ext uri="{FF2B5EF4-FFF2-40B4-BE49-F238E27FC236}">
                <a16:creationId xmlns:a16="http://schemas.microsoft.com/office/drawing/2014/main" id="{5E0CA7C9-A54B-B5E0-7E93-7598EC75A4A6}"/>
              </a:ext>
            </a:extLst>
          </p:cNvPr>
          <p:cNvSpPr txBox="1"/>
          <p:nvPr/>
        </p:nvSpPr>
        <p:spPr>
          <a:xfrm>
            <a:off x="887106" y="2561058"/>
            <a:ext cx="3585673" cy="882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Example </a:t>
            </a:r>
            <a:r>
              <a:rPr lang="en-AT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△=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2: A Minium Linear Arrangement (</a:t>
            </a:r>
            <a:r>
              <a:rPr lang="en-GB" sz="1600" b="1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MLA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Problem</a:t>
            </a:r>
          </a:p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⇀ 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Minimizes sum of virtual  </a:t>
            </a:r>
          </a:p>
          <a:p>
            <a:pPr lvl="0">
              <a:lnSpc>
                <a:spcPct val="115000"/>
              </a:lnSpc>
            </a:pP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edges</a:t>
            </a:r>
          </a:p>
        </p:txBody>
      </p:sp>
      <p:sp>
        <p:nvSpPr>
          <p:cNvPr id="2" name="Rectangle 28">
            <a:extLst>
              <a:ext uri="{FF2B5EF4-FFF2-40B4-BE49-F238E27FC236}">
                <a16:creationId xmlns:a16="http://schemas.microsoft.com/office/drawing/2014/main" id="{69B4456F-2639-81B6-74BE-D9CDC292AA41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E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211436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0">
          <a:extLst>
            <a:ext uri="{FF2B5EF4-FFF2-40B4-BE49-F238E27FC236}">
              <a16:creationId xmlns:a16="http://schemas.microsoft.com/office/drawing/2014/main" id="{4DCD83D2-9E07-417C-7EB0-B9AD1139E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6" name="Gerader Verbinder 22">
            <a:extLst>
              <a:ext uri="{FF2B5EF4-FFF2-40B4-BE49-F238E27FC236}">
                <a16:creationId xmlns:a16="http://schemas.microsoft.com/office/drawing/2014/main" id="{76D61340-9389-BCC2-FD0D-6F91774FFCC0}"/>
              </a:ext>
            </a:extLst>
          </p:cNvPr>
          <p:cNvCxnSpPr/>
          <p:nvPr/>
        </p:nvCxnSpPr>
        <p:spPr>
          <a:xfrm flipV="1">
            <a:off x="6229904" y="3844136"/>
            <a:ext cx="1206505" cy="564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Gerader Verbinder 22">
            <a:extLst>
              <a:ext uri="{FF2B5EF4-FFF2-40B4-BE49-F238E27FC236}">
                <a16:creationId xmlns:a16="http://schemas.microsoft.com/office/drawing/2014/main" id="{49FF037C-2A0D-AAA7-AD02-545D9FC4FC98}"/>
              </a:ext>
            </a:extLst>
          </p:cNvPr>
          <p:cNvCxnSpPr>
            <a:stCxn id="111" idx="3"/>
            <a:endCxn id="112" idx="7"/>
          </p:cNvCxnSpPr>
          <p:nvPr/>
        </p:nvCxnSpPr>
        <p:spPr>
          <a:xfrm flipV="1">
            <a:off x="5389257" y="2776316"/>
            <a:ext cx="634012" cy="57154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Gerader Verbinder 22">
            <a:extLst>
              <a:ext uri="{FF2B5EF4-FFF2-40B4-BE49-F238E27FC236}">
                <a16:creationId xmlns:a16="http://schemas.microsoft.com/office/drawing/2014/main" id="{026EA41A-C841-D2B9-8F47-42ABC40DA075}"/>
              </a:ext>
            </a:extLst>
          </p:cNvPr>
          <p:cNvCxnSpPr>
            <a:stCxn id="114" idx="1"/>
          </p:cNvCxnSpPr>
          <p:nvPr/>
        </p:nvCxnSpPr>
        <p:spPr>
          <a:xfrm flipH="1" flipV="1">
            <a:off x="5536480" y="3229333"/>
            <a:ext cx="707042" cy="57121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Gerader Verbinder 22">
            <a:extLst>
              <a:ext uri="{FF2B5EF4-FFF2-40B4-BE49-F238E27FC236}">
                <a16:creationId xmlns:a16="http://schemas.microsoft.com/office/drawing/2014/main" id="{31ACAF5C-FB5D-B22E-0DC4-7377766BE7E6}"/>
              </a:ext>
            </a:extLst>
          </p:cNvPr>
          <p:cNvCxnSpPr/>
          <p:nvPr/>
        </p:nvCxnSpPr>
        <p:spPr>
          <a:xfrm flipH="1" flipV="1">
            <a:off x="5881445" y="2807560"/>
            <a:ext cx="823252" cy="4274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Google Shape;1580;g60be7dcf1c_0_473">
            <a:extLst>
              <a:ext uri="{FF2B5EF4-FFF2-40B4-BE49-F238E27FC236}">
                <a16:creationId xmlns:a16="http://schemas.microsoft.com/office/drawing/2014/main" id="{A01213E7-C10B-425F-5B8E-0C7707A35C3C}"/>
              </a:ext>
            </a:extLst>
          </p:cNvPr>
          <p:cNvSpPr txBox="1"/>
          <p:nvPr/>
        </p:nvSpPr>
        <p:spPr>
          <a:xfrm>
            <a:off x="0" y="540000"/>
            <a:ext cx="8211000" cy="144000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57" name="Google Shape;1810;g60be7dcf1c_0_698">
            <a:extLst>
              <a:ext uri="{FF2B5EF4-FFF2-40B4-BE49-F238E27FC236}">
                <a16:creationId xmlns:a16="http://schemas.microsoft.com/office/drawing/2014/main" id="{6B930941-CEE5-4CE3-2A18-B32C8DA700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3075" y="324175"/>
            <a:ext cx="6954274" cy="18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l">
              <a:buSzPts val="1100"/>
            </a:pPr>
            <a:r>
              <a:rPr lang="en-GB" sz="2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Related Problem:</a:t>
            </a:r>
            <a:br>
              <a:rPr lang="en-GB" sz="2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Virtual Network Embedding Problem (VNEP)</a:t>
            </a:r>
          </a:p>
        </p:txBody>
      </p:sp>
      <p:cxnSp>
        <p:nvCxnSpPr>
          <p:cNvPr id="109" name="Gerader Verbinder 22">
            <a:extLst>
              <a:ext uri="{FF2B5EF4-FFF2-40B4-BE49-F238E27FC236}">
                <a16:creationId xmlns:a16="http://schemas.microsoft.com/office/drawing/2014/main" id="{DF9D5417-259F-B302-3A95-DAC4FB47B5E1}"/>
              </a:ext>
            </a:extLst>
          </p:cNvPr>
          <p:cNvCxnSpPr>
            <a:cxnSpLocks/>
            <a:stCxn id="111" idx="7"/>
          </p:cNvCxnSpPr>
          <p:nvPr/>
        </p:nvCxnSpPr>
        <p:spPr>
          <a:xfrm flipV="1">
            <a:off x="5542009" y="2909174"/>
            <a:ext cx="330371" cy="285933"/>
          </a:xfrm>
          <a:prstGeom prst="line">
            <a:avLst/>
          </a:prstGeom>
          <a:ln w="76200">
            <a:solidFill>
              <a:srgbClr val="FFC000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Oval 44">
            <a:extLst>
              <a:ext uri="{FF2B5EF4-FFF2-40B4-BE49-F238E27FC236}">
                <a16:creationId xmlns:a16="http://schemas.microsoft.com/office/drawing/2014/main" id="{9C7D5388-D87F-7702-BB18-9DCB2AD320BB}"/>
              </a:ext>
            </a:extLst>
          </p:cNvPr>
          <p:cNvSpPr/>
          <p:nvPr/>
        </p:nvSpPr>
        <p:spPr>
          <a:xfrm>
            <a:off x="5357621" y="3163471"/>
            <a:ext cx="216024" cy="21602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12" name="Oval 44">
            <a:extLst>
              <a:ext uri="{FF2B5EF4-FFF2-40B4-BE49-F238E27FC236}">
                <a16:creationId xmlns:a16="http://schemas.microsoft.com/office/drawing/2014/main" id="{CAECAF19-91B7-FC8C-337B-63A54A6B41A0}"/>
              </a:ext>
            </a:extLst>
          </p:cNvPr>
          <p:cNvSpPr/>
          <p:nvPr/>
        </p:nvSpPr>
        <p:spPr>
          <a:xfrm>
            <a:off x="5838881" y="2744680"/>
            <a:ext cx="216024" cy="21602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13" name="Oval 44">
            <a:extLst>
              <a:ext uri="{FF2B5EF4-FFF2-40B4-BE49-F238E27FC236}">
                <a16:creationId xmlns:a16="http://schemas.microsoft.com/office/drawing/2014/main" id="{D9D18306-2D3C-1D09-B7FD-CA72BF3F4459}"/>
              </a:ext>
            </a:extLst>
          </p:cNvPr>
          <p:cNvSpPr/>
          <p:nvPr/>
        </p:nvSpPr>
        <p:spPr>
          <a:xfrm>
            <a:off x="6662133" y="3172084"/>
            <a:ext cx="216024" cy="21602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14" name="Oval 44">
            <a:extLst>
              <a:ext uri="{FF2B5EF4-FFF2-40B4-BE49-F238E27FC236}">
                <a16:creationId xmlns:a16="http://schemas.microsoft.com/office/drawing/2014/main" id="{B0B300D9-1789-3EA7-8C43-0A86A68F8532}"/>
              </a:ext>
            </a:extLst>
          </p:cNvPr>
          <p:cNvSpPr/>
          <p:nvPr/>
        </p:nvSpPr>
        <p:spPr>
          <a:xfrm>
            <a:off x="6211886" y="3768914"/>
            <a:ext cx="216024" cy="21602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17" name="Oval 44">
            <a:extLst>
              <a:ext uri="{FF2B5EF4-FFF2-40B4-BE49-F238E27FC236}">
                <a16:creationId xmlns:a16="http://schemas.microsoft.com/office/drawing/2014/main" id="{F75086DD-0F18-06F8-7C52-3F68798C3D94}"/>
              </a:ext>
            </a:extLst>
          </p:cNvPr>
          <p:cNvSpPr/>
          <p:nvPr/>
        </p:nvSpPr>
        <p:spPr>
          <a:xfrm>
            <a:off x="7258432" y="2744680"/>
            <a:ext cx="216024" cy="21602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18" name="Oval 44">
            <a:extLst>
              <a:ext uri="{FF2B5EF4-FFF2-40B4-BE49-F238E27FC236}">
                <a16:creationId xmlns:a16="http://schemas.microsoft.com/office/drawing/2014/main" id="{DFD28DAE-BFC5-CAFC-FAFD-E622D1D17777}"/>
              </a:ext>
            </a:extLst>
          </p:cNvPr>
          <p:cNvSpPr/>
          <p:nvPr/>
        </p:nvSpPr>
        <p:spPr>
          <a:xfrm>
            <a:off x="7463043" y="3725986"/>
            <a:ext cx="216024" cy="21602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cxnSp>
        <p:nvCxnSpPr>
          <p:cNvPr id="120" name="Gerader Verbinder 22">
            <a:extLst>
              <a:ext uri="{FF2B5EF4-FFF2-40B4-BE49-F238E27FC236}">
                <a16:creationId xmlns:a16="http://schemas.microsoft.com/office/drawing/2014/main" id="{69138609-50B3-6363-C7D5-7B4C6EB32684}"/>
              </a:ext>
            </a:extLst>
          </p:cNvPr>
          <p:cNvCxnSpPr>
            <a:stCxn id="114" idx="7"/>
            <a:endCxn id="113" idx="3"/>
          </p:cNvCxnSpPr>
          <p:nvPr/>
        </p:nvCxnSpPr>
        <p:spPr>
          <a:xfrm flipV="1">
            <a:off x="6396274" y="3356472"/>
            <a:ext cx="297495" cy="44407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Gerader Verbinder 22">
            <a:extLst>
              <a:ext uri="{FF2B5EF4-FFF2-40B4-BE49-F238E27FC236}">
                <a16:creationId xmlns:a16="http://schemas.microsoft.com/office/drawing/2014/main" id="{BFE57E42-06FA-EA64-ED1E-9AB68BCBF63F}"/>
              </a:ext>
            </a:extLst>
          </p:cNvPr>
          <p:cNvCxnSpPr>
            <a:endCxn id="117" idx="3"/>
          </p:cNvCxnSpPr>
          <p:nvPr/>
        </p:nvCxnSpPr>
        <p:spPr>
          <a:xfrm flipV="1">
            <a:off x="6878157" y="2929068"/>
            <a:ext cx="411911" cy="30002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Gerader Verbinder 22">
            <a:extLst>
              <a:ext uri="{FF2B5EF4-FFF2-40B4-BE49-F238E27FC236}">
                <a16:creationId xmlns:a16="http://schemas.microsoft.com/office/drawing/2014/main" id="{FA878FC9-5500-A22B-1E54-261D21C1A13D}"/>
              </a:ext>
            </a:extLst>
          </p:cNvPr>
          <p:cNvCxnSpPr>
            <a:stCxn id="118" idx="0"/>
            <a:endCxn id="117" idx="4"/>
          </p:cNvCxnSpPr>
          <p:nvPr/>
        </p:nvCxnSpPr>
        <p:spPr>
          <a:xfrm flipH="1" flipV="1">
            <a:off x="7366444" y="2960704"/>
            <a:ext cx="204611" cy="7652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Gerader Verbinder 22">
            <a:extLst>
              <a:ext uri="{FF2B5EF4-FFF2-40B4-BE49-F238E27FC236}">
                <a16:creationId xmlns:a16="http://schemas.microsoft.com/office/drawing/2014/main" id="{512FE1F3-3249-2622-0BC0-19786856657C}"/>
              </a:ext>
            </a:extLst>
          </p:cNvPr>
          <p:cNvCxnSpPr>
            <a:endCxn id="135" idx="6"/>
          </p:cNvCxnSpPr>
          <p:nvPr/>
        </p:nvCxnSpPr>
        <p:spPr>
          <a:xfrm>
            <a:off x="5440034" y="4966244"/>
            <a:ext cx="25293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Oval 44">
            <a:extLst>
              <a:ext uri="{FF2B5EF4-FFF2-40B4-BE49-F238E27FC236}">
                <a16:creationId xmlns:a16="http://schemas.microsoft.com/office/drawing/2014/main" id="{45CFF4B6-F53B-9A05-BC92-490A37E5C992}"/>
              </a:ext>
            </a:extLst>
          </p:cNvPr>
          <p:cNvSpPr/>
          <p:nvPr/>
        </p:nvSpPr>
        <p:spPr>
          <a:xfrm>
            <a:off x="5332022" y="4858232"/>
            <a:ext cx="216024" cy="21602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28" name="Oval 44">
            <a:extLst>
              <a:ext uri="{FF2B5EF4-FFF2-40B4-BE49-F238E27FC236}">
                <a16:creationId xmlns:a16="http://schemas.microsoft.com/office/drawing/2014/main" id="{8EBF1DEC-FB75-72E9-846D-C0425068C20C}"/>
              </a:ext>
            </a:extLst>
          </p:cNvPr>
          <p:cNvSpPr/>
          <p:nvPr/>
        </p:nvSpPr>
        <p:spPr>
          <a:xfrm>
            <a:off x="5809921" y="4858232"/>
            <a:ext cx="216024" cy="21602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30" name="Oval 44">
            <a:extLst>
              <a:ext uri="{FF2B5EF4-FFF2-40B4-BE49-F238E27FC236}">
                <a16:creationId xmlns:a16="http://schemas.microsoft.com/office/drawing/2014/main" id="{326618D3-C303-F428-221C-8A59DFC40478}"/>
              </a:ext>
            </a:extLst>
          </p:cNvPr>
          <p:cNvSpPr/>
          <p:nvPr/>
        </p:nvSpPr>
        <p:spPr>
          <a:xfrm>
            <a:off x="6300031" y="4858232"/>
            <a:ext cx="216024" cy="21602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32" name="Oval 44">
            <a:extLst>
              <a:ext uri="{FF2B5EF4-FFF2-40B4-BE49-F238E27FC236}">
                <a16:creationId xmlns:a16="http://schemas.microsoft.com/office/drawing/2014/main" id="{B6D7B762-6314-D422-4CC4-3B9294AA6F86}"/>
              </a:ext>
            </a:extLst>
          </p:cNvPr>
          <p:cNvSpPr/>
          <p:nvPr/>
        </p:nvSpPr>
        <p:spPr>
          <a:xfrm>
            <a:off x="6773115" y="4858232"/>
            <a:ext cx="216024" cy="21602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33" name="Oval 44">
            <a:extLst>
              <a:ext uri="{FF2B5EF4-FFF2-40B4-BE49-F238E27FC236}">
                <a16:creationId xmlns:a16="http://schemas.microsoft.com/office/drawing/2014/main" id="{FD64B65B-3CA5-1E53-682D-C3CDBDD61E7C}"/>
              </a:ext>
            </a:extLst>
          </p:cNvPr>
          <p:cNvSpPr/>
          <p:nvPr/>
        </p:nvSpPr>
        <p:spPr>
          <a:xfrm>
            <a:off x="7263225" y="4858232"/>
            <a:ext cx="216024" cy="21602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35" name="Oval 44">
            <a:extLst>
              <a:ext uri="{FF2B5EF4-FFF2-40B4-BE49-F238E27FC236}">
                <a16:creationId xmlns:a16="http://schemas.microsoft.com/office/drawing/2014/main" id="{F11F32BB-0055-0A01-EDBF-EDA6046C6BA3}"/>
              </a:ext>
            </a:extLst>
          </p:cNvPr>
          <p:cNvSpPr/>
          <p:nvPr/>
        </p:nvSpPr>
        <p:spPr>
          <a:xfrm>
            <a:off x="7753335" y="4858232"/>
            <a:ext cx="216024" cy="21602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cxnSp>
        <p:nvCxnSpPr>
          <p:cNvPr id="136" name="Gerader Verbinder 22">
            <a:extLst>
              <a:ext uri="{FF2B5EF4-FFF2-40B4-BE49-F238E27FC236}">
                <a16:creationId xmlns:a16="http://schemas.microsoft.com/office/drawing/2014/main" id="{BF5A9A00-60DC-CB84-BC77-F271AFA9B257}"/>
              </a:ext>
            </a:extLst>
          </p:cNvPr>
          <p:cNvCxnSpPr>
            <a:stCxn id="127" idx="0"/>
            <a:endCxn id="111" idx="4"/>
          </p:cNvCxnSpPr>
          <p:nvPr/>
        </p:nvCxnSpPr>
        <p:spPr>
          <a:xfrm flipV="1">
            <a:off x="5440034" y="3379495"/>
            <a:ext cx="25599" cy="1478737"/>
          </a:xfrm>
          <a:prstGeom prst="line">
            <a:avLst/>
          </a:prstGeom>
          <a:ln>
            <a:solidFill>
              <a:schemeClr val="tx1"/>
            </a:solidFill>
            <a:prstDash val="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Gerader Verbinder 22">
            <a:extLst>
              <a:ext uri="{FF2B5EF4-FFF2-40B4-BE49-F238E27FC236}">
                <a16:creationId xmlns:a16="http://schemas.microsoft.com/office/drawing/2014/main" id="{5BFC2881-6AC4-15CA-2F31-CEAD63F39820}"/>
              </a:ext>
            </a:extLst>
          </p:cNvPr>
          <p:cNvCxnSpPr>
            <a:stCxn id="128" idx="0"/>
            <a:endCxn id="112" idx="4"/>
          </p:cNvCxnSpPr>
          <p:nvPr/>
        </p:nvCxnSpPr>
        <p:spPr>
          <a:xfrm flipV="1">
            <a:off x="5917933" y="2960704"/>
            <a:ext cx="28960" cy="1897528"/>
          </a:xfrm>
          <a:prstGeom prst="line">
            <a:avLst/>
          </a:prstGeom>
          <a:ln>
            <a:solidFill>
              <a:schemeClr val="tx1"/>
            </a:solidFill>
            <a:prstDash val="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Gerader Verbinder 22">
            <a:extLst>
              <a:ext uri="{FF2B5EF4-FFF2-40B4-BE49-F238E27FC236}">
                <a16:creationId xmlns:a16="http://schemas.microsoft.com/office/drawing/2014/main" id="{A8EE3AA9-93F5-706C-99F0-AE81F4B310B6}"/>
              </a:ext>
            </a:extLst>
          </p:cNvPr>
          <p:cNvCxnSpPr>
            <a:stCxn id="130" idx="0"/>
          </p:cNvCxnSpPr>
          <p:nvPr/>
        </p:nvCxnSpPr>
        <p:spPr>
          <a:xfrm flipH="1" flipV="1">
            <a:off x="6325138" y="3988501"/>
            <a:ext cx="82905" cy="869731"/>
          </a:xfrm>
          <a:prstGeom prst="line">
            <a:avLst/>
          </a:prstGeom>
          <a:ln>
            <a:solidFill>
              <a:schemeClr val="tx1"/>
            </a:solidFill>
            <a:prstDash val="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Gerader Verbinder 22">
            <a:extLst>
              <a:ext uri="{FF2B5EF4-FFF2-40B4-BE49-F238E27FC236}">
                <a16:creationId xmlns:a16="http://schemas.microsoft.com/office/drawing/2014/main" id="{3BEB523C-57F2-3268-02BC-2507BE5CCC7C}"/>
              </a:ext>
            </a:extLst>
          </p:cNvPr>
          <p:cNvCxnSpPr>
            <a:stCxn id="132" idx="0"/>
          </p:cNvCxnSpPr>
          <p:nvPr/>
        </p:nvCxnSpPr>
        <p:spPr>
          <a:xfrm flipH="1" flipV="1">
            <a:off x="6776549" y="3356473"/>
            <a:ext cx="104578" cy="1501759"/>
          </a:xfrm>
          <a:prstGeom prst="line">
            <a:avLst/>
          </a:prstGeom>
          <a:ln>
            <a:solidFill>
              <a:schemeClr val="tx1"/>
            </a:solidFill>
            <a:prstDash val="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Gerader Verbinder 22">
            <a:extLst>
              <a:ext uri="{FF2B5EF4-FFF2-40B4-BE49-F238E27FC236}">
                <a16:creationId xmlns:a16="http://schemas.microsoft.com/office/drawing/2014/main" id="{1153743D-77F0-13D4-916E-7A88B066F1A6}"/>
              </a:ext>
            </a:extLst>
          </p:cNvPr>
          <p:cNvCxnSpPr>
            <a:stCxn id="133" idx="0"/>
            <a:endCxn id="117" idx="4"/>
          </p:cNvCxnSpPr>
          <p:nvPr/>
        </p:nvCxnSpPr>
        <p:spPr>
          <a:xfrm flipH="1" flipV="1">
            <a:off x="7366444" y="2960704"/>
            <a:ext cx="4793" cy="1897528"/>
          </a:xfrm>
          <a:prstGeom prst="line">
            <a:avLst/>
          </a:prstGeom>
          <a:ln>
            <a:solidFill>
              <a:schemeClr val="tx1"/>
            </a:solidFill>
            <a:prstDash val="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Gerader Verbinder 22">
            <a:extLst>
              <a:ext uri="{FF2B5EF4-FFF2-40B4-BE49-F238E27FC236}">
                <a16:creationId xmlns:a16="http://schemas.microsoft.com/office/drawing/2014/main" id="{F6FB1151-7D43-C58E-6765-CB147981F00D}"/>
              </a:ext>
            </a:extLst>
          </p:cNvPr>
          <p:cNvCxnSpPr>
            <a:stCxn id="135" idx="0"/>
            <a:endCxn id="118" idx="4"/>
          </p:cNvCxnSpPr>
          <p:nvPr/>
        </p:nvCxnSpPr>
        <p:spPr>
          <a:xfrm flipH="1" flipV="1">
            <a:off x="7571055" y="3942010"/>
            <a:ext cx="290292" cy="916222"/>
          </a:xfrm>
          <a:prstGeom prst="line">
            <a:avLst/>
          </a:prstGeom>
          <a:ln>
            <a:solidFill>
              <a:schemeClr val="tx1"/>
            </a:solidFill>
            <a:prstDash val="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Google Shape;1817;g60be7dcf1c_0_698">
            <a:extLst>
              <a:ext uri="{FF2B5EF4-FFF2-40B4-BE49-F238E27FC236}">
                <a16:creationId xmlns:a16="http://schemas.microsoft.com/office/drawing/2014/main" id="{C6569E46-AF2E-8EFB-FF52-6905F49DC56A}"/>
              </a:ext>
            </a:extLst>
          </p:cNvPr>
          <p:cNvSpPr txBox="1"/>
          <p:nvPr/>
        </p:nvSpPr>
        <p:spPr>
          <a:xfrm>
            <a:off x="5070563" y="2729538"/>
            <a:ext cx="696600" cy="332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GB" sz="1000" b="1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cost 1</a:t>
            </a:r>
            <a:endParaRPr lang="en-GB" sz="1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" name="Google Shape;1817;g60be7dcf1c_0_698">
            <a:extLst>
              <a:ext uri="{FF2B5EF4-FFF2-40B4-BE49-F238E27FC236}">
                <a16:creationId xmlns:a16="http://schemas.microsoft.com/office/drawing/2014/main" id="{17CF85EE-B7CC-E0A4-5CF5-B3087F5B00AF}"/>
              </a:ext>
            </a:extLst>
          </p:cNvPr>
          <p:cNvSpPr txBox="1"/>
          <p:nvPr/>
        </p:nvSpPr>
        <p:spPr>
          <a:xfrm>
            <a:off x="7735602" y="3510445"/>
            <a:ext cx="1475098" cy="516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GB" sz="2400" i="1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Good!</a:t>
            </a:r>
            <a:endParaRPr lang="en-GB" sz="2400" i="1" dirty="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8" name="Gerader Verbinder 22">
            <a:extLst>
              <a:ext uri="{FF2B5EF4-FFF2-40B4-BE49-F238E27FC236}">
                <a16:creationId xmlns:a16="http://schemas.microsoft.com/office/drawing/2014/main" id="{F7E93D26-B88A-6B60-09F7-4BB2C3A02BEF}"/>
              </a:ext>
            </a:extLst>
          </p:cNvPr>
          <p:cNvCxnSpPr>
            <a:cxnSpLocks/>
            <a:stCxn id="127" idx="6"/>
            <a:endCxn id="128" idx="2"/>
          </p:cNvCxnSpPr>
          <p:nvPr/>
        </p:nvCxnSpPr>
        <p:spPr>
          <a:xfrm>
            <a:off x="5548046" y="4966244"/>
            <a:ext cx="261875" cy="0"/>
          </a:xfrm>
          <a:prstGeom prst="line">
            <a:avLst/>
          </a:prstGeom>
          <a:ln w="76200">
            <a:solidFill>
              <a:srgbClr val="FFC000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Google Shape;1534;g60be7dcf1c_0_434">
            <a:extLst>
              <a:ext uri="{FF2B5EF4-FFF2-40B4-BE49-F238E27FC236}">
                <a16:creationId xmlns:a16="http://schemas.microsoft.com/office/drawing/2014/main" id="{DFDB8D97-06F5-CC7B-016F-AF023A18CEB0}"/>
              </a:ext>
            </a:extLst>
          </p:cNvPr>
          <p:cNvSpPr txBox="1"/>
          <p:nvPr/>
        </p:nvSpPr>
        <p:spPr>
          <a:xfrm>
            <a:off x="887106" y="2561058"/>
            <a:ext cx="3585673" cy="882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Example </a:t>
            </a:r>
            <a:r>
              <a:rPr lang="en-AT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△=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2: A Minium Linear Arrangement (</a:t>
            </a:r>
            <a:r>
              <a:rPr lang="en-GB" sz="1600" b="1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MLA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Problem</a:t>
            </a:r>
          </a:p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⇀ 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Minimizes sum of virtual  </a:t>
            </a:r>
          </a:p>
          <a:p>
            <a:pPr lvl="0">
              <a:lnSpc>
                <a:spcPct val="115000"/>
              </a:lnSpc>
            </a:pP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edges</a:t>
            </a:r>
          </a:p>
        </p:txBody>
      </p:sp>
      <p:sp>
        <p:nvSpPr>
          <p:cNvPr id="2" name="Rectangle 28">
            <a:extLst>
              <a:ext uri="{FF2B5EF4-FFF2-40B4-BE49-F238E27FC236}">
                <a16:creationId xmlns:a16="http://schemas.microsoft.com/office/drawing/2014/main" id="{E5A772C3-39BE-0B99-973E-BE19FB571458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E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9173365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0">
          <a:extLst>
            <a:ext uri="{FF2B5EF4-FFF2-40B4-BE49-F238E27FC236}">
              <a16:creationId xmlns:a16="http://schemas.microsoft.com/office/drawing/2014/main" id="{712604FD-A0D0-E074-5161-A303E9DED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6" name="Gerader Verbinder 22">
            <a:extLst>
              <a:ext uri="{FF2B5EF4-FFF2-40B4-BE49-F238E27FC236}">
                <a16:creationId xmlns:a16="http://schemas.microsoft.com/office/drawing/2014/main" id="{2E54E18A-BD7C-8FCE-3D2C-766186472754}"/>
              </a:ext>
            </a:extLst>
          </p:cNvPr>
          <p:cNvCxnSpPr/>
          <p:nvPr/>
        </p:nvCxnSpPr>
        <p:spPr>
          <a:xfrm flipV="1">
            <a:off x="6229904" y="3844136"/>
            <a:ext cx="1206505" cy="564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Gerader Verbinder 22">
            <a:extLst>
              <a:ext uri="{FF2B5EF4-FFF2-40B4-BE49-F238E27FC236}">
                <a16:creationId xmlns:a16="http://schemas.microsoft.com/office/drawing/2014/main" id="{ED728071-7E1B-6086-A41D-2DF44BE14BD8}"/>
              </a:ext>
            </a:extLst>
          </p:cNvPr>
          <p:cNvCxnSpPr>
            <a:stCxn id="111" idx="3"/>
            <a:endCxn id="112" idx="7"/>
          </p:cNvCxnSpPr>
          <p:nvPr/>
        </p:nvCxnSpPr>
        <p:spPr>
          <a:xfrm flipV="1">
            <a:off x="5389257" y="2776316"/>
            <a:ext cx="634012" cy="57154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Gerader Verbinder 22">
            <a:extLst>
              <a:ext uri="{FF2B5EF4-FFF2-40B4-BE49-F238E27FC236}">
                <a16:creationId xmlns:a16="http://schemas.microsoft.com/office/drawing/2014/main" id="{CC8164C3-6EFF-27D6-44CA-A1D2929EBC51}"/>
              </a:ext>
            </a:extLst>
          </p:cNvPr>
          <p:cNvCxnSpPr>
            <a:stCxn id="114" idx="1"/>
          </p:cNvCxnSpPr>
          <p:nvPr/>
        </p:nvCxnSpPr>
        <p:spPr>
          <a:xfrm flipH="1" flipV="1">
            <a:off x="5536480" y="3229333"/>
            <a:ext cx="707042" cy="57121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Gerader Verbinder 22">
            <a:extLst>
              <a:ext uri="{FF2B5EF4-FFF2-40B4-BE49-F238E27FC236}">
                <a16:creationId xmlns:a16="http://schemas.microsoft.com/office/drawing/2014/main" id="{02B271F3-3610-D58B-546E-1C3F727B0C82}"/>
              </a:ext>
            </a:extLst>
          </p:cNvPr>
          <p:cNvCxnSpPr/>
          <p:nvPr/>
        </p:nvCxnSpPr>
        <p:spPr>
          <a:xfrm flipH="1" flipV="1">
            <a:off x="5881445" y="2807560"/>
            <a:ext cx="823252" cy="4274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Google Shape;1580;g60be7dcf1c_0_473">
            <a:extLst>
              <a:ext uri="{FF2B5EF4-FFF2-40B4-BE49-F238E27FC236}">
                <a16:creationId xmlns:a16="http://schemas.microsoft.com/office/drawing/2014/main" id="{EA41D26D-FADD-F158-8E98-65206B85E844}"/>
              </a:ext>
            </a:extLst>
          </p:cNvPr>
          <p:cNvSpPr txBox="1"/>
          <p:nvPr/>
        </p:nvSpPr>
        <p:spPr>
          <a:xfrm>
            <a:off x="0" y="540000"/>
            <a:ext cx="8211000" cy="144000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57" name="Google Shape;1810;g60be7dcf1c_0_698">
            <a:extLst>
              <a:ext uri="{FF2B5EF4-FFF2-40B4-BE49-F238E27FC236}">
                <a16:creationId xmlns:a16="http://schemas.microsoft.com/office/drawing/2014/main" id="{70598463-5BCB-1FF2-F222-AEFCA88F1B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3075" y="324175"/>
            <a:ext cx="6954274" cy="18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l">
              <a:buSzPts val="1100"/>
            </a:pPr>
            <a:r>
              <a:rPr lang="en-GB" sz="2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Related Problem:</a:t>
            </a:r>
            <a:br>
              <a:rPr lang="en-GB" sz="2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Virtual Network Embedding Problem (VNEP)</a:t>
            </a:r>
          </a:p>
        </p:txBody>
      </p:sp>
      <p:sp>
        <p:nvSpPr>
          <p:cNvPr id="111" name="Oval 44">
            <a:extLst>
              <a:ext uri="{FF2B5EF4-FFF2-40B4-BE49-F238E27FC236}">
                <a16:creationId xmlns:a16="http://schemas.microsoft.com/office/drawing/2014/main" id="{89D77F52-0F74-35AC-1C79-70E06FB1A162}"/>
              </a:ext>
            </a:extLst>
          </p:cNvPr>
          <p:cNvSpPr/>
          <p:nvPr/>
        </p:nvSpPr>
        <p:spPr>
          <a:xfrm>
            <a:off x="5357621" y="3163471"/>
            <a:ext cx="216024" cy="21602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12" name="Oval 44">
            <a:extLst>
              <a:ext uri="{FF2B5EF4-FFF2-40B4-BE49-F238E27FC236}">
                <a16:creationId xmlns:a16="http://schemas.microsoft.com/office/drawing/2014/main" id="{17D14E39-FC36-BB20-C30E-51DC2F9D2767}"/>
              </a:ext>
            </a:extLst>
          </p:cNvPr>
          <p:cNvSpPr/>
          <p:nvPr/>
        </p:nvSpPr>
        <p:spPr>
          <a:xfrm>
            <a:off x="5838881" y="2744680"/>
            <a:ext cx="216024" cy="21602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13" name="Oval 44">
            <a:extLst>
              <a:ext uri="{FF2B5EF4-FFF2-40B4-BE49-F238E27FC236}">
                <a16:creationId xmlns:a16="http://schemas.microsoft.com/office/drawing/2014/main" id="{FC66CCB6-9B86-661E-2BDC-22B08A3608BB}"/>
              </a:ext>
            </a:extLst>
          </p:cNvPr>
          <p:cNvSpPr/>
          <p:nvPr/>
        </p:nvSpPr>
        <p:spPr>
          <a:xfrm>
            <a:off x="6662133" y="3172084"/>
            <a:ext cx="216024" cy="21602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14" name="Oval 44">
            <a:extLst>
              <a:ext uri="{FF2B5EF4-FFF2-40B4-BE49-F238E27FC236}">
                <a16:creationId xmlns:a16="http://schemas.microsoft.com/office/drawing/2014/main" id="{D33024BE-4077-0ABC-41FE-E20E16D68BF3}"/>
              </a:ext>
            </a:extLst>
          </p:cNvPr>
          <p:cNvSpPr/>
          <p:nvPr/>
        </p:nvSpPr>
        <p:spPr>
          <a:xfrm>
            <a:off x="6211886" y="3768914"/>
            <a:ext cx="216024" cy="21602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17" name="Oval 44">
            <a:extLst>
              <a:ext uri="{FF2B5EF4-FFF2-40B4-BE49-F238E27FC236}">
                <a16:creationId xmlns:a16="http://schemas.microsoft.com/office/drawing/2014/main" id="{9DA1D063-9078-F051-1337-19D4236EB470}"/>
              </a:ext>
            </a:extLst>
          </p:cNvPr>
          <p:cNvSpPr/>
          <p:nvPr/>
        </p:nvSpPr>
        <p:spPr>
          <a:xfrm>
            <a:off x="7258432" y="2744680"/>
            <a:ext cx="216024" cy="21602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18" name="Oval 44">
            <a:extLst>
              <a:ext uri="{FF2B5EF4-FFF2-40B4-BE49-F238E27FC236}">
                <a16:creationId xmlns:a16="http://schemas.microsoft.com/office/drawing/2014/main" id="{837B0C16-BCE5-7775-4B49-473A7C9B52D5}"/>
              </a:ext>
            </a:extLst>
          </p:cNvPr>
          <p:cNvSpPr/>
          <p:nvPr/>
        </p:nvSpPr>
        <p:spPr>
          <a:xfrm>
            <a:off x="7463043" y="3725986"/>
            <a:ext cx="216024" cy="21602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cxnSp>
        <p:nvCxnSpPr>
          <p:cNvPr id="120" name="Gerader Verbinder 22">
            <a:extLst>
              <a:ext uri="{FF2B5EF4-FFF2-40B4-BE49-F238E27FC236}">
                <a16:creationId xmlns:a16="http://schemas.microsoft.com/office/drawing/2014/main" id="{AC95A79B-29DF-8870-639F-0E1A924E48DC}"/>
              </a:ext>
            </a:extLst>
          </p:cNvPr>
          <p:cNvCxnSpPr>
            <a:stCxn id="114" idx="7"/>
            <a:endCxn id="113" idx="3"/>
          </p:cNvCxnSpPr>
          <p:nvPr/>
        </p:nvCxnSpPr>
        <p:spPr>
          <a:xfrm flipV="1">
            <a:off x="6396274" y="3356472"/>
            <a:ext cx="297495" cy="44407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Gerader Verbinder 22">
            <a:extLst>
              <a:ext uri="{FF2B5EF4-FFF2-40B4-BE49-F238E27FC236}">
                <a16:creationId xmlns:a16="http://schemas.microsoft.com/office/drawing/2014/main" id="{39546A20-0A9C-6778-036B-06474C38C9D5}"/>
              </a:ext>
            </a:extLst>
          </p:cNvPr>
          <p:cNvCxnSpPr>
            <a:endCxn id="117" idx="3"/>
          </p:cNvCxnSpPr>
          <p:nvPr/>
        </p:nvCxnSpPr>
        <p:spPr>
          <a:xfrm flipV="1">
            <a:off x="6878157" y="2929068"/>
            <a:ext cx="411911" cy="30002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Gerader Verbinder 22">
            <a:extLst>
              <a:ext uri="{FF2B5EF4-FFF2-40B4-BE49-F238E27FC236}">
                <a16:creationId xmlns:a16="http://schemas.microsoft.com/office/drawing/2014/main" id="{23B89036-48DC-E209-DCA8-1737EFBABF38}"/>
              </a:ext>
            </a:extLst>
          </p:cNvPr>
          <p:cNvCxnSpPr>
            <a:stCxn id="118" idx="0"/>
            <a:endCxn id="117" idx="4"/>
          </p:cNvCxnSpPr>
          <p:nvPr/>
        </p:nvCxnSpPr>
        <p:spPr>
          <a:xfrm flipH="1" flipV="1">
            <a:off x="7366444" y="2960704"/>
            <a:ext cx="204611" cy="7652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Gerader Verbinder 22">
            <a:extLst>
              <a:ext uri="{FF2B5EF4-FFF2-40B4-BE49-F238E27FC236}">
                <a16:creationId xmlns:a16="http://schemas.microsoft.com/office/drawing/2014/main" id="{9C9DE858-94F4-D9EB-847B-8941651502E7}"/>
              </a:ext>
            </a:extLst>
          </p:cNvPr>
          <p:cNvCxnSpPr>
            <a:endCxn id="135" idx="6"/>
          </p:cNvCxnSpPr>
          <p:nvPr/>
        </p:nvCxnSpPr>
        <p:spPr>
          <a:xfrm>
            <a:off x="5440034" y="4966244"/>
            <a:ext cx="25293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Oval 44">
            <a:extLst>
              <a:ext uri="{FF2B5EF4-FFF2-40B4-BE49-F238E27FC236}">
                <a16:creationId xmlns:a16="http://schemas.microsoft.com/office/drawing/2014/main" id="{C7493398-0620-F17E-27A1-47998D50CA76}"/>
              </a:ext>
            </a:extLst>
          </p:cNvPr>
          <p:cNvSpPr/>
          <p:nvPr/>
        </p:nvSpPr>
        <p:spPr>
          <a:xfrm>
            <a:off x="5332022" y="4858232"/>
            <a:ext cx="216024" cy="21602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28" name="Oval 44">
            <a:extLst>
              <a:ext uri="{FF2B5EF4-FFF2-40B4-BE49-F238E27FC236}">
                <a16:creationId xmlns:a16="http://schemas.microsoft.com/office/drawing/2014/main" id="{5F44F718-9B2F-722B-1383-F431D9FAECC0}"/>
              </a:ext>
            </a:extLst>
          </p:cNvPr>
          <p:cNvSpPr/>
          <p:nvPr/>
        </p:nvSpPr>
        <p:spPr>
          <a:xfrm>
            <a:off x="5809921" y="4858232"/>
            <a:ext cx="216024" cy="21602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30" name="Oval 44">
            <a:extLst>
              <a:ext uri="{FF2B5EF4-FFF2-40B4-BE49-F238E27FC236}">
                <a16:creationId xmlns:a16="http://schemas.microsoft.com/office/drawing/2014/main" id="{51C3A262-EDC8-8875-75B2-2F9305AD677F}"/>
              </a:ext>
            </a:extLst>
          </p:cNvPr>
          <p:cNvSpPr/>
          <p:nvPr/>
        </p:nvSpPr>
        <p:spPr>
          <a:xfrm>
            <a:off x="6300031" y="4858232"/>
            <a:ext cx="216024" cy="21602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32" name="Oval 44">
            <a:extLst>
              <a:ext uri="{FF2B5EF4-FFF2-40B4-BE49-F238E27FC236}">
                <a16:creationId xmlns:a16="http://schemas.microsoft.com/office/drawing/2014/main" id="{7B2AA2A0-8728-F4F4-4B81-6D87E8F3E892}"/>
              </a:ext>
            </a:extLst>
          </p:cNvPr>
          <p:cNvSpPr/>
          <p:nvPr/>
        </p:nvSpPr>
        <p:spPr>
          <a:xfrm>
            <a:off x="6773115" y="4858232"/>
            <a:ext cx="216024" cy="21602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33" name="Oval 44">
            <a:extLst>
              <a:ext uri="{FF2B5EF4-FFF2-40B4-BE49-F238E27FC236}">
                <a16:creationId xmlns:a16="http://schemas.microsoft.com/office/drawing/2014/main" id="{1FD4EBD0-42B9-75D4-BA06-4E48CCE20F3E}"/>
              </a:ext>
            </a:extLst>
          </p:cNvPr>
          <p:cNvSpPr/>
          <p:nvPr/>
        </p:nvSpPr>
        <p:spPr>
          <a:xfrm>
            <a:off x="7263225" y="4858232"/>
            <a:ext cx="216024" cy="21602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35" name="Oval 44">
            <a:extLst>
              <a:ext uri="{FF2B5EF4-FFF2-40B4-BE49-F238E27FC236}">
                <a16:creationId xmlns:a16="http://schemas.microsoft.com/office/drawing/2014/main" id="{D8ACC87E-4895-79E7-E0CF-27D8A3B6500C}"/>
              </a:ext>
            </a:extLst>
          </p:cNvPr>
          <p:cNvSpPr/>
          <p:nvPr/>
        </p:nvSpPr>
        <p:spPr>
          <a:xfrm>
            <a:off x="7753335" y="4858232"/>
            <a:ext cx="216024" cy="21602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cxnSp>
        <p:nvCxnSpPr>
          <p:cNvPr id="136" name="Gerader Verbinder 22">
            <a:extLst>
              <a:ext uri="{FF2B5EF4-FFF2-40B4-BE49-F238E27FC236}">
                <a16:creationId xmlns:a16="http://schemas.microsoft.com/office/drawing/2014/main" id="{B294CF84-0A2C-864A-09C3-3C2EFCBB93D8}"/>
              </a:ext>
            </a:extLst>
          </p:cNvPr>
          <p:cNvCxnSpPr>
            <a:stCxn id="127" idx="0"/>
            <a:endCxn id="111" idx="4"/>
          </p:cNvCxnSpPr>
          <p:nvPr/>
        </p:nvCxnSpPr>
        <p:spPr>
          <a:xfrm flipV="1">
            <a:off x="5440034" y="3379495"/>
            <a:ext cx="25599" cy="1478737"/>
          </a:xfrm>
          <a:prstGeom prst="line">
            <a:avLst/>
          </a:prstGeom>
          <a:ln>
            <a:solidFill>
              <a:schemeClr val="tx1"/>
            </a:solidFill>
            <a:prstDash val="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Gerader Verbinder 22">
            <a:extLst>
              <a:ext uri="{FF2B5EF4-FFF2-40B4-BE49-F238E27FC236}">
                <a16:creationId xmlns:a16="http://schemas.microsoft.com/office/drawing/2014/main" id="{2B3EB292-32A3-FE4E-2F9F-6E2C78480E22}"/>
              </a:ext>
            </a:extLst>
          </p:cNvPr>
          <p:cNvCxnSpPr>
            <a:stCxn id="128" idx="0"/>
            <a:endCxn id="112" idx="4"/>
          </p:cNvCxnSpPr>
          <p:nvPr/>
        </p:nvCxnSpPr>
        <p:spPr>
          <a:xfrm flipV="1">
            <a:off x="5917933" y="2960704"/>
            <a:ext cx="28960" cy="1897528"/>
          </a:xfrm>
          <a:prstGeom prst="line">
            <a:avLst/>
          </a:prstGeom>
          <a:ln>
            <a:solidFill>
              <a:schemeClr val="tx1"/>
            </a:solidFill>
            <a:prstDash val="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Gerader Verbinder 22">
            <a:extLst>
              <a:ext uri="{FF2B5EF4-FFF2-40B4-BE49-F238E27FC236}">
                <a16:creationId xmlns:a16="http://schemas.microsoft.com/office/drawing/2014/main" id="{121EAB08-998A-F6C2-A909-D2ADEFB2672A}"/>
              </a:ext>
            </a:extLst>
          </p:cNvPr>
          <p:cNvCxnSpPr>
            <a:stCxn id="130" idx="0"/>
          </p:cNvCxnSpPr>
          <p:nvPr/>
        </p:nvCxnSpPr>
        <p:spPr>
          <a:xfrm flipH="1" flipV="1">
            <a:off x="6325138" y="3988501"/>
            <a:ext cx="82905" cy="869731"/>
          </a:xfrm>
          <a:prstGeom prst="line">
            <a:avLst/>
          </a:prstGeom>
          <a:ln>
            <a:solidFill>
              <a:schemeClr val="tx1"/>
            </a:solidFill>
            <a:prstDash val="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Gerader Verbinder 22">
            <a:extLst>
              <a:ext uri="{FF2B5EF4-FFF2-40B4-BE49-F238E27FC236}">
                <a16:creationId xmlns:a16="http://schemas.microsoft.com/office/drawing/2014/main" id="{40FA359A-7F6A-68A8-AEE1-B6B87FE82991}"/>
              </a:ext>
            </a:extLst>
          </p:cNvPr>
          <p:cNvCxnSpPr>
            <a:stCxn id="132" idx="0"/>
          </p:cNvCxnSpPr>
          <p:nvPr/>
        </p:nvCxnSpPr>
        <p:spPr>
          <a:xfrm flipH="1" flipV="1">
            <a:off x="6776549" y="3356473"/>
            <a:ext cx="104578" cy="1501759"/>
          </a:xfrm>
          <a:prstGeom prst="line">
            <a:avLst/>
          </a:prstGeom>
          <a:ln>
            <a:solidFill>
              <a:schemeClr val="tx1"/>
            </a:solidFill>
            <a:prstDash val="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Gerader Verbinder 22">
            <a:extLst>
              <a:ext uri="{FF2B5EF4-FFF2-40B4-BE49-F238E27FC236}">
                <a16:creationId xmlns:a16="http://schemas.microsoft.com/office/drawing/2014/main" id="{C8DC4B9C-A68E-3DDA-DED1-554000F6951C}"/>
              </a:ext>
            </a:extLst>
          </p:cNvPr>
          <p:cNvCxnSpPr>
            <a:stCxn id="133" idx="0"/>
            <a:endCxn id="117" idx="4"/>
          </p:cNvCxnSpPr>
          <p:nvPr/>
        </p:nvCxnSpPr>
        <p:spPr>
          <a:xfrm flipH="1" flipV="1">
            <a:off x="7366444" y="2960704"/>
            <a:ext cx="4793" cy="1897528"/>
          </a:xfrm>
          <a:prstGeom prst="line">
            <a:avLst/>
          </a:prstGeom>
          <a:ln>
            <a:solidFill>
              <a:schemeClr val="tx1"/>
            </a:solidFill>
            <a:prstDash val="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Gerader Verbinder 22">
            <a:extLst>
              <a:ext uri="{FF2B5EF4-FFF2-40B4-BE49-F238E27FC236}">
                <a16:creationId xmlns:a16="http://schemas.microsoft.com/office/drawing/2014/main" id="{D6608350-06BA-1A39-B270-5FBC50E016E1}"/>
              </a:ext>
            </a:extLst>
          </p:cNvPr>
          <p:cNvCxnSpPr>
            <a:stCxn id="135" idx="1"/>
          </p:cNvCxnSpPr>
          <p:nvPr/>
        </p:nvCxnSpPr>
        <p:spPr>
          <a:xfrm flipH="1" flipV="1">
            <a:off x="7608067" y="3942012"/>
            <a:ext cx="176904" cy="947856"/>
          </a:xfrm>
          <a:prstGeom prst="line">
            <a:avLst/>
          </a:prstGeom>
          <a:ln>
            <a:solidFill>
              <a:schemeClr val="tx1"/>
            </a:solidFill>
            <a:prstDash val="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Google Shape;1534;g60be7dcf1c_0_434">
            <a:extLst>
              <a:ext uri="{FF2B5EF4-FFF2-40B4-BE49-F238E27FC236}">
                <a16:creationId xmlns:a16="http://schemas.microsoft.com/office/drawing/2014/main" id="{E53F6623-2472-98D7-0550-A52F05615430}"/>
              </a:ext>
            </a:extLst>
          </p:cNvPr>
          <p:cNvSpPr txBox="1"/>
          <p:nvPr/>
        </p:nvSpPr>
        <p:spPr>
          <a:xfrm>
            <a:off x="887106" y="2561058"/>
            <a:ext cx="3585673" cy="882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Example </a:t>
            </a:r>
            <a:r>
              <a:rPr lang="en-AT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△=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2: A Minium Linear Arrangement (</a:t>
            </a:r>
            <a:r>
              <a:rPr lang="en-GB" sz="1600" b="1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MLA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Problem</a:t>
            </a:r>
          </a:p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⇀ 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Minimizes sum of virtual  </a:t>
            </a:r>
          </a:p>
          <a:p>
            <a:pPr lvl="0">
              <a:lnSpc>
                <a:spcPct val="115000"/>
              </a:lnSpc>
            </a:pP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edges</a:t>
            </a:r>
          </a:p>
        </p:txBody>
      </p:sp>
      <p:sp>
        <p:nvSpPr>
          <p:cNvPr id="38" name="Google Shape;1534;g60be7dcf1c_0_434">
            <a:extLst>
              <a:ext uri="{FF2B5EF4-FFF2-40B4-BE49-F238E27FC236}">
                <a16:creationId xmlns:a16="http://schemas.microsoft.com/office/drawing/2014/main" id="{E0CF2478-47DF-0D5A-3367-16A0C37E3BB1}"/>
              </a:ext>
            </a:extLst>
          </p:cNvPr>
          <p:cNvSpPr txBox="1"/>
          <p:nvPr/>
        </p:nvSpPr>
        <p:spPr>
          <a:xfrm>
            <a:off x="929219" y="3974235"/>
            <a:ext cx="3585673" cy="882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MLA </a:t>
            </a:r>
            <a:r>
              <a:rPr lang="de-DE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is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 b="1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NP-hard</a:t>
            </a:r>
            <a:endParaRPr lang="de-DE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⇀ </a:t>
            </a:r>
            <a:r>
              <a:rPr lang="en-AT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…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de-DE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and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so </a:t>
            </a:r>
            <a:r>
              <a:rPr lang="de-DE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is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de-DE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our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de-DE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problem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!</a:t>
            </a: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" name="Rectangle 28">
            <a:extLst>
              <a:ext uri="{FF2B5EF4-FFF2-40B4-BE49-F238E27FC236}">
                <a16:creationId xmlns:a16="http://schemas.microsoft.com/office/drawing/2014/main" id="{F5FFC21E-5E35-7C32-85F7-E488D139E33B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E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6512070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0">
          <a:extLst>
            <a:ext uri="{FF2B5EF4-FFF2-40B4-BE49-F238E27FC236}">
              <a16:creationId xmlns:a16="http://schemas.microsoft.com/office/drawing/2014/main" id="{A56D81F8-3FF9-2A74-2C85-8E3201711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Picture 2" descr="Image result for zauberstab clipart">
            <a:extLst>
              <a:ext uri="{FF2B5EF4-FFF2-40B4-BE49-F238E27FC236}">
                <a16:creationId xmlns:a16="http://schemas.microsoft.com/office/drawing/2014/main" id="{04C85041-7CED-166D-90CF-9BFD018AF0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5275" y="4413302"/>
            <a:ext cx="611846" cy="863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Stern mit 7 Zacken 5">
            <a:extLst>
              <a:ext uri="{FF2B5EF4-FFF2-40B4-BE49-F238E27FC236}">
                <a16:creationId xmlns:a16="http://schemas.microsoft.com/office/drawing/2014/main" id="{2F36AB3B-7E7D-91D2-1650-CBEC7352905D}"/>
              </a:ext>
            </a:extLst>
          </p:cNvPr>
          <p:cNvSpPr/>
          <p:nvPr/>
        </p:nvSpPr>
        <p:spPr>
          <a:xfrm>
            <a:off x="4691496" y="4439824"/>
            <a:ext cx="3909702" cy="1033454"/>
          </a:xfrm>
          <a:prstGeom prst="star7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16" name="Gerader Verbinder 22">
            <a:extLst>
              <a:ext uri="{FF2B5EF4-FFF2-40B4-BE49-F238E27FC236}">
                <a16:creationId xmlns:a16="http://schemas.microsoft.com/office/drawing/2014/main" id="{040347BD-EF46-A86C-6B83-46940E136110}"/>
              </a:ext>
            </a:extLst>
          </p:cNvPr>
          <p:cNvCxnSpPr/>
          <p:nvPr/>
        </p:nvCxnSpPr>
        <p:spPr>
          <a:xfrm flipV="1">
            <a:off x="6229904" y="3844136"/>
            <a:ext cx="1206505" cy="564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Gerader Verbinder 22">
            <a:extLst>
              <a:ext uri="{FF2B5EF4-FFF2-40B4-BE49-F238E27FC236}">
                <a16:creationId xmlns:a16="http://schemas.microsoft.com/office/drawing/2014/main" id="{7CDC7596-7634-777C-EA55-42C39A2A7F63}"/>
              </a:ext>
            </a:extLst>
          </p:cNvPr>
          <p:cNvCxnSpPr>
            <a:stCxn id="111" idx="3"/>
            <a:endCxn id="112" idx="7"/>
          </p:cNvCxnSpPr>
          <p:nvPr/>
        </p:nvCxnSpPr>
        <p:spPr>
          <a:xfrm flipV="1">
            <a:off x="5389257" y="2776316"/>
            <a:ext cx="634012" cy="57154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Gerader Verbinder 22">
            <a:extLst>
              <a:ext uri="{FF2B5EF4-FFF2-40B4-BE49-F238E27FC236}">
                <a16:creationId xmlns:a16="http://schemas.microsoft.com/office/drawing/2014/main" id="{3B698786-8609-02BB-E9DD-E09D4C56F95E}"/>
              </a:ext>
            </a:extLst>
          </p:cNvPr>
          <p:cNvCxnSpPr>
            <a:stCxn id="114" idx="1"/>
          </p:cNvCxnSpPr>
          <p:nvPr/>
        </p:nvCxnSpPr>
        <p:spPr>
          <a:xfrm flipH="1" flipV="1">
            <a:off x="5536480" y="3229333"/>
            <a:ext cx="707042" cy="57121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Gerader Verbinder 22">
            <a:extLst>
              <a:ext uri="{FF2B5EF4-FFF2-40B4-BE49-F238E27FC236}">
                <a16:creationId xmlns:a16="http://schemas.microsoft.com/office/drawing/2014/main" id="{C2DF1E94-3CA3-F6D2-F865-130A03CACC0F}"/>
              </a:ext>
            </a:extLst>
          </p:cNvPr>
          <p:cNvCxnSpPr/>
          <p:nvPr/>
        </p:nvCxnSpPr>
        <p:spPr>
          <a:xfrm flipH="1" flipV="1">
            <a:off x="5881445" y="2807560"/>
            <a:ext cx="823252" cy="4274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Google Shape;1580;g60be7dcf1c_0_473">
            <a:extLst>
              <a:ext uri="{FF2B5EF4-FFF2-40B4-BE49-F238E27FC236}">
                <a16:creationId xmlns:a16="http://schemas.microsoft.com/office/drawing/2014/main" id="{CA37A5F6-0D62-F630-3530-0B01168B443D}"/>
              </a:ext>
            </a:extLst>
          </p:cNvPr>
          <p:cNvSpPr txBox="1"/>
          <p:nvPr/>
        </p:nvSpPr>
        <p:spPr>
          <a:xfrm>
            <a:off x="0" y="540000"/>
            <a:ext cx="8211000" cy="144000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57" name="Google Shape;1810;g60be7dcf1c_0_698">
            <a:extLst>
              <a:ext uri="{FF2B5EF4-FFF2-40B4-BE49-F238E27FC236}">
                <a16:creationId xmlns:a16="http://schemas.microsoft.com/office/drawing/2014/main" id="{610281F1-DA00-2F79-3FA8-231C946C56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3075" y="324175"/>
            <a:ext cx="6954274" cy="18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l">
              <a:buSzPts val="1100"/>
            </a:pPr>
            <a:r>
              <a:rPr lang="en-GB" sz="2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Related Problem:</a:t>
            </a:r>
            <a:br>
              <a:rPr lang="en-GB" sz="2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Virtual Network Embedding Problem (VNEP)</a:t>
            </a:r>
          </a:p>
        </p:txBody>
      </p:sp>
      <p:sp>
        <p:nvSpPr>
          <p:cNvPr id="111" name="Oval 44">
            <a:extLst>
              <a:ext uri="{FF2B5EF4-FFF2-40B4-BE49-F238E27FC236}">
                <a16:creationId xmlns:a16="http://schemas.microsoft.com/office/drawing/2014/main" id="{5344F2EB-0E14-1622-344D-2DA3BA4883E6}"/>
              </a:ext>
            </a:extLst>
          </p:cNvPr>
          <p:cNvSpPr/>
          <p:nvPr/>
        </p:nvSpPr>
        <p:spPr>
          <a:xfrm>
            <a:off x="5357621" y="3163471"/>
            <a:ext cx="216024" cy="21602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12" name="Oval 44">
            <a:extLst>
              <a:ext uri="{FF2B5EF4-FFF2-40B4-BE49-F238E27FC236}">
                <a16:creationId xmlns:a16="http://schemas.microsoft.com/office/drawing/2014/main" id="{D7CACB2C-657D-4AF0-BB79-B8C06876F766}"/>
              </a:ext>
            </a:extLst>
          </p:cNvPr>
          <p:cNvSpPr/>
          <p:nvPr/>
        </p:nvSpPr>
        <p:spPr>
          <a:xfrm>
            <a:off x="5838881" y="2744680"/>
            <a:ext cx="216024" cy="21602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13" name="Oval 44">
            <a:extLst>
              <a:ext uri="{FF2B5EF4-FFF2-40B4-BE49-F238E27FC236}">
                <a16:creationId xmlns:a16="http://schemas.microsoft.com/office/drawing/2014/main" id="{293FDB38-C7AA-E202-2573-61C08B47E374}"/>
              </a:ext>
            </a:extLst>
          </p:cNvPr>
          <p:cNvSpPr/>
          <p:nvPr/>
        </p:nvSpPr>
        <p:spPr>
          <a:xfrm>
            <a:off x="6662133" y="3172084"/>
            <a:ext cx="216024" cy="21602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14" name="Oval 44">
            <a:extLst>
              <a:ext uri="{FF2B5EF4-FFF2-40B4-BE49-F238E27FC236}">
                <a16:creationId xmlns:a16="http://schemas.microsoft.com/office/drawing/2014/main" id="{B87BB85E-F7DD-BA10-5079-02190811FA7D}"/>
              </a:ext>
            </a:extLst>
          </p:cNvPr>
          <p:cNvSpPr/>
          <p:nvPr/>
        </p:nvSpPr>
        <p:spPr>
          <a:xfrm>
            <a:off x="6211886" y="3768914"/>
            <a:ext cx="216024" cy="21602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17" name="Oval 44">
            <a:extLst>
              <a:ext uri="{FF2B5EF4-FFF2-40B4-BE49-F238E27FC236}">
                <a16:creationId xmlns:a16="http://schemas.microsoft.com/office/drawing/2014/main" id="{D95A893C-06FC-5FE9-5A03-748364D789D5}"/>
              </a:ext>
            </a:extLst>
          </p:cNvPr>
          <p:cNvSpPr/>
          <p:nvPr/>
        </p:nvSpPr>
        <p:spPr>
          <a:xfrm>
            <a:off x="7258432" y="2744680"/>
            <a:ext cx="216024" cy="21602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18" name="Oval 44">
            <a:extLst>
              <a:ext uri="{FF2B5EF4-FFF2-40B4-BE49-F238E27FC236}">
                <a16:creationId xmlns:a16="http://schemas.microsoft.com/office/drawing/2014/main" id="{568A66B8-D81A-41B6-306B-0D0479A8C554}"/>
              </a:ext>
            </a:extLst>
          </p:cNvPr>
          <p:cNvSpPr/>
          <p:nvPr/>
        </p:nvSpPr>
        <p:spPr>
          <a:xfrm>
            <a:off x="7463043" y="3725986"/>
            <a:ext cx="216024" cy="21602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cxnSp>
        <p:nvCxnSpPr>
          <p:cNvPr id="120" name="Gerader Verbinder 22">
            <a:extLst>
              <a:ext uri="{FF2B5EF4-FFF2-40B4-BE49-F238E27FC236}">
                <a16:creationId xmlns:a16="http://schemas.microsoft.com/office/drawing/2014/main" id="{8FA807C1-15F4-9FD7-9C9B-06E643338AB8}"/>
              </a:ext>
            </a:extLst>
          </p:cNvPr>
          <p:cNvCxnSpPr>
            <a:stCxn id="114" idx="7"/>
            <a:endCxn id="113" idx="3"/>
          </p:cNvCxnSpPr>
          <p:nvPr/>
        </p:nvCxnSpPr>
        <p:spPr>
          <a:xfrm flipV="1">
            <a:off x="6396274" y="3356472"/>
            <a:ext cx="297495" cy="44407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Gerader Verbinder 22">
            <a:extLst>
              <a:ext uri="{FF2B5EF4-FFF2-40B4-BE49-F238E27FC236}">
                <a16:creationId xmlns:a16="http://schemas.microsoft.com/office/drawing/2014/main" id="{14BE4C1D-BCCC-5C47-3B8F-486BEC71DEAC}"/>
              </a:ext>
            </a:extLst>
          </p:cNvPr>
          <p:cNvCxnSpPr>
            <a:endCxn id="117" idx="3"/>
          </p:cNvCxnSpPr>
          <p:nvPr/>
        </p:nvCxnSpPr>
        <p:spPr>
          <a:xfrm flipV="1">
            <a:off x="6878157" y="2929068"/>
            <a:ext cx="411911" cy="30002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Gerader Verbinder 22">
            <a:extLst>
              <a:ext uri="{FF2B5EF4-FFF2-40B4-BE49-F238E27FC236}">
                <a16:creationId xmlns:a16="http://schemas.microsoft.com/office/drawing/2014/main" id="{6CE0A6A4-408F-0936-A7D9-13F52A57C3C2}"/>
              </a:ext>
            </a:extLst>
          </p:cNvPr>
          <p:cNvCxnSpPr>
            <a:stCxn id="118" idx="0"/>
            <a:endCxn id="117" idx="4"/>
          </p:cNvCxnSpPr>
          <p:nvPr/>
        </p:nvCxnSpPr>
        <p:spPr>
          <a:xfrm flipH="1" flipV="1">
            <a:off x="7366444" y="2960704"/>
            <a:ext cx="204611" cy="7652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Gerader Verbinder 22">
            <a:extLst>
              <a:ext uri="{FF2B5EF4-FFF2-40B4-BE49-F238E27FC236}">
                <a16:creationId xmlns:a16="http://schemas.microsoft.com/office/drawing/2014/main" id="{2F40D87B-F56D-C071-123C-766A1B0C5466}"/>
              </a:ext>
            </a:extLst>
          </p:cNvPr>
          <p:cNvCxnSpPr>
            <a:endCxn id="135" idx="6"/>
          </p:cNvCxnSpPr>
          <p:nvPr/>
        </p:nvCxnSpPr>
        <p:spPr>
          <a:xfrm>
            <a:off x="5440034" y="4966244"/>
            <a:ext cx="25293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Oval 44">
            <a:extLst>
              <a:ext uri="{FF2B5EF4-FFF2-40B4-BE49-F238E27FC236}">
                <a16:creationId xmlns:a16="http://schemas.microsoft.com/office/drawing/2014/main" id="{6224B13A-F778-2505-1A72-53FCEAD8E2CC}"/>
              </a:ext>
            </a:extLst>
          </p:cNvPr>
          <p:cNvSpPr/>
          <p:nvPr/>
        </p:nvSpPr>
        <p:spPr>
          <a:xfrm>
            <a:off x="5332022" y="4858232"/>
            <a:ext cx="216024" cy="21602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28" name="Oval 44">
            <a:extLst>
              <a:ext uri="{FF2B5EF4-FFF2-40B4-BE49-F238E27FC236}">
                <a16:creationId xmlns:a16="http://schemas.microsoft.com/office/drawing/2014/main" id="{F3E82504-3FE1-56DF-8074-B06A07FE1A15}"/>
              </a:ext>
            </a:extLst>
          </p:cNvPr>
          <p:cNvSpPr/>
          <p:nvPr/>
        </p:nvSpPr>
        <p:spPr>
          <a:xfrm>
            <a:off x="5809921" y="4858232"/>
            <a:ext cx="216024" cy="21602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30" name="Oval 44">
            <a:extLst>
              <a:ext uri="{FF2B5EF4-FFF2-40B4-BE49-F238E27FC236}">
                <a16:creationId xmlns:a16="http://schemas.microsoft.com/office/drawing/2014/main" id="{8BD7F767-BF7C-219F-F1DA-5FE8E0FF397E}"/>
              </a:ext>
            </a:extLst>
          </p:cNvPr>
          <p:cNvSpPr/>
          <p:nvPr/>
        </p:nvSpPr>
        <p:spPr>
          <a:xfrm>
            <a:off x="6300031" y="4858232"/>
            <a:ext cx="216024" cy="21602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32" name="Oval 44">
            <a:extLst>
              <a:ext uri="{FF2B5EF4-FFF2-40B4-BE49-F238E27FC236}">
                <a16:creationId xmlns:a16="http://schemas.microsoft.com/office/drawing/2014/main" id="{5F8E96A7-7FB6-4481-3747-3990C03A0349}"/>
              </a:ext>
            </a:extLst>
          </p:cNvPr>
          <p:cNvSpPr/>
          <p:nvPr/>
        </p:nvSpPr>
        <p:spPr>
          <a:xfrm>
            <a:off x="6773115" y="4858232"/>
            <a:ext cx="216024" cy="21602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33" name="Oval 44">
            <a:extLst>
              <a:ext uri="{FF2B5EF4-FFF2-40B4-BE49-F238E27FC236}">
                <a16:creationId xmlns:a16="http://schemas.microsoft.com/office/drawing/2014/main" id="{B56BB921-49BC-CC4E-5620-BA1A567E90CB}"/>
              </a:ext>
            </a:extLst>
          </p:cNvPr>
          <p:cNvSpPr/>
          <p:nvPr/>
        </p:nvSpPr>
        <p:spPr>
          <a:xfrm>
            <a:off x="7263225" y="4858232"/>
            <a:ext cx="216024" cy="21602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35" name="Oval 44">
            <a:extLst>
              <a:ext uri="{FF2B5EF4-FFF2-40B4-BE49-F238E27FC236}">
                <a16:creationId xmlns:a16="http://schemas.microsoft.com/office/drawing/2014/main" id="{885505B8-2CD6-A4B6-CD93-A79FCDE28219}"/>
              </a:ext>
            </a:extLst>
          </p:cNvPr>
          <p:cNvSpPr/>
          <p:nvPr/>
        </p:nvSpPr>
        <p:spPr>
          <a:xfrm>
            <a:off x="7753335" y="4858232"/>
            <a:ext cx="216024" cy="21602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cxnSp>
        <p:nvCxnSpPr>
          <p:cNvPr id="136" name="Gerader Verbinder 22">
            <a:extLst>
              <a:ext uri="{FF2B5EF4-FFF2-40B4-BE49-F238E27FC236}">
                <a16:creationId xmlns:a16="http://schemas.microsoft.com/office/drawing/2014/main" id="{B4944405-EC9A-1ED3-47BC-F9F5799A344A}"/>
              </a:ext>
            </a:extLst>
          </p:cNvPr>
          <p:cNvCxnSpPr>
            <a:stCxn id="127" idx="0"/>
            <a:endCxn id="111" idx="4"/>
          </p:cNvCxnSpPr>
          <p:nvPr/>
        </p:nvCxnSpPr>
        <p:spPr>
          <a:xfrm flipV="1">
            <a:off x="5440034" y="3379495"/>
            <a:ext cx="25599" cy="1478737"/>
          </a:xfrm>
          <a:prstGeom prst="line">
            <a:avLst/>
          </a:prstGeom>
          <a:ln>
            <a:solidFill>
              <a:schemeClr val="tx1"/>
            </a:solidFill>
            <a:prstDash val="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Gerader Verbinder 22">
            <a:extLst>
              <a:ext uri="{FF2B5EF4-FFF2-40B4-BE49-F238E27FC236}">
                <a16:creationId xmlns:a16="http://schemas.microsoft.com/office/drawing/2014/main" id="{D6380ABE-2D47-0B54-38CA-B4954D99BFDF}"/>
              </a:ext>
            </a:extLst>
          </p:cNvPr>
          <p:cNvCxnSpPr>
            <a:stCxn id="128" idx="0"/>
            <a:endCxn id="112" idx="4"/>
          </p:cNvCxnSpPr>
          <p:nvPr/>
        </p:nvCxnSpPr>
        <p:spPr>
          <a:xfrm flipV="1">
            <a:off x="5917933" y="2960704"/>
            <a:ext cx="28960" cy="1897528"/>
          </a:xfrm>
          <a:prstGeom prst="line">
            <a:avLst/>
          </a:prstGeom>
          <a:ln>
            <a:solidFill>
              <a:schemeClr val="tx1"/>
            </a:solidFill>
            <a:prstDash val="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Gerader Verbinder 22">
            <a:extLst>
              <a:ext uri="{FF2B5EF4-FFF2-40B4-BE49-F238E27FC236}">
                <a16:creationId xmlns:a16="http://schemas.microsoft.com/office/drawing/2014/main" id="{4E2AE5D4-1D37-F57E-7367-A44F5AD3AD58}"/>
              </a:ext>
            </a:extLst>
          </p:cNvPr>
          <p:cNvCxnSpPr>
            <a:stCxn id="130" idx="0"/>
          </p:cNvCxnSpPr>
          <p:nvPr/>
        </p:nvCxnSpPr>
        <p:spPr>
          <a:xfrm flipH="1" flipV="1">
            <a:off x="6325138" y="3988501"/>
            <a:ext cx="82905" cy="869731"/>
          </a:xfrm>
          <a:prstGeom prst="line">
            <a:avLst/>
          </a:prstGeom>
          <a:ln>
            <a:solidFill>
              <a:schemeClr val="tx1"/>
            </a:solidFill>
            <a:prstDash val="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Gerader Verbinder 22">
            <a:extLst>
              <a:ext uri="{FF2B5EF4-FFF2-40B4-BE49-F238E27FC236}">
                <a16:creationId xmlns:a16="http://schemas.microsoft.com/office/drawing/2014/main" id="{BD740B04-11F8-D40E-E9CC-B684E33C6804}"/>
              </a:ext>
            </a:extLst>
          </p:cNvPr>
          <p:cNvCxnSpPr>
            <a:stCxn id="132" idx="0"/>
          </p:cNvCxnSpPr>
          <p:nvPr/>
        </p:nvCxnSpPr>
        <p:spPr>
          <a:xfrm flipH="1" flipV="1">
            <a:off x="6776549" y="3356473"/>
            <a:ext cx="104578" cy="1501759"/>
          </a:xfrm>
          <a:prstGeom prst="line">
            <a:avLst/>
          </a:prstGeom>
          <a:ln>
            <a:solidFill>
              <a:schemeClr val="tx1"/>
            </a:solidFill>
            <a:prstDash val="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Gerader Verbinder 22">
            <a:extLst>
              <a:ext uri="{FF2B5EF4-FFF2-40B4-BE49-F238E27FC236}">
                <a16:creationId xmlns:a16="http://schemas.microsoft.com/office/drawing/2014/main" id="{D15D72B2-312A-F94E-7DBA-94492060C8D9}"/>
              </a:ext>
            </a:extLst>
          </p:cNvPr>
          <p:cNvCxnSpPr>
            <a:stCxn id="133" idx="0"/>
            <a:endCxn id="117" idx="4"/>
          </p:cNvCxnSpPr>
          <p:nvPr/>
        </p:nvCxnSpPr>
        <p:spPr>
          <a:xfrm flipH="1" flipV="1">
            <a:off x="7366444" y="2960704"/>
            <a:ext cx="4793" cy="1897528"/>
          </a:xfrm>
          <a:prstGeom prst="line">
            <a:avLst/>
          </a:prstGeom>
          <a:ln>
            <a:solidFill>
              <a:schemeClr val="tx1"/>
            </a:solidFill>
            <a:prstDash val="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Gerader Verbinder 22">
            <a:extLst>
              <a:ext uri="{FF2B5EF4-FFF2-40B4-BE49-F238E27FC236}">
                <a16:creationId xmlns:a16="http://schemas.microsoft.com/office/drawing/2014/main" id="{AF5354C6-2554-6F11-7902-C16A6D2C1009}"/>
              </a:ext>
            </a:extLst>
          </p:cNvPr>
          <p:cNvCxnSpPr>
            <a:stCxn id="135" idx="1"/>
          </p:cNvCxnSpPr>
          <p:nvPr/>
        </p:nvCxnSpPr>
        <p:spPr>
          <a:xfrm flipH="1" flipV="1">
            <a:off x="7608067" y="3942012"/>
            <a:ext cx="176904" cy="947856"/>
          </a:xfrm>
          <a:prstGeom prst="line">
            <a:avLst/>
          </a:prstGeom>
          <a:ln>
            <a:solidFill>
              <a:schemeClr val="tx1"/>
            </a:solidFill>
            <a:prstDash val="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Google Shape;1534;g60be7dcf1c_0_434">
            <a:extLst>
              <a:ext uri="{FF2B5EF4-FFF2-40B4-BE49-F238E27FC236}">
                <a16:creationId xmlns:a16="http://schemas.microsoft.com/office/drawing/2014/main" id="{77CAFCB1-8B7F-2912-01D5-5F79078B8B55}"/>
              </a:ext>
            </a:extLst>
          </p:cNvPr>
          <p:cNvSpPr txBox="1"/>
          <p:nvPr/>
        </p:nvSpPr>
        <p:spPr>
          <a:xfrm>
            <a:off x="887106" y="2561058"/>
            <a:ext cx="3585673" cy="882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Example </a:t>
            </a:r>
            <a:r>
              <a:rPr lang="en-AT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△=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2: A Minium Linear Arrangement (</a:t>
            </a:r>
            <a:r>
              <a:rPr lang="en-GB" sz="1600" b="1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MLA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Problem</a:t>
            </a:r>
          </a:p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⇀ 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Minimizes sum of virtual  </a:t>
            </a:r>
          </a:p>
          <a:p>
            <a:pPr lvl="0">
              <a:lnSpc>
                <a:spcPct val="115000"/>
              </a:lnSpc>
            </a:pP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edges</a:t>
            </a:r>
          </a:p>
        </p:txBody>
      </p:sp>
      <p:sp>
        <p:nvSpPr>
          <p:cNvPr id="38" name="Google Shape;1534;g60be7dcf1c_0_434">
            <a:extLst>
              <a:ext uri="{FF2B5EF4-FFF2-40B4-BE49-F238E27FC236}">
                <a16:creationId xmlns:a16="http://schemas.microsoft.com/office/drawing/2014/main" id="{F7B0EA5E-9E2D-7385-C152-259692C5CF0E}"/>
              </a:ext>
            </a:extLst>
          </p:cNvPr>
          <p:cNvSpPr txBox="1"/>
          <p:nvPr/>
        </p:nvSpPr>
        <p:spPr>
          <a:xfrm>
            <a:off x="929219" y="3974235"/>
            <a:ext cx="3585673" cy="882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MLA </a:t>
            </a:r>
            <a:r>
              <a:rPr lang="de-DE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is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 b="1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NP-hard</a:t>
            </a:r>
            <a:endParaRPr lang="de-DE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⇀ </a:t>
            </a:r>
            <a:r>
              <a:rPr lang="en-AT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…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de-DE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and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so </a:t>
            </a:r>
            <a:r>
              <a:rPr lang="de-DE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is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de-DE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our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de-DE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problem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!</a:t>
            </a: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" name="Google Shape;1534;g60be7dcf1c_0_434">
            <a:extLst>
              <a:ext uri="{FF2B5EF4-FFF2-40B4-BE49-F238E27FC236}">
                <a16:creationId xmlns:a16="http://schemas.microsoft.com/office/drawing/2014/main" id="{BD5C54C9-CD2A-8949-586B-7D9BA6120AED}"/>
              </a:ext>
            </a:extLst>
          </p:cNvPr>
          <p:cNvSpPr txBox="1"/>
          <p:nvPr/>
        </p:nvSpPr>
        <p:spPr>
          <a:xfrm>
            <a:off x="929219" y="4841553"/>
            <a:ext cx="4014561" cy="882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But </a:t>
            </a:r>
            <a:r>
              <a:rPr lang="de-DE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what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de-DE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about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AT" sz="1600" b="1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△</a:t>
            </a:r>
            <a:r>
              <a:rPr lang="de-DE" sz="1600" b="1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-AT" sz="1600" b="1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?</a:t>
            </a:r>
          </a:p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⇀ 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Embedding </a:t>
            </a:r>
            <a:r>
              <a:rPr lang="de-DE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problem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still </a:t>
            </a:r>
            <a:r>
              <a:rPr lang="de-DE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hard</a:t>
            </a:r>
            <a:endParaRPr lang="de-DE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⇀ 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But </a:t>
            </a:r>
            <a:r>
              <a:rPr lang="de-DE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we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de-DE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have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a </a:t>
            </a:r>
            <a:r>
              <a:rPr lang="de-DE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 b="1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degree of</a:t>
            </a:r>
            <a:endParaRPr lang="de-DE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>
              <a:lnSpc>
                <a:spcPct val="115000"/>
              </a:lnSpc>
            </a:pP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</a:t>
            </a:r>
            <a:r>
              <a:rPr lang="en-GB" sz="1600" b="1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freedom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!</a:t>
            </a: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" name="Rectangle 28">
            <a:extLst>
              <a:ext uri="{FF2B5EF4-FFF2-40B4-BE49-F238E27FC236}">
                <a16:creationId xmlns:a16="http://schemas.microsoft.com/office/drawing/2014/main" id="{B90CAF47-BF27-F0C5-D9B5-3F3C48BC8F27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E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8371791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0">
          <a:extLst>
            <a:ext uri="{FF2B5EF4-FFF2-40B4-BE49-F238E27FC236}">
              <a16:creationId xmlns:a16="http://schemas.microsoft.com/office/drawing/2014/main" id="{43730F99-18C2-3A25-1C82-0D63748E7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Picture 2" descr="Image result for zauberstab clipart">
            <a:extLst>
              <a:ext uri="{FF2B5EF4-FFF2-40B4-BE49-F238E27FC236}">
                <a16:creationId xmlns:a16="http://schemas.microsoft.com/office/drawing/2014/main" id="{8E7FD131-FE54-374A-B739-6EDA46E43F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5275" y="4413302"/>
            <a:ext cx="611846" cy="863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Stern mit 7 Zacken 5">
            <a:extLst>
              <a:ext uri="{FF2B5EF4-FFF2-40B4-BE49-F238E27FC236}">
                <a16:creationId xmlns:a16="http://schemas.microsoft.com/office/drawing/2014/main" id="{2EF9BA09-FF8C-41D0-4CBC-C681A452577E}"/>
              </a:ext>
            </a:extLst>
          </p:cNvPr>
          <p:cNvSpPr/>
          <p:nvPr/>
        </p:nvSpPr>
        <p:spPr>
          <a:xfrm>
            <a:off x="4691496" y="4439824"/>
            <a:ext cx="3909702" cy="1033454"/>
          </a:xfrm>
          <a:prstGeom prst="star7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16" name="Gerader Verbinder 22">
            <a:extLst>
              <a:ext uri="{FF2B5EF4-FFF2-40B4-BE49-F238E27FC236}">
                <a16:creationId xmlns:a16="http://schemas.microsoft.com/office/drawing/2014/main" id="{461DB1F0-729C-A5FA-5617-A7FF4E6D0E1B}"/>
              </a:ext>
            </a:extLst>
          </p:cNvPr>
          <p:cNvCxnSpPr/>
          <p:nvPr/>
        </p:nvCxnSpPr>
        <p:spPr>
          <a:xfrm flipV="1">
            <a:off x="6229904" y="3844136"/>
            <a:ext cx="1206505" cy="564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Gerader Verbinder 22">
            <a:extLst>
              <a:ext uri="{FF2B5EF4-FFF2-40B4-BE49-F238E27FC236}">
                <a16:creationId xmlns:a16="http://schemas.microsoft.com/office/drawing/2014/main" id="{59321979-D06E-F176-5751-35FC2E1AD737}"/>
              </a:ext>
            </a:extLst>
          </p:cNvPr>
          <p:cNvCxnSpPr>
            <a:stCxn id="111" idx="3"/>
            <a:endCxn id="112" idx="7"/>
          </p:cNvCxnSpPr>
          <p:nvPr/>
        </p:nvCxnSpPr>
        <p:spPr>
          <a:xfrm flipV="1">
            <a:off x="5389257" y="2776316"/>
            <a:ext cx="634012" cy="57154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Gerader Verbinder 22">
            <a:extLst>
              <a:ext uri="{FF2B5EF4-FFF2-40B4-BE49-F238E27FC236}">
                <a16:creationId xmlns:a16="http://schemas.microsoft.com/office/drawing/2014/main" id="{AE9E3221-EC7B-DF9B-591B-A42FAF21BBD8}"/>
              </a:ext>
            </a:extLst>
          </p:cNvPr>
          <p:cNvCxnSpPr>
            <a:stCxn id="114" idx="1"/>
          </p:cNvCxnSpPr>
          <p:nvPr/>
        </p:nvCxnSpPr>
        <p:spPr>
          <a:xfrm flipH="1" flipV="1">
            <a:off x="5536480" y="3229333"/>
            <a:ext cx="707042" cy="57121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Gerader Verbinder 22">
            <a:extLst>
              <a:ext uri="{FF2B5EF4-FFF2-40B4-BE49-F238E27FC236}">
                <a16:creationId xmlns:a16="http://schemas.microsoft.com/office/drawing/2014/main" id="{1061E706-7678-1927-55D3-F1F9243B5A87}"/>
              </a:ext>
            </a:extLst>
          </p:cNvPr>
          <p:cNvCxnSpPr/>
          <p:nvPr/>
        </p:nvCxnSpPr>
        <p:spPr>
          <a:xfrm flipH="1" flipV="1">
            <a:off x="5881445" y="2807560"/>
            <a:ext cx="823252" cy="4274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Google Shape;1580;g60be7dcf1c_0_473">
            <a:extLst>
              <a:ext uri="{FF2B5EF4-FFF2-40B4-BE49-F238E27FC236}">
                <a16:creationId xmlns:a16="http://schemas.microsoft.com/office/drawing/2014/main" id="{2ABF136B-46AC-72D1-B7AF-CC9C0884F062}"/>
              </a:ext>
            </a:extLst>
          </p:cNvPr>
          <p:cNvSpPr txBox="1"/>
          <p:nvPr/>
        </p:nvSpPr>
        <p:spPr>
          <a:xfrm>
            <a:off x="0" y="540000"/>
            <a:ext cx="8211000" cy="144000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57" name="Google Shape;1810;g60be7dcf1c_0_698">
            <a:extLst>
              <a:ext uri="{FF2B5EF4-FFF2-40B4-BE49-F238E27FC236}">
                <a16:creationId xmlns:a16="http://schemas.microsoft.com/office/drawing/2014/main" id="{E7B1FF79-0E97-6A0C-1AC3-A721315B5C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3075" y="324175"/>
            <a:ext cx="6954274" cy="18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l">
              <a:buSzPts val="1100"/>
            </a:pPr>
            <a:r>
              <a:rPr lang="en-GB" sz="2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Related Problem:</a:t>
            </a:r>
            <a:br>
              <a:rPr lang="en-GB" sz="2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Virtual Network Embedding Problem (VNEP)</a:t>
            </a:r>
          </a:p>
        </p:txBody>
      </p:sp>
      <p:sp>
        <p:nvSpPr>
          <p:cNvPr id="111" name="Oval 44">
            <a:extLst>
              <a:ext uri="{FF2B5EF4-FFF2-40B4-BE49-F238E27FC236}">
                <a16:creationId xmlns:a16="http://schemas.microsoft.com/office/drawing/2014/main" id="{2C418758-C179-EFD1-74FA-4E182E5116BA}"/>
              </a:ext>
            </a:extLst>
          </p:cNvPr>
          <p:cNvSpPr/>
          <p:nvPr/>
        </p:nvSpPr>
        <p:spPr>
          <a:xfrm>
            <a:off x="5357621" y="3163471"/>
            <a:ext cx="216024" cy="21602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12" name="Oval 44">
            <a:extLst>
              <a:ext uri="{FF2B5EF4-FFF2-40B4-BE49-F238E27FC236}">
                <a16:creationId xmlns:a16="http://schemas.microsoft.com/office/drawing/2014/main" id="{70A25F31-5442-0B38-6194-3929A943D2C7}"/>
              </a:ext>
            </a:extLst>
          </p:cNvPr>
          <p:cNvSpPr/>
          <p:nvPr/>
        </p:nvSpPr>
        <p:spPr>
          <a:xfrm>
            <a:off x="5838881" y="2744680"/>
            <a:ext cx="216024" cy="21602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13" name="Oval 44">
            <a:extLst>
              <a:ext uri="{FF2B5EF4-FFF2-40B4-BE49-F238E27FC236}">
                <a16:creationId xmlns:a16="http://schemas.microsoft.com/office/drawing/2014/main" id="{5111E410-7AC2-4EDD-8E2D-13EE18144D32}"/>
              </a:ext>
            </a:extLst>
          </p:cNvPr>
          <p:cNvSpPr/>
          <p:nvPr/>
        </p:nvSpPr>
        <p:spPr>
          <a:xfrm>
            <a:off x="6662133" y="3172084"/>
            <a:ext cx="216024" cy="21602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14" name="Oval 44">
            <a:extLst>
              <a:ext uri="{FF2B5EF4-FFF2-40B4-BE49-F238E27FC236}">
                <a16:creationId xmlns:a16="http://schemas.microsoft.com/office/drawing/2014/main" id="{EA266441-D4E4-3EFE-BD0C-7B8E3D076D55}"/>
              </a:ext>
            </a:extLst>
          </p:cNvPr>
          <p:cNvSpPr/>
          <p:nvPr/>
        </p:nvSpPr>
        <p:spPr>
          <a:xfrm>
            <a:off x="6211886" y="3768914"/>
            <a:ext cx="216024" cy="21602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17" name="Oval 44">
            <a:extLst>
              <a:ext uri="{FF2B5EF4-FFF2-40B4-BE49-F238E27FC236}">
                <a16:creationId xmlns:a16="http://schemas.microsoft.com/office/drawing/2014/main" id="{DD6C1A35-113F-876F-5F5E-5B3BAF77F804}"/>
              </a:ext>
            </a:extLst>
          </p:cNvPr>
          <p:cNvSpPr/>
          <p:nvPr/>
        </p:nvSpPr>
        <p:spPr>
          <a:xfrm>
            <a:off x="7258432" y="2744680"/>
            <a:ext cx="216024" cy="21602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18" name="Oval 44">
            <a:extLst>
              <a:ext uri="{FF2B5EF4-FFF2-40B4-BE49-F238E27FC236}">
                <a16:creationId xmlns:a16="http://schemas.microsoft.com/office/drawing/2014/main" id="{CD54E801-92B6-AD07-5CEE-C75CD64E3C2F}"/>
              </a:ext>
            </a:extLst>
          </p:cNvPr>
          <p:cNvSpPr/>
          <p:nvPr/>
        </p:nvSpPr>
        <p:spPr>
          <a:xfrm>
            <a:off x="7463043" y="3725986"/>
            <a:ext cx="216024" cy="21602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cxnSp>
        <p:nvCxnSpPr>
          <p:cNvPr id="120" name="Gerader Verbinder 22">
            <a:extLst>
              <a:ext uri="{FF2B5EF4-FFF2-40B4-BE49-F238E27FC236}">
                <a16:creationId xmlns:a16="http://schemas.microsoft.com/office/drawing/2014/main" id="{E2ED61B9-D291-3572-376F-6D11AEC8297C}"/>
              </a:ext>
            </a:extLst>
          </p:cNvPr>
          <p:cNvCxnSpPr>
            <a:stCxn id="114" idx="7"/>
            <a:endCxn id="113" idx="3"/>
          </p:cNvCxnSpPr>
          <p:nvPr/>
        </p:nvCxnSpPr>
        <p:spPr>
          <a:xfrm flipV="1">
            <a:off x="6396274" y="3356472"/>
            <a:ext cx="297495" cy="44407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Gerader Verbinder 22">
            <a:extLst>
              <a:ext uri="{FF2B5EF4-FFF2-40B4-BE49-F238E27FC236}">
                <a16:creationId xmlns:a16="http://schemas.microsoft.com/office/drawing/2014/main" id="{4A2E54D8-4E41-A293-29FD-59BFF46FE3B7}"/>
              </a:ext>
            </a:extLst>
          </p:cNvPr>
          <p:cNvCxnSpPr>
            <a:endCxn id="117" idx="3"/>
          </p:cNvCxnSpPr>
          <p:nvPr/>
        </p:nvCxnSpPr>
        <p:spPr>
          <a:xfrm flipV="1">
            <a:off x="6878157" y="2929068"/>
            <a:ext cx="411911" cy="30002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Gerader Verbinder 22">
            <a:extLst>
              <a:ext uri="{FF2B5EF4-FFF2-40B4-BE49-F238E27FC236}">
                <a16:creationId xmlns:a16="http://schemas.microsoft.com/office/drawing/2014/main" id="{CC3BF77E-428E-C4AD-007D-1058926B0351}"/>
              </a:ext>
            </a:extLst>
          </p:cNvPr>
          <p:cNvCxnSpPr>
            <a:stCxn id="118" idx="0"/>
            <a:endCxn id="117" idx="4"/>
          </p:cNvCxnSpPr>
          <p:nvPr/>
        </p:nvCxnSpPr>
        <p:spPr>
          <a:xfrm flipH="1" flipV="1">
            <a:off x="7366444" y="2960704"/>
            <a:ext cx="204611" cy="7652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Gerader Verbinder 22">
            <a:extLst>
              <a:ext uri="{FF2B5EF4-FFF2-40B4-BE49-F238E27FC236}">
                <a16:creationId xmlns:a16="http://schemas.microsoft.com/office/drawing/2014/main" id="{BD4FBC0D-62F7-5125-D5A7-12EF5A7345FD}"/>
              </a:ext>
            </a:extLst>
          </p:cNvPr>
          <p:cNvCxnSpPr>
            <a:endCxn id="135" idx="6"/>
          </p:cNvCxnSpPr>
          <p:nvPr/>
        </p:nvCxnSpPr>
        <p:spPr>
          <a:xfrm>
            <a:off x="5440034" y="4966244"/>
            <a:ext cx="25293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Oval 44">
            <a:extLst>
              <a:ext uri="{FF2B5EF4-FFF2-40B4-BE49-F238E27FC236}">
                <a16:creationId xmlns:a16="http://schemas.microsoft.com/office/drawing/2014/main" id="{3BFAD2E5-68A5-2833-3B11-84E58C7B6988}"/>
              </a:ext>
            </a:extLst>
          </p:cNvPr>
          <p:cNvSpPr/>
          <p:nvPr/>
        </p:nvSpPr>
        <p:spPr>
          <a:xfrm>
            <a:off x="5332022" y="4858232"/>
            <a:ext cx="216024" cy="21602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28" name="Oval 44">
            <a:extLst>
              <a:ext uri="{FF2B5EF4-FFF2-40B4-BE49-F238E27FC236}">
                <a16:creationId xmlns:a16="http://schemas.microsoft.com/office/drawing/2014/main" id="{B0540B11-30DD-31D1-F020-F599E8555A65}"/>
              </a:ext>
            </a:extLst>
          </p:cNvPr>
          <p:cNvSpPr/>
          <p:nvPr/>
        </p:nvSpPr>
        <p:spPr>
          <a:xfrm>
            <a:off x="5809921" y="4858232"/>
            <a:ext cx="216024" cy="21602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30" name="Oval 44">
            <a:extLst>
              <a:ext uri="{FF2B5EF4-FFF2-40B4-BE49-F238E27FC236}">
                <a16:creationId xmlns:a16="http://schemas.microsoft.com/office/drawing/2014/main" id="{1036354F-125C-D6E6-0B54-B977FA4D538A}"/>
              </a:ext>
            </a:extLst>
          </p:cNvPr>
          <p:cNvSpPr/>
          <p:nvPr/>
        </p:nvSpPr>
        <p:spPr>
          <a:xfrm>
            <a:off x="6300031" y="4858232"/>
            <a:ext cx="216024" cy="21602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32" name="Oval 44">
            <a:extLst>
              <a:ext uri="{FF2B5EF4-FFF2-40B4-BE49-F238E27FC236}">
                <a16:creationId xmlns:a16="http://schemas.microsoft.com/office/drawing/2014/main" id="{CCAC677A-EDD2-F59D-E945-24092F815D9C}"/>
              </a:ext>
            </a:extLst>
          </p:cNvPr>
          <p:cNvSpPr/>
          <p:nvPr/>
        </p:nvSpPr>
        <p:spPr>
          <a:xfrm>
            <a:off x="6773115" y="4858232"/>
            <a:ext cx="216024" cy="21602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33" name="Oval 44">
            <a:extLst>
              <a:ext uri="{FF2B5EF4-FFF2-40B4-BE49-F238E27FC236}">
                <a16:creationId xmlns:a16="http://schemas.microsoft.com/office/drawing/2014/main" id="{91E40109-5F09-9BE7-C08F-70BB7A929734}"/>
              </a:ext>
            </a:extLst>
          </p:cNvPr>
          <p:cNvSpPr/>
          <p:nvPr/>
        </p:nvSpPr>
        <p:spPr>
          <a:xfrm>
            <a:off x="7263225" y="4858232"/>
            <a:ext cx="216024" cy="21602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35" name="Oval 44">
            <a:extLst>
              <a:ext uri="{FF2B5EF4-FFF2-40B4-BE49-F238E27FC236}">
                <a16:creationId xmlns:a16="http://schemas.microsoft.com/office/drawing/2014/main" id="{C3B1A7E1-6B50-161E-AE57-AB13CD1E5C74}"/>
              </a:ext>
            </a:extLst>
          </p:cNvPr>
          <p:cNvSpPr/>
          <p:nvPr/>
        </p:nvSpPr>
        <p:spPr>
          <a:xfrm>
            <a:off x="7753335" y="4858232"/>
            <a:ext cx="216024" cy="21602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cxnSp>
        <p:nvCxnSpPr>
          <p:cNvPr id="136" name="Gerader Verbinder 22">
            <a:extLst>
              <a:ext uri="{FF2B5EF4-FFF2-40B4-BE49-F238E27FC236}">
                <a16:creationId xmlns:a16="http://schemas.microsoft.com/office/drawing/2014/main" id="{545F189C-1A24-BABF-8274-E3FDF0FB231B}"/>
              </a:ext>
            </a:extLst>
          </p:cNvPr>
          <p:cNvCxnSpPr>
            <a:stCxn id="127" idx="0"/>
            <a:endCxn id="111" idx="4"/>
          </p:cNvCxnSpPr>
          <p:nvPr/>
        </p:nvCxnSpPr>
        <p:spPr>
          <a:xfrm flipV="1">
            <a:off x="5440034" y="3379495"/>
            <a:ext cx="25599" cy="1478737"/>
          </a:xfrm>
          <a:prstGeom prst="line">
            <a:avLst/>
          </a:prstGeom>
          <a:ln>
            <a:solidFill>
              <a:schemeClr val="tx1"/>
            </a:solidFill>
            <a:prstDash val="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Gerader Verbinder 22">
            <a:extLst>
              <a:ext uri="{FF2B5EF4-FFF2-40B4-BE49-F238E27FC236}">
                <a16:creationId xmlns:a16="http://schemas.microsoft.com/office/drawing/2014/main" id="{5966302F-1F4F-F6FC-39AA-0186C1331E4F}"/>
              </a:ext>
            </a:extLst>
          </p:cNvPr>
          <p:cNvCxnSpPr>
            <a:stCxn id="128" idx="0"/>
            <a:endCxn id="112" idx="4"/>
          </p:cNvCxnSpPr>
          <p:nvPr/>
        </p:nvCxnSpPr>
        <p:spPr>
          <a:xfrm flipV="1">
            <a:off x="5917933" y="2960704"/>
            <a:ext cx="28960" cy="1897528"/>
          </a:xfrm>
          <a:prstGeom prst="line">
            <a:avLst/>
          </a:prstGeom>
          <a:ln>
            <a:solidFill>
              <a:schemeClr val="tx1"/>
            </a:solidFill>
            <a:prstDash val="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Gerader Verbinder 22">
            <a:extLst>
              <a:ext uri="{FF2B5EF4-FFF2-40B4-BE49-F238E27FC236}">
                <a16:creationId xmlns:a16="http://schemas.microsoft.com/office/drawing/2014/main" id="{73485046-B605-A205-D113-F86405B2268D}"/>
              </a:ext>
            </a:extLst>
          </p:cNvPr>
          <p:cNvCxnSpPr>
            <a:stCxn id="130" idx="0"/>
          </p:cNvCxnSpPr>
          <p:nvPr/>
        </p:nvCxnSpPr>
        <p:spPr>
          <a:xfrm flipH="1" flipV="1">
            <a:off x="6325138" y="3988501"/>
            <a:ext cx="82905" cy="869731"/>
          </a:xfrm>
          <a:prstGeom prst="line">
            <a:avLst/>
          </a:prstGeom>
          <a:ln>
            <a:solidFill>
              <a:schemeClr val="tx1"/>
            </a:solidFill>
            <a:prstDash val="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Gerader Verbinder 22">
            <a:extLst>
              <a:ext uri="{FF2B5EF4-FFF2-40B4-BE49-F238E27FC236}">
                <a16:creationId xmlns:a16="http://schemas.microsoft.com/office/drawing/2014/main" id="{39504829-EBCA-5196-4C18-B0E794B537AD}"/>
              </a:ext>
            </a:extLst>
          </p:cNvPr>
          <p:cNvCxnSpPr>
            <a:stCxn id="132" idx="0"/>
          </p:cNvCxnSpPr>
          <p:nvPr/>
        </p:nvCxnSpPr>
        <p:spPr>
          <a:xfrm flipH="1" flipV="1">
            <a:off x="6776549" y="3356473"/>
            <a:ext cx="104578" cy="1501759"/>
          </a:xfrm>
          <a:prstGeom prst="line">
            <a:avLst/>
          </a:prstGeom>
          <a:ln>
            <a:solidFill>
              <a:schemeClr val="tx1"/>
            </a:solidFill>
            <a:prstDash val="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Gerader Verbinder 22">
            <a:extLst>
              <a:ext uri="{FF2B5EF4-FFF2-40B4-BE49-F238E27FC236}">
                <a16:creationId xmlns:a16="http://schemas.microsoft.com/office/drawing/2014/main" id="{1FB7C4E7-E4B8-CE0C-9B7A-859B21BAC32A}"/>
              </a:ext>
            </a:extLst>
          </p:cNvPr>
          <p:cNvCxnSpPr>
            <a:stCxn id="133" idx="0"/>
            <a:endCxn id="117" idx="4"/>
          </p:cNvCxnSpPr>
          <p:nvPr/>
        </p:nvCxnSpPr>
        <p:spPr>
          <a:xfrm flipH="1" flipV="1">
            <a:off x="7366444" y="2960704"/>
            <a:ext cx="4793" cy="1897528"/>
          </a:xfrm>
          <a:prstGeom prst="line">
            <a:avLst/>
          </a:prstGeom>
          <a:ln>
            <a:solidFill>
              <a:schemeClr val="tx1"/>
            </a:solidFill>
            <a:prstDash val="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Gerader Verbinder 22">
            <a:extLst>
              <a:ext uri="{FF2B5EF4-FFF2-40B4-BE49-F238E27FC236}">
                <a16:creationId xmlns:a16="http://schemas.microsoft.com/office/drawing/2014/main" id="{64E28A37-55C3-A639-7806-58FEB84A8BFE}"/>
              </a:ext>
            </a:extLst>
          </p:cNvPr>
          <p:cNvCxnSpPr>
            <a:stCxn id="135" idx="1"/>
          </p:cNvCxnSpPr>
          <p:nvPr/>
        </p:nvCxnSpPr>
        <p:spPr>
          <a:xfrm flipH="1" flipV="1">
            <a:off x="7608067" y="3942012"/>
            <a:ext cx="176904" cy="947856"/>
          </a:xfrm>
          <a:prstGeom prst="line">
            <a:avLst/>
          </a:prstGeom>
          <a:ln>
            <a:solidFill>
              <a:schemeClr val="tx1"/>
            </a:solidFill>
            <a:prstDash val="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Google Shape;1534;g60be7dcf1c_0_434">
            <a:extLst>
              <a:ext uri="{FF2B5EF4-FFF2-40B4-BE49-F238E27FC236}">
                <a16:creationId xmlns:a16="http://schemas.microsoft.com/office/drawing/2014/main" id="{6D3107FA-4DE2-57A9-03E3-D36EE26CB22A}"/>
              </a:ext>
            </a:extLst>
          </p:cNvPr>
          <p:cNvSpPr txBox="1"/>
          <p:nvPr/>
        </p:nvSpPr>
        <p:spPr>
          <a:xfrm>
            <a:off x="887106" y="2561058"/>
            <a:ext cx="3585673" cy="882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Example </a:t>
            </a:r>
            <a:r>
              <a:rPr lang="en-AT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△=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2: A Minium Linear Arrangement (</a:t>
            </a:r>
            <a:r>
              <a:rPr lang="en-GB" sz="1600" b="1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MLA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Problem</a:t>
            </a:r>
          </a:p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⇀ 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Minimizes sum of virtual  </a:t>
            </a:r>
          </a:p>
          <a:p>
            <a:pPr lvl="0">
              <a:lnSpc>
                <a:spcPct val="115000"/>
              </a:lnSpc>
            </a:pP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edges</a:t>
            </a:r>
          </a:p>
        </p:txBody>
      </p:sp>
      <p:sp>
        <p:nvSpPr>
          <p:cNvPr id="38" name="Google Shape;1534;g60be7dcf1c_0_434">
            <a:extLst>
              <a:ext uri="{FF2B5EF4-FFF2-40B4-BE49-F238E27FC236}">
                <a16:creationId xmlns:a16="http://schemas.microsoft.com/office/drawing/2014/main" id="{2F1D9A2B-01A6-EC07-87D5-2AD8F8DF8C2F}"/>
              </a:ext>
            </a:extLst>
          </p:cNvPr>
          <p:cNvSpPr txBox="1"/>
          <p:nvPr/>
        </p:nvSpPr>
        <p:spPr>
          <a:xfrm>
            <a:off x="929219" y="3974235"/>
            <a:ext cx="3585673" cy="882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MLA </a:t>
            </a:r>
            <a:r>
              <a:rPr lang="de-DE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is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 b="1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NP-hard</a:t>
            </a:r>
            <a:endParaRPr lang="de-DE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⇀ </a:t>
            </a:r>
            <a:r>
              <a:rPr lang="en-AT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…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de-DE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and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so </a:t>
            </a:r>
            <a:r>
              <a:rPr lang="de-DE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is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de-DE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our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de-DE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problem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!</a:t>
            </a: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" name="Google Shape;1534;g60be7dcf1c_0_434">
            <a:extLst>
              <a:ext uri="{FF2B5EF4-FFF2-40B4-BE49-F238E27FC236}">
                <a16:creationId xmlns:a16="http://schemas.microsoft.com/office/drawing/2014/main" id="{47CA79B3-D364-BC20-5D37-4C77A77CA3B4}"/>
              </a:ext>
            </a:extLst>
          </p:cNvPr>
          <p:cNvSpPr txBox="1"/>
          <p:nvPr/>
        </p:nvSpPr>
        <p:spPr>
          <a:xfrm>
            <a:off x="929219" y="4841553"/>
            <a:ext cx="4014561" cy="882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But </a:t>
            </a:r>
            <a:r>
              <a:rPr lang="de-DE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what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de-DE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about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AT" sz="1600" b="1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△</a:t>
            </a:r>
            <a:r>
              <a:rPr lang="de-DE" sz="1600" b="1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-AT" sz="1600" b="1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?</a:t>
            </a:r>
          </a:p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⇀ 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Embedding </a:t>
            </a:r>
            <a:r>
              <a:rPr lang="de-DE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problem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still </a:t>
            </a:r>
            <a:r>
              <a:rPr lang="de-DE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hard</a:t>
            </a:r>
            <a:endParaRPr lang="de-DE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⇀ 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But </a:t>
            </a:r>
            <a:r>
              <a:rPr lang="de-DE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we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de-DE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have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a </a:t>
            </a:r>
            <a:r>
              <a:rPr lang="de-DE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 b="1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degree of</a:t>
            </a:r>
            <a:endParaRPr lang="de-DE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>
              <a:lnSpc>
                <a:spcPct val="115000"/>
              </a:lnSpc>
            </a:pP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</a:t>
            </a:r>
            <a:r>
              <a:rPr lang="en-GB" sz="1600" b="1" dirty="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freedom</a:t>
            </a:r>
            <a:r>
              <a:rPr lang="de-DE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!</a:t>
            </a: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5" name="Google Shape;1393;g60be7dcf1c_0_286">
            <a:extLst>
              <a:ext uri="{FF2B5EF4-FFF2-40B4-BE49-F238E27FC236}">
                <a16:creationId xmlns:a16="http://schemas.microsoft.com/office/drawing/2014/main" id="{5CA697D8-13DA-5211-4728-A714C173199F}"/>
              </a:ext>
            </a:extLst>
          </p:cNvPr>
          <p:cNvSpPr txBox="1"/>
          <p:nvPr/>
        </p:nvSpPr>
        <p:spPr>
          <a:xfrm>
            <a:off x="5389257" y="5944675"/>
            <a:ext cx="2828100" cy="531374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46" name="Google Shape;1394;g60be7dcf1c_0_286">
            <a:extLst>
              <a:ext uri="{FF2B5EF4-FFF2-40B4-BE49-F238E27FC236}">
                <a16:creationId xmlns:a16="http://schemas.microsoft.com/office/drawing/2014/main" id="{CC11DED6-E678-D829-8878-9548E4A61F4A}"/>
              </a:ext>
            </a:extLst>
          </p:cNvPr>
          <p:cNvSpPr txBox="1"/>
          <p:nvPr/>
        </p:nvSpPr>
        <p:spPr>
          <a:xfrm>
            <a:off x="5440034" y="5944675"/>
            <a:ext cx="2777323" cy="499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Simplifies problem?!</a:t>
            </a:r>
            <a:endParaRPr lang="en-GB" sz="18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" name="Rectangle 28">
            <a:extLst>
              <a:ext uri="{FF2B5EF4-FFF2-40B4-BE49-F238E27FC236}">
                <a16:creationId xmlns:a16="http://schemas.microsoft.com/office/drawing/2014/main" id="{E522B87D-869D-5B34-1DC1-E947ACEB9EF7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E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5599879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0">
          <a:extLst>
            <a:ext uri="{FF2B5EF4-FFF2-40B4-BE49-F238E27FC236}">
              <a16:creationId xmlns:a16="http://schemas.microsoft.com/office/drawing/2014/main" id="{36AF3C9B-A206-4734-8641-DCC45668F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1580;g60be7dcf1c_0_473">
            <a:extLst>
              <a:ext uri="{FF2B5EF4-FFF2-40B4-BE49-F238E27FC236}">
                <a16:creationId xmlns:a16="http://schemas.microsoft.com/office/drawing/2014/main" id="{B2C7506A-9050-4CB3-CAC1-048C47507ACD}"/>
              </a:ext>
            </a:extLst>
          </p:cNvPr>
          <p:cNvSpPr txBox="1"/>
          <p:nvPr/>
        </p:nvSpPr>
        <p:spPr>
          <a:xfrm>
            <a:off x="0" y="540000"/>
            <a:ext cx="8211000" cy="865144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49" name="Google Shape;1534;g60be7dcf1c_0_434">
            <a:extLst>
              <a:ext uri="{FF2B5EF4-FFF2-40B4-BE49-F238E27FC236}">
                <a16:creationId xmlns:a16="http://schemas.microsoft.com/office/drawing/2014/main" id="{DAD7178A-3E98-1976-B792-D93A7368DF41}"/>
              </a:ext>
            </a:extLst>
          </p:cNvPr>
          <p:cNvSpPr txBox="1"/>
          <p:nvPr/>
        </p:nvSpPr>
        <p:spPr>
          <a:xfrm>
            <a:off x="1052941" y="2070740"/>
            <a:ext cx="6789925" cy="1601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⇢ 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Idea to design demand-aware network:</a:t>
            </a:r>
          </a:p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⇢ 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Choose a “</a:t>
            </a:r>
            <a:r>
              <a:rPr lang="en-US" sz="1600" b="1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universally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good” </a:t>
            </a:r>
            <a:r>
              <a:rPr lang="en-US" sz="1600" b="1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host graph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e.g., an </a:t>
            </a:r>
          </a:p>
          <a:p>
            <a:pPr lvl="0">
              <a:lnSpc>
                <a:spcPct val="115000"/>
              </a:lnSpc>
            </a:pP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US" sz="1600" b="1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expander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in oblivious manner</a:t>
            </a:r>
          </a:p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⇢ 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Optimally </a:t>
            </a:r>
            <a:r>
              <a:rPr lang="en-US" sz="1600" b="1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embed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the demand matrix (</a:t>
            </a:r>
            <a:r>
              <a:rPr lang="en-US" sz="1600" b="1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guest graph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</a:p>
          <a:p>
            <a:pPr lvl="0">
              <a:lnSpc>
                <a:spcPct val="115000"/>
              </a:lnSpc>
            </a:pP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de-DE"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" name="Google Shape;1810;g60be7dcf1c_0_698">
            <a:extLst>
              <a:ext uri="{FF2B5EF4-FFF2-40B4-BE49-F238E27FC236}">
                <a16:creationId xmlns:a16="http://schemas.microsoft.com/office/drawing/2014/main" id="{2C3C4B0F-40E6-F843-BE46-BD6295BC328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3075" y="324175"/>
            <a:ext cx="6954274" cy="1080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l">
              <a:buSzPts val="1100"/>
            </a:pPr>
            <a:r>
              <a:rPr lang="en-GB" sz="2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Remark</a:t>
            </a:r>
            <a:br>
              <a:rPr lang="en-GB" sz="2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VNEP vs DAN Design?</a:t>
            </a:r>
          </a:p>
        </p:txBody>
      </p:sp>
      <p:sp>
        <p:nvSpPr>
          <p:cNvPr id="2" name="Rectangle 28">
            <a:extLst>
              <a:ext uri="{FF2B5EF4-FFF2-40B4-BE49-F238E27FC236}">
                <a16:creationId xmlns:a16="http://schemas.microsoft.com/office/drawing/2014/main" id="{E5C1C98C-C2DB-ADD7-99CD-B4F84F3891DB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E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273618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0">
          <a:extLst>
            <a:ext uri="{FF2B5EF4-FFF2-40B4-BE49-F238E27FC236}">
              <a16:creationId xmlns:a16="http://schemas.microsoft.com/office/drawing/2014/main" id="{B23428D3-30B1-0D2F-1ABA-C6DEA9FDA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1580;g60be7dcf1c_0_473">
            <a:extLst>
              <a:ext uri="{FF2B5EF4-FFF2-40B4-BE49-F238E27FC236}">
                <a16:creationId xmlns:a16="http://schemas.microsoft.com/office/drawing/2014/main" id="{DE70762B-08B9-ACB3-399A-65741C3D5A76}"/>
              </a:ext>
            </a:extLst>
          </p:cNvPr>
          <p:cNvSpPr txBox="1"/>
          <p:nvPr/>
        </p:nvSpPr>
        <p:spPr>
          <a:xfrm>
            <a:off x="0" y="540000"/>
            <a:ext cx="8211000" cy="865144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49" name="Google Shape;1534;g60be7dcf1c_0_434">
            <a:extLst>
              <a:ext uri="{FF2B5EF4-FFF2-40B4-BE49-F238E27FC236}">
                <a16:creationId xmlns:a16="http://schemas.microsoft.com/office/drawing/2014/main" id="{B9DB0DCE-34A8-CFCE-D5EE-916AFCFB539F}"/>
              </a:ext>
            </a:extLst>
          </p:cNvPr>
          <p:cNvSpPr txBox="1"/>
          <p:nvPr/>
        </p:nvSpPr>
        <p:spPr>
          <a:xfrm>
            <a:off x="1052941" y="2070740"/>
            <a:ext cx="6789925" cy="1601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⇢ 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Idea to design demand-aware network:</a:t>
            </a:r>
          </a:p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⇢ 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Choose a “</a:t>
            </a:r>
            <a:r>
              <a:rPr lang="en-US" sz="1600" b="1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universally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good” </a:t>
            </a:r>
            <a:r>
              <a:rPr lang="en-US" sz="1600" b="1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host graph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e.g., an </a:t>
            </a:r>
          </a:p>
          <a:p>
            <a:pPr lvl="0">
              <a:lnSpc>
                <a:spcPct val="115000"/>
              </a:lnSpc>
            </a:pP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US" sz="1600" b="1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expander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in oblivious manner</a:t>
            </a:r>
          </a:p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⇢ 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Optimally </a:t>
            </a:r>
            <a:r>
              <a:rPr lang="en-US" sz="1600" b="1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embed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the demand matrix (</a:t>
            </a:r>
            <a:r>
              <a:rPr lang="en-US" sz="1600" b="1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guest graph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</a:p>
          <a:p>
            <a:pPr lvl="0">
              <a:lnSpc>
                <a:spcPct val="115000"/>
              </a:lnSpc>
            </a:pP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de-DE"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" name="Google Shape;1810;g60be7dcf1c_0_698">
            <a:extLst>
              <a:ext uri="{FF2B5EF4-FFF2-40B4-BE49-F238E27FC236}">
                <a16:creationId xmlns:a16="http://schemas.microsoft.com/office/drawing/2014/main" id="{C365C2F9-0C7F-90B9-498A-5FBF04FB6A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3075" y="324175"/>
            <a:ext cx="6954274" cy="1080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l">
              <a:buSzPts val="1100"/>
            </a:pPr>
            <a:r>
              <a:rPr lang="en-GB" sz="2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Remark</a:t>
            </a:r>
            <a:br>
              <a:rPr lang="en-GB" sz="2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VNEP vs DAN Design?</a:t>
            </a:r>
          </a:p>
        </p:txBody>
      </p:sp>
      <p:sp>
        <p:nvSpPr>
          <p:cNvPr id="2" name="Google Shape;1534;g60be7dcf1c_0_434">
            <a:extLst>
              <a:ext uri="{FF2B5EF4-FFF2-40B4-BE49-F238E27FC236}">
                <a16:creationId xmlns:a16="http://schemas.microsoft.com/office/drawing/2014/main" id="{64117B2D-F81A-7041-9218-9BBADB15EC09}"/>
              </a:ext>
            </a:extLst>
          </p:cNvPr>
          <p:cNvSpPr txBox="1"/>
          <p:nvPr/>
        </p:nvSpPr>
        <p:spPr>
          <a:xfrm>
            <a:off x="1137424" y="3912792"/>
            <a:ext cx="6789925" cy="768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⇢ E</a:t>
            </a:r>
            <a:r>
              <a:rPr lang="en-US" sz="1600" dirty="0" err="1">
                <a:latin typeface="Consolas" panose="020B0609020204030204" pitchFamily="49" charset="0"/>
              </a:rPr>
              <a:t>xpected</a:t>
            </a:r>
            <a:r>
              <a:rPr lang="en-US" sz="1600" dirty="0">
                <a:latin typeface="Consolas" panose="020B0609020204030204" pitchFamily="49" charset="0"/>
              </a:rPr>
              <a:t> path length can be 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Ω(log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log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 </a:t>
            </a:r>
            <a:r>
              <a:rPr lang="en-US" sz="1600" b="1" i="1" dirty="0">
                <a:solidFill>
                  <a:srgbClr val="C00000"/>
                </a:solidFill>
                <a:latin typeface="Consolas" panose="020B0609020204030204" pitchFamily="49" charset="0"/>
              </a:rPr>
              <a:t>n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) factor </a:t>
            </a:r>
            <a:r>
              <a:rPr lang="en-US" sz="1600" dirty="0">
                <a:latin typeface="Consolas" panose="020B0609020204030204" pitchFamily="49" charset="0"/>
              </a:rPr>
              <a:t>more     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than on the optimal host graph, for networks of size </a:t>
            </a:r>
            <a:r>
              <a:rPr lang="en-US" sz="1600" i="1" dirty="0">
                <a:latin typeface="Consolas" panose="020B0609020204030204" pitchFamily="49" charset="0"/>
              </a:rPr>
              <a:t>n</a:t>
            </a:r>
            <a:r>
              <a:rPr lang="en-US" sz="1600" dirty="0">
                <a:latin typeface="Consolas" panose="020B0609020204030204" pitchFamily="49" charset="0"/>
              </a:rPr>
              <a:t>.</a:t>
            </a:r>
            <a:endParaRPr lang="en-US" sz="1600" dirty="0">
              <a:solidFill>
                <a:schemeClr val="dk1"/>
              </a:solidFill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endParaRPr lang="de-DE"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" name="Rectangle 28">
            <a:extLst>
              <a:ext uri="{FF2B5EF4-FFF2-40B4-BE49-F238E27FC236}">
                <a16:creationId xmlns:a16="http://schemas.microsoft.com/office/drawing/2014/main" id="{B0A4FF84-3A1E-421D-CBB7-B5C39139A4EA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E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734233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0">
          <a:extLst>
            <a:ext uri="{FF2B5EF4-FFF2-40B4-BE49-F238E27FC236}">
              <a16:creationId xmlns:a16="http://schemas.microsoft.com/office/drawing/2014/main" id="{A44F32A4-7DD1-B278-2AD2-26B152BAF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1580;g60be7dcf1c_0_473">
            <a:extLst>
              <a:ext uri="{FF2B5EF4-FFF2-40B4-BE49-F238E27FC236}">
                <a16:creationId xmlns:a16="http://schemas.microsoft.com/office/drawing/2014/main" id="{3BED2948-3B9E-BB85-9FDA-7918E4BD7D10}"/>
              </a:ext>
            </a:extLst>
          </p:cNvPr>
          <p:cNvSpPr txBox="1"/>
          <p:nvPr/>
        </p:nvSpPr>
        <p:spPr>
          <a:xfrm>
            <a:off x="0" y="540000"/>
            <a:ext cx="8211000" cy="882371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57" name="Google Shape;1810;g60be7dcf1c_0_698">
            <a:extLst>
              <a:ext uri="{FF2B5EF4-FFF2-40B4-BE49-F238E27FC236}">
                <a16:creationId xmlns:a16="http://schemas.microsoft.com/office/drawing/2014/main" id="{9F543D52-9334-2FC5-8FB1-DFB78F187C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3075" y="324175"/>
            <a:ext cx="6954274" cy="18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l">
              <a:buSzPts val="1100"/>
            </a:pPr>
            <a:r>
              <a:rPr lang="en-GB" sz="2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Another Related Problem</a:t>
            </a:r>
            <a:br>
              <a:rPr lang="en-GB" sz="2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Low Distortion Spanners</a:t>
            </a:r>
          </a:p>
        </p:txBody>
      </p:sp>
      <p:sp>
        <p:nvSpPr>
          <p:cNvPr id="37" name="Google Shape;1534;g60be7dcf1c_0_434">
            <a:extLst>
              <a:ext uri="{FF2B5EF4-FFF2-40B4-BE49-F238E27FC236}">
                <a16:creationId xmlns:a16="http://schemas.microsoft.com/office/drawing/2014/main" id="{183E6BF3-402F-8C6E-0161-FABB7F9334A3}"/>
              </a:ext>
            </a:extLst>
          </p:cNvPr>
          <p:cNvSpPr txBox="1"/>
          <p:nvPr/>
        </p:nvSpPr>
        <p:spPr>
          <a:xfrm>
            <a:off x="887106" y="2207376"/>
            <a:ext cx="6710633" cy="882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⇢ 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Classic problem: find </a:t>
            </a:r>
            <a:r>
              <a:rPr lang="en-US" sz="1600" b="1" i="1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sparse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600" b="1" i="1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distance-preserving</a:t>
            </a:r>
            <a:r>
              <a:rPr lang="en-US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</a:p>
          <a:p>
            <a:pPr lvl="0">
              <a:lnSpc>
                <a:spcPct val="115000"/>
              </a:lnSpc>
            </a:pP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(low-distortion) spanner of a graph</a:t>
            </a:r>
          </a:p>
          <a:p>
            <a:pPr lvl="0">
              <a:lnSpc>
                <a:spcPct val="115000"/>
              </a:lnSpc>
            </a:pP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⇢ 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But:</a:t>
            </a:r>
          </a:p>
          <a:p>
            <a:pPr lvl="0">
              <a:lnSpc>
                <a:spcPct val="115000"/>
              </a:lnSpc>
            </a:pP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⇢ </a:t>
            </a:r>
            <a:r>
              <a:rPr lang="en-U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Spanners aim at low distortion </a:t>
            </a:r>
            <a:r>
              <a:rPr lang="en-US" b="1" i="1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among all pairs</a:t>
            </a:r>
            <a:r>
              <a:rPr lang="en-U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    </a:t>
            </a:r>
          </a:p>
          <a:p>
            <a:pPr lvl="0">
              <a:lnSpc>
                <a:spcPct val="115000"/>
              </a:lnSpc>
            </a:pPr>
            <a:r>
              <a:rPr lang="en-U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in our case, we are only interested in the </a:t>
            </a:r>
          </a:p>
          <a:p>
            <a:pPr lvl="0">
              <a:lnSpc>
                <a:spcPct val="115000"/>
              </a:lnSpc>
            </a:pPr>
            <a:r>
              <a:rPr lang="en-US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     </a:t>
            </a:r>
            <a:r>
              <a:rPr lang="en-US" b="1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distortion</a:t>
            </a:r>
            <a:r>
              <a:rPr lang="en-U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between </a:t>
            </a:r>
            <a:r>
              <a:rPr lang="en-US" b="1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communication neighbors </a:t>
            </a:r>
            <a:r>
              <a:rPr lang="en-U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(in demand matrix)</a:t>
            </a:r>
          </a:p>
          <a:p>
            <a:pPr lvl="0">
              <a:lnSpc>
                <a:spcPct val="115000"/>
              </a:lnSpc>
            </a:pPr>
            <a:r>
              <a:rPr lang="en-U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GB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⇢ </a:t>
            </a:r>
            <a:r>
              <a:rPr lang="en-U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We allow </a:t>
            </a:r>
            <a:r>
              <a:rPr lang="en-US" b="1" i="1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auxiliary edges </a:t>
            </a:r>
            <a:r>
              <a:rPr lang="en-U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(not a subgraph): similar to </a:t>
            </a:r>
          </a:p>
          <a:p>
            <a:pPr lvl="0">
              <a:lnSpc>
                <a:spcPct val="115000"/>
              </a:lnSpc>
            </a:pPr>
            <a:r>
              <a:rPr lang="en-U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geometric spanners</a:t>
            </a:r>
          </a:p>
          <a:p>
            <a:pPr lvl="0">
              <a:lnSpc>
                <a:spcPct val="115000"/>
              </a:lnSpc>
            </a:pPr>
            <a:r>
              <a:rPr lang="en-U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GB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⇢ </a:t>
            </a:r>
            <a:r>
              <a:rPr lang="en-U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We require </a:t>
            </a:r>
            <a:r>
              <a:rPr lang="en-US" b="1" i="1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constant degree</a:t>
            </a:r>
          </a:p>
        </p:txBody>
      </p:sp>
      <p:sp>
        <p:nvSpPr>
          <p:cNvPr id="2" name="Rectangle 28">
            <a:extLst>
              <a:ext uri="{FF2B5EF4-FFF2-40B4-BE49-F238E27FC236}">
                <a16:creationId xmlns:a16="http://schemas.microsoft.com/office/drawing/2014/main" id="{52A5319F-F8ED-6367-2A07-94135C9B6231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E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1189417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0">
          <a:extLst>
            <a:ext uri="{FF2B5EF4-FFF2-40B4-BE49-F238E27FC236}">
              <a16:creationId xmlns:a16="http://schemas.microsoft.com/office/drawing/2014/main" id="{171338B8-ABCB-3531-5F03-AC63017E5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580;g60be7dcf1c_0_473">
            <a:extLst>
              <a:ext uri="{FF2B5EF4-FFF2-40B4-BE49-F238E27FC236}">
                <a16:creationId xmlns:a16="http://schemas.microsoft.com/office/drawing/2014/main" id="{F8B1D8C3-AA6B-2E21-B8FD-BB0D9BCE4099}"/>
              </a:ext>
            </a:extLst>
          </p:cNvPr>
          <p:cNvSpPr txBox="1"/>
          <p:nvPr/>
        </p:nvSpPr>
        <p:spPr>
          <a:xfrm>
            <a:off x="0" y="540000"/>
            <a:ext cx="8211000" cy="882371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57" name="Google Shape;1810;g60be7dcf1c_0_698">
            <a:extLst>
              <a:ext uri="{FF2B5EF4-FFF2-40B4-BE49-F238E27FC236}">
                <a16:creationId xmlns:a16="http://schemas.microsoft.com/office/drawing/2014/main" id="{78BFBC49-3A61-4603-5616-FB8E5DFDDE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3075" y="324175"/>
            <a:ext cx="6954274" cy="18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l">
              <a:buSzPts val="1100"/>
            </a:pPr>
            <a:r>
              <a:rPr lang="en-GB" sz="2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From Spanners to DANs</a:t>
            </a:r>
            <a:br>
              <a:rPr lang="en-GB" sz="2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An Algorithm</a:t>
            </a:r>
          </a:p>
        </p:txBody>
      </p:sp>
      <p:sp>
        <p:nvSpPr>
          <p:cNvPr id="37" name="Google Shape;1534;g60be7dcf1c_0_434">
            <a:extLst>
              <a:ext uri="{FF2B5EF4-FFF2-40B4-BE49-F238E27FC236}">
                <a16:creationId xmlns:a16="http://schemas.microsoft.com/office/drawing/2014/main" id="{FFFCA0B3-7FE5-D64A-BBD2-707341418237}"/>
              </a:ext>
            </a:extLst>
          </p:cNvPr>
          <p:cNvSpPr txBox="1"/>
          <p:nvPr/>
        </p:nvSpPr>
        <p:spPr>
          <a:xfrm>
            <a:off x="887106" y="1975449"/>
            <a:ext cx="6790403" cy="4442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⇢ Yet, c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an </a:t>
            </a:r>
            <a:r>
              <a:rPr lang="en-US" sz="1600" b="1" i="1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leverage the connection 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to spanners sometimes!</a:t>
            </a:r>
          </a:p>
          <a:p>
            <a:pPr lvl="0">
              <a:lnSpc>
                <a:spcPct val="115000"/>
              </a:lnSpc>
            </a:pP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r>
              <a:rPr lang="en-US" sz="1600" b="1" u="sng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Theorem: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If demand matrix is </a:t>
            </a:r>
            <a:r>
              <a:rPr lang="en-US" sz="1600" b="1" i="1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regular and uniform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and if we can find a constant distortion, linear sized (i.e., </a:t>
            </a:r>
            <a:r>
              <a:rPr lang="en-US" sz="1600" b="1" i="1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constant, sparse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spanner for this request graph: then we can design a constant degree DAN providing an optimal expected route length </a:t>
            </a:r>
            <a:r>
              <a:rPr lang="en-US" sz="1600" i="1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(i.e., O(H(X|Y)+H(Y|X)).</a:t>
            </a:r>
          </a:p>
          <a:p>
            <a:pPr lvl="0">
              <a:lnSpc>
                <a:spcPct val="115000"/>
              </a:lnSpc>
            </a:pPr>
            <a:endParaRPr lang="en-US" i="1" dirty="0">
              <a:solidFill>
                <a:srgbClr val="C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29" name="Gerader Verbinder 22">
            <a:extLst>
              <a:ext uri="{FF2B5EF4-FFF2-40B4-BE49-F238E27FC236}">
                <a16:creationId xmlns:a16="http://schemas.microsoft.com/office/drawing/2014/main" id="{179A43FC-CD72-FAF5-B7BF-A13CFA18C223}"/>
              </a:ext>
            </a:extLst>
          </p:cNvPr>
          <p:cNvCxnSpPr>
            <a:stCxn id="142" idx="1"/>
          </p:cNvCxnSpPr>
          <p:nvPr/>
        </p:nvCxnSpPr>
        <p:spPr>
          <a:xfrm>
            <a:off x="1511282" y="5588475"/>
            <a:ext cx="253380" cy="3852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Content Placeholder 14">
            <a:extLst>
              <a:ext uri="{FF2B5EF4-FFF2-40B4-BE49-F238E27FC236}">
                <a16:creationId xmlns:a16="http://schemas.microsoft.com/office/drawing/2014/main" id="{42FF840D-D793-5548-DD82-7075B8AC5025}"/>
              </a:ext>
            </a:extLst>
          </p:cNvPr>
          <p:cNvSpPr txBox="1">
            <a:spLocks/>
          </p:cNvSpPr>
          <p:nvPr/>
        </p:nvSpPr>
        <p:spPr>
          <a:xfrm>
            <a:off x="825239" y="4473549"/>
            <a:ext cx="2241705" cy="246177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0" algn="ctr">
              <a:buNone/>
            </a:pPr>
            <a:r>
              <a:rPr lang="en-IN" sz="1200" b="1" i="1" dirty="0">
                <a:solidFill>
                  <a:srgbClr val="C00000"/>
                </a:solidFill>
                <a:latin typeface="Consolas" panose="020B0609020204030204" pitchFamily="49" charset="0"/>
              </a:rPr>
              <a:t>r-regular</a:t>
            </a:r>
            <a:r>
              <a:rPr lang="en-IN" sz="1200" i="1" dirty="0">
                <a:latin typeface="Consolas" panose="020B0609020204030204" pitchFamily="49" charset="0"/>
              </a:rPr>
              <a:t> and </a:t>
            </a:r>
            <a:r>
              <a:rPr lang="en-IN" sz="1200" b="1" i="1" dirty="0">
                <a:solidFill>
                  <a:srgbClr val="C00000"/>
                </a:solidFill>
                <a:latin typeface="Consolas" panose="020B0609020204030204" pitchFamily="49" charset="0"/>
              </a:rPr>
              <a:t>uniform</a:t>
            </a:r>
            <a:r>
              <a:rPr lang="en-IN" sz="1200" i="1" dirty="0">
                <a:latin typeface="Consolas" panose="020B0609020204030204" pitchFamily="49" charset="0"/>
              </a:rPr>
              <a:t> </a:t>
            </a:r>
            <a:r>
              <a:rPr lang="en-US" altLang="de-DE" sz="1200" b="1" dirty="0">
                <a:solidFill>
                  <a:srgbClr val="3366FF"/>
                </a:solidFill>
                <a:latin typeface="Consolas" panose="020B0609020204030204" pitchFamily="49" charset="0"/>
              </a:rPr>
              <a:t>demand</a:t>
            </a:r>
            <a:r>
              <a:rPr lang="en-IN" sz="1200" i="1" dirty="0">
                <a:latin typeface="Consolas" panose="020B0609020204030204" pitchFamily="49" charset="0"/>
              </a:rPr>
              <a:t>:</a:t>
            </a:r>
          </a:p>
        </p:txBody>
      </p:sp>
      <p:cxnSp>
        <p:nvCxnSpPr>
          <p:cNvPr id="131" name="Gerader Verbinder 14">
            <a:extLst>
              <a:ext uri="{FF2B5EF4-FFF2-40B4-BE49-F238E27FC236}">
                <a16:creationId xmlns:a16="http://schemas.microsoft.com/office/drawing/2014/main" id="{72324CED-8FC5-A487-F9BD-A82A8F2BD787}"/>
              </a:ext>
            </a:extLst>
          </p:cNvPr>
          <p:cNvCxnSpPr>
            <a:stCxn id="145" idx="2"/>
            <a:endCxn id="144" idx="6"/>
          </p:cNvCxnSpPr>
          <p:nvPr/>
        </p:nvCxnSpPr>
        <p:spPr>
          <a:xfrm>
            <a:off x="1659661" y="5955928"/>
            <a:ext cx="711019" cy="6317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Gerader Verbinder 16">
            <a:extLst>
              <a:ext uri="{FF2B5EF4-FFF2-40B4-BE49-F238E27FC236}">
                <a16:creationId xmlns:a16="http://schemas.microsoft.com/office/drawing/2014/main" id="{131485F2-D877-B152-C884-187BBFAD67E1}"/>
              </a:ext>
            </a:extLst>
          </p:cNvPr>
          <p:cNvCxnSpPr>
            <a:stCxn id="143" idx="0"/>
            <a:endCxn id="144" idx="4"/>
          </p:cNvCxnSpPr>
          <p:nvPr/>
        </p:nvCxnSpPr>
        <p:spPr>
          <a:xfrm flipH="1">
            <a:off x="2289668" y="5392240"/>
            <a:ext cx="23199" cy="7078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Gerader Verbinder 19">
            <a:extLst>
              <a:ext uri="{FF2B5EF4-FFF2-40B4-BE49-F238E27FC236}">
                <a16:creationId xmlns:a16="http://schemas.microsoft.com/office/drawing/2014/main" id="{D05DC510-565E-9D1B-1206-BC4A25016DB0}"/>
              </a:ext>
            </a:extLst>
          </p:cNvPr>
          <p:cNvCxnSpPr>
            <a:stCxn id="142" idx="2"/>
            <a:endCxn id="143" idx="6"/>
          </p:cNvCxnSpPr>
          <p:nvPr/>
        </p:nvCxnSpPr>
        <p:spPr>
          <a:xfrm flipV="1">
            <a:off x="1487552" y="5473245"/>
            <a:ext cx="906324" cy="1725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Gerader Verbinder 29">
            <a:extLst>
              <a:ext uri="{FF2B5EF4-FFF2-40B4-BE49-F238E27FC236}">
                <a16:creationId xmlns:a16="http://schemas.microsoft.com/office/drawing/2014/main" id="{C6ABA216-9C70-CA81-069D-48FDF8F5C3AD}"/>
              </a:ext>
            </a:extLst>
          </p:cNvPr>
          <p:cNvCxnSpPr>
            <a:stCxn id="149" idx="2"/>
            <a:endCxn id="148" idx="6"/>
          </p:cNvCxnSpPr>
          <p:nvPr/>
        </p:nvCxnSpPr>
        <p:spPr>
          <a:xfrm>
            <a:off x="1967785" y="5712901"/>
            <a:ext cx="711019" cy="6317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Gerader Verbinder 30">
            <a:extLst>
              <a:ext uri="{FF2B5EF4-FFF2-40B4-BE49-F238E27FC236}">
                <a16:creationId xmlns:a16="http://schemas.microsoft.com/office/drawing/2014/main" id="{AE43CBD6-F5A6-5A53-7895-9E3C227D9E38}"/>
              </a:ext>
            </a:extLst>
          </p:cNvPr>
          <p:cNvCxnSpPr>
            <a:stCxn id="147" idx="0"/>
            <a:endCxn id="148" idx="4"/>
          </p:cNvCxnSpPr>
          <p:nvPr/>
        </p:nvCxnSpPr>
        <p:spPr>
          <a:xfrm flipH="1">
            <a:off x="2597791" y="5149213"/>
            <a:ext cx="23199" cy="7078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Gerader Verbinder 31">
            <a:extLst>
              <a:ext uri="{FF2B5EF4-FFF2-40B4-BE49-F238E27FC236}">
                <a16:creationId xmlns:a16="http://schemas.microsoft.com/office/drawing/2014/main" id="{589979FB-1F5B-ACF3-73DF-9CE9898F5BB5}"/>
              </a:ext>
            </a:extLst>
          </p:cNvPr>
          <p:cNvCxnSpPr>
            <a:stCxn id="146" idx="2"/>
            <a:endCxn id="147" idx="6"/>
          </p:cNvCxnSpPr>
          <p:nvPr/>
        </p:nvCxnSpPr>
        <p:spPr>
          <a:xfrm flipV="1">
            <a:off x="1795675" y="5230218"/>
            <a:ext cx="906324" cy="1725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Gerader Verbinder 32">
            <a:extLst>
              <a:ext uri="{FF2B5EF4-FFF2-40B4-BE49-F238E27FC236}">
                <a16:creationId xmlns:a16="http://schemas.microsoft.com/office/drawing/2014/main" id="{47AF8185-E3D3-66C5-BE03-C168F706F562}"/>
              </a:ext>
            </a:extLst>
          </p:cNvPr>
          <p:cNvCxnSpPr>
            <a:stCxn id="146" idx="1"/>
          </p:cNvCxnSpPr>
          <p:nvPr/>
        </p:nvCxnSpPr>
        <p:spPr>
          <a:xfrm>
            <a:off x="1819405" y="5345448"/>
            <a:ext cx="253380" cy="3852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Gerader Verbinder 35">
            <a:extLst>
              <a:ext uri="{FF2B5EF4-FFF2-40B4-BE49-F238E27FC236}">
                <a16:creationId xmlns:a16="http://schemas.microsoft.com/office/drawing/2014/main" id="{4538CA4A-065B-3B04-87A1-E83EDEFA3F44}"/>
              </a:ext>
            </a:extLst>
          </p:cNvPr>
          <p:cNvCxnSpPr>
            <a:stCxn id="142" idx="3"/>
            <a:endCxn id="146" idx="7"/>
          </p:cNvCxnSpPr>
          <p:nvPr/>
        </p:nvCxnSpPr>
        <p:spPr>
          <a:xfrm flipV="1">
            <a:off x="1511282" y="5345448"/>
            <a:ext cx="422688" cy="3575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Gerader Verbinder 38">
            <a:extLst>
              <a:ext uri="{FF2B5EF4-FFF2-40B4-BE49-F238E27FC236}">
                <a16:creationId xmlns:a16="http://schemas.microsoft.com/office/drawing/2014/main" id="{029CD2C4-29E8-8634-647E-415715D02ECE}"/>
              </a:ext>
            </a:extLst>
          </p:cNvPr>
          <p:cNvCxnSpPr/>
          <p:nvPr/>
        </p:nvCxnSpPr>
        <p:spPr>
          <a:xfrm flipV="1">
            <a:off x="1680282" y="5654826"/>
            <a:ext cx="422688" cy="3575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Gerader Verbinder 39">
            <a:extLst>
              <a:ext uri="{FF2B5EF4-FFF2-40B4-BE49-F238E27FC236}">
                <a16:creationId xmlns:a16="http://schemas.microsoft.com/office/drawing/2014/main" id="{A684ACE4-054D-6E51-0357-3C194A90F23B}"/>
              </a:ext>
            </a:extLst>
          </p:cNvPr>
          <p:cNvCxnSpPr>
            <a:endCxn id="148" idx="7"/>
          </p:cNvCxnSpPr>
          <p:nvPr/>
        </p:nvCxnSpPr>
        <p:spPr>
          <a:xfrm flipV="1">
            <a:off x="2221161" y="5718793"/>
            <a:ext cx="433913" cy="35065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Gerader Verbinder 41">
            <a:extLst>
              <a:ext uri="{FF2B5EF4-FFF2-40B4-BE49-F238E27FC236}">
                <a16:creationId xmlns:a16="http://schemas.microsoft.com/office/drawing/2014/main" id="{CE461FBA-B913-069C-C038-A05ED3FD9EA8}"/>
              </a:ext>
            </a:extLst>
          </p:cNvPr>
          <p:cNvCxnSpPr>
            <a:endCxn id="147" idx="7"/>
          </p:cNvCxnSpPr>
          <p:nvPr/>
        </p:nvCxnSpPr>
        <p:spPr>
          <a:xfrm flipV="1">
            <a:off x="2248837" y="5172940"/>
            <a:ext cx="429435" cy="3716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Oval 44">
            <a:extLst>
              <a:ext uri="{FF2B5EF4-FFF2-40B4-BE49-F238E27FC236}">
                <a16:creationId xmlns:a16="http://schemas.microsoft.com/office/drawing/2014/main" id="{B1DD284D-3D6F-A7DD-317B-E18111A6839B}"/>
              </a:ext>
            </a:extLst>
          </p:cNvPr>
          <p:cNvSpPr/>
          <p:nvPr/>
        </p:nvSpPr>
        <p:spPr>
          <a:xfrm>
            <a:off x="1487552" y="5564748"/>
            <a:ext cx="162018" cy="162018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575">
              <a:solidFill>
                <a:schemeClr val="tx1"/>
              </a:solidFill>
            </a:endParaRPr>
          </a:p>
        </p:txBody>
      </p:sp>
      <p:sp>
        <p:nvSpPr>
          <p:cNvPr id="143" name="Oval 44">
            <a:extLst>
              <a:ext uri="{FF2B5EF4-FFF2-40B4-BE49-F238E27FC236}">
                <a16:creationId xmlns:a16="http://schemas.microsoft.com/office/drawing/2014/main" id="{37141CE2-5ABE-BE49-3BE2-0B3A562608A7}"/>
              </a:ext>
            </a:extLst>
          </p:cNvPr>
          <p:cNvSpPr/>
          <p:nvPr/>
        </p:nvSpPr>
        <p:spPr>
          <a:xfrm>
            <a:off x="2231858" y="5392236"/>
            <a:ext cx="162018" cy="162018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575">
              <a:solidFill>
                <a:schemeClr val="tx1"/>
              </a:solidFill>
            </a:endParaRPr>
          </a:p>
        </p:txBody>
      </p:sp>
      <p:sp>
        <p:nvSpPr>
          <p:cNvPr id="144" name="Oval 44">
            <a:extLst>
              <a:ext uri="{FF2B5EF4-FFF2-40B4-BE49-F238E27FC236}">
                <a16:creationId xmlns:a16="http://schemas.microsoft.com/office/drawing/2014/main" id="{1208E396-266A-B360-4A33-C2D389A3B540}"/>
              </a:ext>
            </a:extLst>
          </p:cNvPr>
          <p:cNvSpPr/>
          <p:nvPr/>
        </p:nvSpPr>
        <p:spPr>
          <a:xfrm>
            <a:off x="2208659" y="5938093"/>
            <a:ext cx="162018" cy="162018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575">
              <a:solidFill>
                <a:schemeClr val="tx1"/>
              </a:solidFill>
            </a:endParaRPr>
          </a:p>
        </p:txBody>
      </p:sp>
      <p:sp>
        <p:nvSpPr>
          <p:cNvPr id="145" name="Oval 44">
            <a:extLst>
              <a:ext uri="{FF2B5EF4-FFF2-40B4-BE49-F238E27FC236}">
                <a16:creationId xmlns:a16="http://schemas.microsoft.com/office/drawing/2014/main" id="{D4DDD0B6-D339-0FEF-3D38-E0D35DD6C4F0}"/>
              </a:ext>
            </a:extLst>
          </p:cNvPr>
          <p:cNvSpPr/>
          <p:nvPr/>
        </p:nvSpPr>
        <p:spPr>
          <a:xfrm>
            <a:off x="1659658" y="5874915"/>
            <a:ext cx="162018" cy="162018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575">
              <a:solidFill>
                <a:schemeClr val="tx1"/>
              </a:solidFill>
            </a:endParaRPr>
          </a:p>
        </p:txBody>
      </p:sp>
      <p:sp>
        <p:nvSpPr>
          <p:cNvPr id="146" name="Oval 44">
            <a:extLst>
              <a:ext uri="{FF2B5EF4-FFF2-40B4-BE49-F238E27FC236}">
                <a16:creationId xmlns:a16="http://schemas.microsoft.com/office/drawing/2014/main" id="{1662600F-862B-4E5F-6775-8AB4F34565D5}"/>
              </a:ext>
            </a:extLst>
          </p:cNvPr>
          <p:cNvSpPr/>
          <p:nvPr/>
        </p:nvSpPr>
        <p:spPr>
          <a:xfrm>
            <a:off x="1795675" y="5321721"/>
            <a:ext cx="162018" cy="162018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575">
              <a:solidFill>
                <a:schemeClr val="tx1"/>
              </a:solidFill>
            </a:endParaRPr>
          </a:p>
        </p:txBody>
      </p:sp>
      <p:sp>
        <p:nvSpPr>
          <p:cNvPr id="147" name="Oval 44">
            <a:extLst>
              <a:ext uri="{FF2B5EF4-FFF2-40B4-BE49-F238E27FC236}">
                <a16:creationId xmlns:a16="http://schemas.microsoft.com/office/drawing/2014/main" id="{D81F3269-14B9-9759-AC87-39C23093A49E}"/>
              </a:ext>
            </a:extLst>
          </p:cNvPr>
          <p:cNvSpPr/>
          <p:nvPr/>
        </p:nvSpPr>
        <p:spPr>
          <a:xfrm>
            <a:off x="2539981" y="5149209"/>
            <a:ext cx="162018" cy="162018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575">
              <a:solidFill>
                <a:schemeClr val="tx1"/>
              </a:solidFill>
            </a:endParaRPr>
          </a:p>
        </p:txBody>
      </p:sp>
      <p:sp>
        <p:nvSpPr>
          <p:cNvPr id="148" name="Oval 44">
            <a:extLst>
              <a:ext uri="{FF2B5EF4-FFF2-40B4-BE49-F238E27FC236}">
                <a16:creationId xmlns:a16="http://schemas.microsoft.com/office/drawing/2014/main" id="{6752FD11-23BC-B288-9FF2-F13A578A7EF3}"/>
              </a:ext>
            </a:extLst>
          </p:cNvPr>
          <p:cNvSpPr/>
          <p:nvPr/>
        </p:nvSpPr>
        <p:spPr>
          <a:xfrm>
            <a:off x="2516782" y="5695066"/>
            <a:ext cx="162018" cy="162018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575">
              <a:solidFill>
                <a:schemeClr val="tx1"/>
              </a:solidFill>
            </a:endParaRPr>
          </a:p>
        </p:txBody>
      </p:sp>
      <p:sp>
        <p:nvSpPr>
          <p:cNvPr id="149" name="Oval 44">
            <a:extLst>
              <a:ext uri="{FF2B5EF4-FFF2-40B4-BE49-F238E27FC236}">
                <a16:creationId xmlns:a16="http://schemas.microsoft.com/office/drawing/2014/main" id="{B8694674-3221-7D12-7225-E92B9F988721}"/>
              </a:ext>
            </a:extLst>
          </p:cNvPr>
          <p:cNvSpPr/>
          <p:nvPr/>
        </p:nvSpPr>
        <p:spPr>
          <a:xfrm>
            <a:off x="1967781" y="5631888"/>
            <a:ext cx="162018" cy="162018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575">
              <a:solidFill>
                <a:schemeClr val="tx1"/>
              </a:solidFill>
            </a:endParaRPr>
          </a:p>
        </p:txBody>
      </p:sp>
      <p:cxnSp>
        <p:nvCxnSpPr>
          <p:cNvPr id="150" name="Gerader Verbinder 44">
            <a:extLst>
              <a:ext uri="{FF2B5EF4-FFF2-40B4-BE49-F238E27FC236}">
                <a16:creationId xmlns:a16="http://schemas.microsoft.com/office/drawing/2014/main" id="{17FA0A4B-8389-320B-6A37-03CFAC4C36A3}"/>
              </a:ext>
            </a:extLst>
          </p:cNvPr>
          <p:cNvCxnSpPr>
            <a:stCxn id="160" idx="1"/>
          </p:cNvCxnSpPr>
          <p:nvPr/>
        </p:nvCxnSpPr>
        <p:spPr>
          <a:xfrm>
            <a:off x="3633874" y="5558574"/>
            <a:ext cx="253380" cy="3852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Content Placeholder 14">
            <a:extLst>
              <a:ext uri="{FF2B5EF4-FFF2-40B4-BE49-F238E27FC236}">
                <a16:creationId xmlns:a16="http://schemas.microsoft.com/office/drawing/2014/main" id="{76720358-0D81-0B29-B822-83BAD0A6DAAB}"/>
              </a:ext>
            </a:extLst>
          </p:cNvPr>
          <p:cNvSpPr txBox="1">
            <a:spLocks/>
          </p:cNvSpPr>
          <p:nvPr/>
        </p:nvSpPr>
        <p:spPr>
          <a:xfrm>
            <a:off x="3071866" y="4448990"/>
            <a:ext cx="2177262" cy="252051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0" algn="ctr">
              <a:buNone/>
            </a:pPr>
            <a:r>
              <a:rPr lang="en-IN" sz="1200" i="1" dirty="0">
                <a:latin typeface="Consolas" panose="020B0609020204030204" pitchFamily="49" charset="0"/>
              </a:rPr>
              <a:t>Sparse, </a:t>
            </a:r>
            <a:r>
              <a:rPr lang="en-IN" sz="1200" b="1" i="1" dirty="0">
                <a:solidFill>
                  <a:srgbClr val="C00000"/>
                </a:solidFill>
                <a:latin typeface="Consolas" panose="020B0609020204030204" pitchFamily="49" charset="0"/>
              </a:rPr>
              <a:t>irregular (constant)</a:t>
            </a:r>
            <a:r>
              <a:rPr lang="en-IN" sz="1200" i="1" dirty="0">
                <a:latin typeface="Consolas" panose="020B0609020204030204" pitchFamily="49" charset="0"/>
              </a:rPr>
              <a:t> </a:t>
            </a:r>
            <a:r>
              <a:rPr lang="en-US" altLang="de-DE" sz="1200" b="1" dirty="0">
                <a:solidFill>
                  <a:srgbClr val="3366FF"/>
                </a:solidFill>
                <a:latin typeface="Consolas" panose="020B0609020204030204" pitchFamily="49" charset="0"/>
              </a:rPr>
              <a:t>spanner</a:t>
            </a:r>
            <a:r>
              <a:rPr lang="en-IN" sz="1200" i="1" dirty="0">
                <a:latin typeface="Consolas" panose="020B0609020204030204" pitchFamily="49" charset="0"/>
              </a:rPr>
              <a:t>:</a:t>
            </a:r>
          </a:p>
        </p:txBody>
      </p:sp>
      <p:cxnSp>
        <p:nvCxnSpPr>
          <p:cNvPr id="152" name="Gerader Verbinder 46">
            <a:extLst>
              <a:ext uri="{FF2B5EF4-FFF2-40B4-BE49-F238E27FC236}">
                <a16:creationId xmlns:a16="http://schemas.microsoft.com/office/drawing/2014/main" id="{49C7B660-FB8C-4BA7-8F1D-4F976F424D30}"/>
              </a:ext>
            </a:extLst>
          </p:cNvPr>
          <p:cNvCxnSpPr>
            <a:stCxn id="163" idx="2"/>
            <a:endCxn id="162" idx="6"/>
          </p:cNvCxnSpPr>
          <p:nvPr/>
        </p:nvCxnSpPr>
        <p:spPr>
          <a:xfrm>
            <a:off x="3782253" y="5926026"/>
            <a:ext cx="711019" cy="6317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Gerader Verbinder 47">
            <a:extLst>
              <a:ext uri="{FF2B5EF4-FFF2-40B4-BE49-F238E27FC236}">
                <a16:creationId xmlns:a16="http://schemas.microsoft.com/office/drawing/2014/main" id="{37507A78-ABC9-9B1C-18AC-2678A9A63240}"/>
              </a:ext>
            </a:extLst>
          </p:cNvPr>
          <p:cNvCxnSpPr>
            <a:stCxn id="161" idx="0"/>
            <a:endCxn id="162" idx="4"/>
          </p:cNvCxnSpPr>
          <p:nvPr/>
        </p:nvCxnSpPr>
        <p:spPr>
          <a:xfrm flipH="1">
            <a:off x="4412259" y="5362338"/>
            <a:ext cx="23199" cy="7078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Gerader Verbinder 48">
            <a:extLst>
              <a:ext uri="{FF2B5EF4-FFF2-40B4-BE49-F238E27FC236}">
                <a16:creationId xmlns:a16="http://schemas.microsoft.com/office/drawing/2014/main" id="{BCD92477-18A7-927E-79DC-5FE6AB437ED4}"/>
              </a:ext>
            </a:extLst>
          </p:cNvPr>
          <p:cNvCxnSpPr>
            <a:stCxn id="160" idx="2"/>
            <a:endCxn id="161" idx="6"/>
          </p:cNvCxnSpPr>
          <p:nvPr/>
        </p:nvCxnSpPr>
        <p:spPr>
          <a:xfrm flipV="1">
            <a:off x="3610143" y="5443344"/>
            <a:ext cx="906324" cy="1725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Gerader Verbinder 51">
            <a:extLst>
              <a:ext uri="{FF2B5EF4-FFF2-40B4-BE49-F238E27FC236}">
                <a16:creationId xmlns:a16="http://schemas.microsoft.com/office/drawing/2014/main" id="{1644E905-28E3-DF0B-25F1-140911E37AC3}"/>
              </a:ext>
            </a:extLst>
          </p:cNvPr>
          <p:cNvCxnSpPr>
            <a:stCxn id="164" idx="2"/>
            <a:endCxn id="165" idx="6"/>
          </p:cNvCxnSpPr>
          <p:nvPr/>
        </p:nvCxnSpPr>
        <p:spPr>
          <a:xfrm flipV="1">
            <a:off x="3918267" y="5200317"/>
            <a:ext cx="906324" cy="1725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Gerader Verbinder 52">
            <a:extLst>
              <a:ext uri="{FF2B5EF4-FFF2-40B4-BE49-F238E27FC236}">
                <a16:creationId xmlns:a16="http://schemas.microsoft.com/office/drawing/2014/main" id="{BD8AEAAD-88DD-D3D2-D3FA-3F43E00A2714}"/>
              </a:ext>
            </a:extLst>
          </p:cNvPr>
          <p:cNvCxnSpPr>
            <a:stCxn id="164" idx="1"/>
          </p:cNvCxnSpPr>
          <p:nvPr/>
        </p:nvCxnSpPr>
        <p:spPr>
          <a:xfrm>
            <a:off x="3941997" y="5315547"/>
            <a:ext cx="253380" cy="3852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Gerader Verbinder 53">
            <a:extLst>
              <a:ext uri="{FF2B5EF4-FFF2-40B4-BE49-F238E27FC236}">
                <a16:creationId xmlns:a16="http://schemas.microsoft.com/office/drawing/2014/main" id="{EDC58A59-1073-13DF-F293-F2014BDF19DB}"/>
              </a:ext>
            </a:extLst>
          </p:cNvPr>
          <p:cNvCxnSpPr>
            <a:stCxn id="160" idx="3"/>
            <a:endCxn id="164" idx="7"/>
          </p:cNvCxnSpPr>
          <p:nvPr/>
        </p:nvCxnSpPr>
        <p:spPr>
          <a:xfrm flipV="1">
            <a:off x="3633874" y="5315547"/>
            <a:ext cx="422688" cy="3575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Gerader Verbinder 55">
            <a:extLst>
              <a:ext uri="{FF2B5EF4-FFF2-40B4-BE49-F238E27FC236}">
                <a16:creationId xmlns:a16="http://schemas.microsoft.com/office/drawing/2014/main" id="{7A339F24-6EE6-9E59-6290-8E2E8324CFF1}"/>
              </a:ext>
            </a:extLst>
          </p:cNvPr>
          <p:cNvCxnSpPr>
            <a:endCxn id="166" idx="7"/>
          </p:cNvCxnSpPr>
          <p:nvPr/>
        </p:nvCxnSpPr>
        <p:spPr>
          <a:xfrm flipV="1">
            <a:off x="4343752" y="5688891"/>
            <a:ext cx="433913" cy="35065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Gerader Verbinder 56">
            <a:extLst>
              <a:ext uri="{FF2B5EF4-FFF2-40B4-BE49-F238E27FC236}">
                <a16:creationId xmlns:a16="http://schemas.microsoft.com/office/drawing/2014/main" id="{C935AADC-5488-2128-C4F2-5AF16F76E354}"/>
              </a:ext>
            </a:extLst>
          </p:cNvPr>
          <p:cNvCxnSpPr>
            <a:endCxn id="165" idx="7"/>
          </p:cNvCxnSpPr>
          <p:nvPr/>
        </p:nvCxnSpPr>
        <p:spPr>
          <a:xfrm flipV="1">
            <a:off x="4371429" y="5143038"/>
            <a:ext cx="429435" cy="3716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Oval 44">
            <a:extLst>
              <a:ext uri="{FF2B5EF4-FFF2-40B4-BE49-F238E27FC236}">
                <a16:creationId xmlns:a16="http://schemas.microsoft.com/office/drawing/2014/main" id="{6D1E17CA-10D7-82E7-6F61-DFE18404AF50}"/>
              </a:ext>
            </a:extLst>
          </p:cNvPr>
          <p:cNvSpPr/>
          <p:nvPr/>
        </p:nvSpPr>
        <p:spPr>
          <a:xfrm>
            <a:off x="3610143" y="5534847"/>
            <a:ext cx="162018" cy="162018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575">
              <a:solidFill>
                <a:schemeClr val="tx1"/>
              </a:solidFill>
            </a:endParaRPr>
          </a:p>
        </p:txBody>
      </p:sp>
      <p:sp>
        <p:nvSpPr>
          <p:cNvPr id="161" name="Oval 44">
            <a:extLst>
              <a:ext uri="{FF2B5EF4-FFF2-40B4-BE49-F238E27FC236}">
                <a16:creationId xmlns:a16="http://schemas.microsoft.com/office/drawing/2014/main" id="{5B3DE790-B6C9-7DDD-1C06-3DF474C60CE4}"/>
              </a:ext>
            </a:extLst>
          </p:cNvPr>
          <p:cNvSpPr/>
          <p:nvPr/>
        </p:nvSpPr>
        <p:spPr>
          <a:xfrm>
            <a:off x="4354449" y="5362335"/>
            <a:ext cx="162018" cy="162018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575">
              <a:solidFill>
                <a:schemeClr val="tx1"/>
              </a:solidFill>
            </a:endParaRPr>
          </a:p>
        </p:txBody>
      </p:sp>
      <p:sp>
        <p:nvSpPr>
          <p:cNvPr id="162" name="Oval 44">
            <a:extLst>
              <a:ext uri="{FF2B5EF4-FFF2-40B4-BE49-F238E27FC236}">
                <a16:creationId xmlns:a16="http://schemas.microsoft.com/office/drawing/2014/main" id="{38408D36-7B49-3954-5303-268D2BC1D317}"/>
              </a:ext>
            </a:extLst>
          </p:cNvPr>
          <p:cNvSpPr/>
          <p:nvPr/>
        </p:nvSpPr>
        <p:spPr>
          <a:xfrm>
            <a:off x="4331250" y="5908191"/>
            <a:ext cx="162018" cy="162018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575">
              <a:solidFill>
                <a:schemeClr val="tx1"/>
              </a:solidFill>
            </a:endParaRPr>
          </a:p>
        </p:txBody>
      </p:sp>
      <p:sp>
        <p:nvSpPr>
          <p:cNvPr id="163" name="Oval 44">
            <a:extLst>
              <a:ext uri="{FF2B5EF4-FFF2-40B4-BE49-F238E27FC236}">
                <a16:creationId xmlns:a16="http://schemas.microsoft.com/office/drawing/2014/main" id="{434CDE83-96F0-5210-096E-5FDBC5A8CE5D}"/>
              </a:ext>
            </a:extLst>
          </p:cNvPr>
          <p:cNvSpPr/>
          <p:nvPr/>
        </p:nvSpPr>
        <p:spPr>
          <a:xfrm>
            <a:off x="3782250" y="5845014"/>
            <a:ext cx="162018" cy="162018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575">
              <a:solidFill>
                <a:schemeClr val="tx1"/>
              </a:solidFill>
            </a:endParaRPr>
          </a:p>
        </p:txBody>
      </p:sp>
      <p:sp>
        <p:nvSpPr>
          <p:cNvPr id="164" name="Oval 44">
            <a:extLst>
              <a:ext uri="{FF2B5EF4-FFF2-40B4-BE49-F238E27FC236}">
                <a16:creationId xmlns:a16="http://schemas.microsoft.com/office/drawing/2014/main" id="{D7AE5F92-93CF-6748-6468-AAAD0EE00221}"/>
              </a:ext>
            </a:extLst>
          </p:cNvPr>
          <p:cNvSpPr/>
          <p:nvPr/>
        </p:nvSpPr>
        <p:spPr>
          <a:xfrm>
            <a:off x="3918267" y="5291820"/>
            <a:ext cx="162018" cy="162018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575">
              <a:solidFill>
                <a:schemeClr val="tx1"/>
              </a:solidFill>
            </a:endParaRPr>
          </a:p>
        </p:txBody>
      </p:sp>
      <p:sp>
        <p:nvSpPr>
          <p:cNvPr id="165" name="Oval 44">
            <a:extLst>
              <a:ext uri="{FF2B5EF4-FFF2-40B4-BE49-F238E27FC236}">
                <a16:creationId xmlns:a16="http://schemas.microsoft.com/office/drawing/2014/main" id="{CF45E66C-D77B-8281-4B34-27519CF7B94D}"/>
              </a:ext>
            </a:extLst>
          </p:cNvPr>
          <p:cNvSpPr/>
          <p:nvPr/>
        </p:nvSpPr>
        <p:spPr>
          <a:xfrm>
            <a:off x="4662573" y="5119308"/>
            <a:ext cx="162018" cy="162018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575">
              <a:solidFill>
                <a:schemeClr val="tx1"/>
              </a:solidFill>
            </a:endParaRPr>
          </a:p>
        </p:txBody>
      </p:sp>
      <p:sp>
        <p:nvSpPr>
          <p:cNvPr id="166" name="Oval 44">
            <a:extLst>
              <a:ext uri="{FF2B5EF4-FFF2-40B4-BE49-F238E27FC236}">
                <a16:creationId xmlns:a16="http://schemas.microsoft.com/office/drawing/2014/main" id="{A1F12AAE-1B47-F805-581E-1AC5EBCD20CE}"/>
              </a:ext>
            </a:extLst>
          </p:cNvPr>
          <p:cNvSpPr/>
          <p:nvPr/>
        </p:nvSpPr>
        <p:spPr>
          <a:xfrm>
            <a:off x="4639374" y="5665164"/>
            <a:ext cx="162018" cy="162018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575">
              <a:solidFill>
                <a:schemeClr val="tx1"/>
              </a:solidFill>
            </a:endParaRPr>
          </a:p>
        </p:txBody>
      </p:sp>
      <p:sp>
        <p:nvSpPr>
          <p:cNvPr id="167" name="Oval 44">
            <a:extLst>
              <a:ext uri="{FF2B5EF4-FFF2-40B4-BE49-F238E27FC236}">
                <a16:creationId xmlns:a16="http://schemas.microsoft.com/office/drawing/2014/main" id="{3F85D3F5-E8C1-0F63-473B-939C07983575}"/>
              </a:ext>
            </a:extLst>
          </p:cNvPr>
          <p:cNvSpPr/>
          <p:nvPr/>
        </p:nvSpPr>
        <p:spPr>
          <a:xfrm>
            <a:off x="4090373" y="5601987"/>
            <a:ext cx="162018" cy="162018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575">
              <a:solidFill>
                <a:schemeClr val="tx1"/>
              </a:solidFill>
            </a:endParaRPr>
          </a:p>
        </p:txBody>
      </p:sp>
      <p:cxnSp>
        <p:nvCxnSpPr>
          <p:cNvPr id="168" name="Gerader Verbinder 65">
            <a:extLst>
              <a:ext uri="{FF2B5EF4-FFF2-40B4-BE49-F238E27FC236}">
                <a16:creationId xmlns:a16="http://schemas.microsoft.com/office/drawing/2014/main" id="{0A79936C-61DA-1794-C726-4303480EB793}"/>
              </a:ext>
            </a:extLst>
          </p:cNvPr>
          <p:cNvCxnSpPr>
            <a:stCxn id="177" idx="1"/>
          </p:cNvCxnSpPr>
          <p:nvPr/>
        </p:nvCxnSpPr>
        <p:spPr>
          <a:xfrm>
            <a:off x="6035438" y="5557518"/>
            <a:ext cx="253380" cy="3852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Content Placeholder 14">
            <a:extLst>
              <a:ext uri="{FF2B5EF4-FFF2-40B4-BE49-F238E27FC236}">
                <a16:creationId xmlns:a16="http://schemas.microsoft.com/office/drawing/2014/main" id="{A749B266-77D0-5C39-D841-F43603EBAF8B}"/>
              </a:ext>
            </a:extLst>
          </p:cNvPr>
          <p:cNvSpPr txBox="1">
            <a:spLocks/>
          </p:cNvSpPr>
          <p:nvPr/>
        </p:nvSpPr>
        <p:spPr>
          <a:xfrm>
            <a:off x="5452833" y="4367676"/>
            <a:ext cx="2078208" cy="436066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0" algn="ctr">
              <a:buNone/>
            </a:pPr>
            <a:r>
              <a:rPr lang="en-IN" sz="1200" b="1" i="1" dirty="0">
                <a:solidFill>
                  <a:srgbClr val="C00000"/>
                </a:solidFill>
                <a:latin typeface="Consolas" panose="020B0609020204030204" pitchFamily="49" charset="0"/>
              </a:rPr>
              <a:t>Constant</a:t>
            </a:r>
            <a:r>
              <a:rPr lang="en-IN" sz="1200" i="1" dirty="0">
                <a:latin typeface="Consolas" panose="020B0609020204030204" pitchFamily="49" charset="0"/>
              </a:rPr>
              <a:t> degree </a:t>
            </a:r>
            <a:r>
              <a:rPr lang="en-IN" sz="1200" b="1" i="1" dirty="0">
                <a:solidFill>
                  <a:srgbClr val="C00000"/>
                </a:solidFill>
                <a:latin typeface="Consolas" panose="020B0609020204030204" pitchFamily="49" charset="0"/>
              </a:rPr>
              <a:t>optimal</a:t>
            </a:r>
            <a:r>
              <a:rPr lang="en-IN" sz="1200" i="1" dirty="0">
                <a:latin typeface="Consolas" panose="020B0609020204030204" pitchFamily="49" charset="0"/>
              </a:rPr>
              <a:t> </a:t>
            </a:r>
            <a:r>
              <a:rPr lang="en-US" altLang="de-DE" sz="1200" b="1" dirty="0">
                <a:solidFill>
                  <a:srgbClr val="3366FF"/>
                </a:solidFill>
                <a:latin typeface="Consolas" panose="020B0609020204030204" pitchFamily="49" charset="0"/>
              </a:rPr>
              <a:t>DAN</a:t>
            </a:r>
            <a:r>
              <a:rPr lang="en-IN" altLang="de-DE" sz="1200" i="1" dirty="0">
                <a:latin typeface="Consolas" panose="020B0609020204030204" pitchFamily="49" charset="0"/>
              </a:rPr>
              <a:t> </a:t>
            </a:r>
            <a:r>
              <a:rPr lang="en-IN" altLang="de-DE" sz="1200" dirty="0">
                <a:latin typeface="Consolas" panose="020B0609020204030204" pitchFamily="49" charset="0"/>
              </a:rPr>
              <a:t>(ERL at most </a:t>
            </a:r>
            <a:r>
              <a:rPr lang="en-IN" altLang="de-DE" sz="1200" b="1" i="1" dirty="0">
                <a:solidFill>
                  <a:srgbClr val="C00000"/>
                </a:solidFill>
                <a:latin typeface="Consolas" panose="020B0609020204030204" pitchFamily="49" charset="0"/>
              </a:rPr>
              <a:t>log r</a:t>
            </a:r>
            <a:r>
              <a:rPr lang="en-IN" altLang="de-DE" sz="1200" dirty="0">
                <a:latin typeface="Consolas" panose="020B0609020204030204" pitchFamily="49" charset="0"/>
              </a:rPr>
              <a:t>):</a:t>
            </a:r>
            <a:endParaRPr lang="en-IN" sz="1200" dirty="0">
              <a:latin typeface="Consolas" panose="020B0609020204030204" pitchFamily="49" charset="0"/>
            </a:endParaRPr>
          </a:p>
        </p:txBody>
      </p:sp>
      <p:cxnSp>
        <p:nvCxnSpPr>
          <p:cNvPr id="170" name="Gerader Verbinder 68">
            <a:extLst>
              <a:ext uri="{FF2B5EF4-FFF2-40B4-BE49-F238E27FC236}">
                <a16:creationId xmlns:a16="http://schemas.microsoft.com/office/drawing/2014/main" id="{5172B17C-9C22-98DD-865C-A2A3BB141DEE}"/>
              </a:ext>
            </a:extLst>
          </p:cNvPr>
          <p:cNvCxnSpPr>
            <a:stCxn id="181" idx="3"/>
            <a:endCxn id="180" idx="0"/>
          </p:cNvCxnSpPr>
          <p:nvPr/>
        </p:nvCxnSpPr>
        <p:spPr>
          <a:xfrm flipH="1">
            <a:off x="6264823" y="5429055"/>
            <a:ext cx="78735" cy="41490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Gerader Verbinder 69">
            <a:extLst>
              <a:ext uri="{FF2B5EF4-FFF2-40B4-BE49-F238E27FC236}">
                <a16:creationId xmlns:a16="http://schemas.microsoft.com/office/drawing/2014/main" id="{A6F8C8FF-E255-058C-460B-2348037EFEFC}"/>
              </a:ext>
            </a:extLst>
          </p:cNvPr>
          <p:cNvCxnSpPr>
            <a:stCxn id="178" idx="3"/>
            <a:endCxn id="182" idx="7"/>
          </p:cNvCxnSpPr>
          <p:nvPr/>
        </p:nvCxnSpPr>
        <p:spPr>
          <a:xfrm flipV="1">
            <a:off x="6779744" y="5141979"/>
            <a:ext cx="422688" cy="3575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Gerader Verbinder 70">
            <a:extLst>
              <a:ext uri="{FF2B5EF4-FFF2-40B4-BE49-F238E27FC236}">
                <a16:creationId xmlns:a16="http://schemas.microsoft.com/office/drawing/2014/main" id="{F7EE7D64-3614-A6E6-52E7-2E186F2207D9}"/>
              </a:ext>
            </a:extLst>
          </p:cNvPr>
          <p:cNvCxnSpPr>
            <a:stCxn id="184" idx="2"/>
            <a:endCxn id="183" idx="6"/>
          </p:cNvCxnSpPr>
          <p:nvPr/>
        </p:nvCxnSpPr>
        <p:spPr>
          <a:xfrm>
            <a:off x="6491941" y="5681943"/>
            <a:ext cx="711019" cy="6317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Gerader Verbinder 72">
            <a:extLst>
              <a:ext uri="{FF2B5EF4-FFF2-40B4-BE49-F238E27FC236}">
                <a16:creationId xmlns:a16="http://schemas.microsoft.com/office/drawing/2014/main" id="{BDC24AD2-8439-8E75-F0FE-3249F44E11A2}"/>
              </a:ext>
            </a:extLst>
          </p:cNvPr>
          <p:cNvCxnSpPr>
            <a:stCxn id="181" idx="2"/>
            <a:endCxn id="182" idx="6"/>
          </p:cNvCxnSpPr>
          <p:nvPr/>
        </p:nvCxnSpPr>
        <p:spPr>
          <a:xfrm flipV="1">
            <a:off x="6319831" y="5199261"/>
            <a:ext cx="906324" cy="1725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Gerader Verbinder 73">
            <a:extLst>
              <a:ext uri="{FF2B5EF4-FFF2-40B4-BE49-F238E27FC236}">
                <a16:creationId xmlns:a16="http://schemas.microsoft.com/office/drawing/2014/main" id="{70E6DC47-3A0E-0659-42D9-D0059FF8256D}"/>
              </a:ext>
            </a:extLst>
          </p:cNvPr>
          <p:cNvCxnSpPr>
            <a:stCxn id="178" idx="3"/>
            <a:endCxn id="184" idx="7"/>
          </p:cNvCxnSpPr>
          <p:nvPr/>
        </p:nvCxnSpPr>
        <p:spPr>
          <a:xfrm flipH="1">
            <a:off x="6630228" y="5499570"/>
            <a:ext cx="149513" cy="1250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Gerader Verbinder 75">
            <a:extLst>
              <a:ext uri="{FF2B5EF4-FFF2-40B4-BE49-F238E27FC236}">
                <a16:creationId xmlns:a16="http://schemas.microsoft.com/office/drawing/2014/main" id="{AC4227A9-EEF8-E974-0AA3-2F996E2991AB}"/>
              </a:ext>
            </a:extLst>
          </p:cNvPr>
          <p:cNvCxnSpPr>
            <a:stCxn id="177" idx="5"/>
            <a:endCxn id="179" idx="1"/>
          </p:cNvCxnSpPr>
          <p:nvPr/>
        </p:nvCxnSpPr>
        <p:spPr>
          <a:xfrm>
            <a:off x="6149999" y="5672085"/>
            <a:ext cx="606543" cy="2587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Gerader Verbinder 76">
            <a:extLst>
              <a:ext uri="{FF2B5EF4-FFF2-40B4-BE49-F238E27FC236}">
                <a16:creationId xmlns:a16="http://schemas.microsoft.com/office/drawing/2014/main" id="{AA258A0D-812E-A952-F7EF-5517538E6654}"/>
              </a:ext>
            </a:extLst>
          </p:cNvPr>
          <p:cNvCxnSpPr>
            <a:endCxn id="183" idx="7"/>
          </p:cNvCxnSpPr>
          <p:nvPr/>
        </p:nvCxnSpPr>
        <p:spPr>
          <a:xfrm flipV="1">
            <a:off x="6745317" y="5687835"/>
            <a:ext cx="433913" cy="35065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Oval 44">
            <a:extLst>
              <a:ext uri="{FF2B5EF4-FFF2-40B4-BE49-F238E27FC236}">
                <a16:creationId xmlns:a16="http://schemas.microsoft.com/office/drawing/2014/main" id="{0836F6F8-105C-21FD-8EBE-3A379FB1C932}"/>
              </a:ext>
            </a:extLst>
          </p:cNvPr>
          <p:cNvSpPr/>
          <p:nvPr/>
        </p:nvSpPr>
        <p:spPr>
          <a:xfrm>
            <a:off x="6011708" y="5533791"/>
            <a:ext cx="162018" cy="162018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575">
              <a:solidFill>
                <a:schemeClr val="tx1"/>
              </a:solidFill>
            </a:endParaRPr>
          </a:p>
        </p:txBody>
      </p:sp>
      <p:sp>
        <p:nvSpPr>
          <p:cNvPr id="178" name="Oval 44">
            <a:extLst>
              <a:ext uri="{FF2B5EF4-FFF2-40B4-BE49-F238E27FC236}">
                <a16:creationId xmlns:a16="http://schemas.microsoft.com/office/drawing/2014/main" id="{77466C9C-8E48-B418-6406-33BDBA2BD403}"/>
              </a:ext>
            </a:extLst>
          </p:cNvPr>
          <p:cNvSpPr/>
          <p:nvPr/>
        </p:nvSpPr>
        <p:spPr>
          <a:xfrm>
            <a:off x="6756014" y="5361279"/>
            <a:ext cx="162018" cy="162018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575">
              <a:solidFill>
                <a:schemeClr val="tx1"/>
              </a:solidFill>
            </a:endParaRPr>
          </a:p>
        </p:txBody>
      </p:sp>
      <p:sp>
        <p:nvSpPr>
          <p:cNvPr id="179" name="Oval 44">
            <a:extLst>
              <a:ext uri="{FF2B5EF4-FFF2-40B4-BE49-F238E27FC236}">
                <a16:creationId xmlns:a16="http://schemas.microsoft.com/office/drawing/2014/main" id="{09B37452-5653-5F77-4277-8162B32B835A}"/>
              </a:ext>
            </a:extLst>
          </p:cNvPr>
          <p:cNvSpPr/>
          <p:nvPr/>
        </p:nvSpPr>
        <p:spPr>
          <a:xfrm>
            <a:off x="6732815" y="5907135"/>
            <a:ext cx="162018" cy="162018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575">
              <a:solidFill>
                <a:schemeClr val="tx1"/>
              </a:solidFill>
            </a:endParaRPr>
          </a:p>
        </p:txBody>
      </p:sp>
      <p:sp>
        <p:nvSpPr>
          <p:cNvPr id="180" name="Oval 44">
            <a:extLst>
              <a:ext uri="{FF2B5EF4-FFF2-40B4-BE49-F238E27FC236}">
                <a16:creationId xmlns:a16="http://schemas.microsoft.com/office/drawing/2014/main" id="{DC693620-4C00-F49A-4489-B8B811B21EF7}"/>
              </a:ext>
            </a:extLst>
          </p:cNvPr>
          <p:cNvSpPr/>
          <p:nvPr/>
        </p:nvSpPr>
        <p:spPr>
          <a:xfrm>
            <a:off x="6183814" y="5843958"/>
            <a:ext cx="162018" cy="162018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575">
              <a:solidFill>
                <a:schemeClr val="tx1"/>
              </a:solidFill>
            </a:endParaRPr>
          </a:p>
        </p:txBody>
      </p:sp>
      <p:sp>
        <p:nvSpPr>
          <p:cNvPr id="181" name="Oval 44">
            <a:extLst>
              <a:ext uri="{FF2B5EF4-FFF2-40B4-BE49-F238E27FC236}">
                <a16:creationId xmlns:a16="http://schemas.microsoft.com/office/drawing/2014/main" id="{102D839B-6F11-3DE6-309D-126D8FD763B1}"/>
              </a:ext>
            </a:extLst>
          </p:cNvPr>
          <p:cNvSpPr/>
          <p:nvPr/>
        </p:nvSpPr>
        <p:spPr>
          <a:xfrm>
            <a:off x="6319831" y="5290764"/>
            <a:ext cx="162018" cy="162018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575">
              <a:solidFill>
                <a:schemeClr val="tx1"/>
              </a:solidFill>
            </a:endParaRPr>
          </a:p>
        </p:txBody>
      </p:sp>
      <p:sp>
        <p:nvSpPr>
          <p:cNvPr id="182" name="Oval 44">
            <a:extLst>
              <a:ext uri="{FF2B5EF4-FFF2-40B4-BE49-F238E27FC236}">
                <a16:creationId xmlns:a16="http://schemas.microsoft.com/office/drawing/2014/main" id="{CA98A890-544A-8A3A-3534-C066B3339A11}"/>
              </a:ext>
            </a:extLst>
          </p:cNvPr>
          <p:cNvSpPr/>
          <p:nvPr/>
        </p:nvSpPr>
        <p:spPr>
          <a:xfrm>
            <a:off x="7064137" y="5118252"/>
            <a:ext cx="162018" cy="162018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575">
              <a:solidFill>
                <a:schemeClr val="tx1"/>
              </a:solidFill>
            </a:endParaRPr>
          </a:p>
        </p:txBody>
      </p:sp>
      <p:sp>
        <p:nvSpPr>
          <p:cNvPr id="183" name="Oval 44">
            <a:extLst>
              <a:ext uri="{FF2B5EF4-FFF2-40B4-BE49-F238E27FC236}">
                <a16:creationId xmlns:a16="http://schemas.microsoft.com/office/drawing/2014/main" id="{6C855554-50DF-DD93-6148-34A7F8CECBE0}"/>
              </a:ext>
            </a:extLst>
          </p:cNvPr>
          <p:cNvSpPr/>
          <p:nvPr/>
        </p:nvSpPr>
        <p:spPr>
          <a:xfrm>
            <a:off x="7040938" y="5664108"/>
            <a:ext cx="162018" cy="162018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575">
              <a:solidFill>
                <a:schemeClr val="tx1"/>
              </a:solidFill>
            </a:endParaRPr>
          </a:p>
        </p:txBody>
      </p:sp>
      <p:sp>
        <p:nvSpPr>
          <p:cNvPr id="184" name="Oval 44">
            <a:extLst>
              <a:ext uri="{FF2B5EF4-FFF2-40B4-BE49-F238E27FC236}">
                <a16:creationId xmlns:a16="http://schemas.microsoft.com/office/drawing/2014/main" id="{01BF900D-54ED-1B01-81B1-D6AC21DE2BDB}"/>
              </a:ext>
            </a:extLst>
          </p:cNvPr>
          <p:cNvSpPr/>
          <p:nvPr/>
        </p:nvSpPr>
        <p:spPr>
          <a:xfrm>
            <a:off x="6491937" y="5600931"/>
            <a:ext cx="162018" cy="162018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575">
              <a:solidFill>
                <a:schemeClr val="tx1"/>
              </a:solidFill>
            </a:endParaRPr>
          </a:p>
        </p:txBody>
      </p:sp>
      <p:pic>
        <p:nvPicPr>
          <p:cNvPr id="185" name="Picture 2" descr="Image result for fast forward">
            <a:extLst>
              <a:ext uri="{FF2B5EF4-FFF2-40B4-BE49-F238E27FC236}">
                <a16:creationId xmlns:a16="http://schemas.microsoft.com/office/drawing/2014/main" id="{A93166FE-408F-82FB-F41C-DB588703A3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0911" y="5434214"/>
            <a:ext cx="356482" cy="356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6" name="Picture 2" descr="Image result for fast forward">
            <a:extLst>
              <a:ext uri="{FF2B5EF4-FFF2-40B4-BE49-F238E27FC236}">
                <a16:creationId xmlns:a16="http://schemas.microsoft.com/office/drawing/2014/main" id="{C91B5864-F569-D113-4B04-2F118AE2D3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9128" y="5437428"/>
            <a:ext cx="356482" cy="356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7" name="Rechteckige Legende 11">
            <a:extLst>
              <a:ext uri="{FF2B5EF4-FFF2-40B4-BE49-F238E27FC236}">
                <a16:creationId xmlns:a16="http://schemas.microsoft.com/office/drawing/2014/main" id="{6506250A-6B46-4B7E-A7BC-A8BE1D61057C}"/>
              </a:ext>
            </a:extLst>
          </p:cNvPr>
          <p:cNvSpPr/>
          <p:nvPr/>
        </p:nvSpPr>
        <p:spPr bwMode="auto">
          <a:xfrm>
            <a:off x="4639377" y="6007031"/>
            <a:ext cx="758866" cy="252051"/>
          </a:xfrm>
          <a:prstGeom prst="wedgeRectCallout">
            <a:avLst>
              <a:gd name="adj1" fmla="val -50880"/>
              <a:gd name="adj2" fmla="val -93278"/>
            </a:avLst>
          </a:prstGeom>
          <a:solidFill>
            <a:schemeClr val="accent3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de-DE" sz="1100" dirty="0">
                <a:latin typeface="Consolas" panose="020B0609020204030204" pitchFamily="49" charset="0"/>
              </a:rPr>
              <a:t>subgraph!</a:t>
            </a:r>
          </a:p>
        </p:txBody>
      </p:sp>
      <p:sp>
        <p:nvSpPr>
          <p:cNvPr id="188" name="Rechteckige Legende 11">
            <a:extLst>
              <a:ext uri="{FF2B5EF4-FFF2-40B4-BE49-F238E27FC236}">
                <a16:creationId xmlns:a16="http://schemas.microsoft.com/office/drawing/2014/main" id="{E1F91B62-1050-8EDD-B43D-B9220CD2B093}"/>
              </a:ext>
            </a:extLst>
          </p:cNvPr>
          <p:cNvSpPr/>
          <p:nvPr/>
        </p:nvSpPr>
        <p:spPr bwMode="auto">
          <a:xfrm>
            <a:off x="5731685" y="6231167"/>
            <a:ext cx="1423761" cy="234838"/>
          </a:xfrm>
          <a:prstGeom prst="wedgeRectCallout">
            <a:avLst>
              <a:gd name="adj1" fmla="val 834"/>
              <a:gd name="adj2" fmla="val -163072"/>
            </a:avLst>
          </a:prstGeom>
          <a:solidFill>
            <a:schemeClr val="accent3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de-DE" sz="1100" dirty="0" err="1">
                <a:latin typeface="Consolas" panose="020B0609020204030204" pitchFamily="49" charset="0"/>
              </a:rPr>
              <a:t>auxiliiary</a:t>
            </a:r>
            <a:r>
              <a:rPr lang="en-US" altLang="de-DE" sz="1100" dirty="0">
                <a:latin typeface="Consolas" panose="020B0609020204030204" pitchFamily="49" charset="0"/>
              </a:rPr>
              <a:t> edges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4A30C888-1DB6-C450-4541-675B43A21311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E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8768682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0">
          <a:extLst>
            <a:ext uri="{FF2B5EF4-FFF2-40B4-BE49-F238E27FC236}">
              <a16:creationId xmlns:a16="http://schemas.microsoft.com/office/drawing/2014/main" id="{38EED717-44F6-1AEB-1FA5-3C6B2AB59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580;g60be7dcf1c_0_473">
            <a:extLst>
              <a:ext uri="{FF2B5EF4-FFF2-40B4-BE49-F238E27FC236}">
                <a16:creationId xmlns:a16="http://schemas.microsoft.com/office/drawing/2014/main" id="{16012A8A-CA0F-14EF-6242-66A3F96D6A66}"/>
              </a:ext>
            </a:extLst>
          </p:cNvPr>
          <p:cNvSpPr txBox="1"/>
          <p:nvPr/>
        </p:nvSpPr>
        <p:spPr>
          <a:xfrm>
            <a:off x="0" y="540000"/>
            <a:ext cx="8211000" cy="882371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57" name="Google Shape;1810;g60be7dcf1c_0_698">
            <a:extLst>
              <a:ext uri="{FF2B5EF4-FFF2-40B4-BE49-F238E27FC236}">
                <a16:creationId xmlns:a16="http://schemas.microsoft.com/office/drawing/2014/main" id="{AC734C74-2148-621F-E9BA-42BFF233EE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3075" y="324175"/>
            <a:ext cx="6954274" cy="18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l">
              <a:buSzPts val="1100"/>
            </a:pPr>
            <a:r>
              <a:rPr lang="en-GB" sz="2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From Spanners to DANs</a:t>
            </a:r>
            <a:br>
              <a:rPr lang="en-GB" sz="2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An Algorithm</a:t>
            </a:r>
          </a:p>
        </p:txBody>
      </p:sp>
      <p:sp>
        <p:nvSpPr>
          <p:cNvPr id="37" name="Google Shape;1534;g60be7dcf1c_0_434">
            <a:extLst>
              <a:ext uri="{FF2B5EF4-FFF2-40B4-BE49-F238E27FC236}">
                <a16:creationId xmlns:a16="http://schemas.microsoft.com/office/drawing/2014/main" id="{439F178E-FD1A-7B7E-008A-E49930E286AB}"/>
              </a:ext>
            </a:extLst>
          </p:cNvPr>
          <p:cNvSpPr txBox="1"/>
          <p:nvPr/>
        </p:nvSpPr>
        <p:spPr>
          <a:xfrm>
            <a:off x="887106" y="1975449"/>
            <a:ext cx="6790403" cy="4442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⇢ Yet, c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an </a:t>
            </a:r>
            <a:r>
              <a:rPr lang="en-US" sz="1600" b="1" i="1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leverage the connection 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to spanners sometimes!</a:t>
            </a:r>
          </a:p>
          <a:p>
            <a:pPr lvl="0">
              <a:lnSpc>
                <a:spcPct val="115000"/>
              </a:lnSpc>
            </a:pPr>
            <a:endParaRPr lang="en-US"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15000"/>
              </a:lnSpc>
            </a:pPr>
            <a:r>
              <a:rPr lang="en-US" sz="1600" b="1" u="sng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Theorem: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If demand matrix is </a:t>
            </a:r>
            <a:r>
              <a:rPr lang="en-US" sz="1600" b="1" i="1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regular and uniform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and if we can find a constant distortion, linear sized (i.e., </a:t>
            </a:r>
            <a:r>
              <a:rPr lang="en-US" sz="1600" b="1" i="1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constant, sparse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spanner for this request graph: then we can design a constant degree DAN providing an optimal expected route length </a:t>
            </a:r>
            <a:r>
              <a:rPr lang="en-US" sz="1600" i="1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(i.e., O(H(X|Y)+H(Y|X)).</a:t>
            </a:r>
          </a:p>
          <a:p>
            <a:pPr lvl="0">
              <a:lnSpc>
                <a:spcPct val="115000"/>
              </a:lnSpc>
            </a:pPr>
            <a:endParaRPr lang="en-US" i="1" dirty="0">
              <a:solidFill>
                <a:srgbClr val="C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29" name="Gerader Verbinder 22">
            <a:extLst>
              <a:ext uri="{FF2B5EF4-FFF2-40B4-BE49-F238E27FC236}">
                <a16:creationId xmlns:a16="http://schemas.microsoft.com/office/drawing/2014/main" id="{DE085B9A-1683-02F8-705A-0BBB0CF71401}"/>
              </a:ext>
            </a:extLst>
          </p:cNvPr>
          <p:cNvCxnSpPr>
            <a:stCxn id="142" idx="1"/>
          </p:cNvCxnSpPr>
          <p:nvPr/>
        </p:nvCxnSpPr>
        <p:spPr>
          <a:xfrm>
            <a:off x="1511282" y="5588475"/>
            <a:ext cx="253380" cy="3852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Content Placeholder 14">
            <a:extLst>
              <a:ext uri="{FF2B5EF4-FFF2-40B4-BE49-F238E27FC236}">
                <a16:creationId xmlns:a16="http://schemas.microsoft.com/office/drawing/2014/main" id="{2FECF6E8-8B60-F791-A9BB-FC5F3BFB501F}"/>
              </a:ext>
            </a:extLst>
          </p:cNvPr>
          <p:cNvSpPr txBox="1">
            <a:spLocks/>
          </p:cNvSpPr>
          <p:nvPr/>
        </p:nvSpPr>
        <p:spPr>
          <a:xfrm>
            <a:off x="825239" y="4473549"/>
            <a:ext cx="2241705" cy="246177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0" algn="ctr">
              <a:buNone/>
            </a:pPr>
            <a:r>
              <a:rPr lang="en-IN" sz="1200" b="1" i="1" dirty="0">
                <a:solidFill>
                  <a:srgbClr val="C00000"/>
                </a:solidFill>
                <a:latin typeface="Consolas" panose="020B0609020204030204" pitchFamily="49" charset="0"/>
              </a:rPr>
              <a:t>r-regular</a:t>
            </a:r>
            <a:r>
              <a:rPr lang="en-IN" sz="1200" i="1" dirty="0">
                <a:latin typeface="Consolas" panose="020B0609020204030204" pitchFamily="49" charset="0"/>
              </a:rPr>
              <a:t> and </a:t>
            </a:r>
            <a:r>
              <a:rPr lang="en-IN" sz="1200" b="1" i="1" dirty="0">
                <a:solidFill>
                  <a:srgbClr val="C00000"/>
                </a:solidFill>
                <a:latin typeface="Consolas" panose="020B0609020204030204" pitchFamily="49" charset="0"/>
              </a:rPr>
              <a:t>uniform</a:t>
            </a:r>
            <a:r>
              <a:rPr lang="en-IN" sz="1200" i="1" dirty="0">
                <a:latin typeface="Consolas" panose="020B0609020204030204" pitchFamily="49" charset="0"/>
              </a:rPr>
              <a:t> </a:t>
            </a:r>
            <a:r>
              <a:rPr lang="en-US" altLang="de-DE" sz="1200" b="1" dirty="0">
                <a:solidFill>
                  <a:srgbClr val="3366FF"/>
                </a:solidFill>
                <a:latin typeface="Consolas" panose="020B0609020204030204" pitchFamily="49" charset="0"/>
              </a:rPr>
              <a:t>demand</a:t>
            </a:r>
            <a:r>
              <a:rPr lang="en-IN" sz="1200" i="1" dirty="0">
                <a:latin typeface="Consolas" panose="020B0609020204030204" pitchFamily="49" charset="0"/>
              </a:rPr>
              <a:t>:</a:t>
            </a:r>
          </a:p>
        </p:txBody>
      </p:sp>
      <p:cxnSp>
        <p:nvCxnSpPr>
          <p:cNvPr id="131" name="Gerader Verbinder 14">
            <a:extLst>
              <a:ext uri="{FF2B5EF4-FFF2-40B4-BE49-F238E27FC236}">
                <a16:creationId xmlns:a16="http://schemas.microsoft.com/office/drawing/2014/main" id="{F188F127-F35C-ADAA-84DC-9738773DDB1A}"/>
              </a:ext>
            </a:extLst>
          </p:cNvPr>
          <p:cNvCxnSpPr>
            <a:stCxn id="145" idx="2"/>
            <a:endCxn id="144" idx="6"/>
          </p:cNvCxnSpPr>
          <p:nvPr/>
        </p:nvCxnSpPr>
        <p:spPr>
          <a:xfrm>
            <a:off x="1659661" y="5955928"/>
            <a:ext cx="711019" cy="6317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Gerader Verbinder 16">
            <a:extLst>
              <a:ext uri="{FF2B5EF4-FFF2-40B4-BE49-F238E27FC236}">
                <a16:creationId xmlns:a16="http://schemas.microsoft.com/office/drawing/2014/main" id="{A004038B-6E2F-3753-CE48-8708E8E7AF47}"/>
              </a:ext>
            </a:extLst>
          </p:cNvPr>
          <p:cNvCxnSpPr>
            <a:stCxn id="143" idx="0"/>
            <a:endCxn id="144" idx="4"/>
          </p:cNvCxnSpPr>
          <p:nvPr/>
        </p:nvCxnSpPr>
        <p:spPr>
          <a:xfrm flipH="1">
            <a:off x="2289668" y="5392240"/>
            <a:ext cx="23199" cy="7078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Gerader Verbinder 19">
            <a:extLst>
              <a:ext uri="{FF2B5EF4-FFF2-40B4-BE49-F238E27FC236}">
                <a16:creationId xmlns:a16="http://schemas.microsoft.com/office/drawing/2014/main" id="{85AF572E-DEF8-C9BD-8AE4-3423FA695F43}"/>
              </a:ext>
            </a:extLst>
          </p:cNvPr>
          <p:cNvCxnSpPr>
            <a:stCxn id="142" idx="2"/>
            <a:endCxn id="143" idx="6"/>
          </p:cNvCxnSpPr>
          <p:nvPr/>
        </p:nvCxnSpPr>
        <p:spPr>
          <a:xfrm flipV="1">
            <a:off x="1487552" y="5473245"/>
            <a:ext cx="906324" cy="1725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Gerader Verbinder 29">
            <a:extLst>
              <a:ext uri="{FF2B5EF4-FFF2-40B4-BE49-F238E27FC236}">
                <a16:creationId xmlns:a16="http://schemas.microsoft.com/office/drawing/2014/main" id="{90B99EA0-547C-2753-F04E-63C5B7012D02}"/>
              </a:ext>
            </a:extLst>
          </p:cNvPr>
          <p:cNvCxnSpPr>
            <a:stCxn id="149" idx="2"/>
            <a:endCxn id="148" idx="6"/>
          </p:cNvCxnSpPr>
          <p:nvPr/>
        </p:nvCxnSpPr>
        <p:spPr>
          <a:xfrm>
            <a:off x="1967785" y="5712901"/>
            <a:ext cx="711019" cy="6317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Gerader Verbinder 30">
            <a:extLst>
              <a:ext uri="{FF2B5EF4-FFF2-40B4-BE49-F238E27FC236}">
                <a16:creationId xmlns:a16="http://schemas.microsoft.com/office/drawing/2014/main" id="{771E0CF4-A853-4CCE-A47C-669DBF3ED047}"/>
              </a:ext>
            </a:extLst>
          </p:cNvPr>
          <p:cNvCxnSpPr>
            <a:stCxn id="147" idx="0"/>
            <a:endCxn id="148" idx="4"/>
          </p:cNvCxnSpPr>
          <p:nvPr/>
        </p:nvCxnSpPr>
        <p:spPr>
          <a:xfrm flipH="1">
            <a:off x="2597791" y="5149213"/>
            <a:ext cx="23199" cy="7078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Gerader Verbinder 31">
            <a:extLst>
              <a:ext uri="{FF2B5EF4-FFF2-40B4-BE49-F238E27FC236}">
                <a16:creationId xmlns:a16="http://schemas.microsoft.com/office/drawing/2014/main" id="{22A69A7E-F00F-DB4E-EC84-C3554C221370}"/>
              </a:ext>
            </a:extLst>
          </p:cNvPr>
          <p:cNvCxnSpPr>
            <a:stCxn id="146" idx="2"/>
            <a:endCxn id="147" idx="6"/>
          </p:cNvCxnSpPr>
          <p:nvPr/>
        </p:nvCxnSpPr>
        <p:spPr>
          <a:xfrm flipV="1">
            <a:off x="1795675" y="5230218"/>
            <a:ext cx="906324" cy="1725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Gerader Verbinder 32">
            <a:extLst>
              <a:ext uri="{FF2B5EF4-FFF2-40B4-BE49-F238E27FC236}">
                <a16:creationId xmlns:a16="http://schemas.microsoft.com/office/drawing/2014/main" id="{658A1355-431E-68C4-9B85-7BB6B4B808EC}"/>
              </a:ext>
            </a:extLst>
          </p:cNvPr>
          <p:cNvCxnSpPr>
            <a:stCxn id="146" idx="1"/>
          </p:cNvCxnSpPr>
          <p:nvPr/>
        </p:nvCxnSpPr>
        <p:spPr>
          <a:xfrm>
            <a:off x="1819405" y="5345448"/>
            <a:ext cx="253380" cy="3852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Gerader Verbinder 35">
            <a:extLst>
              <a:ext uri="{FF2B5EF4-FFF2-40B4-BE49-F238E27FC236}">
                <a16:creationId xmlns:a16="http://schemas.microsoft.com/office/drawing/2014/main" id="{F24537FD-DAEC-FC01-FCB6-D32EFB0E02BD}"/>
              </a:ext>
            </a:extLst>
          </p:cNvPr>
          <p:cNvCxnSpPr>
            <a:stCxn id="142" idx="3"/>
            <a:endCxn id="146" idx="7"/>
          </p:cNvCxnSpPr>
          <p:nvPr/>
        </p:nvCxnSpPr>
        <p:spPr>
          <a:xfrm flipV="1">
            <a:off x="1511282" y="5345448"/>
            <a:ext cx="422688" cy="3575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Gerader Verbinder 38">
            <a:extLst>
              <a:ext uri="{FF2B5EF4-FFF2-40B4-BE49-F238E27FC236}">
                <a16:creationId xmlns:a16="http://schemas.microsoft.com/office/drawing/2014/main" id="{9F4323FC-2B21-5F4D-FD7B-D1919C436E92}"/>
              </a:ext>
            </a:extLst>
          </p:cNvPr>
          <p:cNvCxnSpPr/>
          <p:nvPr/>
        </p:nvCxnSpPr>
        <p:spPr>
          <a:xfrm flipV="1">
            <a:off x="1680282" y="5654826"/>
            <a:ext cx="422688" cy="3575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Gerader Verbinder 39">
            <a:extLst>
              <a:ext uri="{FF2B5EF4-FFF2-40B4-BE49-F238E27FC236}">
                <a16:creationId xmlns:a16="http://schemas.microsoft.com/office/drawing/2014/main" id="{E51BE09D-FACA-FB51-6C82-25882D1A9669}"/>
              </a:ext>
            </a:extLst>
          </p:cNvPr>
          <p:cNvCxnSpPr>
            <a:endCxn id="148" idx="7"/>
          </p:cNvCxnSpPr>
          <p:nvPr/>
        </p:nvCxnSpPr>
        <p:spPr>
          <a:xfrm flipV="1">
            <a:off x="2221161" y="5718793"/>
            <a:ext cx="433913" cy="35065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Gerader Verbinder 41">
            <a:extLst>
              <a:ext uri="{FF2B5EF4-FFF2-40B4-BE49-F238E27FC236}">
                <a16:creationId xmlns:a16="http://schemas.microsoft.com/office/drawing/2014/main" id="{6542B5D9-A516-0AF2-57E8-79DB217C0387}"/>
              </a:ext>
            </a:extLst>
          </p:cNvPr>
          <p:cNvCxnSpPr>
            <a:endCxn id="147" idx="7"/>
          </p:cNvCxnSpPr>
          <p:nvPr/>
        </p:nvCxnSpPr>
        <p:spPr>
          <a:xfrm flipV="1">
            <a:off x="2248837" y="5172940"/>
            <a:ext cx="429435" cy="3716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Oval 44">
            <a:extLst>
              <a:ext uri="{FF2B5EF4-FFF2-40B4-BE49-F238E27FC236}">
                <a16:creationId xmlns:a16="http://schemas.microsoft.com/office/drawing/2014/main" id="{A32634E4-21FE-25AA-2035-8863AB97A9BA}"/>
              </a:ext>
            </a:extLst>
          </p:cNvPr>
          <p:cNvSpPr/>
          <p:nvPr/>
        </p:nvSpPr>
        <p:spPr>
          <a:xfrm>
            <a:off x="1487552" y="5564748"/>
            <a:ext cx="162018" cy="162018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575">
              <a:solidFill>
                <a:schemeClr val="tx1"/>
              </a:solidFill>
            </a:endParaRPr>
          </a:p>
        </p:txBody>
      </p:sp>
      <p:sp>
        <p:nvSpPr>
          <p:cNvPr id="143" name="Oval 44">
            <a:extLst>
              <a:ext uri="{FF2B5EF4-FFF2-40B4-BE49-F238E27FC236}">
                <a16:creationId xmlns:a16="http://schemas.microsoft.com/office/drawing/2014/main" id="{FB28958B-2E7D-35D8-D8B0-8B4E00FE4E54}"/>
              </a:ext>
            </a:extLst>
          </p:cNvPr>
          <p:cNvSpPr/>
          <p:nvPr/>
        </p:nvSpPr>
        <p:spPr>
          <a:xfrm>
            <a:off x="2231858" y="5392236"/>
            <a:ext cx="162018" cy="162018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575">
              <a:solidFill>
                <a:schemeClr val="tx1"/>
              </a:solidFill>
            </a:endParaRPr>
          </a:p>
        </p:txBody>
      </p:sp>
      <p:sp>
        <p:nvSpPr>
          <p:cNvPr id="144" name="Oval 44">
            <a:extLst>
              <a:ext uri="{FF2B5EF4-FFF2-40B4-BE49-F238E27FC236}">
                <a16:creationId xmlns:a16="http://schemas.microsoft.com/office/drawing/2014/main" id="{CB669970-9093-5B31-737D-06092A47DB6F}"/>
              </a:ext>
            </a:extLst>
          </p:cNvPr>
          <p:cNvSpPr/>
          <p:nvPr/>
        </p:nvSpPr>
        <p:spPr>
          <a:xfrm>
            <a:off x="2208659" y="5938093"/>
            <a:ext cx="162018" cy="162018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575">
              <a:solidFill>
                <a:schemeClr val="tx1"/>
              </a:solidFill>
            </a:endParaRPr>
          </a:p>
        </p:txBody>
      </p:sp>
      <p:sp>
        <p:nvSpPr>
          <p:cNvPr id="145" name="Oval 44">
            <a:extLst>
              <a:ext uri="{FF2B5EF4-FFF2-40B4-BE49-F238E27FC236}">
                <a16:creationId xmlns:a16="http://schemas.microsoft.com/office/drawing/2014/main" id="{FBC7F2B6-0401-0033-824F-9108C496947F}"/>
              </a:ext>
            </a:extLst>
          </p:cNvPr>
          <p:cNvSpPr/>
          <p:nvPr/>
        </p:nvSpPr>
        <p:spPr>
          <a:xfrm>
            <a:off x="1659658" y="5874915"/>
            <a:ext cx="162018" cy="162018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575">
              <a:solidFill>
                <a:schemeClr val="tx1"/>
              </a:solidFill>
            </a:endParaRPr>
          </a:p>
        </p:txBody>
      </p:sp>
      <p:sp>
        <p:nvSpPr>
          <p:cNvPr id="146" name="Oval 44">
            <a:extLst>
              <a:ext uri="{FF2B5EF4-FFF2-40B4-BE49-F238E27FC236}">
                <a16:creationId xmlns:a16="http://schemas.microsoft.com/office/drawing/2014/main" id="{16911EB8-7A41-CA20-B091-ADD87323382D}"/>
              </a:ext>
            </a:extLst>
          </p:cNvPr>
          <p:cNvSpPr/>
          <p:nvPr/>
        </p:nvSpPr>
        <p:spPr>
          <a:xfrm>
            <a:off x="1795675" y="5321721"/>
            <a:ext cx="162018" cy="162018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575">
              <a:solidFill>
                <a:schemeClr val="tx1"/>
              </a:solidFill>
            </a:endParaRPr>
          </a:p>
        </p:txBody>
      </p:sp>
      <p:sp>
        <p:nvSpPr>
          <p:cNvPr id="147" name="Oval 44">
            <a:extLst>
              <a:ext uri="{FF2B5EF4-FFF2-40B4-BE49-F238E27FC236}">
                <a16:creationId xmlns:a16="http://schemas.microsoft.com/office/drawing/2014/main" id="{35851CFD-9D48-6125-5117-54C54FE04996}"/>
              </a:ext>
            </a:extLst>
          </p:cNvPr>
          <p:cNvSpPr/>
          <p:nvPr/>
        </p:nvSpPr>
        <p:spPr>
          <a:xfrm>
            <a:off x="2539981" y="5149209"/>
            <a:ext cx="162018" cy="162018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575">
              <a:solidFill>
                <a:schemeClr val="tx1"/>
              </a:solidFill>
            </a:endParaRPr>
          </a:p>
        </p:txBody>
      </p:sp>
      <p:sp>
        <p:nvSpPr>
          <p:cNvPr id="148" name="Oval 44">
            <a:extLst>
              <a:ext uri="{FF2B5EF4-FFF2-40B4-BE49-F238E27FC236}">
                <a16:creationId xmlns:a16="http://schemas.microsoft.com/office/drawing/2014/main" id="{5FF08A61-611F-22C7-12AD-2337D43A99C9}"/>
              </a:ext>
            </a:extLst>
          </p:cNvPr>
          <p:cNvSpPr/>
          <p:nvPr/>
        </p:nvSpPr>
        <p:spPr>
          <a:xfrm>
            <a:off x="2516782" y="5695066"/>
            <a:ext cx="162018" cy="162018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575">
              <a:solidFill>
                <a:schemeClr val="tx1"/>
              </a:solidFill>
            </a:endParaRPr>
          </a:p>
        </p:txBody>
      </p:sp>
      <p:sp>
        <p:nvSpPr>
          <p:cNvPr id="149" name="Oval 44">
            <a:extLst>
              <a:ext uri="{FF2B5EF4-FFF2-40B4-BE49-F238E27FC236}">
                <a16:creationId xmlns:a16="http://schemas.microsoft.com/office/drawing/2014/main" id="{7C47988C-F2D0-2E6F-68BC-EC9E8431C9C7}"/>
              </a:ext>
            </a:extLst>
          </p:cNvPr>
          <p:cNvSpPr/>
          <p:nvPr/>
        </p:nvSpPr>
        <p:spPr>
          <a:xfrm>
            <a:off x="1967781" y="5631888"/>
            <a:ext cx="162018" cy="162018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575">
              <a:solidFill>
                <a:schemeClr val="tx1"/>
              </a:solidFill>
            </a:endParaRPr>
          </a:p>
        </p:txBody>
      </p:sp>
      <p:cxnSp>
        <p:nvCxnSpPr>
          <p:cNvPr id="150" name="Gerader Verbinder 44">
            <a:extLst>
              <a:ext uri="{FF2B5EF4-FFF2-40B4-BE49-F238E27FC236}">
                <a16:creationId xmlns:a16="http://schemas.microsoft.com/office/drawing/2014/main" id="{E6448BBB-CF78-C584-4943-B9C30B82770A}"/>
              </a:ext>
            </a:extLst>
          </p:cNvPr>
          <p:cNvCxnSpPr>
            <a:stCxn id="160" idx="1"/>
          </p:cNvCxnSpPr>
          <p:nvPr/>
        </p:nvCxnSpPr>
        <p:spPr>
          <a:xfrm>
            <a:off x="3633874" y="5558574"/>
            <a:ext cx="253380" cy="3852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Content Placeholder 14">
            <a:extLst>
              <a:ext uri="{FF2B5EF4-FFF2-40B4-BE49-F238E27FC236}">
                <a16:creationId xmlns:a16="http://schemas.microsoft.com/office/drawing/2014/main" id="{38C06F40-1412-4675-F5DB-013B36CCA717}"/>
              </a:ext>
            </a:extLst>
          </p:cNvPr>
          <p:cNvSpPr txBox="1">
            <a:spLocks/>
          </p:cNvSpPr>
          <p:nvPr/>
        </p:nvSpPr>
        <p:spPr>
          <a:xfrm>
            <a:off x="3071866" y="4448990"/>
            <a:ext cx="2177262" cy="252051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0" algn="ctr">
              <a:buNone/>
            </a:pPr>
            <a:r>
              <a:rPr lang="en-IN" sz="1200" i="1" dirty="0">
                <a:latin typeface="Consolas" panose="020B0609020204030204" pitchFamily="49" charset="0"/>
              </a:rPr>
              <a:t>Sparse, </a:t>
            </a:r>
            <a:r>
              <a:rPr lang="en-IN" sz="1200" b="1" i="1" dirty="0">
                <a:solidFill>
                  <a:srgbClr val="C00000"/>
                </a:solidFill>
                <a:latin typeface="Consolas" panose="020B0609020204030204" pitchFamily="49" charset="0"/>
              </a:rPr>
              <a:t>irregular (constant)</a:t>
            </a:r>
            <a:r>
              <a:rPr lang="en-IN" sz="1200" i="1" dirty="0">
                <a:latin typeface="Consolas" panose="020B0609020204030204" pitchFamily="49" charset="0"/>
              </a:rPr>
              <a:t> </a:t>
            </a:r>
            <a:r>
              <a:rPr lang="en-US" altLang="de-DE" sz="1200" b="1" dirty="0">
                <a:solidFill>
                  <a:srgbClr val="3366FF"/>
                </a:solidFill>
                <a:latin typeface="Consolas" panose="020B0609020204030204" pitchFamily="49" charset="0"/>
              </a:rPr>
              <a:t>spanner</a:t>
            </a:r>
            <a:r>
              <a:rPr lang="en-IN" sz="1200" i="1" dirty="0">
                <a:latin typeface="Consolas" panose="020B0609020204030204" pitchFamily="49" charset="0"/>
              </a:rPr>
              <a:t>:</a:t>
            </a:r>
          </a:p>
        </p:txBody>
      </p:sp>
      <p:cxnSp>
        <p:nvCxnSpPr>
          <p:cNvPr id="152" name="Gerader Verbinder 46">
            <a:extLst>
              <a:ext uri="{FF2B5EF4-FFF2-40B4-BE49-F238E27FC236}">
                <a16:creationId xmlns:a16="http://schemas.microsoft.com/office/drawing/2014/main" id="{5E774183-A25F-ECD3-E235-90730B4F43C5}"/>
              </a:ext>
            </a:extLst>
          </p:cNvPr>
          <p:cNvCxnSpPr>
            <a:stCxn id="163" idx="2"/>
            <a:endCxn id="162" idx="6"/>
          </p:cNvCxnSpPr>
          <p:nvPr/>
        </p:nvCxnSpPr>
        <p:spPr>
          <a:xfrm>
            <a:off x="3782253" y="5926026"/>
            <a:ext cx="711019" cy="6317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Gerader Verbinder 47">
            <a:extLst>
              <a:ext uri="{FF2B5EF4-FFF2-40B4-BE49-F238E27FC236}">
                <a16:creationId xmlns:a16="http://schemas.microsoft.com/office/drawing/2014/main" id="{35758AEE-FE91-6FE4-9FDE-F3B902394EBF}"/>
              </a:ext>
            </a:extLst>
          </p:cNvPr>
          <p:cNvCxnSpPr>
            <a:stCxn id="161" idx="0"/>
            <a:endCxn id="162" idx="4"/>
          </p:cNvCxnSpPr>
          <p:nvPr/>
        </p:nvCxnSpPr>
        <p:spPr>
          <a:xfrm flipH="1">
            <a:off x="4412259" y="5362338"/>
            <a:ext cx="23199" cy="7078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Gerader Verbinder 48">
            <a:extLst>
              <a:ext uri="{FF2B5EF4-FFF2-40B4-BE49-F238E27FC236}">
                <a16:creationId xmlns:a16="http://schemas.microsoft.com/office/drawing/2014/main" id="{E8A29E82-DE56-05C0-6B3A-CEF5EBF9C133}"/>
              </a:ext>
            </a:extLst>
          </p:cNvPr>
          <p:cNvCxnSpPr>
            <a:stCxn id="160" idx="2"/>
            <a:endCxn id="161" idx="6"/>
          </p:cNvCxnSpPr>
          <p:nvPr/>
        </p:nvCxnSpPr>
        <p:spPr>
          <a:xfrm flipV="1">
            <a:off x="3610143" y="5443344"/>
            <a:ext cx="906324" cy="1725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Gerader Verbinder 51">
            <a:extLst>
              <a:ext uri="{FF2B5EF4-FFF2-40B4-BE49-F238E27FC236}">
                <a16:creationId xmlns:a16="http://schemas.microsoft.com/office/drawing/2014/main" id="{E3ACA7DF-AC90-6DAC-A8AC-15C240A7ECE7}"/>
              </a:ext>
            </a:extLst>
          </p:cNvPr>
          <p:cNvCxnSpPr>
            <a:stCxn id="164" idx="2"/>
            <a:endCxn id="165" idx="6"/>
          </p:cNvCxnSpPr>
          <p:nvPr/>
        </p:nvCxnSpPr>
        <p:spPr>
          <a:xfrm flipV="1">
            <a:off x="3918267" y="5200317"/>
            <a:ext cx="906324" cy="1725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Gerader Verbinder 52">
            <a:extLst>
              <a:ext uri="{FF2B5EF4-FFF2-40B4-BE49-F238E27FC236}">
                <a16:creationId xmlns:a16="http://schemas.microsoft.com/office/drawing/2014/main" id="{1B252F22-31DC-B810-F7C3-6D145331C561}"/>
              </a:ext>
            </a:extLst>
          </p:cNvPr>
          <p:cNvCxnSpPr>
            <a:stCxn id="164" idx="1"/>
          </p:cNvCxnSpPr>
          <p:nvPr/>
        </p:nvCxnSpPr>
        <p:spPr>
          <a:xfrm>
            <a:off x="3941997" y="5315547"/>
            <a:ext cx="253380" cy="3852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Gerader Verbinder 53">
            <a:extLst>
              <a:ext uri="{FF2B5EF4-FFF2-40B4-BE49-F238E27FC236}">
                <a16:creationId xmlns:a16="http://schemas.microsoft.com/office/drawing/2014/main" id="{9B761094-861B-99BE-539B-2988A5B0A315}"/>
              </a:ext>
            </a:extLst>
          </p:cNvPr>
          <p:cNvCxnSpPr>
            <a:stCxn id="160" idx="3"/>
            <a:endCxn id="164" idx="7"/>
          </p:cNvCxnSpPr>
          <p:nvPr/>
        </p:nvCxnSpPr>
        <p:spPr>
          <a:xfrm flipV="1">
            <a:off x="3633874" y="5315547"/>
            <a:ext cx="422688" cy="3575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Gerader Verbinder 55">
            <a:extLst>
              <a:ext uri="{FF2B5EF4-FFF2-40B4-BE49-F238E27FC236}">
                <a16:creationId xmlns:a16="http://schemas.microsoft.com/office/drawing/2014/main" id="{08BAEFDE-EAC0-9FAF-59BD-2D5640B98102}"/>
              </a:ext>
            </a:extLst>
          </p:cNvPr>
          <p:cNvCxnSpPr>
            <a:endCxn id="166" idx="7"/>
          </p:cNvCxnSpPr>
          <p:nvPr/>
        </p:nvCxnSpPr>
        <p:spPr>
          <a:xfrm flipV="1">
            <a:off x="4343752" y="5688891"/>
            <a:ext cx="433913" cy="35065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Gerader Verbinder 56">
            <a:extLst>
              <a:ext uri="{FF2B5EF4-FFF2-40B4-BE49-F238E27FC236}">
                <a16:creationId xmlns:a16="http://schemas.microsoft.com/office/drawing/2014/main" id="{96741813-1AA4-48E8-570E-56E255F1EDF7}"/>
              </a:ext>
            </a:extLst>
          </p:cNvPr>
          <p:cNvCxnSpPr>
            <a:endCxn id="165" idx="7"/>
          </p:cNvCxnSpPr>
          <p:nvPr/>
        </p:nvCxnSpPr>
        <p:spPr>
          <a:xfrm flipV="1">
            <a:off x="4371429" y="5143038"/>
            <a:ext cx="429435" cy="3716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Oval 44">
            <a:extLst>
              <a:ext uri="{FF2B5EF4-FFF2-40B4-BE49-F238E27FC236}">
                <a16:creationId xmlns:a16="http://schemas.microsoft.com/office/drawing/2014/main" id="{77B538E7-BFC6-C861-79B8-54BF73F814F8}"/>
              </a:ext>
            </a:extLst>
          </p:cNvPr>
          <p:cNvSpPr/>
          <p:nvPr/>
        </p:nvSpPr>
        <p:spPr>
          <a:xfrm>
            <a:off x="3610143" y="5534847"/>
            <a:ext cx="162018" cy="162018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575">
              <a:solidFill>
                <a:schemeClr val="tx1"/>
              </a:solidFill>
            </a:endParaRPr>
          </a:p>
        </p:txBody>
      </p:sp>
      <p:sp>
        <p:nvSpPr>
          <p:cNvPr id="161" name="Oval 44">
            <a:extLst>
              <a:ext uri="{FF2B5EF4-FFF2-40B4-BE49-F238E27FC236}">
                <a16:creationId xmlns:a16="http://schemas.microsoft.com/office/drawing/2014/main" id="{403D9A21-5FF0-3589-26A8-947DBDA402CE}"/>
              </a:ext>
            </a:extLst>
          </p:cNvPr>
          <p:cNvSpPr/>
          <p:nvPr/>
        </p:nvSpPr>
        <p:spPr>
          <a:xfrm>
            <a:off x="4354449" y="5362335"/>
            <a:ext cx="162018" cy="162018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575">
              <a:solidFill>
                <a:schemeClr val="tx1"/>
              </a:solidFill>
            </a:endParaRPr>
          </a:p>
        </p:txBody>
      </p:sp>
      <p:sp>
        <p:nvSpPr>
          <p:cNvPr id="162" name="Oval 44">
            <a:extLst>
              <a:ext uri="{FF2B5EF4-FFF2-40B4-BE49-F238E27FC236}">
                <a16:creationId xmlns:a16="http://schemas.microsoft.com/office/drawing/2014/main" id="{C372D2D6-4597-04A3-4E07-78752C670FE4}"/>
              </a:ext>
            </a:extLst>
          </p:cNvPr>
          <p:cNvSpPr/>
          <p:nvPr/>
        </p:nvSpPr>
        <p:spPr>
          <a:xfrm>
            <a:off x="4331250" y="5908191"/>
            <a:ext cx="162018" cy="162018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575">
              <a:solidFill>
                <a:schemeClr val="tx1"/>
              </a:solidFill>
            </a:endParaRPr>
          </a:p>
        </p:txBody>
      </p:sp>
      <p:sp>
        <p:nvSpPr>
          <p:cNvPr id="163" name="Oval 44">
            <a:extLst>
              <a:ext uri="{FF2B5EF4-FFF2-40B4-BE49-F238E27FC236}">
                <a16:creationId xmlns:a16="http://schemas.microsoft.com/office/drawing/2014/main" id="{661155DA-D61E-6110-788F-06269B88E9CC}"/>
              </a:ext>
            </a:extLst>
          </p:cNvPr>
          <p:cNvSpPr/>
          <p:nvPr/>
        </p:nvSpPr>
        <p:spPr>
          <a:xfrm>
            <a:off x="3782250" y="5845014"/>
            <a:ext cx="162018" cy="162018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575">
              <a:solidFill>
                <a:schemeClr val="tx1"/>
              </a:solidFill>
            </a:endParaRPr>
          </a:p>
        </p:txBody>
      </p:sp>
      <p:sp>
        <p:nvSpPr>
          <p:cNvPr id="164" name="Oval 44">
            <a:extLst>
              <a:ext uri="{FF2B5EF4-FFF2-40B4-BE49-F238E27FC236}">
                <a16:creationId xmlns:a16="http://schemas.microsoft.com/office/drawing/2014/main" id="{43ACC554-4ECD-6031-9227-83533FF05303}"/>
              </a:ext>
            </a:extLst>
          </p:cNvPr>
          <p:cNvSpPr/>
          <p:nvPr/>
        </p:nvSpPr>
        <p:spPr>
          <a:xfrm>
            <a:off x="3918267" y="5291820"/>
            <a:ext cx="162018" cy="162018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575">
              <a:solidFill>
                <a:schemeClr val="tx1"/>
              </a:solidFill>
            </a:endParaRPr>
          </a:p>
        </p:txBody>
      </p:sp>
      <p:sp>
        <p:nvSpPr>
          <p:cNvPr id="165" name="Oval 44">
            <a:extLst>
              <a:ext uri="{FF2B5EF4-FFF2-40B4-BE49-F238E27FC236}">
                <a16:creationId xmlns:a16="http://schemas.microsoft.com/office/drawing/2014/main" id="{91B207C6-4BA9-7606-4983-F7BF4E63F8A0}"/>
              </a:ext>
            </a:extLst>
          </p:cNvPr>
          <p:cNvSpPr/>
          <p:nvPr/>
        </p:nvSpPr>
        <p:spPr>
          <a:xfrm>
            <a:off x="4662573" y="5119308"/>
            <a:ext cx="162018" cy="162018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575">
              <a:solidFill>
                <a:schemeClr val="tx1"/>
              </a:solidFill>
            </a:endParaRPr>
          </a:p>
        </p:txBody>
      </p:sp>
      <p:sp>
        <p:nvSpPr>
          <p:cNvPr id="166" name="Oval 44">
            <a:extLst>
              <a:ext uri="{FF2B5EF4-FFF2-40B4-BE49-F238E27FC236}">
                <a16:creationId xmlns:a16="http://schemas.microsoft.com/office/drawing/2014/main" id="{C631EA22-F5DF-3F5A-0C21-262550C3B3E5}"/>
              </a:ext>
            </a:extLst>
          </p:cNvPr>
          <p:cNvSpPr/>
          <p:nvPr/>
        </p:nvSpPr>
        <p:spPr>
          <a:xfrm>
            <a:off x="4639374" y="5665164"/>
            <a:ext cx="162018" cy="162018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575">
              <a:solidFill>
                <a:schemeClr val="tx1"/>
              </a:solidFill>
            </a:endParaRPr>
          </a:p>
        </p:txBody>
      </p:sp>
      <p:sp>
        <p:nvSpPr>
          <p:cNvPr id="167" name="Oval 44">
            <a:extLst>
              <a:ext uri="{FF2B5EF4-FFF2-40B4-BE49-F238E27FC236}">
                <a16:creationId xmlns:a16="http://schemas.microsoft.com/office/drawing/2014/main" id="{7C29A394-CDD5-7136-B49A-A3AF94468AA5}"/>
              </a:ext>
            </a:extLst>
          </p:cNvPr>
          <p:cNvSpPr/>
          <p:nvPr/>
        </p:nvSpPr>
        <p:spPr>
          <a:xfrm>
            <a:off x="4090373" y="5601987"/>
            <a:ext cx="162018" cy="162018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575">
              <a:solidFill>
                <a:schemeClr val="tx1"/>
              </a:solidFill>
            </a:endParaRPr>
          </a:p>
        </p:txBody>
      </p:sp>
      <p:cxnSp>
        <p:nvCxnSpPr>
          <p:cNvPr id="168" name="Gerader Verbinder 65">
            <a:extLst>
              <a:ext uri="{FF2B5EF4-FFF2-40B4-BE49-F238E27FC236}">
                <a16:creationId xmlns:a16="http://schemas.microsoft.com/office/drawing/2014/main" id="{DBAA899F-1FA2-3E0E-BC80-2CEB8CB746B7}"/>
              </a:ext>
            </a:extLst>
          </p:cNvPr>
          <p:cNvCxnSpPr>
            <a:stCxn id="177" idx="1"/>
          </p:cNvCxnSpPr>
          <p:nvPr/>
        </p:nvCxnSpPr>
        <p:spPr>
          <a:xfrm>
            <a:off x="6035438" y="5557518"/>
            <a:ext cx="253380" cy="3852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Content Placeholder 14">
            <a:extLst>
              <a:ext uri="{FF2B5EF4-FFF2-40B4-BE49-F238E27FC236}">
                <a16:creationId xmlns:a16="http://schemas.microsoft.com/office/drawing/2014/main" id="{2D3D45FD-5D09-CAD3-67E2-BBCB0CFA28A1}"/>
              </a:ext>
            </a:extLst>
          </p:cNvPr>
          <p:cNvSpPr txBox="1">
            <a:spLocks/>
          </p:cNvSpPr>
          <p:nvPr/>
        </p:nvSpPr>
        <p:spPr>
          <a:xfrm>
            <a:off x="5452833" y="4367676"/>
            <a:ext cx="2078208" cy="436066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0" algn="ctr">
              <a:buNone/>
            </a:pPr>
            <a:r>
              <a:rPr lang="en-IN" sz="1200" b="1" i="1" dirty="0">
                <a:solidFill>
                  <a:srgbClr val="C00000"/>
                </a:solidFill>
                <a:latin typeface="Consolas" panose="020B0609020204030204" pitchFamily="49" charset="0"/>
              </a:rPr>
              <a:t>Constant</a:t>
            </a:r>
            <a:r>
              <a:rPr lang="en-IN" sz="1200" i="1" dirty="0">
                <a:latin typeface="Consolas" panose="020B0609020204030204" pitchFamily="49" charset="0"/>
              </a:rPr>
              <a:t> degree </a:t>
            </a:r>
            <a:r>
              <a:rPr lang="en-IN" sz="1200" b="1" i="1" dirty="0">
                <a:solidFill>
                  <a:srgbClr val="C00000"/>
                </a:solidFill>
                <a:latin typeface="Consolas" panose="020B0609020204030204" pitchFamily="49" charset="0"/>
              </a:rPr>
              <a:t>optimal</a:t>
            </a:r>
            <a:r>
              <a:rPr lang="en-IN" sz="1200" i="1" dirty="0">
                <a:latin typeface="Consolas" panose="020B0609020204030204" pitchFamily="49" charset="0"/>
              </a:rPr>
              <a:t> </a:t>
            </a:r>
            <a:r>
              <a:rPr lang="en-US" altLang="de-DE" sz="1200" b="1" dirty="0">
                <a:solidFill>
                  <a:srgbClr val="3366FF"/>
                </a:solidFill>
                <a:latin typeface="Consolas" panose="020B0609020204030204" pitchFamily="49" charset="0"/>
              </a:rPr>
              <a:t>DAN</a:t>
            </a:r>
            <a:r>
              <a:rPr lang="en-IN" altLang="de-DE" sz="1200" i="1" dirty="0">
                <a:latin typeface="Consolas" panose="020B0609020204030204" pitchFamily="49" charset="0"/>
              </a:rPr>
              <a:t> </a:t>
            </a:r>
            <a:r>
              <a:rPr lang="en-IN" altLang="de-DE" sz="1200" dirty="0">
                <a:latin typeface="Consolas" panose="020B0609020204030204" pitchFamily="49" charset="0"/>
              </a:rPr>
              <a:t>(ERL at most </a:t>
            </a:r>
            <a:r>
              <a:rPr lang="en-IN" altLang="de-DE" sz="1200" b="1" i="1" dirty="0">
                <a:solidFill>
                  <a:srgbClr val="C00000"/>
                </a:solidFill>
                <a:latin typeface="Consolas" panose="020B0609020204030204" pitchFamily="49" charset="0"/>
              </a:rPr>
              <a:t>log r</a:t>
            </a:r>
            <a:r>
              <a:rPr lang="en-IN" altLang="de-DE" sz="1200" dirty="0">
                <a:latin typeface="Consolas" panose="020B0609020204030204" pitchFamily="49" charset="0"/>
              </a:rPr>
              <a:t>):</a:t>
            </a:r>
            <a:endParaRPr lang="en-IN" sz="1200" dirty="0">
              <a:latin typeface="Consolas" panose="020B0609020204030204" pitchFamily="49" charset="0"/>
            </a:endParaRPr>
          </a:p>
        </p:txBody>
      </p:sp>
      <p:cxnSp>
        <p:nvCxnSpPr>
          <p:cNvPr id="170" name="Gerader Verbinder 68">
            <a:extLst>
              <a:ext uri="{FF2B5EF4-FFF2-40B4-BE49-F238E27FC236}">
                <a16:creationId xmlns:a16="http://schemas.microsoft.com/office/drawing/2014/main" id="{19A64D10-EFF1-A024-212E-F2D8EE8CDE76}"/>
              </a:ext>
            </a:extLst>
          </p:cNvPr>
          <p:cNvCxnSpPr>
            <a:stCxn id="181" idx="3"/>
            <a:endCxn id="180" idx="0"/>
          </p:cNvCxnSpPr>
          <p:nvPr/>
        </p:nvCxnSpPr>
        <p:spPr>
          <a:xfrm flipH="1">
            <a:off x="6264823" y="5429055"/>
            <a:ext cx="78735" cy="41490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Gerader Verbinder 69">
            <a:extLst>
              <a:ext uri="{FF2B5EF4-FFF2-40B4-BE49-F238E27FC236}">
                <a16:creationId xmlns:a16="http://schemas.microsoft.com/office/drawing/2014/main" id="{4D0279C6-E4EA-2E32-3481-36C4B9B6B79D}"/>
              </a:ext>
            </a:extLst>
          </p:cNvPr>
          <p:cNvCxnSpPr>
            <a:stCxn id="178" idx="3"/>
            <a:endCxn id="182" idx="7"/>
          </p:cNvCxnSpPr>
          <p:nvPr/>
        </p:nvCxnSpPr>
        <p:spPr>
          <a:xfrm flipV="1">
            <a:off x="6779744" y="5141979"/>
            <a:ext cx="422688" cy="3575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Gerader Verbinder 70">
            <a:extLst>
              <a:ext uri="{FF2B5EF4-FFF2-40B4-BE49-F238E27FC236}">
                <a16:creationId xmlns:a16="http://schemas.microsoft.com/office/drawing/2014/main" id="{4211EE8D-FFC1-DE9A-54C6-3A0B3B812F91}"/>
              </a:ext>
            </a:extLst>
          </p:cNvPr>
          <p:cNvCxnSpPr>
            <a:stCxn id="184" idx="2"/>
            <a:endCxn id="183" idx="6"/>
          </p:cNvCxnSpPr>
          <p:nvPr/>
        </p:nvCxnSpPr>
        <p:spPr>
          <a:xfrm>
            <a:off x="6491941" y="5681943"/>
            <a:ext cx="711019" cy="6317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Gerader Verbinder 72">
            <a:extLst>
              <a:ext uri="{FF2B5EF4-FFF2-40B4-BE49-F238E27FC236}">
                <a16:creationId xmlns:a16="http://schemas.microsoft.com/office/drawing/2014/main" id="{1D13E06C-825B-FD53-058E-4E90A047BE8A}"/>
              </a:ext>
            </a:extLst>
          </p:cNvPr>
          <p:cNvCxnSpPr>
            <a:stCxn id="181" idx="2"/>
            <a:endCxn id="182" idx="6"/>
          </p:cNvCxnSpPr>
          <p:nvPr/>
        </p:nvCxnSpPr>
        <p:spPr>
          <a:xfrm flipV="1">
            <a:off x="6319831" y="5199261"/>
            <a:ext cx="906324" cy="1725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Gerader Verbinder 73">
            <a:extLst>
              <a:ext uri="{FF2B5EF4-FFF2-40B4-BE49-F238E27FC236}">
                <a16:creationId xmlns:a16="http://schemas.microsoft.com/office/drawing/2014/main" id="{CD1EA614-10F4-28F5-E5D7-99AFAB9F304A}"/>
              </a:ext>
            </a:extLst>
          </p:cNvPr>
          <p:cNvCxnSpPr>
            <a:stCxn id="178" idx="3"/>
            <a:endCxn id="184" idx="7"/>
          </p:cNvCxnSpPr>
          <p:nvPr/>
        </p:nvCxnSpPr>
        <p:spPr>
          <a:xfrm flipH="1">
            <a:off x="6630228" y="5499570"/>
            <a:ext cx="149513" cy="1250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Gerader Verbinder 75">
            <a:extLst>
              <a:ext uri="{FF2B5EF4-FFF2-40B4-BE49-F238E27FC236}">
                <a16:creationId xmlns:a16="http://schemas.microsoft.com/office/drawing/2014/main" id="{0B2BF6CF-CAA4-D513-F57F-4F2B26A70E16}"/>
              </a:ext>
            </a:extLst>
          </p:cNvPr>
          <p:cNvCxnSpPr>
            <a:stCxn id="177" idx="5"/>
            <a:endCxn id="179" idx="1"/>
          </p:cNvCxnSpPr>
          <p:nvPr/>
        </p:nvCxnSpPr>
        <p:spPr>
          <a:xfrm>
            <a:off x="6149999" y="5672085"/>
            <a:ext cx="606543" cy="2587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Gerader Verbinder 76">
            <a:extLst>
              <a:ext uri="{FF2B5EF4-FFF2-40B4-BE49-F238E27FC236}">
                <a16:creationId xmlns:a16="http://schemas.microsoft.com/office/drawing/2014/main" id="{E742CCD9-EEAD-A44B-4E90-B0D502E83950}"/>
              </a:ext>
            </a:extLst>
          </p:cNvPr>
          <p:cNvCxnSpPr>
            <a:endCxn id="183" idx="7"/>
          </p:cNvCxnSpPr>
          <p:nvPr/>
        </p:nvCxnSpPr>
        <p:spPr>
          <a:xfrm flipV="1">
            <a:off x="6745317" y="5687835"/>
            <a:ext cx="433913" cy="35065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Oval 44">
            <a:extLst>
              <a:ext uri="{FF2B5EF4-FFF2-40B4-BE49-F238E27FC236}">
                <a16:creationId xmlns:a16="http://schemas.microsoft.com/office/drawing/2014/main" id="{3631E163-0EF9-DA6E-16E0-488A42BA1B6C}"/>
              </a:ext>
            </a:extLst>
          </p:cNvPr>
          <p:cNvSpPr/>
          <p:nvPr/>
        </p:nvSpPr>
        <p:spPr>
          <a:xfrm>
            <a:off x="6011708" y="5533791"/>
            <a:ext cx="162018" cy="162018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575">
              <a:solidFill>
                <a:schemeClr val="tx1"/>
              </a:solidFill>
            </a:endParaRPr>
          </a:p>
        </p:txBody>
      </p:sp>
      <p:sp>
        <p:nvSpPr>
          <p:cNvPr id="178" name="Oval 44">
            <a:extLst>
              <a:ext uri="{FF2B5EF4-FFF2-40B4-BE49-F238E27FC236}">
                <a16:creationId xmlns:a16="http://schemas.microsoft.com/office/drawing/2014/main" id="{B15A1504-4825-3796-4FD4-3954E3430B98}"/>
              </a:ext>
            </a:extLst>
          </p:cNvPr>
          <p:cNvSpPr/>
          <p:nvPr/>
        </p:nvSpPr>
        <p:spPr>
          <a:xfrm>
            <a:off x="6756014" y="5361279"/>
            <a:ext cx="162018" cy="162018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575">
              <a:solidFill>
                <a:schemeClr val="tx1"/>
              </a:solidFill>
            </a:endParaRPr>
          </a:p>
        </p:txBody>
      </p:sp>
      <p:sp>
        <p:nvSpPr>
          <p:cNvPr id="179" name="Oval 44">
            <a:extLst>
              <a:ext uri="{FF2B5EF4-FFF2-40B4-BE49-F238E27FC236}">
                <a16:creationId xmlns:a16="http://schemas.microsoft.com/office/drawing/2014/main" id="{672AD241-F714-C194-CF3D-944FC46D8592}"/>
              </a:ext>
            </a:extLst>
          </p:cNvPr>
          <p:cNvSpPr/>
          <p:nvPr/>
        </p:nvSpPr>
        <p:spPr>
          <a:xfrm>
            <a:off x="6732815" y="5907135"/>
            <a:ext cx="162018" cy="162018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575">
              <a:solidFill>
                <a:schemeClr val="tx1"/>
              </a:solidFill>
            </a:endParaRPr>
          </a:p>
        </p:txBody>
      </p:sp>
      <p:sp>
        <p:nvSpPr>
          <p:cNvPr id="180" name="Oval 44">
            <a:extLst>
              <a:ext uri="{FF2B5EF4-FFF2-40B4-BE49-F238E27FC236}">
                <a16:creationId xmlns:a16="http://schemas.microsoft.com/office/drawing/2014/main" id="{A3DDA44D-7516-814C-8E1C-C058DF8E722C}"/>
              </a:ext>
            </a:extLst>
          </p:cNvPr>
          <p:cNvSpPr/>
          <p:nvPr/>
        </p:nvSpPr>
        <p:spPr>
          <a:xfrm>
            <a:off x="6183814" y="5843958"/>
            <a:ext cx="162018" cy="162018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575">
              <a:solidFill>
                <a:schemeClr val="tx1"/>
              </a:solidFill>
            </a:endParaRPr>
          </a:p>
        </p:txBody>
      </p:sp>
      <p:sp>
        <p:nvSpPr>
          <p:cNvPr id="181" name="Oval 44">
            <a:extLst>
              <a:ext uri="{FF2B5EF4-FFF2-40B4-BE49-F238E27FC236}">
                <a16:creationId xmlns:a16="http://schemas.microsoft.com/office/drawing/2014/main" id="{6682B6B5-3EA2-6BC8-E12A-1CD463BAC2FB}"/>
              </a:ext>
            </a:extLst>
          </p:cNvPr>
          <p:cNvSpPr/>
          <p:nvPr/>
        </p:nvSpPr>
        <p:spPr>
          <a:xfrm>
            <a:off x="6319831" y="5290764"/>
            <a:ext cx="162018" cy="162018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575">
              <a:solidFill>
                <a:schemeClr val="tx1"/>
              </a:solidFill>
            </a:endParaRPr>
          </a:p>
        </p:txBody>
      </p:sp>
      <p:sp>
        <p:nvSpPr>
          <p:cNvPr id="182" name="Oval 44">
            <a:extLst>
              <a:ext uri="{FF2B5EF4-FFF2-40B4-BE49-F238E27FC236}">
                <a16:creationId xmlns:a16="http://schemas.microsoft.com/office/drawing/2014/main" id="{7A3136F3-0782-52E6-CC9C-E0E6783ABF6A}"/>
              </a:ext>
            </a:extLst>
          </p:cNvPr>
          <p:cNvSpPr/>
          <p:nvPr/>
        </p:nvSpPr>
        <p:spPr>
          <a:xfrm>
            <a:off x="7064137" y="5118252"/>
            <a:ext cx="162018" cy="162018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575">
              <a:solidFill>
                <a:schemeClr val="tx1"/>
              </a:solidFill>
            </a:endParaRPr>
          </a:p>
        </p:txBody>
      </p:sp>
      <p:sp>
        <p:nvSpPr>
          <p:cNvPr id="183" name="Oval 44">
            <a:extLst>
              <a:ext uri="{FF2B5EF4-FFF2-40B4-BE49-F238E27FC236}">
                <a16:creationId xmlns:a16="http://schemas.microsoft.com/office/drawing/2014/main" id="{CD2BC4A1-FE20-7D39-4D31-5AB9784E33C4}"/>
              </a:ext>
            </a:extLst>
          </p:cNvPr>
          <p:cNvSpPr/>
          <p:nvPr/>
        </p:nvSpPr>
        <p:spPr>
          <a:xfrm>
            <a:off x="7040938" y="5664108"/>
            <a:ext cx="162018" cy="162018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575">
              <a:solidFill>
                <a:schemeClr val="tx1"/>
              </a:solidFill>
            </a:endParaRPr>
          </a:p>
        </p:txBody>
      </p:sp>
      <p:sp>
        <p:nvSpPr>
          <p:cNvPr id="184" name="Oval 44">
            <a:extLst>
              <a:ext uri="{FF2B5EF4-FFF2-40B4-BE49-F238E27FC236}">
                <a16:creationId xmlns:a16="http://schemas.microsoft.com/office/drawing/2014/main" id="{ACAEB4F5-979E-24B3-011F-7BE6C6E5698D}"/>
              </a:ext>
            </a:extLst>
          </p:cNvPr>
          <p:cNvSpPr/>
          <p:nvPr/>
        </p:nvSpPr>
        <p:spPr>
          <a:xfrm>
            <a:off x="6491937" y="5600931"/>
            <a:ext cx="162018" cy="162018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575">
              <a:solidFill>
                <a:schemeClr val="tx1"/>
              </a:solidFill>
            </a:endParaRPr>
          </a:p>
        </p:txBody>
      </p:sp>
      <p:pic>
        <p:nvPicPr>
          <p:cNvPr id="185" name="Picture 2" descr="Image result for fast forward">
            <a:extLst>
              <a:ext uri="{FF2B5EF4-FFF2-40B4-BE49-F238E27FC236}">
                <a16:creationId xmlns:a16="http://schemas.microsoft.com/office/drawing/2014/main" id="{17A85939-DB1E-53E4-A037-BBC0F6F082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0911" y="5434214"/>
            <a:ext cx="356482" cy="356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6" name="Picture 2" descr="Image result for fast forward">
            <a:extLst>
              <a:ext uri="{FF2B5EF4-FFF2-40B4-BE49-F238E27FC236}">
                <a16:creationId xmlns:a16="http://schemas.microsoft.com/office/drawing/2014/main" id="{D7596106-8E31-638A-BD5F-E07671E2F1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9128" y="5437428"/>
            <a:ext cx="356482" cy="356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7" name="Rechteckige Legende 11">
            <a:extLst>
              <a:ext uri="{FF2B5EF4-FFF2-40B4-BE49-F238E27FC236}">
                <a16:creationId xmlns:a16="http://schemas.microsoft.com/office/drawing/2014/main" id="{1E2563E4-301F-3DA6-905D-B6F50F9C34DC}"/>
              </a:ext>
            </a:extLst>
          </p:cNvPr>
          <p:cNvSpPr/>
          <p:nvPr/>
        </p:nvSpPr>
        <p:spPr bwMode="auto">
          <a:xfrm>
            <a:off x="4639377" y="6007031"/>
            <a:ext cx="758866" cy="252051"/>
          </a:xfrm>
          <a:prstGeom prst="wedgeRectCallout">
            <a:avLst>
              <a:gd name="adj1" fmla="val -50880"/>
              <a:gd name="adj2" fmla="val -93278"/>
            </a:avLst>
          </a:prstGeom>
          <a:solidFill>
            <a:schemeClr val="accent3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de-DE" sz="1100" dirty="0">
                <a:latin typeface="Consolas" panose="020B0609020204030204" pitchFamily="49" charset="0"/>
              </a:rPr>
              <a:t>subgraph!</a:t>
            </a:r>
          </a:p>
        </p:txBody>
      </p:sp>
      <p:sp>
        <p:nvSpPr>
          <p:cNvPr id="188" name="Rechteckige Legende 11">
            <a:extLst>
              <a:ext uri="{FF2B5EF4-FFF2-40B4-BE49-F238E27FC236}">
                <a16:creationId xmlns:a16="http://schemas.microsoft.com/office/drawing/2014/main" id="{8C4D2D0B-2AA3-36EA-E156-945B07F7404E}"/>
              </a:ext>
            </a:extLst>
          </p:cNvPr>
          <p:cNvSpPr/>
          <p:nvPr/>
        </p:nvSpPr>
        <p:spPr bwMode="auto">
          <a:xfrm>
            <a:off x="5731685" y="6231167"/>
            <a:ext cx="1423761" cy="234838"/>
          </a:xfrm>
          <a:prstGeom prst="wedgeRectCallout">
            <a:avLst>
              <a:gd name="adj1" fmla="val 834"/>
              <a:gd name="adj2" fmla="val -163072"/>
            </a:avLst>
          </a:prstGeom>
          <a:solidFill>
            <a:schemeClr val="accent3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de-DE" sz="1100" dirty="0" err="1">
                <a:latin typeface="Consolas" panose="020B0609020204030204" pitchFamily="49" charset="0"/>
              </a:rPr>
              <a:t>auxiliiary</a:t>
            </a:r>
            <a:r>
              <a:rPr lang="en-US" altLang="de-DE" sz="1100" dirty="0">
                <a:latin typeface="Consolas" panose="020B0609020204030204" pitchFamily="49" charset="0"/>
              </a:rPr>
              <a:t> edges</a:t>
            </a:r>
          </a:p>
        </p:txBody>
      </p:sp>
      <p:sp>
        <p:nvSpPr>
          <p:cNvPr id="2" name="Rechteckige Legende 11">
            <a:extLst>
              <a:ext uri="{FF2B5EF4-FFF2-40B4-BE49-F238E27FC236}">
                <a16:creationId xmlns:a16="http://schemas.microsoft.com/office/drawing/2014/main" id="{CDE5A36C-5E61-340D-F018-B1682AF70A69}"/>
              </a:ext>
            </a:extLst>
          </p:cNvPr>
          <p:cNvSpPr/>
          <p:nvPr/>
        </p:nvSpPr>
        <p:spPr bwMode="auto">
          <a:xfrm>
            <a:off x="4639377" y="6007031"/>
            <a:ext cx="758866" cy="252051"/>
          </a:xfrm>
          <a:prstGeom prst="wedgeRectCallout">
            <a:avLst>
              <a:gd name="adj1" fmla="val -50880"/>
              <a:gd name="adj2" fmla="val -93278"/>
            </a:avLst>
          </a:prstGeom>
          <a:solidFill>
            <a:schemeClr val="accent3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de-DE" sz="1100" dirty="0">
                <a:latin typeface="Consolas" panose="020B0609020204030204" pitchFamily="49" charset="0"/>
              </a:rPr>
              <a:t>subgraph!</a:t>
            </a:r>
          </a:p>
        </p:txBody>
      </p:sp>
      <p:sp>
        <p:nvSpPr>
          <p:cNvPr id="3" name="Rechteckige Legende 11">
            <a:extLst>
              <a:ext uri="{FF2B5EF4-FFF2-40B4-BE49-F238E27FC236}">
                <a16:creationId xmlns:a16="http://schemas.microsoft.com/office/drawing/2014/main" id="{5C8172D5-92E4-A50C-23A6-0E0A915D9D97}"/>
              </a:ext>
            </a:extLst>
          </p:cNvPr>
          <p:cNvSpPr/>
          <p:nvPr/>
        </p:nvSpPr>
        <p:spPr bwMode="auto">
          <a:xfrm>
            <a:off x="5731685" y="6231167"/>
            <a:ext cx="1423761" cy="234838"/>
          </a:xfrm>
          <a:prstGeom prst="wedgeRectCallout">
            <a:avLst>
              <a:gd name="adj1" fmla="val 834"/>
              <a:gd name="adj2" fmla="val -163072"/>
            </a:avLst>
          </a:prstGeom>
          <a:solidFill>
            <a:schemeClr val="accent3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de-DE" sz="1100" dirty="0" err="1">
                <a:latin typeface="Consolas" panose="020B0609020204030204" pitchFamily="49" charset="0"/>
              </a:rPr>
              <a:t>auxiliiary</a:t>
            </a:r>
            <a:r>
              <a:rPr lang="en-US" altLang="de-DE" sz="1100" dirty="0">
                <a:latin typeface="Consolas" panose="020B0609020204030204" pitchFamily="49" charset="0"/>
              </a:rPr>
              <a:t> edges</a:t>
            </a:r>
          </a:p>
        </p:txBody>
      </p:sp>
      <p:sp>
        <p:nvSpPr>
          <p:cNvPr id="4" name="Rechteckige Legende 11">
            <a:extLst>
              <a:ext uri="{FF2B5EF4-FFF2-40B4-BE49-F238E27FC236}">
                <a16:creationId xmlns:a16="http://schemas.microsoft.com/office/drawing/2014/main" id="{141AE955-B415-B5D9-69DD-AAC7FE50A6C8}"/>
              </a:ext>
            </a:extLst>
          </p:cNvPr>
          <p:cNvSpPr/>
          <p:nvPr/>
        </p:nvSpPr>
        <p:spPr bwMode="auto">
          <a:xfrm>
            <a:off x="7155446" y="3694745"/>
            <a:ext cx="1723254" cy="436065"/>
          </a:xfrm>
          <a:prstGeom prst="wedgeRectCallout">
            <a:avLst>
              <a:gd name="adj1" fmla="val -39363"/>
              <a:gd name="adj2" fmla="val 102806"/>
            </a:avLst>
          </a:prstGeom>
          <a:solidFill>
            <a:schemeClr val="accent3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de-DE" sz="1100" dirty="0">
                <a:latin typeface="Consolas" panose="020B0609020204030204" pitchFamily="49" charset="0"/>
              </a:rPr>
              <a:t>Our degree reduction 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de-DE" sz="1100" dirty="0">
                <a:latin typeface="Consolas" panose="020B0609020204030204" pitchFamily="49" charset="0"/>
              </a:rPr>
              <a:t>trick again!</a:t>
            </a:r>
          </a:p>
        </p:txBody>
      </p:sp>
      <p:sp>
        <p:nvSpPr>
          <p:cNvPr id="6" name="Rechteckige Legende 11">
            <a:extLst>
              <a:ext uri="{FF2B5EF4-FFF2-40B4-BE49-F238E27FC236}">
                <a16:creationId xmlns:a16="http://schemas.microsoft.com/office/drawing/2014/main" id="{91327626-2C0C-E24F-3A04-6E8C64E96B87}"/>
              </a:ext>
            </a:extLst>
          </p:cNvPr>
          <p:cNvSpPr/>
          <p:nvPr/>
        </p:nvSpPr>
        <p:spPr bwMode="auto">
          <a:xfrm>
            <a:off x="7354897" y="4894314"/>
            <a:ext cx="1683414" cy="737574"/>
          </a:xfrm>
          <a:prstGeom prst="wedgeRectCallout">
            <a:avLst>
              <a:gd name="adj1" fmla="val -53379"/>
              <a:gd name="adj2" fmla="val -61822"/>
            </a:avLst>
          </a:prstGeom>
          <a:solidFill>
            <a:schemeClr val="accent3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 algn="ctr">
              <a:spcBef>
                <a:spcPct val="0"/>
              </a:spcBef>
              <a:buClrTx/>
            </a:pPr>
            <a:r>
              <a:rPr lang="en-US" altLang="de-DE" sz="1100" dirty="0">
                <a:latin typeface="Consolas" panose="020B0609020204030204" pitchFamily="49" charset="0"/>
              </a:rPr>
              <a:t>Why optimal: </a:t>
            </a:r>
          </a:p>
          <a:p>
            <a:pPr algn="ctr">
              <a:spcBef>
                <a:spcPct val="0"/>
              </a:spcBef>
              <a:buClrTx/>
            </a:pPr>
            <a:r>
              <a:rPr lang="en-US" altLang="de-DE" sz="1100" dirty="0">
                <a:latin typeface="Consolas" panose="020B0609020204030204" pitchFamily="49" charset="0"/>
              </a:rPr>
              <a:t>in r-regular graphs, </a:t>
            </a:r>
          </a:p>
          <a:p>
            <a:pPr algn="ctr">
              <a:spcBef>
                <a:spcPct val="0"/>
              </a:spcBef>
              <a:buClrTx/>
            </a:pPr>
            <a:r>
              <a:rPr lang="en-US" altLang="de-DE" sz="1100" dirty="0">
                <a:latin typeface="Consolas" panose="020B0609020204030204" pitchFamily="49" charset="0"/>
              </a:rPr>
              <a:t>conditional entropy </a:t>
            </a:r>
          </a:p>
          <a:p>
            <a:pPr algn="ctr">
              <a:spcBef>
                <a:spcPct val="0"/>
              </a:spcBef>
              <a:buClrTx/>
            </a:pPr>
            <a:r>
              <a:rPr lang="en-US" altLang="de-DE" sz="1100" dirty="0">
                <a:latin typeface="Consolas" panose="020B0609020204030204" pitchFamily="49" charset="0"/>
              </a:rPr>
              <a:t>is log r.</a:t>
            </a:r>
          </a:p>
        </p:txBody>
      </p:sp>
      <p:sp>
        <p:nvSpPr>
          <p:cNvPr id="7" name="Rectangle 64">
            <a:extLst>
              <a:ext uri="{FF2B5EF4-FFF2-40B4-BE49-F238E27FC236}">
                <a16:creationId xmlns:a16="http://schemas.microsoft.com/office/drawing/2014/main" id="{30E1F64D-2C69-AB42-9398-6FA53547E510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E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110186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4">
          <a:extLst>
            <a:ext uri="{FF2B5EF4-FFF2-40B4-BE49-F238E27FC236}">
              <a16:creationId xmlns:a16="http://schemas.microsoft.com/office/drawing/2014/main" id="{F6BFAE4A-0F4D-3B52-1B56-5976F7BC4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9" name="Google Shape;1779;g60be7dcf1c_0_659">
            <a:extLst>
              <a:ext uri="{FF2B5EF4-FFF2-40B4-BE49-F238E27FC236}">
                <a16:creationId xmlns:a16="http://schemas.microsoft.com/office/drawing/2014/main" id="{ED18BF19-1486-7242-C39B-F07AA377C3ED}"/>
              </a:ext>
            </a:extLst>
          </p:cNvPr>
          <p:cNvSpPr txBox="1"/>
          <p:nvPr/>
        </p:nvSpPr>
        <p:spPr>
          <a:xfrm>
            <a:off x="0" y="540000"/>
            <a:ext cx="8211000" cy="1030383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45" name="Google Shape;1688;g60be7dcf1c_0_579">
            <a:extLst>
              <a:ext uri="{FF2B5EF4-FFF2-40B4-BE49-F238E27FC236}">
                <a16:creationId xmlns:a16="http://schemas.microsoft.com/office/drawing/2014/main" id="{3EE34EA9-9F8D-A40B-9A68-517E9C8F87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3075" y="324175"/>
            <a:ext cx="8171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Further Reading</a:t>
            </a:r>
            <a:br>
              <a:rPr lang="en-GB" sz="32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4000" dirty="0" err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Dist.Comp</a:t>
            </a:r>
            <a: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 2020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362BE5DC-3A1A-4EA0-F75C-96096ACD1E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4747" y="1868541"/>
            <a:ext cx="5172113" cy="3657627"/>
          </a:xfrm>
          <a:prstGeom prst="rect">
            <a:avLst/>
          </a:prstGeom>
        </p:spPr>
      </p:pic>
      <p:sp>
        <p:nvSpPr>
          <p:cNvPr id="2" name="Rectangle 64">
            <a:extLst>
              <a:ext uri="{FF2B5EF4-FFF2-40B4-BE49-F238E27FC236}">
                <a16:creationId xmlns:a16="http://schemas.microsoft.com/office/drawing/2014/main" id="{C717A3FB-A38D-969F-A35C-DE014B8A516D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E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1036882"/>
      </p:ext>
    </p:extLst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4">
          <a:extLst>
            <a:ext uri="{FF2B5EF4-FFF2-40B4-BE49-F238E27FC236}">
              <a16:creationId xmlns:a16="http://schemas.microsoft.com/office/drawing/2014/main" id="{923E2708-7BC0-74A4-6479-0F747288D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9" name="Google Shape;1779;g60be7dcf1c_0_659">
            <a:extLst>
              <a:ext uri="{FF2B5EF4-FFF2-40B4-BE49-F238E27FC236}">
                <a16:creationId xmlns:a16="http://schemas.microsoft.com/office/drawing/2014/main" id="{0F44861D-EEDC-AF4E-292F-305E523DA144}"/>
              </a:ext>
            </a:extLst>
          </p:cNvPr>
          <p:cNvSpPr txBox="1"/>
          <p:nvPr/>
        </p:nvSpPr>
        <p:spPr>
          <a:xfrm>
            <a:off x="0" y="540000"/>
            <a:ext cx="8211000" cy="1030383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45" name="Google Shape;1688;g60be7dcf1c_0_579">
            <a:extLst>
              <a:ext uri="{FF2B5EF4-FFF2-40B4-BE49-F238E27FC236}">
                <a16:creationId xmlns:a16="http://schemas.microsoft.com/office/drawing/2014/main" id="{2ADC8D90-5C23-EE35-E121-8328A57657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3075" y="324175"/>
            <a:ext cx="8171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Further Reading</a:t>
            </a:r>
            <a:br>
              <a:rPr lang="en-GB" sz="32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4000" dirty="0" err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Dist.Comp</a:t>
            </a:r>
            <a: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 2020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F3A46355-BC39-5E18-7291-5AD5F3AF43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4747" y="1868541"/>
            <a:ext cx="5172113" cy="3657627"/>
          </a:xfrm>
          <a:prstGeom prst="rect">
            <a:avLst/>
          </a:prstGeom>
        </p:spPr>
      </p:pic>
      <p:sp>
        <p:nvSpPr>
          <p:cNvPr id="6" name="Google Shape;1534;g60be7dcf1c_0_434">
            <a:extLst>
              <a:ext uri="{FF2B5EF4-FFF2-40B4-BE49-F238E27FC236}">
                <a16:creationId xmlns:a16="http://schemas.microsoft.com/office/drawing/2014/main" id="{95C8B13D-85BA-1CE9-D87A-AF1098BFFCAA}"/>
              </a:ext>
            </a:extLst>
          </p:cNvPr>
          <p:cNvSpPr txBox="1"/>
          <p:nvPr/>
        </p:nvSpPr>
        <p:spPr>
          <a:xfrm>
            <a:off x="1160981" y="5876814"/>
            <a:ext cx="7611962" cy="882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Also includes </a:t>
            </a:r>
            <a:r>
              <a:rPr lang="en-GB" sz="1600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spanner</a:t>
            </a: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result and other special graphs (e.g., </a:t>
            </a:r>
            <a:r>
              <a:rPr lang="en-GB" sz="1600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bounded doubling dimension</a:t>
            </a: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). Open problem: </a:t>
            </a:r>
            <a:r>
              <a:rPr lang="en-GB" sz="1600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dense demands</a:t>
            </a: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endParaRPr lang="de-DE"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" name="Rectangle 64">
            <a:extLst>
              <a:ext uri="{FF2B5EF4-FFF2-40B4-BE49-F238E27FC236}">
                <a16:creationId xmlns:a16="http://schemas.microsoft.com/office/drawing/2014/main" id="{6D4BC08C-16BE-2522-4F64-0D60729FEC46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E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6245542"/>
      </p:ext>
    </p:extLst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4">
          <a:extLst>
            <a:ext uri="{FF2B5EF4-FFF2-40B4-BE49-F238E27FC236}">
              <a16:creationId xmlns:a16="http://schemas.microsoft.com/office/drawing/2014/main" id="{C1B3CE34-7BF3-AFC6-99B3-729F150A7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9" name="Google Shape;1779;g60be7dcf1c_0_659">
            <a:extLst>
              <a:ext uri="{FF2B5EF4-FFF2-40B4-BE49-F238E27FC236}">
                <a16:creationId xmlns:a16="http://schemas.microsoft.com/office/drawing/2014/main" id="{31655480-895A-D516-6B36-965E6AA33635}"/>
              </a:ext>
            </a:extLst>
          </p:cNvPr>
          <p:cNvSpPr txBox="1"/>
          <p:nvPr/>
        </p:nvSpPr>
        <p:spPr>
          <a:xfrm>
            <a:off x="0" y="540000"/>
            <a:ext cx="8211000" cy="1030383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45" name="Google Shape;1688;g60be7dcf1c_0_579">
            <a:extLst>
              <a:ext uri="{FF2B5EF4-FFF2-40B4-BE49-F238E27FC236}">
                <a16:creationId xmlns:a16="http://schemas.microsoft.com/office/drawing/2014/main" id="{639AF5B0-8C55-0AEB-802B-A5A8E2376C1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3075" y="324175"/>
            <a:ext cx="8171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Further Reading</a:t>
            </a:r>
            <a:br>
              <a:rPr lang="en-GB" sz="32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OPODIS 2024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2F486CEA-FCD6-D1F5-5B97-1D2129EEF9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3226" y="2002735"/>
            <a:ext cx="4204548" cy="3289272"/>
          </a:xfrm>
          <a:prstGeom prst="rect">
            <a:avLst/>
          </a:prstGeom>
        </p:spPr>
      </p:pic>
      <p:sp>
        <p:nvSpPr>
          <p:cNvPr id="7" name="Google Shape;1534;g60be7dcf1c_0_434">
            <a:extLst>
              <a:ext uri="{FF2B5EF4-FFF2-40B4-BE49-F238E27FC236}">
                <a16:creationId xmlns:a16="http://schemas.microsoft.com/office/drawing/2014/main" id="{D06345A2-277A-9B63-39AD-7B964A70D09A}"/>
              </a:ext>
            </a:extLst>
          </p:cNvPr>
          <p:cNvSpPr txBox="1"/>
          <p:nvPr/>
        </p:nvSpPr>
        <p:spPr>
          <a:xfrm>
            <a:off x="4568393" y="5876814"/>
            <a:ext cx="4204549" cy="882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VNEP vs DAN</a:t>
            </a:r>
            <a:endParaRPr lang="de-DE"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" name="Rectangle 64">
            <a:extLst>
              <a:ext uri="{FF2B5EF4-FFF2-40B4-BE49-F238E27FC236}">
                <a16:creationId xmlns:a16="http://schemas.microsoft.com/office/drawing/2014/main" id="{C559321B-9870-A884-F0D5-C53D1AC01F33}"/>
              </a:ext>
            </a:extLst>
          </p:cNvPr>
          <p:cNvSpPr/>
          <p:nvPr/>
        </p:nvSpPr>
        <p:spPr>
          <a:xfrm>
            <a:off x="7770729" y="6509550"/>
            <a:ext cx="551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E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2556354"/>
      </p:ext>
    </p:extLst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722407B-4EED-43FA-A166-E3BA2B994240}"/>
              </a:ext>
            </a:extLst>
          </p:cNvPr>
          <p:cNvSpPr/>
          <p:nvPr/>
        </p:nvSpPr>
        <p:spPr bwMode="auto">
          <a:xfrm>
            <a:off x="1234785" y="3030900"/>
            <a:ext cx="1735938" cy="1160860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514350"/>
            <a:endParaRPr lang="en-US" sz="1350">
              <a:latin typeface="Segoe UI Light" panose="020B0502040204020203" pitchFamily="34" charset="0"/>
              <a:ea typeface="ＭＳ Ｐゴシック" pitchFamily="34" charset="-128"/>
              <a:cs typeface="Segoe UI Light" panose="020B0502040204020203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3F586F7-52B7-405B-BF4A-C70F7690EAC2}"/>
              </a:ext>
            </a:extLst>
          </p:cNvPr>
          <p:cNvSpPr/>
          <p:nvPr/>
        </p:nvSpPr>
        <p:spPr bwMode="auto">
          <a:xfrm>
            <a:off x="4362449" y="3030900"/>
            <a:ext cx="1343025" cy="1160860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514350"/>
            <a:r>
              <a:rPr lang="en-GB" sz="1050" b="1">
                <a:solidFill>
                  <a:schemeClr val="bg1"/>
                </a:solidFill>
                <a:latin typeface="Segoe UI Light" panose="020B0502040204020203" pitchFamily="34" charset="0"/>
                <a:ea typeface="ＭＳ Ｐゴシック" pitchFamily="34" charset="-128"/>
                <a:cs typeface="Segoe UI Light" panose="020B0502040204020203" pitchFamily="34" charset="0"/>
              </a:rPr>
              <a:t>Wavelength</a:t>
            </a:r>
          </a:p>
          <a:p>
            <a:pPr algn="ctr" defTabSz="514350"/>
            <a:r>
              <a:rPr lang="en-GB" sz="1050" b="1">
                <a:solidFill>
                  <a:schemeClr val="bg1"/>
                </a:solidFill>
                <a:latin typeface="Segoe UI Light" panose="020B0502040204020203" pitchFamily="34" charset="0"/>
                <a:ea typeface="ＭＳ Ｐゴシック" pitchFamily="34" charset="-128"/>
                <a:cs typeface="Segoe UI Light" panose="020B0502040204020203" pitchFamily="34" charset="0"/>
              </a:rPr>
              <a:t>Selector</a:t>
            </a:r>
            <a:endParaRPr lang="en-US" sz="1050" b="1">
              <a:solidFill>
                <a:schemeClr val="bg1"/>
              </a:solidFill>
              <a:latin typeface="Segoe UI Light" panose="020B0502040204020203" pitchFamily="34" charset="0"/>
              <a:ea typeface="ＭＳ Ｐゴシック" pitchFamily="34" charset="-128"/>
              <a:cs typeface="Segoe UI Light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61AD9C3-67DA-466F-A4AA-4237719C1E1D}"/>
              </a:ext>
            </a:extLst>
          </p:cNvPr>
          <p:cNvSpPr txBox="1"/>
          <p:nvPr/>
        </p:nvSpPr>
        <p:spPr>
          <a:xfrm>
            <a:off x="3996417" y="4698996"/>
            <a:ext cx="210943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514350">
              <a:defRPr/>
            </a:pPr>
            <a:r>
              <a:rPr lang="en-GB" sz="1500">
                <a:solidFill>
                  <a:prstClr val="black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Switching Control Signal</a:t>
            </a:r>
            <a:endParaRPr lang="en-US" sz="1500">
              <a:solidFill>
                <a:prstClr val="black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2A5C306-0554-4A34-922F-AC5264E5EBE4}"/>
              </a:ext>
            </a:extLst>
          </p:cNvPr>
          <p:cNvCxnSpPr>
            <a:cxnSpLocks/>
            <a:stCxn id="12" idx="0"/>
          </p:cNvCxnSpPr>
          <p:nvPr/>
        </p:nvCxnSpPr>
        <p:spPr>
          <a:xfrm flipH="1" flipV="1">
            <a:off x="5019250" y="4256290"/>
            <a:ext cx="31885" cy="442706"/>
          </a:xfrm>
          <a:prstGeom prst="straightConnector1">
            <a:avLst/>
          </a:prstGeom>
          <a:noFill/>
          <a:ln w="6350" cap="flat" cmpd="sng" algn="ctr">
            <a:solidFill>
              <a:srgbClr val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85B8D7C6-E2E7-4362-B694-59E3618CA404}"/>
              </a:ext>
            </a:extLst>
          </p:cNvPr>
          <p:cNvSpPr/>
          <p:nvPr/>
        </p:nvSpPr>
        <p:spPr>
          <a:xfrm>
            <a:off x="3486759" y="3258925"/>
            <a:ext cx="176405" cy="178022"/>
          </a:xfrm>
          <a:custGeom>
            <a:avLst/>
            <a:gdLst>
              <a:gd name="connsiteX0" fmla="*/ 0 w 235207"/>
              <a:gd name="connsiteY0" fmla="*/ 619878 h 722441"/>
              <a:gd name="connsiteX1" fmla="*/ 55232 w 235207"/>
              <a:gd name="connsiteY1" fmla="*/ 650563 h 722441"/>
              <a:gd name="connsiteX2" fmla="*/ 122738 w 235207"/>
              <a:gd name="connsiteY2" fmla="*/ 50 h 722441"/>
              <a:gd name="connsiteX3" fmla="*/ 196381 w 235207"/>
              <a:gd name="connsiteY3" fmla="*/ 687384 h 722441"/>
              <a:gd name="connsiteX4" fmla="*/ 233202 w 235207"/>
              <a:gd name="connsiteY4" fmla="*/ 619878 h 722441"/>
              <a:gd name="connsiteX5" fmla="*/ 227065 w 235207"/>
              <a:gd name="connsiteY5" fmla="*/ 601468 h 7224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5207" h="722441">
                <a:moveTo>
                  <a:pt x="0" y="619878"/>
                </a:moveTo>
                <a:cubicBezTo>
                  <a:pt x="17388" y="686873"/>
                  <a:pt x="34776" y="753868"/>
                  <a:pt x="55232" y="650563"/>
                </a:cubicBezTo>
                <a:cubicBezTo>
                  <a:pt x="75688" y="547258"/>
                  <a:pt x="99213" y="-6087"/>
                  <a:pt x="122738" y="50"/>
                </a:cubicBezTo>
                <a:cubicBezTo>
                  <a:pt x="146263" y="6187"/>
                  <a:pt x="177970" y="584080"/>
                  <a:pt x="196381" y="687384"/>
                </a:cubicBezTo>
                <a:cubicBezTo>
                  <a:pt x="214792" y="790688"/>
                  <a:pt x="228088" y="634197"/>
                  <a:pt x="233202" y="619878"/>
                </a:cubicBezTo>
                <a:cubicBezTo>
                  <a:pt x="238316" y="605559"/>
                  <a:pt x="232690" y="603513"/>
                  <a:pt x="227065" y="601468"/>
                </a:cubicBezTo>
              </a:path>
            </a:pathLst>
          </a:custGeom>
          <a:noFill/>
          <a:ln w="19050">
            <a:solidFill>
              <a:srgbClr val="33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5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1C64A5-4BE3-495F-9AD4-3F4F66680560}"/>
              </a:ext>
            </a:extLst>
          </p:cNvPr>
          <p:cNvSpPr txBox="1"/>
          <p:nvPr/>
        </p:nvSpPr>
        <p:spPr>
          <a:xfrm rot="5400000">
            <a:off x="2101813" y="3638036"/>
            <a:ext cx="248726" cy="25391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GB" sz="1050">
                <a:latin typeface="+mn-lt"/>
              </a:rPr>
              <a:t>…</a:t>
            </a:r>
          </a:p>
        </p:txBody>
      </p:sp>
      <p:sp>
        <p:nvSpPr>
          <p:cNvPr id="17" name="SOA">
            <a:extLst>
              <a:ext uri="{FF2B5EF4-FFF2-40B4-BE49-F238E27FC236}">
                <a16:creationId xmlns:a16="http://schemas.microsoft.com/office/drawing/2014/main" id="{9272A16D-23A7-409F-BF3D-AAB3DCF7D855}"/>
              </a:ext>
            </a:extLst>
          </p:cNvPr>
          <p:cNvSpPr/>
          <p:nvPr/>
        </p:nvSpPr>
        <p:spPr>
          <a:xfrm>
            <a:off x="4468112" y="3112474"/>
            <a:ext cx="811055" cy="20000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  <a:headEnd type="none" w="med" len="med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135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SOA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E2737C7-CF89-4EC0-9012-82FE0B43F6FC}"/>
              </a:ext>
            </a:extLst>
          </p:cNvPr>
          <p:cNvCxnSpPr>
            <a:cxnSpLocks/>
          </p:cNvCxnSpPr>
          <p:nvPr/>
        </p:nvCxnSpPr>
        <p:spPr>
          <a:xfrm>
            <a:off x="2687844" y="3219622"/>
            <a:ext cx="1794110" cy="0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736B9684-8ED4-40B3-A7C3-FF17E1FAA32A}"/>
              </a:ext>
            </a:extLst>
          </p:cNvPr>
          <p:cNvSpPr/>
          <p:nvPr/>
        </p:nvSpPr>
        <p:spPr>
          <a:xfrm>
            <a:off x="1590674" y="3119617"/>
            <a:ext cx="1104013" cy="200009"/>
          </a:xfrm>
          <a:prstGeom prst="rect">
            <a:avLst/>
          </a:prstGeom>
          <a:solidFill>
            <a:srgbClr val="FF0000"/>
          </a:solidFill>
          <a:ln>
            <a:noFill/>
            <a:headEnd type="none" w="med" len="med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135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Laser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C229700-0292-4F8C-9D28-3E504868BB1B}"/>
              </a:ext>
            </a:extLst>
          </p:cNvPr>
          <p:cNvCxnSpPr>
            <a:cxnSpLocks/>
          </p:cNvCxnSpPr>
          <p:nvPr/>
        </p:nvCxnSpPr>
        <p:spPr>
          <a:xfrm>
            <a:off x="2652878" y="3499138"/>
            <a:ext cx="1829077" cy="0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77E0773F-F62D-426E-A403-AF79FA0729C4}"/>
              </a:ext>
            </a:extLst>
          </p:cNvPr>
          <p:cNvSpPr/>
          <p:nvPr/>
        </p:nvSpPr>
        <p:spPr>
          <a:xfrm>
            <a:off x="1590674" y="3399133"/>
            <a:ext cx="1104013" cy="200009"/>
          </a:xfrm>
          <a:prstGeom prst="rect">
            <a:avLst/>
          </a:prstGeom>
          <a:solidFill>
            <a:srgbClr val="3366FF"/>
          </a:solidFill>
          <a:ln>
            <a:noFill/>
            <a:headEnd type="none" w="med" len="med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135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Laser</a:t>
            </a: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49FF5151-4CFC-4801-B775-5DFEF41DCDBD}"/>
              </a:ext>
            </a:extLst>
          </p:cNvPr>
          <p:cNvSpPr/>
          <p:nvPr/>
        </p:nvSpPr>
        <p:spPr>
          <a:xfrm>
            <a:off x="3486758" y="2951755"/>
            <a:ext cx="176405" cy="178022"/>
          </a:xfrm>
          <a:custGeom>
            <a:avLst/>
            <a:gdLst>
              <a:gd name="connsiteX0" fmla="*/ 0 w 235207"/>
              <a:gd name="connsiteY0" fmla="*/ 619878 h 722441"/>
              <a:gd name="connsiteX1" fmla="*/ 55232 w 235207"/>
              <a:gd name="connsiteY1" fmla="*/ 650563 h 722441"/>
              <a:gd name="connsiteX2" fmla="*/ 122738 w 235207"/>
              <a:gd name="connsiteY2" fmla="*/ 50 h 722441"/>
              <a:gd name="connsiteX3" fmla="*/ 196381 w 235207"/>
              <a:gd name="connsiteY3" fmla="*/ 687384 h 722441"/>
              <a:gd name="connsiteX4" fmla="*/ 233202 w 235207"/>
              <a:gd name="connsiteY4" fmla="*/ 619878 h 722441"/>
              <a:gd name="connsiteX5" fmla="*/ 227065 w 235207"/>
              <a:gd name="connsiteY5" fmla="*/ 601468 h 7224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5207" h="722441">
                <a:moveTo>
                  <a:pt x="0" y="619878"/>
                </a:moveTo>
                <a:cubicBezTo>
                  <a:pt x="17388" y="686873"/>
                  <a:pt x="34776" y="753868"/>
                  <a:pt x="55232" y="650563"/>
                </a:cubicBezTo>
                <a:cubicBezTo>
                  <a:pt x="75688" y="547258"/>
                  <a:pt x="99213" y="-6087"/>
                  <a:pt x="122738" y="50"/>
                </a:cubicBezTo>
                <a:cubicBezTo>
                  <a:pt x="146263" y="6187"/>
                  <a:pt x="177970" y="584080"/>
                  <a:pt x="196381" y="687384"/>
                </a:cubicBezTo>
                <a:cubicBezTo>
                  <a:pt x="214792" y="790688"/>
                  <a:pt x="228088" y="634197"/>
                  <a:pt x="233202" y="619878"/>
                </a:cubicBezTo>
                <a:cubicBezTo>
                  <a:pt x="238316" y="605559"/>
                  <a:pt x="232690" y="603513"/>
                  <a:pt x="227065" y="601468"/>
                </a:cubicBezTo>
              </a:path>
            </a:pathLst>
          </a:cu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50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6C4726D4-B475-424E-A3E3-7B4DFE0EDB49}"/>
              </a:ext>
            </a:extLst>
          </p:cNvPr>
          <p:cNvCxnSpPr>
            <a:cxnSpLocks/>
          </p:cNvCxnSpPr>
          <p:nvPr/>
        </p:nvCxnSpPr>
        <p:spPr>
          <a:xfrm>
            <a:off x="2666939" y="4010061"/>
            <a:ext cx="1825479" cy="0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BBBC3FC6-380A-4299-B3BB-EC72E5F8D828}"/>
              </a:ext>
            </a:extLst>
          </p:cNvPr>
          <p:cNvSpPr/>
          <p:nvPr/>
        </p:nvSpPr>
        <p:spPr>
          <a:xfrm>
            <a:off x="1583831" y="3910056"/>
            <a:ext cx="1104013" cy="200009"/>
          </a:xfrm>
          <a:prstGeom prst="rect">
            <a:avLst/>
          </a:prstGeom>
          <a:solidFill>
            <a:srgbClr val="00B050"/>
          </a:solidFill>
          <a:ln>
            <a:noFill/>
            <a:headEnd type="none" w="med" len="med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135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Laser</a:t>
            </a:r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F2A48076-1A37-4FFD-8C2D-C344F3F523A1}"/>
              </a:ext>
            </a:extLst>
          </p:cNvPr>
          <p:cNvSpPr/>
          <p:nvPr/>
        </p:nvSpPr>
        <p:spPr>
          <a:xfrm>
            <a:off x="3486758" y="3813731"/>
            <a:ext cx="176405" cy="178022"/>
          </a:xfrm>
          <a:custGeom>
            <a:avLst/>
            <a:gdLst>
              <a:gd name="connsiteX0" fmla="*/ 0 w 235207"/>
              <a:gd name="connsiteY0" fmla="*/ 619878 h 722441"/>
              <a:gd name="connsiteX1" fmla="*/ 55232 w 235207"/>
              <a:gd name="connsiteY1" fmla="*/ 650563 h 722441"/>
              <a:gd name="connsiteX2" fmla="*/ 122738 w 235207"/>
              <a:gd name="connsiteY2" fmla="*/ 50 h 722441"/>
              <a:gd name="connsiteX3" fmla="*/ 196381 w 235207"/>
              <a:gd name="connsiteY3" fmla="*/ 687384 h 722441"/>
              <a:gd name="connsiteX4" fmla="*/ 233202 w 235207"/>
              <a:gd name="connsiteY4" fmla="*/ 619878 h 722441"/>
              <a:gd name="connsiteX5" fmla="*/ 227065 w 235207"/>
              <a:gd name="connsiteY5" fmla="*/ 601468 h 7224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5207" h="722441">
                <a:moveTo>
                  <a:pt x="0" y="619878"/>
                </a:moveTo>
                <a:cubicBezTo>
                  <a:pt x="17388" y="686873"/>
                  <a:pt x="34776" y="753868"/>
                  <a:pt x="55232" y="650563"/>
                </a:cubicBezTo>
                <a:cubicBezTo>
                  <a:pt x="75688" y="547258"/>
                  <a:pt x="99213" y="-6087"/>
                  <a:pt x="122738" y="50"/>
                </a:cubicBezTo>
                <a:cubicBezTo>
                  <a:pt x="146263" y="6187"/>
                  <a:pt x="177970" y="584080"/>
                  <a:pt x="196381" y="687384"/>
                </a:cubicBezTo>
                <a:cubicBezTo>
                  <a:pt x="214792" y="790688"/>
                  <a:pt x="228088" y="634197"/>
                  <a:pt x="233202" y="619878"/>
                </a:cubicBezTo>
                <a:cubicBezTo>
                  <a:pt x="238316" y="605559"/>
                  <a:pt x="232690" y="603513"/>
                  <a:pt x="227065" y="601468"/>
                </a:cubicBezTo>
              </a:path>
            </a:pathLst>
          </a:cu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50"/>
          </a:p>
        </p:txBody>
      </p:sp>
      <p:sp>
        <p:nvSpPr>
          <p:cNvPr id="22" name="SOA">
            <a:extLst>
              <a:ext uri="{FF2B5EF4-FFF2-40B4-BE49-F238E27FC236}">
                <a16:creationId xmlns:a16="http://schemas.microsoft.com/office/drawing/2014/main" id="{9D6EA348-6A6D-4D2B-BB24-B08163951BF4}"/>
              </a:ext>
            </a:extLst>
          </p:cNvPr>
          <p:cNvSpPr/>
          <p:nvPr/>
        </p:nvSpPr>
        <p:spPr>
          <a:xfrm>
            <a:off x="4468112" y="3399133"/>
            <a:ext cx="811055" cy="20000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  <a:headEnd type="none" w="med" len="med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135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SOA</a:t>
            </a:r>
          </a:p>
        </p:txBody>
      </p:sp>
      <p:sp>
        <p:nvSpPr>
          <p:cNvPr id="41" name="SOA">
            <a:extLst>
              <a:ext uri="{FF2B5EF4-FFF2-40B4-BE49-F238E27FC236}">
                <a16:creationId xmlns:a16="http://schemas.microsoft.com/office/drawing/2014/main" id="{5F619D71-7A06-427D-ACC1-D635D9217A66}"/>
              </a:ext>
            </a:extLst>
          </p:cNvPr>
          <p:cNvSpPr/>
          <p:nvPr/>
        </p:nvSpPr>
        <p:spPr>
          <a:xfrm>
            <a:off x="4481954" y="3910056"/>
            <a:ext cx="797212" cy="20000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  <a:headEnd type="none" w="med" len="med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135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SOA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E7E46F9-C10E-48B1-8834-64FDA1AFB29C}"/>
              </a:ext>
            </a:extLst>
          </p:cNvPr>
          <p:cNvSpPr txBox="1"/>
          <p:nvPr/>
        </p:nvSpPr>
        <p:spPr>
          <a:xfrm>
            <a:off x="2867025" y="2086260"/>
            <a:ext cx="340994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514350">
              <a:defRPr/>
            </a:pPr>
            <a:r>
              <a:rPr lang="en-GB" sz="1500">
                <a:solidFill>
                  <a:prstClr val="black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Semiconductor optical amplifier (SOA)</a:t>
            </a:r>
            <a:endParaRPr lang="en-US" sz="1500">
              <a:solidFill>
                <a:prstClr val="black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50F0FF47-165F-4D11-A408-E9CD1E40760A}"/>
              </a:ext>
            </a:extLst>
          </p:cNvPr>
          <p:cNvCxnSpPr>
            <a:cxnSpLocks/>
            <a:stCxn id="45" idx="2"/>
          </p:cNvCxnSpPr>
          <p:nvPr/>
        </p:nvCxnSpPr>
        <p:spPr>
          <a:xfrm>
            <a:off x="4572000" y="2409425"/>
            <a:ext cx="379925" cy="598418"/>
          </a:xfrm>
          <a:prstGeom prst="straightConnector1">
            <a:avLst/>
          </a:prstGeom>
          <a:noFill/>
          <a:ln w="6350" cap="flat" cmpd="sng" algn="ctr">
            <a:solidFill>
              <a:srgbClr val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AB4C9519-47D9-4CDD-8C3F-BEFB2939E3C3}"/>
              </a:ext>
            </a:extLst>
          </p:cNvPr>
          <p:cNvSpPr/>
          <p:nvPr/>
        </p:nvSpPr>
        <p:spPr>
          <a:xfrm>
            <a:off x="5873681" y="3372458"/>
            <a:ext cx="176405" cy="178022"/>
          </a:xfrm>
          <a:custGeom>
            <a:avLst/>
            <a:gdLst>
              <a:gd name="connsiteX0" fmla="*/ 0 w 235207"/>
              <a:gd name="connsiteY0" fmla="*/ 619878 h 722441"/>
              <a:gd name="connsiteX1" fmla="*/ 55232 w 235207"/>
              <a:gd name="connsiteY1" fmla="*/ 650563 h 722441"/>
              <a:gd name="connsiteX2" fmla="*/ 122738 w 235207"/>
              <a:gd name="connsiteY2" fmla="*/ 50 h 722441"/>
              <a:gd name="connsiteX3" fmla="*/ 196381 w 235207"/>
              <a:gd name="connsiteY3" fmla="*/ 687384 h 722441"/>
              <a:gd name="connsiteX4" fmla="*/ 233202 w 235207"/>
              <a:gd name="connsiteY4" fmla="*/ 619878 h 722441"/>
              <a:gd name="connsiteX5" fmla="*/ 227065 w 235207"/>
              <a:gd name="connsiteY5" fmla="*/ 601468 h 7224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5207" h="722441">
                <a:moveTo>
                  <a:pt x="0" y="619878"/>
                </a:moveTo>
                <a:cubicBezTo>
                  <a:pt x="17388" y="686873"/>
                  <a:pt x="34776" y="753868"/>
                  <a:pt x="55232" y="650563"/>
                </a:cubicBezTo>
                <a:cubicBezTo>
                  <a:pt x="75688" y="547258"/>
                  <a:pt x="99213" y="-6087"/>
                  <a:pt x="122738" y="50"/>
                </a:cubicBezTo>
                <a:cubicBezTo>
                  <a:pt x="146263" y="6187"/>
                  <a:pt x="177970" y="584080"/>
                  <a:pt x="196381" y="687384"/>
                </a:cubicBezTo>
                <a:cubicBezTo>
                  <a:pt x="214792" y="790688"/>
                  <a:pt x="228088" y="634197"/>
                  <a:pt x="233202" y="619878"/>
                </a:cubicBezTo>
                <a:cubicBezTo>
                  <a:pt x="238316" y="605559"/>
                  <a:pt x="232690" y="603513"/>
                  <a:pt x="227065" y="601468"/>
                </a:cubicBezTo>
              </a:path>
            </a:pathLst>
          </a:cu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50"/>
          </a:p>
        </p:txBody>
      </p:sp>
      <p:grpSp>
        <p:nvGrpSpPr>
          <p:cNvPr id="72" name="Close switch (red)">
            <a:extLst>
              <a:ext uri="{FF2B5EF4-FFF2-40B4-BE49-F238E27FC236}">
                <a16:creationId xmlns:a16="http://schemas.microsoft.com/office/drawing/2014/main" id="{CA773F80-C831-407D-8D83-798D39144730}"/>
              </a:ext>
            </a:extLst>
          </p:cNvPr>
          <p:cNvGrpSpPr/>
          <p:nvPr/>
        </p:nvGrpSpPr>
        <p:grpSpPr>
          <a:xfrm>
            <a:off x="4468111" y="3190414"/>
            <a:ext cx="811052" cy="57960"/>
            <a:chOff x="7690585" y="2605758"/>
            <a:chExt cx="1081402" cy="77280"/>
          </a:xfrm>
        </p:grpSpPr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B0D39BC9-029D-4163-B676-07F49ED99375}"/>
                </a:ext>
              </a:extLst>
            </p:cNvPr>
            <p:cNvGrpSpPr/>
            <p:nvPr/>
          </p:nvGrpSpPr>
          <p:grpSpPr>
            <a:xfrm>
              <a:off x="7690585" y="2606036"/>
              <a:ext cx="360633" cy="77002"/>
              <a:chOff x="7690585" y="2606036"/>
              <a:chExt cx="360633" cy="77002"/>
            </a:xfrm>
          </p:grpSpPr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CD688DFC-13BD-4F13-90A6-6196BE9FC08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90585" y="2644537"/>
                <a:ext cx="293070" cy="0"/>
              </a:xfrm>
              <a:prstGeom prst="line">
                <a:avLst/>
              </a:prstGeom>
              <a:ln>
                <a:solidFill>
                  <a:schemeClr val="tx1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BED5727C-55C7-4F82-A259-7EEB49830E2C}"/>
                  </a:ext>
                </a:extLst>
              </p:cNvPr>
              <p:cNvSpPr/>
              <p:nvPr/>
            </p:nvSpPr>
            <p:spPr>
              <a:xfrm>
                <a:off x="7974216" y="2606036"/>
                <a:ext cx="77002" cy="77002"/>
              </a:xfrm>
              <a:prstGeom prst="ellipse">
                <a:avLst/>
              </a:prstGeom>
              <a:ln>
                <a:solidFill>
                  <a:schemeClr val="tx1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 sz="1050"/>
              </a:p>
            </p:txBody>
          </p:sp>
        </p:grp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53898158-BD5E-41BD-837D-A279C05B46F1}"/>
                </a:ext>
              </a:extLst>
            </p:cNvPr>
            <p:cNvGrpSpPr/>
            <p:nvPr/>
          </p:nvGrpSpPr>
          <p:grpSpPr>
            <a:xfrm flipH="1">
              <a:off x="8366328" y="2605758"/>
              <a:ext cx="405659" cy="77002"/>
              <a:chOff x="8104474" y="2605758"/>
              <a:chExt cx="405659" cy="77002"/>
            </a:xfrm>
          </p:grpSpPr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24C24381-B798-4CB3-97EA-E437B9C348D1}"/>
                  </a:ext>
                </a:extLst>
              </p:cNvPr>
              <p:cNvCxnSpPr>
                <a:cxnSpLocks/>
                <a:endCxn id="77" idx="2"/>
              </p:cNvCxnSpPr>
              <p:nvPr/>
            </p:nvCxnSpPr>
            <p:spPr>
              <a:xfrm>
                <a:off x="8104474" y="2644259"/>
                <a:ext cx="328657" cy="0"/>
              </a:xfrm>
              <a:prstGeom prst="line">
                <a:avLst/>
              </a:prstGeom>
              <a:ln>
                <a:solidFill>
                  <a:schemeClr val="tx1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F02AB255-9CBD-4472-8E51-C6D66534B205}"/>
                  </a:ext>
                </a:extLst>
              </p:cNvPr>
              <p:cNvSpPr/>
              <p:nvPr/>
            </p:nvSpPr>
            <p:spPr>
              <a:xfrm>
                <a:off x="8433131" y="2605758"/>
                <a:ext cx="77002" cy="77002"/>
              </a:xfrm>
              <a:prstGeom prst="ellipse">
                <a:avLst/>
              </a:prstGeom>
              <a:ln>
                <a:solidFill>
                  <a:schemeClr val="tx1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 sz="1050"/>
              </a:p>
            </p:txBody>
          </p:sp>
        </p:grp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9B44F5A8-18C0-4993-8A09-D5EDDAF8662E}"/>
                </a:ext>
              </a:extLst>
            </p:cNvPr>
            <p:cNvCxnSpPr>
              <a:cxnSpLocks/>
              <a:stCxn id="77" idx="6"/>
              <a:endCxn id="79" idx="6"/>
            </p:cNvCxnSpPr>
            <p:nvPr/>
          </p:nvCxnSpPr>
          <p:spPr>
            <a:xfrm flipH="1">
              <a:off x="8051218" y="2644259"/>
              <a:ext cx="315110" cy="278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3" name="Open  switch (green)">
            <a:extLst>
              <a:ext uri="{FF2B5EF4-FFF2-40B4-BE49-F238E27FC236}">
                <a16:creationId xmlns:a16="http://schemas.microsoft.com/office/drawing/2014/main" id="{5474E831-8990-42E6-8909-9C1984C7157A}"/>
              </a:ext>
            </a:extLst>
          </p:cNvPr>
          <p:cNvGrpSpPr/>
          <p:nvPr/>
        </p:nvGrpSpPr>
        <p:grpSpPr>
          <a:xfrm>
            <a:off x="4471575" y="3852398"/>
            <a:ext cx="811054" cy="185860"/>
            <a:chOff x="7690585" y="2435225"/>
            <a:chExt cx="992507" cy="247813"/>
          </a:xfrm>
        </p:grpSpPr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2F2F7F36-69AF-4072-AFBC-EBB8F775B04B}"/>
                </a:ext>
              </a:extLst>
            </p:cNvPr>
            <p:cNvGrpSpPr/>
            <p:nvPr/>
          </p:nvGrpSpPr>
          <p:grpSpPr>
            <a:xfrm>
              <a:off x="7690585" y="2606036"/>
              <a:ext cx="345980" cy="77002"/>
              <a:chOff x="7690585" y="2606036"/>
              <a:chExt cx="345980" cy="77002"/>
            </a:xfrm>
          </p:grpSpPr>
          <p:cxnSp>
            <p:nvCxnSpPr>
              <p:cNvPr id="89" name="Straight Connector 88">
                <a:extLst>
                  <a:ext uri="{FF2B5EF4-FFF2-40B4-BE49-F238E27FC236}">
                    <a16:creationId xmlns:a16="http://schemas.microsoft.com/office/drawing/2014/main" id="{94280FE0-CF01-4427-9B4C-3453DF7ACC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90585" y="2644537"/>
                <a:ext cx="257917" cy="0"/>
              </a:xfrm>
              <a:prstGeom prst="line">
                <a:avLst/>
              </a:prstGeom>
              <a:ln>
                <a:solidFill>
                  <a:schemeClr val="tx1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1CBCE053-3131-4B26-92CF-DE793D73C5F5}"/>
                  </a:ext>
                </a:extLst>
              </p:cNvPr>
              <p:cNvSpPr/>
              <p:nvPr/>
            </p:nvSpPr>
            <p:spPr>
              <a:xfrm>
                <a:off x="7959563" y="2606036"/>
                <a:ext cx="77002" cy="77002"/>
              </a:xfrm>
              <a:prstGeom prst="ellipse">
                <a:avLst/>
              </a:prstGeom>
              <a:ln>
                <a:solidFill>
                  <a:schemeClr val="tx1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 sz="1050"/>
              </a:p>
            </p:txBody>
          </p:sp>
        </p:grp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D199AA3B-E23B-446A-B63E-823F3A2BF0C5}"/>
                </a:ext>
              </a:extLst>
            </p:cNvPr>
            <p:cNvGrpSpPr/>
            <p:nvPr/>
          </p:nvGrpSpPr>
          <p:grpSpPr>
            <a:xfrm flipH="1">
              <a:off x="8304138" y="2606036"/>
              <a:ext cx="378954" cy="77002"/>
              <a:chOff x="8193369" y="2606036"/>
              <a:chExt cx="378954" cy="77002"/>
            </a:xfrm>
          </p:grpSpPr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84B44F5E-D63B-4D8C-B328-72ABD9D71D3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93372" y="2644537"/>
                <a:ext cx="301944" cy="0"/>
              </a:xfrm>
              <a:prstGeom prst="line">
                <a:avLst/>
              </a:prstGeom>
              <a:ln>
                <a:solidFill>
                  <a:schemeClr val="tx1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B243F39B-1AC4-49A1-AECE-1318E07A2B37}"/>
                  </a:ext>
                </a:extLst>
              </p:cNvPr>
              <p:cNvSpPr/>
              <p:nvPr/>
            </p:nvSpPr>
            <p:spPr>
              <a:xfrm>
                <a:off x="8495321" y="2606036"/>
                <a:ext cx="77002" cy="77002"/>
              </a:xfrm>
              <a:prstGeom prst="ellipse">
                <a:avLst/>
              </a:prstGeom>
              <a:ln>
                <a:solidFill>
                  <a:schemeClr val="tx1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 sz="1050"/>
              </a:p>
            </p:txBody>
          </p:sp>
        </p:grp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F7389537-FB3A-4CCE-BF21-06F126C89980}"/>
                </a:ext>
              </a:extLst>
            </p:cNvPr>
            <p:cNvCxnSpPr>
              <a:cxnSpLocks/>
              <a:stCxn id="88" idx="6"/>
            </p:cNvCxnSpPr>
            <p:nvPr/>
          </p:nvCxnSpPr>
          <p:spPr>
            <a:xfrm flipH="1" flipV="1">
              <a:off x="8032242" y="2435225"/>
              <a:ext cx="271897" cy="209312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Open switch (red)">
            <a:extLst>
              <a:ext uri="{FF2B5EF4-FFF2-40B4-BE49-F238E27FC236}">
                <a16:creationId xmlns:a16="http://schemas.microsoft.com/office/drawing/2014/main" id="{8D8DA9D3-C47D-424C-9DAC-0A69C61DCFED}"/>
              </a:ext>
            </a:extLst>
          </p:cNvPr>
          <p:cNvGrpSpPr/>
          <p:nvPr/>
        </p:nvGrpSpPr>
        <p:grpSpPr>
          <a:xfrm>
            <a:off x="4468113" y="3065891"/>
            <a:ext cx="811055" cy="185860"/>
            <a:chOff x="7954655" y="2438946"/>
            <a:chExt cx="1100235" cy="247813"/>
          </a:xfrm>
        </p:grpSpPr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5065C735-7485-4D04-89E3-B83C99944841}"/>
                </a:ext>
              </a:extLst>
            </p:cNvPr>
            <p:cNvGrpSpPr/>
            <p:nvPr/>
          </p:nvGrpSpPr>
          <p:grpSpPr>
            <a:xfrm>
              <a:off x="7954655" y="2605682"/>
              <a:ext cx="364509" cy="77002"/>
              <a:chOff x="7954655" y="2605682"/>
              <a:chExt cx="364509" cy="77002"/>
            </a:xfrm>
          </p:grpSpPr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64469151-4B19-434E-803B-F2B3D0C20070}"/>
                  </a:ext>
                </a:extLst>
              </p:cNvPr>
              <p:cNvCxnSpPr>
                <a:cxnSpLocks/>
                <a:endCxn id="98" idx="2"/>
              </p:cNvCxnSpPr>
              <p:nvPr/>
            </p:nvCxnSpPr>
            <p:spPr>
              <a:xfrm>
                <a:off x="7954655" y="2641027"/>
                <a:ext cx="287507" cy="3156"/>
              </a:xfrm>
              <a:prstGeom prst="line">
                <a:avLst/>
              </a:prstGeom>
              <a:ln>
                <a:solidFill>
                  <a:schemeClr val="tx1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8" name="Oval 97">
                <a:extLst>
                  <a:ext uri="{FF2B5EF4-FFF2-40B4-BE49-F238E27FC236}">
                    <a16:creationId xmlns:a16="http://schemas.microsoft.com/office/drawing/2014/main" id="{06FD6CF6-2745-4BF2-B09D-36C36871DBB3}"/>
                  </a:ext>
                </a:extLst>
              </p:cNvPr>
              <p:cNvSpPr/>
              <p:nvPr/>
            </p:nvSpPr>
            <p:spPr>
              <a:xfrm>
                <a:off x="8242162" y="2605682"/>
                <a:ext cx="77002" cy="77002"/>
              </a:xfrm>
              <a:prstGeom prst="ellipse">
                <a:avLst/>
              </a:prstGeom>
              <a:ln>
                <a:solidFill>
                  <a:schemeClr val="tx1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 sz="1050"/>
              </a:p>
            </p:txBody>
          </p:sp>
        </p:grpSp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7E2F9ECE-E819-4342-B060-51515D3B23BB}"/>
                </a:ext>
              </a:extLst>
            </p:cNvPr>
            <p:cNvGrpSpPr/>
            <p:nvPr/>
          </p:nvGrpSpPr>
          <p:grpSpPr>
            <a:xfrm flipH="1">
              <a:off x="8641606" y="2609757"/>
              <a:ext cx="413284" cy="77002"/>
              <a:chOff x="7821571" y="2609757"/>
              <a:chExt cx="413284" cy="77002"/>
            </a:xfrm>
          </p:grpSpPr>
          <p:cxnSp>
            <p:nvCxnSpPr>
              <p:cNvPr id="95" name="Straight Connector 94">
                <a:extLst>
                  <a:ext uri="{FF2B5EF4-FFF2-40B4-BE49-F238E27FC236}">
                    <a16:creationId xmlns:a16="http://schemas.microsoft.com/office/drawing/2014/main" id="{E4313ED6-E5DC-44BA-81CC-295421E8F7CF}"/>
                  </a:ext>
                </a:extLst>
              </p:cNvPr>
              <p:cNvCxnSpPr>
                <a:cxnSpLocks/>
                <a:endCxn id="96" idx="2"/>
              </p:cNvCxnSpPr>
              <p:nvPr/>
            </p:nvCxnSpPr>
            <p:spPr>
              <a:xfrm>
                <a:off x="7821571" y="2644537"/>
                <a:ext cx="336282" cy="3721"/>
              </a:xfrm>
              <a:prstGeom prst="line">
                <a:avLst/>
              </a:prstGeom>
              <a:ln>
                <a:solidFill>
                  <a:schemeClr val="tx1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97501829-9DB5-484C-85E5-7C1BB353AC72}"/>
                  </a:ext>
                </a:extLst>
              </p:cNvPr>
              <p:cNvSpPr/>
              <p:nvPr/>
            </p:nvSpPr>
            <p:spPr>
              <a:xfrm>
                <a:off x="8157853" y="2609757"/>
                <a:ext cx="77002" cy="77002"/>
              </a:xfrm>
              <a:prstGeom prst="ellipse">
                <a:avLst/>
              </a:prstGeom>
              <a:ln>
                <a:solidFill>
                  <a:schemeClr val="tx1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 sz="1050"/>
              </a:p>
            </p:txBody>
          </p:sp>
        </p:grp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A368086A-078D-4FEB-9C76-C4C16285E52F}"/>
                </a:ext>
              </a:extLst>
            </p:cNvPr>
            <p:cNvCxnSpPr>
              <a:cxnSpLocks/>
              <a:stCxn id="96" idx="6"/>
            </p:cNvCxnSpPr>
            <p:nvPr/>
          </p:nvCxnSpPr>
          <p:spPr>
            <a:xfrm flipH="1" flipV="1">
              <a:off x="8369710" y="2438946"/>
              <a:ext cx="271897" cy="209312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1" name="Open switch (blue)">
            <a:extLst>
              <a:ext uri="{FF2B5EF4-FFF2-40B4-BE49-F238E27FC236}">
                <a16:creationId xmlns:a16="http://schemas.microsoft.com/office/drawing/2014/main" id="{705C9FC3-5453-40FF-B18E-BACBE8EDCAEA}"/>
              </a:ext>
            </a:extLst>
          </p:cNvPr>
          <p:cNvGrpSpPr/>
          <p:nvPr/>
        </p:nvGrpSpPr>
        <p:grpSpPr>
          <a:xfrm>
            <a:off x="4451586" y="3341847"/>
            <a:ext cx="827583" cy="185860"/>
            <a:chOff x="7662497" y="2435225"/>
            <a:chExt cx="1122656" cy="247813"/>
          </a:xfrm>
        </p:grpSpPr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C1A0753C-EE4B-42D3-8175-6BDEBB804DDD}"/>
                </a:ext>
              </a:extLst>
            </p:cNvPr>
            <p:cNvGrpSpPr/>
            <p:nvPr/>
          </p:nvGrpSpPr>
          <p:grpSpPr>
            <a:xfrm>
              <a:off x="7662497" y="2606036"/>
              <a:ext cx="401777" cy="77002"/>
              <a:chOff x="7662497" y="2606036"/>
              <a:chExt cx="401777" cy="77002"/>
            </a:xfrm>
          </p:grpSpPr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A424E358-159D-4FE1-9378-630D1178E35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62497" y="2645357"/>
                <a:ext cx="312043" cy="3600"/>
              </a:xfrm>
              <a:prstGeom prst="line">
                <a:avLst/>
              </a:prstGeom>
              <a:ln>
                <a:solidFill>
                  <a:schemeClr val="tx1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5FD27A7A-A48F-4069-AD5F-79AD4C7606DF}"/>
                  </a:ext>
                </a:extLst>
              </p:cNvPr>
              <p:cNvSpPr/>
              <p:nvPr/>
            </p:nvSpPr>
            <p:spPr>
              <a:xfrm>
                <a:off x="7987272" y="2606036"/>
                <a:ext cx="77002" cy="77002"/>
              </a:xfrm>
              <a:prstGeom prst="ellipse">
                <a:avLst/>
              </a:prstGeom>
              <a:ln>
                <a:solidFill>
                  <a:schemeClr val="tx1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 sz="1050"/>
              </a:p>
            </p:txBody>
          </p:sp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DC57118C-FC69-4B5E-8F07-88F743FCE60A}"/>
                </a:ext>
              </a:extLst>
            </p:cNvPr>
            <p:cNvGrpSpPr/>
            <p:nvPr/>
          </p:nvGrpSpPr>
          <p:grpSpPr>
            <a:xfrm flipH="1">
              <a:off x="8365225" y="2606036"/>
              <a:ext cx="419928" cy="77002"/>
              <a:chOff x="8091308" y="2606036"/>
              <a:chExt cx="419928" cy="77002"/>
            </a:xfrm>
          </p:grpSpPr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12E86AF1-3CF1-45E2-9703-607B8E82BF7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91308" y="2644537"/>
                <a:ext cx="334723" cy="0"/>
              </a:xfrm>
              <a:prstGeom prst="line">
                <a:avLst/>
              </a:prstGeom>
              <a:ln>
                <a:solidFill>
                  <a:schemeClr val="tx1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05858F53-DDB7-4BCB-86EB-4EC037C9FFA3}"/>
                  </a:ext>
                </a:extLst>
              </p:cNvPr>
              <p:cNvSpPr/>
              <p:nvPr/>
            </p:nvSpPr>
            <p:spPr>
              <a:xfrm>
                <a:off x="8434234" y="2606036"/>
                <a:ext cx="77002" cy="77002"/>
              </a:xfrm>
              <a:prstGeom prst="ellipse">
                <a:avLst/>
              </a:prstGeom>
              <a:ln>
                <a:solidFill>
                  <a:schemeClr val="tx1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 sz="1050"/>
              </a:p>
            </p:txBody>
          </p:sp>
        </p:grp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C0997429-0AC4-4E18-91F7-C25F8B75D446}"/>
                </a:ext>
              </a:extLst>
            </p:cNvPr>
            <p:cNvCxnSpPr>
              <a:cxnSpLocks/>
              <a:stCxn id="62" idx="6"/>
            </p:cNvCxnSpPr>
            <p:nvPr/>
          </p:nvCxnSpPr>
          <p:spPr>
            <a:xfrm flipH="1" flipV="1">
              <a:off x="8093328" y="2435225"/>
              <a:ext cx="271897" cy="209312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9" name="Close  switch (blue)">
            <a:extLst>
              <a:ext uri="{FF2B5EF4-FFF2-40B4-BE49-F238E27FC236}">
                <a16:creationId xmlns:a16="http://schemas.microsoft.com/office/drawing/2014/main" id="{04493F4F-014D-459A-A377-E544D02197C4}"/>
              </a:ext>
            </a:extLst>
          </p:cNvPr>
          <p:cNvGrpSpPr/>
          <p:nvPr/>
        </p:nvGrpSpPr>
        <p:grpSpPr>
          <a:xfrm>
            <a:off x="4455747" y="3469041"/>
            <a:ext cx="813989" cy="58204"/>
            <a:chOff x="7915549" y="2605433"/>
            <a:chExt cx="1058779" cy="77605"/>
          </a:xfrm>
        </p:grpSpPr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B0F7C19E-8CAF-4172-BD36-8BEE956A78BA}"/>
                </a:ext>
              </a:extLst>
            </p:cNvPr>
            <p:cNvGrpSpPr/>
            <p:nvPr/>
          </p:nvGrpSpPr>
          <p:grpSpPr>
            <a:xfrm>
              <a:off x="7915549" y="2606036"/>
              <a:ext cx="363642" cy="77002"/>
              <a:chOff x="7915549" y="2606036"/>
              <a:chExt cx="363642" cy="77002"/>
            </a:xfrm>
          </p:grpSpPr>
          <p:cxnSp>
            <p:nvCxnSpPr>
              <p:cNvPr id="105" name="Straight Connector 104">
                <a:extLst>
                  <a:ext uri="{FF2B5EF4-FFF2-40B4-BE49-F238E27FC236}">
                    <a16:creationId xmlns:a16="http://schemas.microsoft.com/office/drawing/2014/main" id="{4EE93241-F3D8-432E-80A0-8675B00C389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15549" y="2645199"/>
                <a:ext cx="290037" cy="1081"/>
              </a:xfrm>
              <a:prstGeom prst="line">
                <a:avLst/>
              </a:prstGeom>
              <a:ln>
                <a:solidFill>
                  <a:schemeClr val="tx1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6" name="Oval 105">
                <a:extLst>
                  <a:ext uri="{FF2B5EF4-FFF2-40B4-BE49-F238E27FC236}">
                    <a16:creationId xmlns:a16="http://schemas.microsoft.com/office/drawing/2014/main" id="{92D26264-A356-42A8-BB03-35137A1B5321}"/>
                  </a:ext>
                </a:extLst>
              </p:cNvPr>
              <p:cNvSpPr/>
              <p:nvPr/>
            </p:nvSpPr>
            <p:spPr>
              <a:xfrm>
                <a:off x="8202189" y="2606036"/>
                <a:ext cx="77002" cy="77002"/>
              </a:xfrm>
              <a:prstGeom prst="ellipse">
                <a:avLst/>
              </a:prstGeom>
              <a:ln>
                <a:solidFill>
                  <a:schemeClr val="tx1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 sz="1050"/>
              </a:p>
            </p:txBody>
          </p:sp>
        </p:grpSp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D2940E26-FBEF-4965-93FA-B9BB02B02533}"/>
                </a:ext>
              </a:extLst>
            </p:cNvPr>
            <p:cNvGrpSpPr/>
            <p:nvPr/>
          </p:nvGrpSpPr>
          <p:grpSpPr>
            <a:xfrm flipH="1">
              <a:off x="8573865" y="2605433"/>
              <a:ext cx="400463" cy="77002"/>
              <a:chOff x="7902133" y="2605433"/>
              <a:chExt cx="400463" cy="77002"/>
            </a:xfrm>
          </p:grpSpPr>
          <p:cxnSp>
            <p:nvCxnSpPr>
              <p:cNvPr id="103" name="Straight Connector 102">
                <a:extLst>
                  <a:ext uri="{FF2B5EF4-FFF2-40B4-BE49-F238E27FC236}">
                    <a16:creationId xmlns:a16="http://schemas.microsoft.com/office/drawing/2014/main" id="{EFF2D87C-840D-412D-8027-3C617B3F130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2133" y="2644537"/>
                <a:ext cx="308216" cy="0"/>
              </a:xfrm>
              <a:prstGeom prst="line">
                <a:avLst/>
              </a:prstGeom>
              <a:ln>
                <a:solidFill>
                  <a:schemeClr val="tx1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4" name="Oval 103">
                <a:extLst>
                  <a:ext uri="{FF2B5EF4-FFF2-40B4-BE49-F238E27FC236}">
                    <a16:creationId xmlns:a16="http://schemas.microsoft.com/office/drawing/2014/main" id="{D9E2895D-1AF3-4654-9C39-A82FF63A3D7D}"/>
                  </a:ext>
                </a:extLst>
              </p:cNvPr>
              <p:cNvSpPr/>
              <p:nvPr/>
            </p:nvSpPr>
            <p:spPr>
              <a:xfrm>
                <a:off x="8225594" y="2605433"/>
                <a:ext cx="77002" cy="77002"/>
              </a:xfrm>
              <a:prstGeom prst="ellipse">
                <a:avLst/>
              </a:prstGeom>
              <a:ln>
                <a:solidFill>
                  <a:schemeClr val="tx1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 sz="1050"/>
              </a:p>
            </p:txBody>
          </p:sp>
        </p:grp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A9493004-23B6-4A21-A41F-3B6B4D2CB9C5}"/>
                </a:ext>
              </a:extLst>
            </p:cNvPr>
            <p:cNvCxnSpPr>
              <a:cxnSpLocks/>
              <a:stCxn id="104" idx="6"/>
              <a:endCxn id="106" idx="6"/>
            </p:cNvCxnSpPr>
            <p:nvPr/>
          </p:nvCxnSpPr>
          <p:spPr>
            <a:xfrm flipH="1">
              <a:off x="8279191" y="2643934"/>
              <a:ext cx="294674" cy="603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5" name="Trapezoid 134">
            <a:extLst>
              <a:ext uri="{FF2B5EF4-FFF2-40B4-BE49-F238E27FC236}">
                <a16:creationId xmlns:a16="http://schemas.microsoft.com/office/drawing/2014/main" id="{EBCAA67D-96D1-405D-934D-1AAD4C9DA14F}"/>
              </a:ext>
            </a:extLst>
          </p:cNvPr>
          <p:cNvSpPr/>
          <p:nvPr/>
        </p:nvSpPr>
        <p:spPr>
          <a:xfrm rot="5400000">
            <a:off x="5042140" y="3516914"/>
            <a:ext cx="974705" cy="200432"/>
          </a:xfrm>
          <a:prstGeom prst="trapezoid">
            <a:avLst/>
          </a:prstGeom>
          <a:ln>
            <a:solidFill>
              <a:schemeClr val="tx1"/>
            </a:solidFill>
            <a:headEnd type="none" w="med" len="med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1350"/>
              <a:t>MUX</a:t>
            </a:r>
          </a:p>
        </p:txBody>
      </p: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4823A00F-3BBA-4913-96E8-0F1119984AAF}"/>
              </a:ext>
            </a:extLst>
          </p:cNvPr>
          <p:cNvCxnSpPr>
            <a:cxnSpLocks/>
          </p:cNvCxnSpPr>
          <p:nvPr/>
        </p:nvCxnSpPr>
        <p:spPr>
          <a:xfrm>
            <a:off x="5269738" y="3220277"/>
            <a:ext cx="166229" cy="0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B67E62EC-0B39-4C83-B2E9-451D53898EDD}"/>
              </a:ext>
            </a:extLst>
          </p:cNvPr>
          <p:cNvCxnSpPr>
            <a:cxnSpLocks/>
          </p:cNvCxnSpPr>
          <p:nvPr/>
        </p:nvCxnSpPr>
        <p:spPr>
          <a:xfrm>
            <a:off x="5267952" y="3497398"/>
            <a:ext cx="166229" cy="0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50A09F19-AAE9-437E-8E48-37D5FB8DE5D1}"/>
              </a:ext>
            </a:extLst>
          </p:cNvPr>
          <p:cNvCxnSpPr>
            <a:cxnSpLocks/>
          </p:cNvCxnSpPr>
          <p:nvPr/>
        </p:nvCxnSpPr>
        <p:spPr>
          <a:xfrm>
            <a:off x="5269738" y="4009169"/>
            <a:ext cx="166229" cy="0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5B8F58E-EB7C-4FB6-95CD-A94763D6B6F4}"/>
              </a:ext>
            </a:extLst>
          </p:cNvPr>
          <p:cNvCxnSpPr>
            <a:cxnSpLocks/>
            <a:stCxn id="135" idx="0"/>
          </p:cNvCxnSpPr>
          <p:nvPr/>
        </p:nvCxnSpPr>
        <p:spPr>
          <a:xfrm flipV="1">
            <a:off x="5629709" y="3611331"/>
            <a:ext cx="647265" cy="5799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grpSp>
        <p:nvGrpSpPr>
          <p:cNvPr id="126" name="Close  switch (green)">
            <a:extLst>
              <a:ext uri="{FF2B5EF4-FFF2-40B4-BE49-F238E27FC236}">
                <a16:creationId xmlns:a16="http://schemas.microsoft.com/office/drawing/2014/main" id="{126E3260-3E4A-4C22-9F51-579143E7720F}"/>
              </a:ext>
            </a:extLst>
          </p:cNvPr>
          <p:cNvGrpSpPr/>
          <p:nvPr/>
        </p:nvGrpSpPr>
        <p:grpSpPr>
          <a:xfrm>
            <a:off x="4468468" y="3980749"/>
            <a:ext cx="818996" cy="58204"/>
            <a:chOff x="7915549" y="2605433"/>
            <a:chExt cx="1065292" cy="77605"/>
          </a:xfrm>
        </p:grpSpPr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0F9D499C-22A7-4264-96CA-AE28D7F3A28C}"/>
                </a:ext>
              </a:extLst>
            </p:cNvPr>
            <p:cNvGrpSpPr/>
            <p:nvPr/>
          </p:nvGrpSpPr>
          <p:grpSpPr>
            <a:xfrm>
              <a:off x="7915549" y="2606036"/>
              <a:ext cx="363642" cy="77002"/>
              <a:chOff x="7915549" y="2606036"/>
              <a:chExt cx="363642" cy="77002"/>
            </a:xfrm>
          </p:grpSpPr>
          <p:cxnSp>
            <p:nvCxnSpPr>
              <p:cNvPr id="132" name="Straight Connector 131">
                <a:extLst>
                  <a:ext uri="{FF2B5EF4-FFF2-40B4-BE49-F238E27FC236}">
                    <a16:creationId xmlns:a16="http://schemas.microsoft.com/office/drawing/2014/main" id="{EB67B0C9-6AEA-4B16-9D44-E7534714660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15549" y="2645199"/>
                <a:ext cx="290037" cy="1081"/>
              </a:xfrm>
              <a:prstGeom prst="line">
                <a:avLst/>
              </a:prstGeom>
              <a:ln>
                <a:solidFill>
                  <a:schemeClr val="tx1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3" name="Oval 132">
                <a:extLst>
                  <a:ext uri="{FF2B5EF4-FFF2-40B4-BE49-F238E27FC236}">
                    <a16:creationId xmlns:a16="http://schemas.microsoft.com/office/drawing/2014/main" id="{CB787AAC-BFA0-4B93-81A5-98F0F44B68A3}"/>
                  </a:ext>
                </a:extLst>
              </p:cNvPr>
              <p:cNvSpPr/>
              <p:nvPr/>
            </p:nvSpPr>
            <p:spPr>
              <a:xfrm>
                <a:off x="8202189" y="2606036"/>
                <a:ext cx="77002" cy="77002"/>
              </a:xfrm>
              <a:prstGeom prst="ellipse">
                <a:avLst/>
              </a:prstGeom>
              <a:ln>
                <a:solidFill>
                  <a:schemeClr val="tx1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 sz="1050"/>
              </a:p>
            </p:txBody>
          </p:sp>
        </p:grpSp>
        <p:grpSp>
          <p:nvGrpSpPr>
            <p:cNvPr id="128" name="Group 127">
              <a:extLst>
                <a:ext uri="{FF2B5EF4-FFF2-40B4-BE49-F238E27FC236}">
                  <a16:creationId xmlns:a16="http://schemas.microsoft.com/office/drawing/2014/main" id="{F4C1CD3E-CBD5-43D2-939B-478C194CDBCB}"/>
                </a:ext>
              </a:extLst>
            </p:cNvPr>
            <p:cNvGrpSpPr/>
            <p:nvPr/>
          </p:nvGrpSpPr>
          <p:grpSpPr>
            <a:xfrm flipH="1">
              <a:off x="8573865" y="2605433"/>
              <a:ext cx="406976" cy="77002"/>
              <a:chOff x="7895620" y="2605433"/>
              <a:chExt cx="406976" cy="77002"/>
            </a:xfrm>
          </p:grpSpPr>
          <p:cxnSp>
            <p:nvCxnSpPr>
              <p:cNvPr id="130" name="Straight Connector 129">
                <a:extLst>
                  <a:ext uri="{FF2B5EF4-FFF2-40B4-BE49-F238E27FC236}">
                    <a16:creationId xmlns:a16="http://schemas.microsoft.com/office/drawing/2014/main" id="{2704F19D-4980-41B2-B58E-F2275015328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895620" y="2644537"/>
                <a:ext cx="308216" cy="0"/>
              </a:xfrm>
              <a:prstGeom prst="line">
                <a:avLst/>
              </a:prstGeom>
              <a:ln>
                <a:solidFill>
                  <a:schemeClr val="tx1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1" name="Oval 130">
                <a:extLst>
                  <a:ext uri="{FF2B5EF4-FFF2-40B4-BE49-F238E27FC236}">
                    <a16:creationId xmlns:a16="http://schemas.microsoft.com/office/drawing/2014/main" id="{0C1DFB95-CEB3-43E1-A1E5-7BCD8C2E3514}"/>
                  </a:ext>
                </a:extLst>
              </p:cNvPr>
              <p:cNvSpPr/>
              <p:nvPr/>
            </p:nvSpPr>
            <p:spPr>
              <a:xfrm>
                <a:off x="8225594" y="2605433"/>
                <a:ext cx="77002" cy="77002"/>
              </a:xfrm>
              <a:prstGeom prst="ellipse">
                <a:avLst/>
              </a:prstGeom>
              <a:ln>
                <a:solidFill>
                  <a:schemeClr val="tx1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 sz="1050"/>
              </a:p>
            </p:txBody>
          </p:sp>
        </p:grp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5971CB45-8EE8-45D1-B14A-0C598A03BD5F}"/>
                </a:ext>
              </a:extLst>
            </p:cNvPr>
            <p:cNvCxnSpPr>
              <a:cxnSpLocks/>
              <a:stCxn id="131" idx="6"/>
              <a:endCxn id="133" idx="6"/>
            </p:cNvCxnSpPr>
            <p:nvPr/>
          </p:nvCxnSpPr>
          <p:spPr>
            <a:xfrm flipH="1">
              <a:off x="8279191" y="2643934"/>
              <a:ext cx="294674" cy="603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2" name="TextBox 211">
            <a:extLst>
              <a:ext uri="{FF2B5EF4-FFF2-40B4-BE49-F238E27FC236}">
                <a16:creationId xmlns:a16="http://schemas.microsoft.com/office/drawing/2014/main" id="{5EC75C61-545A-427A-A6B4-B2CFDFD3B869}"/>
              </a:ext>
            </a:extLst>
          </p:cNvPr>
          <p:cNvSpPr txBox="1"/>
          <p:nvPr/>
        </p:nvSpPr>
        <p:spPr>
          <a:xfrm>
            <a:off x="2556639" y="5806717"/>
            <a:ext cx="3710609" cy="415498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 defTabSz="514350">
              <a:defRPr/>
            </a:pPr>
            <a:r>
              <a:rPr lang="en-GB" sz="1050" dirty="0">
                <a:solidFill>
                  <a:prstClr val="black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Sirius also implemented other designs </a:t>
            </a:r>
          </a:p>
          <a:p>
            <a:pPr algn="ctr" defTabSz="514350">
              <a:defRPr/>
            </a:pPr>
            <a:r>
              <a:rPr lang="en-GB" sz="1050" dirty="0">
                <a:solidFill>
                  <a:prstClr val="black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(details in the paper)</a:t>
            </a:r>
            <a:endParaRPr lang="en-US" sz="1050" dirty="0">
              <a:solidFill>
                <a:prstClr val="black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AE2FAC24-DD3B-4277-8E4C-FDD910261200}"/>
              </a:ext>
            </a:extLst>
          </p:cNvPr>
          <p:cNvSpPr/>
          <p:nvPr/>
        </p:nvSpPr>
        <p:spPr bwMode="auto">
          <a:xfrm>
            <a:off x="1237411" y="3025151"/>
            <a:ext cx="1735938" cy="1160860"/>
          </a:xfrm>
          <a:prstGeom prst="rect">
            <a:avLst/>
          </a:prstGeom>
          <a:gradFill flip="none" rotWithShape="1">
            <a:gsLst>
              <a:gs pos="0">
                <a:srgbClr val="FF0000"/>
              </a:gs>
              <a:gs pos="35000">
                <a:srgbClr val="FFFF00"/>
              </a:gs>
              <a:gs pos="66000">
                <a:srgbClr val="00B050"/>
              </a:gs>
              <a:gs pos="100000">
                <a:srgbClr val="0070C0"/>
              </a:gs>
            </a:gsLst>
            <a:lin ang="0" scaled="1"/>
            <a:tileRect/>
          </a:gra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514350"/>
            <a:r>
              <a:rPr lang="en-US" sz="1350">
                <a:latin typeface="Segoe UI Light" panose="020B0502040204020203" pitchFamily="34" charset="0"/>
                <a:ea typeface="ＭＳ Ｐゴシック" pitchFamily="34" charset="-128"/>
                <a:cs typeface="Segoe UI Light" panose="020B0502040204020203" pitchFamily="34" charset="0"/>
              </a:rPr>
              <a:t>Multi-wavelength </a:t>
            </a:r>
            <a:br>
              <a:rPr lang="en-US" sz="1350">
                <a:latin typeface="Segoe UI Light" panose="020B0502040204020203" pitchFamily="34" charset="0"/>
                <a:ea typeface="ＭＳ Ｐゴシック" pitchFamily="34" charset="-128"/>
                <a:cs typeface="Segoe UI Light" panose="020B0502040204020203" pitchFamily="34" charset="0"/>
              </a:rPr>
            </a:br>
            <a:r>
              <a:rPr lang="en-US" sz="1350">
                <a:latin typeface="Segoe UI Light" panose="020B0502040204020203" pitchFamily="34" charset="0"/>
                <a:ea typeface="ＭＳ Ｐゴシック" pitchFamily="34" charset="-128"/>
                <a:cs typeface="Segoe UI Light" panose="020B0502040204020203" pitchFamily="34" charset="0"/>
              </a:rPr>
              <a:t>source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2C033B-CF03-4735-A97F-7036D71B0568}"/>
              </a:ext>
            </a:extLst>
          </p:cNvPr>
          <p:cNvSpPr txBox="1"/>
          <p:nvPr/>
        </p:nvSpPr>
        <p:spPr>
          <a:xfrm rot="5400000">
            <a:off x="4844271" y="3623510"/>
            <a:ext cx="248726" cy="25391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GB" sz="1050">
                <a:latin typeface="+mn-lt"/>
              </a:rPr>
              <a:t>…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9FB5F354-E0A0-48D1-AA6D-5A2F682CDC5F}"/>
              </a:ext>
            </a:extLst>
          </p:cNvPr>
          <p:cNvSpPr/>
          <p:nvPr/>
        </p:nvSpPr>
        <p:spPr bwMode="auto">
          <a:xfrm>
            <a:off x="4363950" y="3033230"/>
            <a:ext cx="1343025" cy="1160860"/>
          </a:xfrm>
          <a:prstGeom prst="rect">
            <a:avLst/>
          </a:prstGeom>
          <a:solidFill>
            <a:srgbClr val="00B050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514350"/>
            <a:r>
              <a:rPr lang="en-GB" sz="1050" b="1">
                <a:solidFill>
                  <a:schemeClr val="bg1"/>
                </a:solidFill>
                <a:latin typeface="Segoe UI Light" panose="020B0502040204020203" pitchFamily="34" charset="0"/>
                <a:ea typeface="ＭＳ Ｐゴシック" pitchFamily="34" charset="-128"/>
                <a:cs typeface="Segoe UI Light" panose="020B0502040204020203" pitchFamily="34" charset="0"/>
              </a:rPr>
              <a:t>Wavelength</a:t>
            </a:r>
          </a:p>
          <a:p>
            <a:pPr algn="ctr" defTabSz="514350"/>
            <a:r>
              <a:rPr lang="en-GB" sz="1050" b="1">
                <a:solidFill>
                  <a:schemeClr val="bg1"/>
                </a:solidFill>
                <a:latin typeface="Segoe UI Light" panose="020B0502040204020203" pitchFamily="34" charset="0"/>
                <a:ea typeface="ＭＳ Ｐゴシック" pitchFamily="34" charset="-128"/>
                <a:cs typeface="Segoe UI Light" panose="020B0502040204020203" pitchFamily="34" charset="0"/>
              </a:rPr>
              <a:t>Selector</a:t>
            </a:r>
            <a:endParaRPr lang="en-US" sz="1050" b="1">
              <a:solidFill>
                <a:schemeClr val="bg1"/>
              </a:solidFill>
              <a:latin typeface="Segoe UI Light" panose="020B0502040204020203" pitchFamily="34" charset="0"/>
              <a:ea typeface="ＭＳ Ｐゴシック" pitchFamily="34" charset="-128"/>
              <a:cs typeface="Segoe UI Light" panose="020B0502040204020203" pitchFamily="34" charset="0"/>
            </a:endParaRPr>
          </a:p>
        </p:txBody>
      </p: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D1A7648C-43EF-466E-9827-93C34C000946}"/>
              </a:ext>
            </a:extLst>
          </p:cNvPr>
          <p:cNvCxnSpPr>
            <a:cxnSpLocks/>
          </p:cNvCxnSpPr>
          <p:nvPr/>
        </p:nvCxnSpPr>
        <p:spPr>
          <a:xfrm>
            <a:off x="2970723" y="3611330"/>
            <a:ext cx="1391726" cy="0"/>
          </a:xfrm>
          <a:prstGeom prst="straightConnector1">
            <a:avLst/>
          </a:prstGeom>
          <a:noFill/>
          <a:ln w="47625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07" name="Google Shape;1580;g60be7dcf1c_0_473">
            <a:extLst>
              <a:ext uri="{FF2B5EF4-FFF2-40B4-BE49-F238E27FC236}">
                <a16:creationId xmlns:a16="http://schemas.microsoft.com/office/drawing/2014/main" id="{73326368-824F-4E46-8E99-A0E446D85A22}"/>
              </a:ext>
            </a:extLst>
          </p:cNvPr>
          <p:cNvSpPr txBox="1"/>
          <p:nvPr/>
        </p:nvSpPr>
        <p:spPr>
          <a:xfrm>
            <a:off x="0" y="540000"/>
            <a:ext cx="8211000" cy="882371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108" name="Google Shape;1810;g60be7dcf1c_0_698">
            <a:extLst>
              <a:ext uri="{FF2B5EF4-FFF2-40B4-BE49-F238E27FC236}">
                <a16:creationId xmlns:a16="http://schemas.microsoft.com/office/drawing/2014/main" id="{6E82C392-D085-4312-9AEB-5D0C4EA6E1AC}"/>
              </a:ext>
            </a:extLst>
          </p:cNvPr>
          <p:cNvSpPr txBox="1">
            <a:spLocks/>
          </p:cNvSpPr>
          <p:nvPr/>
        </p:nvSpPr>
        <p:spPr>
          <a:xfrm>
            <a:off x="973075" y="324175"/>
            <a:ext cx="6954274" cy="18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buSzPts val="1100"/>
            </a:pPr>
            <a:endParaRPr lang="en-GB" sz="2000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algn="l">
              <a:buSzPts val="1100"/>
            </a:pPr>
            <a: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Example Design</a:t>
            </a:r>
          </a:p>
        </p:txBody>
      </p:sp>
      <p:sp>
        <p:nvSpPr>
          <p:cNvPr id="109" name="Google Shape;1725;g60be7dcf1c_0_603">
            <a:extLst>
              <a:ext uri="{FF2B5EF4-FFF2-40B4-BE49-F238E27FC236}">
                <a16:creationId xmlns:a16="http://schemas.microsoft.com/office/drawing/2014/main" id="{739C220C-7CA2-4115-BE39-6AE368878D0F}"/>
              </a:ext>
            </a:extLst>
          </p:cNvPr>
          <p:cNvSpPr txBox="1"/>
          <p:nvPr/>
        </p:nvSpPr>
        <p:spPr>
          <a:xfrm>
            <a:off x="4436074" y="6538100"/>
            <a:ext cx="3885888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GB" sz="1000" dirty="0" err="1">
                <a:latin typeface="Consolas"/>
                <a:ea typeface="Consolas"/>
                <a:cs typeface="Consolas"/>
                <a:sym typeface="Consolas"/>
              </a:rPr>
              <a:t>Ballani</a:t>
            </a: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 et al., </a:t>
            </a:r>
            <a:r>
              <a:rPr lang="en-US" sz="1000" dirty="0">
                <a:latin typeface="Consolas"/>
                <a:ea typeface="Consolas"/>
                <a:cs typeface="Consolas"/>
                <a:sym typeface="Consolas"/>
              </a:rPr>
              <a:t>Sirius, ACM SIGCOMM </a:t>
            </a:r>
            <a:r>
              <a:rPr lang="de-DE" sz="1000" dirty="0">
                <a:latin typeface="Consolas"/>
                <a:ea typeface="Consolas"/>
                <a:cs typeface="Consolas"/>
                <a:sym typeface="Consolas"/>
              </a:rPr>
              <a:t>2020.</a:t>
            </a:r>
            <a:endParaRPr lang="en-GB" sz="10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17D994B0-DF22-46F0-9F13-A00D86408368}"/>
              </a:ext>
            </a:extLst>
          </p:cNvPr>
          <p:cNvSpPr/>
          <p:nvPr/>
        </p:nvSpPr>
        <p:spPr>
          <a:xfrm>
            <a:off x="7770729" y="6509550"/>
            <a:ext cx="75443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E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55747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5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7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33" grpId="0" animBg="1"/>
      <p:bldP spid="36" grpId="0" animBg="1"/>
      <p:bldP spid="45" grpId="0"/>
      <p:bldP spid="212" grpId="0" animBg="1"/>
      <p:bldP spid="113" grpId="0" animBg="1"/>
      <p:bldP spid="112" grpId="0" animBg="1"/>
    </p:bldLst>
  </p:timing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4DF38-D4B7-4D9B-B59C-7501465F0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Idea: Disaggregated Laser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7B6BCF4-FAA4-4BC2-892C-942FBC88FE95}"/>
              </a:ext>
            </a:extLst>
          </p:cNvPr>
          <p:cNvSpPr/>
          <p:nvPr/>
        </p:nvSpPr>
        <p:spPr>
          <a:xfrm>
            <a:off x="2999932" y="2384114"/>
            <a:ext cx="904106" cy="341835"/>
          </a:xfrm>
          <a:prstGeom prst="rect">
            <a:avLst/>
          </a:prstGeom>
          <a:gradFill flip="none" rotWithShape="1">
            <a:gsLst>
              <a:gs pos="0">
                <a:srgbClr val="FF0000"/>
              </a:gs>
              <a:gs pos="35000">
                <a:srgbClr val="FFFF00"/>
              </a:gs>
              <a:gs pos="66000">
                <a:srgbClr val="00B050"/>
              </a:gs>
              <a:gs pos="100000">
                <a:srgbClr val="0070C0"/>
              </a:gs>
            </a:gsLst>
            <a:lin ang="0" scaled="1"/>
            <a:tileRect/>
          </a:gra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514350"/>
            <a:r>
              <a:rPr lang="en-GB" sz="1013" b="1">
                <a:solidFill>
                  <a:prstClr val="black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Gain</a:t>
            </a:r>
            <a:endParaRPr lang="en-US" sz="1013" b="1">
              <a:solidFill>
                <a:prstClr val="black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66C2FB8-4D77-4676-9641-2138D76D1E95}"/>
              </a:ext>
            </a:extLst>
          </p:cNvPr>
          <p:cNvSpPr/>
          <p:nvPr/>
        </p:nvSpPr>
        <p:spPr>
          <a:xfrm>
            <a:off x="3850771" y="2384113"/>
            <a:ext cx="529139" cy="341836"/>
          </a:xfrm>
          <a:prstGeom prst="rect">
            <a:avLst/>
          </a:prstGeom>
          <a:solidFill>
            <a:srgbClr val="FF0000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514350"/>
            <a:r>
              <a:rPr lang="en-GB" sz="1013" b="1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Tuning</a:t>
            </a:r>
            <a:endParaRPr lang="en-US" sz="1013" b="1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317692A-0CFC-47B6-804C-58C58DCBD807}"/>
              </a:ext>
            </a:extLst>
          </p:cNvPr>
          <p:cNvSpPr/>
          <p:nvPr/>
        </p:nvSpPr>
        <p:spPr>
          <a:xfrm>
            <a:off x="2470723" y="2384112"/>
            <a:ext cx="529139" cy="341836"/>
          </a:xfrm>
          <a:prstGeom prst="rect">
            <a:avLst/>
          </a:prstGeom>
          <a:solidFill>
            <a:srgbClr val="FF0000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514350">
              <a:defRPr/>
            </a:pPr>
            <a:r>
              <a:rPr lang="en-GB" sz="1013" b="1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Tuning</a:t>
            </a:r>
            <a:endParaRPr lang="en-US" sz="1013" b="1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E2737C7-CF89-4EC0-9012-82FE0B43F6FC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>
            <a:off x="3850771" y="3731403"/>
            <a:ext cx="1391726" cy="0"/>
          </a:xfrm>
          <a:prstGeom prst="straightConnector1">
            <a:avLst/>
          </a:prstGeom>
          <a:noFill/>
          <a:ln w="47625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8722407B-4EED-43FA-A166-E3BA2B994240}"/>
              </a:ext>
            </a:extLst>
          </p:cNvPr>
          <p:cNvSpPr/>
          <p:nvPr/>
        </p:nvSpPr>
        <p:spPr bwMode="auto">
          <a:xfrm>
            <a:off x="2114833" y="3150973"/>
            <a:ext cx="1735938" cy="1160860"/>
          </a:xfrm>
          <a:prstGeom prst="rect">
            <a:avLst/>
          </a:prstGeom>
          <a:gradFill flip="none" rotWithShape="1">
            <a:gsLst>
              <a:gs pos="0">
                <a:srgbClr val="FF0000"/>
              </a:gs>
              <a:gs pos="35000">
                <a:srgbClr val="FFFF00"/>
              </a:gs>
              <a:gs pos="66000">
                <a:srgbClr val="00B050"/>
              </a:gs>
              <a:gs pos="100000">
                <a:srgbClr val="0070C0"/>
              </a:gs>
            </a:gsLst>
            <a:lin ang="0" scaled="1"/>
            <a:tileRect/>
          </a:gra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514350"/>
            <a:r>
              <a:rPr lang="en-US" sz="1350">
                <a:latin typeface="Segoe UI Light" panose="020B0502040204020203" pitchFamily="34" charset="0"/>
                <a:ea typeface="ＭＳ Ｐゴシック" pitchFamily="34" charset="-128"/>
                <a:cs typeface="Segoe UI Light" panose="020B0502040204020203" pitchFamily="34" charset="0"/>
              </a:rPr>
              <a:t>Multi-wavelength </a:t>
            </a:r>
            <a:br>
              <a:rPr lang="en-US" sz="1350">
                <a:latin typeface="Segoe UI Light" panose="020B0502040204020203" pitchFamily="34" charset="0"/>
                <a:ea typeface="ＭＳ Ｐゴシック" pitchFamily="34" charset="-128"/>
                <a:cs typeface="Segoe UI Light" panose="020B0502040204020203" pitchFamily="34" charset="0"/>
              </a:rPr>
            </a:br>
            <a:r>
              <a:rPr lang="en-US" sz="1350">
                <a:latin typeface="Segoe UI Light" panose="020B0502040204020203" pitchFamily="34" charset="0"/>
                <a:ea typeface="ＭＳ Ｐゴシック" pitchFamily="34" charset="-128"/>
                <a:cs typeface="Segoe UI Light" panose="020B0502040204020203" pitchFamily="34" charset="0"/>
              </a:rPr>
              <a:t>source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3F586F7-52B7-405B-BF4A-C70F7690EAC2}"/>
              </a:ext>
            </a:extLst>
          </p:cNvPr>
          <p:cNvSpPr/>
          <p:nvPr/>
        </p:nvSpPr>
        <p:spPr bwMode="auto">
          <a:xfrm>
            <a:off x="5242497" y="3150973"/>
            <a:ext cx="1343025" cy="1160860"/>
          </a:xfrm>
          <a:prstGeom prst="rect">
            <a:avLst/>
          </a:prstGeom>
          <a:solidFill>
            <a:srgbClr val="FF0000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514350"/>
            <a:r>
              <a:rPr lang="en-GB" sz="1050" b="1">
                <a:solidFill>
                  <a:schemeClr val="bg1"/>
                </a:solidFill>
                <a:latin typeface="Segoe UI Light" panose="020B0502040204020203" pitchFamily="34" charset="0"/>
                <a:ea typeface="ＭＳ Ｐゴシック" pitchFamily="34" charset="-128"/>
                <a:cs typeface="Segoe UI Light" panose="020B0502040204020203" pitchFamily="34" charset="0"/>
              </a:rPr>
              <a:t>Wavelength</a:t>
            </a:r>
          </a:p>
          <a:p>
            <a:pPr algn="ctr" defTabSz="514350"/>
            <a:r>
              <a:rPr lang="en-GB" sz="1050" b="1">
                <a:solidFill>
                  <a:schemeClr val="bg1"/>
                </a:solidFill>
                <a:latin typeface="Segoe UI Light" panose="020B0502040204020203" pitchFamily="34" charset="0"/>
                <a:ea typeface="ＭＳ Ｐゴシック" pitchFamily="34" charset="-128"/>
                <a:cs typeface="Segoe UI Light" panose="020B0502040204020203" pitchFamily="34" charset="0"/>
              </a:rPr>
              <a:t>Selector</a:t>
            </a:r>
            <a:endParaRPr lang="en-US" sz="1050" b="1">
              <a:solidFill>
                <a:schemeClr val="bg1"/>
              </a:solidFill>
              <a:latin typeface="Segoe UI Light" panose="020B0502040204020203" pitchFamily="34" charset="0"/>
              <a:ea typeface="ＭＳ Ｐゴシック" pitchFamily="34" charset="-128"/>
              <a:cs typeface="Segoe UI Light" panose="020B0502040204020203" pitchFamily="34" charset="0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5B8F58E-EB7C-4FB6-95CD-A94763D6B6F4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6585522" y="3731403"/>
            <a:ext cx="417910" cy="0"/>
          </a:xfrm>
          <a:prstGeom prst="straightConnector1">
            <a:avLst/>
          </a:prstGeom>
          <a:noFill/>
          <a:ln w="47625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61AD9C3-67DA-466F-A4AA-4237719C1E1D}"/>
              </a:ext>
            </a:extLst>
          </p:cNvPr>
          <p:cNvSpPr txBox="1"/>
          <p:nvPr/>
        </p:nvSpPr>
        <p:spPr>
          <a:xfrm>
            <a:off x="5127889" y="5137173"/>
            <a:ext cx="19091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514350">
              <a:defRPr/>
            </a:pPr>
            <a:r>
              <a:rPr lang="en-GB" sz="1200">
                <a:solidFill>
                  <a:prstClr val="black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Switching Control Signal</a:t>
            </a:r>
            <a:endParaRPr lang="en-US" sz="1200">
              <a:solidFill>
                <a:prstClr val="black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2A5C306-0554-4A34-922F-AC5264E5EBE4}"/>
              </a:ext>
            </a:extLst>
          </p:cNvPr>
          <p:cNvCxnSpPr>
            <a:cxnSpLocks/>
          </p:cNvCxnSpPr>
          <p:nvPr/>
        </p:nvCxnSpPr>
        <p:spPr>
          <a:xfrm flipH="1" flipV="1">
            <a:off x="5899298" y="4376363"/>
            <a:ext cx="336947" cy="760809"/>
          </a:xfrm>
          <a:prstGeom prst="straightConnector1">
            <a:avLst/>
          </a:prstGeom>
          <a:noFill/>
          <a:ln w="6350" cap="flat" cmpd="sng" algn="ctr">
            <a:solidFill>
              <a:srgbClr val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766460E7-2F7A-498F-8603-A55967D2B5B3}"/>
              </a:ext>
            </a:extLst>
          </p:cNvPr>
          <p:cNvSpPr txBox="1"/>
          <p:nvPr/>
        </p:nvSpPr>
        <p:spPr>
          <a:xfrm>
            <a:off x="2027260" y="4428241"/>
            <a:ext cx="19091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 defTabSz="685800">
              <a:defRPr sz="1600" kern="0">
                <a:solidFill>
                  <a:prstClr val="black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GB" sz="1200"/>
              <a:t>Steady State</a:t>
            </a:r>
            <a:endParaRPr lang="en-US" sz="120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16B64AED-CE3B-4212-9737-3C790CE28E00}"/>
              </a:ext>
            </a:extLst>
          </p:cNvPr>
          <p:cNvSpPr/>
          <p:nvPr/>
        </p:nvSpPr>
        <p:spPr>
          <a:xfrm>
            <a:off x="3992645" y="3098245"/>
            <a:ext cx="176405" cy="541831"/>
          </a:xfrm>
          <a:custGeom>
            <a:avLst/>
            <a:gdLst>
              <a:gd name="connsiteX0" fmla="*/ 0 w 235207"/>
              <a:gd name="connsiteY0" fmla="*/ 619878 h 722441"/>
              <a:gd name="connsiteX1" fmla="*/ 55232 w 235207"/>
              <a:gd name="connsiteY1" fmla="*/ 650563 h 722441"/>
              <a:gd name="connsiteX2" fmla="*/ 122738 w 235207"/>
              <a:gd name="connsiteY2" fmla="*/ 50 h 722441"/>
              <a:gd name="connsiteX3" fmla="*/ 196381 w 235207"/>
              <a:gd name="connsiteY3" fmla="*/ 687384 h 722441"/>
              <a:gd name="connsiteX4" fmla="*/ 233202 w 235207"/>
              <a:gd name="connsiteY4" fmla="*/ 619878 h 722441"/>
              <a:gd name="connsiteX5" fmla="*/ 227065 w 235207"/>
              <a:gd name="connsiteY5" fmla="*/ 601468 h 7224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5207" h="722441">
                <a:moveTo>
                  <a:pt x="0" y="619878"/>
                </a:moveTo>
                <a:cubicBezTo>
                  <a:pt x="17388" y="686873"/>
                  <a:pt x="34776" y="753868"/>
                  <a:pt x="55232" y="650563"/>
                </a:cubicBezTo>
                <a:cubicBezTo>
                  <a:pt x="75688" y="547258"/>
                  <a:pt x="99213" y="-6087"/>
                  <a:pt x="122738" y="50"/>
                </a:cubicBezTo>
                <a:cubicBezTo>
                  <a:pt x="146263" y="6187"/>
                  <a:pt x="177970" y="584080"/>
                  <a:pt x="196381" y="687384"/>
                </a:cubicBezTo>
                <a:cubicBezTo>
                  <a:pt x="214792" y="790688"/>
                  <a:pt x="228088" y="634197"/>
                  <a:pt x="233202" y="619878"/>
                </a:cubicBezTo>
                <a:cubicBezTo>
                  <a:pt x="238316" y="605559"/>
                  <a:pt x="232690" y="603513"/>
                  <a:pt x="227065" y="601468"/>
                </a:cubicBezTo>
              </a:path>
            </a:pathLst>
          </a:cu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5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698F6F28-E510-4B76-A696-F1720C7A268B}"/>
              </a:ext>
            </a:extLst>
          </p:cNvPr>
          <p:cNvSpPr/>
          <p:nvPr/>
        </p:nvSpPr>
        <p:spPr>
          <a:xfrm>
            <a:off x="4235821" y="3098244"/>
            <a:ext cx="176405" cy="541831"/>
          </a:xfrm>
          <a:custGeom>
            <a:avLst/>
            <a:gdLst>
              <a:gd name="connsiteX0" fmla="*/ 0 w 235207"/>
              <a:gd name="connsiteY0" fmla="*/ 619878 h 722441"/>
              <a:gd name="connsiteX1" fmla="*/ 55232 w 235207"/>
              <a:gd name="connsiteY1" fmla="*/ 650563 h 722441"/>
              <a:gd name="connsiteX2" fmla="*/ 122738 w 235207"/>
              <a:gd name="connsiteY2" fmla="*/ 50 h 722441"/>
              <a:gd name="connsiteX3" fmla="*/ 196381 w 235207"/>
              <a:gd name="connsiteY3" fmla="*/ 687384 h 722441"/>
              <a:gd name="connsiteX4" fmla="*/ 233202 w 235207"/>
              <a:gd name="connsiteY4" fmla="*/ 619878 h 722441"/>
              <a:gd name="connsiteX5" fmla="*/ 227065 w 235207"/>
              <a:gd name="connsiteY5" fmla="*/ 601468 h 7224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5207" h="722441">
                <a:moveTo>
                  <a:pt x="0" y="619878"/>
                </a:moveTo>
                <a:cubicBezTo>
                  <a:pt x="17388" y="686873"/>
                  <a:pt x="34776" y="753868"/>
                  <a:pt x="55232" y="650563"/>
                </a:cubicBezTo>
                <a:cubicBezTo>
                  <a:pt x="75688" y="547258"/>
                  <a:pt x="99213" y="-6087"/>
                  <a:pt x="122738" y="50"/>
                </a:cubicBezTo>
                <a:cubicBezTo>
                  <a:pt x="146263" y="6187"/>
                  <a:pt x="177970" y="584080"/>
                  <a:pt x="196381" y="687384"/>
                </a:cubicBezTo>
                <a:cubicBezTo>
                  <a:pt x="214792" y="790688"/>
                  <a:pt x="228088" y="634197"/>
                  <a:pt x="233202" y="619878"/>
                </a:cubicBezTo>
                <a:cubicBezTo>
                  <a:pt x="238316" y="605559"/>
                  <a:pt x="232690" y="603513"/>
                  <a:pt x="227065" y="601468"/>
                </a:cubicBezTo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5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85B8D7C6-E2E7-4362-B694-59E3618CA404}"/>
              </a:ext>
            </a:extLst>
          </p:cNvPr>
          <p:cNvSpPr/>
          <p:nvPr/>
        </p:nvSpPr>
        <p:spPr>
          <a:xfrm>
            <a:off x="4478996" y="3098244"/>
            <a:ext cx="176405" cy="541831"/>
          </a:xfrm>
          <a:custGeom>
            <a:avLst/>
            <a:gdLst>
              <a:gd name="connsiteX0" fmla="*/ 0 w 235207"/>
              <a:gd name="connsiteY0" fmla="*/ 619878 h 722441"/>
              <a:gd name="connsiteX1" fmla="*/ 55232 w 235207"/>
              <a:gd name="connsiteY1" fmla="*/ 650563 h 722441"/>
              <a:gd name="connsiteX2" fmla="*/ 122738 w 235207"/>
              <a:gd name="connsiteY2" fmla="*/ 50 h 722441"/>
              <a:gd name="connsiteX3" fmla="*/ 196381 w 235207"/>
              <a:gd name="connsiteY3" fmla="*/ 687384 h 722441"/>
              <a:gd name="connsiteX4" fmla="*/ 233202 w 235207"/>
              <a:gd name="connsiteY4" fmla="*/ 619878 h 722441"/>
              <a:gd name="connsiteX5" fmla="*/ 227065 w 235207"/>
              <a:gd name="connsiteY5" fmla="*/ 601468 h 7224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5207" h="722441">
                <a:moveTo>
                  <a:pt x="0" y="619878"/>
                </a:moveTo>
                <a:cubicBezTo>
                  <a:pt x="17388" y="686873"/>
                  <a:pt x="34776" y="753868"/>
                  <a:pt x="55232" y="650563"/>
                </a:cubicBezTo>
                <a:cubicBezTo>
                  <a:pt x="75688" y="547258"/>
                  <a:pt x="99213" y="-6087"/>
                  <a:pt x="122738" y="50"/>
                </a:cubicBezTo>
                <a:cubicBezTo>
                  <a:pt x="146263" y="6187"/>
                  <a:pt x="177970" y="584080"/>
                  <a:pt x="196381" y="687384"/>
                </a:cubicBezTo>
                <a:cubicBezTo>
                  <a:pt x="214792" y="790688"/>
                  <a:pt x="228088" y="634197"/>
                  <a:pt x="233202" y="619878"/>
                </a:cubicBezTo>
                <a:cubicBezTo>
                  <a:pt x="238316" y="605559"/>
                  <a:pt x="232690" y="603513"/>
                  <a:pt x="227065" y="601468"/>
                </a:cubicBezTo>
              </a:path>
            </a:pathLst>
          </a:custGeom>
          <a:noFill/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5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D362B6DF-3BE8-4154-A382-7EFF603AD43A}"/>
              </a:ext>
            </a:extLst>
          </p:cNvPr>
          <p:cNvSpPr/>
          <p:nvPr/>
        </p:nvSpPr>
        <p:spPr>
          <a:xfrm>
            <a:off x="4722968" y="3096027"/>
            <a:ext cx="176405" cy="541831"/>
          </a:xfrm>
          <a:custGeom>
            <a:avLst/>
            <a:gdLst>
              <a:gd name="connsiteX0" fmla="*/ 0 w 235207"/>
              <a:gd name="connsiteY0" fmla="*/ 619878 h 722441"/>
              <a:gd name="connsiteX1" fmla="*/ 55232 w 235207"/>
              <a:gd name="connsiteY1" fmla="*/ 650563 h 722441"/>
              <a:gd name="connsiteX2" fmla="*/ 122738 w 235207"/>
              <a:gd name="connsiteY2" fmla="*/ 50 h 722441"/>
              <a:gd name="connsiteX3" fmla="*/ 196381 w 235207"/>
              <a:gd name="connsiteY3" fmla="*/ 687384 h 722441"/>
              <a:gd name="connsiteX4" fmla="*/ 233202 w 235207"/>
              <a:gd name="connsiteY4" fmla="*/ 619878 h 722441"/>
              <a:gd name="connsiteX5" fmla="*/ 227065 w 235207"/>
              <a:gd name="connsiteY5" fmla="*/ 601468 h 7224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5207" h="722441">
                <a:moveTo>
                  <a:pt x="0" y="619878"/>
                </a:moveTo>
                <a:cubicBezTo>
                  <a:pt x="17388" y="686873"/>
                  <a:pt x="34776" y="753868"/>
                  <a:pt x="55232" y="650563"/>
                </a:cubicBezTo>
                <a:cubicBezTo>
                  <a:pt x="75688" y="547258"/>
                  <a:pt x="99213" y="-6087"/>
                  <a:pt x="122738" y="50"/>
                </a:cubicBezTo>
                <a:cubicBezTo>
                  <a:pt x="146263" y="6187"/>
                  <a:pt x="177970" y="584080"/>
                  <a:pt x="196381" y="687384"/>
                </a:cubicBezTo>
                <a:cubicBezTo>
                  <a:pt x="214792" y="790688"/>
                  <a:pt x="228088" y="634197"/>
                  <a:pt x="233202" y="619878"/>
                </a:cubicBezTo>
                <a:cubicBezTo>
                  <a:pt x="238316" y="605559"/>
                  <a:pt x="232690" y="603513"/>
                  <a:pt x="227065" y="601468"/>
                </a:cubicBezTo>
              </a:path>
            </a:pathLst>
          </a:custGeom>
          <a:noFill/>
          <a:ln w="19050">
            <a:solidFill>
              <a:srgbClr val="F1C40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5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8B139BAB-246B-4077-8F56-ECCB2C9F1689}"/>
              </a:ext>
            </a:extLst>
          </p:cNvPr>
          <p:cNvSpPr/>
          <p:nvPr/>
        </p:nvSpPr>
        <p:spPr>
          <a:xfrm>
            <a:off x="4987585" y="3093808"/>
            <a:ext cx="176405" cy="541831"/>
          </a:xfrm>
          <a:custGeom>
            <a:avLst/>
            <a:gdLst>
              <a:gd name="connsiteX0" fmla="*/ 0 w 235207"/>
              <a:gd name="connsiteY0" fmla="*/ 619878 h 722441"/>
              <a:gd name="connsiteX1" fmla="*/ 55232 w 235207"/>
              <a:gd name="connsiteY1" fmla="*/ 650563 h 722441"/>
              <a:gd name="connsiteX2" fmla="*/ 122738 w 235207"/>
              <a:gd name="connsiteY2" fmla="*/ 50 h 722441"/>
              <a:gd name="connsiteX3" fmla="*/ 196381 w 235207"/>
              <a:gd name="connsiteY3" fmla="*/ 687384 h 722441"/>
              <a:gd name="connsiteX4" fmla="*/ 233202 w 235207"/>
              <a:gd name="connsiteY4" fmla="*/ 619878 h 722441"/>
              <a:gd name="connsiteX5" fmla="*/ 227065 w 235207"/>
              <a:gd name="connsiteY5" fmla="*/ 601468 h 7224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5207" h="722441">
                <a:moveTo>
                  <a:pt x="0" y="619878"/>
                </a:moveTo>
                <a:cubicBezTo>
                  <a:pt x="17388" y="686873"/>
                  <a:pt x="34776" y="753868"/>
                  <a:pt x="55232" y="650563"/>
                </a:cubicBezTo>
                <a:cubicBezTo>
                  <a:pt x="75688" y="547258"/>
                  <a:pt x="99213" y="-6087"/>
                  <a:pt x="122738" y="50"/>
                </a:cubicBezTo>
                <a:cubicBezTo>
                  <a:pt x="146263" y="6187"/>
                  <a:pt x="177970" y="584080"/>
                  <a:pt x="196381" y="687384"/>
                </a:cubicBezTo>
                <a:cubicBezTo>
                  <a:pt x="214792" y="790688"/>
                  <a:pt x="228088" y="634197"/>
                  <a:pt x="233202" y="619878"/>
                </a:cubicBezTo>
                <a:cubicBezTo>
                  <a:pt x="238316" y="605559"/>
                  <a:pt x="232690" y="603513"/>
                  <a:pt x="227065" y="601468"/>
                </a:cubicBezTo>
              </a:path>
            </a:pathLst>
          </a:cu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5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F1E19C91-36F1-46D7-820A-C1DE54D4CD79}"/>
              </a:ext>
            </a:extLst>
          </p:cNvPr>
          <p:cNvSpPr/>
          <p:nvPr/>
        </p:nvSpPr>
        <p:spPr>
          <a:xfrm>
            <a:off x="6706275" y="3109422"/>
            <a:ext cx="176405" cy="541831"/>
          </a:xfrm>
          <a:custGeom>
            <a:avLst/>
            <a:gdLst>
              <a:gd name="connsiteX0" fmla="*/ 0 w 235207"/>
              <a:gd name="connsiteY0" fmla="*/ 619878 h 722441"/>
              <a:gd name="connsiteX1" fmla="*/ 55232 w 235207"/>
              <a:gd name="connsiteY1" fmla="*/ 650563 h 722441"/>
              <a:gd name="connsiteX2" fmla="*/ 122738 w 235207"/>
              <a:gd name="connsiteY2" fmla="*/ 50 h 722441"/>
              <a:gd name="connsiteX3" fmla="*/ 196381 w 235207"/>
              <a:gd name="connsiteY3" fmla="*/ 687384 h 722441"/>
              <a:gd name="connsiteX4" fmla="*/ 233202 w 235207"/>
              <a:gd name="connsiteY4" fmla="*/ 619878 h 722441"/>
              <a:gd name="connsiteX5" fmla="*/ 227065 w 235207"/>
              <a:gd name="connsiteY5" fmla="*/ 601468 h 7224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5207" h="722441">
                <a:moveTo>
                  <a:pt x="0" y="619878"/>
                </a:moveTo>
                <a:cubicBezTo>
                  <a:pt x="17388" y="686873"/>
                  <a:pt x="34776" y="753868"/>
                  <a:pt x="55232" y="650563"/>
                </a:cubicBezTo>
                <a:cubicBezTo>
                  <a:pt x="75688" y="547258"/>
                  <a:pt x="99213" y="-6087"/>
                  <a:pt x="122738" y="50"/>
                </a:cubicBezTo>
                <a:cubicBezTo>
                  <a:pt x="146263" y="6187"/>
                  <a:pt x="177970" y="584080"/>
                  <a:pt x="196381" y="687384"/>
                </a:cubicBezTo>
                <a:cubicBezTo>
                  <a:pt x="214792" y="790688"/>
                  <a:pt x="228088" y="634197"/>
                  <a:pt x="233202" y="619878"/>
                </a:cubicBezTo>
                <a:cubicBezTo>
                  <a:pt x="238316" y="605559"/>
                  <a:pt x="232690" y="603513"/>
                  <a:pt x="227065" y="601468"/>
                </a:cubicBezTo>
              </a:path>
            </a:pathLst>
          </a:cu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50"/>
          </a:p>
        </p:txBody>
      </p:sp>
      <p:sp>
        <p:nvSpPr>
          <p:cNvPr id="19" name="Google Shape;1580;g60be7dcf1c_0_473">
            <a:extLst>
              <a:ext uri="{FF2B5EF4-FFF2-40B4-BE49-F238E27FC236}">
                <a16:creationId xmlns:a16="http://schemas.microsoft.com/office/drawing/2014/main" id="{0451D0B3-1178-43C2-B71D-29F94ACE7613}"/>
              </a:ext>
            </a:extLst>
          </p:cNvPr>
          <p:cNvSpPr txBox="1"/>
          <p:nvPr/>
        </p:nvSpPr>
        <p:spPr>
          <a:xfrm>
            <a:off x="0" y="540000"/>
            <a:ext cx="8211000" cy="882371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20" name="Google Shape;1810;g60be7dcf1c_0_698">
            <a:extLst>
              <a:ext uri="{FF2B5EF4-FFF2-40B4-BE49-F238E27FC236}">
                <a16:creationId xmlns:a16="http://schemas.microsoft.com/office/drawing/2014/main" id="{5538F499-AC65-4073-BE1A-6B58ABF098AC}"/>
              </a:ext>
            </a:extLst>
          </p:cNvPr>
          <p:cNvSpPr txBox="1">
            <a:spLocks/>
          </p:cNvSpPr>
          <p:nvPr/>
        </p:nvSpPr>
        <p:spPr>
          <a:xfrm>
            <a:off x="973075" y="324175"/>
            <a:ext cx="6954274" cy="18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buSzPts val="1100"/>
            </a:pPr>
            <a:r>
              <a:rPr lang="en-GB" sz="2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Idea</a:t>
            </a:r>
            <a:br>
              <a:rPr lang="en-GB" sz="2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4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Disaggregated Laser</a:t>
            </a:r>
          </a:p>
        </p:txBody>
      </p:sp>
      <p:sp>
        <p:nvSpPr>
          <p:cNvPr id="21" name="Google Shape;1725;g60be7dcf1c_0_603">
            <a:extLst>
              <a:ext uri="{FF2B5EF4-FFF2-40B4-BE49-F238E27FC236}">
                <a16:creationId xmlns:a16="http://schemas.microsoft.com/office/drawing/2014/main" id="{FB14818D-2332-4AF1-A368-38FC0FB091F8}"/>
              </a:ext>
            </a:extLst>
          </p:cNvPr>
          <p:cNvSpPr txBox="1"/>
          <p:nvPr/>
        </p:nvSpPr>
        <p:spPr>
          <a:xfrm>
            <a:off x="4436074" y="6538100"/>
            <a:ext cx="3885888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GB" sz="1000" dirty="0" err="1">
                <a:latin typeface="Consolas"/>
                <a:ea typeface="Consolas"/>
                <a:cs typeface="Consolas"/>
                <a:sym typeface="Consolas"/>
              </a:rPr>
              <a:t>Ballani</a:t>
            </a:r>
            <a:r>
              <a:rPr lang="en-GB" sz="1000" dirty="0">
                <a:latin typeface="Consolas"/>
                <a:ea typeface="Consolas"/>
                <a:cs typeface="Consolas"/>
                <a:sym typeface="Consolas"/>
              </a:rPr>
              <a:t> et al., </a:t>
            </a:r>
            <a:r>
              <a:rPr lang="en-US" sz="1000" dirty="0">
                <a:latin typeface="Consolas"/>
                <a:ea typeface="Consolas"/>
                <a:cs typeface="Consolas"/>
                <a:sym typeface="Consolas"/>
              </a:rPr>
              <a:t>Sirius, ACM SIGCOMM </a:t>
            </a:r>
            <a:r>
              <a:rPr lang="de-DE" sz="1000" dirty="0">
                <a:latin typeface="Consolas"/>
                <a:ea typeface="Consolas"/>
                <a:cs typeface="Consolas"/>
                <a:sym typeface="Consolas"/>
              </a:rPr>
              <a:t>2020.</a:t>
            </a:r>
            <a:endParaRPr lang="en-GB" sz="10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ADC584A-0236-486E-A845-B744697556BD}"/>
              </a:ext>
            </a:extLst>
          </p:cNvPr>
          <p:cNvSpPr/>
          <p:nvPr/>
        </p:nvSpPr>
        <p:spPr>
          <a:xfrm>
            <a:off x="7770729" y="6509550"/>
            <a:ext cx="75443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8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E</a:t>
            </a:r>
            <a:endParaRPr lang="en-AT" sz="1800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03950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-3.7037E-6 L -0.04948 0.22871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83" y="11435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3.7037E-6 L 0.23108 0.19375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545" y="9676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-3.7037E-6 L 0.33403 0.24074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701" y="12037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0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0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53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9" grpId="0" animBg="1"/>
      <p:bldP spid="10" grpId="0" animBg="1"/>
      <p:bldP spid="12" grpId="0"/>
      <p:bldP spid="24" grpId="0"/>
      <p:bldP spid="26" grpId="0" animBg="1"/>
      <p:bldP spid="27" grpId="0" animBg="1"/>
      <p:bldP spid="28" grpId="0" animBg="1"/>
      <p:bldP spid="29" grpId="0" animBg="1"/>
      <p:bldP spid="32" grpId="0" animBg="1"/>
      <p:bldP spid="34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4|6|5.3|7.4|2.6|10|9.9|2.5|1.7|1.3|1.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3.2|9.1|8.7|8.1"/>
</p:tagLst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16789</Words>
  <Application>Microsoft Office PowerPoint</Application>
  <PresentationFormat>On-screen Show (4:3)</PresentationFormat>
  <Paragraphs>3253</Paragraphs>
  <Slides>187</Slides>
  <Notes>187</Notes>
  <HiddenSlides>2</HiddenSlides>
  <MMClips>1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187</vt:i4>
      </vt:variant>
    </vt:vector>
  </HeadingPairs>
  <TitlesOfParts>
    <vt:vector size="199" baseType="lpstr">
      <vt:lpstr>Brush Script MT</vt:lpstr>
      <vt:lpstr>Arial</vt:lpstr>
      <vt:lpstr>CMSY10</vt:lpstr>
      <vt:lpstr>Cambria Math</vt:lpstr>
      <vt:lpstr>Edwardian Script ITC</vt:lpstr>
      <vt:lpstr>CMR12</vt:lpstr>
      <vt:lpstr>CMTI12</vt:lpstr>
      <vt:lpstr>CMMI12</vt:lpstr>
      <vt:lpstr>Calibri</vt:lpstr>
      <vt:lpstr>Consolas</vt:lpstr>
      <vt:lpstr>Segoe UI Light</vt:lpstr>
      <vt:lpstr>Simple Light</vt:lpstr>
      <vt:lpstr>PowerPoint Presentation</vt:lpstr>
      <vt:lpstr>We live in the age of Distributed Computation</vt:lpstr>
      <vt:lpstr>We live in the age of Distributed Computation</vt:lpstr>
      <vt:lpstr>Technological Trends Increasing Gap Between Compute and Network</vt:lpstr>
      <vt:lpstr>The Problem Huge Infrastructure, Inefficient Use</vt:lpstr>
      <vt:lpstr>An Inefficiency Fixed and Demand-Oblivious Topology</vt:lpstr>
      <vt:lpstr>PowerPoint Presentation</vt:lpstr>
      <vt:lpstr>An Inefficiency Fixed and Demand-Oblivious Topology</vt:lpstr>
      <vt:lpstr>An Inefficiency Fixed and Demand-Oblivious Topology</vt:lpstr>
      <vt:lpstr>An Inefficiency Fixed and Demand-Oblivious Topology</vt:lpstr>
      <vt:lpstr>A Vision Flexible and Demand-Aware Topologies</vt:lpstr>
      <vt:lpstr>A Vision Flexible and Demand-Aware Topologies</vt:lpstr>
      <vt:lpstr>A Vision Flexible and Demand-Aware Topologies</vt:lpstr>
      <vt:lpstr>A Vision Flexible and Demand-Aware Topologies</vt:lpstr>
      <vt:lpstr>A Vision Flexible and Demand-Aware Topologies</vt:lpstr>
      <vt:lpstr>A Vision Flexible and Demand-Aware Topologies</vt:lpstr>
      <vt:lpstr>A Vision Flexible and Demand-Aware Topologies</vt:lpstr>
      <vt:lpstr>Analogy</vt:lpstr>
      <vt:lpstr>Empirical Motivation Much Structure in the Demand</vt:lpstr>
      <vt:lpstr>PowerPoint Presentation</vt:lpstr>
      <vt:lpstr>PowerPoint Presentation</vt:lpstr>
      <vt:lpstr>Visualizing Workload Structure Complexity Map</vt:lpstr>
      <vt:lpstr>Visualizing Workload Structure Complexity Map</vt:lpstr>
      <vt:lpstr>Visualizing Workload Structure Complexity Map</vt:lpstr>
      <vt:lpstr>Visualizing Workload Structure Complexity Map</vt:lpstr>
      <vt:lpstr>Visualizing Workload Structure Complexity Map</vt:lpstr>
      <vt:lpstr>Traffic is also clustered: bi-clustering results Small Stable Clusters</vt:lpstr>
      <vt:lpstr>Traffic is also clustered: bi-clustering results Small Stable Clusters</vt:lpstr>
      <vt:lpstr>Sounds Crazy?  Emerging Enabling Technology.</vt:lpstr>
      <vt:lpstr>Enabler Novel Reconfigurable Optical Switches</vt:lpstr>
      <vt:lpstr>Example Optical Circuit Switch</vt:lpstr>
      <vt:lpstr>Example Optical Circuit Switch</vt:lpstr>
      <vt:lpstr>PowerPoint Presentation</vt:lpstr>
      <vt:lpstr>PowerPoint Presentation</vt:lpstr>
      <vt:lpstr>PowerPoint Presentation</vt:lpstr>
      <vt:lpstr>First Deployments E.g., Google’s Datacenter Jupiter</vt:lpstr>
      <vt:lpstr>The Big Picture</vt:lpstr>
      <vt:lpstr>The Big Picture</vt:lpstr>
      <vt:lpstr>Self-Adjusting Networks: Mental Model and Taxonomy</vt:lpstr>
      <vt:lpstr>Reconfigurable Datacenters Based on OCSs:  It’s about Dynamic Matchings</vt:lpstr>
      <vt:lpstr>Reconfigurable Datacenters Based on OCSs:  It’s about Dynamic Matchings</vt:lpstr>
      <vt:lpstr>Reconfigurable Datacenters Based on OCSs: It’s about Dynamic Matchings</vt:lpstr>
      <vt:lpstr>Reconfigurable Datacenters Based on OCSs: It’s about Dynamic Matchings</vt:lpstr>
      <vt:lpstr>Two Types of Reconfigurable Optical Switches Demand-Aware Demand-Oblivious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 Workload  Collective Communications</vt:lpstr>
      <vt:lpstr>Example Workload  Collective Communications</vt:lpstr>
      <vt:lpstr>Example Workload  Collective Communications</vt:lpstr>
      <vt:lpstr>Self-Adjusting Networks and AI:  It’s a Match!</vt:lpstr>
      <vt:lpstr> Example of a Collective Communication Broadcast</vt:lpstr>
      <vt:lpstr> Example of a Collective Communication Broadcast Algorithm</vt:lpstr>
      <vt:lpstr> Example of a Collective Communication Broadcast Algorithm</vt:lpstr>
      <vt:lpstr> Example of a Collective Communication Broadcast Algorithm</vt:lpstr>
      <vt:lpstr> Example of a Collective Communication Broadcast Algorithm</vt:lpstr>
      <vt:lpstr> Example of a Collective Communication Broadcast Algorithm</vt:lpstr>
      <vt:lpstr> Example of a Collective Communication Broadcast Algorithm</vt:lpstr>
      <vt:lpstr> Example of a Collective Communication Broadcast Algorithm</vt:lpstr>
      <vt:lpstr> Example of a Collective Communication AllReduce</vt:lpstr>
      <vt:lpstr> Example of a Collective Communication  All-to-All</vt:lpstr>
      <vt:lpstr> Bruck and OCS: A Match!</vt:lpstr>
      <vt:lpstr> Bruck and OCS: A Match!</vt:lpstr>
      <vt:lpstr>Especially Powerful: Combining the Two Techniques Reconfigurable+Multiport</vt:lpstr>
      <vt:lpstr>Especially Powerful: Combining the Two Techniques Reconfigurable+Multiport</vt:lpstr>
      <vt:lpstr>Especially Powerful: Combining the Two Techniques Reconfigurable+Multiport</vt:lpstr>
      <vt:lpstr>Further Reading HotOptics@Sigcomm 2026</vt:lpstr>
      <vt:lpstr>Particularly Powerful in Hybrid Networks ACM Sigmetrics 2027</vt:lpstr>
      <vt:lpstr>Reconfigurations Also Help Other Collectives ACM MobiHoc 2026</vt:lpstr>
      <vt:lpstr>PowerPoint Presentation</vt:lpstr>
      <vt:lpstr> Motivation: Consider  Recursive Doubling (RD)</vt:lpstr>
      <vt:lpstr> However, RD inefficient on high-diameter networks: RD on the Ring</vt:lpstr>
      <vt:lpstr> De Sensi et al. at NSDI 2024 presented an Improvement: Swing*</vt:lpstr>
      <vt:lpstr> Can we reduce number of steps further? Latency-Optimal: Trivance</vt:lpstr>
      <vt:lpstr> Can we reduce number of steps further? Latency-Optimal: Trivance</vt:lpstr>
      <vt:lpstr>Further Reading ACM SIGCOMM 2026</vt:lpstr>
      <vt:lpstr>PowerPoint Presentation</vt:lpstr>
      <vt:lpstr> Challenge: Computing Heavy Matchings?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Challenge: Demand-Aware Throughput  Constructive Separation?</vt:lpstr>
      <vt:lpstr> Challenge: Demand-Aware Throughput  Constructive Separation?</vt:lpstr>
      <vt:lpstr> Challenge: Demand-Aware Throughput  Constructive Separation?</vt:lpstr>
      <vt:lpstr> Challenge: Demand-Aware Throughput Constructive Separation?</vt:lpstr>
      <vt:lpstr> Many More Open Questions, f. ex. Hybrid Throughput?</vt:lpstr>
      <vt:lpstr>Further Reading ACM PODC 2026</vt:lpstr>
      <vt:lpstr> Challenge: Impact of Reconfigurations on Network Layer?</vt:lpstr>
      <vt:lpstr> Challenge: Impact of Reconfigurations on Buffer Management?</vt:lpstr>
      <vt:lpstr> Challenge: Impact of Reconfigurations on Congestion Control?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Conclusion: Tip of Iceberg! </vt:lpstr>
      <vt:lpstr>Thank you! Questions?</vt:lpstr>
      <vt:lpstr> Online Video Course</vt:lpstr>
      <vt:lpstr>YouTube Interview &amp; CACM </vt:lpstr>
      <vt:lpstr>PowerPoint Presentation</vt:lpstr>
      <vt:lpstr> June’25 CACM Article</vt:lpstr>
      <vt:lpstr>References (1)</vt:lpstr>
      <vt:lpstr>References (2)</vt:lpstr>
      <vt:lpstr>References (3)</vt:lpstr>
      <vt:lpstr>Bonus Material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Question:  How to Quantify  such “Structure”  in the Demand?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Our Methodology Complexity Map</vt:lpstr>
      <vt:lpstr>Our Methodology Complexity Map</vt:lpstr>
      <vt:lpstr>Our Methodology Complexity Map</vt:lpstr>
      <vt:lpstr>Further Reading ACM SIGMETRICS 2020</vt:lpstr>
      <vt:lpstr>The Natural Question:  Given This Structure,  What Can Be Achieved?  Metrics and Algorithms?</vt:lpstr>
      <vt:lpstr>Insight: Connection to  Datastructures</vt:lpstr>
      <vt:lpstr>Insight: Connection to  Datastructures &amp; Coding</vt:lpstr>
      <vt:lpstr>Insight: Connection to  Datastructures &amp; Coding</vt:lpstr>
      <vt:lpstr>Insight: Connection to  Datastructures &amp; Coding</vt:lpstr>
      <vt:lpstr>Insight: Connection to  Datastructures &amp; Coding</vt:lpstr>
      <vt:lpstr>Case Study “Route Lengths” Constant-Degree Demand-Aware Network</vt:lpstr>
      <vt:lpstr>Case Study “Route Lengths” Constant-Degree Demand-Aware Network</vt:lpstr>
      <vt:lpstr>Case Study “Route Lengths” Constant-Degree Demand-Aware Network</vt:lpstr>
      <vt:lpstr>Case Study “Route Lengths” Constant-Degree Demand-Aware Network</vt:lpstr>
      <vt:lpstr>Case Study “Route Lengths” Constant-Degree Demand-Aware Network</vt:lpstr>
      <vt:lpstr>Algorithm: Idea</vt:lpstr>
      <vt:lpstr>Algorithm: Idea</vt:lpstr>
      <vt:lpstr>Entropy Upper Bound</vt:lpstr>
      <vt:lpstr>Entropy Upper Bound</vt:lpstr>
      <vt:lpstr>Entropy Upper Bound</vt:lpstr>
      <vt:lpstr>Entropy Upper Bound</vt:lpstr>
      <vt:lpstr>Entropy Upper Bound</vt:lpstr>
      <vt:lpstr>Related Problem: Virtual Network Embedding Problem (VNEP)</vt:lpstr>
      <vt:lpstr>Related Problem:  Virtual Network Embedding Problem (VNEP)</vt:lpstr>
      <vt:lpstr>Related Problem: Virtual Network Embedding Problem (VNEP)</vt:lpstr>
      <vt:lpstr>Related Problem: Virtual Network Embedding Problem (VNEP)</vt:lpstr>
      <vt:lpstr>Related Problem: Virtual Network Embedding Problem (VNEP)</vt:lpstr>
      <vt:lpstr>Related Problem: Virtual Network Embedding Problem (VNEP)</vt:lpstr>
      <vt:lpstr>Remark VNEP vs DAN Design?</vt:lpstr>
      <vt:lpstr>Remark VNEP vs DAN Design?</vt:lpstr>
      <vt:lpstr>Another Related Problem Low Distortion Spanners</vt:lpstr>
      <vt:lpstr>From Spanners to DANs An Algorithm</vt:lpstr>
      <vt:lpstr>From Spanners to DANs An Algorithm</vt:lpstr>
      <vt:lpstr>Further Reading Dist.Comp. 2020</vt:lpstr>
      <vt:lpstr>Further Reading Dist.Comp. 2020</vt:lpstr>
      <vt:lpstr>Further Reading OPODIS 2024</vt:lpstr>
      <vt:lpstr>PowerPoint Presentation</vt:lpstr>
      <vt:lpstr>Idea: Disaggregated Laser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AdjustNet Breaking new ground with self-adjusting networks</dc:title>
  <dc:creator>schmids34cs</dc:creator>
  <cp:lastModifiedBy>TU-Pseudonym 17128323259554046847746784615</cp:lastModifiedBy>
  <cp:revision>437</cp:revision>
  <dcterms:created xsi:type="dcterms:W3CDTF">2017-09-15T21:43:03Z</dcterms:created>
  <dcterms:modified xsi:type="dcterms:W3CDTF">2026-10-20T17:01:39Z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LCID">
    <vt:i4>1033</vt:i4>
  </property>
  <property fmtid="{D5CDD505-2E9C-101B-9397-08002B2CF9AE}" pid="3" name="_Version">
    <vt:lpwstr>12.0.4518</vt:lpwstr>
  </property>
</Properties>
</file>