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7" r:id="rId2"/>
    <p:sldId id="260" r:id="rId3"/>
    <p:sldId id="343" r:id="rId4"/>
    <p:sldId id="334" r:id="rId5"/>
    <p:sldId id="301" r:id="rId6"/>
    <p:sldId id="336" r:id="rId7"/>
    <p:sldId id="311" r:id="rId8"/>
    <p:sldId id="322" r:id="rId9"/>
    <p:sldId id="323" r:id="rId10"/>
    <p:sldId id="324" r:id="rId11"/>
    <p:sldId id="312" r:id="rId12"/>
    <p:sldId id="318" r:id="rId13"/>
    <p:sldId id="321" r:id="rId14"/>
    <p:sldId id="319" r:id="rId15"/>
    <p:sldId id="310" r:id="rId16"/>
    <p:sldId id="313" r:id="rId17"/>
    <p:sldId id="314" r:id="rId18"/>
    <p:sldId id="316" r:id="rId19"/>
    <p:sldId id="315" r:id="rId20"/>
    <p:sldId id="325" r:id="rId21"/>
    <p:sldId id="337" r:id="rId22"/>
    <p:sldId id="338" r:id="rId23"/>
    <p:sldId id="339" r:id="rId24"/>
    <p:sldId id="340" r:id="rId25"/>
    <p:sldId id="341" r:id="rId26"/>
    <p:sldId id="342" r:id="rId27"/>
    <p:sldId id="304" r:id="rId28"/>
    <p:sldId id="326" r:id="rId29"/>
    <p:sldId id="327" r:id="rId30"/>
    <p:sldId id="328" r:id="rId31"/>
    <p:sldId id="335" r:id="rId32"/>
    <p:sldId id="307" r:id="rId33"/>
    <p:sldId id="330" r:id="rId34"/>
    <p:sldId id="331" r:id="rId35"/>
    <p:sldId id="332" r:id="rId36"/>
    <p:sldId id="299" r:id="rId37"/>
    <p:sldId id="333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C1E"/>
    <a:srgbClr val="FFFFFF"/>
    <a:srgbClr val="FAEAEA"/>
    <a:srgbClr val="1B5EEE"/>
    <a:srgbClr val="C40C1E"/>
    <a:srgbClr val="D58138"/>
    <a:srgbClr val="2C8737"/>
    <a:srgbClr val="FFF301"/>
    <a:srgbClr val="F4FE76"/>
    <a:srgbClr val="D7E7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75B659-3F25-3E70-FAD9-9C7F613C30D9}" v="22" dt="2026-10-18T11:07:19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3" autoAdjust="0"/>
    <p:restoredTop sz="94266" autoAdjust="0"/>
  </p:normalViewPr>
  <p:slideViewPr>
    <p:cSldViewPr snapToGrid="0" snapToObjects="1">
      <p:cViewPr varScale="1">
        <p:scale>
          <a:sx n="150" d="100"/>
          <a:sy n="150" d="100"/>
        </p:scale>
        <p:origin x="2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667BD4-1F44-46FB-A4B9-D7230AA1FD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95FBC-EC56-26BC-ACC6-24C6F0562C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4C9E3-A4FE-43E6-BC62-1171E6CD25BD}" type="datetimeFigureOut">
              <a:rPr lang="de-DE" smtClean="0"/>
              <a:t>18.10.2026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CC433A-8480-4702-2ABA-A548D62859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EA79EC-E7E6-9E0A-3098-8BE738791B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DF2CAE-412A-4E15-8CC9-070367E4600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52706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19B94-40FC-45A8-B0D1-E1CE1D3401E0}" type="datetimeFigureOut">
              <a:rPr lang="de-DE" smtClean="0"/>
              <a:t>18.10.2026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479AB-0666-455F-82DD-D5632EC6A5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1502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Training and inference require synchronizations across accelerators</a:t>
            </a:r>
            <a:b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Collective primitives define </a:t>
            </a: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initial/final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synchronization state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Collective algorithms realize primitives in </a:t>
            </a:r>
            <a: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communication phases</a:t>
            </a:r>
            <a:b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</a:br>
            <a:endParaRPr lang="en-US" sz="12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Example: All-to-All Primitive </a:t>
            </a:r>
            <a:b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each node sends a </a:t>
            </a:r>
            <a: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unique </a:t>
            </a:r>
            <a:b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message to </a:t>
            </a:r>
            <a: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every</a:t>
            </a: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other node</a:t>
            </a:r>
            <a:b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endParaRPr lang="en-GB" sz="12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 marL="285750" indent="-285750">
              <a:lnSpc>
                <a:spcPct val="114999"/>
              </a:lnSpc>
              <a:buSzPct val="144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Pairwise algorithm:</a:t>
            </a:r>
            <a:b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</a:b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each message is routed</a:t>
            </a:r>
            <a:b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</a:b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via shortest path</a:t>
            </a:r>
            <a:endParaRPr lang="en-GB" sz="1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79AB-0666-455F-82DD-D5632EC6A5A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3994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9EA5B-051E-4F3A-510C-868D2C9F4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F405E-C42E-159B-3660-9D2E98F33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610B1-2224-86FF-A266-B42E55328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Training and inference require synchronizations across accelerators</a:t>
            </a:r>
            <a:b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Collective primitives define </a:t>
            </a: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initial/final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synchronization state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Collective algorithms realize primitives in </a:t>
            </a:r>
            <a: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communication phases</a:t>
            </a:r>
            <a:b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</a:br>
            <a:endParaRPr lang="en-US" sz="12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Example: All-to-All Primitive </a:t>
            </a:r>
            <a:b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each node sends a </a:t>
            </a:r>
            <a: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unique </a:t>
            </a:r>
            <a:b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message to </a:t>
            </a:r>
            <a: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every</a:t>
            </a: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other node</a:t>
            </a:r>
            <a:b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endParaRPr lang="en-GB" sz="12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 marL="285750" indent="-285750">
              <a:lnSpc>
                <a:spcPct val="114999"/>
              </a:lnSpc>
              <a:buSzPct val="144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Pairwise algorithm:</a:t>
            </a:r>
            <a:b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</a:b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each message is routed</a:t>
            </a:r>
            <a:b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</a:b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via shortest path</a:t>
            </a:r>
            <a:endParaRPr lang="en-GB" sz="1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57D03-5235-13B5-1878-869CB84E6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79AB-0666-455F-82DD-D5632EC6A5A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528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742C-F9A9-0753-670F-66A4467CC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9099A-BB91-6D7E-5A98-AEAF44897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C9ACD-CD49-C8A9-29AC-0E682CD99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Training and inference require synchronizations across accelerators</a:t>
            </a:r>
            <a:b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Collective primitives define </a:t>
            </a: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initial/final</a:t>
            </a: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synchronization state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Collective algorithms realize primitives in </a:t>
            </a:r>
            <a: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communication phases</a:t>
            </a:r>
            <a:b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</a:br>
            <a:endParaRPr lang="en-US" sz="12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Example: All-to-All Primitive </a:t>
            </a:r>
            <a:b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each node sends a </a:t>
            </a:r>
            <a: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unique </a:t>
            </a:r>
            <a:b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message to </a:t>
            </a:r>
            <a:r>
              <a:rPr lang="en-GB" sz="12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every</a:t>
            </a: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other node</a:t>
            </a:r>
            <a:b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endParaRPr lang="en-GB" sz="12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 marL="285750" indent="-285750">
              <a:lnSpc>
                <a:spcPct val="114999"/>
              </a:lnSpc>
              <a:buSzPct val="144000"/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Pairwise algorithm:</a:t>
            </a:r>
            <a:b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</a:b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each message is routed</a:t>
            </a:r>
            <a:b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</a:br>
            <a:r>
              <a:rPr lang="en-GB" sz="12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via shortest path</a:t>
            </a:r>
            <a:endParaRPr lang="en-GB" sz="12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0A61A-519C-2452-0410-4EA350C94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479AB-0666-455F-82DD-D5632EC6A5A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9748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//Volumes/vereinsdaten/Grafik%20(Karen)/000_Aktuelle%20Projekte/230817_Corporate_Design/Layout/230911_PPT-Vorlagen/Elemente/WI-Logo.png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9" descr="TU_Logo_lang_RGB_rot_PPT-1">
            <a:extLst>
              <a:ext uri="{FF2B5EF4-FFF2-40B4-BE49-F238E27FC236}">
                <a16:creationId xmlns:a16="http://schemas.microsoft.com/office/drawing/2014/main" id="{00C8F25B-7C6E-7D26-ECAB-D8BC95081C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5965934" y="4638926"/>
            <a:ext cx="2120230" cy="118395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A1833C6-ACFD-BCB9-65B8-D0A3FB7DC9EF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/>
          <a:srcRect/>
          <a:stretch>
            <a:fillRect/>
          </a:stretch>
        </p:blipFill>
        <p:spPr>
          <a:xfrm>
            <a:off x="669772" y="4824124"/>
            <a:ext cx="3784073" cy="998759"/>
          </a:xfrm>
          <a:prstGeom prst="rect">
            <a:avLst/>
          </a:prstGeom>
        </p:spPr>
      </p:pic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id="{8902C11B-F3EA-E257-9FC2-3B4B52A46277}"/>
              </a:ext>
            </a:extLst>
          </p:cNvPr>
          <p:cNvSpPr/>
          <p:nvPr userDrawn="1"/>
        </p:nvSpPr>
        <p:spPr>
          <a:xfrm>
            <a:off x="757927" y="510630"/>
            <a:ext cx="7328237" cy="2256475"/>
          </a:xfrm>
          <a:prstGeom prst="flowChartTerminator">
            <a:avLst/>
          </a:prstGeom>
          <a:solidFill>
            <a:srgbClr val="C50C1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Revisiting Bruck: Phase-Efficient All-to-All Collective Communication in Reconfigurable Networks</a:t>
            </a:r>
            <a:endParaRPr lang="de-DE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542" y="240650"/>
            <a:ext cx="6543607" cy="7096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82078E1-F426-36AA-3340-85B438BF4C93}"/>
              </a:ext>
            </a:extLst>
          </p:cNvPr>
          <p:cNvGrpSpPr/>
          <p:nvPr userDrawn="1"/>
        </p:nvGrpSpPr>
        <p:grpSpPr>
          <a:xfrm>
            <a:off x="-1" y="6532282"/>
            <a:ext cx="9144004" cy="324224"/>
            <a:chOff x="-1" y="6532282"/>
            <a:chExt cx="9144004" cy="32422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008B91-D5F3-F103-6FBF-5C60B2D492DF}"/>
                </a:ext>
              </a:extLst>
            </p:cNvPr>
            <p:cNvSpPr/>
            <p:nvPr userDrawn="1"/>
          </p:nvSpPr>
          <p:spPr>
            <a:xfrm>
              <a:off x="-1" y="6532282"/>
              <a:ext cx="2994213" cy="324224"/>
            </a:xfrm>
            <a:prstGeom prst="rect">
              <a:avLst/>
            </a:prstGeom>
            <a:solidFill>
              <a:srgbClr val="C50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741F7F-CB0F-F813-26E7-C7476D361CEE}"/>
                </a:ext>
              </a:extLst>
            </p:cNvPr>
            <p:cNvSpPr txBox="1"/>
            <p:nvPr userDrawn="1"/>
          </p:nvSpPr>
          <p:spPr>
            <a:xfrm>
              <a:off x="159572" y="6617450"/>
              <a:ext cx="2834640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dirty="0">
                  <a:solidFill>
                    <a:srgbClr val="F0F0F0"/>
                  </a:solidFill>
                  <a:latin typeface="Arial"/>
                </a:rPr>
                <a:t>Anton Juerss et al. (Weizenbaum Institute)</a:t>
              </a:r>
              <a:endParaRPr sz="1000" b="0" dirty="0">
                <a:solidFill>
                  <a:srgbClr val="F0F0F0"/>
                </a:solidFill>
                <a:latin typeface="Arial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08CB059-5A32-D6D5-1291-B0F5F6F6B0C5}"/>
                </a:ext>
              </a:extLst>
            </p:cNvPr>
            <p:cNvSpPr/>
            <p:nvPr userDrawn="1"/>
          </p:nvSpPr>
          <p:spPr>
            <a:xfrm>
              <a:off x="2994212" y="6532282"/>
              <a:ext cx="3155578" cy="324224"/>
            </a:xfrm>
            <a:prstGeom prst="rect">
              <a:avLst/>
            </a:prstGeom>
            <a:solidFill>
              <a:srgbClr val="9E0A1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AD27EDA-0E82-E16B-8651-09364F173E87}"/>
                </a:ext>
              </a:extLst>
            </p:cNvPr>
            <p:cNvSpPr/>
            <p:nvPr userDrawn="1"/>
          </p:nvSpPr>
          <p:spPr>
            <a:xfrm>
              <a:off x="6149790" y="6532282"/>
              <a:ext cx="2994213" cy="324224"/>
            </a:xfrm>
            <a:prstGeom prst="rect">
              <a:avLst/>
            </a:prstGeom>
            <a:solidFill>
              <a:srgbClr val="7607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CC64E4-40E8-C7CC-66DD-A1FF28F32568}"/>
                </a:ext>
              </a:extLst>
            </p:cNvPr>
            <p:cNvSpPr txBox="1"/>
            <p:nvPr userDrawn="1"/>
          </p:nvSpPr>
          <p:spPr>
            <a:xfrm>
              <a:off x="3063684" y="6610433"/>
              <a:ext cx="3055475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dirty="0">
                  <a:solidFill>
                    <a:srgbClr val="F0F0F0"/>
                  </a:solidFill>
                  <a:latin typeface="Arial"/>
                </a:rPr>
                <a:t>Phase-Efficient All-to-All Collective Communciation</a:t>
              </a:r>
              <a:endParaRPr sz="1000" b="0" dirty="0">
                <a:solidFill>
                  <a:srgbClr val="F0F0F0"/>
                </a:solidFill>
                <a:latin typeface="Arial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11E3272-5D47-FB33-9D22-48268D108EE1}"/>
                </a:ext>
              </a:extLst>
            </p:cNvPr>
            <p:cNvSpPr txBox="1"/>
            <p:nvPr userDrawn="1"/>
          </p:nvSpPr>
          <p:spPr>
            <a:xfrm>
              <a:off x="6538382" y="6626865"/>
              <a:ext cx="2178186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dirty="0">
                  <a:solidFill>
                    <a:srgbClr val="F0F0F0"/>
                  </a:solidFill>
                  <a:latin typeface="Arial"/>
                </a:rPr>
                <a:t>HotOptics‘26 Denver</a:t>
              </a:r>
              <a:endParaRPr sz="1000" b="0" dirty="0">
                <a:solidFill>
                  <a:srgbClr val="F0F0F0"/>
                </a:solidFill>
                <a:latin typeface="Arial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4543" y="240650"/>
            <a:ext cx="5416550" cy="709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ABC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D8146B-0251-2684-4A8A-596F12676C31}"/>
              </a:ext>
            </a:extLst>
          </p:cNvPr>
          <p:cNvSpPr txBox="1"/>
          <p:nvPr/>
        </p:nvSpPr>
        <p:spPr>
          <a:xfrm>
            <a:off x="2139950" y="3409949"/>
            <a:ext cx="4654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u="sng" dirty="0">
                <a:latin typeface="Arial" panose="020B0604020202020204" pitchFamily="34" charset="0"/>
                <a:cs typeface="Arial" panose="020B0604020202020204" pitchFamily="34" charset="0"/>
              </a:rPr>
              <a:t>Anton Juerss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and Stefan Schmid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208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E0A00C-80EE-E4B2-4BA1-49FCB5A2C126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All-to-All: everyone sends to everyone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1534;g60be7dcf1c_0_434">
            <a:extLst>
              <a:ext uri="{FF2B5EF4-FFF2-40B4-BE49-F238E27FC236}">
                <a16:creationId xmlns:a16="http://schemas.microsoft.com/office/drawing/2014/main" id="{0275BB36-E012-4F65-F08A-10701C9ECF67}"/>
              </a:ext>
            </a:extLst>
          </p:cNvPr>
          <p:cNvSpPr txBox="1"/>
          <p:nvPr/>
        </p:nvSpPr>
        <p:spPr>
          <a:xfrm>
            <a:off x="272260" y="1305423"/>
            <a:ext cx="8579640" cy="89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Training and inference require synchronizations across accelerators</a:t>
            </a:r>
            <a:endParaRPr lang="en-GB" sz="1800" dirty="0">
              <a:solidFill>
                <a:srgbClr val="C00000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Example: All-to-All </a:t>
            </a: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—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each node sends a </a:t>
            </a: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unique 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message to </a:t>
            </a: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every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other node</a:t>
            </a: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613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35B41-DBE0-641D-CE6F-4E4D1F76A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161B97-22C7-DB65-ADCC-8064474CCE94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All-to-All: everyone sends to everyone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1534;g60be7dcf1c_0_434">
            <a:extLst>
              <a:ext uri="{FF2B5EF4-FFF2-40B4-BE49-F238E27FC236}">
                <a16:creationId xmlns:a16="http://schemas.microsoft.com/office/drawing/2014/main" id="{ABAFA90E-3388-09B7-D804-5C1425E9E37E}"/>
              </a:ext>
            </a:extLst>
          </p:cNvPr>
          <p:cNvSpPr txBox="1"/>
          <p:nvPr/>
        </p:nvSpPr>
        <p:spPr>
          <a:xfrm>
            <a:off x="272260" y="1305423"/>
            <a:ext cx="8579640" cy="89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Training and inference require synchronizations across accelerators</a:t>
            </a:r>
            <a:endParaRPr lang="en-GB" sz="1800" dirty="0">
              <a:solidFill>
                <a:srgbClr val="C00000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Example: All-to-All </a:t>
            </a: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—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each node sends a </a:t>
            </a: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unique 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message to </a:t>
            </a: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every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other node</a:t>
            </a: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</p:txBody>
      </p:sp>
      <p:pic>
        <p:nvPicPr>
          <p:cNvPr id="8" name="Picture 21">
            <a:extLst>
              <a:ext uri="{FF2B5EF4-FFF2-40B4-BE49-F238E27FC236}">
                <a16:creationId xmlns:a16="http://schemas.microsoft.com/office/drawing/2014/main" id="{D6AAD60B-96AD-6E74-ACB7-B6A974212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391" y="2668732"/>
            <a:ext cx="4333673" cy="3151761"/>
          </a:xfrm>
          <a:prstGeom prst="rect">
            <a:avLst/>
          </a:prstGeom>
        </p:spPr>
      </p:pic>
      <p:sp>
        <p:nvSpPr>
          <p:cNvPr id="10" name="Google Shape;1534;g60be7dcf1c_0_434">
            <a:extLst>
              <a:ext uri="{FF2B5EF4-FFF2-40B4-BE49-F238E27FC236}">
                <a16:creationId xmlns:a16="http://schemas.microsoft.com/office/drawing/2014/main" id="{99C46D22-FA9C-6BA1-D9BD-4A04CF886E96}"/>
              </a:ext>
            </a:extLst>
          </p:cNvPr>
          <p:cNvSpPr txBox="1"/>
          <p:nvPr/>
        </p:nvSpPr>
        <p:spPr>
          <a:xfrm>
            <a:off x="184554" y="3445952"/>
            <a:ext cx="3939837" cy="134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30000"/>
              </a:lnSpc>
              <a:buClr>
                <a:schemeClr val="tx1"/>
              </a:buClr>
              <a:buSzPct val="140000"/>
            </a:pP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All-to-All </a:t>
            </a: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cost grow </a:t>
            </a: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linearly with </a:t>
            </a:r>
            <a:r>
              <a:rPr lang="en-GB" sz="1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  <a:sym typeface="Consolas"/>
              </a:rPr>
              <a:t>n</a:t>
            </a: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</a:t>
            </a: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in rings topologies with network size</a:t>
            </a: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8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F1C1-7C33-4358-C13F-A8EEF20A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440825-0758-8679-DEDB-636754A1A3AB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All-to-All: everyone sends to everyone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1534;g60be7dcf1c_0_434">
            <a:extLst>
              <a:ext uri="{FF2B5EF4-FFF2-40B4-BE49-F238E27FC236}">
                <a16:creationId xmlns:a16="http://schemas.microsoft.com/office/drawing/2014/main" id="{F4BF8483-756E-2F60-F37E-B223CFC51C50}"/>
              </a:ext>
            </a:extLst>
          </p:cNvPr>
          <p:cNvSpPr txBox="1"/>
          <p:nvPr/>
        </p:nvSpPr>
        <p:spPr>
          <a:xfrm>
            <a:off x="272260" y="1305423"/>
            <a:ext cx="8579640" cy="898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Training and inference require synchronizations across accelerators</a:t>
            </a:r>
            <a:endParaRPr lang="en-GB" sz="1800" dirty="0">
              <a:solidFill>
                <a:srgbClr val="C00000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Example: All-to-All </a:t>
            </a: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—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each node sends a </a:t>
            </a: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unique 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message to </a:t>
            </a: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every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other node</a:t>
            </a: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</p:txBody>
      </p:sp>
      <p:pic>
        <p:nvPicPr>
          <p:cNvPr id="8" name="Picture 21">
            <a:extLst>
              <a:ext uri="{FF2B5EF4-FFF2-40B4-BE49-F238E27FC236}">
                <a16:creationId xmlns:a16="http://schemas.microsoft.com/office/drawing/2014/main" id="{BF7A6DF3-DEF7-D77B-6B45-64E99656B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90" y="3304882"/>
            <a:ext cx="3764469" cy="2737795"/>
          </a:xfrm>
          <a:prstGeom prst="rect">
            <a:avLst/>
          </a:prstGeom>
        </p:spPr>
      </p:pic>
      <p:sp>
        <p:nvSpPr>
          <p:cNvPr id="10" name="Google Shape;1534;g60be7dcf1c_0_434">
            <a:extLst>
              <a:ext uri="{FF2B5EF4-FFF2-40B4-BE49-F238E27FC236}">
                <a16:creationId xmlns:a16="http://schemas.microsoft.com/office/drawing/2014/main" id="{CA9D8D68-AA7D-BDBB-1C01-2FB073AB661C}"/>
              </a:ext>
            </a:extLst>
          </p:cNvPr>
          <p:cNvSpPr txBox="1"/>
          <p:nvPr/>
        </p:nvSpPr>
        <p:spPr>
          <a:xfrm>
            <a:off x="578390" y="2436302"/>
            <a:ext cx="3939837" cy="134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30000"/>
              </a:lnSpc>
              <a:buClr>
                <a:schemeClr val="tx1"/>
              </a:buClr>
              <a:buSzPct val="140000"/>
            </a:pP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All-to-All </a:t>
            </a: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cost grow </a:t>
            </a: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linearly with </a:t>
            </a:r>
            <a:r>
              <a:rPr lang="en-GB" sz="1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  <a:sym typeface="Consolas"/>
              </a:rPr>
              <a:t>n</a:t>
            </a: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</a:t>
            </a: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in rings topologies with network size</a:t>
            </a: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C9AE10-BB8F-2D81-9881-A0D144E462CA}"/>
              </a:ext>
            </a:extLst>
          </p:cNvPr>
          <p:cNvSpPr/>
          <p:nvPr/>
        </p:nvSpPr>
        <p:spPr>
          <a:xfrm>
            <a:off x="4778507" y="4769783"/>
            <a:ext cx="3884174" cy="1272894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F76A6-D977-78F4-F233-3174851AC7E6}"/>
              </a:ext>
            </a:extLst>
          </p:cNvPr>
          <p:cNvSpPr txBox="1"/>
          <p:nvPr/>
        </p:nvSpPr>
        <p:spPr>
          <a:xfrm>
            <a:off x="5002342" y="4875338"/>
            <a:ext cx="3849558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de-DE" sz="2400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we use reconfigurable networks to fix this problem?</a:t>
            </a:r>
            <a:endParaRPr sz="2400" b="1" i="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534;g60be7dcf1c_0_434">
            <a:extLst>
              <a:ext uri="{FF2B5EF4-FFF2-40B4-BE49-F238E27FC236}">
                <a16:creationId xmlns:a16="http://schemas.microsoft.com/office/drawing/2014/main" id="{9DC74B62-44C8-1680-3472-CC3699563204}"/>
              </a:ext>
            </a:extLst>
          </p:cNvPr>
          <p:cNvSpPr txBox="1"/>
          <p:nvPr/>
        </p:nvSpPr>
        <p:spPr>
          <a:xfrm>
            <a:off x="4722844" y="2625444"/>
            <a:ext cx="3939837" cy="134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30000"/>
              </a:lnSpc>
              <a:buClr>
                <a:schemeClr val="tx1"/>
              </a:buClr>
              <a:buSzPct val="140000"/>
            </a:pP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All-to-All </a:t>
            </a: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cost grow </a:t>
            </a: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linearly with </a:t>
            </a:r>
            <a:r>
              <a:rPr lang="en-GB" sz="1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  <a:sym typeface="Consolas"/>
              </a:rPr>
              <a:t>n</a:t>
            </a:r>
            <a:r>
              <a:rPr lang="en-GB" sz="1800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</a:t>
            </a: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in rings topologies with network size</a:t>
            </a:r>
          </a:p>
          <a:p>
            <a:pPr marL="285750" indent="-285750">
              <a:lnSpc>
                <a:spcPct val="115000"/>
              </a:lnSpc>
              <a:buSzPct val="144000"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251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ED26A-F337-5912-5AF0-D19F4DD23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6C565F-CFE5-E127-FC5F-D8C9BDCF759D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Collectives match reconfigurable networks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1534;g60be7dcf1c_0_434">
            <a:extLst>
              <a:ext uri="{FF2B5EF4-FFF2-40B4-BE49-F238E27FC236}">
                <a16:creationId xmlns:a16="http://schemas.microsoft.com/office/drawing/2014/main" id="{9E747815-CF62-205B-7987-B7B99F79480E}"/>
              </a:ext>
            </a:extLst>
          </p:cNvPr>
          <p:cNvSpPr txBox="1"/>
          <p:nvPr/>
        </p:nvSpPr>
        <p:spPr>
          <a:xfrm>
            <a:off x="291187" y="1208266"/>
            <a:ext cx="4607839" cy="1946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Collectives naturally offer:</a:t>
            </a:r>
            <a:endParaRPr lang="en-GB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4999"/>
              </a:lnSpc>
              <a:buSzPct val="140000"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Known </a:t>
            </a:r>
            <a:r>
              <a:rPr lang="en-US" sz="1800" dirty="0">
                <a:solidFill>
                  <a:srgbClr val="C4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 matrices</a:t>
            </a:r>
          </a:p>
          <a:p>
            <a:pPr marL="285750" indent="-285750">
              <a:lnSpc>
                <a:spcPct val="114999"/>
              </a:lnSpc>
              <a:buSzPct val="140000"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 </a:t>
            </a:r>
            <a:r>
              <a:rPr lang="en-GB" sz="180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synchronization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between phases</a:t>
            </a:r>
            <a:endParaRPr lang="en-US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4999"/>
              </a:lnSpc>
              <a:buSzPct val="140000"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Concurrent transmissions have equal cost</a:t>
            </a:r>
          </a:p>
          <a:p>
            <a:pPr>
              <a:lnSpc>
                <a:spcPct val="114999"/>
              </a:lnSpc>
            </a:pPr>
            <a:r>
              <a:rPr lang="en-GB" sz="180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Natural opportunities to reconfigure</a:t>
            </a:r>
          </a:p>
          <a:p>
            <a:pPr>
              <a:lnSpc>
                <a:spcPct val="114999"/>
              </a:lnSpc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US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4997700-2419-98F4-7D72-E06E3A21FB8C}"/>
              </a:ext>
            </a:extLst>
          </p:cNvPr>
          <p:cNvGrpSpPr/>
          <p:nvPr/>
        </p:nvGrpSpPr>
        <p:grpSpPr>
          <a:xfrm>
            <a:off x="5055167" y="1856304"/>
            <a:ext cx="3393562" cy="988416"/>
            <a:chOff x="356280" y="4557032"/>
            <a:chExt cx="4811941" cy="1401537"/>
          </a:xfrm>
        </p:grpSpPr>
        <p:pic>
          <p:nvPicPr>
            <p:cNvPr id="83" name="Picture 82" descr="A grid with red squares&#10;&#10;AI-generated content may be incorrect.">
              <a:extLst>
                <a:ext uri="{FF2B5EF4-FFF2-40B4-BE49-F238E27FC236}">
                  <a16:creationId xmlns:a16="http://schemas.microsoft.com/office/drawing/2014/main" id="{C02587C0-7792-E533-5946-792995FCE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23381" y="4575176"/>
              <a:ext cx="1344840" cy="1372507"/>
            </a:xfrm>
            <a:prstGeom prst="rect">
              <a:avLst/>
            </a:prstGeom>
          </p:spPr>
        </p:pic>
        <p:pic>
          <p:nvPicPr>
            <p:cNvPr id="84" name="Picture 83" descr="A grid with red squares&#10;&#10;AI-generated content may be incorrect.">
              <a:extLst>
                <a:ext uri="{FF2B5EF4-FFF2-40B4-BE49-F238E27FC236}">
                  <a16:creationId xmlns:a16="http://schemas.microsoft.com/office/drawing/2014/main" id="{3302976F-2FA5-073C-0D48-B8FBD83DC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280" y="4576989"/>
              <a:ext cx="1352097" cy="1379765"/>
            </a:xfrm>
            <a:prstGeom prst="rect">
              <a:avLst/>
            </a:prstGeom>
          </p:spPr>
        </p:pic>
        <p:pic>
          <p:nvPicPr>
            <p:cNvPr id="85" name="Picture 84" descr="A grid with red squares&#10;&#10;AI-generated content may be incorrect.">
              <a:extLst>
                <a:ext uri="{FF2B5EF4-FFF2-40B4-BE49-F238E27FC236}">
                  <a16:creationId xmlns:a16="http://schemas.microsoft.com/office/drawing/2014/main" id="{20864C5F-B3E1-5E90-D2F5-C98731908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92554" y="4557032"/>
              <a:ext cx="1373869" cy="1401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797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F63A2-1708-F937-06AB-814607AC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1CFBA4-B7FA-589F-A751-D6F7F54CFB9A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Collectives match reconfigurable networks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1534;g60be7dcf1c_0_434">
            <a:extLst>
              <a:ext uri="{FF2B5EF4-FFF2-40B4-BE49-F238E27FC236}">
                <a16:creationId xmlns:a16="http://schemas.microsoft.com/office/drawing/2014/main" id="{DB7614DB-DC6B-1CEB-7DE0-B58B2EB35592}"/>
              </a:ext>
            </a:extLst>
          </p:cNvPr>
          <p:cNvSpPr txBox="1"/>
          <p:nvPr/>
        </p:nvSpPr>
        <p:spPr>
          <a:xfrm>
            <a:off x="291187" y="1208266"/>
            <a:ext cx="4607839" cy="1946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Collectives naturally offer:</a:t>
            </a:r>
            <a:endParaRPr lang="en-GB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4999"/>
              </a:lnSpc>
              <a:buSzPct val="140000"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Known </a:t>
            </a:r>
            <a:r>
              <a:rPr lang="en-US" sz="1800" dirty="0">
                <a:solidFill>
                  <a:srgbClr val="C4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 matrices</a:t>
            </a:r>
          </a:p>
          <a:p>
            <a:pPr marL="285750" indent="-285750">
              <a:lnSpc>
                <a:spcPct val="114999"/>
              </a:lnSpc>
              <a:buSzPct val="140000"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 </a:t>
            </a:r>
            <a:r>
              <a:rPr lang="en-GB" sz="180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synchronization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between phases</a:t>
            </a:r>
            <a:endParaRPr lang="en-US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4999"/>
              </a:lnSpc>
              <a:buSzPct val="140000"/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Concurrent transmissions have equal cost</a:t>
            </a:r>
          </a:p>
          <a:p>
            <a:pPr>
              <a:lnSpc>
                <a:spcPct val="114999"/>
              </a:lnSpc>
            </a:pPr>
            <a:r>
              <a:rPr lang="en-GB" sz="180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Natural opportunities to reconfigure</a:t>
            </a:r>
          </a:p>
          <a:p>
            <a:pPr>
              <a:lnSpc>
                <a:spcPct val="114999"/>
              </a:lnSpc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US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83421F-2228-3C05-9A70-68982F0E844C}"/>
              </a:ext>
            </a:extLst>
          </p:cNvPr>
          <p:cNvGrpSpPr/>
          <p:nvPr/>
        </p:nvGrpSpPr>
        <p:grpSpPr>
          <a:xfrm>
            <a:off x="1153507" y="4721439"/>
            <a:ext cx="1583134" cy="840639"/>
            <a:chOff x="4535552" y="3955322"/>
            <a:chExt cx="1583134" cy="840639"/>
          </a:xfrm>
        </p:grpSpPr>
        <p:cxnSp>
          <p:nvCxnSpPr>
            <p:cNvPr id="62" name="Gerader Verbinder 31">
              <a:extLst>
                <a:ext uri="{FF2B5EF4-FFF2-40B4-BE49-F238E27FC236}">
                  <a16:creationId xmlns:a16="http://schemas.microsoft.com/office/drawing/2014/main" id="{528D3A44-3568-1355-7105-C3FD74F36AB9}"/>
                </a:ext>
              </a:extLst>
            </p:cNvPr>
            <p:cNvCxnSpPr>
              <a:cxnSpLocks/>
            </p:cNvCxnSpPr>
            <p:nvPr/>
          </p:nvCxnSpPr>
          <p:spPr>
            <a:xfrm>
              <a:off x="4814647" y="4713300"/>
              <a:ext cx="978895" cy="16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31">
              <a:extLst>
                <a:ext uri="{FF2B5EF4-FFF2-40B4-BE49-F238E27FC236}">
                  <a16:creationId xmlns:a16="http://schemas.microsoft.com/office/drawing/2014/main" id="{63538AE5-0C2A-A0F6-9A87-D8C96E253169}"/>
                </a:ext>
              </a:extLst>
            </p:cNvPr>
            <p:cNvCxnSpPr/>
            <p:nvPr/>
          </p:nvCxnSpPr>
          <p:spPr>
            <a:xfrm>
              <a:off x="4836419" y="4038387"/>
              <a:ext cx="978895" cy="16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22">
              <a:extLst>
                <a:ext uri="{FF2B5EF4-FFF2-40B4-BE49-F238E27FC236}">
                  <a16:creationId xmlns:a16="http://schemas.microsoft.com/office/drawing/2014/main" id="{42401EDE-D5B9-224B-E2DD-8D408EDC435B}"/>
                </a:ext>
              </a:extLst>
            </p:cNvPr>
            <p:cNvCxnSpPr/>
            <p:nvPr/>
          </p:nvCxnSpPr>
          <p:spPr>
            <a:xfrm>
              <a:off x="5676883" y="3977389"/>
              <a:ext cx="333208" cy="3634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6">
              <a:extLst>
                <a:ext uri="{FF2B5EF4-FFF2-40B4-BE49-F238E27FC236}">
                  <a16:creationId xmlns:a16="http://schemas.microsoft.com/office/drawing/2014/main" id="{CBE0E716-4A86-FEFE-F4A5-40C5EABCE2DB}"/>
                </a:ext>
              </a:extLst>
            </p:cNvPr>
            <p:cNvCxnSpPr/>
            <p:nvPr/>
          </p:nvCxnSpPr>
          <p:spPr>
            <a:xfrm>
              <a:off x="5310066" y="3977096"/>
              <a:ext cx="5830" cy="7078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9">
              <a:extLst>
                <a:ext uri="{FF2B5EF4-FFF2-40B4-BE49-F238E27FC236}">
                  <a16:creationId xmlns:a16="http://schemas.microsoft.com/office/drawing/2014/main" id="{1FCBF523-D8E5-5516-042E-7AE42047D372}"/>
                </a:ext>
              </a:extLst>
            </p:cNvPr>
            <p:cNvCxnSpPr/>
            <p:nvPr/>
          </p:nvCxnSpPr>
          <p:spPr>
            <a:xfrm flipV="1">
              <a:off x="4629895" y="4370158"/>
              <a:ext cx="1486895" cy="55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32">
              <a:extLst>
                <a:ext uri="{FF2B5EF4-FFF2-40B4-BE49-F238E27FC236}">
                  <a16:creationId xmlns:a16="http://schemas.microsoft.com/office/drawing/2014/main" id="{D9466849-9F4E-E9F6-A87A-DF007892AF50}"/>
                </a:ext>
              </a:extLst>
            </p:cNvPr>
            <p:cNvCxnSpPr/>
            <p:nvPr/>
          </p:nvCxnSpPr>
          <p:spPr>
            <a:xfrm>
              <a:off x="4591634" y="4307676"/>
              <a:ext cx="253380" cy="3852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35">
              <a:extLst>
                <a:ext uri="{FF2B5EF4-FFF2-40B4-BE49-F238E27FC236}">
                  <a16:creationId xmlns:a16="http://schemas.microsoft.com/office/drawing/2014/main" id="{01BC3A82-1D83-AB1D-5189-6B51D9F1372E}"/>
                </a:ext>
              </a:extLst>
            </p:cNvPr>
            <p:cNvCxnSpPr/>
            <p:nvPr/>
          </p:nvCxnSpPr>
          <p:spPr>
            <a:xfrm flipV="1">
              <a:off x="4885855" y="4097220"/>
              <a:ext cx="843601" cy="5898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38">
              <a:extLst>
                <a:ext uri="{FF2B5EF4-FFF2-40B4-BE49-F238E27FC236}">
                  <a16:creationId xmlns:a16="http://schemas.microsoft.com/office/drawing/2014/main" id="{430BA846-7968-DE7F-378C-4CD1025C289D}"/>
                </a:ext>
              </a:extLst>
            </p:cNvPr>
            <p:cNvCxnSpPr/>
            <p:nvPr/>
          </p:nvCxnSpPr>
          <p:spPr>
            <a:xfrm flipV="1">
              <a:off x="5758797" y="4355798"/>
              <a:ext cx="335603" cy="37936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39">
              <a:extLst>
                <a:ext uri="{FF2B5EF4-FFF2-40B4-BE49-F238E27FC236}">
                  <a16:creationId xmlns:a16="http://schemas.microsoft.com/office/drawing/2014/main" id="{B5596612-4B03-75F6-58F7-6FAA6B34450E}"/>
                </a:ext>
              </a:extLst>
            </p:cNvPr>
            <p:cNvCxnSpPr/>
            <p:nvPr/>
          </p:nvCxnSpPr>
          <p:spPr>
            <a:xfrm flipV="1">
              <a:off x="4645046" y="4056907"/>
              <a:ext cx="201685" cy="2853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41">
              <a:extLst>
                <a:ext uri="{FF2B5EF4-FFF2-40B4-BE49-F238E27FC236}">
                  <a16:creationId xmlns:a16="http://schemas.microsoft.com/office/drawing/2014/main" id="{5AFE9BAF-B7DB-153C-6B6E-534A5CBF0EEA}"/>
                </a:ext>
              </a:extLst>
            </p:cNvPr>
            <p:cNvCxnSpPr/>
            <p:nvPr/>
          </p:nvCxnSpPr>
          <p:spPr>
            <a:xfrm>
              <a:off x="4868666" y="4078688"/>
              <a:ext cx="864863" cy="6080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91DA83CB-5BD2-FA66-3165-693A09396F9D}"/>
                </a:ext>
              </a:extLst>
            </p:cNvPr>
            <p:cNvSpPr/>
            <p:nvPr/>
          </p:nvSpPr>
          <p:spPr>
            <a:xfrm>
              <a:off x="4535552" y="4287491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908DB15-FCEF-43D4-3EA7-34B69713822C}"/>
                </a:ext>
              </a:extLst>
            </p:cNvPr>
            <p:cNvSpPr/>
            <p:nvPr/>
          </p:nvSpPr>
          <p:spPr>
            <a:xfrm>
              <a:off x="5236315" y="3955322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9A02031-FCD5-390C-0236-F598F309ABDB}"/>
                </a:ext>
              </a:extLst>
            </p:cNvPr>
            <p:cNvSpPr/>
            <p:nvPr/>
          </p:nvSpPr>
          <p:spPr>
            <a:xfrm>
              <a:off x="5648545" y="4631807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71A4DC0-CAC0-FEBF-125E-9C352DE188A3}"/>
                </a:ext>
              </a:extLst>
            </p:cNvPr>
            <p:cNvSpPr/>
            <p:nvPr/>
          </p:nvSpPr>
          <p:spPr>
            <a:xfrm>
              <a:off x="4794744" y="4633943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32889BC-8AFA-6502-8303-E7751A990480}"/>
                </a:ext>
              </a:extLst>
            </p:cNvPr>
            <p:cNvSpPr/>
            <p:nvPr/>
          </p:nvSpPr>
          <p:spPr>
            <a:xfrm>
              <a:off x="4800132" y="3957378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96DC7E35-42AE-F9A0-3EEB-57E2C55DF314}"/>
                </a:ext>
              </a:extLst>
            </p:cNvPr>
            <p:cNvSpPr/>
            <p:nvPr/>
          </p:nvSpPr>
          <p:spPr>
            <a:xfrm>
              <a:off x="5653296" y="3959037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8A73E7C-05B2-8B10-D7B8-018E5459BB2F}"/>
                </a:ext>
              </a:extLst>
            </p:cNvPr>
            <p:cNvSpPr/>
            <p:nvPr/>
          </p:nvSpPr>
          <p:spPr>
            <a:xfrm>
              <a:off x="5956668" y="4279923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66C0793-EAFF-8BE6-2CA8-AB2BA2072386}"/>
                </a:ext>
              </a:extLst>
            </p:cNvPr>
            <p:cNvSpPr/>
            <p:nvPr/>
          </p:nvSpPr>
          <p:spPr>
            <a:xfrm>
              <a:off x="5226238" y="4630402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4A36C76-1481-A31D-6A13-E0E595B22B7B}"/>
              </a:ext>
            </a:extLst>
          </p:cNvPr>
          <p:cNvGrpSpPr/>
          <p:nvPr/>
        </p:nvGrpSpPr>
        <p:grpSpPr>
          <a:xfrm>
            <a:off x="4384738" y="4777746"/>
            <a:ext cx="1024335" cy="543018"/>
            <a:chOff x="5754751" y="2482121"/>
            <a:chExt cx="1583134" cy="840639"/>
          </a:xfrm>
        </p:grpSpPr>
        <p:cxnSp>
          <p:nvCxnSpPr>
            <p:cNvPr id="47" name="Gerader Verbinder 31">
              <a:extLst>
                <a:ext uri="{FF2B5EF4-FFF2-40B4-BE49-F238E27FC236}">
                  <a16:creationId xmlns:a16="http://schemas.microsoft.com/office/drawing/2014/main" id="{C8073B2C-1414-1795-F48A-D00ED1CB02C3}"/>
                </a:ext>
              </a:extLst>
            </p:cNvPr>
            <p:cNvCxnSpPr>
              <a:cxnSpLocks/>
            </p:cNvCxnSpPr>
            <p:nvPr/>
          </p:nvCxnSpPr>
          <p:spPr>
            <a:xfrm>
              <a:off x="6511422" y="3238416"/>
              <a:ext cx="528953" cy="16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31">
              <a:extLst>
                <a:ext uri="{FF2B5EF4-FFF2-40B4-BE49-F238E27FC236}">
                  <a16:creationId xmlns:a16="http://schemas.microsoft.com/office/drawing/2014/main" id="{1FEB1D8C-8CEA-6375-9467-673884614E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76570" y="2610388"/>
              <a:ext cx="8076" cy="6442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rader Verbinder 22">
              <a:extLst>
                <a:ext uri="{FF2B5EF4-FFF2-40B4-BE49-F238E27FC236}">
                  <a16:creationId xmlns:a16="http://schemas.microsoft.com/office/drawing/2014/main" id="{D5447490-E8DC-DEA6-0F2F-927EB5BD1063}"/>
                </a:ext>
              </a:extLst>
            </p:cNvPr>
            <p:cNvCxnSpPr>
              <a:cxnSpLocks/>
            </p:cNvCxnSpPr>
            <p:nvPr/>
          </p:nvCxnSpPr>
          <p:spPr>
            <a:xfrm>
              <a:off x="6896082" y="2504188"/>
              <a:ext cx="333208" cy="3634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19">
              <a:extLst>
                <a:ext uri="{FF2B5EF4-FFF2-40B4-BE49-F238E27FC236}">
                  <a16:creationId xmlns:a16="http://schemas.microsoft.com/office/drawing/2014/main" id="{CA3DA921-B782-EF1F-3984-88826EACDF4B}"/>
                </a:ext>
              </a:extLst>
            </p:cNvPr>
            <p:cNvCxnSpPr>
              <a:cxnSpLocks/>
            </p:cNvCxnSpPr>
            <p:nvPr/>
          </p:nvCxnSpPr>
          <p:spPr>
            <a:xfrm>
              <a:off x="6502237" y="2568726"/>
              <a:ext cx="470895" cy="16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r Verbinder 32">
              <a:extLst>
                <a:ext uri="{FF2B5EF4-FFF2-40B4-BE49-F238E27FC236}">
                  <a16:creationId xmlns:a16="http://schemas.microsoft.com/office/drawing/2014/main" id="{D048B38B-35B8-9245-74B6-4F2BFE318333}"/>
                </a:ext>
              </a:extLst>
            </p:cNvPr>
            <p:cNvCxnSpPr>
              <a:cxnSpLocks/>
            </p:cNvCxnSpPr>
            <p:nvPr/>
          </p:nvCxnSpPr>
          <p:spPr>
            <a:xfrm>
              <a:off x="5810833" y="2834475"/>
              <a:ext cx="253380" cy="3852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39">
              <a:extLst>
                <a:ext uri="{FF2B5EF4-FFF2-40B4-BE49-F238E27FC236}">
                  <a16:creationId xmlns:a16="http://schemas.microsoft.com/office/drawing/2014/main" id="{D062E9B0-F29E-EBE2-9F62-E156232865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245" y="2583706"/>
              <a:ext cx="201685" cy="2853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41">
              <a:extLst>
                <a:ext uri="{FF2B5EF4-FFF2-40B4-BE49-F238E27FC236}">
                  <a16:creationId xmlns:a16="http://schemas.microsoft.com/office/drawing/2014/main" id="{C3B2FEB8-AAD5-6C8E-5348-CB08CEF05640}"/>
                </a:ext>
              </a:extLst>
            </p:cNvPr>
            <p:cNvCxnSpPr>
              <a:cxnSpLocks/>
            </p:cNvCxnSpPr>
            <p:nvPr/>
          </p:nvCxnSpPr>
          <p:spPr>
            <a:xfrm>
              <a:off x="6523294" y="2540172"/>
              <a:ext cx="719721" cy="3177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547E982-11B7-E706-F30E-CF28943759F1}"/>
                </a:ext>
              </a:extLst>
            </p:cNvPr>
            <p:cNvSpPr/>
            <p:nvPr/>
          </p:nvSpPr>
          <p:spPr>
            <a:xfrm>
              <a:off x="5754751" y="2814290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149EFE4-708F-1633-0964-6AF5FD40B4A4}"/>
                </a:ext>
              </a:extLst>
            </p:cNvPr>
            <p:cNvSpPr/>
            <p:nvPr/>
          </p:nvSpPr>
          <p:spPr>
            <a:xfrm>
              <a:off x="6455514" y="2482121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F4C9FDB-2F8E-F23F-1036-623FAAB1807A}"/>
                </a:ext>
              </a:extLst>
            </p:cNvPr>
            <p:cNvSpPr/>
            <p:nvPr/>
          </p:nvSpPr>
          <p:spPr>
            <a:xfrm>
              <a:off x="6867744" y="3158606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2FFDF39-7957-E6D6-8924-90BEDC7F33AB}"/>
                </a:ext>
              </a:extLst>
            </p:cNvPr>
            <p:cNvSpPr/>
            <p:nvPr/>
          </p:nvSpPr>
          <p:spPr>
            <a:xfrm>
              <a:off x="6013943" y="3160742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03ACCCE-73B0-C3AC-BC31-ADF7272F94ED}"/>
                </a:ext>
              </a:extLst>
            </p:cNvPr>
            <p:cNvSpPr/>
            <p:nvPr/>
          </p:nvSpPr>
          <p:spPr>
            <a:xfrm>
              <a:off x="6019331" y="2484177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831253D-9C9F-A97B-E94F-E7D2DD5EEF2B}"/>
                </a:ext>
              </a:extLst>
            </p:cNvPr>
            <p:cNvSpPr/>
            <p:nvPr/>
          </p:nvSpPr>
          <p:spPr>
            <a:xfrm>
              <a:off x="6872495" y="2485836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16379B9-53A8-D06B-B0F5-EACA60B30A98}"/>
                </a:ext>
              </a:extLst>
            </p:cNvPr>
            <p:cNvSpPr/>
            <p:nvPr/>
          </p:nvSpPr>
          <p:spPr>
            <a:xfrm>
              <a:off x="7175867" y="2806722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DF4BE67-0633-10D2-89DB-498C3AAD7832}"/>
                </a:ext>
              </a:extLst>
            </p:cNvPr>
            <p:cNvSpPr/>
            <p:nvPr/>
          </p:nvSpPr>
          <p:spPr>
            <a:xfrm>
              <a:off x="6445437" y="3157201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E7EBE93-EE87-3A08-A361-3E9275F966A2}"/>
              </a:ext>
            </a:extLst>
          </p:cNvPr>
          <p:cNvGrpSpPr/>
          <p:nvPr/>
        </p:nvGrpSpPr>
        <p:grpSpPr>
          <a:xfrm>
            <a:off x="5857928" y="4683563"/>
            <a:ext cx="1147703" cy="666439"/>
            <a:chOff x="4216236" y="2162806"/>
            <a:chExt cx="1583134" cy="840639"/>
          </a:xfrm>
        </p:grpSpPr>
        <p:cxnSp>
          <p:nvCxnSpPr>
            <p:cNvPr id="32" name="Gerader Verbinder 14">
              <a:extLst>
                <a:ext uri="{FF2B5EF4-FFF2-40B4-BE49-F238E27FC236}">
                  <a16:creationId xmlns:a16="http://schemas.microsoft.com/office/drawing/2014/main" id="{4FB48C62-0919-420F-AD34-3F3C8A6E47AF}"/>
                </a:ext>
              </a:extLst>
            </p:cNvPr>
            <p:cNvCxnSpPr/>
            <p:nvPr/>
          </p:nvCxnSpPr>
          <p:spPr>
            <a:xfrm>
              <a:off x="4555261" y="2922441"/>
              <a:ext cx="435248" cy="123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8">
              <a:extLst>
                <a:ext uri="{FF2B5EF4-FFF2-40B4-BE49-F238E27FC236}">
                  <a16:creationId xmlns:a16="http://schemas.microsoft.com/office/drawing/2014/main" id="{B181DA87-4447-19A3-7493-9686510944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8567" y="2563281"/>
              <a:ext cx="683946" cy="3358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1">
              <a:extLst>
                <a:ext uri="{FF2B5EF4-FFF2-40B4-BE49-F238E27FC236}">
                  <a16:creationId xmlns:a16="http://schemas.microsoft.com/office/drawing/2014/main" id="{469DC9A3-0223-93B6-1585-5F1F8B40EF70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78" y="2251444"/>
              <a:ext cx="528953" cy="16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1">
              <a:extLst>
                <a:ext uri="{FF2B5EF4-FFF2-40B4-BE49-F238E27FC236}">
                  <a16:creationId xmlns:a16="http://schemas.microsoft.com/office/drawing/2014/main" id="{9166F5D4-8341-83C7-934C-982B28570E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1502" y="2269301"/>
              <a:ext cx="6439" cy="6297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2">
              <a:extLst>
                <a:ext uri="{FF2B5EF4-FFF2-40B4-BE49-F238E27FC236}">
                  <a16:creationId xmlns:a16="http://schemas.microsoft.com/office/drawing/2014/main" id="{2871CCA8-FBC0-4BEA-1174-15123BFFD1AC}"/>
                </a:ext>
              </a:extLst>
            </p:cNvPr>
            <p:cNvCxnSpPr>
              <a:cxnSpLocks/>
            </p:cNvCxnSpPr>
            <p:nvPr/>
          </p:nvCxnSpPr>
          <p:spPr>
            <a:xfrm>
              <a:off x="4308603" y="2515160"/>
              <a:ext cx="1095209" cy="3852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39">
              <a:extLst>
                <a:ext uri="{FF2B5EF4-FFF2-40B4-BE49-F238E27FC236}">
                  <a16:creationId xmlns:a16="http://schemas.microsoft.com/office/drawing/2014/main" id="{16BF67AD-1069-81EF-F8FA-432E88CD2D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3959" y="2249877"/>
              <a:ext cx="1101570" cy="3143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41">
              <a:extLst>
                <a:ext uri="{FF2B5EF4-FFF2-40B4-BE49-F238E27FC236}">
                  <a16:creationId xmlns:a16="http://schemas.microsoft.com/office/drawing/2014/main" id="{C8ACBC84-A6F5-CB2A-C228-A83A46A149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9350" y="2582139"/>
              <a:ext cx="1147892" cy="3426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8F71DEC-D2C9-8C0D-FBCF-364D937DE48D}"/>
                </a:ext>
              </a:extLst>
            </p:cNvPr>
            <p:cNvSpPr/>
            <p:nvPr/>
          </p:nvSpPr>
          <p:spPr>
            <a:xfrm>
              <a:off x="4216236" y="2494975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20E81E6-E04C-E36D-3A87-B61EB8374B8E}"/>
                </a:ext>
              </a:extLst>
            </p:cNvPr>
            <p:cNvSpPr/>
            <p:nvPr/>
          </p:nvSpPr>
          <p:spPr>
            <a:xfrm>
              <a:off x="4916999" y="2162806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89B9946-2FCD-75A5-5BE5-F612594B3EE7}"/>
                </a:ext>
              </a:extLst>
            </p:cNvPr>
            <p:cNvSpPr/>
            <p:nvPr/>
          </p:nvSpPr>
          <p:spPr>
            <a:xfrm>
              <a:off x="5329229" y="2839291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E2798B9-56E7-F86F-4D28-A8B7DC239A20}"/>
                </a:ext>
              </a:extLst>
            </p:cNvPr>
            <p:cNvSpPr/>
            <p:nvPr/>
          </p:nvSpPr>
          <p:spPr>
            <a:xfrm>
              <a:off x="4475428" y="2841427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DAC805F-0CBA-BE1F-6055-01040B9D0A66}"/>
                </a:ext>
              </a:extLst>
            </p:cNvPr>
            <p:cNvSpPr/>
            <p:nvPr/>
          </p:nvSpPr>
          <p:spPr>
            <a:xfrm>
              <a:off x="4480816" y="2164862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2AABBAA-11B9-3748-8723-E93962DCB914}"/>
                </a:ext>
              </a:extLst>
            </p:cNvPr>
            <p:cNvSpPr/>
            <p:nvPr/>
          </p:nvSpPr>
          <p:spPr>
            <a:xfrm>
              <a:off x="5333980" y="2166521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7FA7BAF-3FFA-BBA9-D6DB-3786ED6621B4}"/>
                </a:ext>
              </a:extLst>
            </p:cNvPr>
            <p:cNvSpPr/>
            <p:nvPr/>
          </p:nvSpPr>
          <p:spPr>
            <a:xfrm>
              <a:off x="5637352" y="2487407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761C459-CE6C-1DD3-D58A-9B129410070C}"/>
                </a:ext>
              </a:extLst>
            </p:cNvPr>
            <p:cNvSpPr/>
            <p:nvPr/>
          </p:nvSpPr>
          <p:spPr>
            <a:xfrm>
              <a:off x="4906922" y="2837886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2775C3D-C8F7-18FD-16D1-4DC7EAD1FBF9}"/>
              </a:ext>
            </a:extLst>
          </p:cNvPr>
          <p:cNvGrpSpPr/>
          <p:nvPr/>
        </p:nvGrpSpPr>
        <p:grpSpPr>
          <a:xfrm>
            <a:off x="7469015" y="4777976"/>
            <a:ext cx="1089648" cy="579382"/>
            <a:chOff x="3446978" y="3440062"/>
            <a:chExt cx="1583134" cy="840639"/>
          </a:xfrm>
        </p:grpSpPr>
        <p:cxnSp>
          <p:nvCxnSpPr>
            <p:cNvPr id="19" name="Gerader Verbinder 31">
              <a:extLst>
                <a:ext uri="{FF2B5EF4-FFF2-40B4-BE49-F238E27FC236}">
                  <a16:creationId xmlns:a16="http://schemas.microsoft.com/office/drawing/2014/main" id="{9261A7D7-D740-2DE0-789A-4A7C1ABE97E7}"/>
                </a:ext>
              </a:extLst>
            </p:cNvPr>
            <p:cNvCxnSpPr>
              <a:cxnSpLocks/>
            </p:cNvCxnSpPr>
            <p:nvPr/>
          </p:nvCxnSpPr>
          <p:spPr>
            <a:xfrm>
              <a:off x="4232676" y="3528699"/>
              <a:ext cx="369296" cy="6330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31">
              <a:extLst>
                <a:ext uri="{FF2B5EF4-FFF2-40B4-BE49-F238E27FC236}">
                  <a16:creationId xmlns:a16="http://schemas.microsoft.com/office/drawing/2014/main" id="{FA5180FF-25AD-0085-C290-0181EC5B5730}"/>
                </a:ext>
              </a:extLst>
            </p:cNvPr>
            <p:cNvCxnSpPr>
              <a:cxnSpLocks/>
            </p:cNvCxnSpPr>
            <p:nvPr/>
          </p:nvCxnSpPr>
          <p:spPr>
            <a:xfrm>
              <a:off x="3535991" y="3797214"/>
              <a:ext cx="1095009" cy="37177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16">
              <a:extLst>
                <a:ext uri="{FF2B5EF4-FFF2-40B4-BE49-F238E27FC236}">
                  <a16:creationId xmlns:a16="http://schemas.microsoft.com/office/drawing/2014/main" id="{127F7FF1-99BB-7CF8-E786-C0535381846C}"/>
                </a:ext>
              </a:extLst>
            </p:cNvPr>
            <p:cNvCxnSpPr>
              <a:cxnSpLocks/>
            </p:cNvCxnSpPr>
            <p:nvPr/>
          </p:nvCxnSpPr>
          <p:spPr>
            <a:xfrm>
              <a:off x="3582865" y="3831952"/>
              <a:ext cx="1406459" cy="257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35">
              <a:extLst>
                <a:ext uri="{FF2B5EF4-FFF2-40B4-BE49-F238E27FC236}">
                  <a16:creationId xmlns:a16="http://schemas.microsoft.com/office/drawing/2014/main" id="{B4DEA796-6F08-CA98-1E7D-EEDFD13DA9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2768" y="3574705"/>
              <a:ext cx="843601" cy="5898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31">
              <a:extLst>
                <a:ext uri="{FF2B5EF4-FFF2-40B4-BE49-F238E27FC236}">
                  <a16:creationId xmlns:a16="http://schemas.microsoft.com/office/drawing/2014/main" id="{EBE929AC-5429-2842-BF8A-EC56A91F744C}"/>
                </a:ext>
              </a:extLst>
            </p:cNvPr>
            <p:cNvCxnSpPr>
              <a:cxnSpLocks/>
            </p:cNvCxnSpPr>
            <p:nvPr/>
          </p:nvCxnSpPr>
          <p:spPr>
            <a:xfrm>
              <a:off x="3797249" y="3528700"/>
              <a:ext cx="391067" cy="6475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FEDE61B-16ED-20D8-F463-DC553B9D3E88}"/>
                </a:ext>
              </a:extLst>
            </p:cNvPr>
            <p:cNvSpPr/>
            <p:nvPr/>
          </p:nvSpPr>
          <p:spPr>
            <a:xfrm>
              <a:off x="3446978" y="3772231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48CAF28-5E37-F863-AEAB-904AB5BE1481}"/>
                </a:ext>
              </a:extLst>
            </p:cNvPr>
            <p:cNvSpPr/>
            <p:nvPr/>
          </p:nvSpPr>
          <p:spPr>
            <a:xfrm>
              <a:off x="4147741" y="3440062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5FF57E9-8C7E-3C45-90B7-82C20AA8B31D}"/>
                </a:ext>
              </a:extLst>
            </p:cNvPr>
            <p:cNvSpPr/>
            <p:nvPr/>
          </p:nvSpPr>
          <p:spPr>
            <a:xfrm>
              <a:off x="4559971" y="4116547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A4C6C9A-8406-4121-79EB-79F4C58F6A54}"/>
                </a:ext>
              </a:extLst>
            </p:cNvPr>
            <p:cNvSpPr/>
            <p:nvPr/>
          </p:nvSpPr>
          <p:spPr>
            <a:xfrm>
              <a:off x="3706170" y="4118683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C17B046-7F63-E19D-F035-280FDD846EFE}"/>
                </a:ext>
              </a:extLst>
            </p:cNvPr>
            <p:cNvSpPr/>
            <p:nvPr/>
          </p:nvSpPr>
          <p:spPr>
            <a:xfrm>
              <a:off x="3711558" y="3442118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99B31BA-78EA-9316-B853-9C380939E200}"/>
                </a:ext>
              </a:extLst>
            </p:cNvPr>
            <p:cNvSpPr/>
            <p:nvPr/>
          </p:nvSpPr>
          <p:spPr>
            <a:xfrm>
              <a:off x="4564722" y="3443777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DD33F03-30E6-EB06-8FCD-B6EB1717759C}"/>
                </a:ext>
              </a:extLst>
            </p:cNvPr>
            <p:cNvSpPr/>
            <p:nvPr/>
          </p:nvSpPr>
          <p:spPr>
            <a:xfrm>
              <a:off x="4868094" y="3764663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4B9B577-6EE2-A712-053B-890179A4B6CE}"/>
                </a:ext>
              </a:extLst>
            </p:cNvPr>
            <p:cNvSpPr/>
            <p:nvPr/>
          </p:nvSpPr>
          <p:spPr>
            <a:xfrm>
              <a:off x="4137664" y="4115142"/>
              <a:ext cx="162018" cy="1620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de-DE" sz="1575">
                <a:solidFill>
                  <a:schemeClr val="tx1"/>
                </a:solidFill>
              </a:endParaRPr>
            </a:p>
          </p:txBody>
        </p:sp>
      </p:grpSp>
      <p:sp>
        <p:nvSpPr>
          <p:cNvPr id="9" name="Google Shape;1534;g60be7dcf1c_0_434">
            <a:extLst>
              <a:ext uri="{FF2B5EF4-FFF2-40B4-BE49-F238E27FC236}">
                <a16:creationId xmlns:a16="http://schemas.microsoft.com/office/drawing/2014/main" id="{EDCBC46D-3FEE-7C15-3E78-2A036A8902BD}"/>
              </a:ext>
            </a:extLst>
          </p:cNvPr>
          <p:cNvSpPr txBox="1"/>
          <p:nvPr/>
        </p:nvSpPr>
        <p:spPr>
          <a:xfrm>
            <a:off x="4524517" y="5323290"/>
            <a:ext cx="607375" cy="319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lnSpc>
                <a:spcPct val="114999"/>
              </a:lnSpc>
            </a:pPr>
            <a:r>
              <a:rPr lang="en-GB" sz="18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onsolas"/>
              </a:rPr>
              <a:t>K=0</a:t>
            </a:r>
            <a:endParaRPr lang="en-US" sz="180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Image result for fast forward">
            <a:extLst>
              <a:ext uri="{FF2B5EF4-FFF2-40B4-BE49-F238E27FC236}">
                <a16:creationId xmlns:a16="http://schemas.microsoft.com/office/drawing/2014/main" id="{257DC682-762B-9CB1-D867-3943ECBAF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494" y="4870757"/>
            <a:ext cx="356482" cy="35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Image result for fast forward">
            <a:extLst>
              <a:ext uri="{FF2B5EF4-FFF2-40B4-BE49-F238E27FC236}">
                <a16:creationId xmlns:a16="http://schemas.microsoft.com/office/drawing/2014/main" id="{1612EBFE-4FCF-B42F-CD1C-7D35D519A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209" y="4870757"/>
            <a:ext cx="356482" cy="35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534;g60be7dcf1c_0_434">
            <a:extLst>
              <a:ext uri="{FF2B5EF4-FFF2-40B4-BE49-F238E27FC236}">
                <a16:creationId xmlns:a16="http://schemas.microsoft.com/office/drawing/2014/main" id="{167A78BC-6206-C854-CECC-C3CC79A80478}"/>
              </a:ext>
            </a:extLst>
          </p:cNvPr>
          <p:cNvSpPr txBox="1"/>
          <p:nvPr/>
        </p:nvSpPr>
        <p:spPr>
          <a:xfrm>
            <a:off x="6128345" y="5359575"/>
            <a:ext cx="607375" cy="319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</a:pPr>
            <a:r>
              <a:rPr lang="en-GB" sz="18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onsolas"/>
              </a:rPr>
              <a:t>K=1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onsolas"/>
              </a:rPr>
              <a:t> </a:t>
            </a:r>
            <a:endParaRPr lang="en-US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534;g60be7dcf1c_0_434">
            <a:extLst>
              <a:ext uri="{FF2B5EF4-FFF2-40B4-BE49-F238E27FC236}">
                <a16:creationId xmlns:a16="http://schemas.microsoft.com/office/drawing/2014/main" id="{B66B681B-8504-259B-F59C-59038A3E76A6}"/>
              </a:ext>
            </a:extLst>
          </p:cNvPr>
          <p:cNvSpPr txBox="1"/>
          <p:nvPr/>
        </p:nvSpPr>
        <p:spPr>
          <a:xfrm>
            <a:off x="7768458" y="5359574"/>
            <a:ext cx="607375" cy="319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</a:pPr>
            <a:r>
              <a:rPr lang="en-GB" sz="18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onsolas"/>
              </a:rPr>
              <a:t>K=2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  <a:sym typeface="Consolas"/>
              </a:rPr>
              <a:t> </a:t>
            </a:r>
            <a:endParaRPr lang="en-US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Google Shape;1534;g60be7dcf1c_0_434">
            <a:extLst>
              <a:ext uri="{FF2B5EF4-FFF2-40B4-BE49-F238E27FC236}">
                <a16:creationId xmlns:a16="http://schemas.microsoft.com/office/drawing/2014/main" id="{F62A4785-7D58-555D-1769-A3CCCF7C302B}"/>
              </a:ext>
            </a:extLst>
          </p:cNvPr>
          <p:cNvSpPr txBox="1"/>
          <p:nvPr/>
        </p:nvSpPr>
        <p:spPr>
          <a:xfrm>
            <a:off x="1404980" y="5660580"/>
            <a:ext cx="1006517" cy="319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</a:pPr>
            <a:r>
              <a:rPr lang="en-US" sz="1800" dirty="0">
                <a:solidFill>
                  <a:schemeClr val="dk1"/>
                </a:solidFill>
              </a:rPr>
              <a:t>K=0,1,2,...</a:t>
            </a:r>
          </a:p>
        </p:txBody>
      </p:sp>
      <p:sp>
        <p:nvSpPr>
          <p:cNvPr id="16" name="Google Shape;1534;g60be7dcf1c_0_434">
            <a:extLst>
              <a:ext uri="{FF2B5EF4-FFF2-40B4-BE49-F238E27FC236}">
                <a16:creationId xmlns:a16="http://schemas.microsoft.com/office/drawing/2014/main" id="{963C189F-96E2-55FE-AC71-27C68A3049B8}"/>
              </a:ext>
            </a:extLst>
          </p:cNvPr>
          <p:cNvSpPr txBox="1"/>
          <p:nvPr/>
        </p:nvSpPr>
        <p:spPr>
          <a:xfrm>
            <a:off x="291187" y="3362824"/>
            <a:ext cx="4494822" cy="94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8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reconfiguration approaches:</a:t>
            </a:r>
            <a:br>
              <a:rPr lang="en-GB" sz="18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800" b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r>
              <a:rPr lang="en-GB" sz="180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One-shot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before collective operations</a:t>
            </a:r>
            <a:endParaRPr lang="en-US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Google Shape;1534;g60be7dcf1c_0_434">
            <a:extLst>
              <a:ext uri="{FF2B5EF4-FFF2-40B4-BE49-F238E27FC236}">
                <a16:creationId xmlns:a16="http://schemas.microsoft.com/office/drawing/2014/main" id="{D200A8CA-AE19-36D0-CD95-D3242555A41E}"/>
              </a:ext>
            </a:extLst>
          </p:cNvPr>
          <p:cNvSpPr txBox="1"/>
          <p:nvPr/>
        </p:nvSpPr>
        <p:spPr>
          <a:xfrm>
            <a:off x="4376365" y="3903343"/>
            <a:ext cx="4109940" cy="742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</a:pPr>
            <a:r>
              <a:rPr lang="en-GB" sz="180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Dynamic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between each collective phases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837B08E-4FC7-3E48-6664-5ADBEF4DE660}"/>
              </a:ext>
            </a:extLst>
          </p:cNvPr>
          <p:cNvGrpSpPr/>
          <p:nvPr/>
        </p:nvGrpSpPr>
        <p:grpSpPr>
          <a:xfrm>
            <a:off x="5055167" y="1856304"/>
            <a:ext cx="3393562" cy="988416"/>
            <a:chOff x="356280" y="4557032"/>
            <a:chExt cx="4811941" cy="1401537"/>
          </a:xfrm>
        </p:grpSpPr>
        <p:pic>
          <p:nvPicPr>
            <p:cNvPr id="83" name="Picture 82" descr="A grid with red squares&#10;&#10;AI-generated content may be incorrect.">
              <a:extLst>
                <a:ext uri="{FF2B5EF4-FFF2-40B4-BE49-F238E27FC236}">
                  <a16:creationId xmlns:a16="http://schemas.microsoft.com/office/drawing/2014/main" id="{11F0C1CD-8835-9CC8-955E-B23379300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23381" y="4575176"/>
              <a:ext cx="1344840" cy="1372507"/>
            </a:xfrm>
            <a:prstGeom prst="rect">
              <a:avLst/>
            </a:prstGeom>
          </p:spPr>
        </p:pic>
        <p:pic>
          <p:nvPicPr>
            <p:cNvPr id="84" name="Picture 83" descr="A grid with red squares&#10;&#10;AI-generated content may be incorrect.">
              <a:extLst>
                <a:ext uri="{FF2B5EF4-FFF2-40B4-BE49-F238E27FC236}">
                  <a16:creationId xmlns:a16="http://schemas.microsoft.com/office/drawing/2014/main" id="{DB7AEAF0-D1D4-1377-0F2C-9CADBB952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6280" y="4576989"/>
              <a:ext cx="1352097" cy="1379765"/>
            </a:xfrm>
            <a:prstGeom prst="rect">
              <a:avLst/>
            </a:prstGeom>
          </p:spPr>
        </p:pic>
        <p:pic>
          <p:nvPicPr>
            <p:cNvPr id="85" name="Picture 84" descr="A grid with red squares&#10;&#10;AI-generated content may be incorrect.">
              <a:extLst>
                <a:ext uri="{FF2B5EF4-FFF2-40B4-BE49-F238E27FC236}">
                  <a16:creationId xmlns:a16="http://schemas.microsoft.com/office/drawing/2014/main" id="{64331947-EDD9-4ACF-5339-E9A89BBB1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92554" y="4557032"/>
              <a:ext cx="1373869" cy="14015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4197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1E455-A11D-888E-EA15-72175FECA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5075B4-1D9A-C110-AEED-920307D0A69B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 problem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C8580856-7206-432A-C6AC-0C4C7056E1CC}"/>
                  </a:ext>
                </a:extLst>
              </p:cNvPr>
              <p:cNvSpPr txBox="1"/>
              <p:nvPr/>
            </p:nvSpPr>
            <p:spPr>
              <a:xfrm>
                <a:off x="294577" y="774700"/>
                <a:ext cx="7315200" cy="4635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Reconfiguration is </a:t>
                </a:r>
                <a: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global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: every node waits for a delay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(µs … </a:t>
                </a:r>
                <a:r>
                  <a:rPr lang="en-GB" dirty="0" err="1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ms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)</a:t>
                </a:r>
              </a:p>
              <a:p>
                <a:pPr>
                  <a:lnSpc>
                    <a:spcPct val="125000"/>
                  </a:lnSpc>
                </a:pPr>
                <a:b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C8580856-7206-432A-C6AC-0C4C7056E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77" y="774700"/>
                <a:ext cx="7315200" cy="4635500"/>
              </a:xfrm>
              <a:prstGeom prst="rect">
                <a:avLst/>
              </a:prstGeom>
              <a:blipFill>
                <a:blip r:embed="rId2"/>
                <a:stretch>
                  <a:fillRect l="-1917" t="-92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2642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6B300-0394-C8B9-14AC-BE49B7091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CF9F79-DD16-D0A2-4A31-30E10D547138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 problem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DE5C3F53-F791-66F1-D5F2-7756A6FB5F15}"/>
                  </a:ext>
                </a:extLst>
              </p:cNvPr>
              <p:cNvSpPr txBox="1"/>
              <p:nvPr/>
            </p:nvSpPr>
            <p:spPr>
              <a:xfrm>
                <a:off x="294577" y="774700"/>
                <a:ext cx="7315200" cy="4635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Reconfiguration is </a:t>
                </a:r>
                <a: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global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: every node waits for a delay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(µs … </a:t>
                </a:r>
                <a:r>
                  <a:rPr lang="en-GB" dirty="0" err="1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ms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)</a:t>
                </a:r>
              </a:p>
              <a:p>
                <a:pPr>
                  <a:lnSpc>
                    <a:spcPct val="125000"/>
                  </a:lnSpc>
                </a:pPr>
                <a:b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1 Matching: no</a:t>
                </a:r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connected topology + </a:t>
                </a:r>
                <a:r>
                  <a:rPr lang="en-GB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every-step</a:t>
                </a:r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reconfigurations</a:t>
                </a:r>
                <a:b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DE5C3F53-F791-66F1-D5F2-7756A6FB5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77" y="774700"/>
                <a:ext cx="7315200" cy="4635500"/>
              </a:xfrm>
              <a:prstGeom prst="rect">
                <a:avLst/>
              </a:prstGeom>
              <a:blipFill>
                <a:blip r:embed="rId2"/>
                <a:stretch>
                  <a:fillRect l="-1917" t="-92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A32722D-F033-BC2B-5289-DD0286BE5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01" y="2533681"/>
            <a:ext cx="7218767" cy="2235169"/>
          </a:xfrm>
          <a:prstGeom prst="rect">
            <a:avLst/>
          </a:prstGeom>
        </p:spPr>
      </p:pic>
      <p:sp>
        <p:nvSpPr>
          <p:cNvPr id="7" name="TextBox 20">
            <a:extLst>
              <a:ext uri="{FF2B5EF4-FFF2-40B4-BE49-F238E27FC236}">
                <a16:creationId xmlns:a16="http://schemas.microsoft.com/office/drawing/2014/main" id="{F316E3CF-E221-32ED-2F0D-955A7A99C89A}"/>
              </a:ext>
            </a:extLst>
          </p:cNvPr>
          <p:cNvSpPr txBox="1"/>
          <p:nvPr/>
        </p:nvSpPr>
        <p:spPr>
          <a:xfrm>
            <a:off x="1119980" y="4400030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0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632300D-E678-B726-0EA7-EF94A95CDD1E}"/>
              </a:ext>
            </a:extLst>
          </p:cNvPr>
          <p:cNvSpPr txBox="1"/>
          <p:nvPr/>
        </p:nvSpPr>
        <p:spPr>
          <a:xfrm>
            <a:off x="3604353" y="4400030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F61135E8-5EC6-DC4C-FB1B-E70CFBE0FFB6}"/>
              </a:ext>
            </a:extLst>
          </p:cNvPr>
          <p:cNvSpPr txBox="1"/>
          <p:nvPr/>
        </p:nvSpPr>
        <p:spPr>
          <a:xfrm>
            <a:off x="5966298" y="4400030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2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165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E9D42-825B-B54D-CC00-BE29C24B7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533C11-12FA-2133-1976-C35FF3ECEDA5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 problem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6FAEFEDE-FA3C-044B-4BB8-47F30684E2EF}"/>
                  </a:ext>
                </a:extLst>
              </p:cNvPr>
              <p:cNvSpPr txBox="1"/>
              <p:nvPr/>
            </p:nvSpPr>
            <p:spPr>
              <a:xfrm>
                <a:off x="294577" y="774700"/>
                <a:ext cx="7315200" cy="4635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Reconfiguration is </a:t>
                </a:r>
                <a: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global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: every node waits for a delay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(µs … </a:t>
                </a:r>
                <a:r>
                  <a:rPr lang="en-GB" dirty="0" err="1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ms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)</a:t>
                </a:r>
              </a:p>
              <a:p>
                <a:pPr>
                  <a:lnSpc>
                    <a:spcPct val="125000"/>
                  </a:lnSpc>
                </a:pPr>
                <a:b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1 Matching: no</a:t>
                </a:r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connected topology + </a:t>
                </a:r>
                <a:r>
                  <a:rPr lang="en-GB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every-step</a:t>
                </a:r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reconfigurations</a:t>
                </a:r>
                <a:b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2 Matchings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: OCS with </a:t>
                </a:r>
                <a:r>
                  <a:rPr lang="en-GB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2n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ports = every node keeps </a:t>
                </a:r>
                <a: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degree two</a:t>
                </a:r>
                <a:b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	 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</a:t>
                </a:r>
                <a: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feasible topologies are </a:t>
                </a:r>
                <a: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rings</a:t>
                </a:r>
                <a:b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5000"/>
                  </a:lnSpc>
                </a:pPr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6FAEFEDE-FA3C-044B-4BB8-47F30684E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77" y="774700"/>
                <a:ext cx="7315200" cy="4635500"/>
              </a:xfrm>
              <a:prstGeom prst="rect">
                <a:avLst/>
              </a:prstGeom>
              <a:blipFill>
                <a:blip r:embed="rId2"/>
                <a:stretch>
                  <a:fillRect l="-1917" t="-92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2741E90-C365-9D19-43B3-7B891DE5B279}"/>
              </a:ext>
            </a:extLst>
          </p:cNvPr>
          <p:cNvGrpSpPr/>
          <p:nvPr/>
        </p:nvGrpSpPr>
        <p:grpSpPr>
          <a:xfrm>
            <a:off x="1658277" y="2729996"/>
            <a:ext cx="7017825" cy="2597652"/>
            <a:chOff x="808418" y="2730500"/>
            <a:chExt cx="7017825" cy="259765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21638DE-BF48-ACFF-2757-D465BD3F9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8418" y="2984500"/>
              <a:ext cx="6663563" cy="1955799"/>
            </a:xfrm>
            <a:prstGeom prst="rect">
              <a:avLst/>
            </a:prstGeom>
          </p:spPr>
        </p:pic>
        <p:sp>
          <p:nvSpPr>
            <p:cNvPr id="7" name="TextBox 20">
              <a:extLst>
                <a:ext uri="{FF2B5EF4-FFF2-40B4-BE49-F238E27FC236}">
                  <a16:creationId xmlns:a16="http://schemas.microsoft.com/office/drawing/2014/main" id="{5828B42A-EB4B-E8D8-3C5B-09524A3B1FA8}"/>
                </a:ext>
              </a:extLst>
            </p:cNvPr>
            <p:cNvSpPr txBox="1"/>
            <p:nvPr/>
          </p:nvSpPr>
          <p:spPr>
            <a:xfrm>
              <a:off x="1271140" y="5021842"/>
              <a:ext cx="1770894" cy="3058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lang="en-GB" dirty="0"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rPr>
                <a:t>Ring topology</a:t>
              </a:r>
              <a:endParaRPr lang="en-GB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20">
              <a:extLst>
                <a:ext uri="{FF2B5EF4-FFF2-40B4-BE49-F238E27FC236}">
                  <a16:creationId xmlns:a16="http://schemas.microsoft.com/office/drawing/2014/main" id="{7FE3B205-9238-1F30-5A0A-5F47275BC29A}"/>
                </a:ext>
              </a:extLst>
            </p:cNvPr>
            <p:cNvSpPr txBox="1"/>
            <p:nvPr/>
          </p:nvSpPr>
          <p:spPr>
            <a:xfrm>
              <a:off x="3396296" y="5022346"/>
              <a:ext cx="1770894" cy="3058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lang="en-GB" dirty="0"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rPr>
                <a:t>Small subrings</a:t>
              </a:r>
              <a:endParaRPr lang="en-GB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80AE2F-8100-E10D-D8C8-72E3A3C8F491}"/>
                </a:ext>
              </a:extLst>
            </p:cNvPr>
            <p:cNvSpPr/>
            <p:nvPr/>
          </p:nvSpPr>
          <p:spPr>
            <a:xfrm>
              <a:off x="5167190" y="2730500"/>
              <a:ext cx="2659053" cy="25971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42486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4FB22-318D-FC84-F879-DA3637AB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DE9EAB-D92F-3E1D-6077-8FDDC64DC6CC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 problem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0D211348-C8B2-B7D9-BCD9-8D7AB0DA0461}"/>
                  </a:ext>
                </a:extLst>
              </p:cNvPr>
              <p:cNvSpPr txBox="1"/>
              <p:nvPr/>
            </p:nvSpPr>
            <p:spPr>
              <a:xfrm>
                <a:off x="294577" y="774700"/>
                <a:ext cx="7315200" cy="4635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Reconfiguration is </a:t>
                </a:r>
                <a: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global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: every node waits for a delay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(µs … </a:t>
                </a:r>
                <a:r>
                  <a:rPr lang="en-GB" dirty="0" err="1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ms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)</a:t>
                </a:r>
              </a:p>
              <a:p>
                <a:pPr>
                  <a:lnSpc>
                    <a:spcPct val="125000"/>
                  </a:lnSpc>
                </a:pPr>
                <a:b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1 Matching: no connected topology + </a:t>
                </a:r>
                <a:r>
                  <a:rPr lang="en-GB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every-step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reconfigurations</a:t>
                </a:r>
                <a:b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2 Matchings: OCS with </a:t>
                </a:r>
                <a:r>
                  <a:rPr lang="en-GB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2n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ports = every node keeps </a:t>
                </a:r>
                <a: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degree two</a:t>
                </a:r>
                <a:b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	 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</a:t>
                </a:r>
                <a: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feasible topologies are </a:t>
                </a:r>
                <a: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rings</a:t>
                </a:r>
                <a:b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endParaRPr lang="en-GB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  <a:sym typeface="Consolas"/>
                  </a:rPr>
                  <a:t>Following number of reconfigurations:</a:t>
                </a:r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1 Matching with s phases ⇒ 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rgbClr val="C50C1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𝑠</m:t>
                    </m:r>
                    <m:r>
                      <a:rPr lang="de-DE" b="0" i="1" smtClean="0">
                        <a:solidFill>
                          <a:srgbClr val="C50C1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−1 </m:t>
                    </m:r>
                  </m:oMath>
                </a14:m>
                <a:r>
                  <a:rPr lang="en-GB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reconfigurations </a:t>
                </a:r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de-DE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s</m:t>
                        </m:r>
                        <m:r>
                          <a:rPr lang="de-DE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−1</m:t>
                        </m:r>
                      </m:e>
                    </m:d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∙</m:t>
                    </m:r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endParaRPr lang="en-GB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2 Matchings ⇒ reusable topology states</a:t>
                </a:r>
                <a:b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			 </a:t>
                </a:r>
                <a:r>
                  <a:rPr lang="en-GB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number of reconfigurations </a:t>
                </a:r>
                <a14:m>
                  <m:oMath xmlns:m="http://schemas.openxmlformats.org/officeDocument/2006/math">
                    <m:r>
                      <a:rPr lang="en-GB" i="1" smtClean="0">
                        <a:solidFill>
                          <a:srgbClr val="C50C1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∈</m:t>
                    </m:r>
                    <m:r>
                      <a:rPr lang="de-DE" b="0" i="1" smtClean="0">
                        <a:solidFill>
                          <a:srgbClr val="C50C1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de-DE" b="0" i="1" smtClean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dPr>
                      <m:e>
                        <m:r>
                          <a:rPr lang="de-DE" b="0" i="1" smtClean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0,…,</m:t>
                        </m:r>
                        <m:r>
                          <a:rPr lang="de-DE" b="0" i="1" smtClean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−1</m:t>
                        </m:r>
                      </m:e>
                    </m:d>
                  </m:oMath>
                </a14:m>
                <a:r>
                  <a:rPr lang="en-GB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</a:t>
                </a:r>
                <a:endParaRPr lang="en-GB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</a:t>
                </a:r>
              </a:p>
              <a:p>
                <a:pPr>
                  <a:lnSpc>
                    <a:spcPct val="125000"/>
                  </a:lnSpc>
                </a:pPr>
                <a:r>
                  <a:rPr lang="en-GB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Observation: 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1. </a:t>
                </a:r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fewer phases require fewer reconfigurations</a:t>
                </a:r>
              </a:p>
              <a:p>
                <a:pPr>
                  <a:lnSpc>
                    <a:spcPct val="125000"/>
                  </a:lnSpc>
                </a:pP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			2. reusable reconfiguration states </a:t>
                </a:r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amortized better</a:t>
                </a:r>
              </a:p>
              <a:p>
                <a:pPr>
                  <a:lnSpc>
                    <a:spcPct val="125000"/>
                  </a:lnSpc>
                </a:pPr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0D211348-C8B2-B7D9-BCD9-8D7AB0DA0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577" y="774700"/>
                <a:ext cx="7315200" cy="4635500"/>
              </a:xfrm>
              <a:prstGeom prst="rect">
                <a:avLst/>
              </a:prstGeom>
              <a:blipFill>
                <a:blip r:embed="rId2"/>
                <a:stretch>
                  <a:fillRect l="-1917" t="-92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1021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ACD9C-3BB0-1F99-C49B-DD9E55B5E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19898F-4BC1-E6A9-F956-0D1ED324FA2F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in reconfigurable All-to-All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18D62965-AA22-94E5-15B9-AC08B938094F}"/>
              </a:ext>
            </a:extLst>
          </p:cNvPr>
          <p:cNvSpPr txBox="1"/>
          <p:nvPr/>
        </p:nvSpPr>
        <p:spPr>
          <a:xfrm>
            <a:off x="256477" y="933450"/>
            <a:ext cx="7315200" cy="4635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Pairwise A2A: each node sends block </a:t>
            </a:r>
            <a:r>
              <a:rPr lang="en-GB" dirty="0">
                <a:solidFill>
                  <a:srgbClr val="C50C1E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directly</a:t>
            </a: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to its destination</a:t>
            </a:r>
          </a:p>
        </p:txBody>
      </p:sp>
    </p:spTree>
    <p:extLst>
      <p:ext uri="{BB962C8B-B14F-4D97-AF65-F5344CB8AC3E}">
        <p14:creationId xmlns:p14="http://schemas.microsoft.com/office/powerpoint/2010/main" val="3380672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B6E00-C4A6-8E5A-7F7F-0D8EC163E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24ABB4-914B-0767-4CE3-A679A95EAE06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in reconfigurable All-to-All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1B8E4575-E97E-00DA-AF0A-89DDF02B99FB}"/>
              </a:ext>
            </a:extLst>
          </p:cNvPr>
          <p:cNvSpPr txBox="1"/>
          <p:nvPr/>
        </p:nvSpPr>
        <p:spPr>
          <a:xfrm>
            <a:off x="269222" y="933450"/>
            <a:ext cx="7315200" cy="4635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Pairwise A2A: each node sends block </a:t>
            </a:r>
            <a:r>
              <a:rPr lang="en-GB" dirty="0">
                <a:solidFill>
                  <a:srgbClr val="C50C1E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directly</a:t>
            </a: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to its destination</a:t>
            </a:r>
          </a:p>
          <a:p>
            <a:pPr>
              <a:lnSpc>
                <a:spcPct val="125000"/>
              </a:lnSpc>
            </a:pPr>
            <a:endParaRPr lang="en-GB" dirty="0"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Option 1: </a:t>
            </a:r>
            <a:r>
              <a:rPr lang="en-GB" dirty="0">
                <a:solidFill>
                  <a:srgbClr val="C50C1E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one step </a:t>
            </a: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with all simultaneous communication</a:t>
            </a:r>
            <a:b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b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8C8D44-0486-F49A-E11F-D58517009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011" y="2335796"/>
            <a:ext cx="2371695" cy="2186407"/>
          </a:xfrm>
          <a:prstGeom prst="rect">
            <a:avLst/>
          </a:prstGeom>
        </p:spPr>
      </p:pic>
      <p:sp>
        <p:nvSpPr>
          <p:cNvPr id="18" name="TextBox 20">
            <a:extLst>
              <a:ext uri="{FF2B5EF4-FFF2-40B4-BE49-F238E27FC236}">
                <a16:creationId xmlns:a16="http://schemas.microsoft.com/office/drawing/2014/main" id="{3C4FCF44-0EA2-D0E8-62AF-C4FB5ACBC638}"/>
              </a:ext>
            </a:extLst>
          </p:cNvPr>
          <p:cNvSpPr txBox="1"/>
          <p:nvPr/>
        </p:nvSpPr>
        <p:spPr>
          <a:xfrm>
            <a:off x="3402812" y="4411741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Transmissions from node 0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73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EBCEE-8272-7906-ADD5-75DD1ED43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CF12DE-8E8F-6481-3EFB-5EC4C9358698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in reconfigurable All-to-All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BEC8F9E1-F2CA-4A79-B729-26D2C0EE022B}"/>
                  </a:ext>
                </a:extLst>
              </p:cNvPr>
              <p:cNvSpPr txBox="1"/>
              <p:nvPr/>
            </p:nvSpPr>
            <p:spPr>
              <a:xfrm>
                <a:off x="256477" y="933450"/>
                <a:ext cx="7315200" cy="2413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Pairwise A2A: each node sends block </a:t>
                </a:r>
                <a:r>
                  <a:rPr lang="en-GB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directly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to its destination</a:t>
                </a:r>
              </a:p>
              <a:p>
                <a:pPr>
                  <a:lnSpc>
                    <a:spcPct val="125000"/>
                  </a:lnSpc>
                </a:pPr>
                <a:endParaRPr lang="en-GB" dirty="0"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Option 1: </a:t>
                </a:r>
                <a:r>
                  <a:rPr lang="en-GB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one step 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with all simultaneous communication</a:t>
                </a:r>
                <a:b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b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Option 2: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b="0" i="1" smtClean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fPr>
                      <m:num>
                        <m:r>
                          <a:rPr lang="de-DE" b="0" i="1" smtClean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𝑛</m:t>
                        </m:r>
                      </m:num>
                      <m:den>
                        <m:r>
                          <a:rPr lang="de-DE" b="0" i="1" smtClean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steps 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with</a:t>
                </a:r>
                <a:r>
                  <a:rPr lang="en-GB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single block transmissions</a:t>
                </a:r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BEC8F9E1-F2CA-4A79-B729-26D2C0EE0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77" y="933450"/>
                <a:ext cx="7315200" cy="2413000"/>
              </a:xfrm>
              <a:prstGeom prst="rect">
                <a:avLst/>
              </a:prstGeom>
              <a:blipFill>
                <a:blip r:embed="rId2"/>
                <a:stretch>
                  <a:fillRect l="-1917" t="-176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0CBAC43-C19A-C5A7-0CED-8C4BCB438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902468"/>
            <a:ext cx="8391444" cy="2063718"/>
          </a:xfrm>
          <a:prstGeom prst="rect">
            <a:avLst/>
          </a:prstGeom>
        </p:spPr>
      </p:pic>
      <p:sp>
        <p:nvSpPr>
          <p:cNvPr id="8" name="TextBox 20">
            <a:extLst>
              <a:ext uri="{FF2B5EF4-FFF2-40B4-BE49-F238E27FC236}">
                <a16:creationId xmlns:a16="http://schemas.microsoft.com/office/drawing/2014/main" id="{8D7B9EF2-4FCD-5295-2A4A-F0D02070FCEE}"/>
              </a:ext>
            </a:extLst>
          </p:cNvPr>
          <p:cNvSpPr txBox="1"/>
          <p:nvPr/>
        </p:nvSpPr>
        <p:spPr>
          <a:xfrm>
            <a:off x="980280" y="4813283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Step 0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34DCE6F3-3CDA-DD62-63B2-33925506F9E0}"/>
              </a:ext>
            </a:extLst>
          </p:cNvPr>
          <p:cNvSpPr txBox="1"/>
          <p:nvPr/>
        </p:nvSpPr>
        <p:spPr>
          <a:xfrm>
            <a:off x="2903574" y="4812780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Step 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1E9403E4-CC84-3A4D-D208-F1355DA3DA7A}"/>
              </a:ext>
            </a:extLst>
          </p:cNvPr>
          <p:cNvSpPr txBox="1"/>
          <p:nvPr/>
        </p:nvSpPr>
        <p:spPr>
          <a:xfrm>
            <a:off x="4992724" y="4812780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Step 2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27E3EECF-DE7D-880E-F3CA-4BA9E5E20996}"/>
              </a:ext>
            </a:extLst>
          </p:cNvPr>
          <p:cNvSpPr txBox="1"/>
          <p:nvPr/>
        </p:nvSpPr>
        <p:spPr>
          <a:xfrm>
            <a:off x="7033003" y="4812277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Step 3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486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C13D8-AD33-DCD0-D289-9A6413C8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E9A177-101A-0456-F495-C785EC9B4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902468"/>
            <a:ext cx="8391444" cy="2063718"/>
          </a:xfrm>
          <a:prstGeom prst="rect">
            <a:avLst/>
          </a:prstGeom>
        </p:spPr>
      </p:pic>
      <p:sp>
        <p:nvSpPr>
          <p:cNvPr id="8" name="TextBox 20">
            <a:extLst>
              <a:ext uri="{FF2B5EF4-FFF2-40B4-BE49-F238E27FC236}">
                <a16:creationId xmlns:a16="http://schemas.microsoft.com/office/drawing/2014/main" id="{92EAE2CF-49E6-96C4-6AC8-C2F808D1A60B}"/>
              </a:ext>
            </a:extLst>
          </p:cNvPr>
          <p:cNvSpPr txBox="1"/>
          <p:nvPr/>
        </p:nvSpPr>
        <p:spPr>
          <a:xfrm>
            <a:off x="980280" y="4813283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Step 0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1CB5AFA6-1BFB-5E67-928B-8D71EDE81FDF}"/>
              </a:ext>
            </a:extLst>
          </p:cNvPr>
          <p:cNvSpPr txBox="1"/>
          <p:nvPr/>
        </p:nvSpPr>
        <p:spPr>
          <a:xfrm>
            <a:off x="2903574" y="4812780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Step 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1FA2927C-E7F8-F9C3-68CD-245E7B55075D}"/>
              </a:ext>
            </a:extLst>
          </p:cNvPr>
          <p:cNvSpPr txBox="1"/>
          <p:nvPr/>
        </p:nvSpPr>
        <p:spPr>
          <a:xfrm>
            <a:off x="4992724" y="4812780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Step 2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405BF1A4-35FB-C199-CF79-0A63B665D0F4}"/>
              </a:ext>
            </a:extLst>
          </p:cNvPr>
          <p:cNvSpPr txBox="1"/>
          <p:nvPr/>
        </p:nvSpPr>
        <p:spPr>
          <a:xfrm>
            <a:off x="7033003" y="4812277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Step 3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4A300-3A4B-1960-914F-C198D71B33DD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in reconfigurable All-to-All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7A146549-4379-9865-3D41-7027D28E8CBC}"/>
                  </a:ext>
                </a:extLst>
              </p:cNvPr>
              <p:cNvSpPr txBox="1"/>
              <p:nvPr/>
            </p:nvSpPr>
            <p:spPr>
              <a:xfrm>
                <a:off x="256477" y="933450"/>
                <a:ext cx="7315200" cy="4635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Pairwise A2A: each node sends block </a:t>
                </a:r>
                <a:r>
                  <a:rPr lang="en-GB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directly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to its destination</a:t>
                </a:r>
              </a:p>
              <a:p>
                <a:pPr>
                  <a:lnSpc>
                    <a:spcPct val="125000"/>
                  </a:lnSpc>
                </a:pPr>
                <a:endParaRPr lang="en-GB" dirty="0"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Option 1: </a:t>
                </a:r>
                <a:r>
                  <a:rPr lang="en-GB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one step 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with all simultaneous communication</a:t>
                </a:r>
                <a:b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b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</a:b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Option 2: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fPr>
                      <m:num>
                        <m:r>
                          <a:rPr lang="de-DE" i="1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𝑛</m:t>
                        </m:r>
                      </m:num>
                      <m:den>
                        <m:r>
                          <a:rPr lang="de-DE" i="1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steps 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single block transmission</a:t>
                </a:r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0">
                <a:extLst>
                  <a:ext uri="{FF2B5EF4-FFF2-40B4-BE49-F238E27FC236}">
                    <a16:creationId xmlns:a16="http://schemas.microsoft.com/office/drawing/2014/main" id="{7A146549-4379-9865-3D41-7027D28E8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77" y="933450"/>
                <a:ext cx="7315200" cy="4635500"/>
              </a:xfrm>
              <a:prstGeom prst="rect">
                <a:avLst/>
              </a:prstGeom>
              <a:blipFill>
                <a:blip r:embed="rId3"/>
                <a:stretch>
                  <a:fillRect l="-1917" t="-92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F39A6C4-0460-5BE8-170C-8B7D246A5A49}"/>
              </a:ext>
            </a:extLst>
          </p:cNvPr>
          <p:cNvGrpSpPr/>
          <p:nvPr/>
        </p:nvGrpSpPr>
        <p:grpSpPr>
          <a:xfrm>
            <a:off x="458685" y="3318156"/>
            <a:ext cx="8112170" cy="1648009"/>
            <a:chOff x="508870" y="3419217"/>
            <a:chExt cx="6468314" cy="131405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79201EA-C798-63C5-F0D1-0B3C566FF80C}"/>
                </a:ext>
              </a:extLst>
            </p:cNvPr>
            <p:cNvSpPr/>
            <p:nvPr/>
          </p:nvSpPr>
          <p:spPr>
            <a:xfrm>
              <a:off x="508870" y="3419217"/>
              <a:ext cx="6468314" cy="1314055"/>
            </a:xfrm>
            <a:prstGeom prst="rect">
              <a:avLst/>
            </a:prstGeom>
            <a:solidFill>
              <a:srgbClr val="FAEA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/>
                <a:t> 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1AA80F-673B-3479-B435-6C2B8CEBE6DE}"/>
                </a:ext>
              </a:extLst>
            </p:cNvPr>
            <p:cNvSpPr txBox="1"/>
            <p:nvPr/>
          </p:nvSpPr>
          <p:spPr>
            <a:xfrm>
              <a:off x="1169807" y="3746418"/>
              <a:ext cx="5706112" cy="5889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de-DE" sz="2400" b="1" i="0" dirty="0">
                  <a:solidFill>
                    <a:srgbClr val="C50C1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Observation: Both implementations are not feasible for reconfigurable networks</a:t>
              </a:r>
              <a:endParaRPr sz="2400" b="1" i="0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4131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5AA55-9D76-1B69-763E-7419C3258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13AD1D-A2D7-95B8-BF87-0ABE1FFF0366}"/>
              </a:ext>
            </a:extLst>
          </p:cNvPr>
          <p:cNvSpPr txBox="1"/>
          <p:nvPr/>
        </p:nvSpPr>
        <p:spPr>
          <a:xfrm>
            <a:off x="152400" y="10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Bruck‘s algorithm for reconfigurable networks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534;g60be7dcf1c_0_434">
                <a:extLst>
                  <a:ext uri="{FF2B5EF4-FFF2-40B4-BE49-F238E27FC236}">
                    <a16:creationId xmlns:a16="http://schemas.microsoft.com/office/drawing/2014/main" id="{C0E78601-35E8-70DF-7333-B6F571561B4D}"/>
                  </a:ext>
                </a:extLst>
              </p:cNvPr>
              <p:cNvSpPr txBox="1"/>
              <p:nvPr/>
            </p:nvSpPr>
            <p:spPr>
              <a:xfrm>
                <a:off x="381000" y="1143000"/>
                <a:ext cx="8477250" cy="13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Bruck et al. (1994): All-to-All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80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80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  <m:t>log</m:t>
                            </m:r>
                          </m:e>
                          <m:sub>
                            <m:r>
                              <a:rPr lang="de-DE" sz="18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𝑛</m:t>
                        </m:r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 </m:t>
                        </m:r>
                      </m:e>
                    </m:func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phases by aggregating blocks</a:t>
                </a:r>
              </a:p>
            </p:txBody>
          </p:sp>
        </mc:Choice>
        <mc:Fallback xmlns="">
          <p:sp>
            <p:nvSpPr>
              <p:cNvPr id="2" name="Google Shape;1534;g60be7dcf1c_0_434">
                <a:extLst>
                  <a:ext uri="{FF2B5EF4-FFF2-40B4-BE49-F238E27FC236}">
                    <a16:creationId xmlns:a16="http://schemas.microsoft.com/office/drawing/2014/main" id="{C0E78601-35E8-70DF-7333-B6F571561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43000"/>
                <a:ext cx="8477250" cy="1346200"/>
              </a:xfrm>
              <a:prstGeom prst="rect">
                <a:avLst/>
              </a:prstGeom>
              <a:blipFill>
                <a:blip r:embed="rId2"/>
                <a:stretch>
                  <a:fillRect l="-1151" t="-31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818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CA06E-167A-533D-AC33-F709FA32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06FA19-3CE7-A7F0-966F-926CB558BD4C}"/>
              </a:ext>
            </a:extLst>
          </p:cNvPr>
          <p:cNvSpPr txBox="1"/>
          <p:nvPr/>
        </p:nvSpPr>
        <p:spPr>
          <a:xfrm>
            <a:off x="152400" y="10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Bruck‘s algorithm for reconfigurable networks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534;g60be7dcf1c_0_434">
                <a:extLst>
                  <a:ext uri="{FF2B5EF4-FFF2-40B4-BE49-F238E27FC236}">
                    <a16:creationId xmlns:a16="http://schemas.microsoft.com/office/drawing/2014/main" id="{F826A4E7-C9B1-3D19-0B32-0C97CCF0FE7B}"/>
                  </a:ext>
                </a:extLst>
              </p:cNvPr>
              <p:cNvSpPr txBox="1"/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Bruck et al. (1994): All-to-All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80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80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  <m:t>log</m:t>
                            </m:r>
                          </m:e>
                          <m:sub>
                            <m:r>
                              <a:rPr lang="de-DE" sz="18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𝑛</m:t>
                        </m:r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 </m:t>
                        </m:r>
                      </m:e>
                    </m:func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phases by aggregating blocks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Built for a </a:t>
                </a:r>
                <a:r>
                  <a:rPr lang="en-GB" sz="1800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multiport message-passing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model, not for reconfigurable networks</a:t>
                </a:r>
              </a:p>
            </p:txBody>
          </p:sp>
        </mc:Choice>
        <mc:Fallback xmlns="">
          <p:sp>
            <p:nvSpPr>
              <p:cNvPr id="2" name="Google Shape;1534;g60be7dcf1c_0_434">
                <a:extLst>
                  <a:ext uri="{FF2B5EF4-FFF2-40B4-BE49-F238E27FC236}">
                    <a16:creationId xmlns:a16="http://schemas.microsoft.com/office/drawing/2014/main" id="{F826A4E7-C9B1-3D19-0B32-0C97CCF0F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blipFill>
                <a:blip r:embed="rId2"/>
                <a:stretch>
                  <a:fillRect l="-1151" t="-19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0481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94C2-7BA6-6F68-92D2-05275808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EBA85F-583A-08C7-8A81-0F0737672CFE}"/>
              </a:ext>
            </a:extLst>
          </p:cNvPr>
          <p:cNvSpPr txBox="1"/>
          <p:nvPr/>
        </p:nvSpPr>
        <p:spPr>
          <a:xfrm>
            <a:off x="152400" y="10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Bruck‘s algorithm for reconfigurable networks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534;g60be7dcf1c_0_434">
                <a:extLst>
                  <a:ext uri="{FF2B5EF4-FFF2-40B4-BE49-F238E27FC236}">
                    <a16:creationId xmlns:a16="http://schemas.microsoft.com/office/drawing/2014/main" id="{7913561E-6E1F-1309-03A5-23DE9BBB4253}"/>
                  </a:ext>
                </a:extLst>
              </p:cNvPr>
              <p:cNvSpPr txBox="1"/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Bruck et al. (1994): All-to-All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80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80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  <m:t>log</m:t>
                            </m:r>
                          </m:e>
                          <m:sub>
                            <m:r>
                              <a:rPr lang="de-DE" sz="1800" b="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de-DE" sz="1800" b="0" i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n</m:t>
                        </m:r>
                        <m:r>
                          <a:rPr lang="de-DE" sz="1800" b="0" i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 </m:t>
                        </m:r>
                      </m:e>
                    </m:func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phases by aggregating blocks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Built for a </a:t>
                </a:r>
                <a:r>
                  <a:rPr lang="en-GB" sz="1800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multiport message-passing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model, not for reconfigurable networks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Phase </a:t>
                </a:r>
                <a:r>
                  <a:rPr lang="en-GB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k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: node </a:t>
                </a:r>
                <a:r>
                  <a:rPr lang="en-GB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u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sends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u</m:t>
                    </m:r>
                    <m:r>
                      <a:rPr lang="en-GB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+</m:t>
                    </m:r>
                    <m:sSup>
                      <m:sSupPr>
                        <m:ctrlPr>
                          <a:rPr lang="de-DE" sz="18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</a:t>
                </a:r>
                <a:r>
                  <a:rPr lang="en-GB" sz="1800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one logical direction only</a:t>
                </a:r>
              </a:p>
            </p:txBody>
          </p:sp>
        </mc:Choice>
        <mc:Fallback xmlns="">
          <p:sp>
            <p:nvSpPr>
              <p:cNvPr id="2" name="Google Shape;1534;g60be7dcf1c_0_434">
                <a:extLst>
                  <a:ext uri="{FF2B5EF4-FFF2-40B4-BE49-F238E27FC236}">
                    <a16:creationId xmlns:a16="http://schemas.microsoft.com/office/drawing/2014/main" id="{7913561E-6E1F-1309-03A5-23DE9BBB4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blipFill>
                <a:blip r:embed="rId2"/>
                <a:stretch>
                  <a:fillRect l="-1151" t="-19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35B41ED-E331-64B3-DFF3-8CBFF7FD3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87" y="2832130"/>
            <a:ext cx="6455421" cy="2203450"/>
          </a:xfrm>
          <a:prstGeom prst="rect">
            <a:avLst/>
          </a:prstGeom>
        </p:spPr>
      </p:pic>
      <p:sp>
        <p:nvSpPr>
          <p:cNvPr id="9" name="TextBox 20">
            <a:extLst>
              <a:ext uri="{FF2B5EF4-FFF2-40B4-BE49-F238E27FC236}">
                <a16:creationId xmlns:a16="http://schemas.microsoft.com/office/drawing/2014/main" id="{BFECD56C-F54F-BA36-2350-136F381589C5}"/>
              </a:ext>
            </a:extLst>
          </p:cNvPr>
          <p:cNvSpPr txBox="1"/>
          <p:nvPr/>
        </p:nvSpPr>
        <p:spPr>
          <a:xfrm>
            <a:off x="1948277" y="4882677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0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721C38F3-72A0-800D-CE52-BAD3B82A804B}"/>
              </a:ext>
            </a:extLst>
          </p:cNvPr>
          <p:cNvSpPr txBox="1"/>
          <p:nvPr/>
        </p:nvSpPr>
        <p:spPr>
          <a:xfrm>
            <a:off x="4106521" y="4882174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4CBA179F-9CC7-6FF4-BCFD-C4A7EA52E50A}"/>
              </a:ext>
            </a:extLst>
          </p:cNvPr>
          <p:cNvSpPr txBox="1"/>
          <p:nvPr/>
        </p:nvSpPr>
        <p:spPr>
          <a:xfrm>
            <a:off x="6240121" y="4882677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2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585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3909B-77CF-7655-F07D-B48BA0EF7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7577786E-6380-BE18-49AA-6AB0733B32CE}"/>
              </a:ext>
            </a:extLst>
          </p:cNvPr>
          <p:cNvSpPr/>
          <p:nvPr/>
        </p:nvSpPr>
        <p:spPr>
          <a:xfrm>
            <a:off x="4009259" y="3714285"/>
            <a:ext cx="1136650" cy="1136650"/>
          </a:xfrm>
          <a:prstGeom prst="ellipse">
            <a:avLst/>
          </a:prstGeom>
          <a:solidFill>
            <a:srgbClr val="1B5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F02BD4-4BD8-6E42-B334-42077AB1F162}"/>
              </a:ext>
            </a:extLst>
          </p:cNvPr>
          <p:cNvSpPr txBox="1"/>
          <p:nvPr/>
        </p:nvSpPr>
        <p:spPr>
          <a:xfrm>
            <a:off x="152400" y="10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Bruck‘s algorithm for reconfigurable networks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534;g60be7dcf1c_0_434">
                <a:extLst>
                  <a:ext uri="{FF2B5EF4-FFF2-40B4-BE49-F238E27FC236}">
                    <a16:creationId xmlns:a16="http://schemas.microsoft.com/office/drawing/2014/main" id="{184C7462-6127-B96D-BD63-99BA280B950A}"/>
                  </a:ext>
                </a:extLst>
              </p:cNvPr>
              <p:cNvSpPr txBox="1"/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Bruck et al. (1994): All-to-All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80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80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  <m:t>log</m:t>
                            </m:r>
                          </m:e>
                          <m:sub>
                            <m:r>
                              <a:rPr lang="de-DE" sz="18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de-DE" sz="1800" b="0" i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n</m:t>
                        </m:r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 </m:t>
                        </m:r>
                      </m:e>
                    </m:func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phases by aggregating blocks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Built for a </a:t>
                </a:r>
                <a:r>
                  <a:rPr lang="en-GB" sz="1800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multiport message-passing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model, not for reconfigurable networks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Phase </a:t>
                </a:r>
                <a:r>
                  <a:rPr lang="en-GB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k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: node </a:t>
                </a:r>
                <a:r>
                  <a:rPr lang="en-GB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u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sends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u</m:t>
                    </m:r>
                    <m:r>
                      <a:rPr lang="en-GB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+</m:t>
                    </m:r>
                    <m:sSup>
                      <m:sSupPr>
                        <m:ctrlPr>
                          <a:rPr lang="de-DE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</a:t>
                </a:r>
                <a:r>
                  <a:rPr lang="en-GB" sz="1800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one logical direction only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With </a:t>
                </a:r>
                <a:r>
                  <a:rPr lang="en-GB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2n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ports: 2 sends + 2 receives </a:t>
                </a: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would require </a:t>
                </a:r>
                <a:r>
                  <a:rPr lang="en-GB" sz="1800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four links per node</a:t>
                </a:r>
              </a:p>
            </p:txBody>
          </p:sp>
        </mc:Choice>
        <mc:Fallback xmlns="">
          <p:sp>
            <p:nvSpPr>
              <p:cNvPr id="2" name="Google Shape;1534;g60be7dcf1c_0_434">
                <a:extLst>
                  <a:ext uri="{FF2B5EF4-FFF2-40B4-BE49-F238E27FC236}">
                    <a16:creationId xmlns:a16="http://schemas.microsoft.com/office/drawing/2014/main" id="{184C7462-6127-B96D-BD63-99BA280B9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blipFill>
                <a:blip r:embed="rId2"/>
                <a:stretch>
                  <a:fillRect l="-1151" t="-19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9CF46770-6689-7678-B6E0-DC06B294D155}"/>
              </a:ext>
            </a:extLst>
          </p:cNvPr>
          <p:cNvSpPr/>
          <p:nvPr/>
        </p:nvSpPr>
        <p:spPr>
          <a:xfrm>
            <a:off x="5977758" y="4529089"/>
            <a:ext cx="1136650" cy="1136650"/>
          </a:xfrm>
          <a:prstGeom prst="ellipse">
            <a:avLst/>
          </a:prstGeom>
          <a:solidFill>
            <a:srgbClr val="1B5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20">
                <a:extLst>
                  <a:ext uri="{FF2B5EF4-FFF2-40B4-BE49-F238E27FC236}">
                    <a16:creationId xmlns:a16="http://schemas.microsoft.com/office/drawing/2014/main" id="{C5889A75-D4CA-598D-1FFF-5C95C97AC316}"/>
                  </a:ext>
                </a:extLst>
              </p:cNvPr>
              <p:cNvSpPr txBox="1"/>
              <p:nvPr/>
            </p:nvSpPr>
            <p:spPr>
              <a:xfrm>
                <a:off x="6007165" y="4944511"/>
                <a:ext cx="1184779" cy="305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de-DE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nsolas"/>
                          <a:cs typeface="Arial" panose="020B0604020202020204" pitchFamily="34" charset="0"/>
                          <a:sym typeface="Consolas"/>
                        </a:rPr>
                        <m:t>𝑢</m:t>
                      </m:r>
                      <m:r>
                        <a:rPr lang="de-DE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nsolas"/>
                          <a:cs typeface="Arial" panose="020B0604020202020204" pitchFamily="34" charset="0"/>
                          <a:sym typeface="Consolas"/>
                        </a:rPr>
                        <m:t>+</m:t>
                      </m:r>
                      <m:sSup>
                        <m:sSupPr>
                          <m:ctrlPr>
                            <a:rPr lang="de-D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</m:ctrlPr>
                        </m:sSupPr>
                        <m:e>
                          <m:r>
                            <a:rPr lang="de-D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  <m:t>2</m:t>
                          </m:r>
                          <m:r>
                            <a:rPr lang="de-D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  <m:t>∙</m:t>
                          </m:r>
                          <m:r>
                            <a:rPr lang="de-D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  <m:t>3</m:t>
                          </m:r>
                        </m:e>
                        <m:sup>
                          <m:r>
                            <a:rPr lang="de-D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2" name="TextBox 20">
                <a:extLst>
                  <a:ext uri="{FF2B5EF4-FFF2-40B4-BE49-F238E27FC236}">
                    <a16:creationId xmlns:a16="http://schemas.microsoft.com/office/drawing/2014/main" id="{C5889A75-D4CA-598D-1FFF-5C95C97AC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165" y="4944511"/>
                <a:ext cx="1184779" cy="305806"/>
              </a:xfrm>
              <a:prstGeom prst="rect">
                <a:avLst/>
              </a:prstGeom>
              <a:blipFill>
                <a:blip r:embed="rId3"/>
                <a:stretch>
                  <a:fillRect b="-14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A3856318-DD0B-1DF1-9CF5-1BF253FEC8EE}"/>
              </a:ext>
            </a:extLst>
          </p:cNvPr>
          <p:cNvSpPr/>
          <p:nvPr/>
        </p:nvSpPr>
        <p:spPr>
          <a:xfrm>
            <a:off x="1737799" y="2998651"/>
            <a:ext cx="1136650" cy="1136650"/>
          </a:xfrm>
          <a:prstGeom prst="ellipse">
            <a:avLst/>
          </a:prstGeom>
          <a:solidFill>
            <a:srgbClr val="1B5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20">
                <a:extLst>
                  <a:ext uri="{FF2B5EF4-FFF2-40B4-BE49-F238E27FC236}">
                    <a16:creationId xmlns:a16="http://schemas.microsoft.com/office/drawing/2014/main" id="{E9760BF4-4352-AA51-5FD4-F1BDF4BEC710}"/>
                  </a:ext>
                </a:extLst>
              </p:cNvPr>
              <p:cNvSpPr txBox="1"/>
              <p:nvPr/>
            </p:nvSpPr>
            <p:spPr>
              <a:xfrm>
                <a:off x="1713734" y="3414073"/>
                <a:ext cx="1184779" cy="305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de-DE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nsolas"/>
                          <a:cs typeface="Arial" panose="020B0604020202020204" pitchFamily="34" charset="0"/>
                          <a:sym typeface="Consolas"/>
                        </a:rPr>
                        <m:t>𝑢</m:t>
                      </m:r>
                      <m:r>
                        <a:rPr lang="ar-AE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nsolas"/>
                          <a:cs typeface="Arial" panose="020B0604020202020204" pitchFamily="34" charset="0"/>
                          <a:sym typeface="Consolas"/>
                        </a:rPr>
                        <m:t>−</m:t>
                      </m:r>
                      <m:sSup>
                        <m:sSupPr>
                          <m:ctrlPr>
                            <a:rPr lang="ar-A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</m:ctrlPr>
                        </m:sSupPr>
                        <m:e>
                          <m:r>
                            <a:rPr lang="ar-A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  <m:t>2</m:t>
                          </m:r>
                          <m:r>
                            <a:rPr lang="ar-A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  <m:t>∙</m:t>
                          </m:r>
                          <m:r>
                            <a:rPr lang="ar-A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  <m:t>3</m:t>
                          </m:r>
                        </m:e>
                        <m:sup>
                          <m:r>
                            <a:rPr lang="ar-A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20">
                <a:extLst>
                  <a:ext uri="{FF2B5EF4-FFF2-40B4-BE49-F238E27FC236}">
                    <a16:creationId xmlns:a16="http://schemas.microsoft.com/office/drawing/2014/main" id="{E9760BF4-4352-AA51-5FD4-F1BDF4BEC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734" y="3414073"/>
                <a:ext cx="1184779" cy="305806"/>
              </a:xfrm>
              <a:prstGeom prst="rect">
                <a:avLst/>
              </a:prstGeom>
              <a:blipFill>
                <a:blip r:embed="rId4"/>
                <a:stretch>
                  <a:fillRect b="-14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39">
            <a:extLst>
              <a:ext uri="{FF2B5EF4-FFF2-40B4-BE49-F238E27FC236}">
                <a16:creationId xmlns:a16="http://schemas.microsoft.com/office/drawing/2014/main" id="{37A7F216-7BB7-E754-09B3-6CAB5EB16931}"/>
              </a:ext>
            </a:extLst>
          </p:cNvPr>
          <p:cNvSpPr/>
          <p:nvPr/>
        </p:nvSpPr>
        <p:spPr>
          <a:xfrm>
            <a:off x="5942002" y="2993057"/>
            <a:ext cx="1136650" cy="1136650"/>
          </a:xfrm>
          <a:prstGeom prst="ellipse">
            <a:avLst/>
          </a:prstGeom>
          <a:solidFill>
            <a:srgbClr val="1B5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20">
                <a:extLst>
                  <a:ext uri="{FF2B5EF4-FFF2-40B4-BE49-F238E27FC236}">
                    <a16:creationId xmlns:a16="http://schemas.microsoft.com/office/drawing/2014/main" id="{F1B8E6C8-5338-D51D-ACD8-98B7B75020F4}"/>
                  </a:ext>
                </a:extLst>
              </p:cNvPr>
              <p:cNvSpPr txBox="1"/>
              <p:nvPr/>
            </p:nvSpPr>
            <p:spPr>
              <a:xfrm>
                <a:off x="5977758" y="3408479"/>
                <a:ext cx="1184779" cy="305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de-DE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nsolas"/>
                          <a:cs typeface="Arial" panose="020B0604020202020204" pitchFamily="34" charset="0"/>
                          <a:sym typeface="Consolas"/>
                        </a:rPr>
                        <m:t>𝑢</m:t>
                      </m:r>
                      <m:r>
                        <a:rPr lang="ar-AE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nsolas"/>
                          <a:cs typeface="Arial" panose="020B0604020202020204" pitchFamily="34" charset="0"/>
                          <a:sym typeface="Consolas"/>
                        </a:rPr>
                        <m:t>+</m:t>
                      </m:r>
                      <m:sSup>
                        <m:sSupPr>
                          <m:ctrlPr>
                            <a:rPr lang="ar-A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</m:ctrlPr>
                        </m:sSupPr>
                        <m:e>
                          <m:r>
                            <a:rPr lang="ar-A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  <m:t>3</m:t>
                          </m:r>
                        </m:e>
                        <m:sup>
                          <m:r>
                            <a:rPr lang="ar-A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TextBox 20">
                <a:extLst>
                  <a:ext uri="{FF2B5EF4-FFF2-40B4-BE49-F238E27FC236}">
                    <a16:creationId xmlns:a16="http://schemas.microsoft.com/office/drawing/2014/main" id="{F1B8E6C8-5338-D51D-ACD8-98B7B7502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758" y="3408479"/>
                <a:ext cx="1184779" cy="305806"/>
              </a:xfrm>
              <a:prstGeom prst="rect">
                <a:avLst/>
              </a:prstGeom>
              <a:blipFill>
                <a:blip r:embed="rId5"/>
                <a:stretch>
                  <a:fillRect b="-14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20">
                <a:extLst>
                  <a:ext uri="{FF2B5EF4-FFF2-40B4-BE49-F238E27FC236}">
                    <a16:creationId xmlns:a16="http://schemas.microsoft.com/office/drawing/2014/main" id="{DAF6747B-137E-4DFB-A16A-1D91B8E84B8D}"/>
                  </a:ext>
                </a:extLst>
              </p:cNvPr>
              <p:cNvSpPr txBox="1"/>
              <p:nvPr/>
            </p:nvSpPr>
            <p:spPr>
              <a:xfrm>
                <a:off x="3985194" y="4129707"/>
                <a:ext cx="1184779" cy="305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TextBox 20">
                <a:extLst>
                  <a:ext uri="{FF2B5EF4-FFF2-40B4-BE49-F238E27FC236}">
                    <a16:creationId xmlns:a16="http://schemas.microsoft.com/office/drawing/2014/main" id="{DAF6747B-137E-4DFB-A16A-1D91B8E84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194" y="4129707"/>
                <a:ext cx="1184779" cy="305806"/>
              </a:xfrm>
              <a:prstGeom prst="rect">
                <a:avLst/>
              </a:prstGeom>
              <a:blipFill>
                <a:blip r:embed="rId6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D0D73694-61F7-C0D0-D424-1F2839FF23A7}"/>
              </a:ext>
            </a:extLst>
          </p:cNvPr>
          <p:cNvSpPr/>
          <p:nvPr/>
        </p:nvSpPr>
        <p:spPr>
          <a:xfrm>
            <a:off x="1761863" y="4568515"/>
            <a:ext cx="1136650" cy="1136650"/>
          </a:xfrm>
          <a:prstGeom prst="ellipse">
            <a:avLst/>
          </a:prstGeom>
          <a:solidFill>
            <a:srgbClr val="1B5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20">
                <a:extLst>
                  <a:ext uri="{FF2B5EF4-FFF2-40B4-BE49-F238E27FC236}">
                    <a16:creationId xmlns:a16="http://schemas.microsoft.com/office/drawing/2014/main" id="{3FEEF122-57B7-92C3-F645-C041BB6AEA9E}"/>
                  </a:ext>
                </a:extLst>
              </p:cNvPr>
              <p:cNvSpPr txBox="1"/>
              <p:nvPr/>
            </p:nvSpPr>
            <p:spPr>
              <a:xfrm>
                <a:off x="1797619" y="4983937"/>
                <a:ext cx="1184779" cy="3058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de-DE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nsolas"/>
                          <a:cs typeface="Arial" panose="020B0604020202020204" pitchFamily="34" charset="0"/>
                          <a:sym typeface="Consolas"/>
                        </a:rPr>
                        <m:t>𝑢</m:t>
                      </m:r>
                      <m:r>
                        <a:rPr lang="ar-AE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onsolas"/>
                          <a:cs typeface="Arial" panose="020B0604020202020204" pitchFamily="34" charset="0"/>
                          <a:sym typeface="Consolas"/>
                        </a:rPr>
                        <m:t>−</m:t>
                      </m:r>
                      <m:sSup>
                        <m:sSupPr>
                          <m:ctrlPr>
                            <a:rPr lang="ar-A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</m:ctrlPr>
                        </m:sSupPr>
                        <m:e>
                          <m:r>
                            <a:rPr lang="ar-A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  <m:t>3</m:t>
                          </m:r>
                        </m:e>
                        <m:sup>
                          <m:r>
                            <a:rPr lang="ar-AE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  <a:sym typeface="Consolas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ar-A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20">
                <a:extLst>
                  <a:ext uri="{FF2B5EF4-FFF2-40B4-BE49-F238E27FC236}">
                    <a16:creationId xmlns:a16="http://schemas.microsoft.com/office/drawing/2014/main" id="{3FEEF122-57B7-92C3-F645-C041BB6AE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619" y="4983937"/>
                <a:ext cx="1184779" cy="305806"/>
              </a:xfrm>
              <a:prstGeom prst="rect">
                <a:avLst/>
              </a:prstGeom>
              <a:blipFill>
                <a:blip r:embed="rId7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D7AC006-BC96-BB95-612D-697D04FCEBA1}"/>
              </a:ext>
            </a:extLst>
          </p:cNvPr>
          <p:cNvCxnSpPr/>
          <p:nvPr/>
        </p:nvCxnSpPr>
        <p:spPr>
          <a:xfrm>
            <a:off x="2898513" y="3688381"/>
            <a:ext cx="1110746" cy="357188"/>
          </a:xfrm>
          <a:prstGeom prst="straightConnector1">
            <a:avLst/>
          </a:prstGeom>
          <a:ln w="34925"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7F4ECF9-AE83-BBB3-8AAA-C9196F00FA6C}"/>
              </a:ext>
            </a:extLst>
          </p:cNvPr>
          <p:cNvCxnSpPr>
            <a:cxnSpLocks/>
          </p:cNvCxnSpPr>
          <p:nvPr/>
        </p:nvCxnSpPr>
        <p:spPr>
          <a:xfrm flipV="1">
            <a:off x="2898513" y="4478783"/>
            <a:ext cx="1110746" cy="479463"/>
          </a:xfrm>
          <a:prstGeom prst="straightConnector1">
            <a:avLst/>
          </a:prstGeom>
          <a:ln w="34925"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718BDFB-4772-EECE-5AC2-341F86A61B14}"/>
              </a:ext>
            </a:extLst>
          </p:cNvPr>
          <p:cNvCxnSpPr>
            <a:cxnSpLocks/>
          </p:cNvCxnSpPr>
          <p:nvPr/>
        </p:nvCxnSpPr>
        <p:spPr>
          <a:xfrm flipV="1">
            <a:off x="5145909" y="3792111"/>
            <a:ext cx="825500" cy="372229"/>
          </a:xfrm>
          <a:prstGeom prst="straightConnector1">
            <a:avLst/>
          </a:prstGeom>
          <a:ln w="34925"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88680C4-BB79-A508-97B0-680330461A27}"/>
              </a:ext>
            </a:extLst>
          </p:cNvPr>
          <p:cNvCxnSpPr>
            <a:cxnSpLocks/>
          </p:cNvCxnSpPr>
          <p:nvPr/>
        </p:nvCxnSpPr>
        <p:spPr>
          <a:xfrm>
            <a:off x="5145909" y="4426714"/>
            <a:ext cx="861256" cy="373693"/>
          </a:xfrm>
          <a:prstGeom prst="straightConnector1">
            <a:avLst/>
          </a:prstGeom>
          <a:ln w="34925">
            <a:solidFill>
              <a:srgbClr val="C50C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652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401E-9471-7A63-4989-173A2AB62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B04C21-177F-EEE3-0D4D-564255EFD463}"/>
              </a:ext>
            </a:extLst>
          </p:cNvPr>
          <p:cNvSpPr txBox="1"/>
          <p:nvPr/>
        </p:nvSpPr>
        <p:spPr>
          <a:xfrm>
            <a:off x="152400" y="10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Bruck‘s algorithm for reconfigurable networks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534;g60be7dcf1c_0_434">
                <a:extLst>
                  <a:ext uri="{FF2B5EF4-FFF2-40B4-BE49-F238E27FC236}">
                    <a16:creationId xmlns:a16="http://schemas.microsoft.com/office/drawing/2014/main" id="{3A0558E8-93F3-11C3-E9C8-37A40A296552}"/>
                  </a:ext>
                </a:extLst>
              </p:cNvPr>
              <p:cNvSpPr txBox="1"/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Bruck et al. (1994): All-to-All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80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80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  <m:t>log</m:t>
                            </m:r>
                          </m:e>
                          <m:sub>
                            <m:r>
                              <a:rPr lang="de-DE" sz="18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𝑛</m:t>
                        </m:r>
                        <m:r>
                          <a:rPr lang="de-DE" sz="1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 </m:t>
                        </m:r>
                      </m:e>
                    </m:func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phases by aggregating blocks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Built for a </a:t>
                </a:r>
                <a:r>
                  <a:rPr lang="en-GB" sz="1800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multiport message-passing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model, not for reconfigurable networks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Phase </a:t>
                </a:r>
                <a:r>
                  <a:rPr lang="en-GB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k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: node </a:t>
                </a:r>
                <a:r>
                  <a:rPr lang="en-GB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u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sends to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𝑢</m:t>
                    </m:r>
                    <m:r>
                      <a:rPr lang="en-GB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+</m:t>
                    </m:r>
                    <m:sSup>
                      <m:sSupPr>
                        <m:ctrlPr>
                          <a:rPr lang="de-DE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2</m:t>
                        </m:r>
                      </m:e>
                      <m:sup>
                        <m:r>
                          <a:rPr lang="de-DE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</a:t>
                </a:r>
                <a:r>
                  <a:rPr lang="en-GB" sz="1800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one logical direction only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With </a:t>
                </a:r>
                <a:r>
                  <a:rPr lang="en-GB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2n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ports: 2 sends + 2 receives </a:t>
                </a: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would require </a:t>
                </a:r>
                <a:r>
                  <a:rPr lang="en-GB" sz="1800" dirty="0">
                    <a:solidFill>
                      <a:srgbClr val="C00000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four links per node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Mirroring Bruck restores feasibility — but still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8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onsolas"/>
                            <a:cs typeface="Arial" panose="020B0604020202020204" pitchFamily="34" charset="0"/>
                            <a:sym typeface="Consolas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80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onsolas"/>
                                <a:cs typeface="Arial" panose="020B0604020202020204" pitchFamily="34" charset="0"/>
                                <a:sym typeface="Consola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80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onsolas"/>
                                <a:cs typeface="Arial" panose="020B0604020202020204" pitchFamily="34" charset="0"/>
                                <a:sym typeface="Consolas"/>
                              </a:rPr>
                              <m:t>log</m:t>
                            </m:r>
                          </m:e>
                          <m:sub>
                            <m:r>
                              <a:rPr lang="de-DE" sz="1800" b="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onsolas"/>
                                <a:cs typeface="Arial" panose="020B0604020202020204" pitchFamily="34" charset="0"/>
                                <a:sym typeface="Consolas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de-DE" sz="1800" b="0" i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onsolas"/>
                            <a:cs typeface="Arial" panose="020B0604020202020204" pitchFamily="34" charset="0"/>
                            <a:sym typeface="Consolas"/>
                          </a:rPr>
                          <m:t>n</m:t>
                        </m:r>
                      </m:e>
                    </m:func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phases</a:t>
                </a:r>
              </a:p>
            </p:txBody>
          </p:sp>
        </mc:Choice>
        <mc:Fallback xmlns="">
          <p:sp>
            <p:nvSpPr>
              <p:cNvPr id="2" name="Google Shape;1534;g60be7dcf1c_0_434">
                <a:extLst>
                  <a:ext uri="{FF2B5EF4-FFF2-40B4-BE49-F238E27FC236}">
                    <a16:creationId xmlns:a16="http://schemas.microsoft.com/office/drawing/2014/main" id="{3A0558E8-93F3-11C3-E9C8-37A40A296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blipFill>
                <a:blip r:embed="rId2"/>
                <a:stretch>
                  <a:fillRect l="-1151" t="-19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0C92DD2-BDF2-AD16-D03D-FE0123255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218" y="3346450"/>
            <a:ext cx="6663563" cy="195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938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4102F-9397-FC8C-6284-2F181B649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DD923F-1BA3-A2E6-0BF7-69756A7BB6DD}"/>
              </a:ext>
            </a:extLst>
          </p:cNvPr>
          <p:cNvSpPr txBox="1"/>
          <p:nvPr/>
        </p:nvSpPr>
        <p:spPr>
          <a:xfrm>
            <a:off x="152400" y="10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ReTri: Reconfigurable 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1534;g60be7dcf1c_0_434">
                <a:extLst>
                  <a:ext uri="{FF2B5EF4-FFF2-40B4-BE49-F238E27FC236}">
                    <a16:creationId xmlns:a16="http://schemas.microsoft.com/office/drawing/2014/main" id="{37B2AB32-8C42-67DA-8967-7557E01DF41F}"/>
                  </a:ext>
                </a:extLst>
              </p:cNvPr>
              <p:cNvSpPr txBox="1"/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de-DE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Recently proposed algorithm to reduce phases </a:t>
                </a: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Trivance</a:t>
                </a:r>
                <a:endParaRPr lang="en-GB" sz="1800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Phase </a:t>
                </a:r>
                <a:r>
                  <a:rPr lang="en-GB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k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: node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u</m:t>
                    </m:r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sends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u</m:t>
                    </m:r>
                    <m:r>
                      <a:rPr lang="en-GB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+</m:t>
                    </m:r>
                    <m:sSup>
                      <m:sSupPr>
                        <m:ctrlPr>
                          <a:rPr lang="de-DE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u</m:t>
                    </m:r>
                    <m:r>
                      <a:rPr lang="de-DE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−</m:t>
                    </m:r>
                    <m:sSup>
                      <m:sSupPr>
                        <m:ctrlPr>
                          <a:rPr lang="de-DE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endParaRPr lang="en-GB" sz="1800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</p:txBody>
          </p:sp>
        </mc:Choice>
        <mc:Fallback>
          <p:sp>
            <p:nvSpPr>
              <p:cNvPr id="6" name="Google Shape;1534;g60be7dcf1c_0_434">
                <a:extLst>
                  <a:ext uri="{FF2B5EF4-FFF2-40B4-BE49-F238E27FC236}">
                    <a16:creationId xmlns:a16="http://schemas.microsoft.com/office/drawing/2014/main" id="{37B2AB32-8C42-67DA-8967-7557E01DF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blipFill>
                <a:blip r:embed="rId2"/>
                <a:stretch>
                  <a:fillRect l="-1151" t="-19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0BC1843E-115B-81C8-AEB8-6B62B0B09A13}"/>
              </a:ext>
            </a:extLst>
          </p:cNvPr>
          <p:cNvSpPr/>
          <p:nvPr/>
        </p:nvSpPr>
        <p:spPr>
          <a:xfrm>
            <a:off x="6118225" y="15732"/>
            <a:ext cx="3009900" cy="1286788"/>
          </a:xfrm>
          <a:prstGeom prst="ellipse">
            <a:avLst/>
          </a:prstGeom>
          <a:solidFill>
            <a:srgbClr val="F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Google Shape;1534;g60be7dcf1c_0_434">
            <a:extLst>
              <a:ext uri="{FF2B5EF4-FFF2-40B4-BE49-F238E27FC236}">
                <a16:creationId xmlns:a16="http://schemas.microsoft.com/office/drawing/2014/main" id="{D55B0DDB-E2A3-2A57-2DF8-941882B44964}"/>
              </a:ext>
            </a:extLst>
          </p:cNvPr>
          <p:cNvSpPr txBox="1"/>
          <p:nvPr/>
        </p:nvSpPr>
        <p:spPr>
          <a:xfrm>
            <a:off x="6102350" y="217801"/>
            <a:ext cx="304165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25000"/>
              </a:lnSpc>
              <a:buSzPct val="140000"/>
            </a:pPr>
            <a:r>
              <a:rPr lang="en-GB" sz="1600" b="1" dirty="0">
                <a:solidFill>
                  <a:srgbClr val="C50C1E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18</a:t>
            </a:r>
            <a:r>
              <a:rPr lang="en-GB" sz="1600" b="1" baseline="30000" dirty="0">
                <a:solidFill>
                  <a:srgbClr val="C50C1E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th</a:t>
            </a:r>
            <a:r>
              <a:rPr lang="en-GB" sz="1600" b="1" dirty="0">
                <a:solidFill>
                  <a:srgbClr val="C50C1E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August SIGCOMM</a:t>
            </a:r>
            <a:br>
              <a:rPr lang="en-GB" sz="1600" b="1" dirty="0">
                <a:solidFill>
                  <a:srgbClr val="C50C1E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</a:br>
            <a:r>
              <a:rPr lang="en-GB" sz="1600" b="1" dirty="0">
                <a:solidFill>
                  <a:srgbClr val="C50C1E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1:50 PM </a:t>
            </a:r>
            <a:r>
              <a:rPr lang="de-DE" sz="1600" b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Session 3</a:t>
            </a:r>
            <a:br>
              <a:rPr lang="de-DE" sz="1600" b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1600" b="1" dirty="0">
              <a:solidFill>
                <a:srgbClr val="C50C1E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007641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01F79-0407-B213-72F9-0173F26A0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91F2FE-AC01-97CC-F686-FEE739EAEE32}"/>
              </a:ext>
            </a:extLst>
          </p:cNvPr>
          <p:cNvSpPr txBox="1"/>
          <p:nvPr/>
        </p:nvSpPr>
        <p:spPr>
          <a:xfrm>
            <a:off x="152400" y="10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ReTri: Reconfigurable 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1534;g60be7dcf1c_0_434">
                <a:extLst>
                  <a:ext uri="{FF2B5EF4-FFF2-40B4-BE49-F238E27FC236}">
                    <a16:creationId xmlns:a16="http://schemas.microsoft.com/office/drawing/2014/main" id="{B0A13233-B0EB-AE27-1DB1-F79AC2EFA019}"/>
                  </a:ext>
                </a:extLst>
              </p:cNvPr>
              <p:cNvSpPr txBox="1"/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de-DE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Recently proposed algorithm to reduce phases </a:t>
                </a: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Trivance</a:t>
                </a:r>
                <a:endParaRPr lang="en-GB" sz="1800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Phase </a:t>
                </a:r>
                <a:r>
                  <a:rPr lang="en-GB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k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: node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u</m:t>
                    </m:r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sends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u</m:t>
                    </m:r>
                    <m:r>
                      <a:rPr lang="en-GB" sz="1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+</m:t>
                    </m:r>
                    <m:sSup>
                      <m:sSupPr>
                        <m:ctrlPr>
                          <a:rPr lang="de-DE" sz="18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u</m:t>
                    </m:r>
                    <m:r>
                      <a:rPr lang="de-DE" sz="1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−</m:t>
                    </m:r>
                    <m:sSup>
                      <m:sSupPr>
                        <m:ctrlPr>
                          <a:rPr lang="de-DE" sz="18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endParaRPr lang="en-GB" sz="1800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Two peers per phase </a:t>
                </a: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matches the </a:t>
                </a:r>
                <a:r>
                  <a:rPr lang="en-GB" sz="1800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two optical links per node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Symmetric exchange </a:t>
                </a: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</a:t>
                </a:r>
                <a:r>
                  <a:rPr lang="en-GB" sz="1800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both directions per optical link are used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All-to-All completes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onsolas"/>
                            <a:cs typeface="Arial" panose="020B0604020202020204" pitchFamily="34" charset="0"/>
                            <a:sym typeface="Consolas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80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onsolas"/>
                                <a:cs typeface="Arial" panose="020B0604020202020204" pitchFamily="34" charset="0"/>
                                <a:sym typeface="Consola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80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onsolas"/>
                                <a:cs typeface="Arial" panose="020B0604020202020204" pitchFamily="34" charset="0"/>
                                <a:sym typeface="Consolas"/>
                              </a:rPr>
                              <m:t>log</m:t>
                            </m:r>
                          </m:e>
                          <m:sub>
                            <m:r>
                              <a:rPr lang="de-DE" sz="1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onsolas"/>
                                <a:cs typeface="Arial" panose="020B0604020202020204" pitchFamily="34" charset="0"/>
                                <a:sym typeface="Consolas"/>
                              </a:rPr>
                              <m:t>3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de-DE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onsolas"/>
                            <a:cs typeface="Arial" panose="020B0604020202020204" pitchFamily="34" charset="0"/>
                            <a:sym typeface="Consolas"/>
                          </a:rPr>
                          <m:t>n</m:t>
                        </m:r>
                      </m:e>
                    </m:func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communication phases</a:t>
                </a:r>
              </a:p>
            </p:txBody>
          </p:sp>
        </mc:Choice>
        <mc:Fallback>
          <p:sp>
            <p:nvSpPr>
              <p:cNvPr id="6" name="Google Shape;1534;g60be7dcf1c_0_434">
                <a:extLst>
                  <a:ext uri="{FF2B5EF4-FFF2-40B4-BE49-F238E27FC236}">
                    <a16:creationId xmlns:a16="http://schemas.microsoft.com/office/drawing/2014/main" id="{B0A13233-B0EB-AE27-1DB1-F79AC2EFA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blipFill>
                <a:blip r:embed="rId2"/>
                <a:stretch>
                  <a:fillRect l="-1151" t="-19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A537ED0E-4F76-3208-6B44-DE9258A26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748" y="3630050"/>
            <a:ext cx="2212682" cy="21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C91BC36-7548-0E63-2FA9-044A7B5F3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29" y="3630050"/>
            <a:ext cx="2107316" cy="2160000"/>
          </a:xfrm>
          <a:prstGeom prst="rect">
            <a:avLst/>
          </a:prstGeom>
        </p:spPr>
      </p:pic>
      <p:sp>
        <p:nvSpPr>
          <p:cNvPr id="23" name="TextBox 20">
            <a:extLst>
              <a:ext uri="{FF2B5EF4-FFF2-40B4-BE49-F238E27FC236}">
                <a16:creationId xmlns:a16="http://schemas.microsoft.com/office/drawing/2014/main" id="{9F055CA4-7F36-AB58-1584-88A69AD166BD}"/>
              </a:ext>
            </a:extLst>
          </p:cNvPr>
          <p:cNvSpPr txBox="1"/>
          <p:nvPr/>
        </p:nvSpPr>
        <p:spPr>
          <a:xfrm>
            <a:off x="1127475" y="5637147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0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76BA0D21-6693-0D8A-0E19-5278F3B1AC78}"/>
              </a:ext>
            </a:extLst>
          </p:cNvPr>
          <p:cNvSpPr txBox="1"/>
          <p:nvPr/>
        </p:nvSpPr>
        <p:spPr>
          <a:xfrm>
            <a:off x="4619625" y="5637147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4D272A8-19A5-EE60-4C2E-9C6D2DADC794}"/>
              </a:ext>
            </a:extLst>
          </p:cNvPr>
          <p:cNvCxnSpPr>
            <a:cxnSpLocks/>
          </p:cNvCxnSpPr>
          <p:nvPr/>
        </p:nvCxnSpPr>
        <p:spPr>
          <a:xfrm>
            <a:off x="2715512" y="4552233"/>
            <a:ext cx="1240538" cy="0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0">
            <a:extLst>
              <a:ext uri="{FF2B5EF4-FFF2-40B4-BE49-F238E27FC236}">
                <a16:creationId xmlns:a16="http://schemas.microsoft.com/office/drawing/2014/main" id="{2CEE6BD2-E931-95F7-FA70-12695C297693}"/>
              </a:ext>
            </a:extLst>
          </p:cNvPr>
          <p:cNvSpPr txBox="1"/>
          <p:nvPr/>
        </p:nvSpPr>
        <p:spPr>
          <a:xfrm>
            <a:off x="1836864" y="3205745"/>
            <a:ext cx="3154235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Case: Topology remains static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954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B3E31-0E57-7D20-D0E0-90FD92BB8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B7FE86-C6E2-F923-F6D2-CFD3F27BBF6C}"/>
              </a:ext>
            </a:extLst>
          </p:cNvPr>
          <p:cNvSpPr txBox="1"/>
          <p:nvPr/>
        </p:nvSpPr>
        <p:spPr>
          <a:xfrm>
            <a:off x="152400" y="10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ReTri: Reconfigurable 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1534;g60be7dcf1c_0_434">
                <a:extLst>
                  <a:ext uri="{FF2B5EF4-FFF2-40B4-BE49-F238E27FC236}">
                    <a16:creationId xmlns:a16="http://schemas.microsoft.com/office/drawing/2014/main" id="{D7C94A65-02F3-29EF-49B4-D00E9A2BC32C}"/>
                  </a:ext>
                </a:extLst>
              </p:cNvPr>
              <p:cNvSpPr txBox="1"/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de-DE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Recently proposed algorithm to reduce phases </a:t>
                </a: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Trivance</a:t>
                </a:r>
                <a:endParaRPr lang="en-GB" sz="1800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Phase </a:t>
                </a:r>
                <a:r>
                  <a:rPr lang="en-GB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k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: node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u</m:t>
                    </m:r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sends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u</m:t>
                    </m:r>
                    <m:r>
                      <a:rPr lang="en-GB" sz="1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+</m:t>
                    </m:r>
                    <m:sSup>
                      <m:sSupPr>
                        <m:ctrlPr>
                          <a:rPr lang="de-DE" sz="18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u</m:t>
                    </m:r>
                    <m:r>
                      <a:rPr lang="de-DE" sz="1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−</m:t>
                    </m:r>
                    <m:sSup>
                      <m:sSupPr>
                        <m:ctrlPr>
                          <a:rPr lang="de-DE" sz="18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endParaRPr lang="en-GB" sz="1800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Two peers per phase </a:t>
                </a: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matches the </a:t>
                </a:r>
                <a:r>
                  <a:rPr lang="en-GB" sz="1800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two optical links per node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Symmetric exchange </a:t>
                </a: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</a:t>
                </a:r>
                <a:r>
                  <a:rPr lang="en-GB" sz="1800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both directions per optical link are used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All-to-All completes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onsolas"/>
                            <a:cs typeface="Arial" panose="020B0604020202020204" pitchFamily="34" charset="0"/>
                            <a:sym typeface="Consolas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80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onsolas"/>
                                <a:cs typeface="Arial" panose="020B0604020202020204" pitchFamily="34" charset="0"/>
                                <a:sym typeface="Consola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80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onsolas"/>
                                <a:cs typeface="Arial" panose="020B0604020202020204" pitchFamily="34" charset="0"/>
                                <a:sym typeface="Consolas"/>
                              </a:rPr>
                              <m:t>log</m:t>
                            </m:r>
                          </m:e>
                          <m:sub>
                            <m:r>
                              <a:rPr lang="de-DE" sz="1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onsolas"/>
                                <a:cs typeface="Arial" panose="020B0604020202020204" pitchFamily="34" charset="0"/>
                                <a:sym typeface="Consolas"/>
                              </a:rPr>
                              <m:t>3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de-DE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onsolas"/>
                            <a:cs typeface="Arial" panose="020B0604020202020204" pitchFamily="34" charset="0"/>
                            <a:sym typeface="Consolas"/>
                          </a:rPr>
                          <m:t>n</m:t>
                        </m:r>
                      </m:e>
                    </m:func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communication phases</a:t>
                </a:r>
              </a:p>
            </p:txBody>
          </p:sp>
        </mc:Choice>
        <mc:Fallback>
          <p:sp>
            <p:nvSpPr>
              <p:cNvPr id="6" name="Google Shape;1534;g60be7dcf1c_0_434">
                <a:extLst>
                  <a:ext uri="{FF2B5EF4-FFF2-40B4-BE49-F238E27FC236}">
                    <a16:creationId xmlns:a16="http://schemas.microsoft.com/office/drawing/2014/main" id="{D7C94A65-02F3-29EF-49B4-D00E9A2BC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blipFill>
                <a:blip r:embed="rId2"/>
                <a:stretch>
                  <a:fillRect l="-1151" t="-19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6D3A9C6-B246-7CCF-3A6E-9DB5677B8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710" y="1686579"/>
            <a:ext cx="1625540" cy="15620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0640A4-6202-73E1-A3E8-038EA9DCB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757" y="3598300"/>
            <a:ext cx="2247804" cy="21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244397-C44B-00E6-C732-4323FAA08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29" y="3630050"/>
            <a:ext cx="2107316" cy="21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ED1DE36-4A2E-CA75-EDAD-D2A2A6F15E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6097" y="3598300"/>
            <a:ext cx="2247804" cy="2160000"/>
          </a:xfrm>
          <a:prstGeom prst="rect">
            <a:avLst/>
          </a:prstGeom>
        </p:spPr>
      </p:pic>
      <p:sp>
        <p:nvSpPr>
          <p:cNvPr id="23" name="TextBox 20">
            <a:extLst>
              <a:ext uri="{FF2B5EF4-FFF2-40B4-BE49-F238E27FC236}">
                <a16:creationId xmlns:a16="http://schemas.microsoft.com/office/drawing/2014/main" id="{8E562D3E-9EA3-8734-AA3D-4B7B8CCAA404}"/>
              </a:ext>
            </a:extLst>
          </p:cNvPr>
          <p:cNvSpPr txBox="1"/>
          <p:nvPr/>
        </p:nvSpPr>
        <p:spPr>
          <a:xfrm>
            <a:off x="1127475" y="5637147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0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FE469300-4E1F-AA9B-314A-CA2E19AA7FF1}"/>
              </a:ext>
            </a:extLst>
          </p:cNvPr>
          <p:cNvSpPr txBox="1"/>
          <p:nvPr/>
        </p:nvSpPr>
        <p:spPr>
          <a:xfrm>
            <a:off x="3705633" y="5601090"/>
            <a:ext cx="2628900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Communication pattern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41B87D-101D-48B3-1759-A945EA761A2E}"/>
              </a:ext>
            </a:extLst>
          </p:cNvPr>
          <p:cNvCxnSpPr>
            <a:cxnSpLocks/>
          </p:cNvCxnSpPr>
          <p:nvPr/>
        </p:nvCxnSpPr>
        <p:spPr>
          <a:xfrm>
            <a:off x="2715512" y="4552233"/>
            <a:ext cx="1240538" cy="0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0">
            <a:extLst>
              <a:ext uri="{FF2B5EF4-FFF2-40B4-BE49-F238E27FC236}">
                <a16:creationId xmlns:a16="http://schemas.microsoft.com/office/drawing/2014/main" id="{63F9052E-5EE1-C914-E7DA-F1192D9A2659}"/>
              </a:ext>
            </a:extLst>
          </p:cNvPr>
          <p:cNvSpPr txBox="1"/>
          <p:nvPr/>
        </p:nvSpPr>
        <p:spPr>
          <a:xfrm>
            <a:off x="5061759" y="4145287"/>
            <a:ext cx="2628900" cy="65290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GB" sz="40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+</a:t>
            </a:r>
            <a:endParaRPr lang="en-GB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D85AF6AF-A803-0AB0-1B97-57573976010B}"/>
              </a:ext>
            </a:extLst>
          </p:cNvPr>
          <p:cNvSpPr txBox="1"/>
          <p:nvPr/>
        </p:nvSpPr>
        <p:spPr>
          <a:xfrm>
            <a:off x="6074368" y="5597027"/>
            <a:ext cx="3232582" cy="7823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Topology reconfiguration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6FE37A77-71D7-6D67-A24E-5658F9F76076}"/>
              </a:ext>
            </a:extLst>
          </p:cNvPr>
          <p:cNvSpPr txBox="1"/>
          <p:nvPr/>
        </p:nvSpPr>
        <p:spPr>
          <a:xfrm>
            <a:off x="2116264" y="3205745"/>
            <a:ext cx="3154235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Case: Reconfiguration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127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95C0-AEA4-DA58-2E16-7AFCEB2C6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234A14-7E77-EC55-1F20-501F790DFBA9}"/>
              </a:ext>
            </a:extLst>
          </p:cNvPr>
          <p:cNvSpPr txBox="1"/>
          <p:nvPr/>
        </p:nvSpPr>
        <p:spPr>
          <a:xfrm>
            <a:off x="152400" y="10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ReTri: Reconfigurable Trivance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1534;g60be7dcf1c_0_434">
                <a:extLst>
                  <a:ext uri="{FF2B5EF4-FFF2-40B4-BE49-F238E27FC236}">
                    <a16:creationId xmlns:a16="http://schemas.microsoft.com/office/drawing/2014/main" id="{C40353C2-9B41-B37F-588A-3ED80EF0CF31}"/>
                  </a:ext>
                </a:extLst>
              </p:cNvPr>
              <p:cNvSpPr txBox="1"/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de-DE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Recently proposed algorithm to reduce phases </a:t>
                </a: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Trivance</a:t>
                </a:r>
                <a:endParaRPr lang="en-GB" sz="1800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Phase </a:t>
                </a:r>
                <a:r>
                  <a:rPr lang="en-GB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k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: node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u</m:t>
                    </m:r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sends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i="0" dirty="0" smtClean="0">
                        <a:solidFill>
                          <a:srgbClr val="C50C1E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u</m:t>
                    </m:r>
                    <m:r>
                      <a:rPr lang="en-GB" sz="1800" i="0" dirty="0" smtClean="0">
                        <a:solidFill>
                          <a:srgbClr val="C50C1E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+</m:t>
                    </m:r>
                    <m:sSup>
                      <m:sSupPr>
                        <m:ctrlPr>
                          <a:rPr lang="de-DE" sz="1800" b="0" i="0" dirty="0" smtClean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b="0" i="0" dirty="0" smtClean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i="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i="0" dirty="0" smtClean="0">
                        <a:solidFill>
                          <a:srgbClr val="C50C1E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u</m:t>
                    </m:r>
                    <m:r>
                      <a:rPr lang="de-DE" sz="1800" b="0" i="0" dirty="0" smtClean="0">
                        <a:solidFill>
                          <a:srgbClr val="C50C1E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−</m:t>
                    </m:r>
                    <m:sSup>
                      <m:sSupPr>
                        <m:ctrlPr>
                          <a:rPr lang="de-DE" sz="1800" i="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i="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i="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endParaRPr lang="en-GB" sz="1800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Two peers per phase </a:t>
                </a: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matches the </a:t>
                </a:r>
                <a:r>
                  <a:rPr lang="en-GB" sz="1800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two optical links per node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Symmetric exchange </a:t>
                </a: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</a:t>
                </a:r>
                <a:r>
                  <a:rPr lang="en-GB" sz="1800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both directions per optical link are used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All-to-All completes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800" i="1" smtClean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ea typeface="Consolas"/>
                            <a:cs typeface="Arial" panose="020B0604020202020204" pitchFamily="34" charset="0"/>
                            <a:sym typeface="Consolas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800" i="0" smtClean="0">
                                <a:solidFill>
                                  <a:srgbClr val="C50C1E"/>
                                </a:solidFill>
                                <a:latin typeface="Cambria Math" panose="02040503050406030204" pitchFamily="18" charset="0"/>
                                <a:ea typeface="Consolas"/>
                                <a:cs typeface="Arial" panose="020B0604020202020204" pitchFamily="34" charset="0"/>
                                <a:sym typeface="Consola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800" i="0" smtClean="0">
                                <a:solidFill>
                                  <a:srgbClr val="C50C1E"/>
                                </a:solidFill>
                                <a:latin typeface="Cambria Math" panose="02040503050406030204" pitchFamily="18" charset="0"/>
                                <a:ea typeface="Consolas"/>
                                <a:cs typeface="Arial" panose="020B0604020202020204" pitchFamily="34" charset="0"/>
                                <a:sym typeface="Consolas"/>
                              </a:rPr>
                              <m:t>log</m:t>
                            </m:r>
                          </m:e>
                          <m:sub>
                            <m:r>
                              <a:rPr lang="de-DE" sz="1800" b="0" i="0" smtClean="0">
                                <a:solidFill>
                                  <a:srgbClr val="C50C1E"/>
                                </a:solidFill>
                                <a:latin typeface="Cambria Math" panose="02040503050406030204" pitchFamily="18" charset="0"/>
                                <a:ea typeface="Consolas"/>
                                <a:cs typeface="Arial" panose="020B0604020202020204" pitchFamily="34" charset="0"/>
                                <a:sym typeface="Consolas"/>
                              </a:rPr>
                              <m:t>3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de-DE" sz="1800" b="0" i="0" smtClean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ea typeface="Consolas"/>
                            <a:cs typeface="Arial" panose="020B0604020202020204" pitchFamily="34" charset="0"/>
                            <a:sym typeface="Consolas"/>
                          </a:rPr>
                          <m:t>n</m:t>
                        </m:r>
                      </m:e>
                    </m:func>
                  </m:oMath>
                </a14:m>
                <a:r>
                  <a:rPr lang="en-GB" sz="1800" dirty="0">
                    <a:solidFill>
                      <a:srgbClr val="C50C1E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communication phases</a:t>
                </a:r>
                <a:endParaRPr lang="en-GB" sz="1800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</p:txBody>
          </p:sp>
        </mc:Choice>
        <mc:Fallback xmlns="">
          <p:sp>
            <p:nvSpPr>
              <p:cNvPr id="6" name="Google Shape;1534;g60be7dcf1c_0_434">
                <a:extLst>
                  <a:ext uri="{FF2B5EF4-FFF2-40B4-BE49-F238E27FC236}">
                    <a16:creationId xmlns:a16="http://schemas.microsoft.com/office/drawing/2014/main" id="{C40353C2-9B41-B37F-588A-3ED80EF0C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blipFill>
                <a:blip r:embed="rId2"/>
                <a:stretch>
                  <a:fillRect l="-1151" t="-19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BC267EA-34E7-90C8-DAD2-0E18D24D4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50" y="3610888"/>
            <a:ext cx="2247804" cy="21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F80400-9646-918D-8F35-76C13A197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29" y="3630050"/>
            <a:ext cx="2107316" cy="2160000"/>
          </a:xfrm>
          <a:prstGeom prst="rect">
            <a:avLst/>
          </a:prstGeom>
        </p:spPr>
      </p:pic>
      <p:sp>
        <p:nvSpPr>
          <p:cNvPr id="23" name="TextBox 20">
            <a:extLst>
              <a:ext uri="{FF2B5EF4-FFF2-40B4-BE49-F238E27FC236}">
                <a16:creationId xmlns:a16="http://schemas.microsoft.com/office/drawing/2014/main" id="{B64B2C28-29D8-1224-B034-78D0B77875BE}"/>
              </a:ext>
            </a:extLst>
          </p:cNvPr>
          <p:cNvSpPr txBox="1"/>
          <p:nvPr/>
        </p:nvSpPr>
        <p:spPr>
          <a:xfrm>
            <a:off x="1127475" y="5637147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0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EAE9E446-5F38-41B6-7EBD-D65F13CD0F30}"/>
              </a:ext>
            </a:extLst>
          </p:cNvPr>
          <p:cNvSpPr txBox="1"/>
          <p:nvPr/>
        </p:nvSpPr>
        <p:spPr>
          <a:xfrm>
            <a:off x="3765502" y="5617985"/>
            <a:ext cx="2628900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343D311-E1AD-FDB7-76E5-3A35B1C62AE2}"/>
              </a:ext>
            </a:extLst>
          </p:cNvPr>
          <p:cNvCxnSpPr>
            <a:cxnSpLocks/>
          </p:cNvCxnSpPr>
          <p:nvPr/>
        </p:nvCxnSpPr>
        <p:spPr>
          <a:xfrm>
            <a:off x="2715512" y="4552233"/>
            <a:ext cx="1240538" cy="0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0">
            <a:extLst>
              <a:ext uri="{FF2B5EF4-FFF2-40B4-BE49-F238E27FC236}">
                <a16:creationId xmlns:a16="http://schemas.microsoft.com/office/drawing/2014/main" id="{E3C9E3D8-747A-FCE7-71C8-C392D8D3036C}"/>
              </a:ext>
            </a:extLst>
          </p:cNvPr>
          <p:cNvSpPr txBox="1"/>
          <p:nvPr/>
        </p:nvSpPr>
        <p:spPr>
          <a:xfrm>
            <a:off x="2116264" y="3205745"/>
            <a:ext cx="3154235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Case: Reconfiguration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1BD5FBEE-C451-7B84-D8A2-ED701C3A8AC6}"/>
              </a:ext>
            </a:extLst>
          </p:cNvPr>
          <p:cNvSpPr txBox="1"/>
          <p:nvPr/>
        </p:nvSpPr>
        <p:spPr>
          <a:xfrm>
            <a:off x="6463897" y="4180215"/>
            <a:ext cx="2394353" cy="78230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Minimal communication cost</a:t>
            </a:r>
            <a:endParaRPr lang="en-GB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348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834FF-65FD-E751-2295-17386D2E5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E134746-3261-2963-181A-B60CD2223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01" y="2314596"/>
            <a:ext cx="2212682" cy="216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B6ADFC-C6DD-87B3-BA70-5BC49171E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278" y="2331798"/>
            <a:ext cx="2107317" cy="216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F1B0FB-D437-E626-7127-848B9D5D5378}"/>
              </a:ext>
            </a:extLst>
          </p:cNvPr>
          <p:cNvSpPr txBox="1"/>
          <p:nvPr/>
        </p:nvSpPr>
        <p:spPr>
          <a:xfrm>
            <a:off x="152400" y="10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ReTri: block propagation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1534;g60be7dcf1c_0_434">
                <a:extLst>
                  <a:ext uri="{FF2B5EF4-FFF2-40B4-BE49-F238E27FC236}">
                    <a16:creationId xmlns:a16="http://schemas.microsoft.com/office/drawing/2014/main" id="{2D0E1F52-F6BC-A801-AA6A-4D41474E66A0}"/>
                  </a:ext>
                </a:extLst>
              </p:cNvPr>
              <p:cNvSpPr txBox="1"/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de-DE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In phase k, each block moves </a:t>
                </a:r>
                <a14:m>
                  <m:oMath xmlns:m="http://schemas.openxmlformats.org/officeDocument/2006/math">
                    <m:r>
                      <a:rPr lang="en-GB" sz="1800" dirty="0">
                        <a:solidFill>
                          <a:srgbClr val="C50C1E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+</m:t>
                    </m:r>
                    <m:sSup>
                      <m:sSupPr>
                        <m:ctrlPr>
                          <a:rPr lang="de-DE" sz="180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or </a:t>
                </a:r>
                <a14:m>
                  <m:oMath xmlns:m="http://schemas.openxmlformats.org/officeDocument/2006/math">
                    <m:r>
                      <a:rPr lang="de-DE" sz="1800" dirty="0">
                        <a:solidFill>
                          <a:srgbClr val="C50C1E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−</m:t>
                    </m:r>
                    <m:sSup>
                      <m:sSupPr>
                        <m:ctrlPr>
                          <a:rPr lang="de-DE" sz="180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or stays local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de-DE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Each source-destination pair has unique power of three representation</a:t>
                </a:r>
                <a:endParaRPr lang="en-GB" sz="1800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</p:txBody>
          </p:sp>
        </mc:Choice>
        <mc:Fallback xmlns="">
          <p:sp>
            <p:nvSpPr>
              <p:cNvPr id="6" name="Google Shape;1534;g60be7dcf1c_0_434">
                <a:extLst>
                  <a:ext uri="{FF2B5EF4-FFF2-40B4-BE49-F238E27FC236}">
                    <a16:creationId xmlns:a16="http://schemas.microsoft.com/office/drawing/2014/main" id="{2D0E1F52-F6BC-A801-AA6A-4D41474E6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43000"/>
                <a:ext cx="8477250" cy="2203450"/>
              </a:xfrm>
              <a:prstGeom prst="rect">
                <a:avLst/>
              </a:prstGeom>
              <a:blipFill>
                <a:blip r:embed="rId4"/>
                <a:stretch>
                  <a:fillRect l="-1151" t="-13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0">
            <a:extLst>
              <a:ext uri="{FF2B5EF4-FFF2-40B4-BE49-F238E27FC236}">
                <a16:creationId xmlns:a16="http://schemas.microsoft.com/office/drawing/2014/main" id="{1903305C-8E32-3161-9154-D4C7CE6263DB}"/>
              </a:ext>
            </a:extLst>
          </p:cNvPr>
          <p:cNvSpPr txBox="1"/>
          <p:nvPr/>
        </p:nvSpPr>
        <p:spPr>
          <a:xfrm>
            <a:off x="3829806" y="4310730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0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D329AC73-6A9A-8CA2-3557-91A2DB8BB74E}"/>
              </a:ext>
            </a:extLst>
          </p:cNvPr>
          <p:cNvSpPr txBox="1"/>
          <p:nvPr/>
        </p:nvSpPr>
        <p:spPr>
          <a:xfrm>
            <a:off x="5868792" y="4310730"/>
            <a:ext cx="2628900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C9C0A504-B0E0-DE16-89D7-69398E4E8154}"/>
              </a:ext>
            </a:extLst>
          </p:cNvPr>
          <p:cNvSpPr txBox="1"/>
          <p:nvPr/>
        </p:nvSpPr>
        <p:spPr>
          <a:xfrm>
            <a:off x="504764" y="2462380"/>
            <a:ext cx="2415861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Block propagation from node 0 to node 7: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689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8911B-6703-3113-79AB-A4F3691EA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0EF8A7-678D-FC1D-37A6-67DD93BBBD90}"/>
              </a:ext>
            </a:extLst>
          </p:cNvPr>
          <p:cNvSpPr txBox="1"/>
          <p:nvPr/>
        </p:nvSpPr>
        <p:spPr>
          <a:xfrm>
            <a:off x="152400" y="10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ReTri: ternary subrings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1534;g60be7dcf1c_0_434">
                <a:extLst>
                  <a:ext uri="{FF2B5EF4-FFF2-40B4-BE49-F238E27FC236}">
                    <a16:creationId xmlns:a16="http://schemas.microsoft.com/office/drawing/2014/main" id="{5B7685DD-237A-D664-F394-C963BC60216D}"/>
                  </a:ext>
                </a:extLst>
              </p:cNvPr>
              <p:cNvSpPr txBox="1"/>
              <p:nvPr/>
            </p:nvSpPr>
            <p:spPr>
              <a:xfrm>
                <a:off x="381000" y="1143000"/>
                <a:ext cx="8477250" cy="2508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de-DE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In phase k, each block moves </a:t>
                </a:r>
                <a14:m>
                  <m:oMath xmlns:m="http://schemas.openxmlformats.org/officeDocument/2006/math">
                    <m:r>
                      <a:rPr lang="en-GB" sz="1800" i="0" dirty="0">
                        <a:solidFill>
                          <a:srgbClr val="C50C1E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+</m:t>
                    </m:r>
                    <m:sSup>
                      <m:sSupPr>
                        <m:ctrlPr>
                          <a:rPr lang="de-DE" sz="1800" i="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i="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i="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or </a:t>
                </a:r>
                <a14:m>
                  <m:oMath xmlns:m="http://schemas.openxmlformats.org/officeDocument/2006/math">
                    <m:r>
                      <a:rPr lang="de-DE" sz="1800" i="0" dirty="0">
                        <a:solidFill>
                          <a:srgbClr val="C50C1E"/>
                        </a:solidFill>
                        <a:latin typeface="Cambria Math" panose="02040503050406030204" pitchFamily="18" charset="0"/>
                        <a:ea typeface="Consolas"/>
                        <a:cs typeface="Arial" panose="020B0604020202020204" pitchFamily="34" charset="0"/>
                        <a:sym typeface="Consolas"/>
                      </a:rPr>
                      <m:t>−</m:t>
                    </m:r>
                    <m:sSup>
                      <m:sSupPr>
                        <m:ctrlPr>
                          <a:rPr lang="de-DE" sz="1800" i="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i="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i="0" dirty="0">
                            <a:solidFill>
                              <a:srgbClr val="C50C1E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or stays local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de-DE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Each source-destination pair has unique power of three representation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endParaRPr lang="de-DE" sz="1800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Peers in phase </a:t>
                </a:r>
                <a:r>
                  <a:rPr lang="en-GB" sz="1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k</a:t>
                </a: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u</m:t>
                    </m:r>
                    <m:r>
                      <a:rPr lang="en-GB" sz="18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±</m:t>
                    </m:r>
                    <m:sSup>
                      <m:sSupPr>
                        <m:ctrlPr>
                          <a:rPr lang="de-DE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</a:t>
                </a: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same residue class modulo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Later offsets are multiples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</a:t>
                </a: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future peers are in the same subset</a:t>
                </a:r>
              </a:p>
              <a:p>
                <a:pPr lvl="1">
                  <a:lnSpc>
                    <a:spcPct val="125000"/>
                  </a:lnSpc>
                  <a:buSzPct val="140000"/>
                </a:pPr>
                <a:r>
                  <a:rPr lang="en-GB" sz="1800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partition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sSupPr>
                      <m:e>
                        <m:r>
                          <a:rPr lang="de-DE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de-DE" sz="1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k</m:t>
                        </m:r>
                      </m:sup>
                    </m:sSup>
                  </m:oMath>
                </a14:m>
                <a:r>
                  <a:rPr lang="en-GB" sz="1800" dirty="0">
                    <a:solidFill>
                      <a:schemeClr val="tx1"/>
                    </a:solidFill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 subrings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Consolas"/>
                          </a:rPr>
                          <m:t>n</m:t>
                        </m:r>
                      </m:num>
                      <m:den>
                        <m:sSup>
                          <m:sSupPr>
                            <m:ctrlPr>
                              <a:rPr lang="de-DE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</m:ctrlPr>
                          </m:sSupPr>
                          <m:e>
                            <m:r>
                              <a:rPr lang="de-DE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de-DE" sz="18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  <a:sym typeface="Consolas"/>
                              </a:rPr>
                              <m:t>k</m:t>
                            </m:r>
                          </m:sup>
                        </m:sSup>
                      </m:den>
                    </m:f>
                  </m:oMath>
                </a14:m>
                <a:endParaRPr lang="en-GB" sz="1800" dirty="0">
                  <a:solidFill>
                    <a:schemeClr val="tx1"/>
                  </a:solidFill>
                  <a:latin typeface="Arial" panose="020B0604020202020204" pitchFamily="34" charset="0"/>
                  <a:ea typeface="Consolas"/>
                  <a:cs typeface="Arial" panose="020B0604020202020204" pitchFamily="34" charset="0"/>
                  <a:sym typeface="Consolas"/>
                </a:endParaRPr>
              </a:p>
            </p:txBody>
          </p:sp>
        </mc:Choice>
        <mc:Fallback xmlns="">
          <p:sp>
            <p:nvSpPr>
              <p:cNvPr id="6" name="Google Shape;1534;g60be7dcf1c_0_434">
                <a:extLst>
                  <a:ext uri="{FF2B5EF4-FFF2-40B4-BE49-F238E27FC236}">
                    <a16:creationId xmlns:a16="http://schemas.microsoft.com/office/drawing/2014/main" id="{5B7685DD-237A-D664-F394-C963BC602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43000"/>
                <a:ext cx="8477250" cy="2508250"/>
              </a:xfrm>
              <a:prstGeom prst="rect">
                <a:avLst/>
              </a:prstGeom>
              <a:blipFill>
                <a:blip r:embed="rId2"/>
                <a:stretch>
                  <a:fillRect l="-1151" t="-12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5AA36F4-2A90-E2BC-A90F-67E63B819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29" y="3731650"/>
            <a:ext cx="2107316" cy="216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F1B9D4-DCCB-2346-6F21-1D49B40F0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197" y="3630050"/>
            <a:ext cx="2247804" cy="2160000"/>
          </a:xfrm>
          <a:prstGeom prst="rect">
            <a:avLst/>
          </a:prstGeom>
        </p:spPr>
      </p:pic>
      <p:sp>
        <p:nvSpPr>
          <p:cNvPr id="12" name="TextBox 20">
            <a:extLst>
              <a:ext uri="{FF2B5EF4-FFF2-40B4-BE49-F238E27FC236}">
                <a16:creationId xmlns:a16="http://schemas.microsoft.com/office/drawing/2014/main" id="{69B6E77D-6FAE-FC2C-2068-D5D1229E84E2}"/>
              </a:ext>
            </a:extLst>
          </p:cNvPr>
          <p:cNvSpPr txBox="1"/>
          <p:nvPr/>
        </p:nvSpPr>
        <p:spPr>
          <a:xfrm>
            <a:off x="1864075" y="5666244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0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B5538DB1-9947-2792-E846-0287C8B408EA}"/>
              </a:ext>
            </a:extLst>
          </p:cNvPr>
          <p:cNvSpPr txBox="1"/>
          <p:nvPr/>
        </p:nvSpPr>
        <p:spPr>
          <a:xfrm>
            <a:off x="4623586" y="5666244"/>
            <a:ext cx="1770894" cy="30580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5000"/>
              </a:lnSpc>
            </a:pPr>
            <a:r>
              <a:rPr lang="en-GB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Phase 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784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73580B-08D0-3301-E745-F598F00AE072}"/>
              </a:ext>
            </a:extLst>
          </p:cNvPr>
          <p:cNvSpPr txBox="1"/>
          <p:nvPr/>
        </p:nvSpPr>
        <p:spPr>
          <a:xfrm>
            <a:off x="152400" y="101600"/>
            <a:ext cx="815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Reconfiguration: reuse instead of repeat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ri body">
                <a:extLst>
                  <a:ext uri="{FF2B5EF4-FFF2-40B4-BE49-F238E27FC236}">
                    <a16:creationId xmlns:a16="http://schemas.microsoft.com/office/drawing/2014/main" id="{0CBCAC3F-E9B1-E0DF-393A-8B19BFDE056F}"/>
                  </a:ext>
                </a:extLst>
              </p:cNvPr>
              <p:cNvSpPr txBox="1"/>
              <p:nvPr/>
            </p:nvSpPr>
            <p:spPr>
              <a:xfrm>
                <a:off x="381000" y="950000"/>
                <a:ext cx="8382000" cy="17500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rgbClr val="1A1A1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After reconfiguring for phase k, both peers are directly connected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rgbClr val="1A1A1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Future peers remain inside the same subring: 3</a:t>
                </a:r>
                <a:r>
                  <a:rPr lang="en-GB" sz="1800" baseline="30000" dirty="0">
                    <a:solidFill>
                      <a:srgbClr val="1A1A1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k+t</a:t>
                </a:r>
                <a:r>
                  <a:rPr lang="en-GB" sz="1800" dirty="0">
                    <a:solidFill>
                      <a:srgbClr val="1A1A1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hops become 3</a:t>
                </a:r>
                <a:r>
                  <a:rPr lang="en-GB" sz="1800" baseline="30000" dirty="0">
                    <a:solidFill>
                      <a:srgbClr val="1A1A1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r>
                  <a:rPr lang="en-GB" sz="1800" dirty="0">
                    <a:solidFill>
                      <a:srgbClr val="1A1A1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hops</a:t>
                </a:r>
              </a:p>
              <a:p>
                <a:pPr>
                  <a:lnSpc>
                    <a:spcPct val="125000"/>
                  </a:lnSpc>
                  <a:buSzPct val="140000"/>
                </a:pPr>
                <a:r>
                  <a:rPr lang="en-GB" sz="1800" dirty="0">
                    <a:solidFill>
                      <a:srgbClr val="C50C1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⇒ one reconfiguration can serve several phases</a:t>
                </a:r>
              </a:p>
              <a:p>
                <a:pPr marL="285750" indent="-285750">
                  <a:lnSpc>
                    <a:spcPct val="125000"/>
                  </a:lnSpc>
                  <a:buSzPct val="140000"/>
                  <a:buFont typeface="Arial" panose="020B0604020202020204" pitchFamily="34" charset="0"/>
                  <a:buChar char="•"/>
                </a:pPr>
                <a:r>
                  <a:rPr lang="en-GB" sz="1800" dirty="0">
                    <a:solidFill>
                      <a:srgbClr val="1A1A1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ReTri needs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80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GB" sz="1800" i="0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GB" sz="1800" i="0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log</m:t>
                            </m:r>
                          </m:e>
                          <m:sub>
                            <m:r>
                              <a:rPr lang="de-DE" sz="180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de-DE" sz="18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e>
                    </m:func>
                  </m:oMath>
                </a14:m>
                <a:r>
                  <a:rPr lang="en-GB" sz="1800" dirty="0">
                    <a:solidFill>
                      <a:srgbClr val="1A1A1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≈ 1.58× fewer phases than Bruck</a:t>
                </a:r>
              </a:p>
            </p:txBody>
          </p:sp>
        </mc:Choice>
        <mc:Fallback xmlns="">
          <p:sp>
            <p:nvSpPr>
              <p:cNvPr id="7" name="ReTri body">
                <a:extLst>
                  <a:ext uri="{FF2B5EF4-FFF2-40B4-BE49-F238E27FC236}">
                    <a16:creationId xmlns:a16="http://schemas.microsoft.com/office/drawing/2014/main" id="{0CBCAC3F-E9B1-E0DF-393A-8B19BFDE0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950000"/>
                <a:ext cx="8382000" cy="1750000"/>
              </a:xfrm>
              <a:prstGeom prst="rect">
                <a:avLst/>
              </a:prstGeom>
              <a:blipFill>
                <a:blip r:embed="rId2"/>
                <a:stretch>
                  <a:fillRect l="-1091" t="-48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figD_schedule.png">
            <a:extLst>
              <a:ext uri="{FF2B5EF4-FFF2-40B4-BE49-F238E27FC236}">
                <a16:creationId xmlns:a16="http://schemas.microsoft.com/office/drawing/2014/main" id="{6FD81B2C-106B-BF78-5ED1-17D6CF885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" y="3025179"/>
            <a:ext cx="8021320" cy="278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762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0D1AF-1E15-D52B-7A90-96F4FB27C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928F7E-E44D-33DD-5ACD-E916C0C53297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with Astra-Sim/ns-3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AB7DD57-A6F6-B496-6EF3-EFC2A6EF67B7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47083A-E45F-BB6F-9BF6-879EBA9E9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9" y="2250307"/>
            <a:ext cx="4177760" cy="288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0A0BFE-BE03-DCCA-2352-317658489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50307"/>
            <a:ext cx="4170162" cy="2880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FFAEF35-D1FA-D14C-0C82-A2A73F88755A}"/>
              </a:ext>
            </a:extLst>
          </p:cNvPr>
          <p:cNvSpPr/>
          <p:nvPr/>
        </p:nvSpPr>
        <p:spPr>
          <a:xfrm>
            <a:off x="312419" y="790425"/>
            <a:ext cx="7609523" cy="597622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3">
                <a:extLst>
                  <a:ext uri="{FF2B5EF4-FFF2-40B4-BE49-F238E27FC236}">
                    <a16:creationId xmlns:a16="http://schemas.microsoft.com/office/drawing/2014/main" id="{9A5BC3E7-9B2B-33CF-DCDD-8BB79469E0C5}"/>
                  </a:ext>
                </a:extLst>
              </p:cNvPr>
              <p:cNvSpPr/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Astra-Sim + ns-3 ·  400 Gb/s links  ·  1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µs</a:t>
                </a:r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link latency  ·  1.7 µs per phase  latency  · 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Messages 1 KB – 256 MB  ·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= 100ns – 50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ms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 · 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ReTri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n = 81 vs. Bruck n = 64</a:t>
                </a:r>
              </a:p>
            </p:txBody>
          </p:sp>
        </mc:Choice>
        <mc:Fallback xmlns="">
          <p:sp>
            <p:nvSpPr>
              <p:cNvPr id="18" name="Text 3">
                <a:extLst>
                  <a:ext uri="{FF2B5EF4-FFF2-40B4-BE49-F238E27FC236}">
                    <a16:creationId xmlns:a16="http://schemas.microsoft.com/office/drawing/2014/main" id="{9A5BC3E7-9B2B-33CF-DCDD-8BB79469E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blipFill>
                <a:blip r:embed="rId4"/>
                <a:stretch>
                  <a:fillRect l="-1519" t="-1163" b="-11628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D73D9199-C86F-E646-4FC2-3DC21D568AF9}"/>
              </a:ext>
            </a:extLst>
          </p:cNvPr>
          <p:cNvSpPr/>
          <p:nvPr/>
        </p:nvSpPr>
        <p:spPr>
          <a:xfrm>
            <a:off x="270509" y="790425"/>
            <a:ext cx="83820" cy="597622"/>
          </a:xfrm>
          <a:prstGeom prst="rect">
            <a:avLst/>
          </a:prstGeom>
          <a:solidFill>
            <a:srgbClr val="C5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D793D-A107-2640-FCA2-9B84AB671C87}"/>
              </a:ext>
            </a:extLst>
          </p:cNvPr>
          <p:cNvSpPr txBox="1"/>
          <p:nvPr/>
        </p:nvSpPr>
        <p:spPr>
          <a:xfrm>
            <a:off x="5137150" y="1880975"/>
            <a:ext cx="29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Trivance vs. Reconf. Bruck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431FF5-7CDE-43DB-3117-344CB64038B4}"/>
              </a:ext>
            </a:extLst>
          </p:cNvPr>
          <p:cNvSpPr txBox="1"/>
          <p:nvPr/>
        </p:nvSpPr>
        <p:spPr>
          <a:xfrm>
            <a:off x="1145916" y="1887263"/>
            <a:ext cx="2454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Trivance vs. Static</a:t>
            </a:r>
          </a:p>
        </p:txBody>
      </p:sp>
    </p:spTree>
    <p:extLst>
      <p:ext uri="{BB962C8B-B14F-4D97-AF65-F5344CB8AC3E}">
        <p14:creationId xmlns:p14="http://schemas.microsoft.com/office/powerpoint/2010/main" val="3242718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FDE90-8B1B-8EA4-9427-C429631AF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E5923A-7DCE-A95B-D604-5587E4226087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with Astra-Sim/ns-3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A341EEDB-053F-D28B-BCBA-F7FBD0092FEB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0AAE46-2E3C-1EAA-AEA1-478AD899B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9" y="2250307"/>
            <a:ext cx="4177760" cy="288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48324A-469B-1461-1653-5D9C6A169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50307"/>
            <a:ext cx="4170162" cy="2880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9B5C506-F1DD-390E-F295-ED5B928CB848}"/>
              </a:ext>
            </a:extLst>
          </p:cNvPr>
          <p:cNvSpPr/>
          <p:nvPr/>
        </p:nvSpPr>
        <p:spPr>
          <a:xfrm>
            <a:off x="312419" y="790425"/>
            <a:ext cx="7609523" cy="597622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3">
                <a:extLst>
                  <a:ext uri="{FF2B5EF4-FFF2-40B4-BE49-F238E27FC236}">
                    <a16:creationId xmlns:a16="http://schemas.microsoft.com/office/drawing/2014/main" id="{3D0BD90B-6251-C161-DA2E-812C1B80EC55}"/>
                  </a:ext>
                </a:extLst>
              </p:cNvPr>
              <p:cNvSpPr/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Astra-Sim + ns-3 ·  400 Gb/s links  ·  1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µs</a:t>
                </a:r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link latency  ·  1.7 µs per phase  latency  · 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Messages 1 KB – 256 MB  · </a:t>
                </a:r>
                <a14:m>
                  <m:oMath xmlns:m="http://schemas.openxmlformats.org/officeDocument/2006/math">
                    <m:r>
                      <a:rPr lang="en-GB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= 100ns – 50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ms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 · 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ReTri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n = 81 vs. Bruck n = 64</a:t>
                </a:r>
              </a:p>
            </p:txBody>
          </p:sp>
        </mc:Choice>
        <mc:Fallback xmlns="">
          <p:sp>
            <p:nvSpPr>
              <p:cNvPr id="18" name="Text 3">
                <a:extLst>
                  <a:ext uri="{FF2B5EF4-FFF2-40B4-BE49-F238E27FC236}">
                    <a16:creationId xmlns:a16="http://schemas.microsoft.com/office/drawing/2014/main" id="{3D0BD90B-6251-C161-DA2E-812C1B80EC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blipFill>
                <a:blip r:embed="rId4"/>
                <a:stretch>
                  <a:fillRect l="-1519" t="-1163" b="-11628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BCD9F41B-CAC4-E89D-F64A-1542F80058C4}"/>
              </a:ext>
            </a:extLst>
          </p:cNvPr>
          <p:cNvSpPr/>
          <p:nvPr/>
        </p:nvSpPr>
        <p:spPr>
          <a:xfrm>
            <a:off x="270509" y="790425"/>
            <a:ext cx="83820" cy="597622"/>
          </a:xfrm>
          <a:prstGeom prst="rect">
            <a:avLst/>
          </a:prstGeom>
          <a:solidFill>
            <a:srgbClr val="C5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6E0476-7E67-26DF-4D33-706A277069B2}"/>
              </a:ext>
            </a:extLst>
          </p:cNvPr>
          <p:cNvSpPr txBox="1"/>
          <p:nvPr/>
        </p:nvSpPr>
        <p:spPr>
          <a:xfrm>
            <a:off x="5137150" y="1880975"/>
            <a:ext cx="29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Trivance vs. Reconf. Bruck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28809F-0394-B521-6593-EE6AF2457DA3}"/>
              </a:ext>
            </a:extLst>
          </p:cNvPr>
          <p:cNvSpPr txBox="1"/>
          <p:nvPr/>
        </p:nvSpPr>
        <p:spPr>
          <a:xfrm>
            <a:off x="1145916" y="1887263"/>
            <a:ext cx="2454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Trivance vs. Static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B934EE5-1CDF-FD2C-337D-542F0E3B70AD}"/>
              </a:ext>
            </a:extLst>
          </p:cNvPr>
          <p:cNvCxnSpPr>
            <a:cxnSpLocks/>
          </p:cNvCxnSpPr>
          <p:nvPr/>
        </p:nvCxnSpPr>
        <p:spPr>
          <a:xfrm flipV="1">
            <a:off x="506567" y="3600450"/>
            <a:ext cx="0" cy="1652861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16E7AA6-5817-159A-D28E-D09A465ECC22}"/>
              </a:ext>
            </a:extLst>
          </p:cNvPr>
          <p:cNvSpPr txBox="1"/>
          <p:nvPr/>
        </p:nvSpPr>
        <p:spPr>
          <a:xfrm>
            <a:off x="0" y="5253311"/>
            <a:ext cx="2781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Speedup </a:t>
            </a:r>
            <a:r>
              <a:rPr lang="de-DE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increases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vs. Static with message size</a:t>
            </a:r>
          </a:p>
        </p:txBody>
      </p:sp>
    </p:spTree>
    <p:extLst>
      <p:ext uri="{BB962C8B-B14F-4D97-AF65-F5344CB8AC3E}">
        <p14:creationId xmlns:p14="http://schemas.microsoft.com/office/powerpoint/2010/main" val="1513832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4C807-C33E-095B-350E-427DCD39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218546-C4B2-9182-22B3-C6A400E7F659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with Astra-Sim/ns-3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694330E2-0C89-7B31-850A-3A86405EB5E1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71E42C-F5ED-9FA7-9F0B-BAF9BEB51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9" y="2250307"/>
            <a:ext cx="4177760" cy="288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B922D0-89E8-B4F2-0789-66C194F4F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50307"/>
            <a:ext cx="4170162" cy="2880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8C4E5AF-888A-81DE-728E-5681EC917D93}"/>
              </a:ext>
            </a:extLst>
          </p:cNvPr>
          <p:cNvSpPr/>
          <p:nvPr/>
        </p:nvSpPr>
        <p:spPr>
          <a:xfrm>
            <a:off x="312419" y="790425"/>
            <a:ext cx="7609523" cy="597622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3">
                <a:extLst>
                  <a:ext uri="{FF2B5EF4-FFF2-40B4-BE49-F238E27FC236}">
                    <a16:creationId xmlns:a16="http://schemas.microsoft.com/office/drawing/2014/main" id="{242F197A-D545-12E8-8DF9-CFC0B1993633}"/>
                  </a:ext>
                </a:extLst>
              </p:cNvPr>
              <p:cNvSpPr/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Astra-Sim + ns-3 ·  400 Gb/s links  ·  1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µs</a:t>
                </a:r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link latency  ·  1.7 µs per phase  latency  · 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Messages 1 KB – 256 MB  · </a:t>
                </a:r>
                <a14:m>
                  <m:oMath xmlns:m="http://schemas.openxmlformats.org/officeDocument/2006/math">
                    <m:r>
                      <a:rPr lang="en-GB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= 100ns – 50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ms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 · 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ReTri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n = 81 vs. Bruck n = 64</a:t>
                </a:r>
              </a:p>
            </p:txBody>
          </p:sp>
        </mc:Choice>
        <mc:Fallback xmlns="">
          <p:sp>
            <p:nvSpPr>
              <p:cNvPr id="18" name="Text 3">
                <a:extLst>
                  <a:ext uri="{FF2B5EF4-FFF2-40B4-BE49-F238E27FC236}">
                    <a16:creationId xmlns:a16="http://schemas.microsoft.com/office/drawing/2014/main" id="{242F197A-D545-12E8-8DF9-CFC0B19936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blipFill>
                <a:blip r:embed="rId4"/>
                <a:stretch>
                  <a:fillRect l="-1519" t="-1163" b="-11628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CE605936-E468-C5EC-EF3D-3CFAE7B6645A}"/>
              </a:ext>
            </a:extLst>
          </p:cNvPr>
          <p:cNvSpPr/>
          <p:nvPr/>
        </p:nvSpPr>
        <p:spPr>
          <a:xfrm>
            <a:off x="270509" y="790425"/>
            <a:ext cx="83820" cy="597622"/>
          </a:xfrm>
          <a:prstGeom prst="rect">
            <a:avLst/>
          </a:prstGeom>
          <a:solidFill>
            <a:srgbClr val="C5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1676FD-EB2E-9B25-5480-3E3721CC8418}"/>
              </a:ext>
            </a:extLst>
          </p:cNvPr>
          <p:cNvSpPr txBox="1"/>
          <p:nvPr/>
        </p:nvSpPr>
        <p:spPr>
          <a:xfrm>
            <a:off x="5137150" y="1880975"/>
            <a:ext cx="29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Trivance vs. Reconf. Bruck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5CB1F1-B7AA-90F6-5B6F-415D2DB06BDD}"/>
              </a:ext>
            </a:extLst>
          </p:cNvPr>
          <p:cNvSpPr txBox="1"/>
          <p:nvPr/>
        </p:nvSpPr>
        <p:spPr>
          <a:xfrm>
            <a:off x="1145916" y="1887263"/>
            <a:ext cx="2454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Trivance vs. Static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4756049-04C5-9521-C78A-02A42FBAB1AA}"/>
              </a:ext>
            </a:extLst>
          </p:cNvPr>
          <p:cNvCxnSpPr>
            <a:cxnSpLocks/>
          </p:cNvCxnSpPr>
          <p:nvPr/>
        </p:nvCxnSpPr>
        <p:spPr>
          <a:xfrm flipV="1">
            <a:off x="506567" y="3600450"/>
            <a:ext cx="0" cy="1652861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53D63B-3881-BF91-68F0-21B0A5A69A76}"/>
              </a:ext>
            </a:extLst>
          </p:cNvPr>
          <p:cNvSpPr txBox="1"/>
          <p:nvPr/>
        </p:nvSpPr>
        <p:spPr>
          <a:xfrm>
            <a:off x="0" y="5253311"/>
            <a:ext cx="2781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Speedup </a:t>
            </a:r>
            <a:r>
              <a:rPr lang="de-DE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increases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vs. Static with message size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2A39DBA-7A48-FD9E-3C98-4214C85D3427}"/>
              </a:ext>
            </a:extLst>
          </p:cNvPr>
          <p:cNvCxnSpPr>
            <a:cxnSpLocks/>
          </p:cNvCxnSpPr>
          <p:nvPr/>
        </p:nvCxnSpPr>
        <p:spPr>
          <a:xfrm flipH="1" flipV="1">
            <a:off x="2468857" y="5126174"/>
            <a:ext cx="974361" cy="590550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8CFE119-8854-5892-E075-B8B630B287B2}"/>
                  </a:ext>
                </a:extLst>
              </p:cNvPr>
              <p:cNvSpPr txBox="1"/>
              <p:nvPr/>
            </p:nvSpPr>
            <p:spPr>
              <a:xfrm>
                <a:off x="3443218" y="5497268"/>
                <a:ext cx="27813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latin typeface="Arial" panose="020B0604020202020204" pitchFamily="34" charset="0"/>
                    <a:cs typeface="Arial" panose="020B0604020202020204" pitchFamily="34" charset="0"/>
                  </a:rPr>
                  <a:t>Higher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de-DE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fewer </a:t>
                </a:r>
                <a:r>
                  <a:rPr lang="en-GB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reconfigurations</a:t>
                </a:r>
                <a:endParaRPr lang="de-DE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8CFE119-8854-5892-E075-B8B630B28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218" y="5497268"/>
                <a:ext cx="2781300" cy="646331"/>
              </a:xfrm>
              <a:prstGeom prst="rect">
                <a:avLst/>
              </a:prstGeom>
              <a:blipFill>
                <a:blip r:embed="rId5"/>
                <a:stretch>
                  <a:fillRect l="-1974" t="-6604" b="-14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8108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30C19-62ED-8AB5-3CB4-A52E3DBB8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986D1F-0E88-A516-64C0-0C2EFFF794CD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with Astra-Sim/ns-3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7E74771-6211-8A89-3518-0F6B41173389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630136-BB17-8AB0-078F-C8964AF68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9" y="2250307"/>
            <a:ext cx="4177760" cy="288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D357C5-F02B-A779-AA25-4B8AC536C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50307"/>
            <a:ext cx="4170162" cy="2880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C63BF52-82E4-F0C4-F22A-211DD6063242}"/>
              </a:ext>
            </a:extLst>
          </p:cNvPr>
          <p:cNvSpPr/>
          <p:nvPr/>
        </p:nvSpPr>
        <p:spPr>
          <a:xfrm>
            <a:off x="312419" y="790425"/>
            <a:ext cx="7609523" cy="597622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3">
                <a:extLst>
                  <a:ext uri="{FF2B5EF4-FFF2-40B4-BE49-F238E27FC236}">
                    <a16:creationId xmlns:a16="http://schemas.microsoft.com/office/drawing/2014/main" id="{03499D98-CF26-154D-C28D-054C92E3133E}"/>
                  </a:ext>
                </a:extLst>
              </p:cNvPr>
              <p:cNvSpPr/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Astra-Sim + ns-3 ·  400 Gb/s links  ·  1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µs</a:t>
                </a:r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link latency  ·  1.7 µs per phase  latency  · 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Messages 1 KB – 256 MB  · </a:t>
                </a:r>
                <a14:m>
                  <m:oMath xmlns:m="http://schemas.openxmlformats.org/officeDocument/2006/math">
                    <m:r>
                      <a:rPr lang="en-GB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= 100ns – 50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ms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 · 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ReTri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n = 81 vs. Bruck n = 64</a:t>
                </a:r>
              </a:p>
            </p:txBody>
          </p:sp>
        </mc:Choice>
        <mc:Fallback xmlns="">
          <p:sp>
            <p:nvSpPr>
              <p:cNvPr id="18" name="Text 3">
                <a:extLst>
                  <a:ext uri="{FF2B5EF4-FFF2-40B4-BE49-F238E27FC236}">
                    <a16:creationId xmlns:a16="http://schemas.microsoft.com/office/drawing/2014/main" id="{03499D98-CF26-154D-C28D-054C92E313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blipFill>
                <a:blip r:embed="rId4"/>
                <a:stretch>
                  <a:fillRect l="-1519" t="-1163" b="-11628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9F90C338-167C-FF1B-237A-AF4370EE89B9}"/>
              </a:ext>
            </a:extLst>
          </p:cNvPr>
          <p:cNvSpPr/>
          <p:nvPr/>
        </p:nvSpPr>
        <p:spPr>
          <a:xfrm>
            <a:off x="270509" y="790425"/>
            <a:ext cx="83820" cy="597622"/>
          </a:xfrm>
          <a:prstGeom prst="rect">
            <a:avLst/>
          </a:prstGeom>
          <a:solidFill>
            <a:srgbClr val="C5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1C93AA-42CD-57E2-9414-F596EB384580}"/>
              </a:ext>
            </a:extLst>
          </p:cNvPr>
          <p:cNvSpPr txBox="1"/>
          <p:nvPr/>
        </p:nvSpPr>
        <p:spPr>
          <a:xfrm>
            <a:off x="5137150" y="1880975"/>
            <a:ext cx="29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Trivance vs. Reconf. Bruck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2C2A9E-F0EC-E32F-B8B5-A76E78C72D76}"/>
              </a:ext>
            </a:extLst>
          </p:cNvPr>
          <p:cNvSpPr txBox="1"/>
          <p:nvPr/>
        </p:nvSpPr>
        <p:spPr>
          <a:xfrm>
            <a:off x="1145916" y="1887263"/>
            <a:ext cx="2454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Trivance vs. Static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3A6D51D-C797-C82F-31AE-5895AC809AD4}"/>
              </a:ext>
            </a:extLst>
          </p:cNvPr>
          <p:cNvCxnSpPr>
            <a:cxnSpLocks/>
          </p:cNvCxnSpPr>
          <p:nvPr/>
        </p:nvCxnSpPr>
        <p:spPr>
          <a:xfrm flipV="1">
            <a:off x="506567" y="3600450"/>
            <a:ext cx="0" cy="1652861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FEA84F4-F732-5F49-E52C-68BC8C426F8A}"/>
              </a:ext>
            </a:extLst>
          </p:cNvPr>
          <p:cNvSpPr txBox="1"/>
          <p:nvPr/>
        </p:nvSpPr>
        <p:spPr>
          <a:xfrm>
            <a:off x="0" y="5253311"/>
            <a:ext cx="2781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Speedup </a:t>
            </a:r>
            <a:r>
              <a:rPr lang="de-DE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increases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vs. Static with message size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18BE9E9-786D-7862-5139-F01AE4D0B086}"/>
              </a:ext>
            </a:extLst>
          </p:cNvPr>
          <p:cNvCxnSpPr>
            <a:cxnSpLocks/>
          </p:cNvCxnSpPr>
          <p:nvPr/>
        </p:nvCxnSpPr>
        <p:spPr>
          <a:xfrm flipH="1" flipV="1">
            <a:off x="2468857" y="5126174"/>
            <a:ext cx="974361" cy="590550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6EE1980-2CE0-2DB8-2B6C-8A1FF02DF607}"/>
                  </a:ext>
                </a:extLst>
              </p:cNvPr>
              <p:cNvSpPr txBox="1"/>
              <p:nvPr/>
            </p:nvSpPr>
            <p:spPr>
              <a:xfrm>
                <a:off x="3443218" y="5497268"/>
                <a:ext cx="27813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latin typeface="Arial" panose="020B0604020202020204" pitchFamily="34" charset="0"/>
                    <a:cs typeface="Arial" panose="020B0604020202020204" pitchFamily="34" charset="0"/>
                  </a:rPr>
                  <a:t>Higher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de-DE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fewer </a:t>
                </a:r>
                <a:r>
                  <a:rPr lang="en-GB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reconfigurations</a:t>
                </a:r>
                <a:endParaRPr lang="de-DE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6EE1980-2CE0-2DB8-2B6C-8A1FF02DF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218" y="5497268"/>
                <a:ext cx="2781300" cy="646331"/>
              </a:xfrm>
              <a:prstGeom prst="rect">
                <a:avLst/>
              </a:prstGeom>
              <a:blipFill>
                <a:blip r:embed="rId5"/>
                <a:stretch>
                  <a:fillRect l="-1974" t="-6604" b="-14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95E1E65-784A-EA26-C9EF-8D98FB2857B3}"/>
              </a:ext>
            </a:extLst>
          </p:cNvPr>
          <p:cNvCxnSpPr>
            <a:cxnSpLocks/>
          </p:cNvCxnSpPr>
          <p:nvPr/>
        </p:nvCxnSpPr>
        <p:spPr>
          <a:xfrm flipH="1" flipV="1">
            <a:off x="4907257" y="4030799"/>
            <a:ext cx="685800" cy="1390650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9E1B944-1756-C187-8445-047B45DD5F31}"/>
              </a:ext>
            </a:extLst>
          </p:cNvPr>
          <p:cNvSpPr txBox="1"/>
          <p:nvPr/>
        </p:nvSpPr>
        <p:spPr>
          <a:xfrm>
            <a:off x="5413375" y="5497267"/>
            <a:ext cx="1912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Improvement is </a:t>
            </a:r>
            <a:b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constant</a:t>
            </a:r>
          </a:p>
        </p:txBody>
      </p:sp>
    </p:spTree>
    <p:extLst>
      <p:ext uri="{BB962C8B-B14F-4D97-AF65-F5344CB8AC3E}">
        <p14:creationId xmlns:p14="http://schemas.microsoft.com/office/powerpoint/2010/main" val="333236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E34F3-AFFD-1EA2-3360-2CEC191E5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DA954B-AE2B-A9E0-B1B2-FF5245913FF9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with Astra-Sim/ns-3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3AB2B554-7D82-FA61-A756-8C215371A85F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A1B78A-EC7F-E250-2E2A-518618D51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9" y="2250307"/>
            <a:ext cx="4177760" cy="288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4A8496-BF7F-7027-C12B-9B3AF3046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50307"/>
            <a:ext cx="4170162" cy="2880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44E60A6-FCB9-FC4C-7DE0-0F681629899F}"/>
              </a:ext>
            </a:extLst>
          </p:cNvPr>
          <p:cNvSpPr/>
          <p:nvPr/>
        </p:nvSpPr>
        <p:spPr>
          <a:xfrm>
            <a:off x="312419" y="790425"/>
            <a:ext cx="7609523" cy="597622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3">
                <a:extLst>
                  <a:ext uri="{FF2B5EF4-FFF2-40B4-BE49-F238E27FC236}">
                    <a16:creationId xmlns:a16="http://schemas.microsoft.com/office/drawing/2014/main" id="{0E3444EB-CE3C-99BD-0158-89EB58901D57}"/>
                  </a:ext>
                </a:extLst>
              </p:cNvPr>
              <p:cNvSpPr/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Astra-Sim + ns-3 ·  400 Gb/s links  ·  1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µs</a:t>
                </a:r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link latency  ·  1.7 µs per phase  latency  · 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Messages 1 KB – 256 MB  · </a:t>
                </a:r>
                <a14:m>
                  <m:oMath xmlns:m="http://schemas.openxmlformats.org/officeDocument/2006/math">
                    <m:r>
                      <a:rPr lang="en-GB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= 100ns – 50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ms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 · 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ReTri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n = 81 vs. Bruck n = 64</a:t>
                </a:r>
              </a:p>
            </p:txBody>
          </p:sp>
        </mc:Choice>
        <mc:Fallback xmlns="">
          <p:sp>
            <p:nvSpPr>
              <p:cNvPr id="18" name="Text 3">
                <a:extLst>
                  <a:ext uri="{FF2B5EF4-FFF2-40B4-BE49-F238E27FC236}">
                    <a16:creationId xmlns:a16="http://schemas.microsoft.com/office/drawing/2014/main" id="{0E3444EB-CE3C-99BD-0158-89EB58901D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blipFill>
                <a:blip r:embed="rId4"/>
                <a:stretch>
                  <a:fillRect l="-1519" t="-1163" b="-11628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EA7769A0-E65B-6F6F-08BF-3CD4D9244CB8}"/>
              </a:ext>
            </a:extLst>
          </p:cNvPr>
          <p:cNvSpPr/>
          <p:nvPr/>
        </p:nvSpPr>
        <p:spPr>
          <a:xfrm>
            <a:off x="270509" y="790425"/>
            <a:ext cx="83820" cy="597622"/>
          </a:xfrm>
          <a:prstGeom prst="rect">
            <a:avLst/>
          </a:prstGeom>
          <a:solidFill>
            <a:srgbClr val="C5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18DE7C-795C-6C27-3360-3D91C541B523}"/>
              </a:ext>
            </a:extLst>
          </p:cNvPr>
          <p:cNvSpPr txBox="1"/>
          <p:nvPr/>
        </p:nvSpPr>
        <p:spPr>
          <a:xfrm>
            <a:off x="5137150" y="1880975"/>
            <a:ext cx="29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Trivance vs. Reconf. Bruck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F7A53E-13A9-2FAB-CB20-1858D9162CC2}"/>
              </a:ext>
            </a:extLst>
          </p:cNvPr>
          <p:cNvSpPr txBox="1"/>
          <p:nvPr/>
        </p:nvSpPr>
        <p:spPr>
          <a:xfrm>
            <a:off x="1145916" y="1887263"/>
            <a:ext cx="2454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Trivance vs. Static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A9AA881-BF47-F3B5-2FAE-66CF110A073F}"/>
              </a:ext>
            </a:extLst>
          </p:cNvPr>
          <p:cNvCxnSpPr>
            <a:cxnSpLocks/>
          </p:cNvCxnSpPr>
          <p:nvPr/>
        </p:nvCxnSpPr>
        <p:spPr>
          <a:xfrm flipV="1">
            <a:off x="506567" y="3600450"/>
            <a:ext cx="0" cy="1652861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4B5B8A-BF6E-DC5F-EDE2-E5DCE0B532C1}"/>
              </a:ext>
            </a:extLst>
          </p:cNvPr>
          <p:cNvSpPr txBox="1"/>
          <p:nvPr/>
        </p:nvSpPr>
        <p:spPr>
          <a:xfrm>
            <a:off x="0" y="5253311"/>
            <a:ext cx="2781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Speedup </a:t>
            </a:r>
            <a:r>
              <a:rPr lang="de-DE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increases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vs. Static with message size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D955D9-5D0D-BE55-D819-59AE5FB3A670}"/>
              </a:ext>
            </a:extLst>
          </p:cNvPr>
          <p:cNvCxnSpPr>
            <a:cxnSpLocks/>
          </p:cNvCxnSpPr>
          <p:nvPr/>
        </p:nvCxnSpPr>
        <p:spPr>
          <a:xfrm flipH="1" flipV="1">
            <a:off x="2468857" y="5126174"/>
            <a:ext cx="974361" cy="590550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676E678-CB32-2350-9333-276AD80CA47C}"/>
                  </a:ext>
                </a:extLst>
              </p:cNvPr>
              <p:cNvSpPr txBox="1"/>
              <p:nvPr/>
            </p:nvSpPr>
            <p:spPr>
              <a:xfrm>
                <a:off x="3443218" y="5497268"/>
                <a:ext cx="27813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latin typeface="Arial" panose="020B0604020202020204" pitchFamily="34" charset="0"/>
                    <a:cs typeface="Arial" panose="020B0604020202020204" pitchFamily="34" charset="0"/>
                  </a:rPr>
                  <a:t>Higher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de-DE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dirty="0">
                    <a:latin typeface="Arial" panose="020B0604020202020204" pitchFamily="34" charset="0"/>
                    <a:ea typeface="Consolas"/>
                    <a:cs typeface="Arial" panose="020B0604020202020204" pitchFamily="34" charset="0"/>
                    <a:sym typeface="Consolas"/>
                  </a:rPr>
                  <a:t>⇒ fewer </a:t>
                </a:r>
                <a:r>
                  <a:rPr lang="en-GB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  <a:sym typeface="Consolas"/>
                  </a:rPr>
                  <a:t>reconfigurations</a:t>
                </a:r>
                <a:endParaRPr lang="de-DE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676E678-CB32-2350-9333-276AD80CA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218" y="5497268"/>
                <a:ext cx="2781300" cy="646331"/>
              </a:xfrm>
              <a:prstGeom prst="rect">
                <a:avLst/>
              </a:prstGeom>
              <a:blipFill>
                <a:blip r:embed="rId5"/>
                <a:stretch>
                  <a:fillRect l="-1974" t="-6604" b="-14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9E49CC8-3660-4283-DFFE-1E52D1485F24}"/>
              </a:ext>
            </a:extLst>
          </p:cNvPr>
          <p:cNvCxnSpPr>
            <a:cxnSpLocks/>
          </p:cNvCxnSpPr>
          <p:nvPr/>
        </p:nvCxnSpPr>
        <p:spPr>
          <a:xfrm flipH="1" flipV="1">
            <a:off x="4907257" y="4030799"/>
            <a:ext cx="685800" cy="1390650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75E9250-CF33-397F-A0C3-BFA2C55C8B79}"/>
              </a:ext>
            </a:extLst>
          </p:cNvPr>
          <p:cNvSpPr txBox="1"/>
          <p:nvPr/>
        </p:nvSpPr>
        <p:spPr>
          <a:xfrm>
            <a:off x="5413375" y="5497267"/>
            <a:ext cx="1912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Improvement is </a:t>
            </a:r>
            <a:b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constant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C067A1-13FF-812E-9529-50C57D3116A6}"/>
              </a:ext>
            </a:extLst>
          </p:cNvPr>
          <p:cNvSpPr/>
          <p:nvPr/>
        </p:nvSpPr>
        <p:spPr>
          <a:xfrm>
            <a:off x="6134100" y="3962897"/>
            <a:ext cx="1787842" cy="763227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A81B50B-70D2-CCED-B247-C9AD96D77940}"/>
              </a:ext>
            </a:extLst>
          </p:cNvPr>
          <p:cNvCxnSpPr>
            <a:cxnSpLocks/>
          </p:cNvCxnSpPr>
          <p:nvPr/>
        </p:nvCxnSpPr>
        <p:spPr>
          <a:xfrm flipH="1" flipV="1">
            <a:off x="7537450" y="4775200"/>
            <a:ext cx="311150" cy="673074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70412D-468D-4239-8C46-F4CC8C36F244}"/>
              </a:ext>
            </a:extLst>
          </p:cNvPr>
          <p:cNvSpPr txBox="1"/>
          <p:nvPr/>
        </p:nvSpPr>
        <p:spPr>
          <a:xfrm>
            <a:off x="7162800" y="5390211"/>
            <a:ext cx="226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Without reconfigs.</a:t>
            </a:r>
            <a:b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ReTri still improves Bruck</a:t>
            </a:r>
          </a:p>
        </p:txBody>
      </p:sp>
    </p:spTree>
    <p:extLst>
      <p:ext uri="{BB962C8B-B14F-4D97-AF65-F5344CB8AC3E}">
        <p14:creationId xmlns:p14="http://schemas.microsoft.com/office/powerpoint/2010/main" val="2623691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315E3-CF1C-4144-0AE4-AF275F63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D4226B7-C8B4-8B48-B9F7-5510394555C2}"/>
              </a:ext>
            </a:extLst>
          </p:cNvPr>
          <p:cNvSpPr/>
          <p:nvPr/>
        </p:nvSpPr>
        <p:spPr>
          <a:xfrm>
            <a:off x="312419" y="790425"/>
            <a:ext cx="7609523" cy="597622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F8B55-6658-F650-C778-5D363BC61C46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with Astra-Sim/ns-3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CA119980-EB44-720D-E72F-08A462419DC7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3">
                <a:extLst>
                  <a:ext uri="{FF2B5EF4-FFF2-40B4-BE49-F238E27FC236}">
                    <a16:creationId xmlns:a16="http://schemas.microsoft.com/office/drawing/2014/main" id="{57FDC2F8-22D3-5366-E7AA-7954D8BE3E80}"/>
                  </a:ext>
                </a:extLst>
              </p:cNvPr>
              <p:cNvSpPr/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Astra-Sim + ns-3 ·  400 Gb/s links  ·  1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µs</a:t>
                </a:r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link latency  ·  1.7 µs per phase  latency  · 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Messages 1 KB – 256 MB  · </a:t>
                </a:r>
                <a14:m>
                  <m:oMath xmlns:m="http://schemas.openxmlformats.org/officeDocument/2006/math">
                    <m:r>
                      <a:rPr lang="en-GB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= 100ns – 50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ms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 · 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ReTri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n = 81 vs. Bruck n = 64</a:t>
                </a:r>
              </a:p>
            </p:txBody>
          </p:sp>
        </mc:Choice>
        <mc:Fallback xmlns="">
          <p:sp>
            <p:nvSpPr>
              <p:cNvPr id="2" name="Text 3">
                <a:extLst>
                  <a:ext uri="{FF2B5EF4-FFF2-40B4-BE49-F238E27FC236}">
                    <a16:creationId xmlns:a16="http://schemas.microsoft.com/office/drawing/2014/main" id="{57FDC2F8-22D3-5366-E7AA-7954D8BE3E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blipFill>
                <a:blip r:embed="rId2"/>
                <a:stretch>
                  <a:fillRect l="-1519" t="-1163" b="-11628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ECB7C92-68D6-2356-313B-4C7D05C3FC57}"/>
              </a:ext>
            </a:extLst>
          </p:cNvPr>
          <p:cNvSpPr/>
          <p:nvPr/>
        </p:nvSpPr>
        <p:spPr>
          <a:xfrm>
            <a:off x="270509" y="790425"/>
            <a:ext cx="83820" cy="597622"/>
          </a:xfrm>
          <a:prstGeom prst="rect">
            <a:avLst/>
          </a:prstGeom>
          <a:solidFill>
            <a:srgbClr val="C5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29EF2-BAAE-62DC-95DF-1E6B6E7C2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050" y="2256595"/>
            <a:ext cx="4172108" cy="28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B5E685-EECC-BF4B-B68B-A32DD2662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09" y="2256595"/>
            <a:ext cx="4172108" cy="288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2533E6-0547-9327-3CFA-60C3A624B23F}"/>
              </a:ext>
            </a:extLst>
          </p:cNvPr>
          <p:cNvSpPr txBox="1"/>
          <p:nvPr/>
        </p:nvSpPr>
        <p:spPr>
          <a:xfrm>
            <a:off x="1213763" y="1869108"/>
            <a:ext cx="2386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Network size = 8/9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0C26AE-C03D-575E-B8A6-4ACD873C328A}"/>
              </a:ext>
            </a:extLst>
          </p:cNvPr>
          <p:cNvSpPr txBox="1"/>
          <p:nvPr/>
        </p:nvSpPr>
        <p:spPr>
          <a:xfrm>
            <a:off x="5165956" y="1901694"/>
            <a:ext cx="260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Network size = 256/243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A9C9E5-43A0-8443-2223-3B2222A8A8E2}"/>
              </a:ext>
            </a:extLst>
          </p:cNvPr>
          <p:cNvCxnSpPr>
            <a:cxnSpLocks/>
          </p:cNvCxnSpPr>
          <p:nvPr/>
        </p:nvCxnSpPr>
        <p:spPr>
          <a:xfrm flipV="1">
            <a:off x="1233166" y="4779930"/>
            <a:ext cx="230033" cy="593306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9C27F28-391C-75FC-B98E-03963BD95764}"/>
              </a:ext>
            </a:extLst>
          </p:cNvPr>
          <p:cNvSpPr txBox="1"/>
          <p:nvPr/>
        </p:nvSpPr>
        <p:spPr>
          <a:xfrm>
            <a:off x="72549" y="5358812"/>
            <a:ext cx="2781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Continuous improvement over Bruck by 1.3-2.2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C40C3B-13BD-F7E4-5B43-549A6103F959}"/>
              </a:ext>
            </a:extLst>
          </p:cNvPr>
          <p:cNvCxnSpPr>
            <a:cxnSpLocks/>
          </p:cNvCxnSpPr>
          <p:nvPr/>
        </p:nvCxnSpPr>
        <p:spPr>
          <a:xfrm flipV="1">
            <a:off x="2879528" y="2898187"/>
            <a:ext cx="2286428" cy="2475049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938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F7F08-3CF9-AE81-92B1-3E1451860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2F2518C-F629-0CF4-B8B8-5D22CD646611}"/>
              </a:ext>
            </a:extLst>
          </p:cNvPr>
          <p:cNvSpPr/>
          <p:nvPr/>
        </p:nvSpPr>
        <p:spPr>
          <a:xfrm>
            <a:off x="312419" y="790425"/>
            <a:ext cx="7609523" cy="597622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1569C0-0A68-1047-56B5-8DB5135D6293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with Astra-Sim/ns-3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E3CE5F73-5EB0-F06B-9FE2-45B800CF5524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3">
                <a:extLst>
                  <a:ext uri="{FF2B5EF4-FFF2-40B4-BE49-F238E27FC236}">
                    <a16:creationId xmlns:a16="http://schemas.microsoft.com/office/drawing/2014/main" id="{4D4F7B57-BB13-5D42-73FF-38F6B14C3599}"/>
                  </a:ext>
                </a:extLst>
              </p:cNvPr>
              <p:cNvSpPr/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Astra-Sim + ns-3 ·  400 Gb/s links  ·  1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µs</a:t>
                </a:r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link latency  ·  1.7 µs per phase  latency  · 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Messages 1 KB – 256 MB  · </a:t>
                </a:r>
                <a14:m>
                  <m:oMath xmlns:m="http://schemas.openxmlformats.org/officeDocument/2006/math">
                    <m:r>
                      <a:rPr lang="en-GB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= 100ns – 50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ms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 · 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ReTri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n = 81 vs. Bruck n = 64</a:t>
                </a:r>
              </a:p>
            </p:txBody>
          </p:sp>
        </mc:Choice>
        <mc:Fallback xmlns="">
          <p:sp>
            <p:nvSpPr>
              <p:cNvPr id="2" name="Text 3">
                <a:extLst>
                  <a:ext uri="{FF2B5EF4-FFF2-40B4-BE49-F238E27FC236}">
                    <a16:creationId xmlns:a16="http://schemas.microsoft.com/office/drawing/2014/main" id="{4D4F7B57-BB13-5D42-73FF-38F6B14C35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blipFill>
                <a:blip r:embed="rId2"/>
                <a:stretch>
                  <a:fillRect l="-1519" t="-1163" b="-11628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57CEE7F0-E80F-E71E-D188-A8CCE0D5C12F}"/>
              </a:ext>
            </a:extLst>
          </p:cNvPr>
          <p:cNvSpPr/>
          <p:nvPr/>
        </p:nvSpPr>
        <p:spPr>
          <a:xfrm>
            <a:off x="270509" y="790425"/>
            <a:ext cx="83820" cy="597622"/>
          </a:xfrm>
          <a:prstGeom prst="rect">
            <a:avLst/>
          </a:prstGeom>
          <a:solidFill>
            <a:srgbClr val="C5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C438B1-DD4F-CC06-AD28-6DD5308F8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050" y="2256595"/>
            <a:ext cx="4172108" cy="28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494D4F-882E-C810-BD2B-C455353DE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09" y="2256595"/>
            <a:ext cx="4172108" cy="288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1AD8D0-409F-B341-E9BC-C47BBDF4E3D2}"/>
              </a:ext>
            </a:extLst>
          </p:cNvPr>
          <p:cNvSpPr txBox="1"/>
          <p:nvPr/>
        </p:nvSpPr>
        <p:spPr>
          <a:xfrm>
            <a:off x="1213763" y="1869108"/>
            <a:ext cx="2386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Network size = 8/9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140193-3396-B213-4EF8-D190B9E9F19F}"/>
              </a:ext>
            </a:extLst>
          </p:cNvPr>
          <p:cNvSpPr txBox="1"/>
          <p:nvPr/>
        </p:nvSpPr>
        <p:spPr>
          <a:xfrm>
            <a:off x="5165956" y="1901694"/>
            <a:ext cx="260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Network size = 256/243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D448C04-E10A-C40D-2A7E-F259E3E6E6B7}"/>
              </a:ext>
            </a:extLst>
          </p:cNvPr>
          <p:cNvCxnSpPr>
            <a:cxnSpLocks/>
          </p:cNvCxnSpPr>
          <p:nvPr/>
        </p:nvCxnSpPr>
        <p:spPr>
          <a:xfrm flipV="1">
            <a:off x="1233166" y="4779930"/>
            <a:ext cx="230033" cy="593306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5550581-B325-8F6A-A635-8AB1EE3F669F}"/>
              </a:ext>
            </a:extLst>
          </p:cNvPr>
          <p:cNvSpPr txBox="1"/>
          <p:nvPr/>
        </p:nvSpPr>
        <p:spPr>
          <a:xfrm>
            <a:off x="72549" y="5358812"/>
            <a:ext cx="2781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Continuous improvement over Bruck by 1.7-2.2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9BB102-050B-9764-E5B9-2B3848819C3A}"/>
              </a:ext>
            </a:extLst>
          </p:cNvPr>
          <p:cNvCxnSpPr>
            <a:cxnSpLocks/>
          </p:cNvCxnSpPr>
          <p:nvPr/>
        </p:nvCxnSpPr>
        <p:spPr>
          <a:xfrm flipV="1">
            <a:off x="4572000" y="2946400"/>
            <a:ext cx="546100" cy="2475049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C9B31DE-63D5-55C3-E777-2C9AF012E1EA}"/>
              </a:ext>
            </a:extLst>
          </p:cNvPr>
          <p:cNvSpPr txBox="1"/>
          <p:nvPr/>
        </p:nvSpPr>
        <p:spPr>
          <a:xfrm>
            <a:off x="3925570" y="5463669"/>
            <a:ext cx="2255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Larger networks = larger speedups</a:t>
            </a:r>
          </a:p>
        </p:txBody>
      </p:sp>
    </p:spTree>
    <p:extLst>
      <p:ext uri="{BB962C8B-B14F-4D97-AF65-F5344CB8AC3E}">
        <p14:creationId xmlns:p14="http://schemas.microsoft.com/office/powerpoint/2010/main" val="2926410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09598-6481-C3BE-9311-D6CCA75D2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58E8F7-20C4-5C6B-C58B-7DE3931B7466}"/>
              </a:ext>
            </a:extLst>
          </p:cNvPr>
          <p:cNvSpPr/>
          <p:nvPr/>
        </p:nvSpPr>
        <p:spPr>
          <a:xfrm>
            <a:off x="312419" y="790425"/>
            <a:ext cx="7609523" cy="597622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D2DA6-CEBB-533E-8987-91CB3129A733}"/>
              </a:ext>
            </a:extLst>
          </p:cNvPr>
          <p:cNvSpPr txBox="1"/>
          <p:nvPr/>
        </p:nvSpPr>
        <p:spPr>
          <a:xfrm>
            <a:off x="152400" y="101600"/>
            <a:ext cx="8435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 with Astra-Sim/ns-3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1CC63780-9189-7148-B5B0-C9BB2C6104A8}"/>
              </a:ext>
            </a:extLst>
          </p:cNvPr>
          <p:cNvSpPr/>
          <p:nvPr/>
        </p:nvSpPr>
        <p:spPr>
          <a:xfrm>
            <a:off x="136917" y="54972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3">
                <a:extLst>
                  <a:ext uri="{FF2B5EF4-FFF2-40B4-BE49-F238E27FC236}">
                    <a16:creationId xmlns:a16="http://schemas.microsoft.com/office/drawing/2014/main" id="{70DAAD3D-C185-B55D-003C-4E9184261E7A}"/>
                  </a:ext>
                </a:extLst>
              </p:cNvPr>
              <p:cNvSpPr/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Astra-Sim + ns-3 ·  400 Gb/s links  ·  1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µs</a:t>
                </a:r>
                <a:r>
                  <a:rPr lang="en-US" sz="1400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link latency  ·  1.7 µs per phase  latency  · 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Messages 1 KB – 256 MB  · </a:t>
                </a:r>
                <a14:m>
                  <m:oMath xmlns:m="http://schemas.openxmlformats.org/officeDocument/2006/math">
                    <m:r>
                      <a:rPr lang="en-GB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</m:oMath>
                </a14:m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= 100ns – 50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ms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 ·  </a:t>
                </a:r>
                <a:r>
                  <a:rPr lang="en-GB" sz="1400" dirty="0" err="1">
                    <a:latin typeface="Arial"/>
                    <a:ea typeface="Arial"/>
                    <a:cs typeface="Arial"/>
                    <a:sym typeface="Arial"/>
                  </a:rPr>
                  <a:t>ReTri</a:t>
                </a:r>
                <a:r>
                  <a:rPr lang="en-GB" sz="1400" dirty="0">
                    <a:latin typeface="Arial"/>
                    <a:ea typeface="Arial"/>
                    <a:cs typeface="Arial"/>
                    <a:sym typeface="Arial"/>
                  </a:rPr>
                  <a:t> n = 81 vs. Bruck n = 64</a:t>
                </a:r>
              </a:p>
            </p:txBody>
          </p:sp>
        </mc:Choice>
        <mc:Fallback xmlns="">
          <p:sp>
            <p:nvSpPr>
              <p:cNvPr id="2" name="Text 3">
                <a:extLst>
                  <a:ext uri="{FF2B5EF4-FFF2-40B4-BE49-F238E27FC236}">
                    <a16:creationId xmlns:a16="http://schemas.microsoft.com/office/drawing/2014/main" id="{70DAAD3D-C185-B55D-003C-4E9184261E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92" y="818940"/>
                <a:ext cx="7227051" cy="523220"/>
              </a:xfrm>
              <a:prstGeom prst="rect">
                <a:avLst/>
              </a:prstGeom>
              <a:blipFill>
                <a:blip r:embed="rId2"/>
                <a:stretch>
                  <a:fillRect l="-1519" t="-1163" b="-11628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608266B6-1C79-31F6-9C61-47FDCFA5947F}"/>
              </a:ext>
            </a:extLst>
          </p:cNvPr>
          <p:cNvSpPr/>
          <p:nvPr/>
        </p:nvSpPr>
        <p:spPr>
          <a:xfrm>
            <a:off x="270509" y="790425"/>
            <a:ext cx="83820" cy="597622"/>
          </a:xfrm>
          <a:prstGeom prst="rect">
            <a:avLst/>
          </a:prstGeom>
          <a:solidFill>
            <a:srgbClr val="C5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0B68FC-1F8A-745D-E0E2-97286F5A6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050" y="2256595"/>
            <a:ext cx="4172108" cy="28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DDF324-F6AB-45D8-B722-0BA024924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09" y="2256595"/>
            <a:ext cx="4172108" cy="288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F07A0C-3188-0F1D-83D2-2C6741279ADD}"/>
              </a:ext>
            </a:extLst>
          </p:cNvPr>
          <p:cNvSpPr txBox="1"/>
          <p:nvPr/>
        </p:nvSpPr>
        <p:spPr>
          <a:xfrm>
            <a:off x="1213763" y="1869108"/>
            <a:ext cx="2386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Network size = 8/9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6F8029-A1D2-EEFC-DCF9-56C95ACBA79B}"/>
              </a:ext>
            </a:extLst>
          </p:cNvPr>
          <p:cNvSpPr txBox="1"/>
          <p:nvPr/>
        </p:nvSpPr>
        <p:spPr>
          <a:xfrm>
            <a:off x="5165956" y="1901694"/>
            <a:ext cx="260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Network size = 256/243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D67FFA-9472-E6A2-37D4-34C8DD7994CE}"/>
              </a:ext>
            </a:extLst>
          </p:cNvPr>
          <p:cNvCxnSpPr>
            <a:cxnSpLocks/>
          </p:cNvCxnSpPr>
          <p:nvPr/>
        </p:nvCxnSpPr>
        <p:spPr>
          <a:xfrm flipV="1">
            <a:off x="1233166" y="4779930"/>
            <a:ext cx="230033" cy="593306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A0ED1C-32EC-805D-48EE-FEE06798E7BF}"/>
              </a:ext>
            </a:extLst>
          </p:cNvPr>
          <p:cNvSpPr txBox="1"/>
          <p:nvPr/>
        </p:nvSpPr>
        <p:spPr>
          <a:xfrm>
            <a:off x="72549" y="5358812"/>
            <a:ext cx="2781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Continuous improvement over Bruck by 1.7-2.2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ECE2A42-4773-9F42-7578-C47E0C9A403D}"/>
              </a:ext>
            </a:extLst>
          </p:cNvPr>
          <p:cNvCxnSpPr>
            <a:cxnSpLocks/>
          </p:cNvCxnSpPr>
          <p:nvPr/>
        </p:nvCxnSpPr>
        <p:spPr>
          <a:xfrm flipV="1">
            <a:off x="4572000" y="2946400"/>
            <a:ext cx="546100" cy="2475049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20EAD1-05FA-2408-7188-1F6A62ECCABD}"/>
              </a:ext>
            </a:extLst>
          </p:cNvPr>
          <p:cNvSpPr txBox="1"/>
          <p:nvPr/>
        </p:nvSpPr>
        <p:spPr>
          <a:xfrm>
            <a:off x="3925570" y="5463669"/>
            <a:ext cx="2255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Larger networks = larger speedups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BD378A-ED80-EABA-A14C-DADDA6286E2D}"/>
              </a:ext>
            </a:extLst>
          </p:cNvPr>
          <p:cNvCxnSpPr>
            <a:cxnSpLocks/>
          </p:cNvCxnSpPr>
          <p:nvPr/>
        </p:nvCxnSpPr>
        <p:spPr>
          <a:xfrm flipH="1" flipV="1">
            <a:off x="7298643" y="2721173"/>
            <a:ext cx="168957" cy="2562027"/>
          </a:xfrm>
          <a:prstGeom prst="straightConnector1">
            <a:avLst/>
          </a:prstGeom>
          <a:ln w="82550">
            <a:solidFill>
              <a:srgbClr val="C50C1E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E465A81-AA67-38AB-D92A-9FD5F72C402E}"/>
                  </a:ext>
                </a:extLst>
              </p:cNvPr>
              <p:cNvSpPr txBox="1"/>
              <p:nvPr/>
            </p:nvSpPr>
            <p:spPr>
              <a:xfrm>
                <a:off x="6363300" y="5330510"/>
                <a:ext cx="281048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latin typeface="Arial" panose="020B0604020202020204" pitchFamily="34" charset="0"/>
                    <a:cs typeface="Arial" panose="020B0604020202020204" pitchFamily="34" charset="0"/>
                  </a:rPr>
                  <a:t>ReTri can improve static All-to-All for 256MB at</a:t>
                </a:r>
                <a:br>
                  <a:rPr lang="de-DE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𝛿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Consolas"/>
                      </a:rPr>
                      <m:t>=</m:t>
                    </m:r>
                  </m:oMath>
                </a14:m>
                <a:r>
                  <a:rPr lang="de-DE" dirty="0">
                    <a:latin typeface="Arial" panose="020B0604020202020204" pitchFamily="34" charset="0"/>
                    <a:cs typeface="Arial" panose="020B0604020202020204" pitchFamily="34" charset="0"/>
                  </a:rPr>
                  <a:t>100ms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E465A81-AA67-38AB-D92A-9FD5F72C4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300" y="5330510"/>
                <a:ext cx="2810486" cy="923330"/>
              </a:xfrm>
              <a:prstGeom prst="rect">
                <a:avLst/>
              </a:prstGeom>
              <a:blipFill>
                <a:blip r:embed="rId5"/>
                <a:stretch>
                  <a:fillRect l="-1952" t="-3289" b="-92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5595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A1C84-8168-BAF0-28B0-EC333B2B5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80C797-3DD7-C96D-C293-10D04FB53428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534;g60be7dcf1c_0_434">
            <a:extLst>
              <a:ext uri="{FF2B5EF4-FFF2-40B4-BE49-F238E27FC236}">
                <a16:creationId xmlns:a16="http://schemas.microsoft.com/office/drawing/2014/main" id="{74DA8C69-253C-7B97-57AC-1669B9178E6F}"/>
              </a:ext>
            </a:extLst>
          </p:cNvPr>
          <p:cNvSpPr txBox="1"/>
          <p:nvPr/>
        </p:nvSpPr>
        <p:spPr>
          <a:xfrm>
            <a:off x="472048" y="1231783"/>
            <a:ext cx="7977179" cy="3309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Objectives for collectives in reconfigurable networks: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 algorithms need to follow constrains of reconfigurable networks</a:t>
            </a:r>
          </a:p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 reduction of required communication phases</a:t>
            </a:r>
            <a:endParaRPr lang="en-GB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 reusable reconfigurable links</a:t>
            </a: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>
              <a:lnSpc>
                <a:spcPct val="114999"/>
              </a:lnSpc>
            </a:pPr>
            <a:r>
              <a:rPr lang="en-US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</a:t>
            </a:r>
            <a:endParaRPr lang="en-GB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endParaRPr lang="en-US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9D6150-506D-5CC4-2FE2-0FDE1D8C7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666" y="2243479"/>
            <a:ext cx="2442843" cy="16840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9173E6-6AB3-6D93-5DB9-522893350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109" y="4097180"/>
            <a:ext cx="2438400" cy="168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8993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4B190-C051-8D79-FA33-A56473F2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5892BD-C933-7246-7F0D-856268C46857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534;g60be7dcf1c_0_434">
            <a:extLst>
              <a:ext uri="{FF2B5EF4-FFF2-40B4-BE49-F238E27FC236}">
                <a16:creationId xmlns:a16="http://schemas.microsoft.com/office/drawing/2014/main" id="{46F41959-6922-6D85-FB46-93F82060AD0D}"/>
              </a:ext>
            </a:extLst>
          </p:cNvPr>
          <p:cNvSpPr txBox="1"/>
          <p:nvPr/>
        </p:nvSpPr>
        <p:spPr>
          <a:xfrm>
            <a:off x="472048" y="1231783"/>
            <a:ext cx="7977179" cy="3309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Objectives for collectives in reconfigurable networks: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 algorithms need to follow constrains of reconfigurable networks</a:t>
            </a:r>
          </a:p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 reduction of required communication phases</a:t>
            </a:r>
            <a:endParaRPr lang="en-GB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 reusable reconfigurable links</a:t>
            </a: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Reconfigurations during collective </a:t>
            </a:r>
            <a:b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become desirable when:</a:t>
            </a:r>
            <a:b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Networks increase in size</a:t>
            </a:r>
          </a:p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Message size increases</a:t>
            </a:r>
          </a:p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Reconfiguration delay decreases</a:t>
            </a: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>
              <a:lnSpc>
                <a:spcPct val="114999"/>
              </a:lnSpc>
            </a:pPr>
            <a:r>
              <a:rPr lang="en-US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</a:t>
            </a:r>
            <a:endParaRPr lang="en-GB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endParaRPr lang="en-US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E5A9F3-7DB3-39E4-30E2-B1C4A471B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666" y="2243479"/>
            <a:ext cx="2442843" cy="16840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944D09-6E4A-3CD9-9F0F-A07A39643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109" y="4097180"/>
            <a:ext cx="2438400" cy="168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6843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5AC1B-8892-E956-FC24-A53C4BA9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B04DE0-CAFA-FCEE-15A3-30FD2786F602}"/>
              </a:ext>
            </a:extLst>
          </p:cNvPr>
          <p:cNvSpPr txBox="1"/>
          <p:nvPr/>
        </p:nvSpPr>
        <p:spPr>
          <a:xfrm>
            <a:off x="152400" y="101600"/>
            <a:ext cx="776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534;g60be7dcf1c_0_434">
            <a:extLst>
              <a:ext uri="{FF2B5EF4-FFF2-40B4-BE49-F238E27FC236}">
                <a16:creationId xmlns:a16="http://schemas.microsoft.com/office/drawing/2014/main" id="{9D8EBBE7-85B8-9FFC-4432-C0E10FD66033}"/>
              </a:ext>
            </a:extLst>
          </p:cNvPr>
          <p:cNvSpPr txBox="1"/>
          <p:nvPr/>
        </p:nvSpPr>
        <p:spPr>
          <a:xfrm>
            <a:off x="472048" y="1231783"/>
            <a:ext cx="7977179" cy="3309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4999"/>
              </a:lnSpc>
            </a:pPr>
            <a:r>
              <a:rPr lang="en-GB" sz="1800" dirty="0">
                <a:solidFill>
                  <a:schemeClr val="tx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Objectives for collectives in reconfigurable networks: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 algorithms need to follow constrains of reconfigurable networks</a:t>
            </a:r>
          </a:p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 reduction of required communication phases</a:t>
            </a:r>
            <a:endParaRPr lang="en-GB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</a:rPr>
              <a:t> reusable reconfigurable links</a:t>
            </a: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Reconfigurations during collective </a:t>
            </a:r>
            <a:b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become desirable when:</a:t>
            </a:r>
            <a:b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Networks increase in size</a:t>
            </a:r>
          </a:p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Message size increases</a:t>
            </a:r>
          </a:p>
          <a:p>
            <a:pPr>
              <a:lnSpc>
                <a:spcPct val="114999"/>
              </a:lnSpc>
            </a:pPr>
            <a:r>
              <a:rPr lang="en-GB" sz="1800" dirty="0"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⇒</a:t>
            </a:r>
            <a:r>
              <a:rPr lang="en-GB" sz="18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Reconfiguration delay decreases</a:t>
            </a: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  <a:p>
            <a:pPr>
              <a:lnSpc>
                <a:spcPct val="114999"/>
              </a:lnSpc>
            </a:pPr>
            <a:endParaRPr lang="en-GB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  <a:sym typeface="Consolas"/>
            </a:endParaRPr>
          </a:p>
          <a:p>
            <a:pPr>
              <a:lnSpc>
                <a:spcPct val="114999"/>
              </a:lnSpc>
            </a:pPr>
            <a:r>
              <a:rPr lang="en-US" sz="1800" dirty="0">
                <a:solidFill>
                  <a:schemeClr val="dk1"/>
                </a:solidFill>
                <a:latin typeface="Arial" panose="020B0604020202020204" pitchFamily="34" charset="0"/>
                <a:ea typeface="Consolas"/>
                <a:cs typeface="Arial" panose="020B0604020202020204" pitchFamily="34" charset="0"/>
                <a:sym typeface="Consolas"/>
              </a:rPr>
              <a:t> </a:t>
            </a:r>
            <a:endParaRPr lang="en-GB" sz="18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</a:pPr>
            <a:endParaRPr lang="en-US" sz="1800" dirty="0">
              <a:solidFill>
                <a:schemeClr val="dk1"/>
              </a:solidFill>
              <a:latin typeface="Arial" panose="020B0604020202020204" pitchFamily="34" charset="0"/>
              <a:ea typeface="Consolas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0036AB-44C4-C776-78B3-34E21B569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666" y="2243479"/>
            <a:ext cx="2442843" cy="16840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D0490C-2268-D16F-AAD2-84B7EC978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109" y="4097180"/>
            <a:ext cx="2438400" cy="16840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44175-71FD-CAC5-E05A-14306D807948}"/>
              </a:ext>
            </a:extLst>
          </p:cNvPr>
          <p:cNvSpPr txBox="1"/>
          <p:nvPr/>
        </p:nvSpPr>
        <p:spPr>
          <a:xfrm>
            <a:off x="472048" y="5775932"/>
            <a:ext cx="6820692" cy="312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de-DE" sz="2000" b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de-DE" sz="2000" b="1" dirty="0">
                <a:solidFill>
                  <a:srgbClr val="5555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juerss@campus.tu-berlin.de</a:t>
            </a:r>
            <a:endParaRPr sz="2000" b="1" dirty="0">
              <a:solidFill>
                <a:srgbClr val="5555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026945-B88E-F5B0-5ACB-B61CC23DD748}"/>
              </a:ext>
            </a:extLst>
          </p:cNvPr>
          <p:cNvSpPr/>
          <p:nvPr/>
        </p:nvSpPr>
        <p:spPr>
          <a:xfrm>
            <a:off x="1491451" y="4754306"/>
            <a:ext cx="3080549" cy="744120"/>
          </a:xfrm>
          <a:prstGeom prst="rect">
            <a:avLst/>
          </a:prstGeom>
          <a:solidFill>
            <a:srgbClr val="F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DFE513-A672-32BA-CFD5-9D3D6FD27AC6}"/>
              </a:ext>
            </a:extLst>
          </p:cNvPr>
          <p:cNvSpPr txBox="1"/>
          <p:nvPr/>
        </p:nvSpPr>
        <p:spPr>
          <a:xfrm>
            <a:off x="1710924" y="4786462"/>
            <a:ext cx="264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rgbClr val="C50C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endParaRPr lang="de-DE" sz="3600" dirty="0">
              <a:solidFill>
                <a:srgbClr val="C50C1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113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2097</Words>
  <Application>Microsoft Office PowerPoint</Application>
  <PresentationFormat>On-screen Show (4:3)</PresentationFormat>
  <Paragraphs>286</Paragraphs>
  <Slides>37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Anton Jürß</dc:creator>
  <cp:keywords/>
  <dc:description>generated using python-pptx</dc:description>
  <cp:lastModifiedBy>TU-Pseudonym 4594547788954313</cp:lastModifiedBy>
  <cp:revision>29</cp:revision>
  <dcterms:created xsi:type="dcterms:W3CDTF">2013-01-27T09:14:16Z</dcterms:created>
  <dcterms:modified xsi:type="dcterms:W3CDTF">2026-10-18T11:10:15Z</dcterms:modified>
  <cp:category/>
</cp:coreProperties>
</file>